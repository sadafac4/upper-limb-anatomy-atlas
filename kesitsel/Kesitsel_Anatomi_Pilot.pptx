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Visible-Human/Male-Images/Fullcolor/fullbody/a_vm1320.raw</a:t>
            </a:r>
          </a:p>
          <a:p>
            <a:r>
              <a:t>BT dosyası: Visible-Human/Male-Images/radiological/frozenCT/c_vm1320.fro (kesit no. 1320.0)</a:t>
            </a:r>
          </a:p>
          <a:p>
            <a:r>
              <a:t>Kırpma kutusu (kriyo piksel, dikey çevrilmiş): [200, 440, 1000, 1110]</a:t>
            </a:r>
          </a:p>
          <a:p>
            <a:r>
              <a:t>Kayıt: {'scale': 0.35200000000000004, 'dx': -97, 'dy': 0, 'dice': 0.8879252799018783}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Visible-Human/Male-Images/Fullcolor/fullbody/a_vm1490.raw</a:t>
            </a:r>
          </a:p>
          <a:p>
            <a:r>
              <a:t>BT dosyası: Visible-Human/Male-Images/radiological/frozenCT/c_vm1490.fro (kesit no. 1490.0)</a:t>
            </a:r>
          </a:p>
          <a:p>
            <a:r>
              <a:t>Kırpma kutusu (kriyo piksel, dikey çevrilmiş): [150, 560, 520, 990]</a:t>
            </a:r>
          </a:p>
          <a:p>
            <a:r>
              <a:t>Kayıt: {'scale': 0.35200000000000004, 'dx': -100, 'dy': 3, 'dice': 0.9012780144471199}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Visible-Human/Male-Images/Fullcolor/fullbody/a_vm1560.raw</a:t>
            </a:r>
          </a:p>
          <a:p>
            <a:r>
              <a:t>BT dosyası: Visible-Human/Male-Images/radiological/frozenCT/c_vm1560.fro (kesit no. 1560.0)</a:t>
            </a:r>
          </a:p>
          <a:p>
            <a:r>
              <a:t>Kırpma kutusu (kriyo piksel, dikey çevrilmiş): [125, 574, 529, 996]</a:t>
            </a:r>
          </a:p>
          <a:p>
            <a:r>
              <a:t>Kayıt: {'scale': 0.35200000000000004, 'dx': -103, 'dy': 3, 'dice': 0.8960924855491329}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Visible-Human/Male-Images/Fullcolor/fullbody/a_vm1615.raw</a:t>
            </a:r>
          </a:p>
          <a:p>
            <a:r>
              <a:t>BT dosyası: Visible-Human/Male-Images/radiological/frozenCT/c_vm1615.fro (kesit no. 1615.0)</a:t>
            </a:r>
          </a:p>
          <a:p>
            <a:r>
              <a:t>Kırpma kutusu (kriyo piksel, dikey çevrilmiş): [130, 470, 560, 960]</a:t>
            </a:r>
          </a:p>
          <a:p>
            <a:r>
              <a:t>Kayıt: {'scale': 0.35200000000000004, 'dx': -101, 'dy': 5, 'dice': 0.898334871738711}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Visible-Human/Male-Images/Fullcolor/fullbody/a_vm1645.raw</a:t>
            </a:r>
          </a:p>
          <a:p>
            <a:r>
              <a:t>BT dosyası: Visible-Human/Male-Images/radiological/frozenCT/c_vm1645.fro (kesit no. 1645.0)</a:t>
            </a:r>
          </a:p>
          <a:p>
            <a:r>
              <a:t>Kırpma kutusu (kriyo piksel, dikey çevrilmiş): [140, 460, 560, 960]</a:t>
            </a:r>
          </a:p>
          <a:p>
            <a:r>
              <a:t>Kayıt: {'scale': 0.35200000000000004, 'dx': -100, 'dy': 5, 'dice': 0.8990702976567447}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Visible-Human/Male-Images/Fullcolor/fullbody/a_vm1740.raw</a:t>
            </a:r>
          </a:p>
          <a:p>
            <a:r>
              <a:t>BT dosyası: Visible-Human/Male-Images/radiological/frozenCT/c_vm1740.fro (kesit no. 1740.0)</a:t>
            </a:r>
          </a:p>
          <a:p>
            <a:r>
              <a:t>Kırpma kutusu (kriyo piksel, dikey çevrilmiş): [380, 250, 720, 650]</a:t>
            </a:r>
          </a:p>
          <a:p>
            <a:r>
              <a:t>Kayıt: {'scale': 0.35200000000000004, 'dx': -105, 'dy': 12, 'dice': 0.9295312319070418, 'local_shift_ctpx': [-1, 6], 'local_bone_dice': 0.162, 'local_tissue_dice': 0.961}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Visible-Human/Male-Images/Fullcolor/fullbody/a_vm1785.raw</a:t>
            </a:r>
          </a:p>
          <a:p>
            <a:r>
              <a:t>BT dosyası: Visible-Human/Male-Images/radiological/frozenCT/c_vm1785.fro (kesit no. 1785.0)</a:t>
            </a:r>
          </a:p>
          <a:p>
            <a:r>
              <a:t>Kırpma kutusu (kriyo piksel, dikey çevrilmiş): [440, 120, 980, 540]</a:t>
            </a:r>
          </a:p>
          <a:p>
            <a:r>
              <a:t>Kayıt: {'scale': 0.35200000000000004, 'dx': -105, 'dy': 11, 'dice': 0.928395817588704, 'local_shift_ctpx': [-1, 4], 'local_bone_dice': 0.251, 'local_tissue_dice': 0.946}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Kriyokesit dosyası: Visible-Human/Male-Images/Fullcolor/fullbody/a_vm1830.raw</a:t>
            </a:r>
          </a:p>
          <a:p>
            <a:r>
              <a:t>BT dosyası: Visible-Human/Male-Images/radiological/frozenCT/c_vm1830.fro (kesit no. 1830.0)</a:t>
            </a:r>
          </a:p>
          <a:p>
            <a:r>
              <a:t>Kırpma kutusu (kriyo piksel, dikey çevrilmiş): [560, 80, 980, 450]</a:t>
            </a:r>
          </a:p>
          <a:p>
            <a:r>
              <a:t>Kayıt: {'scale': 0.35200000000000004, 'dx': -104, 'dy': 13, 'dice': 0.9145892600891217, 'local_shift_ctpx': [0, 5], 'local_bone_dice': 0.17, 'local_tissue_dice': 0.942}</a:t>
            </a:r>
          </a:p>
          <a:p>
            <a:r>
              <a:t>Etiket noktaları kaynak görüntü pikselinde tanımlıdır; kemik etiketleri renk tabanlı kemik maskesine 'snap' edilmiştir.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7665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Membrum Superius – Kesitsel Anatomi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C8D1E6"/>
                </a:solidFill>
                <a:latin typeface="Calibri"/>
              </a:rPr>
              <a:t>Gerçek kadavra kriyokesitleri ile aynı kadavranın aynı düzeydeki BT görüntülerinin karşılaştırmalı atlası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67665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PİLOT SÜRÜM – 8 düzey (omuzdan avuç içine)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Veri: NLM Visible Human Project – Visible Human Male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Tüm görüntüler gerçek kadavra/radyoloji verisidir; üretilmiş (sentetik) görüntü kullanılmamıştır.</a:t>
            </a:r>
          </a:p>
        </p:txBody>
      </p:sp>
      <p:pic>
        <p:nvPicPr>
          <p:cNvPr id="6" name="Picture 5" descr="cryo_149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245" y="548640"/>
            <a:ext cx="2439108" cy="2834640"/>
          </a:xfrm>
          <a:prstGeom prst="rect">
            <a:avLst/>
          </a:prstGeom>
        </p:spPr>
      </p:pic>
      <p:pic>
        <p:nvPicPr>
          <p:cNvPr id="7" name="Picture 6" descr="ct_174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08207"/>
            <a:ext cx="1920240" cy="2259105"/>
          </a:xfrm>
          <a:prstGeom prst="rect">
            <a:avLst/>
          </a:prstGeom>
        </p:spPr>
      </p:pic>
      <p:pic>
        <p:nvPicPr>
          <p:cNvPr id="8" name="Picture 7" descr="cryo_1740_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808207"/>
            <a:ext cx="1920240" cy="2259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C8D1E6"/>
                </a:solidFill>
                <a:latin typeface="Calibri"/>
              </a:rPr>
              <a:t>Sunum dili Türkçe; anatomik terimler Terminologia Anatomica (Latince).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Veri kaynağı ve düzey eşleştirme yöntemi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Neden bu kesitler gerçekten 'aynı düzey'dir?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7589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Visible Human Male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(erkek; DICOM başlığında yaş 39): aynı kadavradan taze BT, MR, donmuş BT ve 1 mm aralıklı renkli kriyomakrotom kesitleri (2048×1216 piksel, 0,33 mm/piksel) elde edilmiştir.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NLM'nin belgelerine göre erkek veri setinde anatomik kesitler 1 mm aralıklıdır ve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BT aksiyel görüntüleri ile çakışır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; kriyokesit a_vm#### ile donmuş BT c_vm####.fro aynı kesit numarasını paylaşır (Ackerman 1995).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Veriler NCI Imaging Data Commons'ta DICOM olarak yayımlanmıştır. Her görüntünün özgün NLM dosya adı DICOM etiketi (0009,1001)'de korunur; eşleştirme bu numaraya dayanır,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tahmin edilmemiştir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Yalnızca düzlem içi kayma, gövde ve uzuv maskelerinin çapraz korelasyonu ile hesaplanmıştır (ölçek sabit: 0,33/0,9375 mm). Kontrol: BT kemik konturları kriyokesitteki kemiklerle çakıştırılmıştır (Dice 0,84–0,93; uzuvda yerel doku Dice 0,94–0,97).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Kriyokesit DICOM yönelimi (1,0,0 / 0,−1,0) nedeniyle görüntüler dikey çevrilerek BT ile aynı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radyolojik yönelime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getirilmiştir.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Sınırlılık: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donmuş BT'nin görüş alanı 480 mm'dir; kol ortası–dirsek düzeylerinde kol kısmen alan dışında kalır. Aksiyel MR yalnızca baş bölgesini kapsar, bu nedenle ekstremite düzeylerinde MR karşılığı yoktur.</a:t>
            </a:r>
          </a:p>
        </p:txBody>
      </p:sp>
      <p:pic>
        <p:nvPicPr>
          <p:cNvPr id="6" name="Picture 5" descr="scout_coronal_m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235" y="914400"/>
            <a:ext cx="2794329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6080760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55B66"/>
                </a:solidFill>
                <a:latin typeface="Calibri"/>
              </a:rPr>
              <a:t>Donmuş BT koronal MIP; sarı çizgiler = sunumdaki kesit numaraları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Spitzer V, Ackerman MJ, Scherzinger AL, Whitlock D. The Visible Human Male: a technical report. J Am Med Inform Assoc. 1996;3(2):118–30. • Ackerman MJ. Accessing the Visible Human Project. D-Lib Magazine, Oct 1995. • Fedorov A, et al. NCI Imaging Data Commons. RadioGraphics. 2023;43(12):e230180.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1 – Articulatio humeri (caput humeri düzeyi)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Kriyokesit ve aynı kesit numaralı donmuş BT – NLM kesit no. 1320</a:t>
            </a:r>
          </a:p>
        </p:txBody>
      </p:sp>
      <p:pic>
        <p:nvPicPr>
          <p:cNvPr id="5" name="Picture 4" descr="cryo_132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447037"/>
            <a:ext cx="4023360" cy="3369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4834890"/>
            <a:ext cx="40233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4891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Caput humeri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2729483"/>
            <a:ext cx="129021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50438" y="2688335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2948939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M. deltoideus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01368" y="3001060"/>
            <a:ext cx="530809" cy="112471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291029" y="295991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3842308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M. infraspinatus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1368" y="4006900"/>
            <a:ext cx="1737817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98037" y="396575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780336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M. pectoralis major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142689" y="1944928"/>
            <a:ext cx="1846631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01541" y="190378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164384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Clavicula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047945" y="2211476"/>
            <a:ext cx="941375" cy="11750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6797" y="217032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836468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Pulmo dexter (apex)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098237" y="3001060"/>
            <a:ext cx="89108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57089" y="295991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3220516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M. subscapularis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4042105" y="3151936"/>
            <a:ext cx="1947215" cy="233172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000957" y="311078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604564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Scapula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991813" y="3720236"/>
            <a:ext cx="1997507" cy="4892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950665" y="367908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t_132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033111"/>
            <a:ext cx="2514600" cy="210597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0" y="4157376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2346293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Clavicula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938670" y="2510885"/>
            <a:ext cx="622650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897522" y="2469737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20" y="2730341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Caput humeri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8565070" y="2862929"/>
            <a:ext cx="1996250" cy="32004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23922" y="2821781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3289268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Scapula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9284874" y="3453860"/>
            <a:ext cx="1276446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243726" y="341271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loc_13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Caput humeri ile cavitas glenoidalis arasındaki küçük temas yüzeyi, art. humeri'nin geniş hareket açıklığını ve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instabiliteye yatkınlığını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açıklar.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Rotator manşetin kesitteki ilişkisi: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M. subscapularis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scapula'nın önünde,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M. infraspinatus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arkasında.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M. deltoideus eklemi lateral, ön ve arkadan sarar; altında n. axillaris seyreder (bu kesitte ayrı etiketlenmemiştir).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a_vm1320, donmuş BT c_vm1320.fro);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2 – Brachium, orta üçte 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Kol kompartmanları ve medial damar–sinir demeti – NLM kesit no. 1490</a:t>
            </a:r>
          </a:p>
        </p:txBody>
      </p:sp>
      <p:pic>
        <p:nvPicPr>
          <p:cNvPr id="5" name="Picture 4" descr="cryo_149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7" y="914400"/>
            <a:ext cx="381602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8187" y="5367527"/>
            <a:ext cx="381602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121931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Humerus (corpus)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3286523"/>
            <a:ext cx="181667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76898" y="3245375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4349247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Arka kompartman: M. triceps brachii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4513839"/>
            <a:ext cx="178573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45958" y="4472691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884301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Ön kompartman: M. biceps brachii, M. brachialis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05921" y="2048893"/>
            <a:ext cx="1783399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64773" y="2007745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421025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Damar–sinir demeti: A. brachialis, Vv. brachiales, N. medianus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80345" y="3585617"/>
            <a:ext cx="1308975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39197" y="354446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t_149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624913"/>
            <a:ext cx="2514600" cy="29223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4565574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839894"/>
            <a:ext cx="2788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BT görüş alanı (FOV 480 mm) kolu kısmen dışarıda bırakır; kenarda kesilme artefaktı vardır. Güvenilir kemik etiketi konamadığından BT etiketlenmemiştir.</a:t>
            </a:r>
          </a:p>
        </p:txBody>
      </p:sp>
      <p:pic>
        <p:nvPicPr>
          <p:cNvPr id="22" name="Picture 21" descr="loc_14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Kol, septum intermusculare brachii mediale et laterale ile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ön (fleksör)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ve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arka (ekstensör)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kompartmana ayrılır.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Medial damar–sinir demeti kolun iç yüzünde, ön ve arka kompartman sınırında seyreder; nabız ve kompresyon noktasıdır.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N. radialis bu düzeyde humerus arkasında sulcus nervi radialis içindedir; cisim kırıklarında risk altındadır (bu kesitte ayrı etiketlenmemiştir).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a_vm1490, donmuş BT c_vm1490.fro);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3 – Brachium, distal (suprakondiler) bölge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Humerus'un üçgenimsi distal kesiti – NLM kesit no. 1560</a:t>
            </a:r>
          </a:p>
        </p:txBody>
      </p:sp>
      <p:pic>
        <p:nvPicPr>
          <p:cNvPr id="5" name="Picture 4" descr="cryo_156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030510"/>
            <a:ext cx="4023360" cy="4202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5251417"/>
            <a:ext cx="40233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405415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Humerus (suprakondiler bölge)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3570007"/>
            <a:ext cx="1248291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08511" y="352885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4052738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Arka kompartman: M. triceps brachii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4217330"/>
            <a:ext cx="2064914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5134" y="417618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658504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Ön kompartman: M. brachialis, M. biceps brachii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64634" y="2823096"/>
            <a:ext cx="1724686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223486" y="278194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405415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Damar–sinir demeti (A. brachialis, N. medianus)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62987" y="3570007"/>
            <a:ext cx="132633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21839" y="352885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t_156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772781"/>
            <a:ext cx="2514600" cy="26266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4417706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692026"/>
            <a:ext cx="2788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BT görüş alanı kolu kısmen dışarıda bırakır; BT etiketlenmemiştir (kenar artefaktı kemikle karışabilir).</a:t>
            </a:r>
          </a:p>
        </p:txBody>
      </p:sp>
      <p:pic>
        <p:nvPicPr>
          <p:cNvPr id="22" name="Picture 21" descr="loc_15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Distal humerus mediolateral olarak genişleyerek epikondillere uzanır; kesit üçgenimsi hale gelir.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Suprakondiler humerus kırıklarında (özellikle çocuklarda) öndeki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a. brachialis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ve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n. medianus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yaralanma riski taşır.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a_vm1560, donmuş BT c_vm1560.fro);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4 – Articulatio cubiti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Dirsek eklem aralığı ve fossa cubiti içeriği – NLM kesit no. 1615</a:t>
            </a:r>
          </a:p>
        </p:txBody>
      </p:sp>
      <p:pic>
        <p:nvPicPr>
          <p:cNvPr id="5" name="Picture 4" descr="cryo_1615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00" y="914400"/>
            <a:ext cx="389179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40300" y="5367527"/>
            <a:ext cx="389179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465016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Eklem aralığı ve eklem kıkırdağı (art. cubiti)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3629608"/>
            <a:ext cx="1270269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30489" y="358846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2107412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Lateral kas grubu: M. brachioradialis, Mm. extensores carpi radiales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659932" y="2272004"/>
            <a:ext cx="232938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18784" y="223085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849568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Fossa cubiti: A. brachialis ve N. medianus bölgesi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48227" y="3014160"/>
            <a:ext cx="174109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207079" y="297301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736536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Ön kas grubu (M. brachialis, fleksör–pronator kaslar)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55508" y="3901128"/>
            <a:ext cx="1333812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14360" y="385998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t_1615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653362"/>
            <a:ext cx="2514600" cy="28654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4537125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811445"/>
            <a:ext cx="2788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Bu düzeyde kol BT görüş alanının dışında kalmaktadır; yalnızca kriyokesit yorumlanmıştır.</a:t>
            </a:r>
          </a:p>
        </p:txBody>
      </p:sp>
      <p:pic>
        <p:nvPicPr>
          <p:cNvPr id="22" name="Picture 21" descr="loc_16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Fossa cubiti içeriği lateralden mediale: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tendo m. bicipitis brachii – a. brachialis – n. medianus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Eklem kıkırdağı kriyokesitte parlak beyaz hat olarak seçilir; BT'de kıkırdak doğrudan görünmez.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Kemik yüzeylerin tek tek adlandırılması (trochlea/capitulum) kesitin eğikliği nedeniyle pilotta yapılmamıştır.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a_vm1615, donmuş BT c_vm1615.fro);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5 – Antebrachium, proksimal 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Radius ve ulna, mobil kas grubu ve fleksör–pronator kitle – NLM kesit no. 1645</a:t>
            </a:r>
          </a:p>
        </p:txBody>
      </p:sp>
      <p:pic>
        <p:nvPicPr>
          <p:cNvPr id="5" name="Picture 4" descr="cryo_1645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567" y="914400"/>
            <a:ext cx="372526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23567" y="5367527"/>
            <a:ext cx="372526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188970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Radius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3353562"/>
            <a:ext cx="1517172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77392" y="3312414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579235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Ulna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3743827"/>
            <a:ext cx="1144645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04865" y="370267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3987241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Arka (ekstensör) kas grubu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1368" y="4151833"/>
            <a:ext cx="93177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91993" y="4110685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902866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Mobil kas grubu: M. brachioradialis, Mm. extensores carpi radiales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708806" y="2067458"/>
            <a:ext cx="2280514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67658" y="202631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523744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Damar–sinir yapıları (a. brachialis dalları, n. medianus)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285335" y="2688336"/>
            <a:ext cx="1703985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244187" y="264718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410711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Fleksör–pronator kas grubu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374032" y="3575303"/>
            <a:ext cx="161528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332884" y="353415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t_1645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589314"/>
            <a:ext cx="2514600" cy="299357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0" y="4601173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4875493"/>
            <a:ext cx="2788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Kol BT görüş alanının kenarında; radius halkası kısmen izlenir, ancak kenar artefaktı nedeniyle etiketlenmemiştir.</a:t>
            </a:r>
          </a:p>
        </p:txBody>
      </p:sp>
      <p:pic>
        <p:nvPicPr>
          <p:cNvPr id="28" name="Picture 27" descr="loc_16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Radius–ulna ayrımı, 1 mm donmuş BT'de kemiklerin proksimalden distale kesintisiz izlenmesiyle doğrulanmıştır (bkz. QA).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N. radialis'in derin dalı (n. interosseus posterior) bu bölgede m. supinator içinden geçer – topografik sunumdaki Frohse arkadı slaytı ile karşılaştırınız.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a_vm1645, donmuş BT c_vm1645.fro);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6 – Antebrachium, distal üçte 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Pronasyondaki ön kolda radius ve ulna – NLM kesit no. 1740</a:t>
            </a:r>
          </a:p>
        </p:txBody>
      </p:sp>
      <p:pic>
        <p:nvPicPr>
          <p:cNvPr id="5" name="Picture 4" descr="cryo_174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393" y="914400"/>
            <a:ext cx="3769613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1393" y="5367527"/>
            <a:ext cx="3769613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45918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Radius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2710510"/>
            <a:ext cx="2107006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67226" y="2669362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2933966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Ekstensör (arka) kompartman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3098558"/>
            <a:ext cx="942860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703080" y="305741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3931805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Ulna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1368" y="4096397"/>
            <a:ext cx="953947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14167" y="405524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632453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Fleksör (ön) kompartman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218813" y="3797046"/>
            <a:ext cx="1770507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77664" y="375589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t_174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606923"/>
            <a:ext cx="2514600" cy="29583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4583564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2662652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Radius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256955" y="2827244"/>
            <a:ext cx="1304365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215807" y="278609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3594533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Ulna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472991" y="3759125"/>
            <a:ext cx="2088329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431843" y="3717977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c_17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Ön kol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pronasyonda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: radius, ulnanın önünden çaprazlanarak mediale yer değiştirmiştir.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Distalde kas karınları tendonlara dönüşür; fleksör kompartman ekstensörden belirgin şekilde kalındır.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Ulnanın subkutan arka kenarı deriye yakındır (kırıkların sık açık olmasının anatomik temeli).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a_vm1740, donmuş BT c_vm1740.fro);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7 – Articulatio radiocarpalis / ossa carpi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El bileği düzeyi (kesit eğik) – NLM kesit no. 1785</a:t>
            </a:r>
          </a:p>
        </p:txBody>
      </p:sp>
      <p:pic>
        <p:nvPicPr>
          <p:cNvPr id="5" name="Picture 4" descr="cryo_1785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567179"/>
            <a:ext cx="4023360" cy="312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4714748"/>
            <a:ext cx="40233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123692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Caput ulnae (distal uç)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3288284"/>
            <a:ext cx="952330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12550" y="324713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2848017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Ossa carpi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468962" y="3012609"/>
            <a:ext cx="2520358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27814" y="2971461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t_1785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108200"/>
            <a:ext cx="2514600" cy="195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840" y="4082288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2847001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Ossa carpi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928523" y="3011593"/>
            <a:ext cx="1632797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887375" y="2970445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61320" y="3231049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Caput ulnae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8574616" y="3146636"/>
            <a:ext cx="1986704" cy="249005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533468" y="3105488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_17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Karpal kemikler 1785 civarında ortaya çıkar (radiokarpal düzey ≈ 1775–1780).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Canalis carpi, ossa carpi ile retinaculum musculorum flexorum arasında kalır; içinden 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n. medianus</a:t>
            </a:r>
            <a:r>
              <a:rPr sz="1150" b="0" i="0">
                <a:solidFill>
                  <a:srgbClr val="1F2A44"/>
                </a:solidFill>
                <a:latin typeface="Calibri"/>
              </a:rPr>
              <a:t> ve 9 fleksör tendon geçer.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El gövdeye eğik yaslandığından tek tek karpal kemik adlandırması pilotta yapılmamıştır; tam sürümde 3B izleme ile eklenecektir.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a_vm1785, donmuş BT c_vm1785.fro);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Düzey 8 – Metacarpus (avuç içi)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C8D1E6"/>
                </a:solidFill>
                <a:latin typeface="Calibri"/>
              </a:rPr>
              <a:t>Metakarpal kemikler, interosseöz, tenar ve hipotenar kaslar – NLM kesit no. 1830</a:t>
            </a:r>
          </a:p>
        </p:txBody>
      </p:sp>
      <p:pic>
        <p:nvPicPr>
          <p:cNvPr id="5" name="Picture 4" descr="cryo_1830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359625"/>
            <a:ext cx="4023360" cy="3544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4922302"/>
            <a:ext cx="40233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Kriyokesit (renkli fotoğraf, 0,33 mm/piksel)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727742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Mm. interossei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2892334"/>
            <a:ext cx="155796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18183" y="285118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111790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Ossa metacarpi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01368" y="3103081"/>
            <a:ext cx="1328057" cy="173301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88277" y="3061933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3781479"/>
            <a:ext cx="1664208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F2A44"/>
                </a:solidFill>
                <a:latin typeface="Calibri"/>
              </a:rPr>
              <a:t>Hipotenar kaslar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1368" y="3946071"/>
            <a:ext cx="935300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95520" y="3904923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980546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Başparmak (pollex) kemikleri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413068" y="2145138"/>
            <a:ext cx="1576252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371920" y="210399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364594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Tenar kaslar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3981994" y="2509157"/>
            <a:ext cx="2007326" cy="20029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940846" y="2468009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919330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Fleksör tendonlar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934097" y="3083922"/>
            <a:ext cx="2055223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892949" y="3042774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t_1830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78478"/>
            <a:ext cx="2514600" cy="22152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0" y="4212009"/>
            <a:ext cx="2697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B66"/>
                </a:solidFill>
                <a:latin typeface="Calibri"/>
              </a:rPr>
              <a:t>Donmuş BT, aynı kesit no. (P 40/400)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2331720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Başparmak (pollex) kemikleri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9565821" y="2469424"/>
            <a:ext cx="995499" cy="26888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24673" y="2428276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2903546"/>
            <a:ext cx="14630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Ossa metacarpi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739595" y="3068138"/>
            <a:ext cx="1821725" cy="0"/>
          </a:xfrm>
          <a:prstGeom prst="line">
            <a:avLst/>
          </a:prstGeom>
          <a:ln w="1905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98447" y="3026990"/>
            <a:ext cx="82296" cy="82296"/>
          </a:xfrm>
          <a:prstGeom prst="ellipse">
            <a:avLst/>
          </a:prstGeom>
          <a:solidFill>
            <a:srgbClr val="FFD200"/>
          </a:solidFill>
          <a:ln w="635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c_18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920091"/>
            <a:ext cx="1554480" cy="90301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15600" y="18288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Calibri"/>
              </a:rPr>
              <a:t>Konum: tüm kesit (kırmızı = büyütülen alan)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3212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Ulnar taraf (hipotenar) aşağı-solda, radial taraf (başparmak) yukarı-sağdadır – el bileği düzeyindeki ulna konumu ile tutarlıdır.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• Mm. interossei metakarpallar arasında; palmar tarafta fleksör tendonlar izlenir.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Kaynak: NLM Visible Human Project – Visible Human Male (kriyokesit a_vm1830, donmuş BT c_vm1830.fro); NCI Imaging Data Commons 'nlm_visible_human_project' (doi:10.5281/zenodo.12690049). Lisans: NLM Terms and Conditions (21.05.2019). Kırpma/yön/etiketler: bu proje.  Yönelim: radyolojik (ön yukarıda, hastanın sağı izleyicinin solunda). Sağ üst ekstremite. Kadavrada kol gövde yanında, ön kol pronasyonda olduğundan kompartmanlar eğik izlenir.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Kaynaklar, lisans ve kalite kontrol notları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Spitzer V, Ackerman MJ, Scherzinger AL, Whitlock D. The Visible Human Male: a technical report.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J Am Med Inform Assoc.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1996;3(2):118–130.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Ackerman MJ. Accessing the Visible Human Project.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D-Lib Magazine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, October 1995 (BT ve anatomik kesitlerin 1 mm aralıkla çakıştığı belirtilir).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Fedorov A, et al. National Cancer Institute Imaging Data Commons: toward transparency, reproducibility, and scalability in imaging AI.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RadioGraphics.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2023;43(12):e230180.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IDC koleksiyonu: nlm_visible_human_project, doi:10.5281/zenodo.12690049. Seri UID'leri ve indirme betikleri: kesitsel/KAYNAKLAR.md, scripts/.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Lisans: National Library of Medicine Terms and Conditions (21 Mayıs 2019) – kaynak gösterilerek eğitim amaçlı kullanım.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Etiket doğrulama: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her etiket noktası kaynak piksel koordinatında tanımlıdır; slaytlar PDF/PNG'ye dönüştürülüp görsel olarak denetlenmiştir (kesitsel/qa/).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Pilotta bilinçli olarak etiketlenmeyenler: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 tek tek karpal kemikler, sinirlerin ayrı ayrı adlandırılması (n. radialis, n. ulnaris) ve yüzeyel venler – kesin tanımlama için daha yüksek çözünürlüklü komşu kesit izlemesi gerekir. Etiketler bir anatomi öğretim üyesince onaylanmalıdır.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6400800"/>
            <a:ext cx="11640312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64190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55B66"/>
                </a:solidFill>
                <a:latin typeface="Calibri"/>
              </a:rPr>
              <a:t>Tüm görüntüler gerçek kadavra (kriyokesit) ve radyoloji (BT) verisidir.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