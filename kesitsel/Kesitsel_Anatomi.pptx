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Visible-Human/Male-Images/Fullcolor/fullbody/a_vm1290.raw</a:t>
            </a:r>
          </a:p>
          <a:p>
            <a:r>
              <a:t>BT: Visible-Human/Male-Images/radiological/frozenCT/c_vm1290.fro (kesit no. 1290.0)</a:t>
            </a:r>
          </a:p>
          <a:p>
            <a:r>
              <a:t>Kırpma kutusu: [280, 480, 1010, 1030]</a:t>
            </a:r>
          </a:p>
          <a:p>
            <a:r>
              <a:t>Kayıt: {'scale': 0.35200000000000004, 'dx': -95, 'dy': 2, 'dice': 0.938438636492114, 'local_shift_ctpx': [2, 2], 'local_bone_dice': 0.185, 'local_tissue_dice': 0.982}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Visible-Human/Male-Images/Fullcolor/fullbody/a_vm1320.raw</a:t>
            </a:r>
          </a:p>
          <a:p>
            <a:r>
              <a:t>BT: Visible-Human/Male-Images/radiological/frozenCT/c_vm1320.fro (kesit no. 1320.0)</a:t>
            </a:r>
          </a:p>
          <a:p>
            <a:r>
              <a:t>Kırpma kutusu: [200, 440, 1000, 1110]</a:t>
            </a:r>
          </a:p>
          <a:p>
            <a:r>
              <a:t>Kayıt: {'scale': 0.35200000000000004, 'dx': -97, 'dy': 0, 'dice': 0.8879252799018783}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Visible-Human/Male-Images/Fullcolor/fullbody/a_vm1340.raw</a:t>
            </a:r>
          </a:p>
          <a:p>
            <a:r>
              <a:t>BT: Visible-Human/Male-Images/radiological/frozenCT/c_vm1340.fro (kesit no. 1340.0)</a:t>
            </a:r>
          </a:p>
          <a:p>
            <a:r>
              <a:t>Kırpma kutusu: [100, 440, 850, 1110]</a:t>
            </a:r>
          </a:p>
          <a:p>
            <a:r>
              <a:t>Kayıt: {'scale': 0.35200000000000004, 'dx': -98, 'dy': 0, 'dice': 0.8748337688546222}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Szaro Pawel, McGrath Alexandra, Ciszek Bogdan et al. Magnetic resonance imaging of the brachial plexus. Part 1: Anatomical considerations, magnetic resonance techniques, and non-traumatic lesions. Eur J Radiol Open. 2021 Dec 20;9:100392. doi: 10.1016/j.ejro.2021.100392 PMCID: PMC8695258. Lisans: CC BY.</a:t>
            </a:r>
          </a:p>
          <a:p>
            <a:r>
              <a:t>Altyazı: MRI of the brachial plexus, right side. (a and b) T2-weighted DIXON sequence with fat suppression. (b) MPR of the C8 root. (c and d) Neurography. 1 – the C5 root, 2 – the C6 root, 3 – the middle trunk, 4 – the C8 root, 5 – the Th1 root, 6 – the upper trunk, 7 – the lower trunk, 8 – the lateral cord, 9 – the medial cord, and 10 – the posterior cord.</a:t>
            </a:r>
          </a:p>
          <a:p>
            <a:r>
              <a:t>Szaro Pawel, McGrath Alexandra, Ciszek Bogdan et al. Magnetic resonance imaging of the brachial plexus. Part 1: Anatomical considerations, magnetic resonance techniques, and non-traumatic lesions. Eur J Radiol Open. 2021 Dec 20;9:100392. doi: 10.1016/j.ejro.2021.100392 PMCID: PMC8695258. Lisans: CC BY.</a:t>
            </a:r>
          </a:p>
          <a:p>
            <a:r>
              <a:t>Altyazı: (a-c) The roots and trunks of the normal brachial plexus (BP) on magnetic resonance imaging. (d) cadaver specimen, anterolateral view. 1 – the C4 spinal nerve (not contributing to the BP), 2 – the C5 root, 3 – the C6 root, 3a- the anterior division of the middle trunk, 4 – the C7 root, 5 – the upper trunk, 6 – the middle trunk, 7 – the C8 root, 8 – the Th1 root, 9 – the ganglia of the spinal nerves C5-C8, 10 – the phrenic nerve, 11 – the suprascapular artery, 12 – the ascending cervical artery, 13 – the subclavian vein, 14 – the internal jugular vein, and 15 – the nerve point of the neck. Ant.; anterior, post.; posterior, sup.; superior, inf.; inferior.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Kadi Redouane, Milants Annemieke, Shahabpour Maryam Shoulder Anatomy and Normal Variants. J Belg Soc Radiol. 2017 Dec 16;101(Suppl 2):3. doi: 10.5334/jbr-btr.1467 PMCID: PMC6251069. Lisans: CC BY.</a:t>
            </a:r>
          </a:p>
          <a:p>
            <a:r>
              <a:t>Altyazı: Glenohumeral ligaments and spiral glenohumeral ligament (fasciculus obliquus). (A) Schematic illustration of the anterior ligaments of the shoulder. SGHL: superior glenohumeral ligament, MGHL: middle glenohumeral ligament, IGHL: anterior band of the inferior glenohumeral ligament, spiral GHL: spiral glenohumeral ligament or fasciculus obliquus. (B) Sagittal oblique PD-weighted MR arthrogram image shows the fasciculus obliquus (thick white arrows, B), the frenula capsulae (synovial bands) (thin white arrows, B) and the middle glenohumeral ligament (black arrows, B) can be identified on this sagittal section.</a:t>
            </a:r>
          </a:p>
          <a:p>
            <a:r>
              <a:t>Kadi Redouane, Milants Annemieke, Shahabpour Maryam Shoulder Anatomy and Normal Variants. J Belg Soc Radiol. 2017 Dec 16;101(Suppl 2):3. doi: 10.5334/jbr-btr.1467 PMCID: PMC6251069. Lisans: CC BY.</a:t>
            </a:r>
          </a:p>
          <a:p>
            <a:r>
              <a:t>Altyazı: Inferior glenohumeral ligament. On fat-saturated T1-weighted MRA images obtained in (A) Coronal oblique and (B) Axial planes, the ligament appears as a thin hypointense band delimited by the distended axillary pouch or recess with a U-shaped appearance (arrow, A). The anterior (white arrow, B) and posterior (black arrow, B) bands are demonstrated on the axial section.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 SP, Fairbairn KJ, Kirk JE et al. Shoulder ultrasound. Biomed Imaging Interv J. 2006 Oct 1;2(4):e58. doi: 10.2349/biij.2.4.e58 PMCID: PMC3097811. Lisans: CC BY.</a:t>
            </a:r>
          </a:p>
          <a:p>
            <a:r>
              <a:t>Altyazı: Frozen US image depicting a longitudinal view of the SST and IST.</a:t>
            </a:r>
          </a:p>
          <a:p>
            <a:r>
              <a:t>Tan SP, Fairbairn KJ, Kirk JE et al. Shoulder ultrasound. Biomed Imaging Interv J. 2006 Oct 1;2(4):e58. doi: 10.2349/biij.2.4.e58 PMCID: PMC3097811. Lisans: CC BY.</a:t>
            </a:r>
          </a:p>
          <a:p>
            <a:r>
              <a:t>Altyazı: Labelled line drawing depicting a longitudinal view of the SST and 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Leonhard Vanessa, Caldwell Gregory, Goh Mei et al. Ultrasonographic Diagnosis of Thoracic Outlet Syndrome Secondary to Brachial Plexus Piercing Variation. Diagnostics (Basel). 2017 Jul 4;7(3):40. doi: 10.3390/diagnostics7030040 PMCID: PMC5617940. Lisans: CC BY.</a:t>
            </a:r>
          </a:p>
          <a:p>
            <a:r>
              <a:t>Altyazı: The classic brachial plexus anatomy identified on ultrasound: (A) unlabeled; and (B) labeled. Note that the superior, middle, and inferior trunks are clearly separated from the anterior and middle scalene muscles by hyperechoic fascial planes. AS = anterior scalene; IT = inferior trunk; MS = middle scalene; MT = middle trunk; SCM = sternocleidomastoid; ST = superior trunk. The green outlines demarcate the trunks of the brachial plexus.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Fischer Cornelius Sebastian, Floß Matthias, Ittermann Till et al. Os acromiale: prevalence and associated patient-related factors—a population-based study of three thousand and fifty participants. Int Orthop. 2022 May 5;46(7):1583–90. doi: 10.1007/s00264-022-05406-0 PMCID: PMC9166870. Lisans: CC BY.</a:t>
            </a:r>
          </a:p>
          <a:p>
            <a:r>
              <a:t>Altyazı: Scheme showing the types of os acromiale: pre-acromion, meso-acromion, meta-acromion, and basi-acromion</a:t>
            </a:r>
          </a:p>
          <a:p>
            <a:r>
              <a:t>Kadi Redouane, Milants Annemieke, Shahabpour Maryam Shoulder Anatomy and Normal Variants. J Belg Soc Radiol. 2017 Dec 16;101(Suppl 2):3. doi: 10.5334/jbr-btr.1467 PMCID: PMC6251069. Lisans: CC BY.</a:t>
            </a:r>
          </a:p>
          <a:p>
            <a:r>
              <a:t>Altyazı: Os acromiale. Axial CT arthrography through the acromioclavicular joint demonstrates an os acromiale (arrow) with synchondrosis (arrowhead). An os acromiale should not be confused with a fracture fragment and the synchondrosis with a pseudarthrosis. In this case, there is a communication between the synchondrosis and the glenohumeral joint (with high-density contrast penetration), which is not normal. Subchondral cystic changes are also seen in the zone of pseudarthrosis.</a:t>
            </a:r>
          </a:p>
          <a:p>
            <a:r>
              <a:t>Birsel Olgar, Yığman Gizem Timoçin, Günerbüyük Caner et al. Prevalence of os acromiale and concomitant rotator cuff tears: a focused assessment of 3697 shoulder magnetic resonance imagings. Acta Orthop Traumatol Turc. 2026 Feb 19;60:e25714. doi: 10.5152/j.aott.2026.25714 PMCID: PMC13051579. Lisans: CC BY-NC.</a:t>
            </a:r>
          </a:p>
          <a:p>
            <a:r>
              <a:t>Altyazı: Os acromiale visualized on T2-weighted axial (A) and T1-weighted sagittal oblique (B) MR images. The unfused ossification center (white arrow) creates a double acromioclavicular joint appearance characteristic of os acromiale.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Kadi Redouane, Milants Annemieke, Shahabpour Maryam Shoulder Anatomy and Normal Variants. J Belg Soc Radiol. 2017 Dec 16;101(Suppl 2):3. doi: 10.5334/jbr-btr.1467 PMCID: PMC6251069. Lisans: CC BY.</a:t>
            </a:r>
          </a:p>
          <a:p>
            <a:r>
              <a:t>Altyazı: Schematic illustration of the normal capsulolabral complex and anatomical variations. They are shown on a lateral view onto the glenoid. (a) Normal anatomy; (b) Sublabral recess (sublabral sulcus); (c) Sublabral foramen (sublabral hole); (d) Buford complex. LHBT: long head of biceps tendon, SGHL: superior glenohumeral ligament, MGHL: middle glenohumeral ligament, IGHL: inferior glenohumeral ligament.</a:t>
            </a:r>
          </a:p>
          <a:p>
            <a:r>
              <a:t>Benes Michal, Kachlik David, Kopp Lubomir et al. Prevalence of the anterosuperior capsulolabral anatomical variations and their association with pathologies of the glenoid labrum: a systematic review and meta-analysis. Arch Orthop Trauma Surg. 2023 Jun 23;143(10):6295–303. doi: 10.1007/s00402-023-04932-9 PMCID: PMC10491707. Lisans: CC BY.</a:t>
            </a:r>
          </a:p>
          <a:p>
            <a:r>
              <a:t>Altyazı: Schematic drawings of the sublabral recess (A), the sublabral foramen (B), and the Buford complex (C). CLMGHL cord-like middle glenohumeral ligament, GL glenoid labrum, LHBBM long head of the biceps brachii muscle, SSM subscapularis muscle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Polguj Michał, Sibiński Marcin, Grzegorzewski Andrzej et al. Suprascapular Notch Asymmetry: A Study on 311 Patients. Biomed Res Int. 2014 May 12;2014:196896. doi: 10.1155/2014/196896 PMCID: PMC4044447. Lisans: CC BY.</a:t>
            </a:r>
          </a:p>
          <a:p>
            <a:r>
              <a:t>Altyazı: Types I–III of the suprascapular notch (three-dimensional volume rendering MDCT). (a) Type I, (b) type II, and (c) type III. MD: maximal depth; STD: superior transverse diameter.</a:t>
            </a:r>
          </a:p>
          <a:p>
            <a:r>
              <a:t>Polguj Michał, Sibiński Marcin, Grzegorzewski Andrzej et al. Suprascapular Notch Asymmetry: A Study on 311 Patients. Biomed Res Int. 2014 May 12;2014:196896. doi: 10.1155/2014/196896 PMCID: PMC4044447. Lisans: CC BY.</a:t>
            </a:r>
          </a:p>
          <a:p>
            <a:r>
              <a:t>Altyazı: Types IV-V of the suprascapular notch (three-dimensional volume rendering MDCT). (a) Type IV; (b) type 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Leonhard Vanessa, Caldwell Gregory, Goh Mei et al. Ultrasonographic Diagnosis of Thoracic Outlet Syndrome Secondary to Brachial Plexus Piercing Variation. Diagnostics (Basel). 2017 Jul 4;7(3):40. doi: 10.3390/diagnostics7030040 PMCID: PMC5617940. Lisans: CC BY.</a:t>
            </a:r>
          </a:p>
          <a:p>
            <a:r>
              <a:t>Altyazı: The superior piercing variant, the most common brachial plexus variant, identified using ultrasonography in the present study: (A) unlabeled; and (B) labeled. Note that the superior trunk is not separated from the anterior scalene in this condition, visible as a lack of hyperechoic fascia. AS = anterior scalene; IT = inferior trunk; MS = middle scalene; MT = middle trunk; SCM = sternocleidomastoid; ST = superior trunk. The green outlines demarcate the trunks of the brachial plexus.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Visible-Human/Male-Images/Fullcolor/fullbody/a_vm1420.raw</a:t>
            </a:r>
          </a:p>
          <a:p>
            <a:r>
              <a:t>BT: Visible-Human/Male-Images/radiological/frozenCT/c_vm1420.fro (kesit no. 1420.0)</a:t>
            </a:r>
          </a:p>
          <a:p>
            <a:r>
              <a:t>Kırpma kutusu: [145, 382, 600, 1124]</a:t>
            </a:r>
          </a:p>
          <a:p>
            <a:r>
              <a:t>Kayıt: {'scale': 0.35200000000000004, 'dx': -104, 'dy': 1, 'dice': 0.8115645325601442}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Visible-Human/Male-Images/Fullcolor/fullbody/a_vm1490.raw</a:t>
            </a:r>
          </a:p>
          <a:p>
            <a:r>
              <a:t>BT: Visible-Human/Male-Images/radiological/frozenCT/c_vm1490.fro (kesit no. 1490.0)</a:t>
            </a:r>
          </a:p>
          <a:p>
            <a:r>
              <a:t>Kırpma kutusu: [150, 560, 520, 990]</a:t>
            </a:r>
          </a:p>
          <a:p>
            <a:r>
              <a:t>Kayıt: {'scale': 0.35200000000000004, 'dx': -100, 'dy': 3, 'dice': 0.9012780144471199}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Visible-Human/Male-Images/Fullcolor/fullbody/a_vm1530.raw</a:t>
            </a:r>
          </a:p>
          <a:p>
            <a:r>
              <a:t>BT: Visible-Human/Male-Images/radiological/frozenCT/c_vm1530.fro (kesit no. 1530.0)</a:t>
            </a:r>
          </a:p>
          <a:p>
            <a:r>
              <a:t>Kırpma kutusu: [125, 506, 600, 1040]</a:t>
            </a:r>
          </a:p>
          <a:p>
            <a:r>
              <a:t>Kayıt: {'scale': 0.35200000000000004, 'dx': -101, 'dy': 3, 'dice': 0.8746756986939334}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Visible-Human/Male-Images/Fullcolor/fullbody/a_vm1560.raw</a:t>
            </a:r>
          </a:p>
          <a:p>
            <a:r>
              <a:t>BT: Visible-Human/Male-Images/radiological/frozenCT/c_vm1560.fro (kesit no. 1560.0)</a:t>
            </a:r>
          </a:p>
          <a:p>
            <a:r>
              <a:t>Kırpma kutusu: [125, 574, 529, 996]</a:t>
            </a:r>
          </a:p>
          <a:p>
            <a:r>
              <a:t>Kayıt: {'scale': 0.35200000000000004, 'dx': -103, 'dy': 3, 'dice': 0.8960924855491329}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Zhu Weijuan, Zhou Riyong, Chen Lulu et al. The ultrasound-guided selective nerve block in the upper arm: an approach of retaining the motor function in elbow. BMC Anesthesiol. 2018 Oct 19;18:143. doi: 10.1186/s12871-018-0584-7 PMCID: PMC6195720. Lisans: CC BY.</a:t>
            </a:r>
          </a:p>
          <a:p>
            <a:r>
              <a:t>Altyazı: Position of patient, neuroanatomy and ultrasound imaging at the level of upper-median 1/3 and low-median 1/3 of the arm in the operating room. a Position of the patient, the probe, and the needle (“p1”) during block of the radial and musculocutaneous nerve. b Topography of the radial nerve (RN) and the musculocutaneous nerve (MCN); red = muscular branches; and the black point “p1”denotes the puncture site. The dotted line denotes the probe position. c Ultrasound depiction of the radial nerve (RN) and the musculocutaneous nerve (MCN). The blue point is situated at the lateral side of the probe. The RN is round with a hyperechoic structure and is located between brachialis and humerus laterally. The MCN is fusiform with a hyperechoic structure, and is located between biceps and brachialis close medially. Also note the humerus (HB), and the triceps (T), biceps (B), and brachialis (M) muscles. e Position of the patient, the probe, and the needle (“p2”) during block of the median, ulnar, and medial antebrachial cutaneous nerves. f Topography of the median nerve (MN), the ulnar nerve (UN). The black point “p2”denotes the puncture site. The dotted line denotes the probe position. g Ultrasound description of the median nerve (MN) and the ulnar nerve (UN). The blue point is situated at the cephalic side of the probe. The MN is between 12 and 1 o’clock in relation to the humeral artery. The UN is situated at the 3 o’clock position of the basilic vein, brachial artery (A), basilic vein (V), and humerus (HB)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Agarwal Aakanksha, Chandra Abhishek, Jaipal Usha et al. A panorama of radial nerve pathologies- an imaging diagnosis: a step ahead. Insights Imaging. 2018 Nov 5;9(6):1021–34. doi: 10.1007/s13244-018-0662-x PMCID: PMC6269333. Lisans: CC BY.</a:t>
            </a:r>
          </a:p>
          <a:p>
            <a:r>
              <a:t>Altyazı: a Probe position for localising the nerve in the spiral groove. The patient’s arm is kept extended, internally rotated and the posterolateral aspect of the arm is scanned. b Crossheads denote the normal honeycomb appearance of radial nerve in the spiral groove between lateral and medial heads of the triceps (stars) c Probe position for localising the nerve between the brachialis and brachioradialis. The lateral part of arm is to be scanned with the arm slightly flexed at the elbow and internally rotated. d Arrowheads denote the normal honeycomb appearance of the radial nerve in the distal arm lying between the brachialis (B) and brachioradialis (Br)</a:t>
            </a:r>
          </a:p>
          <a:p>
            <a:r>
              <a:t>Xiao Ted G., Cartwright Michael S. Ultrasound in the Evaluation of Radial Neuropathies at the Elbow. Front Neurol. 2019 Mar 12;10:216. doi: 10.3389/fneur.2019.00216 PMCID: PMC6423902. Lisans: CC BY.</a:t>
            </a:r>
          </a:p>
          <a:p>
            <a:r>
              <a:t>Altyazı: The transducer has been moved proximally compared to Figure 1, and the radial nerve (arrow) can now be seen adjacent to the humerus (the convex, hyperechoic structure just deep to the nerve) in the spiral groove.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Albano Domenico, Di Rocco Gabriella, Gitto Salvatore et al. Imaging of elbow entrapment neuropathies. Insights Imaging. 2025 Jan 29;16:24. doi: 10.1186/s13244-025-01901-1 PMCID: PMC11780019. Lisans: CC BY.</a:t>
            </a:r>
          </a:p>
          <a:p>
            <a:r>
              <a:t>Altyazı: X-ray (a), CT (b), and US (c) of the supracondylar process (arrow)</a:t>
            </a:r>
          </a:p>
          <a:p>
            <a:r>
              <a:t>Mangi Mohammad Danish, Zadow Steven, Lim WanYin Nerve entrapment syndromes of the upper limb: a pictorial review. Insights Imaging. 2022 Oct 12;13:166. doi: 10.1186/s13244-022-01305-5 PMCID: PMC9556688. Lisans: CC BY.</a:t>
            </a:r>
          </a:p>
          <a:p>
            <a:r>
              <a:t>Altyazı: Causes of median nerve entrapment are illustrated. a: 56-year-old male with supracondylar spur seen on lateral elbow X-ray (white arrow). This is a known risk factor for median nerve impingement at the ligament of Struthers. b: Axial PD of 50-year-old female with carpal tunnel syndrome proven on electrophysiology. There is a congenital variant of bifid median nerve (white arrows) with persistent median artery (blue arrow) which can predispose to carpal tunnel syndrome. c: 30-year-old female with carpal tunnel syndrome. This patient has a ganglion (blue arrow) that is encroaching on the carpal tunnel. There is indentation of the median nerve with a width/height ratio of more than 3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França Mariana Jordão, França Graciliano José, Takahashi Luciana Akemi et al. Assessment of anatomic variations of the brachial artery bifurcation using vascular Doppler ultrasound: a cross-sectional study. J Vasc Bras. 2024 Apr 8;23:e20230117. doi: 10.1590/1677-5449.202301172 PMCID: PMC11042541. Lisans: CC BY.</a:t>
            </a:r>
          </a:p>
          <a:p>
            <a:r>
              <a:t>Altyazı: Doppler ultrasound in transverse view showing an accessory brachial artery and the principal brachial artery, indicating that there is an anatomic variant of the artery.</a:t>
            </a:r>
          </a:p>
          <a:p>
            <a:r>
              <a:t>França Mariana Jordão, França Graciliano José, Takahashi Luciana Akemi et al. Assessment of anatomic variations of the brachial artery bifurcation using vascular Doppler ultrasound: a cross-sectional study. J Vasc Bras. 2024 Apr 8;23:e20230117. doi: 10.1590/1677-5449.202301172 PMCID: PMC11042541. Lisans: CC BY.</a:t>
            </a:r>
          </a:p>
          <a:p>
            <a:r>
              <a:t>Altyazı: Doppler ultrasound in transverse view showing just the principal brachial artery, indicating that there is no anatomic variant of the artery.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Boyle Alex B, MacLean Simon BM Classification system for partial distal biceps tendon tears: a descriptive 3-Tesla magnetic resonance imaging study of tear morphology. Clin Shoulder Elb. 2023 Nov 14;26(4):366–72. doi: 10.5397/cise.2023.00458 PMCID: PMC10698130. Lisans: CC BY-NC.</a:t>
            </a:r>
          </a:p>
          <a:p>
            <a:r>
              <a:t>Altyazı: Example of long-head only tear. (A) Sagittal plane. (B) Axial plane. White arrows denote intact tendon and the yellow arrow denotes torn tendon.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Visible-Human/Male-Images/Fullcolor/fullbody/a_vm1596.raw</a:t>
            </a:r>
          </a:p>
          <a:p>
            <a:r>
              <a:t>BT: Visible-Human/Male-Images/radiological/frozenCT/c_vm1596.fro (kesit no. 1596.0)</a:t>
            </a:r>
          </a:p>
          <a:p>
            <a:r>
              <a:t>Kırpma kutusu: [126, 543, 500, 987]</a:t>
            </a:r>
          </a:p>
          <a:p>
            <a:r>
              <a:t>Kayıt: {'scale': 0.35200000000000004, 'dx': -102, 'dy': 5, 'dice': 0.8984812489394196}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Visible-Human/Male-Images/Fullcolor/fullbody/a_vm1615.raw</a:t>
            </a:r>
          </a:p>
          <a:p>
            <a:r>
              <a:t>BT: Visible-Human/Male-Images/radiological/frozenCT/c_vm1615.fro (kesit no. 1615.0)</a:t>
            </a:r>
          </a:p>
          <a:p>
            <a:r>
              <a:t>Kırpma kutusu: [130, 470, 560, 960]</a:t>
            </a:r>
          </a:p>
          <a:p>
            <a:r>
              <a:t>Kayıt: {'scale': 0.35200000000000004, 'dx': -101, 'dy': 5, 'dice': 0.898334871738711}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Visible-Human/Male-Images/Fullcolor/fullbody/a_vm1645.raw</a:t>
            </a:r>
          </a:p>
          <a:p>
            <a:r>
              <a:t>BT: Visible-Human/Male-Images/radiological/frozenCT/c_vm1645.fro (kesit no. 1645.0)</a:t>
            </a:r>
          </a:p>
          <a:p>
            <a:r>
              <a:t>Kırpma kutusu: [140, 460, 560, 960]</a:t>
            </a:r>
          </a:p>
          <a:p>
            <a:r>
              <a:t>Kayıt: {'scale': 0.35200000000000004, 'dx': -100, 'dy': 5, 'dice': 0.8990702976567447}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Visible-Human/Male-Images/Fullcolor/fullbody/a_vm1700.raw</a:t>
            </a:r>
          </a:p>
          <a:p>
            <a:r>
              <a:t>BT: Visible-Human/Male-Images/radiological/frozenCT/c_vm1700.fro (kesit no. 1700.0)</a:t>
            </a:r>
          </a:p>
          <a:p>
            <a:r>
              <a:t>Kırpma kutusu: [232, 398, 595, 830]</a:t>
            </a:r>
          </a:p>
          <a:p>
            <a:r>
              <a:t>Kayıt: {'scale': 0.35200000000000004, 'dx': -101, 'dy': 6, 'dice': 0.9293199445646624}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Visible-Human/Male-Images/Fullcolor/fullbody/a_vm1740.raw</a:t>
            </a:r>
          </a:p>
          <a:p>
            <a:r>
              <a:t>BT: Visible-Human/Male-Images/radiological/frozenCT/c_vm1740.fro (kesit no. 1740.0)</a:t>
            </a:r>
          </a:p>
          <a:p>
            <a:r>
              <a:t>Kırpma kutusu: [380, 250, 720, 650]</a:t>
            </a:r>
          </a:p>
          <a:p>
            <a:r>
              <a:t>Kayıt: {'scale': 0.35200000000000004, 'dx': -105, 'dy': 12, 'dice': 0.9295312319070418, 'local_shift_ctpx': [-1, 6], 'local_bone_dice': 0.162, 'local_tissue_dice': 0.961}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Visible-Human/Male-Images/Fullcolor/fullbody/a_vm1770.raw</a:t>
            </a:r>
          </a:p>
          <a:p>
            <a:r>
              <a:t>BT: Visible-Human/Male-Images/radiological/frozenCT/c_vm1770.fro (kesit no. 1770.0)</a:t>
            </a:r>
          </a:p>
          <a:p>
            <a:r>
              <a:t>Kırpma kutusu: [414, 191, 887, 599]</a:t>
            </a:r>
          </a:p>
          <a:p>
            <a:r>
              <a:t>Kayıt: {'scale': 0.35200000000000004, 'dx': -102, 'dy': 10, 'dice': 0.9401027356349301, 'local_shift_ctpx': [1, 3], 'local_bone_dice': 0.041, 'local_tissue_dice': 0.956}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Acosta Batlle José, Cerezal Luis, López Parra María Dolores et al. The elbow: review of anatomy and common collateral ligament complex pathology using MRI. Insights Imaging. 2019 Apr 3;10:43. doi: 10.1186/s13244-019-0725-7 PMCID: PMC6447645. Lisans: CC BY.</a:t>
            </a:r>
          </a:p>
          <a:p>
            <a:r>
              <a:t>Altyazı: Elbow illustration. Medial view (a) demonstrating the medial collateral ligament complex: anterior bundle of the medial collateral ligament (A-MCL), posterior bundle of the medial collateral ligament (P-MCL), and transverse ligament (T-MCL). Lateral view (b) demonstrating the lateral collateral ligament complex: lateral ulnar collateral ligament (LUCL), radial collateral ligament (RCL), and annular ligament (AL)</a:t>
            </a:r>
          </a:p>
          <a:p>
            <a:r>
              <a:t>Acosta Batlle José, Cerezal Luis, López Parra María Dolores et al. The elbow: review of anatomy and common collateral ligament complex pathology using MRI. Insights Imaging. 2019 Apr 3;10:43. doi: 10.1186/s13244-019-0725-7 PMCID: PMC6447645. Lisans: CC BY.</a:t>
            </a:r>
          </a:p>
          <a:p>
            <a:r>
              <a:t>Altyazı: Consecutive coronal FS PD-weighted MRI (a–c) showing the intact anterior bundle of the medial collateral ligament (A-MCL) complex (white asterisks). It extends from the inferior aspect of the medial epicondyle (ME) to the sublime tubercle of the ulna (white arrowheads). Note the typical striated appearance of the normal proximal A-MCL (white arrows)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Acosta Batlle José, Cerezal Luis, López Parra María Dolores et al. The elbow: review of anatomy and common collateral ligament complex pathology using MRI. Insights Imaging. 2019 Apr 3;10:43. doi: 10.1186/s13244-019-0725-7 PMCID: PMC6447645. Lisans: CC BY.</a:t>
            </a:r>
          </a:p>
          <a:p>
            <a:r>
              <a:t>Altyazı: Consecutive coronal FS PD-weighted MRI (a–d) showing the intact lateral ulnar collateral ligament (white asterisks) and radial collateral ligament (short arrows). The lateral ulnar collateral ligament wraps around the posterior aspect of the radial neck. Annular ligament (long arrow). Common extensor tendon (white arrowheads). Lateral epicondyle (LE). Supinator crest of the ulna (SC)</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Ferre-Martinez Andrea, Miguel-Pérez Maribel, Möller Ingrid et al. Possible Points of Ulnar Nerve Entrapment in the Arm and Forearm: An Ultrasound, Anatomical, and Histological Study. Diagnostics (Basel). 2023 Apr 3;13(7):1332. doi: 10.3390/diagnostics13071332 PMCID: PMC10093241. Lisans: CC BY.</a:t>
            </a:r>
          </a:p>
          <a:p>
            <a:r>
              <a:t>Altyazı: (A) US view of the UN at the osteofibrous tunnel covered by Osborne’s fascia (white arrows), laterally to the medial epicondyle (ME) (B) Anatomical view of the Osborne’s fascia marked with black asterisks and the UN passing between the olecranon (Olc) and the medial epicondyle (ME).</a:t>
            </a:r>
          </a:p>
          <a:p>
            <a:r>
              <a:t>Ferre-Martinez Andrea, Miguel-Pérez Maribel, Möller Ingrid et al. Possible Points of Ulnar Nerve Entrapment in the Arm and Forearm: An Ultrasound, Anatomical, and Histological Study. Diagnostics (Basel). 2023 Apr 3;13(7):1332. doi: 10.3390/diagnostics13071332 PMCID: PMC10093241. Lisans: CC BY.</a:t>
            </a:r>
          </a:p>
          <a:p>
            <a:r>
              <a:t>Altyazı: (A) US view of UN (white crosses) at its exit from the osteofibrous tunnel of the elbow, crossing between medial (MH) and lateral (LH) heads of flexor carpi ulnaris. (B) Anatomical view of the UN at this point. It is shown how it crosses beneath the Osborne’s ligament (white asterisk), which connects both heads of the flexor carpi ulnaris (FCU). In addition, note that the UN remains attached to the FCU’s epimysium (black arrows).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Borges Áurea V. R. Mohana, Souza Sergio A. L Anatomy of the nerves, vessels, and muscular compartments of the forearm, as revealed by high-resolution ultrasound. Part 1: overall structure and forearm compartments. Radiol Bras. 2021 Nov-Dec;54(6):388–97. doi: 10.1590/0100-3984.2021.0030 PMCID: PMC8630951. Lisans: CC BY.</a:t>
            </a:r>
          </a:p>
          <a:p>
            <a:r>
              <a:t>Altyazı: Diagrams of the forearm compartments. A: Level of the proximal forearm. Note the appearance of the ulnar head of the pronator teres (PR) muscle, between the median nerve (1) and the ulnar artery (2). The ulnar nerve (3) is located among the muscles flexor carpi ulnaris (FCU), flexor digitorum superficialis (FDS) and flexor digitorum profundus (FDP). At that point, the ulnar nerve is unaccompanied by vessels. At a slightly more proximal level, the ulnar nerve is accompanied by the posterior ulnar recurrent artery to the level of the cubital tunnel (not shown). Note the relative proximity between the radial artery (4) and the superficial branch of the radial nerve (5). The deep branch of the radial nerve (6) is located between the superficial and deep heads of the supinator muscle (S). At this proximal level, cutaneous nerves are better identified. Note the proximity of the lateral and medial antebrachial cutaneous nerves (LAbCN and MAbCN, respectively) in proximity to the cephalic vein (CV) and basilic vein (BV), respectively. FCR, flexor carpi radialis (muscle); PL, palmaris longus (muscle); Br, brachioradialis (muscle); ECRL, extensor carpi radialis longus (muscle); ECRB, extensor carpi radialis brevis (muscle); ED, extensor digitorum (muscle); EDM, extensor digiti minimi (muscle); ECU, extensor carpi ulnaris (muscle); MV, median vein of the forearm; R, radius; U, ulna; A, anconeus (muscle); PAbCN, posterior antebrachial cutaneous nerve. B: Level of the middle-proximal third of the forearm. Note the end of the supinator tunnel and the transition between the distal portion of the deep head of the supinator muscle (S) and the origin of the abductor pollicis longus (APL) muscle. Note the arch of the flexor digitorum superficialis (FDS) muscle over the median nerve (1). Note also the insertion of the pronator teres (PR) tendon in the lateral edge of the radius (R) and the origin of the flexor pollicis longus (FPL) muscle. Note the close relationship that the anterior interosseous nerve (7) has with the anterior interosseous artery and veins (8). The posterior interosseous artery (9) is close to the posterior interosseous nerve (10), which is the distal continuation of the deep branch of the radial nerve (6). Note also the close relationships that the ulnar nerve (3) and the superficial branch of the radial nerve (5) have with the ulnar (2) and radial (4) arteries and veins, respectively. EPL, extensor pollicis longus (muscle). C: Level of the middle-distal third of the forearm. Note the superficial branch of the radial nerve (5) piercing the fascia between the tendons of the brachioradialis (Br) and the extensor carpi radialis longus (ECRL). Note the divisions of the posterior interosseous artery (1) in the posterior compartment. From its origin, the palmar branch of the ulnar nerve (12) accompanies the ulnar nerve to the distal third of the forearm. EPB, extensor pollicis brevis (muscle); EI, extensor indicis (muscle). D: Level of the distal third of the forearm. Note the musculature of the pronator quadratus (PQ) and several tendons and myotendinous junctions crossing the region. Note the proximity of the superficial branch of the radial nerve (5) to the cephalic vein (CV). The origin of the dorsal cutaneous branch of the ulnar nerve (13) have a transverse course below the flexor carpi radialis (FCU) muscle. Also note the proximal portion of the palmar cutaneous branch of the median nerve (14) and the proximity to the fascia and tendon of the flexor carpi radialis (FCR). The posterior interosseous nerve (10) has several branches, one of the last identified at this level (15) innervating the extensor indicis (EI) muscle.</a:t>
            </a:r>
          </a:p>
          <a:p>
            <a:r>
              <a:t>Borges Áurea V. R. Mohana, Souza Sergio A. L Anatomy of the nerves, vessels, and muscular compartments of the forearm, as revealed by high-resolution ultrasound. Part 1: overall structure and forearm compartments. Radiol Bras. 2021 Nov-Dec;54(6):388–97. doi: 10.1590/0100-3984.2021.0030 PMCID: PMC8630951. Lisans: CC BY.</a:t>
            </a:r>
          </a:p>
          <a:p>
            <a:r>
              <a:t>Altyazı: Forearm compartments and nerves. A: Volar compartment. Median nerve (MN) and ulnar nerve (UN) in the volar compartment of the forearm. Most of the muscles in this compartment are innervated by the median nerve, with the exceptions of the flexor carpi ulnaris (FCU) muscle and the medial part of the flexor digitorum profundus (FDP) muscle, both of which are innervated by the ulnar nerve. The ulnar artery (UA) can be seen close to the ulnar nerve. In the individual depicted, the radial artery (RA) is near the superficial branch of the radial nerve (SBRN) and the median nerve. PL, palmaris longus (muscle); Br, brachioradialis (muscle); FCR, flexor carpi radialis (muscle); FDS, flexor digitorum superficialis (muscle); ECRL, extensor carpi radialis longus (muscle); FCU, flexor carpi ulnaris (muscle); FPL, flexor pollicis longus (muscle); R, radius; U, ulna. B: Dorsal compartment. The compartment is innervated by the deep branch of the radial nerve and its continuation in the posterior interosseous nerve (PIN), with the exception of the anconeus muscle (not shown). Note the relative proximity of the PIN and the posterior interosseous artery (PIA) distal to the level of the distal arcade of the supinator muscle. EDM, extensor digiti minimi (muscle); ECU, extensor carpi ulnaris (muscle); ED, extensor digitorum (muscle); APL, abductor pollicis longus (muscle); S, supinator (muscle, deep head); U, ulna; R, radius. C: Lateral compartment. Among the three muscles of the compartment, two—the brachioradialis (Br) and extensor carpi radialis longus (ECRL)—are innervated directly by the radial nerve at the level of the arm. However, the extensor carpi radialis brevis (ECRB) muscle may be innervated by the deep branch of the radial nerve, by the superficial branch of the radial nerve (SBRN), or directly by the main trunk of the radial nerve. Note the superficial branch of the radial nerve coursing below the brachioradialis and close to the radial artery (RA). ECRBb, extensor carpi radialis brevis branch; FCR, flexor carpi radialis (muscle); R, radius; U, ulna.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Borges Áurea V. R. Mohana, Souza Sergio A. L Anatomy of the nerves, vessels, and muscular compartments of the forearm, as revealed by high-resolution ultrasound. Part 2: vascularization of compartments and cutaneous innervation. Radiol Bras. 2021 Nov-Dec;54(6):398–405. doi: 10.1590/0100-3984.2021.0031 PMCID: PMC8630952. Lisans: CC BY.</a:t>
            </a:r>
          </a:p>
          <a:p>
            <a:r>
              <a:t>Altyazı: HRUS with Doppler, showing the bifurcation of the brachial artery (BA) into the ulnar artery (UA) and radial artery (RA). A: Note the more direct path of the RA as a distal continuation of the BA. B: The UA is in a deeper position than is the RA. Observe the origins of the posterior ulnar recurrent artery (PURA) and common interosseous artery (CIA) from the proximal part of the UA. The PURA is one of the two recurrent ulnar arteries and ascends in the posterior medial aspect of the elbow to anastomose with the superior ulnar collateral artery from the brachial artery. The CIA is a short vessel that bifurcates into the anterior and posterior interosseous arteries.</a:t>
            </a:r>
          </a:p>
          <a:p>
            <a:r>
              <a:t>Borges Áurea V. R. Mohana, Souza Sergio A. L Anatomy of the nerves, vessels, and muscular compartments of the forearm, as revealed by high-resolution ultrasound. Part 2: vascularization of compartments and cutaneous innervation. Radiol Bras. 2021 Nov-Dec;54(6):398–405. doi: 10.1590/0100-3984.2021.0031 PMCID: PMC8630952. Lisans: CC BY.</a:t>
            </a:r>
          </a:p>
          <a:p>
            <a:r>
              <a:t>Altyazı: HRUS with Doppler, showing the leash of Henry, which corresponds to the transverse muscle branches of the radial recurrent artery and respective veins. These vessels supply the muscles of the lateral compartment and the supinator muscle. Note the vessels crossing between the deep branch (DBRN) and the superficial branch (SBRN) of the radial nerve at the level of the head of the radius.</a:t>
            </a:r>
          </a:p>
          <a:p>
            <a:r>
              <a:t>Borges Áurea V. R. Mohana, Souza Sergio A. L Anatomy of the nerves, vessels, and muscular compartments of the forearm, as revealed by high-resolution ultrasound. Part 2: vascularization of compartments and cutaneous innervation. Radiol Bras. 2021 Nov-Dec;54(6):398–405. doi: 10.1590/0100-3984.2021.0031 PMCID: PMC8630952. Lisans: CC BY.</a:t>
            </a:r>
          </a:p>
          <a:p>
            <a:r>
              <a:t>Altyazı: HRUS with Doppler of the forearm, showing the posterior and anterior interosseous blood vessels, as well as the nerves in the posterior compartment. A: Posterior interosseous artery (PIA) in its course between the supinator (S) muscle and the abductor pollicis longus (APL) muscle. Note the deep branch of the radial nerve (DBRN) in the distal portion of the supinator tunnel, from which it will emerge as the posterior interosseous nerve (posterior view). ECU, extensor carpi ulnaris (muscle); EDM, extensor digiti minimi (muscle); ED, extensor digitorum (muscle); U, ulna; R, radius. B: Anterior interosseous artery (AIA) and venae comitantes near the anterior surface of the interosseous membrane. Note the relationship between the vessels and the anterior interosseous nerve (AIN). Doppler evaluation facilitates the identification of the artery in relation to adjacent structures. Deep-seated veins have a very slow flow, which, under normal circumstances, makes it difficult to detect them with Doppler. Br, brachioradialis (muscle); FCR, flexor carpi radialis (muscle); ECRL, extensor carpi radialis longus (muscle); R, radius; FPL, flexor pollicis longus (muscle); FDP, flexor digitorum profundus (muscle); U, ulna.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Elsner Clara, Kunz Andreas Steven, Wagner Nicole et al. MRI-Based Evaluation of the Flexor Digitorum Superficialis Anatomy: Investigating the Prevalence and Morphometry of the “Chiasma Antebrachii”. Diagnostics (Basel). 2023 Jul 19;13(14):2406. doi: 10.3390/diagnostics13142406 PMCID: PMC10378300. Lisans: CC BY.</a:t>
            </a:r>
          </a:p>
          <a:p>
            <a:r>
              <a:t>Altyazı: Fat-suppressed T1-weighted left forearm scan after intravenous administration of gadolinium-based contrast agent in a 48-year-old woman for presumed compression of the median nerve, which is located directly on the palmar side of the FDS tendons. Axial planes ((A,B): forearm level, (C–E): carpal tunnel level, (F): midcarpal level) depict the most common form of flexor digitorum superficialis anatomy: From the ulnar side of the forearm, the FDS/2 tendon (black arrow) crosses over the FDS/3 tendon (white arrow), thus forming the chiasma antebrachii.</a:t>
            </a:r>
          </a:p>
          <a:p>
            <a:r>
              <a:t>Elsner Clara, Kunz Andreas Steven, Wagner Nicole et al. MRI-Based Evaluation of the Flexor Digitorum Superficialis Anatomy: Investigating the Prevalence and Morphometry of the “Chiasma Antebrachii”. Diagnostics (Basel). 2023 Jul 19;13(14):2406. doi: 10.3390/diagnostics13142406 PMCID: PMC10378300. Lisans: CC BY.</a:t>
            </a:r>
          </a:p>
          <a:p>
            <a:r>
              <a:t>Altyazı: After careful preparation, the flexor digitorum superficialis (FDS) tendon anatomy is exposed in two body donates. In the dissected distal forearms of both cadaveric specimens (left image: right side; right image: left side), the chiasma antebrachii is marked by the FDS/2 tendon (highlighted in red) crossing under the FDS/3 tendon (highlighted in yellow). (2–5: FDS tendons for digit 2–5).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Akkoc R. F., Aksu F., Emre E. et al. The prevalence and distribution of the flexor carpi radialis brevis muscle in the Turkish population. Sci Rep. 2022 Jan 10;12:416. doi: 10.1038/s41598-021-04445-8 PMCID: PMC8748762. Lisans: CC BY.</a:t>
            </a:r>
          </a:p>
          <a:p>
            <a:r>
              <a:t>Altyazı: Axial T1W TSE MR image of the wrist; m. flexor carpi radialis tendon (arrowhead), m. flexor carpi radialis brevis (arrow), m. flexor pollicis longus (dotted arrow), carpal tunnel contents (CT), m. pronator quadratus (PQ), radius (RAD), n. medianus (star).</a:t>
            </a:r>
          </a:p>
          <a:p>
            <a:r>
              <a:t>Akkoc R. F., Aksu F., Emre E. et al. The prevalence and distribution of the flexor carpi radialis brevis muscle in the Turkish population. Sci Rep. 2022 Jan 10;12:416. doi: 10.1038/s41598-021-04445-8 PMCID: PMC8748762. Lisans: CC BY.</a:t>
            </a:r>
          </a:p>
          <a:p>
            <a:r>
              <a:t>Altyazı: Coronal T1W TSE MR image of the wrist; m. flexor carpi radialis tendon (arrowhead), m. flexor carpi radialis brevis tendon (arrow), radius (RAD), os metacarpale (MC).</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Chavez Victor B., Smith Dean W. MRI Analysis of the Wrist: Does the Presence of Palmaris Longus Affect Median Nerve Position? Hand (N Y). 2025 Jan 30;21(3):410–6. doi: 10.1177/15589447251314145 PMCID: PMC11783411. Lisans: CC BY.</a:t>
            </a:r>
          </a:p>
          <a:p>
            <a:r>
              <a:t>Altyazı: With palmaris longus.Note. Figure 3 illustrates a magnetic resonance image of the 3 measurements recorded for one of the 50 wrists with a palmaris longus. Distance of 8.47 mm from the center point of the median nerve to the volar skin surface. Distance of 6.02 mm between the center point of the median nerve to the center point of the flexor carpi radialis. Distance of 10.31 mm between the center point of the median nerve to the radius volar surface.</a:t>
            </a:r>
          </a:p>
          <a:p>
            <a:r>
              <a:t>Chavez Victor B., Smith Dean W. MRI Analysis of the Wrist: Does the Presence of Palmaris Longus Affect Median Nerve Position? Hand (N Y). 2025 Jan 30;21(3):410–6. doi: 10.1177/15589447251314145 PMCID: PMC11783411. Lisans: CC BY.</a:t>
            </a:r>
          </a:p>
          <a:p>
            <a:r>
              <a:t>Altyazı: Without palmaris longus.Note. Figure 4 illustrates a magnetic resonance image of the 3 measurements recorded for one of the 50 wrists without a palmaris longus. Distance of 3.58 mm from the center point of the median nerve to the volar skin surface. Distance of 9.68 mm between the center point of the median nerve to the center point of the flexor carpi radialis. Distance of 12.39 mm between the center point of the median nerve to the radius volar surface.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 Sang-Uk, Kim Min-Wook, Kim Jae Min Ultrasound Diagnosis of Double Crush Syndrome of the Ulnar Nerve by the Anconeus Epitrochlearis and a Ganglion. J Korean Neurosurg Soc. 2016 Jan 20;59(1):75–7. doi: 10.3340/jkns.2016.59.1.75 PMCID: PMC4754593. Lisans: CC BY-NC.</a:t>
            </a:r>
          </a:p>
          <a:p>
            <a:r>
              <a:t>Altyazı: Ultrasonographic findings, revealing (A) the anconeus epitrochlearis muscle (arrowhead) in close proximity to a swollen ulnar nerve (arrow), and (B) a hypoechoic ganglion cyst (G) and ulnar nerve (circle) between the hamate hook (HAM) and pisiform.</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Visible-Human/Male-Images/Fullcolor/fullbody/a_vm1785.raw</a:t>
            </a:r>
          </a:p>
          <a:p>
            <a:r>
              <a:t>BT: Visible-Human/Male-Images/radiological/frozenCT/c_vm1785.fro (kesit no. 1785.0)</a:t>
            </a:r>
          </a:p>
          <a:p>
            <a:r>
              <a:t>Kırpma kutusu: [440, 120, 980, 540]</a:t>
            </a:r>
          </a:p>
          <a:p>
            <a:r>
              <a:t>Kayıt: {'scale': 0.35200000000000004, 'dx': -105, 'dy': 11, 'dice': 0.928395817588704, 'local_shift_ctpx': [-1, 4], 'local_bone_dice': 0.251, 'local_tissue_dice': 0.946}</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Visible-Human/Male-Images/Fullcolor/fullbody/a_vm1800.raw</a:t>
            </a:r>
          </a:p>
          <a:p>
            <a:r>
              <a:t>BT: Visible-Human/Male-Images/radiological/frozenCT/c_vm1800.fro (kesit no. 1800.0)</a:t>
            </a:r>
          </a:p>
          <a:p>
            <a:r>
              <a:t>Kırpma kutusu: [488, 118, 996, 478]</a:t>
            </a:r>
          </a:p>
          <a:p>
            <a:r>
              <a:t>Kayıt: {'scale': 0.35200000000000004, 'dx': -101, 'dy': 8, 'dice': 0.9251218134650546, 'local_shift_ctpx': [2, 0], 'local_bone_dice': 0.349, 'local_tissue_dice': 0.976}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Visible-Human/Male-Images/Fullcolor/fullbody/a_vm1830.raw</a:t>
            </a:r>
          </a:p>
          <a:p>
            <a:r>
              <a:t>BT: Visible-Human/Male-Images/radiological/frozenCT/c_vm1830.fro (kesit no. 1830.0)</a:t>
            </a:r>
          </a:p>
          <a:p>
            <a:r>
              <a:t>Kırpma kutusu: [560, 80, 980, 450]</a:t>
            </a:r>
          </a:p>
          <a:p>
            <a:r>
              <a:t>Kayıt: {'scale': 0.35200000000000004, 'dx': -104, 'dy': 13, 'dice': 0.9145892600891217, 'local_shift_ctpx': [0, 5], 'local_bone_dice': 0.17, 'local_tissue_dice': 0.942}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Kriyokesit: Visible-Human/Male-Images/Fullcolor/fullbody/a_vm1850.raw</a:t>
            </a:r>
          </a:p>
          <a:p>
            <a:r>
              <a:t>BT: Visible-Human/Male-Images/radiological/frozenCT/c_vm1850.fro (kesit no. 1850.0)</a:t>
            </a:r>
          </a:p>
          <a:p>
            <a:r>
              <a:t>Kırpma kutusu: [590, 110, 1110, 420]</a:t>
            </a:r>
          </a:p>
          <a:p>
            <a:r>
              <a:t>Kayıt: {'scale': 0.35200000000000004, 'dx': -101, 'dy': 10, 'dice': 0.8997092130321709, 'local_shift_ctpx': [0, 3], 'local_bone_dice': 0.203, 'local_tissue_dice': 0.958}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ERÇAKMAK GÜNEŞ B., VATANSEVER A., DEMİRYÜREK D. et al. Tendon of Flexor Carpi Radialis in carpal tunnel: a radiologic and cadaveric study. Turk J Med Sci. 2021 Aug 30;51(4):1912–6. doi: 10.3906/sag-2012-31 PMCID: PMC8569728. Lisans: CC BY.</a:t>
            </a:r>
          </a:p>
          <a:p>
            <a:r>
              <a:t>Altyazı: An MRI section demonstrating flexor carpi radialis tendon’s relation with the carpal tunnel. Red arrow; the tendon of flexor carpi radialis. Yellow arrow; flexor retinaculum. Green asterix; tendons of flexor dig</a:t>
            </a:r>
          </a:p>
          <a:p>
            <a:r>
              <a:t>Wu W. T., Chang K. V., Hsu Y. C. et al. Ultrasound Imaging and Guidance for Distal Peripheral Nerve Pathologies at the Wrist/Hand. Diagnostics (Basel). 2023 May 31;13(11):1928. doi: 10.3390/diagnostics13111928 PMCID: PMC10253229. Lisans: CC BY.</a:t>
            </a:r>
          </a:p>
          <a:p>
            <a:r>
              <a:t>Altyazı: Sonographic/normal imaging of the median nerve from the inlet (A) to the outlet (B) of the carpal tunnel. Hypertrophy of the flexor retinaculum at both the inlet (C) and outlet (D) of the carpal tunnel. Asterisk: median nerve; small white arrowheads: normal flexor retinaculum; large arrowheads: hypertrophy of the flexor retinaculum. FCR: flexor carpi radialis; S: scaphoid; P: pisiform; T: trapezium; H: hook of the hamate.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Saran S., Reddy P. S., Shirodkar K. et al. Unveiling Guyon’s Canal: Insights into Clinical Anatomy, Pathology, and Imaging. Diagnostics (Basel). 2025 Feb 28;15(5):592. doi: 10.3390/diagnostics15050592 PMCID: PMC11899079. Lisans: CC BY.</a:t>
            </a:r>
          </a:p>
          <a:p>
            <a:r>
              <a:t>Altyazı: Illustration showing the anatomy of Guyon’s canal: (A) presents a frontal view in the coronal plane; (B,C) display axial sections at the proximal and distal levels, respectively. TM = thenar muscle; FR = flexor retinaculum; VCL = volar carpal ligament; MN = median nerve; PL = palmaris longus; UN = ulnar nerve; UA = ulnar artery; FCR = flexor carpi radialis; PHL = pisohamate ligament; HoH = hook of hamate; ODM = opponens digiti minimi; ADMB = abductor digiti minimi brevis; FDMB = flexor digiti minimi brevis; sUN = superficial branches of ulnar nerve; dUN = deep branches of ulnar nerve; dUA = deep branches of ulnar artery; FTA-HM = fibro-tendinous arch of hypothenar muscle; GC = Guyon’s canal; PB = pisiform bone; TB = triquetral bone; SB = scaphoid bone; HM = hypothenar muscles; ScF = subcutaneous fat; FR = flexor retinaculum; and, CT = carpal tunnel.</a:t>
            </a:r>
          </a:p>
          <a:p>
            <a:r>
              <a:t>Saran S., Reddy P. S., Shirodkar K. et al. Unveiling Guyon’s Canal: Insights into Clinical Anatomy, Pathology, and Imaging. Diagnostics (Basel). 2025 Feb 28;15(5):592. doi: 10.3390/diagnostics15050592 PMCID: PMC11899079. Lisans: CC BY.</a:t>
            </a:r>
          </a:p>
          <a:p>
            <a:r>
              <a:t>Altyazı: Ultrasound anatomy of Guyon’s canal with probe positioning: (A) the Axial Gray-scale Ultrasound image at the level of the proximal Guyon’s canal, at the level of the pisiform bone, containing the ulnar artery (UA) and ulnar nerve (UN), with its floor formed by the flexor retinaculum (open triangles); (B) probe positioning for (A); (C) Axial Gray-scale Ultrasound image at the level of the distal Guyon’s canal, at the level of the hook of the hamate, shows the ulnar nerve dividing into the sensory branch (open triangles) and deep motor branch (open arrow), with the deep motor branch travelling beneath the tendinous arch of the hypothenar muscles; (D) probe positioning for (C); (E) Longitudinal Gray-scale Ultrasound image of the Guyon’s canal shows the ulnar nerve (open arrows) and the underlying flexor retinaculum (an open triangle); and (F) probe positioning for (E).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Wu W. T., Chang K. V., Hsu Y. C. et al. Ultrasound Imaging and Guidance for Distal Peripheral Nerve Pathologies at the Wrist/Hand. Diagnostics (Basel). 2023 May 31;13(11):1928. doi: 10.3390/diagnostics13111928 PMCID: PMC10253229. Lisans: CC BY.</a:t>
            </a:r>
          </a:p>
          <a:p>
            <a:r>
              <a:t>Altyazı: Sonographic imaging (short-axis view) shows the ulnar nerve within the Guyon’s canal (A), separation of branches beside the pisohamate hiatus (B), deep branch of the ulnar nerve located between the hypothenar muscles distal to the hook of the hamate (C). Long-axis view (through pivoting the transducer) shows the segment of the deep branch within the adductor pollicis muscle (D). Arrowhead: ulnar nerve; white arrows: superficial branch of the ulnar nerve; black arrows: deep branch of the ulnar nerve; orange arrow: branch of the ulnar nerve to the abductor digiti minimi; *: pisohamate ligment MN: median nerve; UA: ulnar artery; P: pisiform; H: hook of hamate; A: artery; L: lumbrical muscle; FDM: flexor digiti minimi brevis muscle; Opp DM: opponens digiti minimi muscle; AbDM: abductor digiti minimi muscle; AdP: adductor pollicis muscle.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von Borstel D., Wang M., Small K. et al. High-Resolution 3T MR Imaging of the Triangular Fibrocartilage Complex. Magn Reson Med Sci. 2016 Aug 16;16(1):3–15. doi: 10.2463/mrms.rev.2016-0011 PMCID: PMC5600038. Lisans: CC BY.</a:t>
            </a:r>
          </a:p>
          <a:p>
            <a:r>
              <a:t>Altyazı: Triangular fibrocartilage (TFC) and radioulnar ligaments on isotropic 3-dimensional (3D) coronal fat suppressed (FS) proton density (PD)-weighted images. (a) The dorsal radioulnar ligament (arrowhead), (b) The central disc (red arrow), and (c) The volar radioulnar ligament (dotted arrow). The ulnomeniscus homologue (yellow arrow) merges from the tip of the ulnar styloid process, and inserts to the ulnar side of the triquetrum and lunate. L, lunate; T, triquetrum; R, radius; U, ulna.</a:t>
            </a:r>
          </a:p>
          <a:p>
            <a:r>
              <a:t>von Borstel D., Wang M., Small K. et al. High-Resolution 3T MR Imaging of the Triangular Fibrocartilage Complex. Magn Reson Med Sci. 2016 Aug 16;16(1):3–15. doi: 10.2463/mrms.rev.2016-0011 PMCID: PMC5600038. Lisans: CC BY.</a:t>
            </a:r>
          </a:p>
          <a:p>
            <a:r>
              <a:t>Altyazı: The ulnotriquetral ligament on isotropic 3-dimensional (3D) coronal fat suppressed (FS) proton density (PD)-weighted image (a), and on 2D sagittal PD-weighted image (b). The ulnotriquetral ligament shows low intensity (dotted arrow). T, triquetrum; L, lunate; R, radius; P, pisiform.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Coronel L., Mandl P., Miguel-Pérez M. et al. Characterization of digital annular pulleys and their entheses: an ultrasonographic study with anatomical and histological correlations. Rheumatology (Oxford). 2023 Nov 23;63(11):3050–5. doi: 10.1093/rheumatology/kead614 PMCID: PMC11534144. Lisans: CC BY.</a:t>
            </a:r>
          </a:p>
          <a:p>
            <a:r>
              <a:t>Altyazı: Transverse US scan of the second finger showing a longitudinal image of A1 and A2 DAP entheses (white box). (A) A1 pulley enthesis at the volar plate. (B) A1 pulley entheseal expansion to the sesamoid bone. (C) A2 enthesis at the bony ridge of the proximal phalanx. FT: flexor tendon; MCH: metacarpal head; PP: proximal phalanx; SB: sesamoid bone; VP: volar plate</a:t>
            </a:r>
          </a:p>
          <a:p>
            <a:r>
              <a:t>Fenech M. Boxer's knuckle: Sonographic anatomy and assessment of sagittal band tears of the dorsal hood. Australas J Ultrasound Med. 2023 Oct 12;26(4):216–29. doi: 10.1002/ajum.12363 PMCID: PMC10716571. Lisans: CC BY.</a:t>
            </a:r>
          </a:p>
          <a:p>
            <a:r>
              <a:t>Altyazı: Short‐axis sonographic image of the dorsal aspect of the uninjured third MCPJ with (a) and without (b) labels. The ED tendon is demonstrated in short axis. The superficial and deep portions of the sagittal band in midline are seen with the deep portion superficial to the dorsal plate and the articular cartilage of the metacarpal head. The radial and ulnar portions of the sagittal band are demonstrated. ED, extensor digitorum; MCPJ, metacarpophalyngeal joint.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Chen L., Chen J., Hu B. et al. Sonographic Findings of the Bifid Median Nerve and Persistent Median Artery in Carpal Tunnel: A Preliminary Study in Chinese Individuals. Clinics (Sao Paulo). 2017 Jun;72(6):358–62. doi: 10.6061/clinics/2017(06)05 PMCID: PMC5463256. Lisans: CC BY.</a:t>
            </a:r>
          </a:p>
          <a:p>
            <a:r>
              <a:t>Altyazı: Transverse ultrasonographic image (left side) and corresponding outline-marked image (right side) of a bifid median nerve (thin arrow) and PMA (thick arrow) at the level of the proximal carpal tunnel. Different PMA positions in relation to the median anatomy and a bifid median nerve with an intermediate position in relation to the PMA were most frequently observed.</a:t>
            </a:r>
          </a:p>
          <a:p>
            <a:r>
              <a:t>Wu W. T., Chang K. V., Hsu Y. C. et al. Ultrasound Imaging and Guidance for Distal Peripheral Nerve Pathologies at the Wrist/Hand. Diagnostics (Basel). 2023 May 31;13(11):1928. doi: 10.3390/diagnostics13111928 PMCID: PMC10253229. Lisans: CC BY.</a:t>
            </a:r>
          </a:p>
          <a:p>
            <a:r>
              <a:t>Altyazı: Sonographic images show a bifid median nerve (A), a persistent median artery with a bifid median nerve (B), accessory flexor digitorum superficialis muscle (C), and laceration of the palmaris longus (PL) tendon with the compression of the median nerve (D). White arrowheads: median nerve; white arrow: persistent median artery; asterisk: accessory flexor digitorum superficialis muscle. FCR: flexor carpi radialis tendon; S: scaphoid.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Petrover D., Bellity J., Vigan M. et al. Ultrasound imaging of the thenar motor branch of the median nerve: a cadaveric study. Eur Radiol. 2017 Jun 7;27(11):4883–8. doi: 10.1007/s00330-017-4882-0 PMCID: PMC5635084. Lisans: CC BY.</a:t>
            </a:r>
          </a:p>
          <a:p>
            <a:r>
              <a:t>Altyazı: Type 1 anatomic variations of the median nerve and extraligamentous thenar motor branch. A) Type 1 Lanz median nerve with an extraligamentous radial thenar motor branch in an un-embalmed cadaveric specimen (anatomic view). The flexor retinaculum was dissected on its radial side. FR = flexor retinaculum; MB = thenar motor branch; MN = median nerve gives rise to the palmar digital nerves (dotted lines). B) Type 1 Lanz median nerve with an extraligamentous radial thenar motor branch (ultrasound image). Correlative ultrasound view of the median nerve in the same cadaveric specimen. Median nerve is scanned distally along its long axis (MN); the dorsal to palmar course of the MB (star) around the FR (double arrow) may be detectable as a region of vertically oriented hypoechogenicity (arrow). The thenar motor branch arises distal to the flexor retinaculum and then runs a retrograde course to reach the thenar muscles</a:t>
            </a:r>
          </a:p>
          <a:p>
            <a:r>
              <a:t>Petrover D., Bellity J., Vigan M. et al. Ultrasound imaging of the thenar motor branch of the median nerve: a cadaveric study. Eur Radiol. 2017 Jun 7;27(11):4883–8. doi: 10.1007/s00330-017-4882-0 PMCID: PMC5635084. Lisans: CC BY.</a:t>
            </a:r>
          </a:p>
          <a:p>
            <a:r>
              <a:t>Altyazı: Type 3 anatomic variation of the median nerve. A) Lanz type 3 median nerve with a high division (bifid median nerve) in an un-embalmed cadaveric specimen (anatomic view). The flexor retinaculum was dissected on its radial side. FR = flexor retinaculum (double arrow); MB = motor branch (star); MN = median nerve gives rise to the palmar digital nerves (dotted lines). B) Lanz type 3 median nerve with a high division (bifid median nerve) in an un-embalmed cadaveric specimen. Ultrasound (US) short axis image of the corresponding cadaveric specimen demonstrating the division into two branches (white arrows) of the MN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Saran S., Reddy P. S., Shirodkar K. et al. Unveiling Guyon’s Canal: Insights into Clinical Anatomy, Pathology, and Imaging. Diagnostics (Basel). 2025 Feb 28;15(5):592. doi: 10.3390/diagnostics15050592 PMCID: PMC11899079. Lisans: CC BY.</a:t>
            </a:r>
          </a:p>
          <a:p>
            <a:r>
              <a:t>Altyazı: Axial Gray-scale Ultrasound image at the level of the proximal Guyon’s canal, at the level of the pisiform bone, demonstrates an anatomical variant where an accessory abductor digiti minimi muscle (aADM) overlies the canal. The ulnar nerve (UN) is present within the canal, while the ulnar artery (UA) is positioned volar to the accessory muscle.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Lotter O., Stahl S., Luz O. et al. CASE REPORT Bilateral Paradoxically Symptomatic Luno-triquetral Coalition: A Case Report. Eplasty. 2010 Jun 23;10:e47. PMCID: PMC2893531. Lisans: CC BY.</a:t>
            </a:r>
          </a:p>
          <a:p>
            <a:r>
              <a:t>Altyazı: Anteroposterior radiograph of the right painful wrist showing a luno-triquetral coalition Minaar type II.</a:t>
            </a:r>
          </a:p>
          <a:p>
            <a:r>
              <a:t>Nicolodi G. C., Trippia C. R., Caboclo M. F. F. S. et al. Carpal boss syndrome: os styloideum fused to the trapezoid. Radiol Bras. 2017 May-Jun;50(3):200–1. doi: 10.1590/0100-3984.2015.0160 PMCID: PMC5487237. Lisans: CC BY.</a:t>
            </a:r>
          </a:p>
          <a:p>
            <a:r>
              <a:t>Altyazı: A: Digital X-ray showing a lack of definition of the joint space between the trapezoid and the capitate. B,C: Three-dimensional computed tomography reconstruction and axial computed tomography slice showing an os styloideum fused to the trapezoid and in neoarticulation with the capitate. D: Magnetic resonance imaging in a T1-weighted sequence, showing os styloideum with bone edema adjacent to the neoarticulation (apophysitis).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jpg"/><Relationship Id="rId4"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0.jpg"/><Relationship Id="rId5"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png"/><Relationship Id="rId4" Type="http://schemas.openxmlformats.org/officeDocument/2006/relationships/image" Target="../media/image12.jpg"/><Relationship Id="rId5"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png"/><Relationship Id="rId4" Type="http://schemas.openxmlformats.org/officeDocument/2006/relationships/image" Target="../media/image15.jpg"/><Relationship Id="rId5"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6.jpg"/><Relationship Id="rId4"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 Id="rId4"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 Id="rId4"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png"/><Relationship Id="rId4" Type="http://schemas.openxmlformats.org/officeDocument/2006/relationships/image" Target="../media/image35.jpg"/><Relationship Id="rId5"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6.png"/><Relationship Id="rId4" Type="http://schemas.openxmlformats.org/officeDocument/2006/relationships/image" Target="../media/image37.jpg"/><Relationship Id="rId5"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8.png"/><Relationship Id="rId4" Type="http://schemas.openxmlformats.org/officeDocument/2006/relationships/image" Target="../media/image39.jpg"/><Relationship Id="rId5" Type="http://schemas.openxmlformats.org/officeDocument/2006/relationships/notesSlide" Target="../notesSlides/notesSlid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41.png"/><Relationship Id="rId4" Type="http://schemas.openxmlformats.org/officeDocument/2006/relationships/image" Target="../media/image42.jpg"/><Relationship Id="rId5" Type="http://schemas.openxmlformats.org/officeDocument/2006/relationships/notesSlide" Target="../notesSlides/notesSlide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image" Target="../media/image44.jpg"/><Relationship Id="rId4" Type="http://schemas.openxmlformats.org/officeDocument/2006/relationships/notesSlide" Target="../notesSlides/notesSlide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46.jpg"/><Relationship Id="rId4"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image" Target="../media/image48.jpg"/><Relationship Id="rId4" Type="http://schemas.openxmlformats.org/officeDocument/2006/relationships/notesSlide" Target="../notesSlides/notesSlide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5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57.png"/><Relationship Id="rId4" Type="http://schemas.openxmlformats.org/officeDocument/2006/relationships/image" Target="../media/image58.jpg"/><Relationship Id="rId5" Type="http://schemas.openxmlformats.org/officeDocument/2006/relationships/notesSlide" Target="../notesSlides/notesSlide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0.png"/><Relationship Id="rId4" Type="http://schemas.openxmlformats.org/officeDocument/2006/relationships/image" Target="../media/image61.jpg"/><Relationship Id="rId5" Type="http://schemas.openxmlformats.org/officeDocument/2006/relationships/notesSlide" Target="../notesSlides/notesSlide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62.png"/><Relationship Id="rId4" Type="http://schemas.openxmlformats.org/officeDocument/2006/relationships/image" Target="../media/image63.jpg"/><Relationship Id="rId5" Type="http://schemas.openxmlformats.org/officeDocument/2006/relationships/notesSlide" Target="../notesSlides/notesSlide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64.png"/><Relationship Id="rId4" Type="http://schemas.openxmlformats.org/officeDocument/2006/relationships/image" Target="../media/image65.jpg"/><Relationship Id="rId5" Type="http://schemas.openxmlformats.org/officeDocument/2006/relationships/notesSlide" Target="../notesSlides/notesSlide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image" Target="../media/image67.png"/><Relationship Id="rId4" Type="http://schemas.openxmlformats.org/officeDocument/2006/relationships/image" Target="../media/image68.jpg"/><Relationship Id="rId5" Type="http://schemas.openxmlformats.org/officeDocument/2006/relationships/notesSlide" Target="../notesSlides/notesSlide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69.jpg"/><Relationship Id="rId4" Type="http://schemas.openxmlformats.org/officeDocument/2006/relationships/notesSlide" Target="../notesSlides/notesSlide2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notesSlide" Target="../notesSlides/notesSlide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image" Target="../media/image72.jpg"/><Relationship Id="rId4" Type="http://schemas.openxmlformats.org/officeDocument/2006/relationships/notesSlide" Target="../notesSlides/notesSlide3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73.jpg"/><Relationship Id="rId4" Type="http://schemas.openxmlformats.org/officeDocument/2006/relationships/notesSlide" Target="../notesSlides/notesSlide3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image" Target="../media/image75.jpg"/><Relationship Id="rId4" Type="http://schemas.openxmlformats.org/officeDocument/2006/relationships/image" Target="../media/image76.jpg"/><Relationship Id="rId5" Type="http://schemas.openxmlformats.org/officeDocument/2006/relationships/notesSlide" Target="../notesSlides/notesSlide3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 Id="rId3" Type="http://schemas.openxmlformats.org/officeDocument/2006/relationships/image" Target="../media/image78.jpg"/><Relationship Id="rId4" Type="http://schemas.openxmlformats.org/officeDocument/2006/relationships/notesSlide" Target="../notesSlides/notesSlide3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image" Target="../media/image80.jpg"/><Relationship Id="rId4" Type="http://schemas.openxmlformats.org/officeDocument/2006/relationships/notesSlide" Target="../notesSlides/notesSlide3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image" Target="../media/image82.jpg"/><Relationship Id="rId4" Type="http://schemas.openxmlformats.org/officeDocument/2006/relationships/notesSlide" Target="../notesSlides/notesSlide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jpg"/><Relationship Id="rId3" Type="http://schemas.openxmlformats.org/officeDocument/2006/relationships/notesSlide" Target="../notesSlides/notesSlide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8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image" Target="../media/image86.png"/><Relationship Id="rId4" Type="http://schemas.openxmlformats.org/officeDocument/2006/relationships/image" Target="../media/image87.jpg"/><Relationship Id="rId5" Type="http://schemas.openxmlformats.org/officeDocument/2006/relationships/notesSlide" Target="../notesSlides/notesSlide3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jpg"/><Relationship Id="rId3" Type="http://schemas.openxmlformats.org/officeDocument/2006/relationships/image" Target="../media/image89.png"/><Relationship Id="rId4" Type="http://schemas.openxmlformats.org/officeDocument/2006/relationships/image" Target="../media/image90.jpg"/><Relationship Id="rId5" Type="http://schemas.openxmlformats.org/officeDocument/2006/relationships/notesSlide" Target="../notesSlides/notesSlide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1.png"/><Relationship Id="rId4" Type="http://schemas.openxmlformats.org/officeDocument/2006/relationships/image" Target="../media/image92.jpg"/><Relationship Id="rId5" Type="http://schemas.openxmlformats.org/officeDocument/2006/relationships/notesSlide" Target="../notesSlides/notesSlide3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jpg"/><Relationship Id="rId3" Type="http://schemas.openxmlformats.org/officeDocument/2006/relationships/image" Target="../media/image94.png"/><Relationship Id="rId4" Type="http://schemas.openxmlformats.org/officeDocument/2006/relationships/image" Target="../media/image95.jpg"/><Relationship Id="rId5" Type="http://schemas.openxmlformats.org/officeDocument/2006/relationships/notesSlide" Target="../notesSlides/notesSlide4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jpg"/><Relationship Id="rId3" Type="http://schemas.openxmlformats.org/officeDocument/2006/relationships/image" Target="../media/image96.jpg"/><Relationship Id="rId4" Type="http://schemas.openxmlformats.org/officeDocument/2006/relationships/notesSlide" Target="../notesSlides/notesSlide4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jpg"/><Relationship Id="rId3" Type="http://schemas.openxmlformats.org/officeDocument/2006/relationships/image" Target="../media/image98.jpg"/><Relationship Id="rId4" Type="http://schemas.openxmlformats.org/officeDocument/2006/relationships/notesSlide" Target="../notesSlides/notesSlide4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jpg"/><Relationship Id="rId3" Type="http://schemas.openxmlformats.org/officeDocument/2006/relationships/notesSlide" Target="../notesSlides/notesSlide4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jpg"/><Relationship Id="rId3" Type="http://schemas.openxmlformats.org/officeDocument/2006/relationships/image" Target="../media/image101.jpg"/><Relationship Id="rId4" Type="http://schemas.openxmlformats.org/officeDocument/2006/relationships/notesSlide" Target="../notesSlides/notesSlide4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notesSlide" Target="../notesSlides/notesSlide4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jpg"/><Relationship Id="rId3" Type="http://schemas.openxmlformats.org/officeDocument/2006/relationships/image" Target="../media/image105.jpg"/><Relationship Id="rId4" Type="http://schemas.openxmlformats.org/officeDocument/2006/relationships/notesSlide" Target="../notesSlides/notesSlide4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jpg"/><Relationship Id="rId3" Type="http://schemas.openxmlformats.org/officeDocument/2006/relationships/image" Target="../media/image107.jpg"/><Relationship Id="rId4" Type="http://schemas.openxmlformats.org/officeDocument/2006/relationships/notesSlide" Target="../notesSlides/notesSlide4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jpg"/><Relationship Id="rId3" Type="http://schemas.openxmlformats.org/officeDocument/2006/relationships/notesSlide" Target="../notesSlides/notesSlide4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jpg"/><Relationship Id="rId3" Type="http://schemas.openxmlformats.org/officeDocument/2006/relationships/image" Target="../media/image110.jpg"/><Relationship Id="rId4" Type="http://schemas.openxmlformats.org/officeDocument/2006/relationships/notesSlide" Target="../notesSlides/notesSlide4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6766560" cy="1463040"/>
          </a:xfrm>
          <a:prstGeom prst="rect">
            <a:avLst/>
          </a:prstGeom>
          <a:noFill/>
        </p:spPr>
        <p:txBody>
          <a:bodyPr wrap="square" anchor="t" lIns="45720" rIns="45720" tIns="18288" bIns="18288">
            <a:spAutoFit/>
          </a:bodyPr>
          <a:lstStyle/>
          <a:p>
            <a:pPr algn="l"/>
            <a:r>
              <a:rPr sz="3800" b="1" i="0">
                <a:solidFill>
                  <a:srgbClr val="FFFFFF"/>
                </a:solidFill>
                <a:latin typeface="Calibri"/>
              </a:rPr>
              <a:t>Membrum Superius – Kesitsel Anatomi</a:t>
            </a:r>
          </a:p>
        </p:txBody>
      </p:sp>
      <p:sp>
        <p:nvSpPr>
          <p:cNvPr id="4" name="TextBox 3"/>
          <p:cNvSpPr txBox="1"/>
          <p:nvPr/>
        </p:nvSpPr>
        <p:spPr>
          <a:xfrm>
            <a:off x="640080" y="2514600"/>
            <a:ext cx="6766560" cy="1005840"/>
          </a:xfrm>
          <a:prstGeom prst="rect">
            <a:avLst/>
          </a:prstGeom>
          <a:noFill/>
        </p:spPr>
        <p:txBody>
          <a:bodyPr wrap="square" anchor="t" lIns="45720" rIns="45720" tIns="18288" bIns="18288">
            <a:spAutoFit/>
          </a:bodyPr>
          <a:lstStyle/>
          <a:p>
            <a:pPr algn="l"/>
            <a:r>
              <a:rPr sz="1900" b="0" i="0">
                <a:solidFill>
                  <a:srgbClr val="C8D1E6"/>
                </a:solidFill>
                <a:latin typeface="Calibri"/>
              </a:rPr>
              <a:t>Gerçek kadavra kriyokesitleri, aynı kadavranın aynı düzeydeki BT'si ve literatürden MR/BT/US görüntüleri</a:t>
            </a:r>
          </a:p>
        </p:txBody>
      </p:sp>
      <p:sp>
        <p:nvSpPr>
          <p:cNvPr id="5" name="TextBox 4"/>
          <p:cNvSpPr txBox="1"/>
          <p:nvPr/>
        </p:nvSpPr>
        <p:spPr>
          <a:xfrm>
            <a:off x="640080" y="3657600"/>
            <a:ext cx="6766560" cy="2377440"/>
          </a:xfrm>
          <a:prstGeom prst="rect">
            <a:avLst/>
          </a:prstGeom>
          <a:noFill/>
        </p:spPr>
        <p:txBody>
          <a:bodyPr wrap="square" anchor="t" lIns="45720" rIns="45720" tIns="18288" bIns="18288">
            <a:spAutoFit/>
          </a:bodyPr>
          <a:lstStyle/>
          <a:p>
            <a:pPr algn="l"/>
            <a:r>
              <a:rPr sz="1600" b="0" i="0">
                <a:solidFill>
                  <a:srgbClr val="FFFFFF"/>
                </a:solidFill>
                <a:latin typeface="Calibri"/>
              </a:rPr>
              <a:t>Bölümler: Omuz → Kol → Önkol → El (18 VHP düzeyi + boylamsal reformat)</a:t>
            </a:r>
          </a:p>
          <a:p>
            <a:pPr algn="l"/>
            <a:r>
              <a:rPr sz="1600" b="0" i="0">
                <a:solidFill>
                  <a:srgbClr val="FFFFFF"/>
                </a:solidFill>
                <a:latin typeface="Calibri"/>
              </a:rPr>
              <a:t>Her bölümün sonunda görüntüleme tabanlı varyasyonların literatür taraması</a:t>
            </a:r>
          </a:p>
          <a:p>
            <a:pPr algn="l"/>
            <a:r>
              <a:rPr sz="1600" b="0" i="0">
                <a:solidFill>
                  <a:srgbClr val="FFFFFF"/>
                </a:solidFill>
                <a:latin typeface="Calibri"/>
              </a:rPr>
              <a:t>Tüm görüntüler gerçek kadavra/radyoloji verisidir; sentetik görüntü kullanılmamıştır.</a:t>
            </a:r>
          </a:p>
        </p:txBody>
      </p:sp>
      <p:pic>
        <p:nvPicPr>
          <p:cNvPr id="6" name="Picture 5" descr="cryo_1320_R.jpg"/>
          <p:cNvPicPr>
            <a:picLocks noChangeAspect="1"/>
          </p:cNvPicPr>
          <p:nvPr/>
        </p:nvPicPr>
        <p:blipFill>
          <a:blip r:embed="rId2"/>
          <a:stretch>
            <a:fillRect/>
          </a:stretch>
        </p:blipFill>
        <p:spPr>
          <a:xfrm>
            <a:off x="7680960" y="1058703"/>
            <a:ext cx="2057400" cy="1723072"/>
          </a:xfrm>
          <a:prstGeom prst="rect">
            <a:avLst/>
          </a:prstGeom>
        </p:spPr>
      </p:pic>
      <p:pic>
        <p:nvPicPr>
          <p:cNvPr id="7" name="Picture 6" descr="cpr_coronal_levels.jpg"/>
          <p:cNvPicPr>
            <a:picLocks noChangeAspect="1"/>
          </p:cNvPicPr>
          <p:nvPr/>
        </p:nvPicPr>
        <p:blipFill>
          <a:blip r:embed="rId3"/>
          <a:stretch>
            <a:fillRect/>
          </a:stretch>
        </p:blipFill>
        <p:spPr>
          <a:xfrm>
            <a:off x="10378003" y="411480"/>
            <a:ext cx="960993" cy="3017520"/>
          </a:xfrm>
          <a:prstGeom prst="rect">
            <a:avLst/>
          </a:prstGeom>
        </p:spPr>
      </p:pic>
      <p:pic>
        <p:nvPicPr>
          <p:cNvPr id="8" name="Picture 7" descr="cryo_1740_R.jpg"/>
          <p:cNvPicPr>
            <a:picLocks noChangeAspect="1"/>
          </p:cNvPicPr>
          <p:nvPr/>
        </p:nvPicPr>
        <p:blipFill>
          <a:blip r:embed="rId4"/>
          <a:stretch>
            <a:fillRect/>
          </a:stretch>
        </p:blipFill>
        <p:spPr>
          <a:xfrm>
            <a:off x="7680960" y="3864684"/>
            <a:ext cx="2057400" cy="2420470"/>
          </a:xfrm>
          <a:prstGeom prst="rect">
            <a:avLst/>
          </a:prstGeom>
        </p:spPr>
      </p:pic>
      <p:pic>
        <p:nvPicPr>
          <p:cNvPr id="9" name="Picture 8" descr="cryo_1830_R.jpg"/>
          <p:cNvPicPr>
            <a:picLocks noChangeAspect="1"/>
          </p:cNvPicPr>
          <p:nvPr/>
        </p:nvPicPr>
        <p:blipFill>
          <a:blip r:embed="rId5"/>
          <a:stretch>
            <a:fillRect/>
          </a:stretch>
        </p:blipFill>
        <p:spPr>
          <a:xfrm>
            <a:off x="9829800" y="4168684"/>
            <a:ext cx="2057400" cy="1812471"/>
          </a:xfrm>
          <a:prstGeom prst="rect">
            <a:avLst/>
          </a:prstGeom>
        </p:spPr>
      </p:pic>
      <p:sp>
        <p:nvSpPr>
          <p:cNvPr id="10" name="TextBox 9"/>
          <p:cNvSpPr txBox="1"/>
          <p:nvPr/>
        </p:nvSpPr>
        <p:spPr>
          <a:xfrm>
            <a:off x="640080" y="6172200"/>
            <a:ext cx="6949440" cy="365760"/>
          </a:xfrm>
          <a:prstGeom prst="rect">
            <a:avLst/>
          </a:prstGeom>
          <a:noFill/>
        </p:spPr>
        <p:txBody>
          <a:bodyPr wrap="square" anchor="t" lIns="45720" rIns="45720" tIns="18288" bIns="18288">
            <a:spAutoFit/>
          </a:bodyPr>
          <a:lstStyle/>
          <a:p>
            <a:pPr algn="l"/>
            <a:r>
              <a:rPr sz="1300" b="0" i="1">
                <a:solidFill>
                  <a:srgbClr val="C8D1E6"/>
                </a:solidFill>
                <a:latin typeface="Calibri"/>
              </a:rPr>
              <a:t>Sunum dili Türkçe; anatomik terimler Terminologia Anatomica (Latince).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İçindekiler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Her bölüm: konu anlatımı → görseller → klinik bağlantılar → varyasyon literatür taraması</a:t>
            </a:r>
          </a:p>
        </p:txBody>
      </p:sp>
      <p:sp>
        <p:nvSpPr>
          <p:cNvPr id="5" name="Rounded Rectangle 4"/>
          <p:cNvSpPr/>
          <p:nvPr/>
        </p:nvSpPr>
        <p:spPr>
          <a:xfrm>
            <a:off x="41148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143000"/>
            <a:ext cx="2514600" cy="502920"/>
          </a:xfrm>
          <a:prstGeom prst="rect">
            <a:avLst/>
          </a:prstGeom>
          <a:noFill/>
        </p:spPr>
        <p:txBody>
          <a:bodyPr wrap="square" anchor="t" lIns="45720" rIns="45720" tIns="18288" bIns="18288">
            <a:spAutoFit/>
          </a:bodyPr>
          <a:lstStyle/>
          <a:p>
            <a:pPr algn="l"/>
            <a:r>
              <a:rPr sz="2200" b="1" i="0">
                <a:solidFill>
                  <a:srgbClr val="C0392B"/>
                </a:solidFill>
                <a:latin typeface="Calibri"/>
              </a:rPr>
              <a:t>1. OMUZ</a:t>
            </a:r>
          </a:p>
        </p:txBody>
      </p:sp>
      <p:sp>
        <p:nvSpPr>
          <p:cNvPr id="7" name="TextBox 6"/>
          <p:cNvSpPr txBox="1"/>
          <p:nvPr/>
        </p:nvSpPr>
        <p:spPr>
          <a:xfrm>
            <a:off x="502920" y="1691640"/>
            <a:ext cx="2514600" cy="548640"/>
          </a:xfrm>
          <a:prstGeom prst="rect">
            <a:avLst/>
          </a:prstGeom>
          <a:noFill/>
        </p:spPr>
        <p:txBody>
          <a:bodyPr wrap="square" anchor="t" lIns="45720" rIns="45720" tIns="18288" bIns="18288">
            <a:spAutoFit/>
          </a:bodyPr>
          <a:lstStyle/>
          <a:p>
            <a:pPr algn="l"/>
            <a:r>
              <a:rPr sz="1250" b="0" i="1">
                <a:solidFill>
                  <a:srgbClr val="555B66"/>
                </a:solidFill>
                <a:latin typeface="Calibri"/>
              </a:rPr>
              <a:t>Art. humeri, rotator manşet, fossa axillaris</a:t>
            </a:r>
          </a:p>
        </p:txBody>
      </p:sp>
      <p:sp>
        <p:nvSpPr>
          <p:cNvPr id="8" name="TextBox 7"/>
          <p:cNvSpPr txBox="1"/>
          <p:nvPr/>
        </p:nvSpPr>
        <p:spPr>
          <a:xfrm>
            <a:off x="502920" y="2286000"/>
            <a:ext cx="2514600" cy="3611880"/>
          </a:xfrm>
          <a:prstGeom prst="rect">
            <a:avLst/>
          </a:prstGeom>
          <a:noFill/>
        </p:spPr>
        <p:txBody>
          <a:bodyPr wrap="square">
            <a:spAutoFit/>
          </a:bodyPr>
          <a:lstStyle/>
          <a:p>
            <a:pPr algn="l">
              <a:spcAft>
                <a:spcPts val="300"/>
              </a:spcAft>
            </a:pPr>
            <a:r>
              <a:rPr sz="1500" b="0" i="0">
                <a:solidFill>
                  <a:srgbClr val="1F2A44"/>
                </a:solidFill>
                <a:latin typeface="Calibri"/>
              </a:rPr>
              <a:t>• Kesitsel okuma rehberi</a:t>
            </a:r>
          </a:p>
          <a:p>
            <a:pPr algn="l">
              <a:spcAft>
                <a:spcPts val="300"/>
              </a:spcAft>
            </a:pPr>
            <a:r>
              <a:rPr sz="1500" b="0" i="0">
                <a:solidFill>
                  <a:srgbClr val="1F2A44"/>
                </a:solidFill>
                <a:latin typeface="Calibri"/>
              </a:rPr>
              <a:t>• VHP düzeyleri 1290 – 1320 – 1340</a:t>
            </a:r>
          </a:p>
          <a:p>
            <a:pPr algn="l">
              <a:spcAft>
                <a:spcPts val="300"/>
              </a:spcAft>
            </a:pPr>
            <a:r>
              <a:rPr sz="1500" b="0" i="0">
                <a:solidFill>
                  <a:srgbClr val="1F2A44"/>
                </a:solidFill>
                <a:latin typeface="Calibri"/>
              </a:rPr>
              <a:t>• Plexus MR'ı, bağlar, US</a:t>
            </a:r>
          </a:p>
          <a:p>
            <a:pPr algn="l">
              <a:spcAft>
                <a:spcPts val="300"/>
              </a:spcAft>
            </a:pPr>
            <a:r>
              <a:rPr sz="1500" b="0" i="0">
                <a:solidFill>
                  <a:srgbClr val="1F2A44"/>
                </a:solidFill>
                <a:latin typeface="Calibri"/>
              </a:rPr>
              <a:t>• Görüntüleme varyasyonları: os acromiale, Buford, incisura, plexus</a:t>
            </a:r>
          </a:p>
        </p:txBody>
      </p:sp>
      <p:sp>
        <p:nvSpPr>
          <p:cNvPr id="9" name="Rounded Rectangle 8"/>
          <p:cNvSpPr/>
          <p:nvPr/>
        </p:nvSpPr>
        <p:spPr>
          <a:xfrm>
            <a:off x="329184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143000"/>
            <a:ext cx="2514600" cy="502920"/>
          </a:xfrm>
          <a:prstGeom prst="rect">
            <a:avLst/>
          </a:prstGeom>
          <a:noFill/>
        </p:spPr>
        <p:txBody>
          <a:bodyPr wrap="square" anchor="t" lIns="45720" rIns="45720" tIns="18288" bIns="18288">
            <a:spAutoFit/>
          </a:bodyPr>
          <a:lstStyle/>
          <a:p>
            <a:pPr algn="l"/>
            <a:r>
              <a:rPr sz="2200" b="1" i="0">
                <a:solidFill>
                  <a:srgbClr val="C0392B"/>
                </a:solidFill>
                <a:latin typeface="Calibri"/>
              </a:rPr>
              <a:t>2. KOL</a:t>
            </a:r>
          </a:p>
        </p:txBody>
      </p:sp>
      <p:sp>
        <p:nvSpPr>
          <p:cNvPr id="11" name="TextBox 10"/>
          <p:cNvSpPr txBox="1"/>
          <p:nvPr/>
        </p:nvSpPr>
        <p:spPr>
          <a:xfrm>
            <a:off x="3383280" y="1691640"/>
            <a:ext cx="2514600" cy="548640"/>
          </a:xfrm>
          <a:prstGeom prst="rect">
            <a:avLst/>
          </a:prstGeom>
          <a:noFill/>
        </p:spPr>
        <p:txBody>
          <a:bodyPr wrap="square" anchor="t" lIns="45720" rIns="45720" tIns="18288" bIns="18288">
            <a:spAutoFit/>
          </a:bodyPr>
          <a:lstStyle/>
          <a:p>
            <a:pPr algn="l"/>
            <a:r>
              <a:rPr sz="1250" b="0" i="1">
                <a:solidFill>
                  <a:srgbClr val="555B66"/>
                </a:solidFill>
                <a:latin typeface="Calibri"/>
              </a:rPr>
              <a:t>Kompartmanlar ve sinirlerin seyri</a:t>
            </a:r>
          </a:p>
        </p:txBody>
      </p:sp>
      <p:sp>
        <p:nvSpPr>
          <p:cNvPr id="12" name="TextBox 11"/>
          <p:cNvSpPr txBox="1"/>
          <p:nvPr/>
        </p:nvSpPr>
        <p:spPr>
          <a:xfrm>
            <a:off x="3383280" y="2286000"/>
            <a:ext cx="2514600" cy="3611880"/>
          </a:xfrm>
          <a:prstGeom prst="rect">
            <a:avLst/>
          </a:prstGeom>
          <a:noFill/>
        </p:spPr>
        <p:txBody>
          <a:bodyPr wrap="square">
            <a:spAutoFit/>
          </a:bodyPr>
          <a:lstStyle/>
          <a:p>
            <a:pPr algn="l">
              <a:spcAft>
                <a:spcPts val="300"/>
              </a:spcAft>
            </a:pPr>
            <a:r>
              <a:rPr sz="1500" b="0" i="0">
                <a:solidFill>
                  <a:srgbClr val="1F2A44"/>
                </a:solidFill>
                <a:latin typeface="Calibri"/>
              </a:rPr>
              <a:t>• Kesitsel okuma rehberi</a:t>
            </a:r>
          </a:p>
          <a:p>
            <a:pPr algn="l">
              <a:spcAft>
                <a:spcPts val="300"/>
              </a:spcAft>
            </a:pPr>
            <a:r>
              <a:rPr sz="1500" b="0" i="0">
                <a:solidFill>
                  <a:srgbClr val="1F2A44"/>
                </a:solidFill>
                <a:latin typeface="Calibri"/>
              </a:rPr>
              <a:t>• VHP düzeyleri 1420 – 1490 – 1530 – 1560</a:t>
            </a:r>
          </a:p>
          <a:p>
            <a:pPr algn="l">
              <a:spcAft>
                <a:spcPts val="300"/>
              </a:spcAft>
            </a:pPr>
            <a:r>
              <a:rPr sz="1500" b="0" i="0">
                <a:solidFill>
                  <a:srgbClr val="1F2A44"/>
                </a:solidFill>
                <a:latin typeface="Calibri"/>
              </a:rPr>
              <a:t>• Sinirlerin ultrasonu</a:t>
            </a:r>
          </a:p>
          <a:p>
            <a:pPr algn="l">
              <a:spcAft>
                <a:spcPts val="300"/>
              </a:spcAft>
            </a:pPr>
            <a:r>
              <a:rPr sz="1500" b="0" i="0">
                <a:solidFill>
                  <a:srgbClr val="1F2A44"/>
                </a:solidFill>
                <a:latin typeface="Calibri"/>
              </a:rPr>
              <a:t>• Görüntüleme varyasyonları: proc. supracondylaris, aksesuar arter, bifid tendon</a:t>
            </a:r>
          </a:p>
        </p:txBody>
      </p:sp>
      <p:sp>
        <p:nvSpPr>
          <p:cNvPr id="13" name="Rounded Rectangle 12"/>
          <p:cNvSpPr/>
          <p:nvPr/>
        </p:nvSpPr>
        <p:spPr>
          <a:xfrm>
            <a:off x="617220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143000"/>
            <a:ext cx="2514600" cy="502920"/>
          </a:xfrm>
          <a:prstGeom prst="rect">
            <a:avLst/>
          </a:prstGeom>
          <a:noFill/>
        </p:spPr>
        <p:txBody>
          <a:bodyPr wrap="square" anchor="t" lIns="45720" rIns="45720" tIns="18288" bIns="18288">
            <a:spAutoFit/>
          </a:bodyPr>
          <a:lstStyle/>
          <a:p>
            <a:pPr algn="l"/>
            <a:r>
              <a:rPr sz="2200" b="1" i="0">
                <a:solidFill>
                  <a:srgbClr val="C0392B"/>
                </a:solidFill>
                <a:latin typeface="Calibri"/>
              </a:rPr>
              <a:t>3. ÖNKOL</a:t>
            </a:r>
          </a:p>
        </p:txBody>
      </p:sp>
      <p:sp>
        <p:nvSpPr>
          <p:cNvPr id="15" name="TextBox 14"/>
          <p:cNvSpPr txBox="1"/>
          <p:nvPr/>
        </p:nvSpPr>
        <p:spPr>
          <a:xfrm>
            <a:off x="6263640" y="1691640"/>
            <a:ext cx="2514600" cy="548640"/>
          </a:xfrm>
          <a:prstGeom prst="rect">
            <a:avLst/>
          </a:prstGeom>
          <a:noFill/>
        </p:spPr>
        <p:txBody>
          <a:bodyPr wrap="square" anchor="t" lIns="45720" rIns="45720" tIns="18288" bIns="18288">
            <a:spAutoFit/>
          </a:bodyPr>
          <a:lstStyle/>
          <a:p>
            <a:pPr algn="l"/>
            <a:r>
              <a:rPr sz="1250" b="0" i="1">
                <a:solidFill>
                  <a:srgbClr val="555B66"/>
                </a:solidFill>
                <a:latin typeface="Calibri"/>
              </a:rPr>
              <a:t>Eklem, bağlar ve kompartmanlar</a:t>
            </a:r>
          </a:p>
        </p:txBody>
      </p:sp>
      <p:sp>
        <p:nvSpPr>
          <p:cNvPr id="16" name="TextBox 15"/>
          <p:cNvSpPr txBox="1"/>
          <p:nvPr/>
        </p:nvSpPr>
        <p:spPr>
          <a:xfrm>
            <a:off x="6263640" y="2286000"/>
            <a:ext cx="2514600" cy="3611880"/>
          </a:xfrm>
          <a:prstGeom prst="rect">
            <a:avLst/>
          </a:prstGeom>
          <a:noFill/>
        </p:spPr>
        <p:txBody>
          <a:bodyPr wrap="square">
            <a:spAutoFit/>
          </a:bodyPr>
          <a:lstStyle/>
          <a:p>
            <a:pPr algn="l">
              <a:spcAft>
                <a:spcPts val="300"/>
              </a:spcAft>
            </a:pPr>
            <a:r>
              <a:rPr sz="1500" b="0" i="0">
                <a:solidFill>
                  <a:srgbClr val="1F2A44"/>
                </a:solidFill>
                <a:latin typeface="Calibri"/>
              </a:rPr>
              <a:t>• Kesitsel okuma rehberi</a:t>
            </a:r>
          </a:p>
          <a:p>
            <a:pPr algn="l">
              <a:spcAft>
                <a:spcPts val="300"/>
              </a:spcAft>
            </a:pPr>
            <a:r>
              <a:rPr sz="1500" b="0" i="0">
                <a:solidFill>
                  <a:srgbClr val="1F2A44"/>
                </a:solidFill>
                <a:latin typeface="Calibri"/>
              </a:rPr>
              <a:t>• VHP düzeyleri 1596 – 1770 (6 düzey)</a:t>
            </a:r>
          </a:p>
          <a:p>
            <a:pPr algn="l">
              <a:spcAft>
                <a:spcPts val="300"/>
              </a:spcAft>
            </a:pPr>
            <a:r>
              <a:rPr sz="1500" b="0" i="0">
                <a:solidFill>
                  <a:srgbClr val="1F2A44"/>
                </a:solidFill>
                <a:latin typeface="Calibri"/>
              </a:rPr>
              <a:t>• Bağ MR'ı, kubital tünel, kompartman US, Doppler</a:t>
            </a:r>
          </a:p>
          <a:p>
            <a:pPr algn="l">
              <a:spcAft>
                <a:spcPts val="300"/>
              </a:spcAft>
            </a:pPr>
            <a:r>
              <a:rPr sz="1500" b="0" i="0">
                <a:solidFill>
                  <a:srgbClr val="1F2A44"/>
                </a:solidFill>
                <a:latin typeface="Calibri"/>
              </a:rPr>
              <a:t>• Görüntüleme varyasyonları: chiasma, FCRB, PL, anconeus epitrochlearis</a:t>
            </a:r>
          </a:p>
        </p:txBody>
      </p:sp>
      <p:sp>
        <p:nvSpPr>
          <p:cNvPr id="17" name="Rounded Rectangle 16"/>
          <p:cNvSpPr/>
          <p:nvPr/>
        </p:nvSpPr>
        <p:spPr>
          <a:xfrm>
            <a:off x="905256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1143000"/>
            <a:ext cx="2514600" cy="502920"/>
          </a:xfrm>
          <a:prstGeom prst="rect">
            <a:avLst/>
          </a:prstGeom>
          <a:noFill/>
        </p:spPr>
        <p:txBody>
          <a:bodyPr wrap="square" anchor="t" lIns="45720" rIns="45720" tIns="18288" bIns="18288">
            <a:spAutoFit/>
          </a:bodyPr>
          <a:lstStyle/>
          <a:p>
            <a:pPr algn="l"/>
            <a:r>
              <a:rPr sz="2200" b="1" i="0">
                <a:solidFill>
                  <a:srgbClr val="C0392B"/>
                </a:solidFill>
                <a:latin typeface="Calibri"/>
              </a:rPr>
              <a:t>4. EL</a:t>
            </a:r>
          </a:p>
        </p:txBody>
      </p:sp>
      <p:sp>
        <p:nvSpPr>
          <p:cNvPr id="19" name="TextBox 18"/>
          <p:cNvSpPr txBox="1"/>
          <p:nvPr/>
        </p:nvSpPr>
        <p:spPr>
          <a:xfrm>
            <a:off x="9144000" y="1691640"/>
            <a:ext cx="2514600" cy="548640"/>
          </a:xfrm>
          <a:prstGeom prst="rect">
            <a:avLst/>
          </a:prstGeom>
          <a:noFill/>
        </p:spPr>
        <p:txBody>
          <a:bodyPr wrap="square" anchor="t" lIns="45720" rIns="45720" tIns="18288" bIns="18288">
            <a:spAutoFit/>
          </a:bodyPr>
          <a:lstStyle/>
          <a:p>
            <a:pPr algn="l"/>
            <a:r>
              <a:rPr sz="1250" b="0" i="1">
                <a:solidFill>
                  <a:srgbClr val="555B66"/>
                </a:solidFill>
                <a:latin typeface="Calibri"/>
              </a:rPr>
              <a:t>Karpal tünel, Guyon kanalı, TFCC, makaralar</a:t>
            </a:r>
          </a:p>
        </p:txBody>
      </p:sp>
      <p:sp>
        <p:nvSpPr>
          <p:cNvPr id="20" name="TextBox 19"/>
          <p:cNvSpPr txBox="1"/>
          <p:nvPr/>
        </p:nvSpPr>
        <p:spPr>
          <a:xfrm>
            <a:off x="9144000" y="2286000"/>
            <a:ext cx="2514600" cy="3611880"/>
          </a:xfrm>
          <a:prstGeom prst="rect">
            <a:avLst/>
          </a:prstGeom>
          <a:noFill/>
        </p:spPr>
        <p:txBody>
          <a:bodyPr wrap="square">
            <a:spAutoFit/>
          </a:bodyPr>
          <a:lstStyle/>
          <a:p>
            <a:pPr algn="l">
              <a:spcAft>
                <a:spcPts val="300"/>
              </a:spcAft>
            </a:pPr>
            <a:r>
              <a:rPr sz="1500" b="0" i="0">
                <a:solidFill>
                  <a:srgbClr val="1F2A44"/>
                </a:solidFill>
                <a:latin typeface="Calibri"/>
              </a:rPr>
              <a:t>• Kesitsel okuma rehberi</a:t>
            </a:r>
          </a:p>
          <a:p>
            <a:pPr algn="l">
              <a:spcAft>
                <a:spcPts val="300"/>
              </a:spcAft>
            </a:pPr>
            <a:r>
              <a:rPr sz="1500" b="0" i="0">
                <a:solidFill>
                  <a:srgbClr val="1F2A44"/>
                </a:solidFill>
                <a:latin typeface="Calibri"/>
              </a:rPr>
              <a:t>• VHP düzeyleri 1785 – 1800 – 1830 – 1850</a:t>
            </a:r>
          </a:p>
          <a:p>
            <a:pPr algn="l">
              <a:spcAft>
                <a:spcPts val="300"/>
              </a:spcAft>
            </a:pPr>
            <a:r>
              <a:rPr sz="1500" b="0" i="0">
                <a:solidFill>
                  <a:srgbClr val="1F2A44"/>
                </a:solidFill>
                <a:latin typeface="Calibri"/>
              </a:rPr>
              <a:t>• Karpal tünel, Guyon, TFCC, makaralar</a:t>
            </a:r>
          </a:p>
          <a:p>
            <a:pPr algn="l">
              <a:spcAft>
                <a:spcPts val="300"/>
              </a:spcAft>
            </a:pPr>
            <a:r>
              <a:rPr sz="1500" b="0" i="0">
                <a:solidFill>
                  <a:srgbClr val="1F2A44"/>
                </a:solidFill>
                <a:latin typeface="Calibri"/>
              </a:rPr>
              <a:t>• Görüntüleme varyasyonları: bifid MN/PMA, tenar dal, aADM, koalisyon</a:t>
            </a:r>
          </a:p>
        </p:txBody>
      </p:sp>
      <p:sp>
        <p:nvSpPr>
          <p:cNvPr id="21" name="TextBox 20"/>
          <p:cNvSpPr txBox="1"/>
          <p:nvPr/>
        </p:nvSpPr>
        <p:spPr>
          <a:xfrm>
            <a:off x="457200" y="6035040"/>
            <a:ext cx="11247120" cy="347472"/>
          </a:xfrm>
          <a:prstGeom prst="rect">
            <a:avLst/>
          </a:prstGeom>
          <a:noFill/>
        </p:spPr>
        <p:txBody>
          <a:bodyPr wrap="square" anchor="t" lIns="45720" rIns="45720" tIns="18288" bIns="18288">
            <a:spAutoFit/>
          </a:bodyPr>
          <a:lstStyle/>
          <a:p>
            <a:pPr algn="l"/>
            <a:r>
              <a:rPr sz="1300" b="0" i="1">
                <a:solidFill>
                  <a:srgbClr val="555B66"/>
                </a:solidFill>
                <a:latin typeface="Calibri"/>
              </a:rPr>
              <a:t>Giriş: düzlemler ve yönelim, dokuların görüntüleme özellikleri, veri kaynağı, boylamsal reformat</a:t>
            </a:r>
          </a:p>
        </p:txBody>
      </p:sp>
      <p:cxnSp>
        <p:nvCxnSpPr>
          <p:cNvPr id="22" name="Connector 2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24" name="TextBox 2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Kesitsel anatomi neden zor, nasıl kolaylaşır?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Üç boyutlu düşünmeyi öğrenmek</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GİRİŞ</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Kesitsel anatomide zorluk, bildiğimiz yapıları alışık olmadığımız bir açıdan görmemizdir. Diseksiyon salonunda kası baştan sona izleriz; kesitte ise yalnızca o kasın bir 'dilimini' görürüz. Bu nedenle kesit okumanın ilk kuralı, her kesitte önce kemiği tanımak ve bulunduğumuz düzeyi belirlemektir: humerus başı mı, gövdesi mi, yoksa epikondiller mi?</a:t>
            </a:r>
          </a:p>
          <a:p>
            <a:pPr algn="l">
              <a:lnSpc>
                <a:spcPct val="108000"/>
              </a:lnSpc>
              <a:spcAft>
                <a:spcPts val="900"/>
              </a:spcAft>
            </a:pPr>
            <a:r>
              <a:rPr sz="2000" b="0" i="0">
                <a:solidFill>
                  <a:srgbClr val="1F2A44"/>
                </a:solidFill>
                <a:latin typeface="Calibri"/>
              </a:rPr>
              <a:t>İkinci adım, fasyaların çizdiği sınırları takip etmektir. Kol ve önkolda kaslar kompartmanlar halinde düzenlenmiştir ve her kompartmanın kendine ait bir siniri vardır. Damar–sinir demetleri ise genellikle kompartmanların birleştiği yerlerde, yağ dokusu içinde seyreder. Kriyokesitlerde bu demetler, kadavrada boşalmış damarların siyah lümenleri sayesinde kolayca seçilir.</a:t>
            </a:r>
          </a:p>
          <a:p>
            <a:pPr algn="l">
              <a:lnSpc>
                <a:spcPct val="108000"/>
              </a:lnSpc>
              <a:spcAft>
                <a:spcPts val="900"/>
              </a:spcAft>
            </a:pPr>
            <a:r>
              <a:rPr sz="2000" b="0" i="0">
                <a:solidFill>
                  <a:srgbClr val="1F2A44"/>
                </a:solidFill>
                <a:latin typeface="Calibri"/>
              </a:rPr>
              <a:t>Bu sunumda aynı kadavranın aynı düzeydeki renkli kesit fotoğrafını ve BT görüntüsünü yan yana göreceğiz. Böylece kas, yağ ve kemiğin gerçek görünümü ile radyolojik görünümü arasındaki ilişkiyi doğrudan kurabileceğiz. Literatürden alınan MR ve ultrason görüntüleri de klinikte bu bilginin nasıl kullanıldığını gösterecek.</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Kesitsel anatomiye giriş: düzlemler ve yönelim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Kesit nasıl okunur?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GİRİŞ</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KONU ANLATIMI</a:t>
            </a:r>
          </a:p>
        </p:txBody>
      </p:sp>
      <p:sp>
        <p:nvSpPr>
          <p:cNvPr id="7" name="TextBox 6"/>
          <p:cNvSpPr txBox="1"/>
          <p:nvPr/>
        </p:nvSpPr>
        <p:spPr>
          <a:xfrm>
            <a:off x="274320" y="1234440"/>
            <a:ext cx="6400800" cy="5074920"/>
          </a:xfrm>
          <a:prstGeom prst="rect">
            <a:avLst/>
          </a:prstGeom>
          <a:noFill/>
        </p:spPr>
        <p:txBody>
          <a:bodyPr wrap="square">
            <a:spAutoFit/>
          </a:bodyPr>
          <a:lstStyle/>
          <a:p>
            <a:pPr algn="l">
              <a:spcAft>
                <a:spcPts val="300"/>
              </a:spcAft>
            </a:pPr>
            <a:r>
              <a:rPr sz="1700" b="0" i="0">
                <a:solidFill>
                  <a:srgbClr val="1F2A44"/>
                </a:solidFill>
                <a:latin typeface="Calibri"/>
              </a:rPr>
              <a:t>• </a:t>
            </a:r>
            <a:r>
              <a:rPr sz="1700" b="0" i="0">
                <a:solidFill>
                  <a:srgbClr val="1F2A44"/>
                </a:solidFill>
                <a:latin typeface="Calibri"/>
              </a:rPr>
              <a:t>Düzlemler:</a:t>
            </a:r>
            <a:r>
              <a:rPr sz="1700" b="0" i="0">
                <a:solidFill>
                  <a:srgbClr val="1F2A44"/>
                </a:solidFill>
                <a:latin typeface="Calibri"/>
              </a:rPr>
              <a:t> aksiyel (transvers), koronal (frontal) ve sagital. Ekstremite MR'ında ayrıca </a:t>
            </a:r>
            <a:r>
              <a:rPr sz="1700" b="0" i="0">
                <a:solidFill>
                  <a:srgbClr val="1F2A44"/>
                </a:solidFill>
                <a:latin typeface="Calibri"/>
              </a:rPr>
              <a:t>oblik</a:t>
            </a:r>
            <a:r>
              <a:rPr sz="1700" b="0" i="0">
                <a:solidFill>
                  <a:srgbClr val="1F2A44"/>
                </a:solidFill>
                <a:latin typeface="Calibri"/>
              </a:rPr>
              <a:t> düzlemler kullanılır (ör. omuzda supraspinatus'a paralel koronal oblik, glenoide paralel sagital oblik).</a:t>
            </a:r>
          </a:p>
          <a:p>
            <a:pPr algn="l">
              <a:spcAft>
                <a:spcPts val="300"/>
              </a:spcAft>
            </a:pPr>
            <a:r>
              <a:rPr sz="1700" b="0" i="0">
                <a:solidFill>
                  <a:srgbClr val="1F2A44"/>
                </a:solidFill>
                <a:latin typeface="Calibri"/>
              </a:rPr>
              <a:t>• </a:t>
            </a:r>
            <a:r>
              <a:rPr sz="1700" b="0" i="0">
                <a:solidFill>
                  <a:srgbClr val="1F2A44"/>
                </a:solidFill>
                <a:latin typeface="Calibri"/>
              </a:rPr>
              <a:t>Radyolojik yönelim:</a:t>
            </a:r>
            <a:r>
              <a:rPr sz="1700" b="0" i="0">
                <a:solidFill>
                  <a:srgbClr val="1F2A44"/>
                </a:solidFill>
                <a:latin typeface="Calibri"/>
              </a:rPr>
              <a:t> aksiyel kesitlere </a:t>
            </a:r>
            <a:r>
              <a:rPr sz="1700" b="0" i="0">
                <a:solidFill>
                  <a:srgbClr val="1F2A44"/>
                </a:solidFill>
                <a:latin typeface="Calibri"/>
              </a:rPr>
              <a:t>aşağıdan bakılır</a:t>
            </a:r>
            <a:r>
              <a:rPr sz="1700" b="0" i="0">
                <a:solidFill>
                  <a:srgbClr val="1F2A44"/>
                </a:solidFill>
                <a:latin typeface="Calibri"/>
              </a:rPr>
              <a:t> – ön yukarıda, hastanın sağı izleyicinin solunda. Bu sunumdaki tüm VHP kriyokesitleri de bu kurala göre (dikey çevrilerek) gösterilmiştir.</a:t>
            </a:r>
          </a:p>
          <a:p>
            <a:pPr algn="l">
              <a:spcAft>
                <a:spcPts val="300"/>
              </a:spcAft>
            </a:pPr>
            <a:r>
              <a:rPr sz="1700" b="0" i="0">
                <a:solidFill>
                  <a:srgbClr val="1F2A44"/>
                </a:solidFill>
                <a:latin typeface="Calibri"/>
              </a:rPr>
              <a:t>• </a:t>
            </a:r>
            <a:r>
              <a:rPr sz="1700" b="0" i="0">
                <a:solidFill>
                  <a:srgbClr val="1F2A44"/>
                </a:solidFill>
                <a:latin typeface="Calibri"/>
              </a:rPr>
              <a:t>Okuma stratejisi:</a:t>
            </a:r>
            <a:r>
              <a:rPr sz="1700" b="0" i="0">
                <a:solidFill>
                  <a:srgbClr val="1F2A44"/>
                </a:solidFill>
                <a:latin typeface="Calibri"/>
              </a:rPr>
              <a:t> 1) kemik(ler)i ve düzeyi belirle → 2) fasya ve septalarla kompartmanları ayır → 3) her kompartmandaki kas gruplarını say → 4) damar–sinir demetlerini bul → 5) yüzeyel venler ve deri sinirleri.</a:t>
            </a:r>
          </a:p>
          <a:p>
            <a:pPr algn="l">
              <a:spcAft>
                <a:spcPts val="300"/>
              </a:spcAft>
            </a:pPr>
            <a:r>
              <a:rPr sz="1700" b="0" i="0">
                <a:solidFill>
                  <a:srgbClr val="1F2A44"/>
                </a:solidFill>
                <a:latin typeface="Calibri"/>
              </a:rPr>
              <a:t>• Ekstremite kesitlerinde </a:t>
            </a:r>
            <a:r>
              <a:rPr sz="1700" b="0" i="0">
                <a:solidFill>
                  <a:srgbClr val="1F2A44"/>
                </a:solidFill>
                <a:latin typeface="Calibri"/>
              </a:rPr>
              <a:t>medial/lateral</a:t>
            </a:r>
            <a:r>
              <a:rPr sz="1700" b="0" i="0">
                <a:solidFill>
                  <a:srgbClr val="1F2A44"/>
                </a:solidFill>
                <a:latin typeface="Calibri"/>
              </a:rPr>
              <a:t> yönü belirlemek için gövdeye en yakın taraf ve kemiklerin şekli (ör. distal humerus'ta epikondiller, önkolda radius/ulna) kullanılır.</a:t>
            </a:r>
          </a:p>
          <a:p>
            <a:pPr algn="l">
              <a:spcAft>
                <a:spcPts val="300"/>
              </a:spcAft>
            </a:pPr>
            <a:r>
              <a:rPr sz="1700" b="0" i="0">
                <a:solidFill>
                  <a:srgbClr val="1F2A44"/>
                </a:solidFill>
                <a:latin typeface="Calibri"/>
              </a:rPr>
              <a:t>• VHP-M kadavrasında kol gövde yanında, önkol </a:t>
            </a:r>
            <a:r>
              <a:rPr sz="1700" b="0" i="0">
                <a:solidFill>
                  <a:srgbClr val="1F2A44"/>
                </a:solidFill>
                <a:latin typeface="Calibri"/>
              </a:rPr>
              <a:t>pronasyonda</a:t>
            </a:r>
            <a:r>
              <a:rPr sz="1700" b="0" i="0">
                <a:solidFill>
                  <a:srgbClr val="1F2A44"/>
                </a:solidFill>
                <a:latin typeface="Calibri"/>
              </a:rPr>
              <a:t> ve el uyluğa yaslıdır; bu nedenle önkol ve el kesitleri vücut eksenine göre </a:t>
            </a:r>
            <a:r>
              <a:rPr sz="1700" b="0" i="0">
                <a:solidFill>
                  <a:srgbClr val="1F2A44"/>
                </a:solidFill>
                <a:latin typeface="Calibri"/>
              </a:rPr>
              <a:t>eğik</a:t>
            </a:r>
            <a:r>
              <a:rPr sz="1700" b="0" i="0">
                <a:solidFill>
                  <a:srgbClr val="1F2A44"/>
                </a:solidFill>
                <a:latin typeface="Calibri"/>
              </a:rPr>
              <a:t>tir.</a:t>
            </a:r>
          </a:p>
        </p:txBody>
      </p:sp>
      <p:pic>
        <p:nvPicPr>
          <p:cNvPr id="8" name="Picture 7" descr="cpr_coronal_levels.jpg"/>
          <p:cNvPicPr>
            <a:picLocks noChangeAspect="1"/>
          </p:cNvPicPr>
          <p:nvPr/>
        </p:nvPicPr>
        <p:blipFill>
          <a:blip r:embed="rId2"/>
          <a:stretch>
            <a:fillRect/>
          </a:stretch>
        </p:blipFill>
        <p:spPr>
          <a:xfrm>
            <a:off x="8661173" y="1234440"/>
            <a:ext cx="1514292" cy="4754880"/>
          </a:xfrm>
          <a:prstGeom prst="rect">
            <a:avLst/>
          </a:prstGeom>
        </p:spPr>
      </p:pic>
      <p:sp>
        <p:nvSpPr>
          <p:cNvPr id="9" name="TextBox 8"/>
          <p:cNvSpPr txBox="1"/>
          <p:nvPr/>
        </p:nvSpPr>
        <p:spPr>
          <a:xfrm>
            <a:off x="8478293" y="5989320"/>
            <a:ext cx="1880052"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 boylamsal reformat ve kesit düzeyleri</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Görüntü: NLM Visible Human Project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Dokuların kesitsel görüntüleme yöntemlerinde görünümü</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Kriyokesit, BT, MR ve ultrason</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GİRİŞ</a:t>
            </a:r>
          </a:p>
        </p:txBody>
      </p:sp>
      <p:sp>
        <p:nvSpPr>
          <p:cNvPr id="6" name="TextBox 5"/>
          <p:cNvSpPr txBox="1"/>
          <p:nvPr/>
        </p:nvSpPr>
        <p:spPr>
          <a:xfrm>
            <a:off x="9646920" y="822960"/>
            <a:ext cx="2331720" cy="292608"/>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TABLO</a:t>
            </a:r>
          </a:p>
        </p:txBody>
      </p:sp>
      <p:graphicFrame>
        <p:nvGraphicFramePr>
          <p:cNvPr id="7" name="Table 6"/>
          <p:cNvGraphicFramePr>
            <a:graphicFrameLocks noGrp="1"/>
          </p:cNvGraphicFramePr>
          <p:nvPr/>
        </p:nvGraphicFramePr>
        <p:xfrm>
          <a:off x="274320" y="1234440"/>
          <a:ext cx="11640309" cy="3032760"/>
        </p:xfrm>
        <a:graphic>
          <a:graphicData uri="http://schemas.openxmlformats.org/drawingml/2006/table">
            <a:tbl>
              <a:tblPr firstRow="1" bandRow="1">
                <a:tableStyleId>{5C22544A-7EE6-4342-B048-85BDC9FD1C3A}</a:tableStyleId>
              </a:tblPr>
              <a:tblGrid>
                <a:gridCol w="1790817"/>
                <a:gridCol w="2350447"/>
                <a:gridCol w="2238521"/>
                <a:gridCol w="2574299"/>
                <a:gridCol w="2686225"/>
              </a:tblGrid>
              <a:tr h="457200">
                <a:tc>
                  <a:txBody>
                    <a:bodyPr/>
                    <a:lstStyle/>
                    <a:p>
                      <a:r>
                        <a:rPr sz="1100" b="1">
                          <a:solidFill>
                            <a:srgbClr val="FFFFFF"/>
                          </a:solidFill>
                          <a:latin typeface="Calibri"/>
                        </a:rPr>
                        <a:t>Doku</a:t>
                      </a:r>
                    </a:p>
                  </a:txBody>
                  <a:tcPr>
                    <a:solidFill>
                      <a:srgbClr val="1F2A44"/>
                    </a:solidFill>
                  </a:tcPr>
                </a:tc>
                <a:tc>
                  <a:txBody>
                    <a:bodyPr/>
                    <a:lstStyle/>
                    <a:p>
                      <a:r>
                        <a:rPr sz="1100" b="1">
                          <a:solidFill>
                            <a:srgbClr val="FFFFFF"/>
                          </a:solidFill>
                          <a:latin typeface="Calibri"/>
                        </a:rPr>
                        <a:t>Kriyokesit (renkli foto)</a:t>
                      </a:r>
                    </a:p>
                  </a:txBody>
                  <a:tcPr>
                    <a:solidFill>
                      <a:srgbClr val="1F2A44"/>
                    </a:solidFill>
                  </a:tcPr>
                </a:tc>
                <a:tc>
                  <a:txBody>
                    <a:bodyPr/>
                    <a:lstStyle/>
                    <a:p>
                      <a:r>
                        <a:rPr sz="1100" b="1">
                          <a:solidFill>
                            <a:srgbClr val="FFFFFF"/>
                          </a:solidFill>
                          <a:latin typeface="Calibri"/>
                        </a:rPr>
                        <a:t>BT (HU)</a:t>
                      </a:r>
                    </a:p>
                  </a:txBody>
                  <a:tcPr>
                    <a:solidFill>
                      <a:srgbClr val="1F2A44"/>
                    </a:solidFill>
                  </a:tcPr>
                </a:tc>
                <a:tc>
                  <a:txBody>
                    <a:bodyPr/>
                    <a:lstStyle/>
                    <a:p>
                      <a:r>
                        <a:rPr sz="1100" b="1">
                          <a:solidFill>
                            <a:srgbClr val="FFFFFF"/>
                          </a:solidFill>
                          <a:latin typeface="Calibri"/>
                        </a:rPr>
                        <a:t>MR T1 / T2-yağ baskılı</a:t>
                      </a:r>
                    </a:p>
                  </a:txBody>
                  <a:tcPr>
                    <a:solidFill>
                      <a:srgbClr val="1F2A44"/>
                    </a:solidFill>
                  </a:tcPr>
                </a:tc>
                <a:tc>
                  <a:txBody>
                    <a:bodyPr/>
                    <a:lstStyle/>
                    <a:p>
                      <a:r>
                        <a:rPr sz="1100" b="1">
                          <a:solidFill>
                            <a:srgbClr val="FFFFFF"/>
                          </a:solidFill>
                          <a:latin typeface="Calibri"/>
                        </a:rPr>
                        <a:t>Ultrason</a:t>
                      </a:r>
                    </a:p>
                  </a:txBody>
                  <a:tcPr>
                    <a:solidFill>
                      <a:srgbClr val="1F2A44"/>
                    </a:solidFill>
                  </a:tcPr>
                </a:tc>
              </a:tr>
              <a:tr h="321945">
                <a:tc>
                  <a:txBody>
                    <a:bodyPr/>
                    <a:lstStyle/>
                    <a:p>
                      <a:r>
                        <a:rPr sz="1050" b="1">
                          <a:solidFill>
                            <a:srgbClr val="1F2A44"/>
                          </a:solidFill>
                          <a:latin typeface="Calibri"/>
                        </a:rPr>
                        <a:t>Kortikal kemik</a:t>
                      </a:r>
                    </a:p>
                  </a:txBody>
                  <a:tcPr>
                    <a:solidFill>
                      <a:srgbClr val="F3F4F6"/>
                    </a:solidFill>
                  </a:tcPr>
                </a:tc>
                <a:tc>
                  <a:txBody>
                    <a:bodyPr/>
                    <a:lstStyle/>
                    <a:p>
                      <a:r>
                        <a:rPr sz="1050" b="0">
                          <a:solidFill>
                            <a:srgbClr val="1F2A44"/>
                          </a:solidFill>
                          <a:latin typeface="Calibri"/>
                        </a:rPr>
                        <a:t>Beyaz-krem kenar</a:t>
                      </a:r>
                    </a:p>
                  </a:txBody>
                  <a:tcPr>
                    <a:solidFill>
                      <a:srgbClr val="F3F4F6"/>
                    </a:solidFill>
                  </a:tcPr>
                </a:tc>
                <a:tc>
                  <a:txBody>
                    <a:bodyPr/>
                    <a:lstStyle/>
                    <a:p>
                      <a:r>
                        <a:rPr sz="1050" b="0">
                          <a:solidFill>
                            <a:srgbClr val="1F2A44"/>
                          </a:solidFill>
                          <a:latin typeface="Calibri"/>
                        </a:rPr>
                        <a:t>Çok yüksek (≈ +700 – +3000)</a:t>
                      </a:r>
                    </a:p>
                  </a:txBody>
                  <a:tcPr>
                    <a:solidFill>
                      <a:srgbClr val="F3F4F6"/>
                    </a:solidFill>
                  </a:tcPr>
                </a:tc>
                <a:tc>
                  <a:txBody>
                    <a:bodyPr/>
                    <a:lstStyle/>
                    <a:p>
                      <a:r>
                        <a:rPr sz="1050" b="0">
                          <a:solidFill>
                            <a:srgbClr val="1F2A44"/>
                          </a:solidFill>
                          <a:latin typeface="Calibri"/>
                        </a:rPr>
                        <a:t>Sinyalsiz (siyah) / siyah</a:t>
                      </a:r>
                    </a:p>
                  </a:txBody>
                  <a:tcPr>
                    <a:solidFill>
                      <a:srgbClr val="F3F4F6"/>
                    </a:solidFill>
                  </a:tcPr>
                </a:tc>
                <a:tc>
                  <a:txBody>
                    <a:bodyPr/>
                    <a:lstStyle/>
                    <a:p>
                      <a:r>
                        <a:rPr sz="1050" b="0">
                          <a:solidFill>
                            <a:srgbClr val="1F2A44"/>
                          </a:solidFill>
                          <a:latin typeface="Calibri"/>
                        </a:rPr>
                        <a:t>Hiperekoik yüzey + akustik gölge</a:t>
                      </a:r>
                    </a:p>
                  </a:txBody>
                  <a:tcPr>
                    <a:solidFill>
                      <a:srgbClr val="F3F4F6"/>
                    </a:solidFill>
                  </a:tcPr>
                </a:tc>
              </a:tr>
              <a:tr h="321945">
                <a:tc>
                  <a:txBody>
                    <a:bodyPr/>
                    <a:lstStyle/>
                    <a:p>
                      <a:r>
                        <a:rPr sz="1050" b="1">
                          <a:solidFill>
                            <a:srgbClr val="1F2A44"/>
                          </a:solidFill>
                          <a:latin typeface="Calibri"/>
                        </a:rPr>
                        <a:t>Kemik iliği (yağlı)</a:t>
                      </a:r>
                    </a:p>
                  </a:txBody>
                  <a:tcPr>
                    <a:solidFill>
                      <a:srgbClr val="FFFFFF"/>
                    </a:solidFill>
                  </a:tcPr>
                </a:tc>
                <a:tc>
                  <a:txBody>
                    <a:bodyPr/>
                    <a:lstStyle/>
                    <a:p>
                      <a:r>
                        <a:rPr sz="1050" b="0">
                          <a:solidFill>
                            <a:srgbClr val="1F2A44"/>
                          </a:solidFill>
                          <a:latin typeface="Calibri"/>
                        </a:rPr>
                        <a:t>Pembe-sarımsı</a:t>
                      </a:r>
                    </a:p>
                  </a:txBody>
                  <a:tcPr>
                    <a:solidFill>
                      <a:srgbClr val="FFFFFF"/>
                    </a:solidFill>
                  </a:tcPr>
                </a:tc>
                <a:tc>
                  <a:txBody>
                    <a:bodyPr/>
                    <a:lstStyle/>
                    <a:p>
                      <a:r>
                        <a:rPr sz="1050" b="0">
                          <a:solidFill>
                            <a:srgbClr val="1F2A44"/>
                          </a:solidFill>
                          <a:latin typeface="Calibri"/>
                        </a:rPr>
                        <a:t>Düşük (yağ ağırlıklı)</a:t>
                      </a:r>
                    </a:p>
                  </a:txBody>
                  <a:tcPr>
                    <a:solidFill>
                      <a:srgbClr val="FFFFFF"/>
                    </a:solidFill>
                  </a:tcPr>
                </a:tc>
                <a:tc>
                  <a:txBody>
                    <a:bodyPr/>
                    <a:lstStyle/>
                    <a:p>
                      <a:r>
                        <a:rPr sz="1050" b="0">
                          <a:solidFill>
                            <a:srgbClr val="1F2A44"/>
                          </a:solidFill>
                          <a:latin typeface="Calibri"/>
                        </a:rPr>
                        <a:t>Parlak / baskılanmış (koyu)</a:t>
                      </a:r>
                    </a:p>
                  </a:txBody>
                  <a:tcPr>
                    <a:solidFill>
                      <a:srgbClr val="FFFFFF"/>
                    </a:solidFill>
                  </a:tcPr>
                </a:tc>
                <a:tc>
                  <a:txBody>
                    <a:bodyPr/>
                    <a:lstStyle/>
                    <a:p>
                      <a:r>
                        <a:rPr sz="1050" b="0">
                          <a:solidFill>
                            <a:srgbClr val="1F2A44"/>
                          </a:solidFill>
                          <a:latin typeface="Calibri"/>
                        </a:rPr>
                        <a:t>Görülmez</a:t>
                      </a:r>
                    </a:p>
                  </a:txBody>
                  <a:tcPr>
                    <a:solidFill>
                      <a:srgbClr val="FFFFFF"/>
                    </a:solidFill>
                  </a:tcPr>
                </a:tc>
              </a:tr>
              <a:tr h="321945">
                <a:tc>
                  <a:txBody>
                    <a:bodyPr/>
                    <a:lstStyle/>
                    <a:p>
                      <a:r>
                        <a:rPr sz="1050" b="1">
                          <a:solidFill>
                            <a:srgbClr val="1F2A44"/>
                          </a:solidFill>
                          <a:latin typeface="Calibri"/>
                        </a:rPr>
                        <a:t>Kas</a:t>
                      </a:r>
                    </a:p>
                  </a:txBody>
                  <a:tcPr>
                    <a:solidFill>
                      <a:srgbClr val="F3F4F6"/>
                    </a:solidFill>
                  </a:tcPr>
                </a:tc>
                <a:tc>
                  <a:txBody>
                    <a:bodyPr/>
                    <a:lstStyle/>
                    <a:p>
                      <a:r>
                        <a:rPr sz="1050" b="0">
                          <a:solidFill>
                            <a:srgbClr val="1F2A44"/>
                          </a:solidFill>
                          <a:latin typeface="Calibri"/>
                        </a:rPr>
                        <a:t>Kırmızı-kahverengi</a:t>
                      </a:r>
                    </a:p>
                  </a:txBody>
                  <a:tcPr>
                    <a:solidFill>
                      <a:srgbClr val="F3F4F6"/>
                    </a:solidFill>
                  </a:tcPr>
                </a:tc>
                <a:tc>
                  <a:txBody>
                    <a:bodyPr/>
                    <a:lstStyle/>
                    <a:p>
                      <a:r>
                        <a:rPr sz="1050" b="0">
                          <a:solidFill>
                            <a:srgbClr val="1F2A44"/>
                          </a:solidFill>
                          <a:latin typeface="Calibri"/>
                        </a:rPr>
                        <a:t>+40 – +60</a:t>
                      </a:r>
                    </a:p>
                  </a:txBody>
                  <a:tcPr>
                    <a:solidFill>
                      <a:srgbClr val="F3F4F6"/>
                    </a:solidFill>
                  </a:tcPr>
                </a:tc>
                <a:tc>
                  <a:txBody>
                    <a:bodyPr/>
                    <a:lstStyle/>
                    <a:p>
                      <a:r>
                        <a:rPr sz="1050" b="0">
                          <a:solidFill>
                            <a:srgbClr val="1F2A44"/>
                          </a:solidFill>
                          <a:latin typeface="Calibri"/>
                        </a:rPr>
                        <a:t>Orta / orta</a:t>
                      </a:r>
                    </a:p>
                  </a:txBody>
                  <a:tcPr>
                    <a:solidFill>
                      <a:srgbClr val="F3F4F6"/>
                    </a:solidFill>
                  </a:tcPr>
                </a:tc>
                <a:tc>
                  <a:txBody>
                    <a:bodyPr/>
                    <a:lstStyle/>
                    <a:p>
                      <a:r>
                        <a:rPr sz="1050" b="0">
                          <a:solidFill>
                            <a:srgbClr val="1F2A44"/>
                          </a:solidFill>
                          <a:latin typeface="Calibri"/>
                        </a:rPr>
                        <a:t>Hipoekoik, ince ekojen septalar</a:t>
                      </a:r>
                    </a:p>
                  </a:txBody>
                  <a:tcPr>
                    <a:solidFill>
                      <a:srgbClr val="F3F4F6"/>
                    </a:solidFill>
                  </a:tcPr>
                </a:tc>
              </a:tr>
              <a:tr h="321945">
                <a:tc>
                  <a:txBody>
                    <a:bodyPr/>
                    <a:lstStyle/>
                    <a:p>
                      <a:r>
                        <a:rPr sz="1050" b="1">
                          <a:solidFill>
                            <a:srgbClr val="1F2A44"/>
                          </a:solidFill>
                          <a:latin typeface="Calibri"/>
                        </a:rPr>
                        <a:t>Yağ</a:t>
                      </a:r>
                    </a:p>
                  </a:txBody>
                  <a:tcPr>
                    <a:solidFill>
                      <a:srgbClr val="FFFFFF"/>
                    </a:solidFill>
                  </a:tcPr>
                </a:tc>
                <a:tc>
                  <a:txBody>
                    <a:bodyPr/>
                    <a:lstStyle/>
                    <a:p>
                      <a:r>
                        <a:rPr sz="1050" b="0">
                          <a:solidFill>
                            <a:srgbClr val="1F2A44"/>
                          </a:solidFill>
                          <a:latin typeface="Calibri"/>
                        </a:rPr>
                        <a:t>Sarı</a:t>
                      </a:r>
                    </a:p>
                  </a:txBody>
                  <a:tcPr>
                    <a:solidFill>
                      <a:srgbClr val="FFFFFF"/>
                    </a:solidFill>
                  </a:tcPr>
                </a:tc>
                <a:tc>
                  <a:txBody>
                    <a:bodyPr/>
                    <a:lstStyle/>
                    <a:p>
                      <a:r>
                        <a:rPr sz="1050" b="0">
                          <a:solidFill>
                            <a:srgbClr val="1F2A44"/>
                          </a:solidFill>
                          <a:latin typeface="Calibri"/>
                        </a:rPr>
                        <a:t>−100 – −50</a:t>
                      </a:r>
                    </a:p>
                  </a:txBody>
                  <a:tcPr>
                    <a:solidFill>
                      <a:srgbClr val="FFFFFF"/>
                    </a:solidFill>
                  </a:tcPr>
                </a:tc>
                <a:tc>
                  <a:txBody>
                    <a:bodyPr/>
                    <a:lstStyle/>
                    <a:p>
                      <a:r>
                        <a:rPr sz="1050" b="0">
                          <a:solidFill>
                            <a:srgbClr val="1F2A44"/>
                          </a:solidFill>
                          <a:latin typeface="Calibri"/>
                        </a:rPr>
                        <a:t>Parlak / koyu</a:t>
                      </a:r>
                    </a:p>
                  </a:txBody>
                  <a:tcPr>
                    <a:solidFill>
                      <a:srgbClr val="FFFFFF"/>
                    </a:solidFill>
                  </a:tcPr>
                </a:tc>
                <a:tc>
                  <a:txBody>
                    <a:bodyPr/>
                    <a:lstStyle/>
                    <a:p>
                      <a:r>
                        <a:rPr sz="1050" b="0">
                          <a:solidFill>
                            <a:srgbClr val="1F2A44"/>
                          </a:solidFill>
                          <a:latin typeface="Calibri"/>
                        </a:rPr>
                        <a:t>Değişken ekojen</a:t>
                      </a:r>
                    </a:p>
                  </a:txBody>
                  <a:tcPr>
                    <a:solidFill>
                      <a:srgbClr val="FFFFFF"/>
                    </a:solidFill>
                  </a:tcPr>
                </a:tc>
              </a:tr>
              <a:tr h="321945">
                <a:tc>
                  <a:txBody>
                    <a:bodyPr/>
                    <a:lstStyle/>
                    <a:p>
                      <a:r>
                        <a:rPr sz="1050" b="1">
                          <a:solidFill>
                            <a:srgbClr val="1F2A44"/>
                          </a:solidFill>
                          <a:latin typeface="Calibri"/>
                        </a:rPr>
                        <a:t>Tendon, bağ</a:t>
                      </a:r>
                    </a:p>
                  </a:txBody>
                  <a:tcPr>
                    <a:solidFill>
                      <a:srgbClr val="F3F4F6"/>
                    </a:solidFill>
                  </a:tcPr>
                </a:tc>
                <a:tc>
                  <a:txBody>
                    <a:bodyPr/>
                    <a:lstStyle/>
                    <a:p>
                      <a:r>
                        <a:rPr sz="1050" b="0">
                          <a:solidFill>
                            <a:srgbClr val="1F2A44"/>
                          </a:solidFill>
                          <a:latin typeface="Calibri"/>
                        </a:rPr>
                        <a:t>Beyaz-sedefli</a:t>
                      </a:r>
                    </a:p>
                  </a:txBody>
                  <a:tcPr>
                    <a:solidFill>
                      <a:srgbClr val="F3F4F6"/>
                    </a:solidFill>
                  </a:tcPr>
                </a:tc>
                <a:tc>
                  <a:txBody>
                    <a:bodyPr/>
                    <a:lstStyle/>
                    <a:p>
                      <a:r>
                        <a:rPr sz="1050" b="0">
                          <a:solidFill>
                            <a:srgbClr val="1F2A44"/>
                          </a:solidFill>
                          <a:latin typeface="Calibri"/>
                        </a:rPr>
                        <a:t>Kasa yakın / biraz yüksek</a:t>
                      </a:r>
                    </a:p>
                  </a:txBody>
                  <a:tcPr>
                    <a:solidFill>
                      <a:srgbClr val="F3F4F6"/>
                    </a:solidFill>
                  </a:tcPr>
                </a:tc>
                <a:tc>
                  <a:txBody>
                    <a:bodyPr/>
                    <a:lstStyle/>
                    <a:p>
                      <a:r>
                        <a:rPr sz="1050" b="0">
                          <a:solidFill>
                            <a:srgbClr val="1F2A44"/>
                          </a:solidFill>
                          <a:latin typeface="Calibri"/>
                        </a:rPr>
                        <a:t>Siyah / siyah</a:t>
                      </a:r>
                    </a:p>
                  </a:txBody>
                  <a:tcPr>
                    <a:solidFill>
                      <a:srgbClr val="F3F4F6"/>
                    </a:solidFill>
                  </a:tcPr>
                </a:tc>
                <a:tc>
                  <a:txBody>
                    <a:bodyPr/>
                    <a:lstStyle/>
                    <a:p>
                      <a:r>
                        <a:rPr sz="1050" b="0">
                          <a:solidFill>
                            <a:srgbClr val="1F2A44"/>
                          </a:solidFill>
                          <a:latin typeface="Calibri"/>
                        </a:rPr>
                        <a:t>Fibriler hiperekoik (anizotropi)</a:t>
                      </a:r>
                    </a:p>
                  </a:txBody>
                  <a:tcPr>
                    <a:solidFill>
                      <a:srgbClr val="F3F4F6"/>
                    </a:solidFill>
                  </a:tcPr>
                </a:tc>
              </a:tr>
              <a:tr h="321945">
                <a:tc>
                  <a:txBody>
                    <a:bodyPr/>
                    <a:lstStyle/>
                    <a:p>
                      <a:r>
                        <a:rPr sz="1050" b="1">
                          <a:solidFill>
                            <a:srgbClr val="1F2A44"/>
                          </a:solidFill>
                          <a:latin typeface="Calibri"/>
                        </a:rPr>
                        <a:t>Periferik sinir</a:t>
                      </a:r>
                    </a:p>
                  </a:txBody>
                  <a:tcPr>
                    <a:solidFill>
                      <a:srgbClr val="FFFFFF"/>
                    </a:solidFill>
                  </a:tcPr>
                </a:tc>
                <a:tc>
                  <a:txBody>
                    <a:bodyPr/>
                    <a:lstStyle/>
                    <a:p>
                      <a:r>
                        <a:rPr sz="1050" b="0">
                          <a:solidFill>
                            <a:srgbClr val="1F2A44"/>
                          </a:solidFill>
                          <a:latin typeface="Calibri"/>
                        </a:rPr>
                        <a:t>Krem renkli kordon</a:t>
                      </a:r>
                    </a:p>
                  </a:txBody>
                  <a:tcPr>
                    <a:solidFill>
                      <a:srgbClr val="FFFFFF"/>
                    </a:solidFill>
                  </a:tcPr>
                </a:tc>
                <a:tc>
                  <a:txBody>
                    <a:bodyPr/>
                    <a:lstStyle/>
                    <a:p>
                      <a:r>
                        <a:rPr sz="1050" b="0">
                          <a:solidFill>
                            <a:srgbClr val="1F2A44"/>
                          </a:solidFill>
                          <a:latin typeface="Calibri"/>
                        </a:rPr>
                        <a:t>Kasa yakın (ayırt güç)</a:t>
                      </a:r>
                    </a:p>
                  </a:txBody>
                  <a:tcPr>
                    <a:solidFill>
                      <a:srgbClr val="FFFFFF"/>
                    </a:solidFill>
                  </a:tcPr>
                </a:tc>
                <a:tc>
                  <a:txBody>
                    <a:bodyPr/>
                    <a:lstStyle/>
                    <a:p>
                      <a:r>
                        <a:rPr sz="1050" b="0">
                          <a:solidFill>
                            <a:srgbClr val="1F2A44"/>
                          </a:solidFill>
                          <a:latin typeface="Calibri"/>
                        </a:rPr>
                        <a:t>Orta / hafif parlak (fasiküler)</a:t>
                      </a:r>
                    </a:p>
                  </a:txBody>
                  <a:tcPr>
                    <a:solidFill>
                      <a:srgbClr val="FFFFFF"/>
                    </a:solidFill>
                  </a:tcPr>
                </a:tc>
                <a:tc>
                  <a:txBody>
                    <a:bodyPr/>
                    <a:lstStyle/>
                    <a:p>
                      <a:r>
                        <a:rPr sz="1050" b="0">
                          <a:solidFill>
                            <a:srgbClr val="1F2A44"/>
                          </a:solidFill>
                          <a:latin typeface="Calibri"/>
                        </a:rPr>
                        <a:t>'Bal peteği' fasiküler görünüm</a:t>
                      </a:r>
                    </a:p>
                  </a:txBody>
                  <a:tcPr>
                    <a:solidFill>
                      <a:srgbClr val="FFFFFF"/>
                    </a:solidFill>
                  </a:tcPr>
                </a:tc>
              </a:tr>
              <a:tr h="321945">
                <a:tc>
                  <a:txBody>
                    <a:bodyPr/>
                    <a:lstStyle/>
                    <a:p>
                      <a:r>
                        <a:rPr sz="1050" b="1">
                          <a:solidFill>
                            <a:srgbClr val="1F2A44"/>
                          </a:solidFill>
                          <a:latin typeface="Calibri"/>
                        </a:rPr>
                        <a:t>Damar</a:t>
                      </a:r>
                    </a:p>
                  </a:txBody>
                  <a:tcPr>
                    <a:solidFill>
                      <a:srgbClr val="F3F4F6"/>
                    </a:solidFill>
                  </a:tcPr>
                </a:tc>
                <a:tc>
                  <a:txBody>
                    <a:bodyPr/>
                    <a:lstStyle/>
                    <a:p>
                      <a:r>
                        <a:rPr sz="1050" b="0">
                          <a:solidFill>
                            <a:srgbClr val="1F2A44"/>
                          </a:solidFill>
                          <a:latin typeface="Calibri"/>
                        </a:rPr>
                        <a:t>Boş lümen siyah (kadavra)</a:t>
                      </a:r>
                    </a:p>
                  </a:txBody>
                  <a:tcPr>
                    <a:solidFill>
                      <a:srgbClr val="F3F4F6"/>
                    </a:solidFill>
                  </a:tcPr>
                </a:tc>
                <a:tc>
                  <a:txBody>
                    <a:bodyPr/>
                    <a:lstStyle/>
                    <a:p>
                      <a:r>
                        <a:rPr sz="1050" b="0">
                          <a:solidFill>
                            <a:srgbClr val="1F2A44"/>
                          </a:solidFill>
                          <a:latin typeface="Calibri"/>
                        </a:rPr>
                        <a:t>Kontrastsız ≈ kan +40</a:t>
                      </a:r>
                    </a:p>
                  </a:txBody>
                  <a:tcPr>
                    <a:solidFill>
                      <a:srgbClr val="F3F4F6"/>
                    </a:solidFill>
                  </a:tcPr>
                </a:tc>
                <a:tc>
                  <a:txBody>
                    <a:bodyPr/>
                    <a:lstStyle/>
                    <a:p>
                      <a:r>
                        <a:rPr sz="1050" b="0">
                          <a:solidFill>
                            <a:srgbClr val="1F2A44"/>
                          </a:solidFill>
                          <a:latin typeface="Calibri"/>
                        </a:rPr>
                        <a:t>Akım boşluğu</a:t>
                      </a:r>
                    </a:p>
                  </a:txBody>
                  <a:tcPr>
                    <a:solidFill>
                      <a:srgbClr val="F3F4F6"/>
                    </a:solidFill>
                  </a:tcPr>
                </a:tc>
                <a:tc>
                  <a:txBody>
                    <a:bodyPr/>
                    <a:lstStyle/>
                    <a:p>
                      <a:r>
                        <a:rPr sz="1050" b="0">
                          <a:solidFill>
                            <a:srgbClr val="1F2A44"/>
                          </a:solidFill>
                          <a:latin typeface="Calibri"/>
                        </a:rPr>
                        <a:t>Anekoik lümen; Doppler sinyali</a:t>
                      </a:r>
                    </a:p>
                  </a:txBody>
                  <a:tcPr>
                    <a:solidFill>
                      <a:srgbClr val="F3F4F6"/>
                    </a:solidFill>
                  </a:tcPr>
                </a:tc>
              </a:tr>
              <a:tr h="321945">
                <a:tc>
                  <a:txBody>
                    <a:bodyPr/>
                    <a:lstStyle/>
                    <a:p>
                      <a:r>
                        <a:rPr sz="1050" b="1">
                          <a:solidFill>
                            <a:srgbClr val="1F2A44"/>
                          </a:solidFill>
                          <a:latin typeface="Calibri"/>
                        </a:rPr>
                        <a:t>Eklem kıkırdağı</a:t>
                      </a:r>
                    </a:p>
                  </a:txBody>
                  <a:tcPr>
                    <a:solidFill>
                      <a:srgbClr val="FFFFFF"/>
                    </a:solidFill>
                  </a:tcPr>
                </a:tc>
                <a:tc>
                  <a:txBody>
                    <a:bodyPr/>
                    <a:lstStyle/>
                    <a:p>
                      <a:r>
                        <a:rPr sz="1050" b="0">
                          <a:solidFill>
                            <a:srgbClr val="1F2A44"/>
                          </a:solidFill>
                          <a:latin typeface="Calibri"/>
                        </a:rPr>
                        <a:t>Parlak beyaz ince hat</a:t>
                      </a:r>
                    </a:p>
                  </a:txBody>
                  <a:tcPr>
                    <a:solidFill>
                      <a:srgbClr val="FFFFFF"/>
                    </a:solidFill>
                  </a:tcPr>
                </a:tc>
                <a:tc>
                  <a:txBody>
                    <a:bodyPr/>
                    <a:lstStyle/>
                    <a:p>
                      <a:r>
                        <a:rPr sz="1050" b="0">
                          <a:solidFill>
                            <a:srgbClr val="1F2A44"/>
                          </a:solidFill>
                          <a:latin typeface="Calibri"/>
                        </a:rPr>
                        <a:t>Görülmez</a:t>
                      </a:r>
                    </a:p>
                  </a:txBody>
                  <a:tcPr>
                    <a:solidFill>
                      <a:srgbClr val="FFFFFF"/>
                    </a:solidFill>
                  </a:tcPr>
                </a:tc>
                <a:tc>
                  <a:txBody>
                    <a:bodyPr/>
                    <a:lstStyle/>
                    <a:p>
                      <a:r>
                        <a:rPr sz="1050" b="0">
                          <a:solidFill>
                            <a:srgbClr val="1F2A44"/>
                          </a:solidFill>
                          <a:latin typeface="Calibri"/>
                        </a:rPr>
                        <a:t>Orta / orta-parlak</a:t>
                      </a:r>
                    </a:p>
                  </a:txBody>
                  <a:tcPr>
                    <a:solidFill>
                      <a:srgbClr val="FFFFFF"/>
                    </a:solidFill>
                  </a:tcPr>
                </a:tc>
                <a:tc>
                  <a:txBody>
                    <a:bodyPr/>
                    <a:lstStyle/>
                    <a:p>
                      <a:r>
                        <a:rPr sz="1050" b="0">
                          <a:solidFill>
                            <a:srgbClr val="1F2A44"/>
                          </a:solidFill>
                          <a:latin typeface="Calibri"/>
                        </a:rPr>
                        <a:t>Anekoik ince bant</a:t>
                      </a:r>
                    </a:p>
                  </a:txBody>
                  <a:tcPr>
                    <a:solidFill>
                      <a:srgbClr val="FFFFFF"/>
                    </a:solidFill>
                  </a:tcPr>
                </a:tc>
              </a:tr>
            </a:tbl>
          </a:graphicData>
        </a:graphic>
      </p:graphicFrame>
      <p:sp>
        <p:nvSpPr>
          <p:cNvPr id="8" name="TextBox 7"/>
          <p:cNvSpPr txBox="1"/>
          <p:nvPr/>
        </p:nvSpPr>
        <p:spPr>
          <a:xfrm>
            <a:off x="274320" y="6053328"/>
            <a:ext cx="11612880" cy="347472"/>
          </a:xfrm>
          <a:prstGeom prst="rect">
            <a:avLst/>
          </a:prstGeom>
          <a:noFill/>
        </p:spPr>
        <p:txBody>
          <a:bodyPr wrap="square" anchor="t" lIns="45720" rIns="45720" tIns="18288" bIns="18288">
            <a:spAutoFit/>
          </a:bodyPr>
          <a:lstStyle/>
          <a:p>
            <a:pPr algn="l"/>
            <a:r>
              <a:rPr sz="1200" b="0" i="1">
                <a:solidFill>
                  <a:srgbClr val="555B66"/>
                </a:solidFill>
                <a:latin typeface="Calibri"/>
              </a:rPr>
              <a:t>Kriyokesitlerde mavi alanlar gömme ortamıdır (jelatin); bazı hava yolları/boşluklar da mavi jelle dolmuştur. Donmuş kadavra BT'sinde HU değerleri canlıdan biraz farklı olabilir.</a:t>
            </a:r>
          </a:p>
        </p:txBody>
      </p:sp>
      <p:cxnSp>
        <p:nvCxnSpPr>
          <p:cNvPr id="9" name="Connector 8"/>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standart anatomi bilgisi (Terminologia Anatomica).</a:t>
            </a:r>
          </a:p>
        </p:txBody>
      </p:sp>
      <p:sp>
        <p:nvSpPr>
          <p:cNvPr id="11" name="TextBox 10"/>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Veri kaynağı: Visible Human Male ve düzey eşleştirme</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Neden bu kriyokesit ve BT gerçekten 'aynı düzey'dir?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GİRİŞ</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KONU ANLATIMI</a:t>
            </a:r>
          </a:p>
        </p:txBody>
      </p:sp>
      <p:sp>
        <p:nvSpPr>
          <p:cNvPr id="7" name="TextBox 6"/>
          <p:cNvSpPr txBox="1"/>
          <p:nvPr/>
        </p:nvSpPr>
        <p:spPr>
          <a:xfrm>
            <a:off x="274320" y="1234440"/>
            <a:ext cx="6400800" cy="5074920"/>
          </a:xfrm>
          <a:prstGeom prst="rect">
            <a:avLst/>
          </a:prstGeom>
          <a:noFill/>
        </p:spPr>
        <p:txBody>
          <a:bodyPr wrap="square">
            <a:spAutoFit/>
          </a:bodyPr>
          <a:lstStyle/>
          <a:p>
            <a:pPr algn="l">
              <a:spcAft>
                <a:spcPts val="300"/>
              </a:spcAft>
            </a:pPr>
            <a:r>
              <a:rPr sz="1850" b="0" i="0">
                <a:solidFill>
                  <a:srgbClr val="1F2A44"/>
                </a:solidFill>
                <a:latin typeface="Calibri"/>
              </a:rPr>
              <a:t>• </a:t>
            </a:r>
            <a:r>
              <a:rPr sz="1850" b="0" i="0">
                <a:solidFill>
                  <a:srgbClr val="1F2A44"/>
                </a:solidFill>
                <a:latin typeface="Calibri"/>
              </a:rPr>
              <a:t>Visible Human Male:</a:t>
            </a:r>
            <a:r>
              <a:rPr sz="1850" b="0" i="0">
                <a:solidFill>
                  <a:srgbClr val="1F2A44"/>
                </a:solidFill>
                <a:latin typeface="Calibri"/>
              </a:rPr>
              <a:t> aynı kadavradan taze BT, MR, donmuş BT ve 1 mm aralıklı renkli kriyomakrotom kesitleri (2048×1216 piksel, 0,33 mm/piksel).</a:t>
            </a:r>
          </a:p>
          <a:p>
            <a:pPr algn="l">
              <a:spcAft>
                <a:spcPts val="300"/>
              </a:spcAft>
            </a:pPr>
            <a:r>
              <a:rPr sz="1850" b="0" i="0">
                <a:solidFill>
                  <a:srgbClr val="1F2A44"/>
                </a:solidFill>
                <a:latin typeface="Calibri"/>
              </a:rPr>
              <a:t>• NLM belgelerine göre anatomik kesitler 1 mm aralıklıdır ve </a:t>
            </a:r>
            <a:r>
              <a:rPr sz="1850" b="0" i="0">
                <a:solidFill>
                  <a:srgbClr val="1F2A44"/>
                </a:solidFill>
                <a:latin typeface="Calibri"/>
              </a:rPr>
              <a:t>BT aksiyel görüntüleriyle çakışır</a:t>
            </a:r>
            <a:r>
              <a:rPr sz="1850" b="0" i="0">
                <a:solidFill>
                  <a:srgbClr val="1F2A44"/>
                </a:solidFill>
                <a:latin typeface="Calibri"/>
              </a:rPr>
              <a:t>; kriyokesit a_vm#### ile donmuş BT c_vm####.fro aynı numarayı taşır. Özgün dosya adı DICOM etiketi (0009,1001)'de korunur → eşleştirme </a:t>
            </a:r>
            <a:r>
              <a:rPr sz="1850" b="0" i="0">
                <a:solidFill>
                  <a:srgbClr val="1F2A44"/>
                </a:solidFill>
                <a:latin typeface="Calibri"/>
              </a:rPr>
              <a:t>tahmin edilmemiştir</a:t>
            </a:r>
            <a:r>
              <a:rPr sz="1850" b="0" i="0">
                <a:solidFill>
                  <a:srgbClr val="1F2A44"/>
                </a:solidFill>
                <a:latin typeface="Calibri"/>
              </a:rPr>
              <a:t>.</a:t>
            </a:r>
          </a:p>
          <a:p>
            <a:pPr algn="l">
              <a:spcAft>
                <a:spcPts val="300"/>
              </a:spcAft>
            </a:pPr>
            <a:r>
              <a:rPr sz="1850" b="0" i="0">
                <a:solidFill>
                  <a:srgbClr val="1F2A44"/>
                </a:solidFill>
                <a:latin typeface="Calibri"/>
              </a:rPr>
              <a:t>• Düzlem içi hizalama: gövde maskelerinin çapraz korelasyonu + uzuv bölgesinde yerel arama (±12 BT pikseli). Kontrol: BT kemik konturları kriyokesitteki kemiklerle çakıştırılmıştır.</a:t>
            </a:r>
          </a:p>
          <a:p>
            <a:pPr algn="l">
              <a:spcAft>
                <a:spcPts val="300"/>
              </a:spcAft>
            </a:pPr>
            <a:r>
              <a:rPr sz="1850" b="0" i="0">
                <a:solidFill>
                  <a:srgbClr val="1F2A44"/>
                </a:solidFill>
                <a:latin typeface="Calibri"/>
              </a:rPr>
              <a:t>• </a:t>
            </a:r>
            <a:r>
              <a:rPr sz="1850" b="0" i="0">
                <a:solidFill>
                  <a:srgbClr val="1F2A44"/>
                </a:solidFill>
                <a:latin typeface="Calibri"/>
              </a:rPr>
              <a:t>Sınırlılık:</a:t>
            </a:r>
            <a:r>
              <a:rPr sz="1850" b="0" i="0">
                <a:solidFill>
                  <a:srgbClr val="1F2A44"/>
                </a:solidFill>
                <a:latin typeface="Calibri"/>
              </a:rPr>
              <a:t> donmuş BT görüş alanı 480 mm'dir; kol ortasından dirseğe kadar kol kısmen alan dışındadır – bu düzeylerde BT etiketlenmemiştir. VHP aksiyel MR yalnız başı kapsar; MR/US karşılıkları literatürden eklenmiştir.</a:t>
            </a:r>
          </a:p>
        </p:txBody>
      </p:sp>
      <p:pic>
        <p:nvPicPr>
          <p:cNvPr id="8" name="Picture 7" descr="scout_coronal_mip.png"/>
          <p:cNvPicPr>
            <a:picLocks noChangeAspect="1"/>
          </p:cNvPicPr>
          <p:nvPr/>
        </p:nvPicPr>
        <p:blipFill>
          <a:blip r:embed="rId2"/>
          <a:stretch>
            <a:fillRect/>
          </a:stretch>
        </p:blipFill>
        <p:spPr>
          <a:xfrm>
            <a:off x="8143713" y="1234440"/>
            <a:ext cx="2549213" cy="4754880"/>
          </a:xfrm>
          <a:prstGeom prst="rect">
            <a:avLst/>
          </a:prstGeom>
        </p:spPr>
      </p:pic>
      <p:sp>
        <p:nvSpPr>
          <p:cNvPr id="9" name="TextBox 8"/>
          <p:cNvSpPr txBox="1"/>
          <p:nvPr/>
        </p:nvSpPr>
        <p:spPr>
          <a:xfrm>
            <a:off x="7960833" y="5989320"/>
            <a:ext cx="2914973" cy="274320"/>
          </a:xfrm>
          <a:prstGeom prst="rect">
            <a:avLst/>
          </a:prstGeom>
          <a:noFill/>
        </p:spPr>
        <p:txBody>
          <a:bodyPr wrap="square" anchor="t" lIns="45720" rIns="45720" tIns="18288" bIns="18288">
            <a:spAutoFit/>
          </a:bodyPr>
          <a:lstStyle/>
          <a:p>
            <a:pPr algn="ctr"/>
            <a:r>
              <a:rPr sz="950" b="0" i="1">
                <a:solidFill>
                  <a:srgbClr val="555B66"/>
                </a:solidFill>
                <a:latin typeface="Calibri"/>
              </a:rPr>
              <a:t>Donmuş BT koronal MIP – sarı çizgiler: pilot kesit düzeyleri</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Görüntü: NLM Visible Human Project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Sağ üst ekstremite boyunca boylamsal kesit (eğri düzlemli reformat)</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311 kriyokesitten (2 mm aralık) yeniden oluşturulmuş gerçek veri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GİRİŞ</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pr_coronal_levels.jpg"/>
          <p:cNvPicPr>
            <a:picLocks noChangeAspect="1"/>
          </p:cNvPicPr>
          <p:nvPr/>
        </p:nvPicPr>
        <p:blipFill>
          <a:blip r:embed="rId2"/>
          <a:stretch>
            <a:fillRect/>
          </a:stretch>
        </p:blipFill>
        <p:spPr>
          <a:xfrm>
            <a:off x="1808706" y="1234440"/>
            <a:ext cx="1528853" cy="4800600"/>
          </a:xfrm>
          <a:prstGeom prst="rect">
            <a:avLst/>
          </a:prstGeom>
        </p:spPr>
      </p:pic>
      <p:sp>
        <p:nvSpPr>
          <p:cNvPr id="8" name="TextBox 7"/>
          <p:cNvSpPr txBox="1"/>
          <p:nvPr/>
        </p:nvSpPr>
        <p:spPr>
          <a:xfrm>
            <a:off x="1625826" y="6035040"/>
            <a:ext cx="1894613" cy="274320"/>
          </a:xfrm>
          <a:prstGeom prst="rect">
            <a:avLst/>
          </a:prstGeom>
          <a:noFill/>
        </p:spPr>
        <p:txBody>
          <a:bodyPr wrap="square" anchor="t" lIns="45720" rIns="45720" tIns="18288" bIns="18288">
            <a:spAutoFit/>
          </a:bodyPr>
          <a:lstStyle/>
          <a:p>
            <a:pPr algn="ctr"/>
            <a:r>
              <a:rPr sz="950" b="0" i="1">
                <a:solidFill>
                  <a:srgbClr val="555B66"/>
                </a:solidFill>
                <a:latin typeface="Calibri"/>
              </a:rPr>
              <a:t>Koronal benzeri (sol–sağ hat)</a:t>
            </a:r>
          </a:p>
        </p:txBody>
      </p:sp>
      <p:pic>
        <p:nvPicPr>
          <p:cNvPr id="9" name="Picture 8" descr="cpr_sagittal_levels.jpg"/>
          <p:cNvPicPr>
            <a:picLocks noChangeAspect="1"/>
          </p:cNvPicPr>
          <p:nvPr/>
        </p:nvPicPr>
        <p:blipFill>
          <a:blip r:embed="rId3"/>
          <a:stretch>
            <a:fillRect/>
          </a:stretch>
        </p:blipFill>
        <p:spPr>
          <a:xfrm>
            <a:off x="3474720" y="1234440"/>
            <a:ext cx="1528853" cy="4800600"/>
          </a:xfrm>
          <a:prstGeom prst="rect">
            <a:avLst/>
          </a:prstGeom>
        </p:spPr>
      </p:pic>
      <p:sp>
        <p:nvSpPr>
          <p:cNvPr id="10" name="TextBox 9"/>
          <p:cNvSpPr txBox="1"/>
          <p:nvPr/>
        </p:nvSpPr>
        <p:spPr>
          <a:xfrm>
            <a:off x="3291839" y="6035040"/>
            <a:ext cx="1894613" cy="274320"/>
          </a:xfrm>
          <a:prstGeom prst="rect">
            <a:avLst/>
          </a:prstGeom>
          <a:noFill/>
        </p:spPr>
        <p:txBody>
          <a:bodyPr wrap="square" anchor="t" lIns="45720" rIns="45720" tIns="18288" bIns="18288">
            <a:spAutoFit/>
          </a:bodyPr>
          <a:lstStyle/>
          <a:p>
            <a:pPr algn="ctr"/>
            <a:r>
              <a:rPr sz="950" b="0" i="1">
                <a:solidFill>
                  <a:srgbClr val="555B66"/>
                </a:solidFill>
                <a:latin typeface="Calibri"/>
              </a:rPr>
              <a:t>Sagital benzeri (ön–arka hat)</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1581912"/>
            <a:ext cx="5257800" cy="3651504"/>
          </a:xfrm>
          <a:prstGeom prst="rect">
            <a:avLst/>
          </a:prstGeom>
          <a:noFill/>
        </p:spPr>
        <p:txBody>
          <a:bodyPr wrap="square">
            <a:spAutoFit/>
          </a:bodyPr>
          <a:lstStyle/>
          <a:p>
            <a:pPr algn="l">
              <a:spcAft>
                <a:spcPts val="300"/>
              </a:spcAft>
            </a:pPr>
            <a:r>
              <a:rPr sz="1600" b="0" i="0">
                <a:solidFill>
                  <a:srgbClr val="1F2A44"/>
                </a:solidFill>
                <a:latin typeface="Calibri"/>
              </a:rPr>
              <a:t>• Her kesitte doğrulanmış kemik merkezleri (caput humeri, humerus, radius/ulna, karpal ve metakarpal kemikler) arasında çizilen yol boyunca örnekleme yapılmış ve satırlar üst üste dizilmiştir ('düzleştirilmiş CPR').</a:t>
            </a:r>
          </a:p>
          <a:p>
            <a:pPr algn="l">
              <a:spcAft>
                <a:spcPts val="300"/>
              </a:spcAft>
            </a:pPr>
            <a:r>
              <a:rPr sz="1600" b="0" i="0">
                <a:solidFill>
                  <a:srgbClr val="1F2A44"/>
                </a:solidFill>
                <a:latin typeface="Calibri"/>
              </a:rPr>
              <a:t>• Görülenler: </a:t>
            </a:r>
            <a:r>
              <a:rPr sz="1600" b="0" i="0">
                <a:solidFill>
                  <a:srgbClr val="1F2A44"/>
                </a:solidFill>
                <a:latin typeface="Calibri"/>
              </a:rPr>
              <a:t>caput humeri</a:t>
            </a:r>
            <a:r>
              <a:rPr sz="1600" b="0" i="0">
                <a:solidFill>
                  <a:srgbClr val="1F2A44"/>
                </a:solidFill>
                <a:latin typeface="Calibri"/>
              </a:rPr>
              <a:t> ve cavitas glenoidalis (1290–1340), </a:t>
            </a:r>
            <a:r>
              <a:rPr sz="1600" b="0" i="0">
                <a:solidFill>
                  <a:srgbClr val="1F2A44"/>
                </a:solidFill>
                <a:latin typeface="Calibri"/>
              </a:rPr>
              <a:t>humerus gövdesi</a:t>
            </a:r>
            <a:r>
              <a:rPr sz="1600" b="0" i="0">
                <a:solidFill>
                  <a:srgbClr val="1F2A44"/>
                </a:solidFill>
                <a:latin typeface="Calibri"/>
              </a:rPr>
              <a:t> ve çevresindeki kas kitleleri, </a:t>
            </a:r>
            <a:r>
              <a:rPr sz="1600" b="0" i="0">
                <a:solidFill>
                  <a:srgbClr val="1F2A44"/>
                </a:solidFill>
                <a:latin typeface="Calibri"/>
              </a:rPr>
              <a:t>dirsek eklem aralığı</a:t>
            </a:r>
            <a:r>
              <a:rPr sz="1600" b="0" i="0">
                <a:solidFill>
                  <a:srgbClr val="1F2A44"/>
                </a:solidFill>
                <a:latin typeface="Calibri"/>
              </a:rPr>
              <a:t> (≈1615), önkolda kemikler, </a:t>
            </a:r>
            <a:r>
              <a:rPr sz="1600" b="0" i="0">
                <a:solidFill>
                  <a:srgbClr val="1F2A44"/>
                </a:solidFill>
                <a:latin typeface="Calibri"/>
              </a:rPr>
              <a:t>karpal kemikler</a:t>
            </a:r>
            <a:r>
              <a:rPr sz="1600" b="0" i="0">
                <a:solidFill>
                  <a:srgbClr val="1F2A44"/>
                </a:solidFill>
                <a:latin typeface="Calibri"/>
              </a:rPr>
              <a:t> (≈1785–1800) ve el.</a:t>
            </a:r>
          </a:p>
          <a:p>
            <a:pPr algn="l">
              <a:spcAft>
                <a:spcPts val="300"/>
              </a:spcAft>
            </a:pPr>
            <a:r>
              <a:rPr sz="1600" b="0" i="0">
                <a:solidFill>
                  <a:srgbClr val="1F2A44"/>
                </a:solidFill>
                <a:latin typeface="Calibri"/>
              </a:rPr>
              <a:t>• Sarı çizgiler bu sunumda incelenen aksiyel düzeylerdir.</a:t>
            </a:r>
          </a:p>
          <a:p>
            <a:pPr algn="l">
              <a:spcAft>
                <a:spcPts val="300"/>
              </a:spcAft>
            </a:pPr>
            <a:r>
              <a:rPr sz="1600" b="0" i="0">
                <a:solidFill>
                  <a:srgbClr val="1F2A44"/>
                </a:solidFill>
                <a:latin typeface="Calibri"/>
              </a:rPr>
              <a:t>• Yatay süreksizlikler kadavranın kesitleme için bloklara ayrılmasından kaynaklanır (ör. ≈1500); eğri yolun düzleştirilmesi uzunlukları hafifçe bozar.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Görüntü: NLM Visible Human Project (NCI Imaging Data Commons, doi:10.5281/zenodo.12690049; NLM Terms and Conditions 2019). İşleme/kırpma: bu proje.</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1</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OMUZ</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Omuzun kesitsel anatomisi</a:t>
            </a:r>
          </a:p>
          <a:p>
            <a:pPr algn="l"/>
            <a:r>
              <a:rPr sz="1800" b="0" i="0">
                <a:solidFill>
                  <a:srgbClr val="C8D1E6"/>
                </a:solidFill>
                <a:latin typeface="Calibri"/>
              </a:rPr>
              <a:t>Art. humeri, rotator manşet, fossa axillaris</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Kesitsel okuma rehberi</a:t>
            </a:r>
          </a:p>
          <a:p>
            <a:pPr algn="l">
              <a:spcAft>
                <a:spcPts val="300"/>
              </a:spcAft>
            </a:pPr>
            <a:r>
              <a:rPr sz="1700" b="0" i="0">
                <a:solidFill>
                  <a:srgbClr val="FFFFFF"/>
                </a:solidFill>
                <a:latin typeface="Calibri"/>
              </a:rPr>
              <a:t>• VHP düzeyleri 1290 – 1320 – 1340</a:t>
            </a:r>
          </a:p>
          <a:p>
            <a:pPr algn="l">
              <a:spcAft>
                <a:spcPts val="300"/>
              </a:spcAft>
            </a:pPr>
            <a:r>
              <a:rPr sz="1700" b="0" i="0">
                <a:solidFill>
                  <a:srgbClr val="FFFFFF"/>
                </a:solidFill>
                <a:latin typeface="Calibri"/>
              </a:rPr>
              <a:t>• Plexus MR'ı, bağlar, US</a:t>
            </a:r>
          </a:p>
          <a:p>
            <a:pPr algn="l">
              <a:spcAft>
                <a:spcPts val="300"/>
              </a:spcAft>
            </a:pPr>
            <a:r>
              <a:rPr sz="1700" b="0" i="0">
                <a:solidFill>
                  <a:srgbClr val="FFFFFF"/>
                </a:solidFill>
                <a:latin typeface="Calibri"/>
              </a:rPr>
              <a:t>• Görüntüleme varyasyonları: os acromiale, Buford, incisura, plexus</a:t>
            </a:r>
          </a:p>
        </p:txBody>
      </p:sp>
      <p:pic>
        <p:nvPicPr>
          <p:cNvPr id="7" name="Picture 6" descr="cryo_1320_R.jpg"/>
          <p:cNvPicPr>
            <a:picLocks noChangeAspect="1"/>
          </p:cNvPicPr>
          <p:nvPr/>
        </p:nvPicPr>
        <p:blipFill>
          <a:blip r:embed="rId2"/>
          <a:stretch>
            <a:fillRect/>
          </a:stretch>
        </p:blipFill>
        <p:spPr>
          <a:xfrm>
            <a:off x="7833361" y="365760"/>
            <a:ext cx="3078477" cy="2578224"/>
          </a:xfrm>
          <a:prstGeom prst="rect">
            <a:avLst/>
          </a:prstGeom>
        </p:spPr>
      </p:pic>
      <p:sp>
        <p:nvSpPr>
          <p:cNvPr id="8" name="TextBox 7"/>
          <p:cNvSpPr txBox="1"/>
          <p:nvPr/>
        </p:nvSpPr>
        <p:spPr>
          <a:xfrm>
            <a:off x="7650481" y="2943984"/>
            <a:ext cx="3444237"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kriyokesit 1320</a:t>
            </a:r>
          </a:p>
        </p:txBody>
      </p:sp>
      <p:pic>
        <p:nvPicPr>
          <p:cNvPr id="9" name="Picture 8" descr="gr5.jpg"/>
          <p:cNvPicPr>
            <a:picLocks noChangeAspect="1"/>
          </p:cNvPicPr>
          <p:nvPr/>
        </p:nvPicPr>
        <p:blipFill>
          <a:blip r:embed="rId3"/>
          <a:stretch>
            <a:fillRect/>
          </a:stretch>
        </p:blipFill>
        <p:spPr>
          <a:xfrm>
            <a:off x="7833361" y="3218304"/>
            <a:ext cx="3078477" cy="2633855"/>
          </a:xfrm>
          <a:prstGeom prst="rect">
            <a:avLst/>
          </a:prstGeom>
        </p:spPr>
      </p:pic>
      <p:sp>
        <p:nvSpPr>
          <p:cNvPr id="10" name="TextBox 9"/>
          <p:cNvSpPr txBox="1"/>
          <p:nvPr/>
        </p:nvSpPr>
        <p:spPr>
          <a:xfrm>
            <a:off x="7650481" y="5852159"/>
            <a:ext cx="344423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5 – Szaro Pawel ve ark., 2021 (PMC8695258, CC BY)</a:t>
            </a:r>
          </a:p>
        </p:txBody>
      </p:sp>
      <p:sp>
        <p:nvSpPr>
          <p:cNvPr id="11" name="TextBox 10"/>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Görüntü: NLM Visible Human Project (NCI Imaging Data Commons, doi:10.5281/zenodo.12690049; NLM Terms and Conditions 2019). İşleme/kırpma: bu proje.  •  Szaro Pawel, McGrath Alexandra, Ciszek Bogdan et al. Magnetic resonance imaging of the brachial plexus. Part 1: Anatomical considerations, magnetic resonance techniques, and non-traumatic lesions. Eur J Radiol Open. 2021 Dec 20;9:100392. doi: 10.1016/j.ejro.2021.100392 PMCID: PMC8695258.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kesitlerini okumak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Caput humeri'den aksillaya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Omuz kesitlerinde yönümüzü bulmak için caput humeri ve scapula'yı kullanırız. Caput humeri'nin hemen medialinde sığ glenoid yüzey, onun önünde m. subscapularis, arkasında ise m. infraspinatus ve m. teres minor yer alır. Daha üst kesitlerde spina scapulae'nin önünde m. supraspinatus görülür. Bu düzen, MR'da rotator manşet yırtıklarını değerlendirirken temel referansımızdır.</a:t>
            </a:r>
          </a:p>
          <a:p>
            <a:pPr algn="l">
              <a:lnSpc>
                <a:spcPct val="108000"/>
              </a:lnSpc>
              <a:spcAft>
                <a:spcPts val="900"/>
              </a:spcAft>
            </a:pPr>
            <a:r>
              <a:rPr sz="2000" b="0" i="0">
                <a:solidFill>
                  <a:srgbClr val="1F2A44"/>
                </a:solidFill>
                <a:latin typeface="Calibri"/>
              </a:rPr>
              <a:t>Biraz daha aşağı indiğimizde humerus'un boyun bölgesine ve aksillaya ulaşırız. Aksillanın ön duvarını pektoral kaslar, arka duvarını m. subscapularis oluşturur; aradaki yağ dokusunda a./v. axillaris ve plexus brachialis'in fasikülleri bulunur. Kriyokesitlerde damarlar boş lümenleri sayesinde siyah olarak seçilir.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Omuzun kesitsel anatomisi – okuma rehberi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Aksiyel kesit ve MR düzlemleri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KONU ANLATIMI</a:t>
            </a:r>
          </a:p>
        </p:txBody>
      </p:sp>
      <p:sp>
        <p:nvSpPr>
          <p:cNvPr id="7" name="TextBox 6"/>
          <p:cNvSpPr txBox="1"/>
          <p:nvPr/>
        </p:nvSpPr>
        <p:spPr>
          <a:xfrm>
            <a:off x="274320" y="1234440"/>
            <a:ext cx="6400800" cy="5074920"/>
          </a:xfrm>
          <a:prstGeom prst="rect">
            <a:avLst/>
          </a:prstGeom>
          <a:noFill/>
        </p:spPr>
        <p:txBody>
          <a:bodyPr wrap="square">
            <a:spAutoFit/>
          </a:bodyPr>
          <a:lstStyle/>
          <a:p>
            <a:pPr algn="l">
              <a:spcAft>
                <a:spcPts val="300"/>
              </a:spcAft>
            </a:pPr>
            <a:r>
              <a:rPr sz="1800" b="0" i="0">
                <a:solidFill>
                  <a:srgbClr val="1F2A44"/>
                </a:solidFill>
                <a:latin typeface="Calibri"/>
              </a:rPr>
              <a:t>• </a:t>
            </a:r>
            <a:r>
              <a:rPr sz="1800" b="0" i="0">
                <a:solidFill>
                  <a:srgbClr val="1F2A44"/>
                </a:solidFill>
                <a:latin typeface="Calibri"/>
              </a:rPr>
              <a:t>Aksiyel:</a:t>
            </a:r>
            <a:r>
              <a:rPr sz="1800" b="0" i="0">
                <a:solidFill>
                  <a:srgbClr val="1F2A44"/>
                </a:solidFill>
                <a:latin typeface="Calibri"/>
              </a:rPr>
              <a:t> caput humeri ile cavitas glenoidalis ilişkisi; önde m. subscapularis, arkada m. infraspinatus ve m. teres minor, dışta m. deltoideus. Labrum glenoidale önde ve arkada üçgen sinyalsiz yapı olarak izlenir.</a:t>
            </a:r>
          </a:p>
          <a:p>
            <a:pPr algn="l">
              <a:spcAft>
                <a:spcPts val="300"/>
              </a:spcAft>
            </a:pPr>
            <a:r>
              <a:rPr sz="1800" b="0" i="0">
                <a:solidFill>
                  <a:srgbClr val="1F2A44"/>
                </a:solidFill>
                <a:latin typeface="Calibri"/>
              </a:rPr>
              <a:t>• </a:t>
            </a:r>
            <a:r>
              <a:rPr sz="1800" b="0" i="0">
                <a:solidFill>
                  <a:srgbClr val="1F2A44"/>
                </a:solidFill>
                <a:latin typeface="Calibri"/>
              </a:rPr>
              <a:t>Koronal oblik (supraspinatus'a paralel):</a:t>
            </a:r>
            <a:r>
              <a:rPr sz="1800" b="0" i="0">
                <a:solidFill>
                  <a:srgbClr val="1F2A44"/>
                </a:solidFill>
                <a:latin typeface="Calibri"/>
              </a:rPr>
              <a:t> m. supraspinatus ve tendonu, arcus coracoacromialis ve subakromiyal boşluk en iyi bu düzlemde değerlendirilir.</a:t>
            </a:r>
          </a:p>
          <a:p>
            <a:pPr algn="l">
              <a:spcAft>
                <a:spcPts val="300"/>
              </a:spcAft>
            </a:pPr>
            <a:r>
              <a:rPr sz="1800" b="0" i="0">
                <a:solidFill>
                  <a:srgbClr val="1F2A44"/>
                </a:solidFill>
                <a:latin typeface="Calibri"/>
              </a:rPr>
              <a:t>• </a:t>
            </a:r>
            <a:r>
              <a:rPr sz="1800" b="0" i="0">
                <a:solidFill>
                  <a:srgbClr val="1F2A44"/>
                </a:solidFill>
                <a:latin typeface="Calibri"/>
              </a:rPr>
              <a:t>Sagital oblik (glenoide paralel):</a:t>
            </a:r>
            <a:r>
              <a:rPr sz="1800" b="0" i="0">
                <a:solidFill>
                  <a:srgbClr val="1F2A44"/>
                </a:solidFill>
                <a:latin typeface="Calibri"/>
              </a:rPr>
              <a:t> rotator manşet kaslarının 'Y' dizilimi, ligg. glenohumeralia ve recessus axillaris.</a:t>
            </a:r>
          </a:p>
          <a:p>
            <a:pPr algn="l">
              <a:spcAft>
                <a:spcPts val="300"/>
              </a:spcAft>
            </a:pPr>
            <a:r>
              <a:rPr sz="1800" b="0" i="0">
                <a:solidFill>
                  <a:srgbClr val="1F2A44"/>
                </a:solidFill>
                <a:latin typeface="Calibri"/>
              </a:rPr>
              <a:t>• </a:t>
            </a:r>
            <a:r>
              <a:rPr sz="1800" b="0" i="0">
                <a:solidFill>
                  <a:srgbClr val="1F2A44"/>
                </a:solidFill>
                <a:latin typeface="Calibri"/>
              </a:rPr>
              <a:t>Aksilla:</a:t>
            </a:r>
            <a:r>
              <a:rPr sz="1800" b="0" i="0">
                <a:solidFill>
                  <a:srgbClr val="1F2A44"/>
                </a:solidFill>
                <a:latin typeface="Calibri"/>
              </a:rPr>
              <a:t> a./v. axillaris ve plexus brachialis m. pectoralis minor'ün arkasında; MR nörografi kökleri, trunkusları ve fasikülleri gösterir.</a:t>
            </a:r>
          </a:p>
          <a:p>
            <a:pPr algn="l">
              <a:spcAft>
                <a:spcPts val="300"/>
              </a:spcAft>
            </a:pPr>
            <a:r>
              <a:rPr sz="1800" b="0" i="0">
                <a:solidFill>
                  <a:srgbClr val="1F2A44"/>
                </a:solidFill>
                <a:latin typeface="Calibri"/>
              </a:rPr>
              <a:t>• </a:t>
            </a:r>
            <a:r>
              <a:rPr sz="1800" b="0" i="0">
                <a:solidFill>
                  <a:srgbClr val="1F2A44"/>
                </a:solidFill>
                <a:latin typeface="Calibri"/>
              </a:rPr>
              <a:t>Ultrason:</a:t>
            </a:r>
            <a:r>
              <a:rPr sz="1800" b="0" i="0">
                <a:solidFill>
                  <a:srgbClr val="1F2A44"/>
                </a:solidFill>
                <a:latin typeface="Calibri"/>
              </a:rPr>
              <a:t> rotator manşet tendonları fibriler hiperekoik bantlar olarak caput humeri'nin üzerinde izlenir; plexus trunkusları interskalen bölgede 'trafik lambası' dizilimiyle görülür.</a:t>
            </a:r>
          </a:p>
        </p:txBody>
      </p:sp>
      <p:pic>
        <p:nvPicPr>
          <p:cNvPr id="8" name="Picture 7" descr="cryo_1320_R.jpg"/>
          <p:cNvPicPr>
            <a:picLocks noChangeAspect="1"/>
          </p:cNvPicPr>
          <p:nvPr/>
        </p:nvPicPr>
        <p:blipFill>
          <a:blip r:embed="rId2"/>
          <a:stretch>
            <a:fillRect/>
          </a:stretch>
        </p:blipFill>
        <p:spPr>
          <a:xfrm>
            <a:off x="6903720" y="1505902"/>
            <a:ext cx="5029200" cy="4211955"/>
          </a:xfrm>
          <a:prstGeom prst="rect">
            <a:avLst/>
          </a:prstGeom>
        </p:spPr>
      </p:pic>
      <p:sp>
        <p:nvSpPr>
          <p:cNvPr id="9" name="TextBox 8"/>
          <p:cNvSpPr txBox="1"/>
          <p:nvPr/>
        </p:nvSpPr>
        <p:spPr>
          <a:xfrm>
            <a:off x="6720840" y="5717857"/>
            <a:ext cx="5394960"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kesit 1320</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Görüntü: NLM Visible Human Project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 akromiyon / spina scapulae düzeyi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Caput humeri'nin hemen üstü – NLM kesit no. 1290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290_R.jpg"/>
          <p:cNvPicPr>
            <a:picLocks noChangeAspect="1"/>
          </p:cNvPicPr>
          <p:nvPr/>
        </p:nvPicPr>
        <p:blipFill>
          <a:blip r:embed="rId2"/>
          <a:stretch>
            <a:fillRect/>
          </a:stretch>
        </p:blipFill>
        <p:spPr>
          <a:xfrm>
            <a:off x="2194560" y="1856670"/>
            <a:ext cx="3749039" cy="2824619"/>
          </a:xfrm>
          <a:prstGeom prst="rect">
            <a:avLst/>
          </a:prstGeom>
        </p:spPr>
      </p:pic>
      <p:sp>
        <p:nvSpPr>
          <p:cNvPr id="8" name="TextBox 7"/>
          <p:cNvSpPr txBox="1"/>
          <p:nvPr/>
        </p:nvSpPr>
        <p:spPr>
          <a:xfrm>
            <a:off x="2011679" y="4699577"/>
            <a:ext cx="411480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168771"/>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deltoideus</a:t>
            </a:r>
          </a:p>
        </p:txBody>
      </p:sp>
      <p:cxnSp>
        <p:nvCxnSpPr>
          <p:cNvPr id="10" name="Connector 9"/>
          <p:cNvCxnSpPr/>
          <p:nvPr/>
        </p:nvCxnSpPr>
        <p:spPr>
          <a:xfrm>
            <a:off x="2103120" y="3397371"/>
            <a:ext cx="50229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564265" y="335622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680835"/>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Spina scapulae</a:t>
            </a:r>
          </a:p>
        </p:txBody>
      </p:sp>
      <p:cxnSp>
        <p:nvCxnSpPr>
          <p:cNvPr id="13" name="Connector 12"/>
          <p:cNvCxnSpPr/>
          <p:nvPr/>
        </p:nvCxnSpPr>
        <p:spPr>
          <a:xfrm flipV="1">
            <a:off x="2103120" y="3643884"/>
            <a:ext cx="1226423" cy="265551"/>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288395" y="360273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2567898"/>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Clavicula (lateral uç)</a:t>
            </a:r>
          </a:p>
        </p:txBody>
      </p:sp>
      <p:cxnSp>
        <p:nvCxnSpPr>
          <p:cNvPr id="16" name="Connector 15"/>
          <p:cNvCxnSpPr/>
          <p:nvPr/>
        </p:nvCxnSpPr>
        <p:spPr>
          <a:xfrm flipH="1">
            <a:off x="4161522" y="2796498"/>
            <a:ext cx="187351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120374" y="275535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168771"/>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supraspinatus</a:t>
            </a:r>
          </a:p>
        </p:txBody>
      </p:sp>
      <p:cxnSp>
        <p:nvCxnSpPr>
          <p:cNvPr id="19" name="Connector 18"/>
          <p:cNvCxnSpPr/>
          <p:nvPr/>
        </p:nvCxnSpPr>
        <p:spPr>
          <a:xfrm flipH="1">
            <a:off x="3889331" y="3397371"/>
            <a:ext cx="214570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848183" y="335622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4093192"/>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trapezius</a:t>
            </a:r>
          </a:p>
        </p:txBody>
      </p:sp>
      <p:cxnSp>
        <p:nvCxnSpPr>
          <p:cNvPr id="22" name="Connector 21"/>
          <p:cNvCxnSpPr/>
          <p:nvPr/>
        </p:nvCxnSpPr>
        <p:spPr>
          <a:xfrm flipH="1">
            <a:off x="4762395" y="4321792"/>
            <a:ext cx="127264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721247" y="428064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t_1290_R.png"/>
          <p:cNvPicPr>
            <a:picLocks noChangeAspect="1"/>
          </p:cNvPicPr>
          <p:nvPr/>
        </p:nvPicPr>
        <p:blipFill>
          <a:blip r:embed="rId3"/>
          <a:stretch>
            <a:fillRect/>
          </a:stretch>
        </p:blipFill>
        <p:spPr>
          <a:xfrm>
            <a:off x="8229600" y="2425038"/>
            <a:ext cx="2240280" cy="1687882"/>
          </a:xfrm>
          <a:prstGeom prst="rect">
            <a:avLst/>
          </a:prstGeom>
        </p:spPr>
      </p:pic>
      <p:sp>
        <p:nvSpPr>
          <p:cNvPr id="25" name="TextBox 24"/>
          <p:cNvSpPr txBox="1"/>
          <p:nvPr/>
        </p:nvSpPr>
        <p:spPr>
          <a:xfrm>
            <a:off x="8046720" y="4131209"/>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6" name="TextBox 25"/>
          <p:cNvSpPr txBox="1"/>
          <p:nvPr/>
        </p:nvSpPr>
        <p:spPr>
          <a:xfrm>
            <a:off x="10561320" y="2758043"/>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Clavicula</a:t>
            </a:r>
          </a:p>
        </p:txBody>
      </p:sp>
      <p:cxnSp>
        <p:nvCxnSpPr>
          <p:cNvPr id="27" name="Connector 26"/>
          <p:cNvCxnSpPr/>
          <p:nvPr/>
        </p:nvCxnSpPr>
        <p:spPr>
          <a:xfrm flipH="1">
            <a:off x="9404979" y="2986643"/>
            <a:ext cx="115634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363831" y="294549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61320" y="3270107"/>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Spina scapulae</a:t>
            </a:r>
          </a:p>
        </p:txBody>
      </p:sp>
      <p:cxnSp>
        <p:nvCxnSpPr>
          <p:cNvPr id="30" name="Connector 29"/>
          <p:cNvCxnSpPr/>
          <p:nvPr/>
        </p:nvCxnSpPr>
        <p:spPr>
          <a:xfrm flipH="1" flipV="1">
            <a:off x="8907821" y="3493008"/>
            <a:ext cx="1653499" cy="5699"/>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8866673" y="345186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oc_1290.jpg"/>
          <p:cNvPicPr>
            <a:picLocks noChangeAspect="1"/>
          </p:cNvPicPr>
          <p:nvPr/>
        </p:nvPicPr>
        <p:blipFill>
          <a:blip r:embed="rId4"/>
          <a:stretch>
            <a:fillRect/>
          </a:stretch>
        </p:blipFill>
        <p:spPr>
          <a:xfrm>
            <a:off x="10515600" y="1240131"/>
            <a:ext cx="1554480" cy="903017"/>
          </a:xfrm>
          <a:prstGeom prst="rect">
            <a:avLst/>
          </a:prstGeom>
        </p:spPr>
      </p:pic>
      <p:sp>
        <p:nvSpPr>
          <p:cNvPr id="33" name="TextBox 32"/>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34" name="TextBox 33"/>
          <p:cNvSpPr txBox="1"/>
          <p:nvPr/>
        </p:nvSpPr>
        <p:spPr>
          <a:xfrm>
            <a:off x="274320" y="5623560"/>
            <a:ext cx="11704320" cy="777240"/>
          </a:xfrm>
          <a:prstGeom prst="rect">
            <a:avLst/>
          </a:prstGeom>
          <a:noFill/>
        </p:spPr>
        <p:txBody>
          <a:bodyPr wrap="square">
            <a:spAutoFit/>
          </a:bodyPr>
          <a:lstStyle/>
          <a:p>
            <a:pPr algn="l">
              <a:spcAft>
                <a:spcPts val="300"/>
              </a:spcAft>
            </a:pPr>
            <a:r>
              <a:rPr sz="1450" b="0" i="0">
                <a:solidFill>
                  <a:srgbClr val="1F2A44"/>
                </a:solidFill>
                <a:latin typeface="Calibri"/>
              </a:rPr>
              <a:t>• M. supraspinatus fossa supraspinata'yı doldurur; tendonu arcus coracoacromialis'in altından geçer.</a:t>
            </a:r>
          </a:p>
          <a:p>
            <a:pPr algn="l">
              <a:spcAft>
                <a:spcPts val="300"/>
              </a:spcAft>
            </a:pPr>
            <a:r>
              <a:rPr sz="1450" b="0" i="0">
                <a:solidFill>
                  <a:srgbClr val="1F2A44"/>
                </a:solidFill>
                <a:latin typeface="Calibri"/>
              </a:rPr>
              <a:t>• Bu düzeyde spina scapulae ve clavicula'nın lateral ucu art. acromioclavicularis'e yaklaşır; M. trapezius arkada yüzeyeldir.</a:t>
            </a:r>
          </a:p>
        </p:txBody>
      </p:sp>
      <p:cxnSp>
        <p:nvCxnSpPr>
          <p:cNvPr id="35" name="Connector 3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a_vm1290, donmuş BT c_vm1290.fro); NCI Imaging Data Commons (doi:10.5281/zenodo.12690049); NLM Terms and Conditions (2019). Yönelim: radyolojik (ön yukarıda, hastanın sağı solda); sağ üst ekstremite.</a:t>
            </a:r>
          </a:p>
        </p:txBody>
      </p:sp>
      <p:sp>
        <p:nvSpPr>
          <p:cNvPr id="37" name="TextBox 3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 articulatio humeri (caput humeri düzeyi)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Rotator manşetin kesitteki dizilimi – NLM kesit no. 1320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320_R.jpg"/>
          <p:cNvPicPr>
            <a:picLocks noChangeAspect="1"/>
          </p:cNvPicPr>
          <p:nvPr/>
        </p:nvPicPr>
        <p:blipFill>
          <a:blip r:embed="rId2"/>
          <a:stretch>
            <a:fillRect/>
          </a:stretch>
        </p:blipFill>
        <p:spPr>
          <a:xfrm>
            <a:off x="2194560" y="1699069"/>
            <a:ext cx="3749039" cy="3139820"/>
          </a:xfrm>
          <a:prstGeom prst="rect">
            <a:avLst/>
          </a:prstGeom>
        </p:spPr>
      </p:pic>
      <p:sp>
        <p:nvSpPr>
          <p:cNvPr id="8" name="TextBox 7"/>
          <p:cNvSpPr txBox="1"/>
          <p:nvPr/>
        </p:nvSpPr>
        <p:spPr>
          <a:xfrm>
            <a:off x="2011679" y="4857178"/>
            <a:ext cx="411480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665476"/>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Caput humeri</a:t>
            </a:r>
          </a:p>
        </p:txBody>
      </p:sp>
      <p:cxnSp>
        <p:nvCxnSpPr>
          <p:cNvPr id="10" name="Connector 9"/>
          <p:cNvCxnSpPr/>
          <p:nvPr/>
        </p:nvCxnSpPr>
        <p:spPr>
          <a:xfrm>
            <a:off x="2103120" y="2894076"/>
            <a:ext cx="122552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287496" y="285292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177540"/>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deltoideus</a:t>
            </a:r>
          </a:p>
        </p:txBody>
      </p:sp>
      <p:cxnSp>
        <p:nvCxnSpPr>
          <p:cNvPr id="13" name="Connector 12"/>
          <p:cNvCxnSpPr/>
          <p:nvPr/>
        </p:nvCxnSpPr>
        <p:spPr>
          <a:xfrm flipV="1">
            <a:off x="2103120" y="3147136"/>
            <a:ext cx="517893" cy="25900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579865" y="310598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855796"/>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infraspinatus</a:t>
            </a:r>
          </a:p>
        </p:txBody>
      </p:sp>
      <p:cxnSp>
        <p:nvCxnSpPr>
          <p:cNvPr id="16" name="Connector 15"/>
          <p:cNvCxnSpPr/>
          <p:nvPr/>
        </p:nvCxnSpPr>
        <p:spPr>
          <a:xfrm>
            <a:off x="2103120" y="4084396"/>
            <a:ext cx="164260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704577" y="404324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1934413"/>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pectoralis major</a:t>
            </a:r>
          </a:p>
        </p:txBody>
      </p:sp>
      <p:cxnSp>
        <p:nvCxnSpPr>
          <p:cNvPr id="19" name="Connector 18"/>
          <p:cNvCxnSpPr/>
          <p:nvPr/>
        </p:nvCxnSpPr>
        <p:spPr>
          <a:xfrm flipH="1">
            <a:off x="4308081" y="2163013"/>
            <a:ext cx="172695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266933" y="212186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2446477"/>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Clavicula</a:t>
            </a:r>
          </a:p>
        </p:txBody>
      </p:sp>
      <p:cxnSp>
        <p:nvCxnSpPr>
          <p:cNvPr id="22" name="Connector 21"/>
          <p:cNvCxnSpPr/>
          <p:nvPr/>
        </p:nvCxnSpPr>
        <p:spPr>
          <a:xfrm flipH="1" flipV="1">
            <a:off x="5151615" y="2411387"/>
            <a:ext cx="883425" cy="26369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110467" y="237023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2958541"/>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Pulmo dexter (apex)</a:t>
            </a:r>
          </a:p>
        </p:txBody>
      </p:sp>
      <p:cxnSp>
        <p:nvCxnSpPr>
          <p:cNvPr id="25" name="Connector 24"/>
          <p:cNvCxnSpPr/>
          <p:nvPr/>
        </p:nvCxnSpPr>
        <p:spPr>
          <a:xfrm flipH="1" flipV="1">
            <a:off x="5198478" y="3147136"/>
            <a:ext cx="836562" cy="40005"/>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157330" y="310598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3470605"/>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subscapularis</a:t>
            </a:r>
          </a:p>
        </p:txBody>
      </p:sp>
      <p:cxnSp>
        <p:nvCxnSpPr>
          <p:cNvPr id="28" name="Connector 27"/>
          <p:cNvCxnSpPr/>
          <p:nvPr/>
        </p:nvCxnSpPr>
        <p:spPr>
          <a:xfrm flipH="1" flipV="1">
            <a:off x="4214355" y="3287725"/>
            <a:ext cx="1820685" cy="41148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173207" y="324657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0" y="3982669"/>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Scapula</a:t>
            </a:r>
          </a:p>
        </p:txBody>
      </p:sp>
      <p:cxnSp>
        <p:nvCxnSpPr>
          <p:cNvPr id="31" name="Connector 30"/>
          <p:cNvCxnSpPr/>
          <p:nvPr/>
        </p:nvCxnSpPr>
        <p:spPr>
          <a:xfrm flipH="1" flipV="1">
            <a:off x="4167492" y="3817277"/>
            <a:ext cx="1867548" cy="393992"/>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4126344" y="377612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t_1320_R.png"/>
          <p:cNvPicPr>
            <a:picLocks noChangeAspect="1"/>
          </p:cNvPicPr>
          <p:nvPr/>
        </p:nvPicPr>
        <p:blipFill>
          <a:blip r:embed="rId3"/>
          <a:stretch>
            <a:fillRect/>
          </a:stretch>
        </p:blipFill>
        <p:spPr>
          <a:xfrm>
            <a:off x="8229600" y="2330862"/>
            <a:ext cx="2240280" cy="1876234"/>
          </a:xfrm>
          <a:prstGeom prst="rect">
            <a:avLst/>
          </a:prstGeom>
        </p:spPr>
      </p:pic>
      <p:sp>
        <p:nvSpPr>
          <p:cNvPr id="34" name="TextBox 33"/>
          <p:cNvSpPr txBox="1"/>
          <p:nvPr/>
        </p:nvSpPr>
        <p:spPr>
          <a:xfrm>
            <a:off x="8046720" y="4225385"/>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35" name="TextBox 34"/>
          <p:cNvSpPr txBox="1"/>
          <p:nvPr/>
        </p:nvSpPr>
        <p:spPr>
          <a:xfrm>
            <a:off x="10561320" y="2527915"/>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Clavicula</a:t>
            </a:r>
          </a:p>
        </p:txBody>
      </p:sp>
      <p:cxnSp>
        <p:nvCxnSpPr>
          <p:cNvPr id="36" name="Connector 35"/>
          <p:cNvCxnSpPr/>
          <p:nvPr/>
        </p:nvCxnSpPr>
        <p:spPr>
          <a:xfrm flipH="1">
            <a:off x="9996620" y="2756515"/>
            <a:ext cx="56470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9955472" y="271536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61320" y="3039979"/>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Caput humeri</a:t>
            </a:r>
          </a:p>
        </p:txBody>
      </p:sp>
      <p:cxnSp>
        <p:nvCxnSpPr>
          <p:cNvPr id="39" name="Connector 38"/>
          <p:cNvCxnSpPr/>
          <p:nvPr/>
        </p:nvCxnSpPr>
        <p:spPr>
          <a:xfrm flipH="1" flipV="1">
            <a:off x="8772867" y="3070155"/>
            <a:ext cx="1788453" cy="19842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731719" y="302900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61320" y="3552043"/>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Scapula</a:t>
            </a:r>
          </a:p>
        </p:txBody>
      </p:sp>
      <p:cxnSp>
        <p:nvCxnSpPr>
          <p:cNvPr id="42" name="Connector 41"/>
          <p:cNvCxnSpPr/>
          <p:nvPr/>
        </p:nvCxnSpPr>
        <p:spPr>
          <a:xfrm flipH="1" flipV="1">
            <a:off x="9414148" y="3596620"/>
            <a:ext cx="1147172" cy="184023"/>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9373000" y="355547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loc_1320.jpg"/>
          <p:cNvPicPr>
            <a:picLocks noChangeAspect="1"/>
          </p:cNvPicPr>
          <p:nvPr/>
        </p:nvPicPr>
        <p:blipFill>
          <a:blip r:embed="rId4"/>
          <a:stretch>
            <a:fillRect/>
          </a:stretch>
        </p:blipFill>
        <p:spPr>
          <a:xfrm>
            <a:off x="10515600" y="1240131"/>
            <a:ext cx="1554480" cy="903017"/>
          </a:xfrm>
          <a:prstGeom prst="rect">
            <a:avLst/>
          </a:prstGeom>
        </p:spPr>
      </p:pic>
      <p:sp>
        <p:nvSpPr>
          <p:cNvPr id="45" name="TextBox 44"/>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46" name="TextBox 45"/>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Caput humeri ile sığ cavitas glenoidalis arasındaki küçük temas yüzeyi → geniş hareket, </a:t>
            </a:r>
            <a:r>
              <a:rPr sz="1500" b="0" i="0">
                <a:solidFill>
                  <a:srgbClr val="1F2A44"/>
                </a:solidFill>
                <a:latin typeface="Calibri"/>
              </a:rPr>
              <a:t>instabiliteye yatkınlık</a:t>
            </a:r>
            <a:r>
              <a:rPr sz="1500" b="0" i="0">
                <a:solidFill>
                  <a:srgbClr val="1F2A44"/>
                </a:solidFill>
                <a:latin typeface="Calibri"/>
              </a:rPr>
              <a:t>.</a:t>
            </a:r>
          </a:p>
          <a:p>
            <a:pPr algn="l">
              <a:spcAft>
                <a:spcPts val="300"/>
              </a:spcAft>
            </a:pPr>
            <a:r>
              <a:rPr sz="1500" b="0" i="0">
                <a:solidFill>
                  <a:srgbClr val="1F2A44"/>
                </a:solidFill>
                <a:latin typeface="Calibri"/>
              </a:rPr>
              <a:t>• M. subscapularis scapula'nın önünde, m. infraspinatus arkasında; m. deltoideus eklemi dıştan sarar.</a:t>
            </a:r>
          </a:p>
        </p:txBody>
      </p:sp>
      <p:cxnSp>
        <p:nvCxnSpPr>
          <p:cNvPr id="47" name="Connector 4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a_vm1320, donmuş BT c_vm1320.fro); NCI Imaging Data Commons (doi:10.5281/zenodo.12690049); NLM Terms and Conditions (2019). Yönelim: radyolojik (ön yukarıda, hastanın sağı solda); sağ üst ekstremite.</a:t>
            </a:r>
          </a:p>
        </p:txBody>
      </p:sp>
      <p:sp>
        <p:nvSpPr>
          <p:cNvPr id="49" name="TextBox 48"/>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 collum chirurgicum ve fossa axillaris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Aksillanın duvarları ve içeriği – NLM kesit no. 1340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340_R.jpg"/>
          <p:cNvPicPr>
            <a:picLocks noChangeAspect="1"/>
          </p:cNvPicPr>
          <p:nvPr/>
        </p:nvPicPr>
        <p:blipFill>
          <a:blip r:embed="rId2"/>
          <a:stretch>
            <a:fillRect/>
          </a:stretch>
        </p:blipFill>
        <p:spPr>
          <a:xfrm>
            <a:off x="2194560" y="1594408"/>
            <a:ext cx="3749039" cy="3349142"/>
          </a:xfrm>
          <a:prstGeom prst="rect">
            <a:avLst/>
          </a:prstGeom>
        </p:spPr>
      </p:pic>
      <p:sp>
        <p:nvSpPr>
          <p:cNvPr id="8" name="TextBox 7"/>
          <p:cNvSpPr txBox="1"/>
          <p:nvPr/>
        </p:nvSpPr>
        <p:spPr>
          <a:xfrm>
            <a:off x="2011679" y="4961839"/>
            <a:ext cx="411480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710464"/>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Humerus (collum chirurgicum)</a:t>
            </a:r>
          </a:p>
        </p:txBody>
      </p:sp>
      <p:cxnSp>
        <p:nvCxnSpPr>
          <p:cNvPr id="10" name="Connector 9"/>
          <p:cNvCxnSpPr/>
          <p:nvPr/>
        </p:nvCxnSpPr>
        <p:spPr>
          <a:xfrm>
            <a:off x="2103120" y="2939064"/>
            <a:ext cx="158105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643030" y="289791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265322"/>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deltoideus</a:t>
            </a:r>
          </a:p>
        </p:txBody>
      </p:sp>
      <p:cxnSp>
        <p:nvCxnSpPr>
          <p:cNvPr id="13" name="Connector 12"/>
          <p:cNvCxnSpPr/>
          <p:nvPr/>
        </p:nvCxnSpPr>
        <p:spPr>
          <a:xfrm>
            <a:off x="2103120" y="3493922"/>
            <a:ext cx="84124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903220" y="345277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777386"/>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infraspinatus / m. teres minor</a:t>
            </a:r>
          </a:p>
        </p:txBody>
      </p:sp>
      <p:cxnSp>
        <p:nvCxnSpPr>
          <p:cNvPr id="16" name="Connector 15"/>
          <p:cNvCxnSpPr/>
          <p:nvPr/>
        </p:nvCxnSpPr>
        <p:spPr>
          <a:xfrm flipV="1">
            <a:off x="2103120" y="3993794"/>
            <a:ext cx="1990953" cy="12192"/>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052925" y="395264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1665732"/>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pectoralis major</a:t>
            </a:r>
          </a:p>
        </p:txBody>
      </p:sp>
      <p:cxnSp>
        <p:nvCxnSpPr>
          <p:cNvPr id="19" name="Connector 18"/>
          <p:cNvCxnSpPr/>
          <p:nvPr/>
        </p:nvCxnSpPr>
        <p:spPr>
          <a:xfrm flipH="1">
            <a:off x="4443983" y="1894332"/>
            <a:ext cx="1591057"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402836" y="185318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2190597"/>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pectoralis minor</a:t>
            </a:r>
          </a:p>
        </p:txBody>
      </p:sp>
      <p:cxnSp>
        <p:nvCxnSpPr>
          <p:cNvPr id="22" name="Connector 21"/>
          <p:cNvCxnSpPr/>
          <p:nvPr/>
        </p:nvCxnSpPr>
        <p:spPr>
          <a:xfrm flipH="1">
            <a:off x="4943856" y="2419197"/>
            <a:ext cx="109118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902708" y="237804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2702661"/>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Fossa axillaris: aksiller damar lümeni (a./v. axillaris bölgesi)</a:t>
            </a:r>
          </a:p>
        </p:txBody>
      </p:sp>
      <p:cxnSp>
        <p:nvCxnSpPr>
          <p:cNvPr id="25" name="Connector 24"/>
          <p:cNvCxnSpPr/>
          <p:nvPr/>
        </p:nvCxnSpPr>
        <p:spPr>
          <a:xfrm flipH="1" flipV="1">
            <a:off x="4593945" y="2669133"/>
            <a:ext cx="1441095" cy="262128"/>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552797" y="262798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3214725"/>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subscapularis</a:t>
            </a:r>
          </a:p>
        </p:txBody>
      </p:sp>
      <p:cxnSp>
        <p:nvCxnSpPr>
          <p:cNvPr id="28" name="Connector 27"/>
          <p:cNvCxnSpPr/>
          <p:nvPr/>
        </p:nvCxnSpPr>
        <p:spPr>
          <a:xfrm flipH="1" flipV="1">
            <a:off x="4918862" y="3393948"/>
            <a:ext cx="1116178" cy="49377"/>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877714" y="335280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0" y="3726789"/>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Scapula (corpus)</a:t>
            </a:r>
          </a:p>
        </p:txBody>
      </p:sp>
      <p:cxnSp>
        <p:nvCxnSpPr>
          <p:cNvPr id="31" name="Connector 30"/>
          <p:cNvCxnSpPr/>
          <p:nvPr/>
        </p:nvCxnSpPr>
        <p:spPr>
          <a:xfrm flipH="1" flipV="1">
            <a:off x="4818888" y="3918813"/>
            <a:ext cx="1216152" cy="36576"/>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4777740" y="387766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t_1340_R.png"/>
          <p:cNvPicPr>
            <a:picLocks noChangeAspect="1"/>
          </p:cNvPicPr>
          <p:nvPr/>
        </p:nvPicPr>
        <p:blipFill>
          <a:blip r:embed="rId3"/>
          <a:stretch>
            <a:fillRect/>
          </a:stretch>
        </p:blipFill>
        <p:spPr>
          <a:xfrm>
            <a:off x="8229600" y="2268321"/>
            <a:ext cx="2240280" cy="2001316"/>
          </a:xfrm>
          <a:prstGeom prst="rect">
            <a:avLst/>
          </a:prstGeom>
        </p:spPr>
      </p:pic>
      <p:sp>
        <p:nvSpPr>
          <p:cNvPr id="34" name="TextBox 33"/>
          <p:cNvSpPr txBox="1"/>
          <p:nvPr/>
        </p:nvSpPr>
        <p:spPr>
          <a:xfrm>
            <a:off x="8046720" y="4287926"/>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35" name="TextBox 34"/>
          <p:cNvSpPr txBox="1"/>
          <p:nvPr/>
        </p:nvSpPr>
        <p:spPr>
          <a:xfrm>
            <a:off x="10561320" y="2843235"/>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Humerus</a:t>
            </a:r>
          </a:p>
        </p:txBody>
      </p:sp>
      <p:cxnSp>
        <p:nvCxnSpPr>
          <p:cNvPr id="36" name="Connector 35"/>
          <p:cNvCxnSpPr/>
          <p:nvPr/>
        </p:nvCxnSpPr>
        <p:spPr>
          <a:xfrm flipH="1">
            <a:off x="9128699" y="3071835"/>
            <a:ext cx="143262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9087551" y="303068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61320" y="3446617"/>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Scapula</a:t>
            </a:r>
          </a:p>
        </p:txBody>
      </p:sp>
      <p:cxnSp>
        <p:nvCxnSpPr>
          <p:cNvPr id="39" name="Connector 38"/>
          <p:cNvCxnSpPr/>
          <p:nvPr/>
        </p:nvCxnSpPr>
        <p:spPr>
          <a:xfrm flipH="1">
            <a:off x="9779873" y="3675217"/>
            <a:ext cx="781447"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9738725" y="363406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loc_1340.jpg"/>
          <p:cNvPicPr>
            <a:picLocks noChangeAspect="1"/>
          </p:cNvPicPr>
          <p:nvPr/>
        </p:nvPicPr>
        <p:blipFill>
          <a:blip r:embed="rId4"/>
          <a:stretch>
            <a:fillRect/>
          </a:stretch>
        </p:blipFill>
        <p:spPr>
          <a:xfrm>
            <a:off x="10515600" y="1240131"/>
            <a:ext cx="1554480" cy="903017"/>
          </a:xfrm>
          <a:prstGeom prst="rect">
            <a:avLst/>
          </a:prstGeom>
        </p:spPr>
      </p:pic>
      <p:sp>
        <p:nvSpPr>
          <p:cNvPr id="42" name="TextBox 41"/>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43" name="TextBox 42"/>
          <p:cNvSpPr txBox="1"/>
          <p:nvPr/>
        </p:nvSpPr>
        <p:spPr>
          <a:xfrm>
            <a:off x="274320" y="5623560"/>
            <a:ext cx="11704320" cy="777240"/>
          </a:xfrm>
          <a:prstGeom prst="rect">
            <a:avLst/>
          </a:prstGeom>
          <a:noFill/>
        </p:spPr>
        <p:txBody>
          <a:bodyPr wrap="square">
            <a:spAutoFit/>
          </a:bodyPr>
          <a:lstStyle/>
          <a:p>
            <a:pPr algn="l">
              <a:spcAft>
                <a:spcPts val="300"/>
              </a:spcAft>
            </a:pPr>
            <a:r>
              <a:rPr sz="1350" b="0" i="0">
                <a:solidFill>
                  <a:srgbClr val="1F2A44"/>
                </a:solidFill>
                <a:latin typeface="Calibri"/>
              </a:rPr>
              <a:t>• Aksillanın ön duvarı m. pectoralis major/minor, arka duvarı m. subscapularis; lateral duvarda m. coracobrachialis ve caput breve.</a:t>
            </a:r>
          </a:p>
          <a:p>
            <a:pPr algn="l">
              <a:spcAft>
                <a:spcPts val="300"/>
              </a:spcAft>
            </a:pPr>
            <a:r>
              <a:rPr sz="1350" b="0" i="0">
                <a:solidFill>
                  <a:srgbClr val="1F2A44"/>
                </a:solidFill>
                <a:latin typeface="Calibri"/>
              </a:rPr>
              <a:t>• Kadavrada boş venler siyah lümen olarak görülür; damar–sinir yapıları m. pectoralis minor'ün arkasındadır (a. axillaris 2. bölüm).</a:t>
            </a:r>
          </a:p>
        </p:txBody>
      </p:sp>
      <p:cxnSp>
        <p:nvCxnSpPr>
          <p:cNvPr id="44" name="Connector 4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a_vm1340, donmuş BT c_vm1340.fro); NCI Imaging Data Commons (doi:10.5281/zenodo.12690049); NLM Terms and Conditions (2019). Yönelim: radyolojik (ön yukarıda, hastanın sağı solda); sağ üst ekstremite.</a:t>
            </a:r>
          </a:p>
        </p:txBody>
      </p:sp>
      <p:sp>
        <p:nvSpPr>
          <p:cNvPr id="46" name="TextBox 4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Plexus brachialis MR'ı ve kadavra korelasyonu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Szaro ve ark., Eur J Radiol Open 2021</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gr5.jpg"/>
          <p:cNvPicPr>
            <a:picLocks noChangeAspect="1"/>
          </p:cNvPicPr>
          <p:nvPr/>
        </p:nvPicPr>
        <p:blipFill>
          <a:blip r:embed="rId2"/>
          <a:stretch>
            <a:fillRect/>
          </a:stretch>
        </p:blipFill>
        <p:spPr>
          <a:xfrm>
            <a:off x="1616008" y="1234440"/>
            <a:ext cx="3580262" cy="3063168"/>
          </a:xfrm>
          <a:prstGeom prst="rect">
            <a:avLst/>
          </a:prstGeom>
        </p:spPr>
      </p:pic>
      <p:sp>
        <p:nvSpPr>
          <p:cNvPr id="8" name="TextBox 7"/>
          <p:cNvSpPr txBox="1"/>
          <p:nvPr/>
        </p:nvSpPr>
        <p:spPr>
          <a:xfrm>
            <a:off x="1433128" y="4297608"/>
            <a:ext cx="394602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5 – Szaro Pawel ve ark., 2021 (PMC8695258, CC BY)</a:t>
            </a:r>
          </a:p>
        </p:txBody>
      </p:sp>
      <p:pic>
        <p:nvPicPr>
          <p:cNvPr id="9" name="Picture 8" descr="gr4.jpg"/>
          <p:cNvPicPr>
            <a:picLocks noChangeAspect="1"/>
          </p:cNvPicPr>
          <p:nvPr/>
        </p:nvPicPr>
        <p:blipFill>
          <a:blip r:embed="rId3"/>
          <a:stretch>
            <a:fillRect/>
          </a:stretch>
        </p:blipFill>
        <p:spPr>
          <a:xfrm>
            <a:off x="1616008" y="4571928"/>
            <a:ext cx="3580262" cy="1463111"/>
          </a:xfrm>
          <a:prstGeom prst="rect">
            <a:avLst/>
          </a:prstGeom>
        </p:spPr>
      </p:pic>
      <p:sp>
        <p:nvSpPr>
          <p:cNvPr id="10" name="TextBox 9"/>
          <p:cNvSpPr txBox="1"/>
          <p:nvPr/>
        </p:nvSpPr>
        <p:spPr>
          <a:xfrm>
            <a:off x="1433128" y="6035040"/>
            <a:ext cx="394602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4 – Szaro Pawel ve ark., 2021 (PMC8695258,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2590800"/>
          </a:xfrm>
          <a:prstGeom prst="rect">
            <a:avLst/>
          </a:prstGeom>
          <a:noFill/>
        </p:spPr>
        <p:txBody>
          <a:bodyPr wrap="square">
            <a:spAutoFit/>
          </a:bodyPr>
          <a:lstStyle/>
          <a:p>
            <a:pPr algn="l">
              <a:spcAft>
                <a:spcPts val="300"/>
              </a:spcAft>
            </a:pPr>
            <a:r>
              <a:rPr sz="1600" b="0" i="0">
                <a:solidFill>
                  <a:srgbClr val="1F2A44"/>
                </a:solidFill>
                <a:latin typeface="Calibri"/>
              </a:rPr>
              <a:t>• Üst (T2 DIXON ve nörografi): </a:t>
            </a:r>
            <a:r>
              <a:rPr sz="1600" b="0" i="0">
                <a:solidFill>
                  <a:srgbClr val="1F2A44"/>
                </a:solidFill>
                <a:latin typeface="Calibri"/>
              </a:rPr>
              <a:t>1</a:t>
            </a:r>
            <a:r>
              <a:rPr sz="1600" b="0" i="0">
                <a:solidFill>
                  <a:srgbClr val="1F2A44"/>
                </a:solidFill>
                <a:latin typeface="Calibri"/>
              </a:rPr>
              <a:t> C5; </a:t>
            </a:r>
            <a:r>
              <a:rPr sz="1600" b="0" i="0">
                <a:solidFill>
                  <a:srgbClr val="1F2A44"/>
                </a:solidFill>
                <a:latin typeface="Calibri"/>
              </a:rPr>
              <a:t>2</a:t>
            </a:r>
            <a:r>
              <a:rPr sz="1600" b="0" i="0">
                <a:solidFill>
                  <a:srgbClr val="1F2A44"/>
                </a:solidFill>
                <a:latin typeface="Calibri"/>
              </a:rPr>
              <a:t> C6; </a:t>
            </a:r>
            <a:r>
              <a:rPr sz="1600" b="0" i="0">
                <a:solidFill>
                  <a:srgbClr val="1F2A44"/>
                </a:solidFill>
                <a:latin typeface="Calibri"/>
              </a:rPr>
              <a:t>3</a:t>
            </a:r>
            <a:r>
              <a:rPr sz="1600" b="0" i="0">
                <a:solidFill>
                  <a:srgbClr val="1F2A44"/>
                </a:solidFill>
                <a:latin typeface="Calibri"/>
              </a:rPr>
              <a:t> truncus medius; </a:t>
            </a:r>
            <a:r>
              <a:rPr sz="1600" b="0" i="0">
                <a:solidFill>
                  <a:srgbClr val="1F2A44"/>
                </a:solidFill>
                <a:latin typeface="Calibri"/>
              </a:rPr>
              <a:t>4</a:t>
            </a:r>
            <a:r>
              <a:rPr sz="1600" b="0" i="0">
                <a:solidFill>
                  <a:srgbClr val="1F2A44"/>
                </a:solidFill>
                <a:latin typeface="Calibri"/>
              </a:rPr>
              <a:t> C8; </a:t>
            </a:r>
            <a:r>
              <a:rPr sz="1600" b="0" i="0">
                <a:solidFill>
                  <a:srgbClr val="1F2A44"/>
                </a:solidFill>
                <a:latin typeface="Calibri"/>
              </a:rPr>
              <a:t>5</a:t>
            </a:r>
            <a:r>
              <a:rPr sz="1600" b="0" i="0">
                <a:solidFill>
                  <a:srgbClr val="1F2A44"/>
                </a:solidFill>
                <a:latin typeface="Calibri"/>
              </a:rPr>
              <a:t> T1; </a:t>
            </a:r>
            <a:r>
              <a:rPr sz="1600" b="0" i="0">
                <a:solidFill>
                  <a:srgbClr val="1F2A44"/>
                </a:solidFill>
                <a:latin typeface="Calibri"/>
              </a:rPr>
              <a:t>6</a:t>
            </a:r>
            <a:r>
              <a:rPr sz="1600" b="0" i="0">
                <a:solidFill>
                  <a:srgbClr val="1F2A44"/>
                </a:solidFill>
                <a:latin typeface="Calibri"/>
              </a:rPr>
              <a:t> truncus superior; </a:t>
            </a:r>
            <a:r>
              <a:rPr sz="1600" b="0" i="0">
                <a:solidFill>
                  <a:srgbClr val="1F2A44"/>
                </a:solidFill>
                <a:latin typeface="Calibri"/>
              </a:rPr>
              <a:t>7</a:t>
            </a:r>
            <a:r>
              <a:rPr sz="1600" b="0" i="0">
                <a:solidFill>
                  <a:srgbClr val="1F2A44"/>
                </a:solidFill>
                <a:latin typeface="Calibri"/>
              </a:rPr>
              <a:t> truncus inferior; </a:t>
            </a:r>
            <a:r>
              <a:rPr sz="1600" b="0" i="0">
                <a:solidFill>
                  <a:srgbClr val="1F2A44"/>
                </a:solidFill>
                <a:latin typeface="Calibri"/>
              </a:rPr>
              <a:t>8</a:t>
            </a:r>
            <a:r>
              <a:rPr sz="1600" b="0" i="0">
                <a:solidFill>
                  <a:srgbClr val="1F2A44"/>
                </a:solidFill>
                <a:latin typeface="Calibri"/>
              </a:rPr>
              <a:t> fasc. lateralis; </a:t>
            </a:r>
            <a:r>
              <a:rPr sz="1600" b="0" i="0">
                <a:solidFill>
                  <a:srgbClr val="1F2A44"/>
                </a:solidFill>
                <a:latin typeface="Calibri"/>
              </a:rPr>
              <a:t>9</a:t>
            </a:r>
            <a:r>
              <a:rPr sz="1600" b="0" i="0">
                <a:solidFill>
                  <a:srgbClr val="1F2A44"/>
                </a:solidFill>
                <a:latin typeface="Calibri"/>
              </a:rPr>
              <a:t> fasc. medialis; </a:t>
            </a:r>
            <a:r>
              <a:rPr sz="1600" b="0" i="0">
                <a:solidFill>
                  <a:srgbClr val="1F2A44"/>
                </a:solidFill>
                <a:latin typeface="Calibri"/>
              </a:rPr>
              <a:t>10</a:t>
            </a:r>
            <a:r>
              <a:rPr sz="1600" b="0" i="0">
                <a:solidFill>
                  <a:srgbClr val="1F2A44"/>
                </a:solidFill>
                <a:latin typeface="Calibri"/>
              </a:rPr>
              <a:t> fasc. posterior</a:t>
            </a:r>
          </a:p>
          <a:p>
            <a:pPr algn="l">
              <a:spcAft>
                <a:spcPts val="300"/>
              </a:spcAft>
            </a:pPr>
            <a:r>
              <a:rPr sz="1600" b="0" i="0">
                <a:solidFill>
                  <a:srgbClr val="1F2A44"/>
                </a:solidFill>
                <a:latin typeface="Calibri"/>
              </a:rPr>
              <a:t>• Alt (MR + kadavra): </a:t>
            </a:r>
            <a:r>
              <a:rPr sz="1600" b="0" i="0">
                <a:solidFill>
                  <a:srgbClr val="1F2A44"/>
                </a:solidFill>
                <a:latin typeface="Calibri"/>
              </a:rPr>
              <a:t>1</a:t>
            </a:r>
            <a:r>
              <a:rPr sz="1600" b="0" i="0">
                <a:solidFill>
                  <a:srgbClr val="1F2A44"/>
                </a:solidFill>
                <a:latin typeface="Calibri"/>
              </a:rPr>
              <a:t> C4 (plexus'a katılmayan); </a:t>
            </a:r>
            <a:r>
              <a:rPr sz="1600" b="0" i="0">
                <a:solidFill>
                  <a:srgbClr val="1F2A44"/>
                </a:solidFill>
                <a:latin typeface="Calibri"/>
              </a:rPr>
              <a:t>2</a:t>
            </a:r>
            <a:r>
              <a:rPr sz="1600" b="0" i="0">
                <a:solidFill>
                  <a:srgbClr val="1F2A44"/>
                </a:solidFill>
                <a:latin typeface="Calibri"/>
              </a:rPr>
              <a:t> C5; </a:t>
            </a:r>
            <a:r>
              <a:rPr sz="1600" b="0" i="0">
                <a:solidFill>
                  <a:srgbClr val="1F2A44"/>
                </a:solidFill>
                <a:latin typeface="Calibri"/>
              </a:rPr>
              <a:t>3</a:t>
            </a:r>
            <a:r>
              <a:rPr sz="1600" b="0" i="0">
                <a:solidFill>
                  <a:srgbClr val="1F2A44"/>
                </a:solidFill>
                <a:latin typeface="Calibri"/>
              </a:rPr>
              <a:t> C6; </a:t>
            </a:r>
            <a:r>
              <a:rPr sz="1600" b="0" i="0">
                <a:solidFill>
                  <a:srgbClr val="1F2A44"/>
                </a:solidFill>
                <a:latin typeface="Calibri"/>
              </a:rPr>
              <a:t>3a</a:t>
            </a:r>
            <a:r>
              <a:rPr sz="1600" b="0" i="0">
                <a:solidFill>
                  <a:srgbClr val="1F2A44"/>
                </a:solidFill>
                <a:latin typeface="Calibri"/>
              </a:rPr>
              <a:t> truncus medius ön divisiosu; </a:t>
            </a:r>
            <a:r>
              <a:rPr sz="1600" b="0" i="0">
                <a:solidFill>
                  <a:srgbClr val="1F2A44"/>
                </a:solidFill>
                <a:latin typeface="Calibri"/>
              </a:rPr>
              <a:t>4</a:t>
            </a:r>
            <a:r>
              <a:rPr sz="1600" b="0" i="0">
                <a:solidFill>
                  <a:srgbClr val="1F2A44"/>
                </a:solidFill>
                <a:latin typeface="Calibri"/>
              </a:rPr>
              <a:t> C7; </a:t>
            </a:r>
            <a:r>
              <a:rPr sz="1600" b="0" i="0">
                <a:solidFill>
                  <a:srgbClr val="1F2A44"/>
                </a:solidFill>
                <a:latin typeface="Calibri"/>
              </a:rPr>
              <a:t>5</a:t>
            </a:r>
            <a:r>
              <a:rPr sz="1600" b="0" i="0">
                <a:solidFill>
                  <a:srgbClr val="1F2A44"/>
                </a:solidFill>
                <a:latin typeface="Calibri"/>
              </a:rPr>
              <a:t> truncus superior; </a:t>
            </a:r>
            <a:r>
              <a:rPr sz="1600" b="0" i="0">
                <a:solidFill>
                  <a:srgbClr val="1F2A44"/>
                </a:solidFill>
                <a:latin typeface="Calibri"/>
              </a:rPr>
              <a:t>6</a:t>
            </a:r>
            <a:r>
              <a:rPr sz="1600" b="0" i="0">
                <a:solidFill>
                  <a:srgbClr val="1F2A44"/>
                </a:solidFill>
                <a:latin typeface="Calibri"/>
              </a:rPr>
              <a:t> truncus medius; </a:t>
            </a:r>
            <a:r>
              <a:rPr sz="1600" b="0" i="0">
                <a:solidFill>
                  <a:srgbClr val="1F2A44"/>
                </a:solidFill>
                <a:latin typeface="Calibri"/>
              </a:rPr>
              <a:t>7</a:t>
            </a:r>
            <a:r>
              <a:rPr sz="1600" b="0" i="0">
                <a:solidFill>
                  <a:srgbClr val="1F2A44"/>
                </a:solidFill>
                <a:latin typeface="Calibri"/>
              </a:rPr>
              <a:t> C8; </a:t>
            </a:r>
            <a:r>
              <a:rPr sz="1600" b="0" i="0">
                <a:solidFill>
                  <a:srgbClr val="1F2A44"/>
                </a:solidFill>
                <a:latin typeface="Calibri"/>
              </a:rPr>
              <a:t>8</a:t>
            </a:r>
            <a:r>
              <a:rPr sz="1600" b="0" i="0">
                <a:solidFill>
                  <a:srgbClr val="1F2A44"/>
                </a:solidFill>
                <a:latin typeface="Calibri"/>
              </a:rPr>
              <a:t> T1; </a:t>
            </a:r>
            <a:r>
              <a:rPr sz="1600" b="0" i="0">
                <a:solidFill>
                  <a:srgbClr val="1F2A44"/>
                </a:solidFill>
                <a:latin typeface="Calibri"/>
              </a:rPr>
              <a:t>9</a:t>
            </a:r>
            <a:r>
              <a:rPr sz="1600" b="0" i="0">
                <a:solidFill>
                  <a:srgbClr val="1F2A44"/>
                </a:solidFill>
                <a:latin typeface="Calibri"/>
              </a:rPr>
              <a:t> ganglionlar; </a:t>
            </a:r>
            <a:r>
              <a:rPr sz="1600" b="0" i="0">
                <a:solidFill>
                  <a:srgbClr val="1F2A44"/>
                </a:solidFill>
                <a:latin typeface="Calibri"/>
              </a:rPr>
              <a:t>10</a:t>
            </a:r>
            <a:r>
              <a:rPr sz="1600" b="0" i="0">
                <a:solidFill>
                  <a:srgbClr val="1F2A44"/>
                </a:solidFill>
                <a:latin typeface="Calibri"/>
              </a:rPr>
              <a:t> n. phrenicus; </a:t>
            </a:r>
            <a:r>
              <a:rPr sz="1600" b="0" i="0">
                <a:solidFill>
                  <a:srgbClr val="1F2A44"/>
                </a:solidFill>
                <a:latin typeface="Calibri"/>
              </a:rPr>
              <a:t>11</a:t>
            </a:r>
            <a:r>
              <a:rPr sz="1600" b="0" i="0">
                <a:solidFill>
                  <a:srgbClr val="1F2A44"/>
                </a:solidFill>
                <a:latin typeface="Calibri"/>
              </a:rPr>
              <a:t> a. suprascapularis; </a:t>
            </a:r>
            <a:r>
              <a:rPr sz="1600" b="0" i="0">
                <a:solidFill>
                  <a:srgbClr val="1F2A44"/>
                </a:solidFill>
                <a:latin typeface="Calibri"/>
              </a:rPr>
              <a:t>12</a:t>
            </a:r>
            <a:r>
              <a:rPr sz="1600" b="0" i="0">
                <a:solidFill>
                  <a:srgbClr val="1F2A44"/>
                </a:solidFill>
                <a:latin typeface="Calibri"/>
              </a:rPr>
              <a:t> a. cervicalis ascendens; </a:t>
            </a:r>
            <a:r>
              <a:rPr sz="1600" b="0" i="0">
                <a:solidFill>
                  <a:srgbClr val="1F2A44"/>
                </a:solidFill>
                <a:latin typeface="Calibri"/>
              </a:rPr>
              <a:t>13</a:t>
            </a:r>
            <a:r>
              <a:rPr sz="1600" b="0" i="0">
                <a:solidFill>
                  <a:srgbClr val="1F2A44"/>
                </a:solidFill>
                <a:latin typeface="Calibri"/>
              </a:rPr>
              <a:t> v. subclavia; </a:t>
            </a:r>
            <a:r>
              <a:rPr sz="1600" b="0" i="0">
                <a:solidFill>
                  <a:srgbClr val="1F2A44"/>
                </a:solidFill>
                <a:latin typeface="Calibri"/>
              </a:rPr>
              <a:t>14</a:t>
            </a:r>
            <a:r>
              <a:rPr sz="1600" b="0" i="0">
                <a:solidFill>
                  <a:srgbClr val="1F2A44"/>
                </a:solidFill>
                <a:latin typeface="Calibri"/>
              </a:rPr>
              <a:t> v. jugularis interna; </a:t>
            </a:r>
            <a:r>
              <a:rPr sz="1600" b="0" i="0">
                <a:solidFill>
                  <a:srgbClr val="1F2A44"/>
                </a:solidFill>
                <a:latin typeface="Calibri"/>
              </a:rPr>
              <a:t>15</a:t>
            </a:r>
            <a:r>
              <a:rPr sz="1600" b="0" i="0">
                <a:solidFill>
                  <a:srgbClr val="1F2A44"/>
                </a:solidFill>
                <a:latin typeface="Calibri"/>
              </a:rPr>
              <a:t> punctum nervosum</a:t>
            </a:r>
          </a:p>
        </p:txBody>
      </p:sp>
      <p:sp>
        <p:nvSpPr>
          <p:cNvPr id="13" name="TextBox 12"/>
          <p:cNvSpPr txBox="1"/>
          <p:nvPr/>
        </p:nvSpPr>
        <p:spPr>
          <a:xfrm>
            <a:off x="6720840" y="421843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4565904"/>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MR nörografi kökleri ve trunkusları m. scalenus'lar arasında, fasikülleri aksillada gösterir.</a:t>
            </a:r>
          </a:p>
          <a:p>
            <a:pPr algn="l">
              <a:spcAft>
                <a:spcPts val="300"/>
              </a:spcAft>
            </a:pPr>
            <a:r>
              <a:rPr sz="1600" b="0" i="0">
                <a:solidFill>
                  <a:srgbClr val="1F2A44"/>
                </a:solidFill>
                <a:latin typeface="Calibri"/>
              </a:rPr>
              <a:t>• N. thoracicus longus ve n. cutaneus antebrachii medialis görece yüksek varyasyon oranı gösterir.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Szaro Pawel, McGrath Alexandra, Ciszek Bogdan et al. Magnetic resonance imaging of the brachial plexus. Part 1: Anatomical considerations, magnetic resonance techniques, and non-traumatic lesions. Eur J Radiol Open. 2021 Dec 20;9:100392. doi: 10.1016/j.ejro.2021.100392 PMCID: PMC8695258.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Glenohumeral bağlar – şema ve MR artrografi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Kadi ve ark., J Belg Soc Radiol 2017</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jbsr-101-2-1467-g16.jpg"/>
          <p:cNvPicPr>
            <a:picLocks noChangeAspect="1"/>
          </p:cNvPicPr>
          <p:nvPr/>
        </p:nvPicPr>
        <p:blipFill>
          <a:blip r:embed="rId2"/>
          <a:stretch>
            <a:fillRect/>
          </a:stretch>
        </p:blipFill>
        <p:spPr>
          <a:xfrm>
            <a:off x="1023887" y="1234440"/>
            <a:ext cx="4764505" cy="2047248"/>
          </a:xfrm>
          <a:prstGeom prst="rect">
            <a:avLst/>
          </a:prstGeom>
        </p:spPr>
      </p:pic>
      <p:sp>
        <p:nvSpPr>
          <p:cNvPr id="8" name="TextBox 7"/>
          <p:cNvSpPr txBox="1"/>
          <p:nvPr/>
        </p:nvSpPr>
        <p:spPr>
          <a:xfrm>
            <a:off x="841007" y="3281688"/>
            <a:ext cx="513026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16 – Kadi Redouane ve ark., 2017 (PMC6251069, CC BY)</a:t>
            </a:r>
          </a:p>
        </p:txBody>
      </p:sp>
      <p:pic>
        <p:nvPicPr>
          <p:cNvPr id="9" name="Picture 8" descr="jbsr-101-2-1467-g22.jpg"/>
          <p:cNvPicPr>
            <a:picLocks noChangeAspect="1"/>
          </p:cNvPicPr>
          <p:nvPr/>
        </p:nvPicPr>
        <p:blipFill>
          <a:blip r:embed="rId3"/>
          <a:stretch>
            <a:fillRect/>
          </a:stretch>
        </p:blipFill>
        <p:spPr>
          <a:xfrm>
            <a:off x="1023887" y="3556008"/>
            <a:ext cx="4764505" cy="2479031"/>
          </a:xfrm>
          <a:prstGeom prst="rect">
            <a:avLst/>
          </a:prstGeom>
        </p:spPr>
      </p:pic>
      <p:sp>
        <p:nvSpPr>
          <p:cNvPr id="10" name="TextBox 9"/>
          <p:cNvSpPr txBox="1"/>
          <p:nvPr/>
        </p:nvSpPr>
        <p:spPr>
          <a:xfrm>
            <a:off x="841007" y="6035040"/>
            <a:ext cx="513026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22 – Kadi Redouane ve ark., 2017 (PMC6251069,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871471"/>
          </a:xfrm>
          <a:prstGeom prst="rect">
            <a:avLst/>
          </a:prstGeom>
          <a:noFill/>
        </p:spPr>
        <p:txBody>
          <a:bodyPr wrap="square">
            <a:spAutoFit/>
          </a:bodyPr>
          <a:lstStyle/>
          <a:p>
            <a:pPr algn="l">
              <a:spcAft>
                <a:spcPts val="300"/>
              </a:spcAft>
            </a:pPr>
            <a:r>
              <a:rPr sz="1600" b="0" i="0">
                <a:solidFill>
                  <a:srgbClr val="1F2A44"/>
                </a:solidFill>
                <a:latin typeface="Calibri"/>
              </a:rPr>
              <a:t>• Üst: </a:t>
            </a:r>
            <a:r>
              <a:rPr sz="1600" b="0" i="0">
                <a:solidFill>
                  <a:srgbClr val="1F2A44"/>
                </a:solidFill>
                <a:latin typeface="Calibri"/>
              </a:rPr>
              <a:t>SGHL</a:t>
            </a:r>
            <a:r>
              <a:rPr sz="1600" b="0" i="0">
                <a:solidFill>
                  <a:srgbClr val="1F2A44"/>
                </a:solidFill>
                <a:latin typeface="Calibri"/>
              </a:rPr>
              <a:t> lig. glenohumerale superius; </a:t>
            </a:r>
            <a:r>
              <a:rPr sz="1600" b="0" i="0">
                <a:solidFill>
                  <a:srgbClr val="1F2A44"/>
                </a:solidFill>
                <a:latin typeface="Calibri"/>
              </a:rPr>
              <a:t>MGHL</a:t>
            </a:r>
            <a:r>
              <a:rPr sz="1600" b="0" i="0">
                <a:solidFill>
                  <a:srgbClr val="1F2A44"/>
                </a:solidFill>
                <a:latin typeface="Calibri"/>
              </a:rPr>
              <a:t> lig. glenohumerale medium; </a:t>
            </a:r>
            <a:r>
              <a:rPr sz="1600" b="0" i="0">
                <a:solidFill>
                  <a:srgbClr val="1F2A44"/>
                </a:solidFill>
                <a:latin typeface="Calibri"/>
              </a:rPr>
              <a:t>IGHL</a:t>
            </a:r>
            <a:r>
              <a:rPr sz="1600" b="0" i="0">
                <a:solidFill>
                  <a:srgbClr val="1F2A44"/>
                </a:solidFill>
                <a:latin typeface="Calibri"/>
              </a:rPr>
              <a:t> lig. glenohumerale inferius; spiral GHL = fasciculus obliquus; coracoid; humerus; scapula (A şema, B sagital oblik PD)</a:t>
            </a:r>
          </a:p>
          <a:p>
            <a:pPr algn="l">
              <a:spcAft>
                <a:spcPts val="300"/>
              </a:spcAft>
            </a:pPr>
            <a:r>
              <a:rPr sz="1600" b="0" i="0">
                <a:solidFill>
                  <a:srgbClr val="1F2A44"/>
                </a:solidFill>
                <a:latin typeface="Calibri"/>
              </a:rPr>
              <a:t>• Alt: IGHL ve recessus axillaris – koronal oblik (A) ve aksiyel (B) yağ baskılı T1 MR artrografi; ön (beyaz ok) ve arka (siyah ok) bantlar</a:t>
            </a:r>
          </a:p>
        </p:txBody>
      </p:sp>
      <p:sp>
        <p:nvSpPr>
          <p:cNvPr id="13" name="TextBox 12"/>
          <p:cNvSpPr txBox="1"/>
          <p:nvPr/>
        </p:nvSpPr>
        <p:spPr>
          <a:xfrm>
            <a:off x="6720840" y="3499103"/>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846575"/>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Kapsül distansiyonu (artrografi) ince bağları görünür kılar.</a:t>
            </a:r>
          </a:p>
          <a:p>
            <a:pPr algn="l">
              <a:spcAft>
                <a:spcPts val="300"/>
              </a:spcAft>
            </a:pPr>
            <a:r>
              <a:rPr sz="1600" b="0" i="0">
                <a:solidFill>
                  <a:srgbClr val="1F2A44"/>
                </a:solidFill>
                <a:latin typeface="Calibri"/>
              </a:rPr>
              <a:t>• IGHL'nin ön bandı ön-alt instabilitenin ana stabilizatörüdür; 'U' şeklindeki recessus axillaris ile sınırlanır.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Kadi Redouane, Milants Annemieke, Shahabpour Maryam Shoulder Anatomy and Normal Variants. J Belg Soc Radiol. 2017 Dec 16;101(Suppl 2):3. doi: 10.5334/jbr-btr.1467 PMCID: PMC6251069.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Rotator manşetin ultrason anatomisi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Tan ve ark., Biomed Imaging Interv J 2006</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biij-02-e58-g13.jpg"/>
          <p:cNvPicPr>
            <a:picLocks noChangeAspect="1"/>
          </p:cNvPicPr>
          <p:nvPr/>
        </p:nvPicPr>
        <p:blipFill>
          <a:blip r:embed="rId2"/>
          <a:stretch>
            <a:fillRect/>
          </a:stretch>
        </p:blipFill>
        <p:spPr>
          <a:xfrm>
            <a:off x="274320" y="1234440"/>
            <a:ext cx="3059024" cy="2134519"/>
          </a:xfrm>
          <a:prstGeom prst="rect">
            <a:avLst/>
          </a:prstGeom>
        </p:spPr>
      </p:pic>
      <p:sp>
        <p:nvSpPr>
          <p:cNvPr id="8" name="TextBox 7"/>
          <p:cNvSpPr txBox="1"/>
          <p:nvPr/>
        </p:nvSpPr>
        <p:spPr>
          <a:xfrm>
            <a:off x="91439" y="3368959"/>
            <a:ext cx="342478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13 – Tan SP ve ark., 2006 (PMC3097811, CC BY)</a:t>
            </a:r>
          </a:p>
        </p:txBody>
      </p:sp>
      <p:pic>
        <p:nvPicPr>
          <p:cNvPr id="9" name="Picture 8" descr="biij-02-e58-g14.jpg"/>
          <p:cNvPicPr>
            <a:picLocks noChangeAspect="1"/>
          </p:cNvPicPr>
          <p:nvPr/>
        </p:nvPicPr>
        <p:blipFill>
          <a:blip r:embed="rId3"/>
          <a:stretch>
            <a:fillRect/>
          </a:stretch>
        </p:blipFill>
        <p:spPr>
          <a:xfrm>
            <a:off x="3470504" y="1234440"/>
            <a:ext cx="3067455" cy="2134519"/>
          </a:xfrm>
          <a:prstGeom prst="rect">
            <a:avLst/>
          </a:prstGeom>
        </p:spPr>
      </p:pic>
      <p:sp>
        <p:nvSpPr>
          <p:cNvPr id="10" name="TextBox 9"/>
          <p:cNvSpPr txBox="1"/>
          <p:nvPr/>
        </p:nvSpPr>
        <p:spPr>
          <a:xfrm>
            <a:off x="3287624" y="3368959"/>
            <a:ext cx="343321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14 – Tan SP ve ark., 2006 (PMC3097811,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Sağ şema: </a:t>
            </a:r>
            <a:r>
              <a:rPr sz="1600" b="0" i="0">
                <a:solidFill>
                  <a:srgbClr val="1F2A44"/>
                </a:solidFill>
                <a:latin typeface="Calibri"/>
              </a:rPr>
              <a:t>BT</a:t>
            </a:r>
            <a:r>
              <a:rPr sz="1600" b="0" i="0">
                <a:solidFill>
                  <a:srgbClr val="1F2A44"/>
                </a:solidFill>
                <a:latin typeface="Calibri"/>
              </a:rPr>
              <a:t> tendo m. bicipitis (caput longum); </a:t>
            </a:r>
            <a:r>
              <a:rPr sz="1600" b="0" i="0">
                <a:solidFill>
                  <a:srgbClr val="1F2A44"/>
                </a:solidFill>
                <a:latin typeface="Calibri"/>
              </a:rPr>
              <a:t>SST</a:t>
            </a:r>
            <a:r>
              <a:rPr sz="1600" b="0" i="0">
                <a:solidFill>
                  <a:srgbClr val="1F2A44"/>
                </a:solidFill>
                <a:latin typeface="Calibri"/>
              </a:rPr>
              <a:t> m. supraspinatus tendonu; </a:t>
            </a:r>
            <a:r>
              <a:rPr sz="1600" b="0" i="0">
                <a:solidFill>
                  <a:srgbClr val="1F2A44"/>
                </a:solidFill>
                <a:latin typeface="Calibri"/>
              </a:rPr>
              <a:t>IST</a:t>
            </a:r>
            <a:r>
              <a:rPr sz="1600" b="0" i="0">
                <a:solidFill>
                  <a:srgbClr val="1F2A44"/>
                </a:solidFill>
                <a:latin typeface="Calibri"/>
              </a:rPr>
              <a:t> m. infraspinatus tendonu; HUMERAL HEAD = caput humeri; ANTERIOR/POSTERIOR</a:t>
            </a:r>
          </a:p>
        </p:txBody>
      </p:sp>
      <p:sp>
        <p:nvSpPr>
          <p:cNvPr id="13" name="TextBox 12"/>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076448"/>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Supraspinatus ve infraspinatus tendonları caput humeri'nin konveks yüzü üzerinde fibriler bantlar olarak izlenir.</a:t>
            </a:r>
          </a:p>
          <a:p>
            <a:pPr algn="l">
              <a:spcAft>
                <a:spcPts val="300"/>
              </a:spcAft>
            </a:pPr>
            <a:r>
              <a:rPr sz="1600" b="0" i="0">
                <a:solidFill>
                  <a:srgbClr val="1F2A44"/>
                </a:solidFill>
                <a:latin typeface="Calibri"/>
              </a:rPr>
              <a:t>• Sol görüntü düşük çözünürlüklüdür (450 piksel); şema ile birlikte okunmalıdır.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Tan SP, Fairbairn KJ, Kirk JE et al. Shoulder ultrasound. Biomed Imaging Interv J. 2006 Oct 1;2(4):e58. doi: 10.2349/biij.2.4.e58 PMCID: PMC3097811.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Plexus brachialis'in interskalen ultrasonu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Leonhard ve ark., Diagnostics 2017</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diagnostics-07-00040-g003.jpg"/>
          <p:cNvPicPr>
            <a:picLocks noChangeAspect="1"/>
          </p:cNvPicPr>
          <p:nvPr/>
        </p:nvPicPr>
        <p:blipFill>
          <a:blip r:embed="rId2"/>
          <a:stretch>
            <a:fillRect/>
          </a:stretch>
        </p:blipFill>
        <p:spPr>
          <a:xfrm>
            <a:off x="274320" y="2606905"/>
            <a:ext cx="6263640" cy="2055668"/>
          </a:xfrm>
          <a:prstGeom prst="rect">
            <a:avLst/>
          </a:prstGeom>
        </p:spPr>
      </p:pic>
      <p:sp>
        <p:nvSpPr>
          <p:cNvPr id="8" name="TextBox 7"/>
          <p:cNvSpPr txBox="1"/>
          <p:nvPr/>
        </p:nvSpPr>
        <p:spPr>
          <a:xfrm>
            <a:off x="91439" y="4662574"/>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Leonhard Vanessa ve ark., 2017 (PMC5617940,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AS</a:t>
            </a:r>
            <a:r>
              <a:rPr sz="1600" b="0" i="0">
                <a:solidFill>
                  <a:srgbClr val="1F2A44"/>
                </a:solidFill>
                <a:latin typeface="Calibri"/>
              </a:rPr>
              <a:t> m. scalenus anterior; </a:t>
            </a:r>
            <a:r>
              <a:rPr sz="1600" b="0" i="0">
                <a:solidFill>
                  <a:srgbClr val="1F2A44"/>
                </a:solidFill>
                <a:latin typeface="Calibri"/>
              </a:rPr>
              <a:t>MS</a:t>
            </a:r>
            <a:r>
              <a:rPr sz="1600" b="0" i="0">
                <a:solidFill>
                  <a:srgbClr val="1F2A44"/>
                </a:solidFill>
                <a:latin typeface="Calibri"/>
              </a:rPr>
              <a:t> m. scalenus medius; </a:t>
            </a:r>
            <a:r>
              <a:rPr sz="1600" b="0" i="0">
                <a:solidFill>
                  <a:srgbClr val="1F2A44"/>
                </a:solidFill>
                <a:latin typeface="Calibri"/>
              </a:rPr>
              <a:t>ST</a:t>
            </a:r>
            <a:r>
              <a:rPr sz="1600" b="0" i="0">
                <a:solidFill>
                  <a:srgbClr val="1F2A44"/>
                </a:solidFill>
                <a:latin typeface="Calibri"/>
              </a:rPr>
              <a:t> truncus superior; </a:t>
            </a:r>
            <a:r>
              <a:rPr sz="1600" b="0" i="0">
                <a:solidFill>
                  <a:srgbClr val="1F2A44"/>
                </a:solidFill>
                <a:latin typeface="Calibri"/>
              </a:rPr>
              <a:t>MT</a:t>
            </a:r>
            <a:r>
              <a:rPr sz="1600" b="0" i="0">
                <a:solidFill>
                  <a:srgbClr val="1F2A44"/>
                </a:solidFill>
                <a:latin typeface="Calibri"/>
              </a:rPr>
              <a:t> truncus medius; </a:t>
            </a:r>
            <a:r>
              <a:rPr sz="1600" b="0" i="0">
                <a:solidFill>
                  <a:srgbClr val="1F2A44"/>
                </a:solidFill>
                <a:latin typeface="Calibri"/>
              </a:rPr>
              <a:t>IT</a:t>
            </a:r>
            <a:r>
              <a:rPr sz="1600" b="0" i="0">
                <a:solidFill>
                  <a:srgbClr val="1F2A44"/>
                </a:solidFill>
                <a:latin typeface="Calibri"/>
              </a:rPr>
              <a:t> truncus inferior; </a:t>
            </a:r>
            <a:r>
              <a:rPr sz="1600" b="0" i="0">
                <a:solidFill>
                  <a:srgbClr val="1F2A44"/>
                </a:solidFill>
                <a:latin typeface="Calibri"/>
              </a:rPr>
              <a:t>SCM</a:t>
            </a:r>
            <a:r>
              <a:rPr sz="1600" b="0" i="0">
                <a:solidFill>
                  <a:srgbClr val="1F2A44"/>
                </a:solidFill>
                <a:latin typeface="Calibri"/>
              </a:rPr>
              <a:t> m. sternocleidomastoideus (A etiketsiz, B etiketli)</a:t>
            </a:r>
          </a:p>
        </p:txBody>
      </p:sp>
      <p:sp>
        <p:nvSpPr>
          <p:cNvPr id="11" name="TextBox 10"/>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076448"/>
            <a:ext cx="5257800" cy="912367"/>
          </a:xfrm>
          <a:prstGeom prst="rect">
            <a:avLst/>
          </a:prstGeom>
          <a:noFill/>
        </p:spPr>
        <p:txBody>
          <a:bodyPr wrap="square">
            <a:spAutoFit/>
          </a:bodyPr>
          <a:lstStyle/>
          <a:p>
            <a:pPr algn="l">
              <a:spcAft>
                <a:spcPts val="300"/>
              </a:spcAft>
            </a:pPr>
            <a:r>
              <a:rPr sz="1600" b="0" i="0">
                <a:solidFill>
                  <a:srgbClr val="1F2A44"/>
                </a:solidFill>
                <a:latin typeface="Calibri"/>
              </a:rPr>
              <a:t>• Trunkuslar m. scalenus anterior ile medius arasında hipoekoik yuvarlak yapılar olarak dizilir.</a:t>
            </a:r>
          </a:p>
          <a:p>
            <a:pPr algn="l">
              <a:spcAft>
                <a:spcPts val="300"/>
              </a:spcAft>
            </a:pPr>
            <a:r>
              <a:rPr sz="1600" b="0" i="0">
                <a:solidFill>
                  <a:srgbClr val="1F2A44"/>
                </a:solidFill>
                <a:latin typeface="Calibri"/>
              </a:rPr>
              <a:t>• Interskalen blok için hedef bölgedir.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Leonhard Vanessa, Caldwell Gregory, Goh Mei et al. Ultrasonographic Diagnosis of Thoracic Outlet Syndrome Secondary to Brachial Plexus Piercing Variation. Diagnostics (Basel). 2017 Jul 4;7(3):40. doi: 10.3390/diagnostics7030040 PMCID: PMC5617940.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 görüntüleme tabanlı varyasyonlar: literatür taraması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MR, BT, ultrason ve grafi çalışmaları (PMC açık erişim)</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234440"/>
          <a:ext cx="11640312" cy="3228335"/>
        </p:xfrm>
        <a:graphic>
          <a:graphicData uri="http://schemas.openxmlformats.org/drawingml/2006/table">
            <a:tbl>
              <a:tblPr firstRow="1" bandRow="1">
                <a:tableStyleId>{5C22544A-7EE6-4342-B048-85BDC9FD1C3A}</a:tableStyleId>
              </a:tblPr>
              <a:tblGrid>
                <a:gridCol w="2108088"/>
                <a:gridCol w="1924776"/>
                <a:gridCol w="1833120"/>
                <a:gridCol w="3024648"/>
                <a:gridCol w="2749680"/>
              </a:tblGrid>
              <a:tr h="457200">
                <a:tc>
                  <a:txBody>
                    <a:bodyPr/>
                    <a:lstStyle/>
                    <a:p>
                      <a:r>
                        <a:rPr sz="1350" b="1">
                          <a:solidFill>
                            <a:srgbClr val="FFFFFF"/>
                          </a:solidFill>
                          <a:latin typeface="Calibri"/>
                        </a:rPr>
                        <a:t>Varyasyon</a:t>
                      </a:r>
                    </a:p>
                  </a:txBody>
                  <a:tcPr>
                    <a:solidFill>
                      <a:srgbClr val="1F2A44"/>
                    </a:solidFill>
                  </a:tcPr>
                </a:tc>
                <a:tc>
                  <a:txBody>
                    <a:bodyPr/>
                    <a:lstStyle/>
                    <a:p>
                      <a:r>
                        <a:rPr sz="1350" b="1">
                          <a:solidFill>
                            <a:srgbClr val="FFFFFF"/>
                          </a:solidFill>
                          <a:latin typeface="Calibri"/>
                        </a:rPr>
                        <a:t>Çalışma</a:t>
                      </a:r>
                    </a:p>
                  </a:txBody>
                  <a:tcPr>
                    <a:solidFill>
                      <a:srgbClr val="1F2A44"/>
                    </a:solidFill>
                  </a:tcPr>
                </a:tc>
                <a:tc>
                  <a:txBody>
                    <a:bodyPr/>
                    <a:lstStyle/>
                    <a:p>
                      <a:r>
                        <a:rPr sz="1350" b="1">
                          <a:solidFill>
                            <a:srgbClr val="FFFFFF"/>
                          </a:solidFill>
                          <a:latin typeface="Calibri"/>
                        </a:rPr>
                        <a:t>Örneklem / yöntem</a:t>
                      </a:r>
                    </a:p>
                  </a:txBody>
                  <a:tcPr>
                    <a:solidFill>
                      <a:srgbClr val="1F2A44"/>
                    </a:solidFill>
                  </a:tcPr>
                </a:tc>
                <a:tc>
                  <a:txBody>
                    <a:bodyPr/>
                    <a:lstStyle/>
                    <a:p>
                      <a:r>
                        <a:rPr sz="1350" b="1">
                          <a:solidFill>
                            <a:srgbClr val="FFFFFF"/>
                          </a:solidFill>
                          <a:latin typeface="Calibri"/>
                        </a:rPr>
                        <a:t>Sıklık / ana bulgu</a:t>
                      </a:r>
                    </a:p>
                  </a:txBody>
                  <a:tcPr>
                    <a:solidFill>
                      <a:srgbClr val="1F2A44"/>
                    </a:solidFill>
                  </a:tcPr>
                </a:tc>
                <a:tc>
                  <a:txBody>
                    <a:bodyPr/>
                    <a:lstStyle/>
                    <a:p>
                      <a:r>
                        <a:rPr sz="1350" b="1">
                          <a:solidFill>
                            <a:srgbClr val="FFFFFF"/>
                          </a:solidFill>
                          <a:latin typeface="Calibri"/>
                        </a:rPr>
                        <a:t>Klinik önem</a:t>
                      </a:r>
                    </a:p>
                  </a:txBody>
                  <a:tcPr>
                    <a:solidFill>
                      <a:srgbClr val="1F2A44"/>
                    </a:solidFill>
                  </a:tcPr>
                </a:tc>
              </a:tr>
              <a:tr h="554227">
                <a:tc>
                  <a:txBody>
                    <a:bodyPr/>
                    <a:lstStyle/>
                    <a:p>
                      <a:r>
                        <a:rPr sz="1300" b="1">
                          <a:solidFill>
                            <a:srgbClr val="1F2A44"/>
                          </a:solidFill>
                          <a:latin typeface="Calibri"/>
                        </a:rPr>
                        <a:t>Os acromiale</a:t>
                      </a:r>
                    </a:p>
                  </a:txBody>
                  <a:tcPr>
                    <a:solidFill>
                      <a:srgbClr val="F3F4F6"/>
                    </a:solidFill>
                  </a:tcPr>
                </a:tc>
                <a:tc>
                  <a:txBody>
                    <a:bodyPr/>
                    <a:lstStyle/>
                    <a:p>
                      <a:r>
                        <a:rPr sz="1300" b="0">
                          <a:solidFill>
                            <a:srgbClr val="1F2A44"/>
                          </a:solidFill>
                          <a:latin typeface="Calibri"/>
                        </a:rPr>
                        <a:t>Fischer ve ark. 2022</a:t>
                      </a:r>
                    </a:p>
                  </a:txBody>
                  <a:tcPr>
                    <a:solidFill>
                      <a:srgbClr val="F3F4F6"/>
                    </a:solidFill>
                  </a:tcPr>
                </a:tc>
                <a:tc>
                  <a:txBody>
                    <a:bodyPr/>
                    <a:lstStyle/>
                    <a:p>
                      <a:r>
                        <a:rPr sz="1300" b="0">
                          <a:solidFill>
                            <a:srgbClr val="1F2A44"/>
                          </a:solidFill>
                          <a:latin typeface="Calibri"/>
                        </a:rPr>
                        <a:t>3050 kişi (MR)</a:t>
                      </a:r>
                    </a:p>
                  </a:txBody>
                  <a:tcPr>
                    <a:solidFill>
                      <a:srgbClr val="F3F4F6"/>
                    </a:solidFill>
                  </a:tcPr>
                </a:tc>
                <a:tc>
                  <a:txBody>
                    <a:bodyPr/>
                    <a:lstStyle/>
                    <a:p>
                      <a:r>
                        <a:rPr sz="1300" b="0">
                          <a:solidFill>
                            <a:srgbClr val="1F2A44"/>
                          </a:solidFill>
                          <a:latin typeface="Calibri"/>
                        </a:rPr>
                        <a:t>%1,9 (58/3050); en sık mezo-akromion</a:t>
                      </a:r>
                    </a:p>
                  </a:txBody>
                  <a:tcPr>
                    <a:solidFill>
                      <a:srgbClr val="F3F4F6"/>
                    </a:solidFill>
                  </a:tcPr>
                </a:tc>
                <a:tc>
                  <a:txBody>
                    <a:bodyPr/>
                    <a:lstStyle/>
                    <a:p>
                      <a:r>
                        <a:rPr sz="1300" b="0">
                          <a:solidFill>
                            <a:srgbClr val="1F2A44"/>
                          </a:solidFill>
                          <a:latin typeface="Calibri"/>
                        </a:rPr>
                        <a:t>Kırık ile karıştırılmamalı; cerrahi planlama</a:t>
                      </a:r>
                    </a:p>
                  </a:txBody>
                  <a:tcPr>
                    <a:solidFill>
                      <a:srgbClr val="F3F4F6"/>
                    </a:solidFill>
                  </a:tcPr>
                </a:tc>
              </a:tr>
              <a:tr h="554227">
                <a:tc>
                  <a:txBody>
                    <a:bodyPr/>
                    <a:lstStyle/>
                    <a:p>
                      <a:r>
                        <a:rPr sz="1300" b="1">
                          <a:solidFill>
                            <a:srgbClr val="1F2A44"/>
                          </a:solidFill>
                          <a:latin typeface="Calibri"/>
                        </a:rPr>
                        <a:t>Os acromiale + manşet yırtığı</a:t>
                      </a:r>
                    </a:p>
                  </a:txBody>
                  <a:tcPr>
                    <a:solidFill>
                      <a:srgbClr val="FFFFFF"/>
                    </a:solidFill>
                  </a:tcPr>
                </a:tc>
                <a:tc>
                  <a:txBody>
                    <a:bodyPr/>
                    <a:lstStyle/>
                    <a:p>
                      <a:r>
                        <a:rPr sz="1300" b="0">
                          <a:solidFill>
                            <a:srgbClr val="1F2A44"/>
                          </a:solidFill>
                          <a:latin typeface="Calibri"/>
                        </a:rPr>
                        <a:t>Birsel ve ark. 2026 (CC BY-NC)</a:t>
                      </a:r>
                    </a:p>
                  </a:txBody>
                  <a:tcPr>
                    <a:solidFill>
                      <a:srgbClr val="FFFFFF"/>
                    </a:solidFill>
                  </a:tcPr>
                </a:tc>
                <a:tc>
                  <a:txBody>
                    <a:bodyPr/>
                    <a:lstStyle/>
                    <a:p>
                      <a:r>
                        <a:rPr sz="1300" b="0">
                          <a:solidFill>
                            <a:srgbClr val="1F2A44"/>
                          </a:solidFill>
                          <a:latin typeface="Calibri"/>
                        </a:rPr>
                        <a:t>3697 omuz MR</a:t>
                      </a:r>
                    </a:p>
                  </a:txBody>
                  <a:tcPr>
                    <a:solidFill>
                      <a:srgbClr val="FFFFFF"/>
                    </a:solidFill>
                  </a:tcPr>
                </a:tc>
                <a:tc>
                  <a:txBody>
                    <a:bodyPr/>
                    <a:lstStyle/>
                    <a:p>
                      <a:r>
                        <a:rPr sz="1300" b="0">
                          <a:solidFill>
                            <a:srgbClr val="1F2A44"/>
                          </a:solidFill>
                          <a:latin typeface="Calibri"/>
                        </a:rPr>
                        <a:t>%0,7; olguların %77'sinde manşet yırtığı; raporlarda yalnız 11/26</a:t>
                      </a:r>
                    </a:p>
                  </a:txBody>
                  <a:tcPr>
                    <a:solidFill>
                      <a:srgbClr val="FFFFFF"/>
                    </a:solidFill>
                  </a:tcPr>
                </a:tc>
                <a:tc>
                  <a:txBody>
                    <a:bodyPr/>
                    <a:lstStyle/>
                    <a:p>
                      <a:r>
                        <a:rPr sz="1300" b="0">
                          <a:solidFill>
                            <a:srgbClr val="1F2A44"/>
                          </a:solidFill>
                          <a:latin typeface="Calibri"/>
                        </a:rPr>
                        <a:t>Hedefli değerlendirme gerekir</a:t>
                      </a:r>
                    </a:p>
                  </a:txBody>
                  <a:tcPr>
                    <a:solidFill>
                      <a:srgbClr val="FFFFFF"/>
                    </a:solidFill>
                  </a:tcPr>
                </a:tc>
              </a:tr>
              <a:tr h="554227">
                <a:tc>
                  <a:txBody>
                    <a:bodyPr/>
                    <a:lstStyle/>
                    <a:p>
                      <a:r>
                        <a:rPr sz="1300" b="1">
                          <a:solidFill>
                            <a:srgbClr val="1F2A44"/>
                          </a:solidFill>
                          <a:latin typeface="Calibri"/>
                        </a:rPr>
                        <a:t>Sublabral reses / foramen / Buford kompleksi</a:t>
                      </a:r>
                    </a:p>
                  </a:txBody>
                  <a:tcPr>
                    <a:solidFill>
                      <a:srgbClr val="F3F4F6"/>
                    </a:solidFill>
                  </a:tcPr>
                </a:tc>
                <a:tc>
                  <a:txBody>
                    <a:bodyPr/>
                    <a:lstStyle/>
                    <a:p>
                      <a:r>
                        <a:rPr sz="1300" b="0">
                          <a:solidFill>
                            <a:srgbClr val="1F2A44"/>
                          </a:solidFill>
                          <a:latin typeface="Calibri"/>
                        </a:rPr>
                        <a:t>Benes ve ark. 2023 (meta-analiz)</a:t>
                      </a:r>
                    </a:p>
                  </a:txBody>
                  <a:tcPr>
                    <a:solidFill>
                      <a:srgbClr val="F3F4F6"/>
                    </a:solidFill>
                  </a:tcPr>
                </a:tc>
                <a:tc>
                  <a:txBody>
                    <a:bodyPr/>
                    <a:lstStyle/>
                    <a:p>
                      <a:r>
                        <a:rPr sz="1300" b="0">
                          <a:solidFill>
                            <a:srgbClr val="1F2A44"/>
                          </a:solidFill>
                          <a:latin typeface="Calibri"/>
                        </a:rPr>
                        <a:t>20 çalışma, 7601 ekstremite</a:t>
                      </a:r>
                    </a:p>
                  </a:txBody>
                  <a:tcPr>
                    <a:solidFill>
                      <a:srgbClr val="F3F4F6"/>
                    </a:solidFill>
                  </a:tcPr>
                </a:tc>
                <a:tc>
                  <a:txBody>
                    <a:bodyPr/>
                    <a:lstStyle/>
                    <a:p>
                      <a:r>
                        <a:rPr sz="1300" b="0">
                          <a:solidFill>
                            <a:srgbClr val="1F2A44"/>
                          </a:solidFill>
                          <a:latin typeface="Calibri"/>
                        </a:rPr>
                        <a:t>Reses %57,2; foramen %13,5; Buford %3,0; Buford'da SLAP RR 2,4</a:t>
                      </a:r>
                    </a:p>
                  </a:txBody>
                  <a:tcPr>
                    <a:solidFill>
                      <a:srgbClr val="F3F4F6"/>
                    </a:solidFill>
                  </a:tcPr>
                </a:tc>
                <a:tc>
                  <a:txBody>
                    <a:bodyPr/>
                    <a:lstStyle/>
                    <a:p>
                      <a:r>
                        <a:rPr sz="1300" b="0">
                          <a:solidFill>
                            <a:srgbClr val="1F2A44"/>
                          </a:solidFill>
                          <a:latin typeface="Calibri"/>
                        </a:rPr>
                        <a:t>Labral yırtık ile karıştırılabilir</a:t>
                      </a:r>
                    </a:p>
                  </a:txBody>
                  <a:tcPr>
                    <a:solidFill>
                      <a:srgbClr val="F3F4F6"/>
                    </a:solidFill>
                  </a:tcPr>
                </a:tc>
              </a:tr>
              <a:tr h="554227">
                <a:tc>
                  <a:txBody>
                    <a:bodyPr/>
                    <a:lstStyle/>
                    <a:p>
                      <a:r>
                        <a:rPr sz="1300" b="1">
                          <a:solidFill>
                            <a:srgbClr val="1F2A44"/>
                          </a:solidFill>
                          <a:latin typeface="Calibri"/>
                        </a:rPr>
                        <a:t>Incisura scapulae asimetrisi (3B BT)</a:t>
                      </a:r>
                    </a:p>
                  </a:txBody>
                  <a:tcPr>
                    <a:solidFill>
                      <a:srgbClr val="FFFFFF"/>
                    </a:solidFill>
                  </a:tcPr>
                </a:tc>
                <a:tc>
                  <a:txBody>
                    <a:bodyPr/>
                    <a:lstStyle/>
                    <a:p>
                      <a:r>
                        <a:rPr sz="1300" b="0">
                          <a:solidFill>
                            <a:srgbClr val="1F2A44"/>
                          </a:solidFill>
                          <a:latin typeface="Calibri"/>
                        </a:rPr>
                        <a:t>Polguj ve ark. 2014</a:t>
                      </a:r>
                    </a:p>
                  </a:txBody>
                  <a:tcPr>
                    <a:solidFill>
                      <a:srgbClr val="FFFFFF"/>
                    </a:solidFill>
                  </a:tcPr>
                </a:tc>
                <a:tc>
                  <a:txBody>
                    <a:bodyPr/>
                    <a:lstStyle/>
                    <a:p>
                      <a:r>
                        <a:rPr sz="1300" b="0">
                          <a:solidFill>
                            <a:srgbClr val="1F2A44"/>
                          </a:solidFill>
                          <a:latin typeface="Calibri"/>
                        </a:rPr>
                        <a:t>311 hasta, 622 skapula</a:t>
                      </a:r>
                    </a:p>
                  </a:txBody>
                  <a:tcPr>
                    <a:solidFill>
                      <a:srgbClr val="FFFFFF"/>
                    </a:solidFill>
                  </a:tcPr>
                </a:tc>
                <a:tc>
                  <a:txBody>
                    <a:bodyPr/>
                    <a:lstStyle/>
                    <a:p>
                      <a:r>
                        <a:rPr sz="1300" b="0">
                          <a:solidFill>
                            <a:srgbClr val="1F2A44"/>
                          </a:solidFill>
                          <a:latin typeface="Calibri"/>
                        </a:rPr>
                        <a:t>Simetri %53,45; simetrik tiplerde Tip III %66,9</a:t>
                      </a:r>
                    </a:p>
                  </a:txBody>
                  <a:tcPr>
                    <a:solidFill>
                      <a:srgbClr val="FFFFFF"/>
                    </a:solidFill>
                  </a:tcPr>
                </a:tc>
                <a:tc>
                  <a:txBody>
                    <a:bodyPr/>
                    <a:lstStyle/>
                    <a:p>
                      <a:r>
                        <a:rPr sz="1300" b="0">
                          <a:solidFill>
                            <a:srgbClr val="1F2A44"/>
                          </a:solidFill>
                          <a:latin typeface="Calibri"/>
                        </a:rPr>
                        <a:t>N. suprascapularis sıkışması</a:t>
                      </a:r>
                    </a:p>
                  </a:txBody>
                  <a:tcPr>
                    <a:solidFill>
                      <a:srgbClr val="FFFFFF"/>
                    </a:solidFill>
                  </a:tcPr>
                </a:tc>
              </a:tr>
              <a:tr h="554227">
                <a:tc>
                  <a:txBody>
                    <a:bodyPr/>
                    <a:lstStyle/>
                    <a:p>
                      <a:r>
                        <a:rPr sz="1300" b="1">
                          <a:solidFill>
                            <a:srgbClr val="1F2A44"/>
                          </a:solidFill>
                          <a:latin typeface="Calibri"/>
                        </a:rPr>
                        <a:t>Plexus'un m. scalenus anterior'u delmesi (US)</a:t>
                      </a:r>
                    </a:p>
                  </a:txBody>
                  <a:tcPr>
                    <a:solidFill>
                      <a:srgbClr val="F3F4F6"/>
                    </a:solidFill>
                  </a:tcPr>
                </a:tc>
                <a:tc>
                  <a:txBody>
                    <a:bodyPr/>
                    <a:lstStyle/>
                    <a:p>
                      <a:r>
                        <a:rPr sz="1300" b="0">
                          <a:solidFill>
                            <a:srgbClr val="1F2A44"/>
                          </a:solidFill>
                          <a:latin typeface="Calibri"/>
                        </a:rPr>
                        <a:t>Leonhard ve ark. 2017</a:t>
                      </a:r>
                    </a:p>
                  </a:txBody>
                  <a:tcPr>
                    <a:solidFill>
                      <a:srgbClr val="F3F4F6"/>
                    </a:solidFill>
                  </a:tcPr>
                </a:tc>
                <a:tc>
                  <a:txBody>
                    <a:bodyPr/>
                    <a:lstStyle/>
                    <a:p>
                      <a:r>
                        <a:rPr sz="1300" b="0">
                          <a:solidFill>
                            <a:srgbClr val="1F2A44"/>
                          </a:solidFill>
                          <a:latin typeface="Calibri"/>
                        </a:rPr>
                        <a:t>82 kadavra boynu + 44 plexus (US)</a:t>
                      </a:r>
                    </a:p>
                  </a:txBody>
                  <a:tcPr>
                    <a:solidFill>
                      <a:srgbClr val="F3F4F6"/>
                    </a:solidFill>
                  </a:tcPr>
                </a:tc>
                <a:tc>
                  <a:txBody>
                    <a:bodyPr/>
                    <a:lstStyle/>
                    <a:p>
                      <a:r>
                        <a:rPr sz="1300" b="0">
                          <a:solidFill>
                            <a:srgbClr val="1F2A44"/>
                          </a:solidFill>
                          <a:latin typeface="Calibri"/>
                        </a:rPr>
                        <a:t>Kadavra %62,1; US'de %18,2</a:t>
                      </a:r>
                    </a:p>
                  </a:txBody>
                  <a:tcPr>
                    <a:solidFill>
                      <a:srgbClr val="F3F4F6"/>
                    </a:solidFill>
                  </a:tcPr>
                </a:tc>
                <a:tc>
                  <a:txBody>
                    <a:bodyPr/>
                    <a:lstStyle/>
                    <a:p>
                      <a:r>
                        <a:rPr sz="1300" b="0">
                          <a:solidFill>
                            <a:srgbClr val="1F2A44"/>
                          </a:solidFill>
                          <a:latin typeface="Calibri"/>
                        </a:rPr>
                        <a:t>Nörojenik torasik çıkış sendromu</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Os acromiale – BT, MR ve sınıflama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Fischer ve ark. 2022; Birsel ve ark. 2026; Kadi ve ark. 2017</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264_2022_5406_Fig1_HTML.jpg"/>
          <p:cNvPicPr>
            <a:picLocks noChangeAspect="1"/>
          </p:cNvPicPr>
          <p:nvPr/>
        </p:nvPicPr>
        <p:blipFill>
          <a:blip r:embed="rId2"/>
          <a:stretch>
            <a:fillRect/>
          </a:stretch>
        </p:blipFill>
        <p:spPr>
          <a:xfrm>
            <a:off x="274320" y="1234440"/>
            <a:ext cx="1197431" cy="1580461"/>
          </a:xfrm>
          <a:prstGeom prst="rect">
            <a:avLst/>
          </a:prstGeom>
        </p:spPr>
      </p:pic>
      <p:sp>
        <p:nvSpPr>
          <p:cNvPr id="8" name="TextBox 7"/>
          <p:cNvSpPr txBox="1"/>
          <p:nvPr/>
        </p:nvSpPr>
        <p:spPr>
          <a:xfrm>
            <a:off x="91440" y="2814901"/>
            <a:ext cx="156319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Fischer Cornelius Sebastian ve ark., 2022 (PMC9166870, CC BY)</a:t>
            </a:r>
          </a:p>
        </p:txBody>
      </p:sp>
      <p:pic>
        <p:nvPicPr>
          <p:cNvPr id="9" name="Picture 8" descr="jbsr-101-2-1467-g9.jpg"/>
          <p:cNvPicPr>
            <a:picLocks noChangeAspect="1"/>
          </p:cNvPicPr>
          <p:nvPr/>
        </p:nvPicPr>
        <p:blipFill>
          <a:blip r:embed="rId3"/>
          <a:stretch>
            <a:fillRect/>
          </a:stretch>
        </p:blipFill>
        <p:spPr>
          <a:xfrm>
            <a:off x="1608911" y="1234440"/>
            <a:ext cx="1981769" cy="1580461"/>
          </a:xfrm>
          <a:prstGeom prst="rect">
            <a:avLst/>
          </a:prstGeom>
        </p:spPr>
      </p:pic>
      <p:sp>
        <p:nvSpPr>
          <p:cNvPr id="10" name="TextBox 9"/>
          <p:cNvSpPr txBox="1"/>
          <p:nvPr/>
        </p:nvSpPr>
        <p:spPr>
          <a:xfrm>
            <a:off x="1426031" y="2814901"/>
            <a:ext cx="234752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9 – Kadi Redouane ve ark., 2017 (PMC6251069, CC BY)</a:t>
            </a:r>
          </a:p>
        </p:txBody>
      </p:sp>
      <p:pic>
        <p:nvPicPr>
          <p:cNvPr id="11" name="Picture 10" descr="aott-60-1-25714_f001.jpg"/>
          <p:cNvPicPr>
            <a:picLocks noChangeAspect="1"/>
          </p:cNvPicPr>
          <p:nvPr/>
        </p:nvPicPr>
        <p:blipFill>
          <a:blip r:embed="rId4"/>
          <a:stretch>
            <a:fillRect/>
          </a:stretch>
        </p:blipFill>
        <p:spPr>
          <a:xfrm>
            <a:off x="3727841" y="1234440"/>
            <a:ext cx="2810118" cy="1580461"/>
          </a:xfrm>
          <a:prstGeom prst="rect">
            <a:avLst/>
          </a:prstGeom>
        </p:spPr>
      </p:pic>
      <p:sp>
        <p:nvSpPr>
          <p:cNvPr id="12" name="TextBox 11"/>
          <p:cNvSpPr txBox="1"/>
          <p:nvPr/>
        </p:nvSpPr>
        <p:spPr>
          <a:xfrm>
            <a:off x="3544961" y="2814901"/>
            <a:ext cx="317587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Birsel Olgar ve ark., 2026 (PMC13051579, CC BY-NC)</a:t>
            </a:r>
          </a:p>
        </p:txBody>
      </p:sp>
      <p:sp>
        <p:nvSpPr>
          <p:cNvPr id="13" name="TextBox 12"/>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4" name="TextBox 13"/>
          <p:cNvSpPr txBox="1"/>
          <p:nvPr/>
        </p:nvSpPr>
        <p:spPr>
          <a:xfrm>
            <a:off x="6720840" y="1581912"/>
            <a:ext cx="5257800" cy="1442720"/>
          </a:xfrm>
          <a:prstGeom prst="rect">
            <a:avLst/>
          </a:prstGeom>
          <a:noFill/>
        </p:spPr>
        <p:txBody>
          <a:bodyPr wrap="square">
            <a:spAutoFit/>
          </a:bodyPr>
          <a:lstStyle/>
          <a:p>
            <a:pPr algn="l">
              <a:spcAft>
                <a:spcPts val="300"/>
              </a:spcAft>
            </a:pPr>
            <a:r>
              <a:rPr sz="1600" b="0" i="0">
                <a:solidFill>
                  <a:srgbClr val="1F2A44"/>
                </a:solidFill>
                <a:latin typeface="Calibri"/>
              </a:rPr>
              <a:t>• Şema: Pre / Meso / Meta / Basi-acromion tipleri</a:t>
            </a:r>
          </a:p>
          <a:p>
            <a:pPr algn="l">
              <a:spcAft>
                <a:spcPts val="300"/>
              </a:spcAft>
            </a:pPr>
            <a:r>
              <a:rPr sz="1600" b="0" i="0">
                <a:solidFill>
                  <a:srgbClr val="1F2A44"/>
                </a:solidFill>
                <a:latin typeface="Calibri"/>
              </a:rPr>
              <a:t>• BT artrografi: ok os acromiale, ok başı sinkondroz</a:t>
            </a:r>
          </a:p>
          <a:p>
            <a:pPr algn="l">
              <a:spcAft>
                <a:spcPts val="300"/>
              </a:spcAft>
            </a:pPr>
            <a:r>
              <a:rPr sz="1600" b="0" i="0">
                <a:solidFill>
                  <a:srgbClr val="1F2A44"/>
                </a:solidFill>
                <a:latin typeface="Calibri"/>
              </a:rPr>
              <a:t>• MR (CC BY-NC): beyaz ok kaynaşmamış kemikleşme merkezi – 'çift AC eklemi' görünümü</a:t>
            </a:r>
          </a:p>
        </p:txBody>
      </p:sp>
      <p:sp>
        <p:nvSpPr>
          <p:cNvPr id="15" name="TextBox 14"/>
          <p:cNvSpPr txBox="1"/>
          <p:nvPr/>
        </p:nvSpPr>
        <p:spPr>
          <a:xfrm>
            <a:off x="6720840" y="30703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6" name="TextBox 15"/>
          <p:cNvSpPr txBox="1"/>
          <p:nvPr/>
        </p:nvSpPr>
        <p:spPr>
          <a:xfrm>
            <a:off x="6720840" y="3417824"/>
            <a:ext cx="5257800" cy="1922272"/>
          </a:xfrm>
          <a:prstGeom prst="rect">
            <a:avLst/>
          </a:prstGeom>
          <a:noFill/>
        </p:spPr>
        <p:txBody>
          <a:bodyPr wrap="square">
            <a:spAutoFit/>
          </a:bodyPr>
          <a:lstStyle/>
          <a:p>
            <a:pPr algn="l">
              <a:spcAft>
                <a:spcPts val="300"/>
              </a:spcAft>
            </a:pPr>
            <a:r>
              <a:rPr sz="1600" b="0" i="0">
                <a:solidFill>
                  <a:srgbClr val="1F2A44"/>
                </a:solidFill>
                <a:latin typeface="Calibri"/>
              </a:rPr>
              <a:t>• Popülasyon MR çalışmasında </a:t>
            </a:r>
            <a:r>
              <a:rPr sz="1600" b="0" i="0">
                <a:solidFill>
                  <a:srgbClr val="1F2A44"/>
                </a:solidFill>
                <a:latin typeface="Calibri"/>
              </a:rPr>
              <a:t>%1,9</a:t>
            </a:r>
            <a:r>
              <a:rPr sz="1600" b="0" i="0">
                <a:solidFill>
                  <a:srgbClr val="1F2A44"/>
                </a:solidFill>
                <a:latin typeface="Calibri"/>
              </a:rPr>
              <a:t> (58/3050): 68 mezo-, 3 pre-, 1 meta-akromion; erkeklerde daha sık.</a:t>
            </a:r>
          </a:p>
          <a:p>
            <a:pPr algn="l">
              <a:spcAft>
                <a:spcPts val="300"/>
              </a:spcAft>
            </a:pPr>
            <a:r>
              <a:rPr sz="1600" b="0" i="0">
                <a:solidFill>
                  <a:srgbClr val="1F2A44"/>
                </a:solidFill>
                <a:latin typeface="Calibri"/>
              </a:rPr>
              <a:t>• 3697 omuz MR'ında %0,7; olguların </a:t>
            </a:r>
            <a:r>
              <a:rPr sz="1600" b="0" i="0">
                <a:solidFill>
                  <a:srgbClr val="1F2A44"/>
                </a:solidFill>
                <a:latin typeface="Calibri"/>
              </a:rPr>
              <a:t>%77</a:t>
            </a:r>
            <a:r>
              <a:rPr sz="1600" b="0" i="0">
                <a:solidFill>
                  <a:srgbClr val="1F2A44"/>
                </a:solidFill>
                <a:latin typeface="Calibri"/>
              </a:rPr>
              <a:t>'sinde rotator manşet yırtığı; rutin raporlarda yalnız 11/26 olgu belirtilmiş.</a:t>
            </a:r>
          </a:p>
          <a:p>
            <a:pPr algn="l">
              <a:spcAft>
                <a:spcPts val="300"/>
              </a:spcAft>
            </a:pPr>
            <a:r>
              <a:rPr sz="1600" b="0" i="0">
                <a:solidFill>
                  <a:srgbClr val="1F2A44"/>
                </a:solidFill>
                <a:latin typeface="Calibri"/>
              </a:rPr>
              <a:t>• Kırık fragmanı ve psödoartrozla karıştırılmamalıdır.</a:t>
            </a:r>
          </a:p>
        </p:txBody>
      </p:sp>
      <p:sp>
        <p:nvSpPr>
          <p:cNvPr id="17" name="TextBox 16"/>
          <p:cNvSpPr txBox="1"/>
          <p:nvPr/>
        </p:nvSpPr>
        <p:spPr>
          <a:xfrm>
            <a:off x="6720840" y="6035040"/>
            <a:ext cx="5257800" cy="292608"/>
          </a:xfrm>
          <a:prstGeom prst="rect">
            <a:avLst/>
          </a:prstGeom>
          <a:noFill/>
        </p:spPr>
        <p:txBody>
          <a:bodyPr wrap="square" anchor="t" lIns="45720" rIns="45720" tIns="18288" bIns="18288">
            <a:spAutoFit/>
          </a:bodyPr>
          <a:lstStyle/>
          <a:p>
            <a:pPr algn="l"/>
            <a:r>
              <a:rPr sz="1050" b="0" i="1">
                <a:solidFill>
                  <a:srgbClr val="C0392B"/>
                </a:solidFill>
                <a:latin typeface="Calibri"/>
              </a:rPr>
              <a:t>Lisans: CC BY-NC – yalnızca ticari olmayan eğitim amaçlı kullanım.</a:t>
            </a:r>
          </a:p>
        </p:txBody>
      </p:sp>
      <p:cxnSp>
        <p:nvCxnSpPr>
          <p:cNvPr id="18" name="Connector 1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Fischer Cornelius Sebastian, Floß Matthias, Ittermann Till et al. Os acromiale: prevalence and associated patient-related factors—a population-based study of three thousand and fifty participants. Int Orthop. 2022 May 5;46(7):1583–90. doi: 10.1007/s00264-022-05406-0 PMCID: PMC9166870. Lisans: CC BY.  •  Kadi Redouane, Milants Annemieke, Shahabpour Maryam Shoulder Anatomy and Normal Variants. J Belg Soc Radiol. 2017 Dec 16;101(Suppl 2):3. doi: 10.5334/jbr-btr.1467 PMCID: PMC6251069. Lisans: CC BY.  •  Birsel Olgar, Yığman Gizem Timoçin, Günerbüyük Caner et al. Prevalence of os acromiale and concomitant rotator cuff tears: a focused assessment of 3697 shoulder magnetic resonance imagings. Acta Orthop Traumatol Turc. 2026 Feb 19;60:e25714. doi: 10.5152/j.aott.2026.25714 PMCID: PMC13051579. Lisans: CC BY-NC.</a:t>
            </a:r>
          </a:p>
        </p:txBody>
      </p:sp>
      <p:sp>
        <p:nvSpPr>
          <p:cNvPr id="20" name="TextBox 1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Sublabral reses, sublabral foramen ve Buford kompleksi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Benes ve ark., Arch Orthop Trauma Surg 2023 (meta-analiz); Kadi ve ark. 2017</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jbsr-101-2-1467-g12.jpg"/>
          <p:cNvPicPr>
            <a:picLocks noChangeAspect="1"/>
          </p:cNvPicPr>
          <p:nvPr/>
        </p:nvPicPr>
        <p:blipFill>
          <a:blip r:embed="rId2"/>
          <a:stretch>
            <a:fillRect/>
          </a:stretch>
        </p:blipFill>
        <p:spPr>
          <a:xfrm>
            <a:off x="274320" y="1234440"/>
            <a:ext cx="6263640" cy="2260782"/>
          </a:xfrm>
          <a:prstGeom prst="rect">
            <a:avLst/>
          </a:prstGeom>
        </p:spPr>
      </p:pic>
      <p:sp>
        <p:nvSpPr>
          <p:cNvPr id="8" name="TextBox 7"/>
          <p:cNvSpPr txBox="1"/>
          <p:nvPr/>
        </p:nvSpPr>
        <p:spPr>
          <a:xfrm>
            <a:off x="91439" y="3495222"/>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12 – Kadi Redouane ve ark., 2017 (PMC6251069, CC BY)</a:t>
            </a:r>
          </a:p>
        </p:txBody>
      </p:sp>
      <p:pic>
        <p:nvPicPr>
          <p:cNvPr id="9" name="Picture 8" descr="402_2023_4932_Fig1_HTML.jpg"/>
          <p:cNvPicPr>
            <a:picLocks noChangeAspect="1"/>
          </p:cNvPicPr>
          <p:nvPr/>
        </p:nvPicPr>
        <p:blipFill>
          <a:blip r:embed="rId3"/>
          <a:stretch>
            <a:fillRect/>
          </a:stretch>
        </p:blipFill>
        <p:spPr>
          <a:xfrm>
            <a:off x="274320" y="3769542"/>
            <a:ext cx="6263640" cy="1806999"/>
          </a:xfrm>
          <a:prstGeom prst="rect">
            <a:avLst/>
          </a:prstGeom>
        </p:spPr>
      </p:pic>
      <p:sp>
        <p:nvSpPr>
          <p:cNvPr id="10" name="TextBox 9"/>
          <p:cNvSpPr txBox="1"/>
          <p:nvPr/>
        </p:nvSpPr>
        <p:spPr>
          <a:xfrm>
            <a:off x="91439" y="5576541"/>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Benes Michal ve ark., 2023 (PMC10491707,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2111248"/>
          </a:xfrm>
          <a:prstGeom prst="rect">
            <a:avLst/>
          </a:prstGeom>
          <a:noFill/>
        </p:spPr>
        <p:txBody>
          <a:bodyPr wrap="square">
            <a:spAutoFit/>
          </a:bodyPr>
          <a:lstStyle/>
          <a:p>
            <a:pPr algn="l">
              <a:spcAft>
                <a:spcPts val="300"/>
              </a:spcAft>
            </a:pPr>
            <a:r>
              <a:rPr sz="1600" b="0" i="0">
                <a:solidFill>
                  <a:srgbClr val="1F2A44"/>
                </a:solidFill>
                <a:latin typeface="Calibri"/>
              </a:rPr>
              <a:t>• Üst: (a) normal, (b) sublabral reses, (c) sublabral foramen, (d) Buford kompleksi; </a:t>
            </a:r>
            <a:r>
              <a:rPr sz="1600" b="0" i="0">
                <a:solidFill>
                  <a:srgbClr val="1F2A44"/>
                </a:solidFill>
                <a:latin typeface="Calibri"/>
              </a:rPr>
              <a:t>LHBT</a:t>
            </a:r>
            <a:r>
              <a:rPr sz="1600" b="0" i="0">
                <a:solidFill>
                  <a:srgbClr val="1F2A44"/>
                </a:solidFill>
                <a:latin typeface="Calibri"/>
              </a:rPr>
              <a:t> caput longum m. bicipitis tendonu; </a:t>
            </a:r>
            <a:r>
              <a:rPr sz="1600" b="0" i="0">
                <a:solidFill>
                  <a:srgbClr val="1F2A44"/>
                </a:solidFill>
                <a:latin typeface="Calibri"/>
              </a:rPr>
              <a:t>SGHL</a:t>
            </a:r>
            <a:r>
              <a:rPr sz="1600" b="0" i="0">
                <a:solidFill>
                  <a:srgbClr val="1F2A44"/>
                </a:solidFill>
                <a:latin typeface="Calibri"/>
              </a:rPr>
              <a:t> lig. glenohumerale superius; </a:t>
            </a:r>
            <a:r>
              <a:rPr sz="1600" b="0" i="0">
                <a:solidFill>
                  <a:srgbClr val="1F2A44"/>
                </a:solidFill>
                <a:latin typeface="Calibri"/>
              </a:rPr>
              <a:t>MGHL</a:t>
            </a:r>
            <a:r>
              <a:rPr sz="1600" b="0" i="0">
                <a:solidFill>
                  <a:srgbClr val="1F2A44"/>
                </a:solidFill>
                <a:latin typeface="Calibri"/>
              </a:rPr>
              <a:t> lig. glenohumerale medium; ant/post IGHL</a:t>
            </a:r>
          </a:p>
          <a:p>
            <a:pPr algn="l">
              <a:spcAft>
                <a:spcPts val="300"/>
              </a:spcAft>
            </a:pPr>
            <a:r>
              <a:rPr sz="1600" b="0" i="0">
                <a:solidFill>
                  <a:srgbClr val="1F2A44"/>
                </a:solidFill>
                <a:latin typeface="Calibri"/>
              </a:rPr>
              <a:t>• Alt: </a:t>
            </a:r>
            <a:r>
              <a:rPr sz="1600" b="0" i="0">
                <a:solidFill>
                  <a:srgbClr val="1F2A44"/>
                </a:solidFill>
                <a:latin typeface="Calibri"/>
              </a:rPr>
              <a:t>CLMGHL</a:t>
            </a:r>
            <a:r>
              <a:rPr sz="1600" b="0" i="0">
                <a:solidFill>
                  <a:srgbClr val="1F2A44"/>
                </a:solidFill>
                <a:latin typeface="Calibri"/>
              </a:rPr>
              <a:t> kordon benzeri MGHL; </a:t>
            </a:r>
            <a:r>
              <a:rPr sz="1600" b="0" i="0">
                <a:solidFill>
                  <a:srgbClr val="1F2A44"/>
                </a:solidFill>
                <a:latin typeface="Calibri"/>
              </a:rPr>
              <a:t>GL</a:t>
            </a:r>
            <a:r>
              <a:rPr sz="1600" b="0" i="0">
                <a:solidFill>
                  <a:srgbClr val="1F2A44"/>
                </a:solidFill>
                <a:latin typeface="Calibri"/>
              </a:rPr>
              <a:t> labrum glenoidale; </a:t>
            </a:r>
            <a:r>
              <a:rPr sz="1600" b="0" i="0">
                <a:solidFill>
                  <a:srgbClr val="1F2A44"/>
                </a:solidFill>
                <a:latin typeface="Calibri"/>
              </a:rPr>
              <a:t>LHBBM</a:t>
            </a:r>
            <a:r>
              <a:rPr sz="1600" b="0" i="0">
                <a:solidFill>
                  <a:srgbClr val="1F2A44"/>
                </a:solidFill>
                <a:latin typeface="Calibri"/>
              </a:rPr>
              <a:t> caput longum m. bicipitis; SSM m. subscapularis</a:t>
            </a:r>
          </a:p>
        </p:txBody>
      </p:sp>
      <p:sp>
        <p:nvSpPr>
          <p:cNvPr id="13" name="TextBox 12"/>
          <p:cNvSpPr txBox="1"/>
          <p:nvPr/>
        </p:nvSpPr>
        <p:spPr>
          <a:xfrm>
            <a:off x="6720840" y="3738879"/>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4086351"/>
            <a:ext cx="5257800" cy="1922272"/>
          </a:xfrm>
          <a:prstGeom prst="rect">
            <a:avLst/>
          </a:prstGeom>
          <a:noFill/>
        </p:spPr>
        <p:txBody>
          <a:bodyPr wrap="square">
            <a:spAutoFit/>
          </a:bodyPr>
          <a:lstStyle/>
          <a:p>
            <a:pPr algn="l">
              <a:spcAft>
                <a:spcPts val="300"/>
              </a:spcAft>
            </a:pPr>
            <a:r>
              <a:rPr sz="1600" b="0" i="0">
                <a:solidFill>
                  <a:srgbClr val="1F2A44"/>
                </a:solidFill>
                <a:latin typeface="Calibri"/>
              </a:rPr>
              <a:t>• 20 çalışma / 7601 ekstremite: sublabral reses </a:t>
            </a:r>
            <a:r>
              <a:rPr sz="1600" b="0" i="0">
                <a:solidFill>
                  <a:srgbClr val="1F2A44"/>
                </a:solidFill>
                <a:latin typeface="Calibri"/>
              </a:rPr>
              <a:t>%57,2</a:t>
            </a:r>
            <a:r>
              <a:rPr sz="1600" b="0" i="0">
                <a:solidFill>
                  <a:srgbClr val="1F2A44"/>
                </a:solidFill>
                <a:latin typeface="Calibri"/>
              </a:rPr>
              <a:t>, sublabral foramen </a:t>
            </a:r>
            <a:r>
              <a:rPr sz="1600" b="0" i="0">
                <a:solidFill>
                  <a:srgbClr val="1F2A44"/>
                </a:solidFill>
                <a:latin typeface="Calibri"/>
              </a:rPr>
              <a:t>%13,5</a:t>
            </a:r>
            <a:r>
              <a:rPr sz="1600" b="0" i="0">
                <a:solidFill>
                  <a:srgbClr val="1F2A44"/>
                </a:solidFill>
                <a:latin typeface="Calibri"/>
              </a:rPr>
              <a:t>, Buford kompleksi </a:t>
            </a:r>
            <a:r>
              <a:rPr sz="1600" b="0" i="0">
                <a:solidFill>
                  <a:srgbClr val="1F2A44"/>
                </a:solidFill>
                <a:latin typeface="Calibri"/>
              </a:rPr>
              <a:t>%3,0</a:t>
            </a:r>
            <a:r>
              <a:rPr sz="1600" b="0" i="0">
                <a:solidFill>
                  <a:srgbClr val="1F2A44"/>
                </a:solidFill>
                <a:latin typeface="Calibri"/>
              </a:rPr>
              <a:t>.</a:t>
            </a:r>
          </a:p>
          <a:p>
            <a:pPr algn="l">
              <a:spcAft>
                <a:spcPts val="300"/>
              </a:spcAft>
            </a:pPr>
            <a:r>
              <a:rPr sz="1600" b="0" i="0">
                <a:solidFill>
                  <a:srgbClr val="1F2A44"/>
                </a:solidFill>
                <a:latin typeface="Calibri"/>
              </a:rPr>
              <a:t>• Buford kompleksinde SLAP lezyonu riski artmış (RR 2,4; %95 GA 1,3–4,7).</a:t>
            </a:r>
          </a:p>
          <a:p>
            <a:pPr algn="l">
              <a:spcAft>
                <a:spcPts val="300"/>
              </a:spcAft>
            </a:pPr>
            <a:r>
              <a:rPr sz="1600" b="0" i="0">
                <a:solidFill>
                  <a:srgbClr val="1F2A44"/>
                </a:solidFill>
                <a:latin typeface="Calibri"/>
              </a:rPr>
              <a:t>• Bu normal varyantlar MR/artroskopide labral yırtık sanılmamalıdır.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Kadi Redouane, Milants Annemieke, Shahabpour Maryam Shoulder Anatomy and Normal Variants. J Belg Soc Radiol. 2017 Dec 16;101(Suppl 2):3. doi: 10.5334/jbr-btr.1467 PMCID: PMC6251069. Lisans: CC BY.  •  Benes Michal, Kachlik David, Kopp Lubomir et al. Prevalence of the anterosuperior capsulolabral anatomical variations and their association with pathologies of the glenoid labrum: a systematic review and meta-analysis. Arch Orthop Trauma Surg. 2023 Jun 23;143(10):6295–303. doi: 10.1007/s00402-023-04932-9 PMCID: PMC10491707.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Incisura scapulae tipleri ve asimetrisi (3B BT)</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Polguj ve ark., Biomed Res Int 2014 – 311 hasta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BMRI2014-196896.002.jpg"/>
          <p:cNvPicPr>
            <a:picLocks noChangeAspect="1"/>
          </p:cNvPicPr>
          <p:nvPr/>
        </p:nvPicPr>
        <p:blipFill>
          <a:blip r:embed="rId2"/>
          <a:stretch>
            <a:fillRect/>
          </a:stretch>
        </p:blipFill>
        <p:spPr>
          <a:xfrm>
            <a:off x="559434" y="1234440"/>
            <a:ext cx="3556000" cy="4800600"/>
          </a:xfrm>
          <a:prstGeom prst="rect">
            <a:avLst/>
          </a:prstGeom>
        </p:spPr>
      </p:pic>
      <p:sp>
        <p:nvSpPr>
          <p:cNvPr id="8" name="TextBox 7"/>
          <p:cNvSpPr txBox="1"/>
          <p:nvPr/>
        </p:nvSpPr>
        <p:spPr>
          <a:xfrm>
            <a:off x="376554" y="6035040"/>
            <a:ext cx="392176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Polguj Michał ve ark., 2014 (PMC4044447, CC BY)</a:t>
            </a:r>
          </a:p>
        </p:txBody>
      </p:sp>
      <p:pic>
        <p:nvPicPr>
          <p:cNvPr id="9" name="Picture 8" descr="BMRI2014-196896.003.jpg"/>
          <p:cNvPicPr>
            <a:picLocks noChangeAspect="1"/>
          </p:cNvPicPr>
          <p:nvPr/>
        </p:nvPicPr>
        <p:blipFill>
          <a:blip r:embed="rId3"/>
          <a:stretch>
            <a:fillRect/>
          </a:stretch>
        </p:blipFill>
        <p:spPr>
          <a:xfrm>
            <a:off x="4252594" y="1234440"/>
            <a:ext cx="2000250" cy="4800600"/>
          </a:xfrm>
          <a:prstGeom prst="rect">
            <a:avLst/>
          </a:prstGeom>
        </p:spPr>
      </p:pic>
      <p:sp>
        <p:nvSpPr>
          <p:cNvPr id="10" name="TextBox 9"/>
          <p:cNvSpPr txBox="1"/>
          <p:nvPr/>
        </p:nvSpPr>
        <p:spPr>
          <a:xfrm>
            <a:off x="4069714" y="6035040"/>
            <a:ext cx="236601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Polguj Michał ve ark., 2014 (PMC4044447,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621792"/>
          </a:xfrm>
          <a:prstGeom prst="rect">
            <a:avLst/>
          </a:prstGeom>
          <a:noFill/>
        </p:spPr>
        <p:txBody>
          <a:bodyPr wrap="square">
            <a:spAutoFit/>
          </a:bodyPr>
          <a:lstStyle/>
          <a:p>
            <a:pPr algn="l">
              <a:spcAft>
                <a:spcPts val="300"/>
              </a:spcAft>
            </a:pPr>
            <a:r>
              <a:rPr sz="1600" b="0" i="0">
                <a:solidFill>
                  <a:srgbClr val="1F2A44"/>
                </a:solidFill>
                <a:latin typeface="Calibri"/>
              </a:rPr>
              <a:t>• Type I–V incisura tipleri; </a:t>
            </a:r>
            <a:r>
              <a:rPr sz="1600" b="0" i="0">
                <a:solidFill>
                  <a:srgbClr val="1F2A44"/>
                </a:solidFill>
                <a:latin typeface="Calibri"/>
              </a:rPr>
              <a:t>STD</a:t>
            </a:r>
            <a:r>
              <a:rPr sz="1600" b="0" i="0">
                <a:solidFill>
                  <a:srgbClr val="1F2A44"/>
                </a:solidFill>
                <a:latin typeface="Calibri"/>
              </a:rPr>
              <a:t> üst transvers çap; </a:t>
            </a:r>
            <a:r>
              <a:rPr sz="1600" b="0" i="0">
                <a:solidFill>
                  <a:srgbClr val="1F2A44"/>
                </a:solidFill>
                <a:latin typeface="Calibri"/>
              </a:rPr>
              <a:t>MD</a:t>
            </a:r>
            <a:r>
              <a:rPr sz="1600" b="0" i="0">
                <a:solidFill>
                  <a:srgbClr val="1F2A44"/>
                </a:solidFill>
                <a:latin typeface="Calibri"/>
              </a:rPr>
              <a:t> orta derinlik; 3B hacim görüntüleme + şema</a:t>
            </a:r>
          </a:p>
        </p:txBody>
      </p:sp>
      <p:sp>
        <p:nvSpPr>
          <p:cNvPr id="13" name="TextBox 12"/>
          <p:cNvSpPr txBox="1"/>
          <p:nvPr/>
        </p:nvSpPr>
        <p:spPr>
          <a:xfrm>
            <a:off x="6720840" y="2249424"/>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2596896"/>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Incisura </a:t>
            </a:r>
            <a:r>
              <a:rPr sz="1600" b="0" i="0">
                <a:solidFill>
                  <a:srgbClr val="1F2A44"/>
                </a:solidFill>
                <a:latin typeface="Calibri"/>
              </a:rPr>
              <a:t>%53,45</a:t>
            </a:r>
            <a:r>
              <a:rPr sz="1600" b="0" i="0">
                <a:solidFill>
                  <a:srgbClr val="1F2A44"/>
                </a:solidFill>
                <a:latin typeface="Calibri"/>
              </a:rPr>
              <a:t> hastada simetrik; simetrik olgularda Tip III %66,9, Tip I %15,6, Tip IV %3,0, Tip V %13,9.</a:t>
            </a:r>
          </a:p>
          <a:p>
            <a:pPr algn="l">
              <a:spcAft>
                <a:spcPts val="300"/>
              </a:spcAft>
            </a:pPr>
            <a:r>
              <a:rPr sz="1600" b="0" i="0">
                <a:solidFill>
                  <a:srgbClr val="1F2A44"/>
                </a:solidFill>
                <a:latin typeface="Calibri"/>
              </a:rPr>
              <a:t>• Incisura şekli n. suprascapularis sıkışmasının en önemli risk faktörü olabilir; karşı taraf referans alınamaz.</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Polguj Michał, Sibiński Marcin, Grzegorzewski Andrzej et al. Suprascapular Notch Asymmetry: A Study on 311 Patients. Biomed Res Int. 2014 May 12;2014:196896. doi: 10.1155/2014/196896 PMCID: PMC4044447.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Plexus brachialis'in m. scalenus anterior'u delmesi (US)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Leonhard ve ark., Diagnostics 2017</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OMUZ</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diagnostics-07-00040-g004.jpg"/>
          <p:cNvPicPr>
            <a:picLocks noChangeAspect="1"/>
          </p:cNvPicPr>
          <p:nvPr/>
        </p:nvPicPr>
        <p:blipFill>
          <a:blip r:embed="rId2"/>
          <a:stretch>
            <a:fillRect/>
          </a:stretch>
        </p:blipFill>
        <p:spPr>
          <a:xfrm>
            <a:off x="274319" y="2624334"/>
            <a:ext cx="6263640" cy="2020811"/>
          </a:xfrm>
          <a:prstGeom prst="rect">
            <a:avLst/>
          </a:prstGeom>
        </p:spPr>
      </p:pic>
      <p:sp>
        <p:nvSpPr>
          <p:cNvPr id="8" name="TextBox 7"/>
          <p:cNvSpPr txBox="1"/>
          <p:nvPr/>
        </p:nvSpPr>
        <p:spPr>
          <a:xfrm>
            <a:off x="91439" y="4645145"/>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Leonhard Vanessa ve ark., 2017 (PMC5617940,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341120"/>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AS</a:t>
            </a:r>
            <a:r>
              <a:rPr sz="1600" b="0" i="0">
                <a:solidFill>
                  <a:srgbClr val="1F2A44"/>
                </a:solidFill>
                <a:latin typeface="Calibri"/>
              </a:rPr>
              <a:t> m. scalenus anterior; </a:t>
            </a:r>
            <a:r>
              <a:rPr sz="1600" b="0" i="0">
                <a:solidFill>
                  <a:srgbClr val="1F2A44"/>
                </a:solidFill>
                <a:latin typeface="Calibri"/>
              </a:rPr>
              <a:t>MS</a:t>
            </a:r>
            <a:r>
              <a:rPr sz="1600" b="0" i="0">
                <a:solidFill>
                  <a:srgbClr val="1F2A44"/>
                </a:solidFill>
                <a:latin typeface="Calibri"/>
              </a:rPr>
              <a:t> m. scalenus medius; </a:t>
            </a:r>
            <a:r>
              <a:rPr sz="1600" b="0" i="0">
                <a:solidFill>
                  <a:srgbClr val="1F2A44"/>
                </a:solidFill>
                <a:latin typeface="Calibri"/>
              </a:rPr>
              <a:t>ST</a:t>
            </a:r>
            <a:r>
              <a:rPr sz="1600" b="0" i="0">
                <a:solidFill>
                  <a:srgbClr val="1F2A44"/>
                </a:solidFill>
                <a:latin typeface="Calibri"/>
              </a:rPr>
              <a:t> truncus superior; </a:t>
            </a:r>
            <a:r>
              <a:rPr sz="1600" b="0" i="0">
                <a:solidFill>
                  <a:srgbClr val="1F2A44"/>
                </a:solidFill>
                <a:latin typeface="Calibri"/>
              </a:rPr>
              <a:t>MT</a:t>
            </a:r>
            <a:r>
              <a:rPr sz="1600" b="0" i="0">
                <a:solidFill>
                  <a:srgbClr val="1F2A44"/>
                </a:solidFill>
                <a:latin typeface="Calibri"/>
              </a:rPr>
              <a:t> truncus medius; </a:t>
            </a:r>
            <a:r>
              <a:rPr sz="1600" b="0" i="0">
                <a:solidFill>
                  <a:srgbClr val="1F2A44"/>
                </a:solidFill>
                <a:latin typeface="Calibri"/>
              </a:rPr>
              <a:t>IT</a:t>
            </a:r>
            <a:r>
              <a:rPr sz="1600" b="0" i="0">
                <a:solidFill>
                  <a:srgbClr val="1F2A44"/>
                </a:solidFill>
                <a:latin typeface="Calibri"/>
              </a:rPr>
              <a:t> truncus inferior; </a:t>
            </a:r>
            <a:r>
              <a:rPr sz="1600" b="0" i="0">
                <a:solidFill>
                  <a:srgbClr val="1F2A44"/>
                </a:solidFill>
                <a:latin typeface="Calibri"/>
              </a:rPr>
              <a:t>SCM</a:t>
            </a:r>
            <a:r>
              <a:rPr sz="1600" b="0" i="0">
                <a:solidFill>
                  <a:srgbClr val="1F2A44"/>
                </a:solidFill>
                <a:latin typeface="Calibri"/>
              </a:rPr>
              <a:t> m. sternocleidomastoideus; truncus superior ile m. scalenus anterior arasında hiperekoik fasya yok</a:t>
            </a:r>
          </a:p>
        </p:txBody>
      </p:sp>
      <p:sp>
        <p:nvSpPr>
          <p:cNvPr id="11" name="TextBox 10"/>
          <p:cNvSpPr txBox="1"/>
          <p:nvPr/>
        </p:nvSpPr>
        <p:spPr>
          <a:xfrm>
            <a:off x="6720840" y="29687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316224"/>
            <a:ext cx="5257800" cy="1922272"/>
          </a:xfrm>
          <a:prstGeom prst="rect">
            <a:avLst/>
          </a:prstGeom>
          <a:noFill/>
        </p:spPr>
        <p:txBody>
          <a:bodyPr wrap="square">
            <a:spAutoFit/>
          </a:bodyPr>
          <a:lstStyle/>
          <a:p>
            <a:pPr algn="l">
              <a:spcAft>
                <a:spcPts val="300"/>
              </a:spcAft>
            </a:pPr>
            <a:r>
              <a:rPr sz="1600" b="0" i="0">
                <a:solidFill>
                  <a:srgbClr val="1F2A44"/>
                </a:solidFill>
                <a:latin typeface="Calibri"/>
              </a:rPr>
              <a:t>• 82 kadavra boynunda </a:t>
            </a:r>
            <a:r>
              <a:rPr sz="1600" b="0" i="0">
                <a:solidFill>
                  <a:srgbClr val="1F2A44"/>
                </a:solidFill>
                <a:latin typeface="Calibri"/>
              </a:rPr>
              <a:t>%62,1</a:t>
            </a:r>
            <a:r>
              <a:rPr sz="1600" b="0" i="0">
                <a:solidFill>
                  <a:srgbClr val="1F2A44"/>
                </a:solidFill>
                <a:latin typeface="Calibri"/>
              </a:rPr>
              <a:t>'inde C5/truncus superior m. scalenus anterior'u deliyor.</a:t>
            </a:r>
          </a:p>
          <a:p>
            <a:pPr algn="l">
              <a:spcAft>
                <a:spcPts val="300"/>
              </a:spcAft>
            </a:pPr>
            <a:r>
              <a:rPr sz="1600" b="0" i="0">
                <a:solidFill>
                  <a:srgbClr val="1F2A44"/>
                </a:solidFill>
                <a:latin typeface="Calibri"/>
              </a:rPr>
              <a:t>• 22 gönüllüde (44 plexus) US ile delici varyant </a:t>
            </a:r>
            <a:r>
              <a:rPr sz="1600" b="0" i="0">
                <a:solidFill>
                  <a:srgbClr val="1F2A44"/>
                </a:solidFill>
                <a:latin typeface="Calibri"/>
              </a:rPr>
              <a:t>%18,2</a:t>
            </a:r>
            <a:r>
              <a:rPr sz="1600" b="0" i="0">
                <a:solidFill>
                  <a:srgbClr val="1F2A44"/>
                </a:solidFill>
                <a:latin typeface="Calibri"/>
              </a:rPr>
              <a:t>; delici varyantlarda nTOS belirtileri %50 vs normalde %13,9.</a:t>
            </a:r>
          </a:p>
          <a:p>
            <a:pPr algn="l">
              <a:spcAft>
                <a:spcPts val="300"/>
              </a:spcAft>
            </a:pPr>
            <a:r>
              <a:rPr sz="1600" b="0" i="0">
                <a:solidFill>
                  <a:srgbClr val="1F2A44"/>
                </a:solidFill>
                <a:latin typeface="Calibri"/>
              </a:rPr>
              <a:t>• US, atipik anatomiyi göstererek nTOS tanısına katkı sağlar.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Leonhard Vanessa, Caldwell Gregory, Goh Mei et al. Ultrasonographic Diagnosis of Thoracic Outlet Syndrome Secondary to Brachial Plexus Piercing Variation. Diagnostics (Basel). 2017 Jul 4;7(3):40. doi: 10.3390/diagnostics7030040 PMCID: PMC5617940.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2</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KOL</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Kolun kesitsel anatomisi</a:t>
            </a:r>
          </a:p>
          <a:p>
            <a:pPr algn="l"/>
            <a:r>
              <a:rPr sz="1800" b="0" i="0">
                <a:solidFill>
                  <a:srgbClr val="C8D1E6"/>
                </a:solidFill>
                <a:latin typeface="Calibri"/>
              </a:rPr>
              <a:t>Kompartmanlar ve sinirlerin seyri</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Kesitsel okuma rehberi</a:t>
            </a:r>
          </a:p>
          <a:p>
            <a:pPr algn="l">
              <a:spcAft>
                <a:spcPts val="300"/>
              </a:spcAft>
            </a:pPr>
            <a:r>
              <a:rPr sz="1700" b="0" i="0">
                <a:solidFill>
                  <a:srgbClr val="FFFFFF"/>
                </a:solidFill>
                <a:latin typeface="Calibri"/>
              </a:rPr>
              <a:t>• VHP düzeyleri 1420 – 1490 – 1530 – 1560</a:t>
            </a:r>
          </a:p>
          <a:p>
            <a:pPr algn="l">
              <a:spcAft>
                <a:spcPts val="300"/>
              </a:spcAft>
            </a:pPr>
            <a:r>
              <a:rPr sz="1700" b="0" i="0">
                <a:solidFill>
                  <a:srgbClr val="FFFFFF"/>
                </a:solidFill>
                <a:latin typeface="Calibri"/>
              </a:rPr>
              <a:t>• Sinirlerin ultrasonu</a:t>
            </a:r>
          </a:p>
          <a:p>
            <a:pPr algn="l">
              <a:spcAft>
                <a:spcPts val="300"/>
              </a:spcAft>
            </a:pPr>
            <a:r>
              <a:rPr sz="1700" b="0" i="0">
                <a:solidFill>
                  <a:srgbClr val="FFFFFF"/>
                </a:solidFill>
                <a:latin typeface="Calibri"/>
              </a:rPr>
              <a:t>• Görüntüleme varyasyonları: proc. supracondylaris, aksesuar arter, bifid tendon</a:t>
            </a:r>
          </a:p>
        </p:txBody>
      </p:sp>
      <p:pic>
        <p:nvPicPr>
          <p:cNvPr id="7" name="Picture 6" descr="cryo_1530_R.jpg"/>
          <p:cNvPicPr>
            <a:picLocks noChangeAspect="1"/>
          </p:cNvPicPr>
          <p:nvPr/>
        </p:nvPicPr>
        <p:blipFill>
          <a:blip r:embed="rId2"/>
          <a:stretch>
            <a:fillRect/>
          </a:stretch>
        </p:blipFill>
        <p:spPr>
          <a:xfrm>
            <a:off x="6812280" y="365760"/>
            <a:ext cx="2381832" cy="2677680"/>
          </a:xfrm>
          <a:prstGeom prst="rect">
            <a:avLst/>
          </a:prstGeom>
        </p:spPr>
      </p:pic>
      <p:sp>
        <p:nvSpPr>
          <p:cNvPr id="8" name="TextBox 7"/>
          <p:cNvSpPr txBox="1"/>
          <p:nvPr/>
        </p:nvSpPr>
        <p:spPr>
          <a:xfrm>
            <a:off x="6629400" y="3043440"/>
            <a:ext cx="2747592"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kriyokesit 1530</a:t>
            </a:r>
          </a:p>
        </p:txBody>
      </p:sp>
      <p:pic>
        <p:nvPicPr>
          <p:cNvPr id="9" name="Picture 8" descr="12871_2018_584_Fig1_HTML.jpg"/>
          <p:cNvPicPr>
            <a:picLocks noChangeAspect="1"/>
          </p:cNvPicPr>
          <p:nvPr/>
        </p:nvPicPr>
        <p:blipFill>
          <a:blip r:embed="rId3"/>
          <a:stretch>
            <a:fillRect/>
          </a:stretch>
        </p:blipFill>
        <p:spPr>
          <a:xfrm>
            <a:off x="9331272" y="365760"/>
            <a:ext cx="2601647" cy="2677680"/>
          </a:xfrm>
          <a:prstGeom prst="rect">
            <a:avLst/>
          </a:prstGeom>
        </p:spPr>
      </p:pic>
      <p:sp>
        <p:nvSpPr>
          <p:cNvPr id="10" name="TextBox 9"/>
          <p:cNvSpPr txBox="1"/>
          <p:nvPr/>
        </p:nvSpPr>
        <p:spPr>
          <a:xfrm>
            <a:off x="9148392" y="3043440"/>
            <a:ext cx="296740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Zhu Weijuan ve ark., 2018 (PMC6195720, CC BY)</a:t>
            </a:r>
          </a:p>
        </p:txBody>
      </p:sp>
      <p:sp>
        <p:nvSpPr>
          <p:cNvPr id="11" name="TextBox 10"/>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Görüntü: NLM Visible Human Project (NCI Imaging Data Commons, doi:10.5281/zenodo.12690049; NLM Terms and Conditions 2019). İşleme/kırpma: bu proje.  •  Zhu Weijuan, Zhou Riyong, Chen Lulu et al. The ultrasound-guided selective nerve block in the upper arm: an approach of retaining the motor function in elbow. BMC Anesthesiol. 2018 Oct 19;18:143. doi: 10.1186/s12871-018-0584-7 PMCID: PMC6195720.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 kesitlerini okumak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Merkezde humerus, etrafında iki kompartman</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Kol kesitleri en kolay okunan kesitlerdir: merkezde yuvarlak humerus, önde fleksör kas kitlesi, arkada m. triceps brachii. Ön ve arka kompartmanları ayıran septumlar ince yağ çizgileri olarak görülür. Kolun iç yüzünde, iki kompartmanın birleştiği yerde a. brachialis, eşlik eden venler ve n. medianus'tan oluşan damar–sinir demeti bulunur.</a:t>
            </a:r>
          </a:p>
          <a:p>
            <a:pPr algn="l">
              <a:lnSpc>
                <a:spcPct val="108000"/>
              </a:lnSpc>
              <a:spcAft>
                <a:spcPts val="900"/>
              </a:spcAft>
            </a:pPr>
            <a:r>
              <a:rPr sz="2000" b="0" i="0">
                <a:solidFill>
                  <a:srgbClr val="1F2A44"/>
                </a:solidFill>
                <a:latin typeface="Calibri"/>
              </a:rPr>
              <a:t>Distale indikçe humerus'un şekli yuvarlaktan üçgene döner ve m. brachialis kemiğin ön yüzünü örter. Bu düzeylerde n. radialis'in humerus'un arkasındaki seyri ve kol distalinde laterale geçişi, ultrason ile kolayca izlenebilir; literatürden eklenen ultrason görüntüleri bunu göstermektedir.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Kolun kesitsel anatomisi – okuma rehberi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Humerus, kompartmanlar ve sinirlerin kesitteki yeri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KONU ANLATIMI</a:t>
            </a:r>
          </a:p>
        </p:txBody>
      </p:sp>
      <p:sp>
        <p:nvSpPr>
          <p:cNvPr id="7" name="TextBox 6"/>
          <p:cNvSpPr txBox="1"/>
          <p:nvPr/>
        </p:nvSpPr>
        <p:spPr>
          <a:xfrm>
            <a:off x="274320" y="1234440"/>
            <a:ext cx="6400800" cy="5074920"/>
          </a:xfrm>
          <a:prstGeom prst="rect">
            <a:avLst/>
          </a:prstGeom>
          <a:noFill/>
        </p:spPr>
        <p:txBody>
          <a:bodyPr wrap="square">
            <a:spAutoFit/>
          </a:bodyPr>
          <a:lstStyle/>
          <a:p>
            <a:pPr algn="l">
              <a:spcAft>
                <a:spcPts val="300"/>
              </a:spcAft>
            </a:pPr>
            <a:r>
              <a:rPr sz="1850" b="0" i="0">
                <a:solidFill>
                  <a:srgbClr val="1F2A44"/>
                </a:solidFill>
                <a:latin typeface="Calibri"/>
              </a:rPr>
              <a:t>• Humerus kesitin merkezindedir; </a:t>
            </a:r>
            <a:r>
              <a:rPr sz="1850" b="0" i="0">
                <a:solidFill>
                  <a:srgbClr val="1F2A44"/>
                </a:solidFill>
                <a:latin typeface="Calibri"/>
              </a:rPr>
              <a:t>ön kompartmanda</a:t>
            </a:r>
            <a:r>
              <a:rPr sz="1850" b="0" i="0">
                <a:solidFill>
                  <a:srgbClr val="1F2A44"/>
                </a:solidFill>
                <a:latin typeface="Calibri"/>
              </a:rPr>
              <a:t> yüzeyelde m. biceps brachii, derinde (distal yarıda) m. brachialis, proksimalde m. coracobrachialis bulunur.</a:t>
            </a:r>
          </a:p>
          <a:p>
            <a:pPr algn="l">
              <a:spcAft>
                <a:spcPts val="300"/>
              </a:spcAft>
            </a:pPr>
            <a:r>
              <a:rPr sz="1850" b="0" i="0">
                <a:solidFill>
                  <a:srgbClr val="1F2A44"/>
                </a:solidFill>
                <a:latin typeface="Calibri"/>
              </a:rPr>
              <a:t>• </a:t>
            </a:r>
            <a:r>
              <a:rPr sz="1850" b="0" i="0">
                <a:solidFill>
                  <a:srgbClr val="1F2A44"/>
                </a:solidFill>
                <a:latin typeface="Calibri"/>
              </a:rPr>
              <a:t>Arka kompartmanı</a:t>
            </a:r>
            <a:r>
              <a:rPr sz="1850" b="0" i="0">
                <a:solidFill>
                  <a:srgbClr val="1F2A44"/>
                </a:solidFill>
                <a:latin typeface="Calibri"/>
              </a:rPr>
              <a:t> m. triceps brachii'nin üç başı doldurur; caput mediale humerus'a en yakın, derin baştır.</a:t>
            </a:r>
          </a:p>
          <a:p>
            <a:pPr algn="l">
              <a:spcAft>
                <a:spcPts val="300"/>
              </a:spcAft>
            </a:pPr>
            <a:r>
              <a:rPr sz="1850" b="0" i="0">
                <a:solidFill>
                  <a:srgbClr val="1F2A44"/>
                </a:solidFill>
                <a:latin typeface="Calibri"/>
              </a:rPr>
              <a:t>• </a:t>
            </a:r>
            <a:r>
              <a:rPr sz="1850" b="0" i="0">
                <a:solidFill>
                  <a:srgbClr val="1F2A44"/>
                </a:solidFill>
                <a:latin typeface="Calibri"/>
              </a:rPr>
              <a:t>Medial damar–sinir demeti:</a:t>
            </a:r>
            <a:r>
              <a:rPr sz="1850" b="0" i="0">
                <a:solidFill>
                  <a:srgbClr val="1F2A44"/>
                </a:solidFill>
                <a:latin typeface="Calibri"/>
              </a:rPr>
              <a:t> a. brachialis ve vv. brachiales, n. medianus; proksimalde n. ulnaris ve v. basilica da yakındır.</a:t>
            </a:r>
          </a:p>
          <a:p>
            <a:pPr algn="l">
              <a:spcAft>
                <a:spcPts val="300"/>
              </a:spcAft>
            </a:pPr>
            <a:r>
              <a:rPr sz="1850" b="0" i="0">
                <a:solidFill>
                  <a:srgbClr val="1F2A44"/>
                </a:solidFill>
                <a:latin typeface="Calibri"/>
              </a:rPr>
              <a:t>• </a:t>
            </a:r>
            <a:r>
              <a:rPr sz="1850" b="0" i="0">
                <a:solidFill>
                  <a:srgbClr val="1F2A44"/>
                </a:solidFill>
                <a:latin typeface="Calibri"/>
              </a:rPr>
              <a:t>N. radialis:</a:t>
            </a:r>
            <a:r>
              <a:rPr sz="1850" b="0" i="0">
                <a:solidFill>
                  <a:srgbClr val="1F2A44"/>
                </a:solidFill>
                <a:latin typeface="Calibri"/>
              </a:rPr>
              <a:t> orta üçte birde humerus'un arkasında sulcus'ta, a. profunda brachii ile; distal üçte birde lateralde m. brachialis ile m. brachioradialis arasında. Ultrasonda humerus üzerinde 'bal peteği' görünümlü yapı.</a:t>
            </a:r>
          </a:p>
          <a:p>
            <a:pPr algn="l">
              <a:spcAft>
                <a:spcPts val="300"/>
              </a:spcAft>
            </a:pPr>
            <a:r>
              <a:rPr sz="1850" b="0" i="0">
                <a:solidFill>
                  <a:srgbClr val="1F2A44"/>
                </a:solidFill>
                <a:latin typeface="Calibri"/>
              </a:rPr>
              <a:t>• </a:t>
            </a:r>
            <a:r>
              <a:rPr sz="1850" b="0" i="0">
                <a:solidFill>
                  <a:srgbClr val="1F2A44"/>
                </a:solidFill>
                <a:latin typeface="Calibri"/>
              </a:rPr>
              <a:t>N. musculocutaneus:</a:t>
            </a:r>
            <a:r>
              <a:rPr sz="1850" b="0" i="0">
                <a:solidFill>
                  <a:srgbClr val="1F2A44"/>
                </a:solidFill>
                <a:latin typeface="Calibri"/>
              </a:rPr>
              <a:t> m. biceps ile m. brachialis arasında; </a:t>
            </a:r>
            <a:r>
              <a:rPr sz="1850" b="0" i="0">
                <a:solidFill>
                  <a:srgbClr val="1F2A44"/>
                </a:solidFill>
                <a:latin typeface="Calibri"/>
              </a:rPr>
              <a:t>n. ulnaris</a:t>
            </a:r>
            <a:r>
              <a:rPr sz="1850" b="0" i="0">
                <a:solidFill>
                  <a:srgbClr val="1F2A44"/>
                </a:solidFill>
                <a:latin typeface="Calibri"/>
              </a:rPr>
              <a:t> distalde septum mediale'nin arkasında.</a:t>
            </a:r>
          </a:p>
        </p:txBody>
      </p:sp>
      <p:pic>
        <p:nvPicPr>
          <p:cNvPr id="8" name="Picture 7" descr="cryo_1490_R.jpg"/>
          <p:cNvPicPr>
            <a:picLocks noChangeAspect="1"/>
          </p:cNvPicPr>
          <p:nvPr/>
        </p:nvPicPr>
        <p:blipFill>
          <a:blip r:embed="rId2"/>
          <a:stretch>
            <a:fillRect/>
          </a:stretch>
        </p:blipFill>
        <p:spPr>
          <a:xfrm>
            <a:off x="7372615" y="1234440"/>
            <a:ext cx="4091408" cy="4754880"/>
          </a:xfrm>
          <a:prstGeom prst="rect">
            <a:avLst/>
          </a:prstGeom>
        </p:spPr>
      </p:pic>
      <p:sp>
        <p:nvSpPr>
          <p:cNvPr id="9" name="TextBox 8"/>
          <p:cNvSpPr txBox="1"/>
          <p:nvPr/>
        </p:nvSpPr>
        <p:spPr>
          <a:xfrm>
            <a:off x="7189735" y="5989320"/>
            <a:ext cx="4457168"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kesit 1490</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Görüntü: NLM Visible Human Project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 – proksimal üçte bir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Ön ve arka kompartmanın başlangıcı – NLM kesit no. 1420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420_R.jpg"/>
          <p:cNvPicPr>
            <a:picLocks noChangeAspect="1"/>
          </p:cNvPicPr>
          <p:nvPr/>
        </p:nvPicPr>
        <p:blipFill>
          <a:blip r:embed="rId2"/>
          <a:stretch>
            <a:fillRect/>
          </a:stretch>
        </p:blipFill>
        <p:spPr>
          <a:xfrm>
            <a:off x="2821484" y="1234440"/>
            <a:ext cx="2495190" cy="4069080"/>
          </a:xfrm>
          <a:prstGeom prst="rect">
            <a:avLst/>
          </a:prstGeom>
        </p:spPr>
      </p:pic>
      <p:sp>
        <p:nvSpPr>
          <p:cNvPr id="8" name="TextBox 7"/>
          <p:cNvSpPr txBox="1"/>
          <p:nvPr/>
        </p:nvSpPr>
        <p:spPr>
          <a:xfrm>
            <a:off x="2638604" y="5321808"/>
            <a:ext cx="286095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029412"/>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Humerus</a:t>
            </a:r>
          </a:p>
        </p:txBody>
      </p:sp>
      <p:cxnSp>
        <p:nvCxnSpPr>
          <p:cNvPr id="10" name="Connector 9"/>
          <p:cNvCxnSpPr/>
          <p:nvPr/>
        </p:nvCxnSpPr>
        <p:spPr>
          <a:xfrm>
            <a:off x="2103120" y="3258012"/>
            <a:ext cx="190837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970350" y="321686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638128"/>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Arka kompartman: M. triceps brachii</a:t>
            </a:r>
          </a:p>
        </p:txBody>
      </p:sp>
      <p:cxnSp>
        <p:nvCxnSpPr>
          <p:cNvPr id="13" name="Connector 12"/>
          <p:cNvCxnSpPr/>
          <p:nvPr/>
        </p:nvCxnSpPr>
        <p:spPr>
          <a:xfrm>
            <a:off x="2103120" y="3866728"/>
            <a:ext cx="170547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767445" y="382558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2486502"/>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Ön kompartman: M. biceps brachii, m. coracobrachialis</a:t>
            </a:r>
          </a:p>
        </p:txBody>
      </p:sp>
      <p:cxnSp>
        <p:nvCxnSpPr>
          <p:cNvPr id="16" name="Connector 15"/>
          <p:cNvCxnSpPr/>
          <p:nvPr/>
        </p:nvCxnSpPr>
        <p:spPr>
          <a:xfrm flipH="1">
            <a:off x="4192468" y="2715102"/>
            <a:ext cx="184257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151320" y="267395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254253"/>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Medial damar–sinir demeti bölgesi</a:t>
            </a:r>
          </a:p>
        </p:txBody>
      </p:sp>
      <p:cxnSp>
        <p:nvCxnSpPr>
          <p:cNvPr id="19" name="Connector 18"/>
          <p:cNvCxnSpPr/>
          <p:nvPr/>
        </p:nvCxnSpPr>
        <p:spPr>
          <a:xfrm flipH="1">
            <a:off x="4439245" y="3482853"/>
            <a:ext cx="159579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398097" y="344170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t_1420_R.png"/>
          <p:cNvPicPr>
            <a:picLocks noChangeAspect="1"/>
          </p:cNvPicPr>
          <p:nvPr/>
        </p:nvPicPr>
        <p:blipFill>
          <a:blip r:embed="rId3"/>
          <a:stretch>
            <a:fillRect/>
          </a:stretch>
        </p:blipFill>
        <p:spPr>
          <a:xfrm>
            <a:off x="8229600" y="1442290"/>
            <a:ext cx="2240280" cy="3653379"/>
          </a:xfrm>
          <a:prstGeom prst="rect">
            <a:avLst/>
          </a:prstGeom>
        </p:spPr>
      </p:pic>
      <p:sp>
        <p:nvSpPr>
          <p:cNvPr id="22" name="TextBox 21"/>
          <p:cNvSpPr txBox="1"/>
          <p:nvPr/>
        </p:nvSpPr>
        <p:spPr>
          <a:xfrm>
            <a:off x="8046720" y="5113957"/>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3" name="TextBox 22"/>
          <p:cNvSpPr txBox="1"/>
          <p:nvPr/>
        </p:nvSpPr>
        <p:spPr>
          <a:xfrm>
            <a:off x="10561320" y="3030532"/>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Humerus</a:t>
            </a:r>
          </a:p>
        </p:txBody>
      </p:sp>
      <p:cxnSp>
        <p:nvCxnSpPr>
          <p:cNvPr id="24" name="Connector 23"/>
          <p:cNvCxnSpPr/>
          <p:nvPr/>
        </p:nvCxnSpPr>
        <p:spPr>
          <a:xfrm flipH="1">
            <a:off x="9298041" y="3259132"/>
            <a:ext cx="126327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256893" y="321798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oc_1420.jpg"/>
          <p:cNvPicPr>
            <a:picLocks noChangeAspect="1"/>
          </p:cNvPicPr>
          <p:nvPr/>
        </p:nvPicPr>
        <p:blipFill>
          <a:blip r:embed="rId4"/>
          <a:stretch>
            <a:fillRect/>
          </a:stretch>
        </p:blipFill>
        <p:spPr>
          <a:xfrm>
            <a:off x="10515600" y="1240131"/>
            <a:ext cx="1554480" cy="903017"/>
          </a:xfrm>
          <a:prstGeom prst="rect">
            <a:avLst/>
          </a:prstGeom>
        </p:spPr>
      </p:pic>
      <p:sp>
        <p:nvSpPr>
          <p:cNvPr id="27" name="TextBox 26"/>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28" name="TextBox 27"/>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Proksimal kolda ön kompartmanda m. biceps'in iki başı ve m. coracobrachialis; m. brachialis daha distalde başlar.</a:t>
            </a:r>
          </a:p>
          <a:p>
            <a:pPr algn="l">
              <a:spcAft>
                <a:spcPts val="300"/>
              </a:spcAft>
            </a:pPr>
            <a:r>
              <a:rPr sz="1500" b="0" i="0">
                <a:solidFill>
                  <a:srgbClr val="1F2A44"/>
                </a:solidFill>
                <a:latin typeface="Calibri"/>
              </a:rPr>
              <a:t>• N. radialis bu düzeyin hemen altında triangular aralıktan humerus'un arkasına geçer.</a:t>
            </a:r>
          </a:p>
        </p:txBody>
      </p:sp>
      <p:cxnSp>
        <p:nvCxnSpPr>
          <p:cNvPr id="29" name="Connector 28"/>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a_vm1420, donmuş BT c_vm1420.fro); NCI Imaging Data Commons (doi:10.5281/zenodo.12690049); NLM Terms and Conditions (2019). Yönelim: radyolojik (ön yukarıda, hastanın sağı solda); sağ üst ekstremite.</a:t>
            </a:r>
          </a:p>
        </p:txBody>
      </p:sp>
      <p:sp>
        <p:nvSpPr>
          <p:cNvPr id="31" name="TextBox 30"/>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 – orta üçte bir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Kompartmanlar ve medial damar–sinir demeti – NLM kesit no. 1490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490_R.jpg"/>
          <p:cNvPicPr>
            <a:picLocks noChangeAspect="1"/>
          </p:cNvPicPr>
          <p:nvPr/>
        </p:nvPicPr>
        <p:blipFill>
          <a:blip r:embed="rId2"/>
          <a:stretch>
            <a:fillRect/>
          </a:stretch>
        </p:blipFill>
        <p:spPr>
          <a:xfrm>
            <a:off x="2318429" y="1234440"/>
            <a:ext cx="3501301" cy="4069080"/>
          </a:xfrm>
          <a:prstGeom prst="rect">
            <a:avLst/>
          </a:prstGeom>
        </p:spPr>
      </p:pic>
      <p:sp>
        <p:nvSpPr>
          <p:cNvPr id="8" name="TextBox 7"/>
          <p:cNvSpPr txBox="1"/>
          <p:nvPr/>
        </p:nvSpPr>
        <p:spPr>
          <a:xfrm>
            <a:off x="2135549" y="5321808"/>
            <a:ext cx="3867061"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182324"/>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Humerus (corpus)</a:t>
            </a:r>
          </a:p>
        </p:txBody>
      </p:sp>
      <p:cxnSp>
        <p:nvCxnSpPr>
          <p:cNvPr id="10" name="Connector 9"/>
          <p:cNvCxnSpPr/>
          <p:nvPr/>
        </p:nvCxnSpPr>
        <p:spPr>
          <a:xfrm>
            <a:off x="2103120" y="3410924"/>
            <a:ext cx="171992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781894" y="336977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4308418"/>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Arka kompartman: M. triceps brachii</a:t>
            </a:r>
          </a:p>
        </p:txBody>
      </p:sp>
      <p:cxnSp>
        <p:nvCxnSpPr>
          <p:cNvPr id="13" name="Connector 12"/>
          <p:cNvCxnSpPr/>
          <p:nvPr/>
        </p:nvCxnSpPr>
        <p:spPr>
          <a:xfrm>
            <a:off x="2103120" y="4537018"/>
            <a:ext cx="169153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753505" y="449587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2046767"/>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Ön kompartman: M. biceps brachii, M. brachialis</a:t>
            </a:r>
          </a:p>
        </p:txBody>
      </p:sp>
      <p:cxnSp>
        <p:nvCxnSpPr>
          <p:cNvPr id="16" name="Connector 15"/>
          <p:cNvCxnSpPr/>
          <p:nvPr/>
        </p:nvCxnSpPr>
        <p:spPr>
          <a:xfrm flipH="1">
            <a:off x="4362432" y="2275367"/>
            <a:ext cx="167260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321284" y="223421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456750"/>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Damar–sinir demeti: A. brachialis, Vv. brachiales, N. medianus</a:t>
            </a:r>
          </a:p>
        </p:txBody>
      </p:sp>
      <p:cxnSp>
        <p:nvCxnSpPr>
          <p:cNvPr id="19" name="Connector 18"/>
          <p:cNvCxnSpPr/>
          <p:nvPr/>
        </p:nvCxnSpPr>
        <p:spPr>
          <a:xfrm flipH="1">
            <a:off x="4797729" y="3685350"/>
            <a:ext cx="123731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756581" y="364420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t_1490_R.png"/>
          <p:cNvPicPr>
            <a:picLocks noChangeAspect="1"/>
          </p:cNvPicPr>
          <p:nvPr/>
        </p:nvPicPr>
        <p:blipFill>
          <a:blip r:embed="rId3"/>
          <a:stretch>
            <a:fillRect/>
          </a:stretch>
        </p:blipFill>
        <p:spPr>
          <a:xfrm>
            <a:off x="8229600" y="1967195"/>
            <a:ext cx="2240280" cy="2603568"/>
          </a:xfrm>
          <a:prstGeom prst="rect">
            <a:avLst/>
          </a:prstGeom>
        </p:spPr>
      </p:pic>
      <p:sp>
        <p:nvSpPr>
          <p:cNvPr id="22" name="TextBox 21"/>
          <p:cNvSpPr txBox="1"/>
          <p:nvPr/>
        </p:nvSpPr>
        <p:spPr>
          <a:xfrm>
            <a:off x="8046720" y="4589052"/>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3" name="TextBox 22"/>
          <p:cNvSpPr txBox="1"/>
          <p:nvPr/>
        </p:nvSpPr>
        <p:spPr>
          <a:xfrm>
            <a:off x="7955279" y="4863372"/>
            <a:ext cx="2788920" cy="640080"/>
          </a:xfrm>
          <a:prstGeom prst="rect">
            <a:avLst/>
          </a:prstGeom>
          <a:noFill/>
        </p:spPr>
        <p:txBody>
          <a:bodyPr wrap="square" anchor="t" lIns="45720" rIns="45720" tIns="18288" bIns="18288">
            <a:spAutoFit/>
          </a:bodyPr>
          <a:lstStyle/>
          <a:p>
            <a:pPr algn="l"/>
            <a:r>
              <a:rPr sz="1100" b="0" i="1">
                <a:solidFill>
                  <a:srgbClr val="C0392B"/>
                </a:solidFill>
                <a:latin typeface="Calibri"/>
              </a:rPr>
              <a:t>BT görüş alanı (480 mm) kolu kısmen dışarıda bırakır; kenarda kesilme artefaktı – BT etiketlenmemiştir.</a:t>
            </a:r>
          </a:p>
        </p:txBody>
      </p:sp>
      <p:pic>
        <p:nvPicPr>
          <p:cNvPr id="24" name="Picture 23" descr="loc_1490.jpg"/>
          <p:cNvPicPr>
            <a:picLocks noChangeAspect="1"/>
          </p:cNvPicPr>
          <p:nvPr/>
        </p:nvPicPr>
        <p:blipFill>
          <a:blip r:embed="rId4"/>
          <a:stretch>
            <a:fillRect/>
          </a:stretch>
        </p:blipFill>
        <p:spPr>
          <a:xfrm>
            <a:off x="10515600" y="1240131"/>
            <a:ext cx="1554480" cy="903017"/>
          </a:xfrm>
          <a:prstGeom prst="rect">
            <a:avLst/>
          </a:prstGeom>
        </p:spPr>
      </p:pic>
      <p:sp>
        <p:nvSpPr>
          <p:cNvPr id="25" name="TextBox 24"/>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26" name="TextBox 25"/>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Septa intermuscularia kolu ön (fleksör) ve arka (ekstensör) kompartmana ayırır.</a:t>
            </a:r>
          </a:p>
          <a:p>
            <a:pPr algn="l">
              <a:spcAft>
                <a:spcPts val="300"/>
              </a:spcAft>
            </a:pPr>
            <a:r>
              <a:rPr sz="1500" b="0" i="0">
                <a:solidFill>
                  <a:srgbClr val="1F2A44"/>
                </a:solidFill>
                <a:latin typeface="Calibri"/>
              </a:rPr>
              <a:t>• N. radialis bu düzeyde humerus arkasında sulcus nervi radialis içindedir – cisim kırıklarında risk.</a:t>
            </a:r>
          </a:p>
        </p:txBody>
      </p:sp>
      <p:cxnSp>
        <p:nvCxnSpPr>
          <p:cNvPr id="27" name="Connector 2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a_vm1490, donmuş BT c_vm1490.fro); NCI Imaging Data Commons (doi:10.5281/zenodo.12690049); NLM Terms and Conditions (2019). Yönelim: radyolojik (ön yukarıda, hastanın sağı solda); sağ üst ekstremite.</a:t>
            </a:r>
          </a:p>
        </p:txBody>
      </p:sp>
      <p:sp>
        <p:nvSpPr>
          <p:cNvPr id="29" name="TextBox 28"/>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 – distal üçte birin başlangıcı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 brachialis'in genişlediği düzey – NLM kesit no. 1530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530_R.jpg"/>
          <p:cNvPicPr>
            <a:picLocks noChangeAspect="1"/>
          </p:cNvPicPr>
          <p:nvPr/>
        </p:nvPicPr>
        <p:blipFill>
          <a:blip r:embed="rId2"/>
          <a:stretch>
            <a:fillRect/>
          </a:stretch>
        </p:blipFill>
        <p:spPr>
          <a:xfrm>
            <a:off x="2259330" y="1234440"/>
            <a:ext cx="3619500" cy="4069080"/>
          </a:xfrm>
          <a:prstGeom prst="rect">
            <a:avLst/>
          </a:prstGeom>
        </p:spPr>
      </p:pic>
      <p:sp>
        <p:nvSpPr>
          <p:cNvPr id="8" name="TextBox 7"/>
          <p:cNvSpPr txBox="1"/>
          <p:nvPr/>
        </p:nvSpPr>
        <p:spPr>
          <a:xfrm>
            <a:off x="2076449" y="5321808"/>
            <a:ext cx="39852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482340"/>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Humerus</a:t>
            </a:r>
          </a:p>
        </p:txBody>
      </p:sp>
      <p:cxnSp>
        <p:nvCxnSpPr>
          <p:cNvPr id="10" name="Connector 9"/>
          <p:cNvCxnSpPr/>
          <p:nvPr/>
        </p:nvCxnSpPr>
        <p:spPr>
          <a:xfrm>
            <a:off x="2103120" y="3710940"/>
            <a:ext cx="126111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323082" y="366979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4320540"/>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Arka kompartman: M. triceps brachii</a:t>
            </a:r>
          </a:p>
        </p:txBody>
      </p:sp>
      <p:cxnSp>
        <p:nvCxnSpPr>
          <p:cNvPr id="13" name="Connector 12"/>
          <p:cNvCxnSpPr/>
          <p:nvPr/>
        </p:nvCxnSpPr>
        <p:spPr>
          <a:xfrm>
            <a:off x="2103120" y="4549140"/>
            <a:ext cx="168021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742182" y="450799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2529840"/>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Ön kompartman (m. biceps brachii, m. brachialis)</a:t>
            </a:r>
          </a:p>
        </p:txBody>
      </p:sp>
      <p:cxnSp>
        <p:nvCxnSpPr>
          <p:cNvPr id="16" name="Connector 15"/>
          <p:cNvCxnSpPr/>
          <p:nvPr/>
        </p:nvCxnSpPr>
        <p:spPr>
          <a:xfrm flipH="1">
            <a:off x="4164330" y="2758440"/>
            <a:ext cx="187071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123182" y="271729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672840"/>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A. brachialis / vv. brachiales ve n. medianus bölgesi</a:t>
            </a:r>
          </a:p>
        </p:txBody>
      </p:sp>
      <p:cxnSp>
        <p:nvCxnSpPr>
          <p:cNvPr id="19" name="Connector 18"/>
          <p:cNvCxnSpPr/>
          <p:nvPr/>
        </p:nvCxnSpPr>
        <p:spPr>
          <a:xfrm flipH="1">
            <a:off x="4469130" y="3901440"/>
            <a:ext cx="156591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427982" y="386029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t_1530_R.png"/>
          <p:cNvPicPr>
            <a:picLocks noChangeAspect="1"/>
          </p:cNvPicPr>
          <p:nvPr/>
        </p:nvPicPr>
        <p:blipFill>
          <a:blip r:embed="rId3"/>
          <a:stretch>
            <a:fillRect/>
          </a:stretch>
        </p:blipFill>
        <p:spPr>
          <a:xfrm>
            <a:off x="8229600" y="2009706"/>
            <a:ext cx="2240280" cy="2518546"/>
          </a:xfrm>
          <a:prstGeom prst="rect">
            <a:avLst/>
          </a:prstGeom>
        </p:spPr>
      </p:pic>
      <p:sp>
        <p:nvSpPr>
          <p:cNvPr id="22" name="TextBox 21"/>
          <p:cNvSpPr txBox="1"/>
          <p:nvPr/>
        </p:nvSpPr>
        <p:spPr>
          <a:xfrm>
            <a:off x="8046720" y="4546541"/>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3" name="TextBox 22"/>
          <p:cNvSpPr txBox="1"/>
          <p:nvPr/>
        </p:nvSpPr>
        <p:spPr>
          <a:xfrm>
            <a:off x="7955279" y="4820861"/>
            <a:ext cx="2788920" cy="640080"/>
          </a:xfrm>
          <a:prstGeom prst="rect">
            <a:avLst/>
          </a:prstGeom>
          <a:noFill/>
        </p:spPr>
        <p:txBody>
          <a:bodyPr wrap="square" anchor="t" lIns="45720" rIns="45720" tIns="18288" bIns="18288">
            <a:spAutoFit/>
          </a:bodyPr>
          <a:lstStyle/>
          <a:p>
            <a:pPr algn="l"/>
            <a:r>
              <a:rPr sz="1100" b="0" i="1">
                <a:solidFill>
                  <a:srgbClr val="C0392B"/>
                </a:solidFill>
                <a:latin typeface="Calibri"/>
              </a:rPr>
              <a:t>BT görüş alanı kolu kısmen dışarıda bırakır; BT etiketlenmemiştir.</a:t>
            </a:r>
          </a:p>
        </p:txBody>
      </p:sp>
      <p:pic>
        <p:nvPicPr>
          <p:cNvPr id="24" name="Picture 23" descr="loc_1530.jpg"/>
          <p:cNvPicPr>
            <a:picLocks noChangeAspect="1"/>
          </p:cNvPicPr>
          <p:nvPr/>
        </p:nvPicPr>
        <p:blipFill>
          <a:blip r:embed="rId4"/>
          <a:stretch>
            <a:fillRect/>
          </a:stretch>
        </p:blipFill>
        <p:spPr>
          <a:xfrm>
            <a:off x="10515600" y="1240131"/>
            <a:ext cx="1554480" cy="903017"/>
          </a:xfrm>
          <a:prstGeom prst="rect">
            <a:avLst/>
          </a:prstGeom>
        </p:spPr>
      </p:pic>
      <p:sp>
        <p:nvSpPr>
          <p:cNvPr id="25" name="TextBox 24"/>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26" name="TextBox 25"/>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Distale doğru m. brachialis humerus'un ön yüzünü örter; n. medianus a. brachialis'i lateralden mediale çaprazlar.</a:t>
            </a:r>
          </a:p>
          <a:p>
            <a:pPr algn="l">
              <a:spcAft>
                <a:spcPts val="300"/>
              </a:spcAft>
            </a:pPr>
            <a:r>
              <a:rPr sz="1500" b="0" i="0">
                <a:solidFill>
                  <a:srgbClr val="1F2A44"/>
                </a:solidFill>
                <a:latin typeface="Calibri"/>
              </a:rPr>
              <a:t>• N. radialis kolun distal üçte birinde septum intermusculare laterale'yi delerek öne geçer.</a:t>
            </a:r>
          </a:p>
        </p:txBody>
      </p:sp>
      <p:cxnSp>
        <p:nvCxnSpPr>
          <p:cNvPr id="27" name="Connector 2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a_vm1530, donmuş BT c_vm1530.fro); NCI Imaging Data Commons (doi:10.5281/zenodo.12690049); NLM Terms and Conditions (2019). Yönelim: radyolojik (ön yukarıda, hastanın sağı solda); sağ üst ekstremite.</a:t>
            </a:r>
          </a:p>
        </p:txBody>
      </p:sp>
      <p:sp>
        <p:nvSpPr>
          <p:cNvPr id="29" name="TextBox 28"/>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 – suprakondiler bölge</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Humerus'un üçgenimsi distal kesiti – NLM kesit no. 1560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560_R.jpg"/>
          <p:cNvPicPr>
            <a:picLocks noChangeAspect="1"/>
          </p:cNvPicPr>
          <p:nvPr/>
        </p:nvPicPr>
        <p:blipFill>
          <a:blip r:embed="rId2"/>
          <a:stretch>
            <a:fillRect/>
          </a:stretch>
        </p:blipFill>
        <p:spPr>
          <a:xfrm>
            <a:off x="2194560" y="1310941"/>
            <a:ext cx="3749039" cy="3916076"/>
          </a:xfrm>
          <a:prstGeom prst="rect">
            <a:avLst/>
          </a:prstGeom>
        </p:spPr>
      </p:pic>
      <p:sp>
        <p:nvSpPr>
          <p:cNvPr id="8" name="TextBox 7"/>
          <p:cNvSpPr txBox="1"/>
          <p:nvPr/>
        </p:nvSpPr>
        <p:spPr>
          <a:xfrm>
            <a:off x="2011679" y="5245306"/>
            <a:ext cx="411480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448691"/>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Humerus (suprakondiler bölge)</a:t>
            </a:r>
          </a:p>
        </p:txBody>
      </p:sp>
      <p:cxnSp>
        <p:nvCxnSpPr>
          <p:cNvPr id="10" name="Connector 9"/>
          <p:cNvCxnSpPr/>
          <p:nvPr/>
        </p:nvCxnSpPr>
        <p:spPr>
          <a:xfrm>
            <a:off x="2103120" y="3677291"/>
            <a:ext cx="118645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248428" y="363614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4051878"/>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Arka kompartman: M. triceps brachii</a:t>
            </a:r>
          </a:p>
        </p:txBody>
      </p:sp>
      <p:cxnSp>
        <p:nvCxnSpPr>
          <p:cNvPr id="13" name="Connector 12"/>
          <p:cNvCxnSpPr/>
          <p:nvPr/>
        </p:nvCxnSpPr>
        <p:spPr>
          <a:xfrm>
            <a:off x="2103120" y="4280478"/>
            <a:ext cx="194740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009372" y="423933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2752706"/>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Ön kompartman: M. brachialis, M. biceps brachii</a:t>
            </a:r>
          </a:p>
        </p:txBody>
      </p:sp>
      <p:cxnSp>
        <p:nvCxnSpPr>
          <p:cNvPr id="16" name="Connector 15"/>
          <p:cNvCxnSpPr/>
          <p:nvPr/>
        </p:nvCxnSpPr>
        <p:spPr>
          <a:xfrm flipH="1">
            <a:off x="4421712" y="2981306"/>
            <a:ext cx="161332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380564" y="294015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448691"/>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Damar–sinir demeti (A. brachialis, N. medianus)</a:t>
            </a:r>
          </a:p>
        </p:txBody>
      </p:sp>
      <p:cxnSp>
        <p:nvCxnSpPr>
          <p:cNvPr id="19" name="Connector 18"/>
          <p:cNvCxnSpPr/>
          <p:nvPr/>
        </p:nvCxnSpPr>
        <p:spPr>
          <a:xfrm flipH="1">
            <a:off x="4792904" y="3677291"/>
            <a:ext cx="124213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751756" y="363614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t_1560_R.png"/>
          <p:cNvPicPr>
            <a:picLocks noChangeAspect="1"/>
          </p:cNvPicPr>
          <p:nvPr/>
        </p:nvPicPr>
        <p:blipFill>
          <a:blip r:embed="rId3"/>
          <a:stretch>
            <a:fillRect/>
          </a:stretch>
        </p:blipFill>
        <p:spPr>
          <a:xfrm>
            <a:off x="8229600" y="2098932"/>
            <a:ext cx="2240280" cy="2340094"/>
          </a:xfrm>
          <a:prstGeom prst="rect">
            <a:avLst/>
          </a:prstGeom>
        </p:spPr>
      </p:pic>
      <p:sp>
        <p:nvSpPr>
          <p:cNvPr id="22" name="TextBox 21"/>
          <p:cNvSpPr txBox="1"/>
          <p:nvPr/>
        </p:nvSpPr>
        <p:spPr>
          <a:xfrm>
            <a:off x="8046720" y="4457315"/>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3" name="TextBox 22"/>
          <p:cNvSpPr txBox="1"/>
          <p:nvPr/>
        </p:nvSpPr>
        <p:spPr>
          <a:xfrm>
            <a:off x="7955279" y="4731635"/>
            <a:ext cx="2788920" cy="640080"/>
          </a:xfrm>
          <a:prstGeom prst="rect">
            <a:avLst/>
          </a:prstGeom>
          <a:noFill/>
        </p:spPr>
        <p:txBody>
          <a:bodyPr wrap="square" anchor="t" lIns="45720" rIns="45720" tIns="18288" bIns="18288">
            <a:spAutoFit/>
          </a:bodyPr>
          <a:lstStyle/>
          <a:p>
            <a:pPr algn="l"/>
            <a:r>
              <a:rPr sz="1100" b="0" i="1">
                <a:solidFill>
                  <a:srgbClr val="C0392B"/>
                </a:solidFill>
                <a:latin typeface="Calibri"/>
              </a:rPr>
              <a:t>BT görüş alanı kolu kısmen dışarıda bırakır; BT etiketlenmemiştir.</a:t>
            </a:r>
          </a:p>
        </p:txBody>
      </p:sp>
      <p:pic>
        <p:nvPicPr>
          <p:cNvPr id="24" name="Picture 23" descr="loc_1560.jpg"/>
          <p:cNvPicPr>
            <a:picLocks noChangeAspect="1"/>
          </p:cNvPicPr>
          <p:nvPr/>
        </p:nvPicPr>
        <p:blipFill>
          <a:blip r:embed="rId4"/>
          <a:stretch>
            <a:fillRect/>
          </a:stretch>
        </p:blipFill>
        <p:spPr>
          <a:xfrm>
            <a:off x="10515600" y="1240131"/>
            <a:ext cx="1554480" cy="903017"/>
          </a:xfrm>
          <a:prstGeom prst="rect">
            <a:avLst/>
          </a:prstGeom>
        </p:spPr>
      </p:pic>
      <p:sp>
        <p:nvSpPr>
          <p:cNvPr id="25" name="TextBox 24"/>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26" name="TextBox 25"/>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Suprakondiler kırıklarda öndeki </a:t>
            </a:r>
            <a:r>
              <a:rPr sz="1500" b="0" i="0">
                <a:solidFill>
                  <a:srgbClr val="1F2A44"/>
                </a:solidFill>
                <a:latin typeface="Calibri"/>
              </a:rPr>
              <a:t>a. brachialis</a:t>
            </a:r>
            <a:r>
              <a:rPr sz="1500" b="0" i="0">
                <a:solidFill>
                  <a:srgbClr val="1F2A44"/>
                </a:solidFill>
                <a:latin typeface="Calibri"/>
              </a:rPr>
              <a:t> ve </a:t>
            </a:r>
            <a:r>
              <a:rPr sz="1500" b="0" i="0">
                <a:solidFill>
                  <a:srgbClr val="1F2A44"/>
                </a:solidFill>
                <a:latin typeface="Calibri"/>
              </a:rPr>
              <a:t>n. medianus</a:t>
            </a:r>
            <a:r>
              <a:rPr sz="1500" b="0" i="0">
                <a:solidFill>
                  <a:srgbClr val="1F2A44"/>
                </a:solidFill>
                <a:latin typeface="Calibri"/>
              </a:rPr>
              <a:t> risk altındadır (Volkmann kontraktürü).</a:t>
            </a:r>
          </a:p>
          <a:p>
            <a:pPr algn="l">
              <a:spcAft>
                <a:spcPts val="300"/>
              </a:spcAft>
            </a:pPr>
            <a:r>
              <a:rPr sz="1500" b="0" i="0">
                <a:solidFill>
                  <a:srgbClr val="1F2A44"/>
                </a:solidFill>
                <a:latin typeface="Calibri"/>
              </a:rPr>
              <a:t>• Proc. supracondylaris varyasyonu bu düzeyin 3–6 cm proksimalinde humerus'un ön-medialinden çıkar (bkz. varyasyonlar).</a:t>
            </a:r>
          </a:p>
        </p:txBody>
      </p:sp>
      <p:cxnSp>
        <p:nvCxnSpPr>
          <p:cNvPr id="27" name="Connector 2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a_vm1560, donmuş BT c_vm1560.fro); NCI Imaging Data Commons (doi:10.5281/zenodo.12690049); NLM Terms and Conditions (2019). Yönelim: radyolojik (ön yukarıda, hastanın sağı solda); sağ üst ekstremite.</a:t>
            </a:r>
          </a:p>
        </p:txBody>
      </p:sp>
      <p:sp>
        <p:nvSpPr>
          <p:cNvPr id="29" name="TextBox 28"/>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Kolun sinirleri – ultrason anatomisi (iki düzey)</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Zhu ve ark., BMC Anesthesiol 2018</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2871_2018_584_Fig1_HTML.jpg"/>
          <p:cNvPicPr>
            <a:picLocks noChangeAspect="1"/>
          </p:cNvPicPr>
          <p:nvPr/>
        </p:nvPicPr>
        <p:blipFill>
          <a:blip r:embed="rId2"/>
          <a:stretch>
            <a:fillRect/>
          </a:stretch>
        </p:blipFill>
        <p:spPr>
          <a:xfrm>
            <a:off x="1073996" y="1234440"/>
            <a:ext cx="4664286" cy="4800600"/>
          </a:xfrm>
          <a:prstGeom prst="rect">
            <a:avLst/>
          </a:prstGeom>
        </p:spPr>
      </p:pic>
      <p:sp>
        <p:nvSpPr>
          <p:cNvPr id="8" name="TextBox 7"/>
          <p:cNvSpPr txBox="1"/>
          <p:nvPr/>
        </p:nvSpPr>
        <p:spPr>
          <a:xfrm>
            <a:off x="891116" y="6035040"/>
            <a:ext cx="5030046"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Zhu Weijuan ve ark., 2018 (PMC6195720,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MCN</a:t>
            </a:r>
            <a:r>
              <a:rPr sz="1600" b="0" i="0">
                <a:solidFill>
                  <a:srgbClr val="1F2A44"/>
                </a:solidFill>
                <a:latin typeface="Calibri"/>
              </a:rPr>
              <a:t> n. musculocutaneus; </a:t>
            </a:r>
            <a:r>
              <a:rPr sz="1600" b="0" i="0">
                <a:solidFill>
                  <a:srgbClr val="1F2A44"/>
                </a:solidFill>
                <a:latin typeface="Calibri"/>
              </a:rPr>
              <a:t>RN</a:t>
            </a:r>
            <a:r>
              <a:rPr sz="1600" b="0" i="0">
                <a:solidFill>
                  <a:srgbClr val="1F2A44"/>
                </a:solidFill>
                <a:latin typeface="Calibri"/>
              </a:rPr>
              <a:t> n. radialis; </a:t>
            </a:r>
            <a:r>
              <a:rPr sz="1600" b="0" i="0">
                <a:solidFill>
                  <a:srgbClr val="1F2A44"/>
                </a:solidFill>
                <a:latin typeface="Calibri"/>
              </a:rPr>
              <a:t>MN</a:t>
            </a:r>
            <a:r>
              <a:rPr sz="1600" b="0" i="0">
                <a:solidFill>
                  <a:srgbClr val="1F2A44"/>
                </a:solidFill>
                <a:latin typeface="Calibri"/>
              </a:rPr>
              <a:t> n. medianus; </a:t>
            </a:r>
            <a:r>
              <a:rPr sz="1600" b="0" i="0">
                <a:solidFill>
                  <a:srgbClr val="1F2A44"/>
                </a:solidFill>
                <a:latin typeface="Calibri"/>
              </a:rPr>
              <a:t>UN</a:t>
            </a:r>
            <a:r>
              <a:rPr sz="1600" b="0" i="0">
                <a:solidFill>
                  <a:srgbClr val="1F2A44"/>
                </a:solidFill>
                <a:latin typeface="Calibri"/>
              </a:rPr>
              <a:t> n. ulnaris; </a:t>
            </a:r>
            <a:r>
              <a:rPr sz="1600" b="0" i="0">
                <a:solidFill>
                  <a:srgbClr val="1F2A44"/>
                </a:solidFill>
                <a:latin typeface="Calibri"/>
              </a:rPr>
              <a:t>T</a:t>
            </a:r>
            <a:r>
              <a:rPr sz="1600" b="0" i="0">
                <a:solidFill>
                  <a:srgbClr val="1F2A44"/>
                </a:solidFill>
                <a:latin typeface="Calibri"/>
              </a:rPr>
              <a:t> m. triceps; </a:t>
            </a:r>
            <a:r>
              <a:rPr sz="1600" b="0" i="0">
                <a:solidFill>
                  <a:srgbClr val="1F2A44"/>
                </a:solidFill>
                <a:latin typeface="Calibri"/>
              </a:rPr>
              <a:t>B</a:t>
            </a:r>
            <a:r>
              <a:rPr sz="1600" b="0" i="0">
                <a:solidFill>
                  <a:srgbClr val="1F2A44"/>
                </a:solidFill>
                <a:latin typeface="Calibri"/>
              </a:rPr>
              <a:t> m. biceps; </a:t>
            </a:r>
            <a:r>
              <a:rPr sz="1600" b="0" i="0">
                <a:solidFill>
                  <a:srgbClr val="1F2A44"/>
                </a:solidFill>
                <a:latin typeface="Calibri"/>
              </a:rPr>
              <a:t>M</a:t>
            </a:r>
            <a:r>
              <a:rPr sz="1600" b="0" i="0">
                <a:solidFill>
                  <a:srgbClr val="1F2A44"/>
                </a:solidFill>
                <a:latin typeface="Calibri"/>
              </a:rPr>
              <a:t> m. brachialis; </a:t>
            </a:r>
            <a:r>
              <a:rPr sz="1600" b="0" i="0">
                <a:solidFill>
                  <a:srgbClr val="1F2A44"/>
                </a:solidFill>
                <a:latin typeface="Calibri"/>
              </a:rPr>
              <a:t>HB</a:t>
            </a:r>
            <a:r>
              <a:rPr sz="1600" b="0" i="0">
                <a:solidFill>
                  <a:srgbClr val="1F2A44"/>
                </a:solidFill>
                <a:latin typeface="Calibri"/>
              </a:rPr>
              <a:t> humerus; </a:t>
            </a:r>
            <a:r>
              <a:rPr sz="1600" b="0" i="0">
                <a:solidFill>
                  <a:srgbClr val="1F2A44"/>
                </a:solidFill>
                <a:latin typeface="Calibri"/>
              </a:rPr>
              <a:t>A/V</a:t>
            </a:r>
            <a:r>
              <a:rPr sz="1600" b="0" i="0">
                <a:solidFill>
                  <a:srgbClr val="1F2A44"/>
                </a:solidFill>
                <a:latin typeface="Calibri"/>
              </a:rPr>
              <a:t> a./v. brachialis; p1/p2 iğne giriş noktaları</a:t>
            </a:r>
          </a:p>
        </p:txBody>
      </p:sp>
      <p:sp>
        <p:nvSpPr>
          <p:cNvPr id="11" name="TextBox 10"/>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076448"/>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Kolun orta-alt üçte birinde n. radialis m. brachialis ile humerus arasında, n. musculocutaneus m. biceps ile m. brachialis arasında.</a:t>
            </a:r>
          </a:p>
          <a:p>
            <a:pPr algn="l">
              <a:spcAft>
                <a:spcPts val="300"/>
              </a:spcAft>
            </a:pPr>
            <a:r>
              <a:rPr sz="1600" b="0" i="0">
                <a:solidFill>
                  <a:srgbClr val="1F2A44"/>
                </a:solidFill>
                <a:latin typeface="Calibri"/>
              </a:rPr>
              <a:t>• Orta-üst üçte birde n. medianus ve n. ulnaris a. brachialis çevresinde – seçici kol bloğunun anatomik temeli.</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Zhu Weijuan, Zhou Riyong, Chen Lulu et al. The ultrasound-guided selective nerve block in the upper arm: an approach of retaining the motor function in elbow. BMC Anesthesiol. 2018 Oct 19;18:143. doi: 10.1186/s12871-018-0584-7 PMCID: PMC6195720.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radialis'in ultrasonu – sulcus nervi radialis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Agarwal ve ark., Insights Imaging 2018; Xiao ve ark., Front Neurol 2019</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3244_2018_662_Fig2_HTML.jpg"/>
          <p:cNvPicPr>
            <a:picLocks noChangeAspect="1"/>
          </p:cNvPicPr>
          <p:nvPr/>
        </p:nvPicPr>
        <p:blipFill>
          <a:blip r:embed="rId2"/>
          <a:stretch>
            <a:fillRect/>
          </a:stretch>
        </p:blipFill>
        <p:spPr>
          <a:xfrm>
            <a:off x="1765997" y="1234440"/>
            <a:ext cx="3280285" cy="3284590"/>
          </a:xfrm>
          <a:prstGeom prst="rect">
            <a:avLst/>
          </a:prstGeom>
        </p:spPr>
      </p:pic>
      <p:sp>
        <p:nvSpPr>
          <p:cNvPr id="8" name="TextBox 7"/>
          <p:cNvSpPr txBox="1"/>
          <p:nvPr/>
        </p:nvSpPr>
        <p:spPr>
          <a:xfrm>
            <a:off x="1583117" y="4519030"/>
            <a:ext cx="364604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Agarwal Aakanksha ve ark., 2018 (PMC6269333, CC BY)</a:t>
            </a:r>
          </a:p>
        </p:txBody>
      </p:sp>
      <p:pic>
        <p:nvPicPr>
          <p:cNvPr id="9" name="Picture 8" descr="fneur-10-00216-g0002.jpg"/>
          <p:cNvPicPr>
            <a:picLocks noChangeAspect="1"/>
          </p:cNvPicPr>
          <p:nvPr/>
        </p:nvPicPr>
        <p:blipFill>
          <a:blip r:embed="rId3"/>
          <a:stretch>
            <a:fillRect/>
          </a:stretch>
        </p:blipFill>
        <p:spPr>
          <a:xfrm>
            <a:off x="1765997" y="4793350"/>
            <a:ext cx="3280285" cy="1241689"/>
          </a:xfrm>
          <a:prstGeom prst="rect">
            <a:avLst/>
          </a:prstGeom>
        </p:spPr>
      </p:pic>
      <p:sp>
        <p:nvSpPr>
          <p:cNvPr id="10" name="TextBox 9"/>
          <p:cNvSpPr txBox="1"/>
          <p:nvPr/>
        </p:nvSpPr>
        <p:spPr>
          <a:xfrm>
            <a:off x="1583117" y="6035040"/>
            <a:ext cx="364604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Xiao Ted G. ve ark., 2019 (PMC6423902,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Üst: prob pozisyonu; çarpı işaretleri n. radialis'in bal peteği görünümü; yıldızlar m. triceps'in lateral ve medial başları; </a:t>
            </a:r>
            <a:r>
              <a:rPr sz="1600" b="0" i="0">
                <a:solidFill>
                  <a:srgbClr val="1F2A44"/>
                </a:solidFill>
                <a:latin typeface="Calibri"/>
              </a:rPr>
              <a:t>B</a:t>
            </a:r>
            <a:r>
              <a:rPr sz="1600" b="0" i="0">
                <a:solidFill>
                  <a:srgbClr val="1F2A44"/>
                </a:solidFill>
                <a:latin typeface="Calibri"/>
              </a:rPr>
              <a:t> m. brachialis, </a:t>
            </a:r>
            <a:r>
              <a:rPr sz="1600" b="0" i="0">
                <a:solidFill>
                  <a:srgbClr val="1F2A44"/>
                </a:solidFill>
                <a:latin typeface="Calibri"/>
              </a:rPr>
              <a:t>Br</a:t>
            </a:r>
            <a:r>
              <a:rPr sz="1600" b="0" i="0">
                <a:solidFill>
                  <a:srgbClr val="1F2A44"/>
                </a:solidFill>
                <a:latin typeface="Calibri"/>
              </a:rPr>
              <a:t> m. brachioradialis</a:t>
            </a:r>
          </a:p>
          <a:p>
            <a:pPr algn="l">
              <a:spcAft>
                <a:spcPts val="300"/>
              </a:spcAft>
            </a:pPr>
            <a:r>
              <a:rPr sz="1600" b="0" i="0">
                <a:solidFill>
                  <a:srgbClr val="1F2A44"/>
                </a:solidFill>
                <a:latin typeface="Calibri"/>
              </a:rPr>
              <a:t>• Alt: ok n. radialis; Humerus (konveks hiperekoik yüzey); Brachialis</a:t>
            </a:r>
          </a:p>
        </p:txBody>
      </p:sp>
      <p:sp>
        <p:nvSpPr>
          <p:cNvPr id="13" name="TextBox 12"/>
          <p:cNvSpPr txBox="1"/>
          <p:nvPr/>
        </p:nvSpPr>
        <p:spPr>
          <a:xfrm>
            <a:off x="6720840" y="32593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606800"/>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Sinir kısa eksende humerus üzerinde, triceps başları arasında kolayca bulunur; a. profunda brachii eşlik eder.</a:t>
            </a:r>
          </a:p>
          <a:p>
            <a:pPr algn="l">
              <a:spcAft>
                <a:spcPts val="300"/>
              </a:spcAft>
            </a:pPr>
            <a:r>
              <a:rPr sz="1600" b="0" i="0">
                <a:solidFill>
                  <a:srgbClr val="1F2A44"/>
                </a:solidFill>
                <a:latin typeface="Calibri"/>
              </a:rPr>
              <a:t>• Humerus cisim kırıklarında ve 'Cumartesi gecesi felci'nde ilk değerlendirme yöntemidir.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Agarwal Aakanksha, Chandra Abhishek, Jaipal Usha et al. A panorama of radial nerve pathologies- an imaging diagnosis: a step ahead. Insights Imaging. 2018 Nov 5;9(6):1021–34. doi: 10.1007/s13244-018-0662-x PMCID: PMC6269333. Lisans: CC BY.  •  Xiao Ted G., Cartwright Michael S. Ultrasound in the Evaluation of Radial Neuropathies at the Elbow. Front Neurol. 2019 Mar 12;10:216. doi: 10.3389/fneur.2019.00216 PMCID: PMC6423902.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 – görüntüleme tabanlı varyasyonlar: literatür taraması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MR, BT, ultrason ve grafi çalışmaları (PMC açık erişim)</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234440"/>
          <a:ext cx="11640312" cy="2119881"/>
        </p:xfrm>
        <a:graphic>
          <a:graphicData uri="http://schemas.openxmlformats.org/drawingml/2006/table">
            <a:tbl>
              <a:tblPr firstRow="1" bandRow="1">
                <a:tableStyleId>{5C22544A-7EE6-4342-B048-85BDC9FD1C3A}</a:tableStyleId>
              </a:tblPr>
              <a:tblGrid>
                <a:gridCol w="2108088"/>
                <a:gridCol w="1924776"/>
                <a:gridCol w="1833120"/>
                <a:gridCol w="3024648"/>
                <a:gridCol w="2749680"/>
              </a:tblGrid>
              <a:tr h="457200">
                <a:tc>
                  <a:txBody>
                    <a:bodyPr/>
                    <a:lstStyle/>
                    <a:p>
                      <a:r>
                        <a:rPr sz="1350" b="1">
                          <a:solidFill>
                            <a:srgbClr val="FFFFFF"/>
                          </a:solidFill>
                          <a:latin typeface="Calibri"/>
                        </a:rPr>
                        <a:t>Varyasyon</a:t>
                      </a:r>
                    </a:p>
                  </a:txBody>
                  <a:tcPr>
                    <a:solidFill>
                      <a:srgbClr val="1F2A44"/>
                    </a:solidFill>
                  </a:tcPr>
                </a:tc>
                <a:tc>
                  <a:txBody>
                    <a:bodyPr/>
                    <a:lstStyle/>
                    <a:p>
                      <a:r>
                        <a:rPr sz="1350" b="1">
                          <a:solidFill>
                            <a:srgbClr val="FFFFFF"/>
                          </a:solidFill>
                          <a:latin typeface="Calibri"/>
                        </a:rPr>
                        <a:t>Çalışma</a:t>
                      </a:r>
                    </a:p>
                  </a:txBody>
                  <a:tcPr>
                    <a:solidFill>
                      <a:srgbClr val="1F2A44"/>
                    </a:solidFill>
                  </a:tcPr>
                </a:tc>
                <a:tc>
                  <a:txBody>
                    <a:bodyPr/>
                    <a:lstStyle/>
                    <a:p>
                      <a:r>
                        <a:rPr sz="1350" b="1">
                          <a:solidFill>
                            <a:srgbClr val="FFFFFF"/>
                          </a:solidFill>
                          <a:latin typeface="Calibri"/>
                        </a:rPr>
                        <a:t>Örneklem / yöntem</a:t>
                      </a:r>
                    </a:p>
                  </a:txBody>
                  <a:tcPr>
                    <a:solidFill>
                      <a:srgbClr val="1F2A44"/>
                    </a:solidFill>
                  </a:tcPr>
                </a:tc>
                <a:tc>
                  <a:txBody>
                    <a:bodyPr/>
                    <a:lstStyle/>
                    <a:p>
                      <a:r>
                        <a:rPr sz="1350" b="1">
                          <a:solidFill>
                            <a:srgbClr val="FFFFFF"/>
                          </a:solidFill>
                          <a:latin typeface="Calibri"/>
                        </a:rPr>
                        <a:t>Sıklık / ana bulgu</a:t>
                      </a:r>
                    </a:p>
                  </a:txBody>
                  <a:tcPr>
                    <a:solidFill>
                      <a:srgbClr val="1F2A44"/>
                    </a:solidFill>
                  </a:tcPr>
                </a:tc>
                <a:tc>
                  <a:txBody>
                    <a:bodyPr/>
                    <a:lstStyle/>
                    <a:p>
                      <a:r>
                        <a:rPr sz="1350" b="1">
                          <a:solidFill>
                            <a:srgbClr val="FFFFFF"/>
                          </a:solidFill>
                          <a:latin typeface="Calibri"/>
                        </a:rPr>
                        <a:t>Klinik önem</a:t>
                      </a:r>
                    </a:p>
                  </a:txBody>
                  <a:tcPr>
                    <a:solidFill>
                      <a:srgbClr val="1F2A44"/>
                    </a:solidFill>
                  </a:tcPr>
                </a:tc>
              </a:tr>
              <a:tr h="554227">
                <a:tc>
                  <a:txBody>
                    <a:bodyPr/>
                    <a:lstStyle/>
                    <a:p>
                      <a:r>
                        <a:rPr sz="1300" b="1">
                          <a:solidFill>
                            <a:srgbClr val="1F2A44"/>
                          </a:solidFill>
                          <a:latin typeface="Calibri"/>
                        </a:rPr>
                        <a:t>Proc. supracondylaris (X-ray/BT/US)</a:t>
                      </a:r>
                    </a:p>
                  </a:txBody>
                  <a:tcPr>
                    <a:solidFill>
                      <a:srgbClr val="F3F4F6"/>
                    </a:solidFill>
                  </a:tcPr>
                </a:tc>
                <a:tc>
                  <a:txBody>
                    <a:bodyPr/>
                    <a:lstStyle/>
                    <a:p>
                      <a:r>
                        <a:rPr sz="1300" b="0">
                          <a:solidFill>
                            <a:srgbClr val="1F2A44"/>
                          </a:solidFill>
                          <a:latin typeface="Calibri"/>
                        </a:rPr>
                        <a:t>Albano ve ark. 2025; Mangi ve ark. 2022</a:t>
                      </a:r>
                    </a:p>
                  </a:txBody>
                  <a:tcPr>
                    <a:solidFill>
                      <a:srgbClr val="F3F4F6"/>
                    </a:solidFill>
                  </a:tcPr>
                </a:tc>
                <a:tc>
                  <a:txBody>
                    <a:bodyPr/>
                    <a:lstStyle/>
                    <a:p>
                      <a:r>
                        <a:rPr sz="1300" b="0">
                          <a:solidFill>
                            <a:srgbClr val="1F2A44"/>
                          </a:solidFill>
                          <a:latin typeface="Calibri"/>
                        </a:rPr>
                        <a:t>Derleme</a:t>
                      </a:r>
                    </a:p>
                  </a:txBody>
                  <a:tcPr>
                    <a:solidFill>
                      <a:srgbClr val="F3F4F6"/>
                    </a:solidFill>
                  </a:tcPr>
                </a:tc>
                <a:tc>
                  <a:txBody>
                    <a:bodyPr/>
                    <a:lstStyle/>
                    <a:p>
                      <a:r>
                        <a:rPr sz="1300" b="0">
                          <a:solidFill>
                            <a:srgbClr val="1F2A44"/>
                          </a:solidFill>
                          <a:latin typeface="Calibri"/>
                        </a:rPr>
                        <a:t>%1–2 (aktarılan); medial epikondilin 3–6 cm proksimali</a:t>
                      </a:r>
                    </a:p>
                  </a:txBody>
                  <a:tcPr>
                    <a:solidFill>
                      <a:srgbClr val="F3F4F6"/>
                    </a:solidFill>
                  </a:tcPr>
                </a:tc>
                <a:tc>
                  <a:txBody>
                    <a:bodyPr/>
                    <a:lstStyle/>
                    <a:p>
                      <a:r>
                        <a:rPr sz="1300" b="0">
                          <a:solidFill>
                            <a:srgbClr val="1F2A44"/>
                          </a:solidFill>
                          <a:latin typeface="Calibri"/>
                        </a:rPr>
                        <a:t>N. medianus sıkışması (lig. Struthers)</a:t>
                      </a:r>
                    </a:p>
                  </a:txBody>
                  <a:tcPr>
                    <a:solidFill>
                      <a:srgbClr val="F3F4F6"/>
                    </a:solidFill>
                  </a:tcPr>
                </a:tc>
              </a:tr>
              <a:tr h="554227">
                <a:tc>
                  <a:txBody>
                    <a:bodyPr/>
                    <a:lstStyle/>
                    <a:p>
                      <a:r>
                        <a:rPr sz="1300" b="1">
                          <a:solidFill>
                            <a:srgbClr val="1F2A44"/>
                          </a:solidFill>
                          <a:latin typeface="Calibri"/>
                        </a:rPr>
                        <a:t>Aksesuar a. brachialis (Doppler US)</a:t>
                      </a:r>
                    </a:p>
                  </a:txBody>
                  <a:tcPr>
                    <a:solidFill>
                      <a:srgbClr val="FFFFFF"/>
                    </a:solidFill>
                  </a:tcPr>
                </a:tc>
                <a:tc>
                  <a:txBody>
                    <a:bodyPr/>
                    <a:lstStyle/>
                    <a:p>
                      <a:r>
                        <a:rPr sz="1300" b="0">
                          <a:solidFill>
                            <a:srgbClr val="1F2A44"/>
                          </a:solidFill>
                          <a:latin typeface="Calibri"/>
                        </a:rPr>
                        <a:t>França ve ark. 2024</a:t>
                      </a:r>
                    </a:p>
                  </a:txBody>
                  <a:tcPr>
                    <a:solidFill>
                      <a:srgbClr val="FFFFFF"/>
                    </a:solidFill>
                  </a:tcPr>
                </a:tc>
                <a:tc>
                  <a:txBody>
                    <a:bodyPr/>
                    <a:lstStyle/>
                    <a:p>
                      <a:r>
                        <a:rPr sz="1300" b="0">
                          <a:solidFill>
                            <a:srgbClr val="1F2A44"/>
                          </a:solidFill>
                          <a:latin typeface="Calibri"/>
                        </a:rPr>
                        <a:t>250 gönüllü, 500 ekstremite</a:t>
                      </a:r>
                    </a:p>
                  </a:txBody>
                  <a:tcPr>
                    <a:solidFill>
                      <a:srgbClr val="FFFFFF"/>
                    </a:solidFill>
                  </a:tcPr>
                </a:tc>
                <a:tc>
                  <a:txBody>
                    <a:bodyPr/>
                    <a:lstStyle/>
                    <a:p>
                      <a:r>
                        <a:rPr sz="1300" b="0">
                          <a:solidFill>
                            <a:srgbClr val="1F2A44"/>
                          </a:solidFill>
                          <a:latin typeface="Calibri"/>
                        </a:rPr>
                        <a:t>%15,6; bilateral %2,4; kadavra literatüründe %0,2–22</a:t>
                      </a:r>
                    </a:p>
                  </a:txBody>
                  <a:tcPr>
                    <a:solidFill>
                      <a:srgbClr val="FFFFFF"/>
                    </a:solidFill>
                  </a:tcPr>
                </a:tc>
                <a:tc>
                  <a:txBody>
                    <a:bodyPr/>
                    <a:lstStyle/>
                    <a:p>
                      <a:r>
                        <a:rPr sz="1300" b="0">
                          <a:solidFill>
                            <a:srgbClr val="1F2A44"/>
                          </a:solidFill>
                          <a:latin typeface="Calibri"/>
                        </a:rPr>
                        <a:t>Venipunktur, AV fistül, flep</a:t>
                      </a:r>
                    </a:p>
                  </a:txBody>
                  <a:tcPr>
                    <a:solidFill>
                      <a:srgbClr val="FFFFFF"/>
                    </a:solidFill>
                  </a:tcPr>
                </a:tc>
              </a:tr>
              <a:tr h="554227">
                <a:tc>
                  <a:txBody>
                    <a:bodyPr/>
                    <a:lstStyle/>
                    <a:p>
                      <a:r>
                        <a:rPr sz="1300" b="1">
                          <a:solidFill>
                            <a:srgbClr val="1F2A44"/>
                          </a:solidFill>
                          <a:latin typeface="Calibri"/>
                        </a:rPr>
                        <a:t>Bifid distal biceps yapışması (3T MR)</a:t>
                      </a:r>
                    </a:p>
                  </a:txBody>
                  <a:tcPr>
                    <a:solidFill>
                      <a:srgbClr val="F3F4F6"/>
                    </a:solidFill>
                  </a:tcPr>
                </a:tc>
                <a:tc>
                  <a:txBody>
                    <a:bodyPr/>
                    <a:lstStyle/>
                    <a:p>
                      <a:r>
                        <a:rPr sz="1300" b="0">
                          <a:solidFill>
                            <a:srgbClr val="1F2A44"/>
                          </a:solidFill>
                          <a:latin typeface="Calibri"/>
                        </a:rPr>
                        <a:t>Boyle &amp; MacLean 2023 (CC BY-NC)</a:t>
                      </a:r>
                    </a:p>
                  </a:txBody>
                  <a:tcPr>
                    <a:solidFill>
                      <a:srgbClr val="F3F4F6"/>
                    </a:solidFill>
                  </a:tcPr>
                </a:tc>
                <a:tc>
                  <a:txBody>
                    <a:bodyPr/>
                    <a:lstStyle/>
                    <a:p>
                      <a:r>
                        <a:rPr sz="1300" b="0">
                          <a:solidFill>
                            <a:srgbClr val="1F2A44"/>
                          </a:solidFill>
                          <a:latin typeface="Calibri"/>
                        </a:rPr>
                        <a:t>44 kısmi yırtıklı dirsek</a:t>
                      </a:r>
                    </a:p>
                  </a:txBody>
                  <a:tcPr>
                    <a:solidFill>
                      <a:srgbClr val="F3F4F6"/>
                    </a:solidFill>
                  </a:tcPr>
                </a:tc>
                <a:tc>
                  <a:txBody>
                    <a:bodyPr/>
                    <a:lstStyle/>
                    <a:p>
                      <a:r>
                        <a:rPr sz="1300" b="0">
                          <a:solidFill>
                            <a:srgbClr val="1F2A44"/>
                          </a:solidFill>
                          <a:latin typeface="Calibri"/>
                        </a:rPr>
                        <a:t>Bifid tendon %30 (13/44)</a:t>
                      </a:r>
                    </a:p>
                  </a:txBody>
                  <a:tcPr>
                    <a:solidFill>
                      <a:srgbClr val="F3F4F6"/>
                    </a:solidFill>
                  </a:tcPr>
                </a:tc>
                <a:tc>
                  <a:txBody>
                    <a:bodyPr/>
                    <a:lstStyle/>
                    <a:p>
                      <a:r>
                        <a:rPr sz="1300" b="0">
                          <a:solidFill>
                            <a:srgbClr val="1F2A44"/>
                          </a:solidFill>
                          <a:latin typeface="Calibri"/>
                        </a:rPr>
                        <a:t>Kısmi yırtık sınıflaması</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Proc. supracondylaris – X-ray, BT ve 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Albano ve ark., Insights Imaging 2025; Mangi ve ark., Insights Imaging 2022</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13244_2025_1901_Fig8_HTML.jpg"/>
          <p:cNvPicPr>
            <a:picLocks noChangeAspect="1"/>
          </p:cNvPicPr>
          <p:nvPr/>
        </p:nvPicPr>
        <p:blipFill>
          <a:blip r:embed="rId2"/>
          <a:stretch>
            <a:fillRect/>
          </a:stretch>
        </p:blipFill>
        <p:spPr>
          <a:xfrm>
            <a:off x="274320" y="1234440"/>
            <a:ext cx="6263639" cy="1680875"/>
          </a:xfrm>
          <a:prstGeom prst="rect">
            <a:avLst/>
          </a:prstGeom>
        </p:spPr>
      </p:pic>
      <p:sp>
        <p:nvSpPr>
          <p:cNvPr id="8" name="TextBox 7"/>
          <p:cNvSpPr txBox="1"/>
          <p:nvPr/>
        </p:nvSpPr>
        <p:spPr>
          <a:xfrm>
            <a:off x="91440" y="2915315"/>
            <a:ext cx="662939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8 – Albano Domenico ve ark., 2025 (PMC11780019, CC BY)</a:t>
            </a:r>
          </a:p>
        </p:txBody>
      </p:sp>
      <p:pic>
        <p:nvPicPr>
          <p:cNvPr id="9" name="Picture 8" descr="13244_2022_1305_Fig11_HTML.jpg"/>
          <p:cNvPicPr>
            <a:picLocks noChangeAspect="1"/>
          </p:cNvPicPr>
          <p:nvPr/>
        </p:nvPicPr>
        <p:blipFill>
          <a:blip r:embed="rId3"/>
          <a:stretch>
            <a:fillRect/>
          </a:stretch>
        </p:blipFill>
        <p:spPr>
          <a:xfrm>
            <a:off x="274320" y="3189635"/>
            <a:ext cx="6263639" cy="2069238"/>
          </a:xfrm>
          <a:prstGeom prst="rect">
            <a:avLst/>
          </a:prstGeom>
        </p:spPr>
      </p:pic>
      <p:sp>
        <p:nvSpPr>
          <p:cNvPr id="10" name="TextBox 9"/>
          <p:cNvSpPr txBox="1"/>
          <p:nvPr/>
        </p:nvSpPr>
        <p:spPr>
          <a:xfrm>
            <a:off x="91440" y="5258873"/>
            <a:ext cx="662939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11 – Mangi Mohammad Danish ve ark., 2022 (PMC9556688,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Üst: X-ray (a), BT (b) ve US (c) – ok proc. supracondylaris</a:t>
            </a:r>
          </a:p>
          <a:p>
            <a:pPr algn="l">
              <a:spcAft>
                <a:spcPts val="300"/>
              </a:spcAft>
            </a:pPr>
            <a:r>
              <a:rPr sz="1600" b="0" i="0">
                <a:solidFill>
                  <a:srgbClr val="1F2A44"/>
                </a:solidFill>
                <a:latin typeface="Calibri"/>
              </a:rPr>
              <a:t>• Alt (a): yan dirsek grafisinde suprakondiler çıkıntı (beyaz ok); (b) bifid n. medianus + PMA (aksiyel PD), (c) ganglion – karpal tünel</a:t>
            </a:r>
          </a:p>
        </p:txBody>
      </p:sp>
      <p:sp>
        <p:nvSpPr>
          <p:cNvPr id="13" name="TextBox 12"/>
          <p:cNvSpPr txBox="1"/>
          <p:nvPr/>
        </p:nvSpPr>
        <p:spPr>
          <a:xfrm>
            <a:off x="6720840" y="30195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367024"/>
            <a:ext cx="5257800" cy="2162048"/>
          </a:xfrm>
          <a:prstGeom prst="rect">
            <a:avLst/>
          </a:prstGeom>
          <a:noFill/>
        </p:spPr>
        <p:txBody>
          <a:bodyPr wrap="square">
            <a:spAutoFit/>
          </a:bodyPr>
          <a:lstStyle/>
          <a:p>
            <a:pPr algn="l">
              <a:spcAft>
                <a:spcPts val="300"/>
              </a:spcAft>
            </a:pPr>
            <a:r>
              <a:rPr sz="1600" b="0" i="0">
                <a:solidFill>
                  <a:srgbClr val="1F2A44"/>
                </a:solidFill>
                <a:latin typeface="Calibri"/>
              </a:rPr>
              <a:t>• Humerus'un ön-medialinden, epicondylus medialis'in </a:t>
            </a:r>
            <a:r>
              <a:rPr sz="1600" b="0" i="0">
                <a:solidFill>
                  <a:srgbClr val="1F2A44"/>
                </a:solidFill>
                <a:latin typeface="Calibri"/>
              </a:rPr>
              <a:t>3–6 cm</a:t>
            </a:r>
            <a:r>
              <a:rPr sz="1600" b="0" i="0">
                <a:solidFill>
                  <a:srgbClr val="1F2A44"/>
                </a:solidFill>
                <a:latin typeface="Calibri"/>
              </a:rPr>
              <a:t> proksimalinden çıkan kemik çıkıntı; prevalans </a:t>
            </a:r>
            <a:r>
              <a:rPr sz="1600" b="0" i="0">
                <a:solidFill>
                  <a:srgbClr val="1F2A44"/>
                </a:solidFill>
                <a:latin typeface="Calibri"/>
              </a:rPr>
              <a:t>%1–2</a:t>
            </a:r>
            <a:r>
              <a:rPr sz="1600" b="0" i="0">
                <a:solidFill>
                  <a:srgbClr val="1F2A44"/>
                </a:solidFill>
                <a:latin typeface="Calibri"/>
              </a:rPr>
              <a:t> (aktarılan).</a:t>
            </a:r>
          </a:p>
          <a:p>
            <a:pPr algn="l">
              <a:spcAft>
                <a:spcPts val="300"/>
              </a:spcAft>
            </a:pPr>
            <a:r>
              <a:rPr sz="1600" b="0" i="0">
                <a:solidFill>
                  <a:srgbClr val="1F2A44"/>
                </a:solidFill>
                <a:latin typeface="Calibri"/>
              </a:rPr>
              <a:t>• AP ve yan grafide görülmeyebilir; </a:t>
            </a:r>
            <a:r>
              <a:rPr sz="1600" b="0" i="0">
                <a:solidFill>
                  <a:srgbClr val="1F2A44"/>
                </a:solidFill>
                <a:latin typeface="Calibri"/>
              </a:rPr>
              <a:t>oblik</a:t>
            </a:r>
            <a:r>
              <a:rPr sz="1600" b="0" i="0">
                <a:solidFill>
                  <a:srgbClr val="1F2A44"/>
                </a:solidFill>
                <a:latin typeface="Calibri"/>
              </a:rPr>
              <a:t> grafide kolay seçilir. US'de akustik gölgeli kalın ekojen hat; lig. Struthers ince hipoekoik bant.</a:t>
            </a:r>
          </a:p>
          <a:p>
            <a:pPr algn="l">
              <a:spcAft>
                <a:spcPts val="300"/>
              </a:spcAft>
            </a:pPr>
            <a:r>
              <a:rPr sz="1600" b="0" i="0">
                <a:solidFill>
                  <a:srgbClr val="1F2A44"/>
                </a:solidFill>
                <a:latin typeface="Calibri"/>
              </a:rPr>
              <a:t>• Proc. supracondylaris sendromu: n. medianus (ve a. brachialis) sıkışması.</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Albano Domenico, Di Rocco Gabriella, Gitto Salvatore et al. Imaging of elbow entrapment neuropathies. Insights Imaging. 2025 Jan 29;16:24. doi: 10.1186/s13244-025-01901-1 PMCID: PMC11780019. Lisans: CC BY.  •  Mangi Mohammad Danish, Zadow Steven, Lim WanYin Nerve entrapment syndromes of the upper limb: a pictorial review. Insights Imaging. 2022 Oct 12;13:166. doi: 10.1186/s13244-022-01305-5 PMCID: PMC9556688.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Aksesuar a. brachialis – Doppler 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França ve ark., J Vasc Bras 2024 – 250 gönüllü, 500 ekstremite</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jvb-23-e20230117-g07-en.jpg"/>
          <p:cNvPicPr>
            <a:picLocks noChangeAspect="1"/>
          </p:cNvPicPr>
          <p:nvPr/>
        </p:nvPicPr>
        <p:blipFill>
          <a:blip r:embed="rId2"/>
          <a:stretch>
            <a:fillRect/>
          </a:stretch>
        </p:blipFill>
        <p:spPr>
          <a:xfrm>
            <a:off x="274320" y="1234440"/>
            <a:ext cx="3081271" cy="2232142"/>
          </a:xfrm>
          <a:prstGeom prst="rect">
            <a:avLst/>
          </a:prstGeom>
        </p:spPr>
      </p:pic>
      <p:sp>
        <p:nvSpPr>
          <p:cNvPr id="8" name="TextBox 7"/>
          <p:cNvSpPr txBox="1"/>
          <p:nvPr/>
        </p:nvSpPr>
        <p:spPr>
          <a:xfrm>
            <a:off x="91440" y="3466582"/>
            <a:ext cx="344703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7 – França Mariana Jordão ve ark., 2024 (PMC11042541, CC BY)</a:t>
            </a:r>
          </a:p>
        </p:txBody>
      </p:sp>
      <p:pic>
        <p:nvPicPr>
          <p:cNvPr id="9" name="Picture 8" descr="jvb-23-e20230117-g02-en.jpg"/>
          <p:cNvPicPr>
            <a:picLocks noChangeAspect="1"/>
          </p:cNvPicPr>
          <p:nvPr/>
        </p:nvPicPr>
        <p:blipFill>
          <a:blip r:embed="rId3"/>
          <a:stretch>
            <a:fillRect/>
          </a:stretch>
        </p:blipFill>
        <p:spPr>
          <a:xfrm>
            <a:off x="3492751" y="1234440"/>
            <a:ext cx="3045208" cy="2232142"/>
          </a:xfrm>
          <a:prstGeom prst="rect">
            <a:avLst/>
          </a:prstGeom>
        </p:spPr>
      </p:pic>
      <p:sp>
        <p:nvSpPr>
          <p:cNvPr id="10" name="TextBox 9"/>
          <p:cNvSpPr txBox="1"/>
          <p:nvPr/>
        </p:nvSpPr>
        <p:spPr>
          <a:xfrm>
            <a:off x="3309871" y="3466582"/>
            <a:ext cx="341096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França Mariana Jordão ve ark., 2024 (PMC11042541,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Sol: Accessory brachial artery = aksesuar a. brachialis; Principal brachial artery = ana a. brachialis (transvers renkli Doppler)</a:t>
            </a:r>
          </a:p>
          <a:p>
            <a:pPr algn="l">
              <a:spcAft>
                <a:spcPts val="300"/>
              </a:spcAft>
            </a:pPr>
            <a:r>
              <a:rPr sz="1600" b="0" i="0">
                <a:solidFill>
                  <a:srgbClr val="1F2A44"/>
                </a:solidFill>
                <a:latin typeface="Calibri"/>
              </a:rPr>
              <a:t>• Sağ: normal tek a. brachialis (karşılaştırma)</a:t>
            </a:r>
          </a:p>
        </p:txBody>
      </p:sp>
      <p:sp>
        <p:nvSpPr>
          <p:cNvPr id="13" name="TextBox 12"/>
          <p:cNvSpPr txBox="1"/>
          <p:nvPr/>
        </p:nvSpPr>
        <p:spPr>
          <a:xfrm>
            <a:off x="6720840" y="27797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127248"/>
            <a:ext cx="5257800" cy="1682495"/>
          </a:xfrm>
          <a:prstGeom prst="rect">
            <a:avLst/>
          </a:prstGeom>
          <a:noFill/>
        </p:spPr>
        <p:txBody>
          <a:bodyPr wrap="square">
            <a:spAutoFit/>
          </a:bodyPr>
          <a:lstStyle/>
          <a:p>
            <a:pPr algn="l">
              <a:spcAft>
                <a:spcPts val="300"/>
              </a:spcAft>
            </a:pPr>
            <a:r>
              <a:rPr sz="1600" b="0" i="0">
                <a:solidFill>
                  <a:srgbClr val="1F2A44"/>
                </a:solidFill>
                <a:latin typeface="Calibri"/>
              </a:rPr>
              <a:t>• Katılımcıların </a:t>
            </a:r>
            <a:r>
              <a:rPr sz="1600" b="0" i="0">
                <a:solidFill>
                  <a:srgbClr val="1F2A44"/>
                </a:solidFill>
                <a:latin typeface="Calibri"/>
              </a:rPr>
              <a:t>%15,6</a:t>
            </a:r>
            <a:r>
              <a:rPr sz="1600" b="0" i="0">
                <a:solidFill>
                  <a:srgbClr val="1F2A44"/>
                </a:solidFill>
                <a:latin typeface="Calibri"/>
              </a:rPr>
              <a:t>'sında aksesuar a. brachialis: bilateral %2,4, yalnız sağ %8, yalnız sol %5,2; cinsiyet farkı yok (p = 0,401).</a:t>
            </a:r>
          </a:p>
          <a:p>
            <a:pPr algn="l">
              <a:spcAft>
                <a:spcPts val="300"/>
              </a:spcAft>
            </a:pPr>
            <a:r>
              <a:rPr sz="1600" b="0" i="0">
                <a:solidFill>
                  <a:srgbClr val="1F2A44"/>
                </a:solidFill>
                <a:latin typeface="Calibri"/>
              </a:rPr>
              <a:t>• Kadavra literatüründe %0,2–22.</a:t>
            </a:r>
          </a:p>
          <a:p>
            <a:pPr algn="l">
              <a:spcAft>
                <a:spcPts val="300"/>
              </a:spcAft>
            </a:pPr>
            <a:r>
              <a:rPr sz="1600" b="0" i="0">
                <a:solidFill>
                  <a:srgbClr val="1F2A44"/>
                </a:solidFill>
                <a:latin typeface="Calibri"/>
              </a:rPr>
              <a:t>• Venipunktur, AV fistül, kateterizasyon, önkol flepleri ve acil cerrahide önemlidir.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França Mariana Jordão, França Graciliano José, Takahashi Luciana Akemi et al. Assessment of anatomic variations of the brachial artery bifurcation using vascular Doppler ultrasound: a cross-sectional study. J Vasc Bras. 2024 Apr 8;23:e20230117. doi: 10.1590/1677-5449.202301172 PMCID: PMC11042541.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Bifid distal biceps tendonu (3T MR)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Boyle &amp; MacLean, Clin Shoulder Elb 2023 – 44 dirsek</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KOL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cise-2023-00458f1.jpg"/>
          <p:cNvPicPr>
            <a:picLocks noChangeAspect="1"/>
          </p:cNvPicPr>
          <p:nvPr/>
        </p:nvPicPr>
        <p:blipFill>
          <a:blip r:embed="rId2"/>
          <a:stretch>
            <a:fillRect/>
          </a:stretch>
        </p:blipFill>
        <p:spPr>
          <a:xfrm>
            <a:off x="274320" y="2435124"/>
            <a:ext cx="6263639" cy="2399230"/>
          </a:xfrm>
          <a:prstGeom prst="rect">
            <a:avLst/>
          </a:prstGeom>
        </p:spPr>
      </p:pic>
      <p:sp>
        <p:nvSpPr>
          <p:cNvPr id="8" name="TextBox 7"/>
          <p:cNvSpPr txBox="1"/>
          <p:nvPr/>
        </p:nvSpPr>
        <p:spPr>
          <a:xfrm>
            <a:off x="91440" y="4834355"/>
            <a:ext cx="662939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Boyle Alex B ve ark., 2023 (PMC10698130, CC BY-NC)</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621792"/>
          </a:xfrm>
          <a:prstGeom prst="rect">
            <a:avLst/>
          </a:prstGeom>
          <a:noFill/>
        </p:spPr>
        <p:txBody>
          <a:bodyPr wrap="square">
            <a:spAutoFit/>
          </a:bodyPr>
          <a:lstStyle/>
          <a:p>
            <a:pPr algn="l">
              <a:spcAft>
                <a:spcPts val="300"/>
              </a:spcAft>
            </a:pPr>
            <a:r>
              <a:rPr sz="1600" b="0" i="0">
                <a:solidFill>
                  <a:srgbClr val="1F2A44"/>
                </a:solidFill>
                <a:latin typeface="Calibri"/>
              </a:rPr>
              <a:t>• Sagital (A) ve aksiyel (B) MR; beyaz oklar sağlam tendon, sarı ok yırtık caput longum tendonu</a:t>
            </a:r>
          </a:p>
        </p:txBody>
      </p:sp>
      <p:sp>
        <p:nvSpPr>
          <p:cNvPr id="11" name="TextBox 10"/>
          <p:cNvSpPr txBox="1"/>
          <p:nvPr/>
        </p:nvSpPr>
        <p:spPr>
          <a:xfrm>
            <a:off x="6720840" y="2249424"/>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2596896"/>
            <a:ext cx="5257800" cy="1682495"/>
          </a:xfrm>
          <a:prstGeom prst="rect">
            <a:avLst/>
          </a:prstGeom>
          <a:noFill/>
        </p:spPr>
        <p:txBody>
          <a:bodyPr wrap="square">
            <a:spAutoFit/>
          </a:bodyPr>
          <a:lstStyle/>
          <a:p>
            <a:pPr algn="l">
              <a:spcAft>
                <a:spcPts val="300"/>
              </a:spcAft>
            </a:pPr>
            <a:r>
              <a:rPr sz="1600" b="0" i="0">
                <a:solidFill>
                  <a:srgbClr val="1F2A44"/>
                </a:solidFill>
                <a:latin typeface="Calibri"/>
              </a:rPr>
              <a:t>• Kısmi distal biceps yırtıklı 44 dirseğin </a:t>
            </a:r>
            <a:r>
              <a:rPr sz="1600" b="0" i="0">
                <a:solidFill>
                  <a:srgbClr val="1F2A44"/>
                </a:solidFill>
                <a:latin typeface="Calibri"/>
              </a:rPr>
              <a:t>13'ünde (%30)</a:t>
            </a:r>
            <a:r>
              <a:rPr sz="1600" b="0" i="0">
                <a:solidFill>
                  <a:srgbClr val="1F2A44"/>
                </a:solidFill>
                <a:latin typeface="Calibri"/>
              </a:rPr>
              <a:t> tendon yapışmada bifid.</a:t>
            </a:r>
          </a:p>
          <a:p>
            <a:pPr algn="l">
              <a:spcAft>
                <a:spcPts val="300"/>
              </a:spcAft>
            </a:pPr>
            <a:r>
              <a:rPr sz="1600" b="0" i="0">
                <a:solidFill>
                  <a:srgbClr val="1F2A44"/>
                </a:solidFill>
                <a:latin typeface="Calibri"/>
              </a:rPr>
              <a:t>• Yırtık dağılımı: izole caput longum %20, izole caput breve %30, 'peel-off' %34.</a:t>
            </a:r>
          </a:p>
          <a:p>
            <a:pPr algn="l">
              <a:spcAft>
                <a:spcPts val="300"/>
              </a:spcAft>
            </a:pPr>
            <a:r>
              <a:rPr sz="1600" b="0" i="0">
                <a:solidFill>
                  <a:srgbClr val="1F2A44"/>
                </a:solidFill>
                <a:latin typeface="Calibri"/>
              </a:rPr>
              <a:t>• Not: hasta grubu yırtıklı olduğundan genel popülasyon prevalansı değildir.</a:t>
            </a:r>
          </a:p>
        </p:txBody>
      </p:sp>
      <p:sp>
        <p:nvSpPr>
          <p:cNvPr id="13" name="TextBox 12"/>
          <p:cNvSpPr txBox="1"/>
          <p:nvPr/>
        </p:nvSpPr>
        <p:spPr>
          <a:xfrm>
            <a:off x="6720840" y="6035040"/>
            <a:ext cx="5257800" cy="292608"/>
          </a:xfrm>
          <a:prstGeom prst="rect">
            <a:avLst/>
          </a:prstGeom>
          <a:noFill/>
        </p:spPr>
        <p:txBody>
          <a:bodyPr wrap="square" anchor="t" lIns="45720" rIns="45720" tIns="18288" bIns="18288">
            <a:spAutoFit/>
          </a:bodyPr>
          <a:lstStyle/>
          <a:p>
            <a:pPr algn="l"/>
            <a:r>
              <a:rPr sz="1050" b="0" i="1">
                <a:solidFill>
                  <a:srgbClr val="C0392B"/>
                </a:solidFill>
                <a:latin typeface="Calibri"/>
              </a:rPr>
              <a:t>Lisans: CC BY-NC – yalnızca ticari olmayan eğitim amaçlı kullanım.</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Boyle Alex B, MacLean Simon BM Classification system for partial distal biceps tendon tears: a descriptive 3-Tesla magnetic resonance imaging study of tear morphology. Clin Shoulder Elb. 2023 Nov 14;26(4):366–72. doi: 10.5397/cise.2023.00458 PMCID: PMC10698130. Lisans: CC BY-NC.</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3</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ÖNKOL</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Dirsek ve önkolun kesitsel anatomisi</a:t>
            </a:r>
          </a:p>
          <a:p>
            <a:pPr algn="l"/>
            <a:r>
              <a:rPr sz="1800" b="0" i="0">
                <a:solidFill>
                  <a:srgbClr val="C8D1E6"/>
                </a:solidFill>
                <a:latin typeface="Calibri"/>
              </a:rPr>
              <a:t>Eklem, bağlar ve kompartmanlar</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Kesitsel okuma rehberi</a:t>
            </a:r>
          </a:p>
          <a:p>
            <a:pPr algn="l">
              <a:spcAft>
                <a:spcPts val="300"/>
              </a:spcAft>
            </a:pPr>
            <a:r>
              <a:rPr sz="1700" b="0" i="0">
                <a:solidFill>
                  <a:srgbClr val="FFFFFF"/>
                </a:solidFill>
                <a:latin typeface="Calibri"/>
              </a:rPr>
              <a:t>• VHP düzeyleri 1596 – 1770 (6 düzey)</a:t>
            </a:r>
          </a:p>
          <a:p>
            <a:pPr algn="l">
              <a:spcAft>
                <a:spcPts val="300"/>
              </a:spcAft>
            </a:pPr>
            <a:r>
              <a:rPr sz="1700" b="0" i="0">
                <a:solidFill>
                  <a:srgbClr val="FFFFFF"/>
                </a:solidFill>
                <a:latin typeface="Calibri"/>
              </a:rPr>
              <a:t>• Bağ MR'ı, kubital tünel, kompartman US, Doppler</a:t>
            </a:r>
          </a:p>
          <a:p>
            <a:pPr algn="l">
              <a:spcAft>
                <a:spcPts val="300"/>
              </a:spcAft>
            </a:pPr>
            <a:r>
              <a:rPr sz="1700" b="0" i="0">
                <a:solidFill>
                  <a:srgbClr val="FFFFFF"/>
                </a:solidFill>
                <a:latin typeface="Calibri"/>
              </a:rPr>
              <a:t>• Görüntüleme varyasyonları: chiasma, FCRB, PL, anconeus epitrochlearis</a:t>
            </a:r>
          </a:p>
        </p:txBody>
      </p:sp>
      <p:pic>
        <p:nvPicPr>
          <p:cNvPr id="7" name="Picture 6" descr="cryo_1700_R.jpg"/>
          <p:cNvPicPr>
            <a:picLocks noChangeAspect="1"/>
          </p:cNvPicPr>
          <p:nvPr/>
        </p:nvPicPr>
        <p:blipFill>
          <a:blip r:embed="rId2"/>
          <a:stretch>
            <a:fillRect/>
          </a:stretch>
        </p:blipFill>
        <p:spPr>
          <a:xfrm>
            <a:off x="7835130" y="365760"/>
            <a:ext cx="3074938" cy="3659431"/>
          </a:xfrm>
          <a:prstGeom prst="rect">
            <a:avLst/>
          </a:prstGeom>
        </p:spPr>
      </p:pic>
      <p:sp>
        <p:nvSpPr>
          <p:cNvPr id="8" name="TextBox 7"/>
          <p:cNvSpPr txBox="1"/>
          <p:nvPr/>
        </p:nvSpPr>
        <p:spPr>
          <a:xfrm>
            <a:off x="7652250" y="4025191"/>
            <a:ext cx="3440698"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kriyokesit 1700</a:t>
            </a:r>
          </a:p>
        </p:txBody>
      </p:sp>
      <p:pic>
        <p:nvPicPr>
          <p:cNvPr id="9" name="Picture 8" descr="13244_2019_725_Fig4_HTML.jpg"/>
          <p:cNvPicPr>
            <a:picLocks noChangeAspect="1"/>
          </p:cNvPicPr>
          <p:nvPr/>
        </p:nvPicPr>
        <p:blipFill>
          <a:blip r:embed="rId3"/>
          <a:stretch>
            <a:fillRect/>
          </a:stretch>
        </p:blipFill>
        <p:spPr>
          <a:xfrm>
            <a:off x="7835130" y="4299511"/>
            <a:ext cx="3074938" cy="1552648"/>
          </a:xfrm>
          <a:prstGeom prst="rect">
            <a:avLst/>
          </a:prstGeom>
        </p:spPr>
      </p:pic>
      <p:sp>
        <p:nvSpPr>
          <p:cNvPr id="10" name="TextBox 9"/>
          <p:cNvSpPr txBox="1"/>
          <p:nvPr/>
        </p:nvSpPr>
        <p:spPr>
          <a:xfrm>
            <a:off x="7652250" y="5852160"/>
            <a:ext cx="344069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4 – Acosta Batlle José ve ark., 2019 (PMC6447645, CC BY)</a:t>
            </a:r>
          </a:p>
        </p:txBody>
      </p:sp>
      <p:sp>
        <p:nvSpPr>
          <p:cNvPr id="11" name="TextBox 10"/>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Görüntü: NLM Visible Human Project (NCI Imaging Data Commons, doi:10.5281/zenodo.12690049; NLM Terms and Conditions 2019). İşleme/kırpma: bu proje.  •  Acosta Batlle José, Cerezal Luis, López Parra María Dolores et al. The elbow: review of anatomy and common collateral ligament complex pathology using MRI. Insights Imaging. 2019 Apr 3;10:43. doi: 10.1186/s13244-019-0725-7 PMCID: PMC6447645.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Dirsek ve önkol kesitlerini okumak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İki kemik, beş bölme</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Dirsek düzeyinde humerus'un genişlemiş distal ucu ve eklem yüzleri görülür; eklem kıkırdağı kriyokesitlerde parlak beyaz bir çizgi olarak seçilir. Hemen altında radius başı ve ulna ayrı kemikler olarak belirir. Önkol kesitlerinde radius ve ulnayı ayırt etmek için kemiklerin şekline ve proksimalden distale boyutlarının nasıl değiştiğine bakarız: ulna proksimalde, radius ise distalde daha geniştir.</a:t>
            </a:r>
          </a:p>
          <a:p>
            <a:pPr algn="l">
              <a:lnSpc>
                <a:spcPct val="108000"/>
              </a:lnSpc>
              <a:spcAft>
                <a:spcPts val="900"/>
              </a:spcAft>
            </a:pPr>
            <a:r>
              <a:rPr sz="2000" b="0" i="0">
                <a:solidFill>
                  <a:srgbClr val="1F2A44"/>
                </a:solidFill>
                <a:latin typeface="Calibri"/>
              </a:rPr>
              <a:t>Kadavramızda önkol pronasyonda olduğu için iki kemik çaprazlanmış görünür ve kompartmanlar eğik olarak kesilmiştir. Ön yüzde hacimli fleksör kitlesi, arka-dış yüzde ise ekstensör ve mobil kas grubu bulunur. Literatürden eklenen kompartman şemaları ve Doppler ultrason görüntüleri, sinir ve arterlerin bu bölmelerdeki yerini ayrıntılı olarak göstermektedir.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Dirsek ve önkolun kesitsel anatomisi – okuma rehberi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Kompartmanlar, damarlar ve sinirler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KONU ANLATIMI</a:t>
            </a:r>
          </a:p>
        </p:txBody>
      </p:sp>
      <p:sp>
        <p:nvSpPr>
          <p:cNvPr id="7" name="TextBox 6"/>
          <p:cNvSpPr txBox="1"/>
          <p:nvPr/>
        </p:nvSpPr>
        <p:spPr>
          <a:xfrm>
            <a:off x="274320" y="1234440"/>
            <a:ext cx="6400800" cy="5074920"/>
          </a:xfrm>
          <a:prstGeom prst="rect">
            <a:avLst/>
          </a:prstGeom>
          <a:noFill/>
        </p:spPr>
        <p:txBody>
          <a:bodyPr wrap="square">
            <a:spAutoFit/>
          </a:bodyPr>
          <a:lstStyle/>
          <a:p>
            <a:pPr algn="l">
              <a:spcAft>
                <a:spcPts val="300"/>
              </a:spcAft>
            </a:pPr>
            <a:r>
              <a:rPr sz="1850" b="0" i="0">
                <a:solidFill>
                  <a:srgbClr val="1F2A44"/>
                </a:solidFill>
                <a:latin typeface="Calibri"/>
              </a:rPr>
              <a:t>• </a:t>
            </a:r>
            <a:r>
              <a:rPr sz="1850" b="0" i="0">
                <a:solidFill>
                  <a:srgbClr val="1F2A44"/>
                </a:solidFill>
                <a:latin typeface="Calibri"/>
              </a:rPr>
              <a:t>Dirsek:</a:t>
            </a:r>
            <a:r>
              <a:rPr sz="1850" b="0" i="0">
                <a:solidFill>
                  <a:srgbClr val="1F2A44"/>
                </a:solidFill>
                <a:latin typeface="Calibri"/>
              </a:rPr>
              <a:t> koronal MR'da medialde lig. collaterale ulnare'nin ön bandı (valgus stabilitesinin ~%54'ü), lateralde LUCL, lig. collaterale radiale ve lig. anulare izlenir.</a:t>
            </a:r>
          </a:p>
          <a:p>
            <a:pPr algn="l">
              <a:spcAft>
                <a:spcPts val="300"/>
              </a:spcAft>
            </a:pPr>
            <a:r>
              <a:rPr sz="1850" b="0" i="0">
                <a:solidFill>
                  <a:srgbClr val="1F2A44"/>
                </a:solidFill>
                <a:latin typeface="Calibri"/>
              </a:rPr>
              <a:t>• </a:t>
            </a:r>
            <a:r>
              <a:rPr sz="1850" b="0" i="0">
                <a:solidFill>
                  <a:srgbClr val="1F2A44"/>
                </a:solidFill>
                <a:latin typeface="Calibri"/>
              </a:rPr>
              <a:t>Önkolun 5 bölmesi:</a:t>
            </a:r>
            <a:r>
              <a:rPr sz="1850" b="0" i="0">
                <a:solidFill>
                  <a:srgbClr val="1F2A44"/>
                </a:solidFill>
                <a:latin typeface="Calibri"/>
              </a:rPr>
              <a:t> yüzeyel volar, derin volar, lateral (mobil kas grubu), yüzeyel dorsal ve derin dorsal.</a:t>
            </a:r>
          </a:p>
          <a:p>
            <a:pPr algn="l">
              <a:spcAft>
                <a:spcPts val="300"/>
              </a:spcAft>
            </a:pPr>
            <a:r>
              <a:rPr sz="1850" b="0" i="0">
                <a:solidFill>
                  <a:srgbClr val="1F2A44"/>
                </a:solidFill>
                <a:latin typeface="Calibri"/>
              </a:rPr>
              <a:t>• </a:t>
            </a:r>
            <a:r>
              <a:rPr sz="1850" b="0" i="0">
                <a:solidFill>
                  <a:srgbClr val="1F2A44"/>
                </a:solidFill>
                <a:latin typeface="Calibri"/>
              </a:rPr>
              <a:t>Sinirler:</a:t>
            </a:r>
            <a:r>
              <a:rPr sz="1850" b="0" i="0">
                <a:solidFill>
                  <a:srgbClr val="1F2A44"/>
                </a:solidFill>
                <a:latin typeface="Calibri"/>
              </a:rPr>
              <a:t> n. medianus FDS'nin altında, n. ulnaris FCU altında a. ulnaris'in medialinde, r. superficialis n. radialis m. brachioradialis altında, PIN supinator içinde/altında.</a:t>
            </a:r>
          </a:p>
          <a:p>
            <a:pPr algn="l">
              <a:spcAft>
                <a:spcPts val="300"/>
              </a:spcAft>
            </a:pPr>
            <a:r>
              <a:rPr sz="1850" b="0" i="0">
                <a:solidFill>
                  <a:srgbClr val="1F2A44"/>
                </a:solidFill>
                <a:latin typeface="Calibri"/>
              </a:rPr>
              <a:t>• </a:t>
            </a:r>
            <a:r>
              <a:rPr sz="1850" b="0" i="0">
                <a:solidFill>
                  <a:srgbClr val="1F2A44"/>
                </a:solidFill>
                <a:latin typeface="Calibri"/>
              </a:rPr>
              <a:t>Arterler:</a:t>
            </a:r>
            <a:r>
              <a:rPr sz="1850" b="0" i="0">
                <a:solidFill>
                  <a:srgbClr val="1F2A44"/>
                </a:solidFill>
                <a:latin typeface="Calibri"/>
              </a:rPr>
              <a:t> a. brachialis'in bölünmesi, a. radialis (yüzeyel, BR altında) ve a. ulnaris (derin) Doppler US ile izlenir; Henry tasması PIN'i çaprazlar.</a:t>
            </a:r>
          </a:p>
          <a:p>
            <a:pPr algn="l">
              <a:spcAft>
                <a:spcPts val="300"/>
              </a:spcAft>
            </a:pPr>
            <a:r>
              <a:rPr sz="1850" b="0" i="0">
                <a:solidFill>
                  <a:srgbClr val="1F2A44"/>
                </a:solidFill>
                <a:latin typeface="Calibri"/>
              </a:rPr>
              <a:t>• Kubital tünelde n. ulnaris epicondylus medialis ile olecranon arasında, Osborne bağının altında US ile değerlendirilir.</a:t>
            </a:r>
          </a:p>
        </p:txBody>
      </p:sp>
      <p:pic>
        <p:nvPicPr>
          <p:cNvPr id="8" name="Picture 7" descr="rb-54-06-0388-g05.jpg"/>
          <p:cNvPicPr>
            <a:picLocks noChangeAspect="1"/>
          </p:cNvPicPr>
          <p:nvPr/>
        </p:nvPicPr>
        <p:blipFill>
          <a:blip r:embed="rId2"/>
          <a:stretch>
            <a:fillRect/>
          </a:stretch>
        </p:blipFill>
        <p:spPr>
          <a:xfrm>
            <a:off x="8368188" y="1234440"/>
            <a:ext cx="2100262" cy="4754880"/>
          </a:xfrm>
          <a:prstGeom prst="rect">
            <a:avLst/>
          </a:prstGeom>
        </p:spPr>
      </p:pic>
      <p:sp>
        <p:nvSpPr>
          <p:cNvPr id="9" name="TextBox 8"/>
          <p:cNvSpPr txBox="1"/>
          <p:nvPr/>
        </p:nvSpPr>
        <p:spPr>
          <a:xfrm>
            <a:off x="8185308" y="5989320"/>
            <a:ext cx="246602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5 – Borges Áurea V. R. Mohana ve ark., 2021 (PMC8630951,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Borges Áurea V. R. Mohana, Souza Sergio A. L Anatomy of the nerves, vessels, and muscular compartments of the forearm, as revealed by high-resolution ultrasound. Part 1: overall structure and forearm compartments. Radiol Bras. 2021 Nov-Dec;54(6):388–97. doi: 10.1590/0100-3984.2021.0030 PMCID: PMC8630951.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Dirsek – epikondiler düzey</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Distal humerus'un genişlediği bölge – NLM kesit no. 1596</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596_R.jpg"/>
          <p:cNvPicPr>
            <a:picLocks noChangeAspect="1"/>
          </p:cNvPicPr>
          <p:nvPr/>
        </p:nvPicPr>
        <p:blipFill>
          <a:blip r:embed="rId2"/>
          <a:stretch>
            <a:fillRect/>
          </a:stretch>
        </p:blipFill>
        <p:spPr>
          <a:xfrm>
            <a:off x="2355300" y="1234440"/>
            <a:ext cx="3427558" cy="4069080"/>
          </a:xfrm>
          <a:prstGeom prst="rect">
            <a:avLst/>
          </a:prstGeom>
        </p:spPr>
      </p:pic>
      <p:sp>
        <p:nvSpPr>
          <p:cNvPr id="8" name="TextBox 7"/>
          <p:cNvSpPr txBox="1"/>
          <p:nvPr/>
        </p:nvSpPr>
        <p:spPr>
          <a:xfrm>
            <a:off x="2172420" y="5321808"/>
            <a:ext cx="3793318"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406963"/>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Humerus distal uç (epikondiler bölge)</a:t>
            </a:r>
          </a:p>
        </p:txBody>
      </p:sp>
      <p:cxnSp>
        <p:nvCxnSpPr>
          <p:cNvPr id="10" name="Connector 9"/>
          <p:cNvCxnSpPr/>
          <p:nvPr/>
        </p:nvCxnSpPr>
        <p:spPr>
          <a:xfrm>
            <a:off x="2103120" y="3635563"/>
            <a:ext cx="126028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322258" y="359441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2288883"/>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Ön kas kitlesi (m. brachialis, m. biceps brachii)</a:t>
            </a:r>
          </a:p>
        </p:txBody>
      </p:sp>
      <p:cxnSp>
        <p:nvCxnSpPr>
          <p:cNvPr id="13" name="Connector 12"/>
          <p:cNvCxnSpPr/>
          <p:nvPr/>
        </p:nvCxnSpPr>
        <p:spPr>
          <a:xfrm flipH="1">
            <a:off x="3729990" y="2517483"/>
            <a:ext cx="230505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688842" y="247633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3205342"/>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Yüzeyel ven (cilt altı yağ dokusunda)</a:t>
            </a:r>
          </a:p>
        </p:txBody>
      </p:sp>
      <p:cxnSp>
        <p:nvCxnSpPr>
          <p:cNvPr id="16" name="Connector 15"/>
          <p:cNvCxnSpPr/>
          <p:nvPr/>
        </p:nvCxnSpPr>
        <p:spPr>
          <a:xfrm flipH="1">
            <a:off x="5159666" y="3433942"/>
            <a:ext cx="87537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118518" y="339279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t_1596_R.png"/>
          <p:cNvPicPr>
            <a:picLocks noChangeAspect="1"/>
          </p:cNvPicPr>
          <p:nvPr/>
        </p:nvPicPr>
        <p:blipFill>
          <a:blip r:embed="rId3"/>
          <a:stretch>
            <a:fillRect/>
          </a:stretch>
        </p:blipFill>
        <p:spPr>
          <a:xfrm>
            <a:off x="8229600" y="1939188"/>
            <a:ext cx="2240280" cy="2659583"/>
          </a:xfrm>
          <a:prstGeom prst="rect">
            <a:avLst/>
          </a:prstGeom>
        </p:spPr>
      </p:pic>
      <p:sp>
        <p:nvSpPr>
          <p:cNvPr id="19" name="TextBox 18"/>
          <p:cNvSpPr txBox="1"/>
          <p:nvPr/>
        </p:nvSpPr>
        <p:spPr>
          <a:xfrm>
            <a:off x="8046720" y="4617059"/>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0" name="TextBox 19"/>
          <p:cNvSpPr txBox="1"/>
          <p:nvPr/>
        </p:nvSpPr>
        <p:spPr>
          <a:xfrm>
            <a:off x="7955279" y="4891379"/>
            <a:ext cx="2788920" cy="640080"/>
          </a:xfrm>
          <a:prstGeom prst="rect">
            <a:avLst/>
          </a:prstGeom>
          <a:noFill/>
        </p:spPr>
        <p:txBody>
          <a:bodyPr wrap="square" anchor="t" lIns="45720" rIns="45720" tIns="18288" bIns="18288">
            <a:spAutoFit/>
          </a:bodyPr>
          <a:lstStyle/>
          <a:p>
            <a:pPr algn="l"/>
            <a:r>
              <a:rPr sz="1100" b="0" i="1">
                <a:solidFill>
                  <a:srgbClr val="C0392B"/>
                </a:solidFill>
                <a:latin typeface="Calibri"/>
              </a:rPr>
              <a:t>Bu düzeyde kol BT görüş alanının dışında kalmaktadır.</a:t>
            </a:r>
          </a:p>
        </p:txBody>
      </p:sp>
      <p:pic>
        <p:nvPicPr>
          <p:cNvPr id="21" name="Picture 20" descr="loc_1596.jpg"/>
          <p:cNvPicPr>
            <a:picLocks noChangeAspect="1"/>
          </p:cNvPicPr>
          <p:nvPr/>
        </p:nvPicPr>
        <p:blipFill>
          <a:blip r:embed="rId4"/>
          <a:stretch>
            <a:fillRect/>
          </a:stretch>
        </p:blipFill>
        <p:spPr>
          <a:xfrm>
            <a:off x="10515600" y="1240131"/>
            <a:ext cx="1554480" cy="903017"/>
          </a:xfrm>
          <a:prstGeom prst="rect">
            <a:avLst/>
          </a:prstGeom>
        </p:spPr>
      </p:pic>
      <p:sp>
        <p:nvSpPr>
          <p:cNvPr id="22" name="TextBox 21"/>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23" name="TextBox 22"/>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Epikondiller ortak fleksör (medial) ve ekstensör (lateral) kas kökenleridir.</a:t>
            </a:r>
          </a:p>
          <a:p>
            <a:pPr algn="l">
              <a:spcAft>
                <a:spcPts val="300"/>
              </a:spcAft>
            </a:pPr>
            <a:r>
              <a:rPr sz="1500" b="0" i="0">
                <a:solidFill>
                  <a:srgbClr val="1F2A44"/>
                </a:solidFill>
                <a:latin typeface="Calibri"/>
              </a:rPr>
              <a:t>• N. ulnaris epicondylus medialis'in arkasında, sulcus nervi ulnaris'te yüzeyeldir ('komik kemik').</a:t>
            </a:r>
          </a:p>
        </p:txBody>
      </p:sp>
      <p:cxnSp>
        <p:nvCxnSpPr>
          <p:cNvPr id="24" name="Connector 2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a_vm1596, donmuş BT c_vm1596.fro); NCI Imaging Data Commons (doi:10.5281/zenodo.12690049); NLM Terms and Conditions (2019). Yönelim: radyolojik (ön yukarıda, hastanın sağı solda); sağ üst ekstremite.</a:t>
            </a:r>
          </a:p>
        </p:txBody>
      </p:sp>
      <p:sp>
        <p:nvSpPr>
          <p:cNvPr id="26" name="TextBox 2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Dirsek – articulatio cubiti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Eklem aralığı ve fossa cubiti içeriği – NLM kesit no. 1615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615_R.jpg"/>
          <p:cNvPicPr>
            <a:picLocks noChangeAspect="1"/>
          </p:cNvPicPr>
          <p:nvPr/>
        </p:nvPicPr>
        <p:blipFill>
          <a:blip r:embed="rId2"/>
          <a:stretch>
            <a:fillRect/>
          </a:stretch>
        </p:blipFill>
        <p:spPr>
          <a:xfrm>
            <a:off x="2283667" y="1234440"/>
            <a:ext cx="3570825" cy="4069080"/>
          </a:xfrm>
          <a:prstGeom prst="rect">
            <a:avLst/>
          </a:prstGeom>
        </p:spPr>
      </p:pic>
      <p:sp>
        <p:nvSpPr>
          <p:cNvPr id="8" name="TextBox 7"/>
          <p:cNvSpPr txBox="1"/>
          <p:nvPr/>
        </p:nvSpPr>
        <p:spPr>
          <a:xfrm>
            <a:off x="2100787" y="5321808"/>
            <a:ext cx="3936585"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497113"/>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Eklem aralığı ve eklem kıkırdağı (art. cubiti)</a:t>
            </a:r>
          </a:p>
        </p:txBody>
      </p:sp>
      <p:cxnSp>
        <p:nvCxnSpPr>
          <p:cNvPr id="10" name="Connector 9"/>
          <p:cNvCxnSpPr/>
          <p:nvPr/>
        </p:nvCxnSpPr>
        <p:spPr>
          <a:xfrm>
            <a:off x="2103120" y="3725713"/>
            <a:ext cx="1218577"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280549" y="368456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2251476"/>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Lateral kas grubu: M. brachioradialis, Mm. extensores carpi radiales</a:t>
            </a:r>
          </a:p>
        </p:txBody>
      </p:sp>
      <p:cxnSp>
        <p:nvCxnSpPr>
          <p:cNvPr id="13" name="Connector 12"/>
          <p:cNvCxnSpPr/>
          <p:nvPr/>
        </p:nvCxnSpPr>
        <p:spPr>
          <a:xfrm flipH="1">
            <a:off x="3861473" y="2480076"/>
            <a:ext cx="2173567"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820325" y="243892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2932424"/>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Fossa cubiti: A. brachialis ve N. medianus bölgesi</a:t>
            </a:r>
          </a:p>
        </p:txBody>
      </p:sp>
      <p:cxnSp>
        <p:nvCxnSpPr>
          <p:cNvPr id="16" name="Connector 15"/>
          <p:cNvCxnSpPr/>
          <p:nvPr/>
        </p:nvCxnSpPr>
        <p:spPr>
          <a:xfrm flipH="1">
            <a:off x="4401249" y="3161024"/>
            <a:ext cx="163379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360101" y="311987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746240"/>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Ön kas grubu (M. brachialis, fleksör–pronator kaslar)</a:t>
            </a:r>
          </a:p>
        </p:txBody>
      </p:sp>
      <p:cxnSp>
        <p:nvCxnSpPr>
          <p:cNvPr id="19" name="Connector 18"/>
          <p:cNvCxnSpPr/>
          <p:nvPr/>
        </p:nvCxnSpPr>
        <p:spPr>
          <a:xfrm flipH="1">
            <a:off x="4774940" y="3974840"/>
            <a:ext cx="126010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733792" y="393369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t_1615_R.png"/>
          <p:cNvPicPr>
            <a:picLocks noChangeAspect="1"/>
          </p:cNvPicPr>
          <p:nvPr/>
        </p:nvPicPr>
        <p:blipFill>
          <a:blip r:embed="rId3"/>
          <a:stretch>
            <a:fillRect/>
          </a:stretch>
        </p:blipFill>
        <p:spPr>
          <a:xfrm>
            <a:off x="8229600" y="1992541"/>
            <a:ext cx="2240280" cy="2552877"/>
          </a:xfrm>
          <a:prstGeom prst="rect">
            <a:avLst/>
          </a:prstGeom>
        </p:spPr>
      </p:pic>
      <p:sp>
        <p:nvSpPr>
          <p:cNvPr id="22" name="TextBox 21"/>
          <p:cNvSpPr txBox="1"/>
          <p:nvPr/>
        </p:nvSpPr>
        <p:spPr>
          <a:xfrm>
            <a:off x="8046720" y="4563706"/>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3" name="TextBox 22"/>
          <p:cNvSpPr txBox="1"/>
          <p:nvPr/>
        </p:nvSpPr>
        <p:spPr>
          <a:xfrm>
            <a:off x="7955279" y="4838026"/>
            <a:ext cx="2788920" cy="640080"/>
          </a:xfrm>
          <a:prstGeom prst="rect">
            <a:avLst/>
          </a:prstGeom>
          <a:noFill/>
        </p:spPr>
        <p:txBody>
          <a:bodyPr wrap="square" anchor="t" lIns="45720" rIns="45720" tIns="18288" bIns="18288">
            <a:spAutoFit/>
          </a:bodyPr>
          <a:lstStyle/>
          <a:p>
            <a:pPr algn="l"/>
            <a:r>
              <a:rPr sz="1100" b="0" i="1">
                <a:solidFill>
                  <a:srgbClr val="C0392B"/>
                </a:solidFill>
                <a:latin typeface="Calibri"/>
              </a:rPr>
              <a:t>Bu düzeyde kol BT görüş alanının dışında kalmaktadır.</a:t>
            </a:r>
          </a:p>
        </p:txBody>
      </p:sp>
      <p:pic>
        <p:nvPicPr>
          <p:cNvPr id="24" name="Picture 23" descr="loc_1615.jpg"/>
          <p:cNvPicPr>
            <a:picLocks noChangeAspect="1"/>
          </p:cNvPicPr>
          <p:nvPr/>
        </p:nvPicPr>
        <p:blipFill>
          <a:blip r:embed="rId4"/>
          <a:stretch>
            <a:fillRect/>
          </a:stretch>
        </p:blipFill>
        <p:spPr>
          <a:xfrm>
            <a:off x="10515600" y="1240131"/>
            <a:ext cx="1554480" cy="903017"/>
          </a:xfrm>
          <a:prstGeom prst="rect">
            <a:avLst/>
          </a:prstGeom>
        </p:spPr>
      </p:pic>
      <p:sp>
        <p:nvSpPr>
          <p:cNvPr id="25" name="TextBox 24"/>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26" name="TextBox 25"/>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Fossa cubiti içeriği lateralden mediale: tendo m. bicipitis brachii – a. brachialis – n. medianus.</a:t>
            </a:r>
          </a:p>
          <a:p>
            <a:pPr algn="l">
              <a:spcAft>
                <a:spcPts val="300"/>
              </a:spcAft>
            </a:pPr>
            <a:r>
              <a:rPr sz="1500" b="0" i="0">
                <a:solidFill>
                  <a:srgbClr val="1F2A44"/>
                </a:solidFill>
                <a:latin typeface="Calibri"/>
              </a:rPr>
              <a:t>• Eklem kıkırdağı kriyokesitte parlak beyaz hat olarak seçilir; BT'de kıkırdak görülmez.</a:t>
            </a:r>
          </a:p>
        </p:txBody>
      </p:sp>
      <p:cxnSp>
        <p:nvCxnSpPr>
          <p:cNvPr id="27" name="Connector 2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a_vm1615, donmuş BT c_vm1615.fro); NCI Imaging Data Commons (doi:10.5281/zenodo.12690049); NLM Terms and Conditions (2019). Yönelim: radyolojik (ön yukarıda, hastanın sağı solda); sağ üst ekstremite.</a:t>
            </a:r>
          </a:p>
        </p:txBody>
      </p:sp>
      <p:sp>
        <p:nvSpPr>
          <p:cNvPr id="29" name="TextBox 28"/>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 proksimal (radius boynu düzeyi)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Radius ve ulna, mobil kas grubu, fleksör–pronator kitle – NLM kesit no. 1645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645_R.jpg"/>
          <p:cNvPicPr>
            <a:picLocks noChangeAspect="1"/>
          </p:cNvPicPr>
          <p:nvPr/>
        </p:nvPicPr>
        <p:blipFill>
          <a:blip r:embed="rId2"/>
          <a:stretch>
            <a:fillRect/>
          </a:stretch>
        </p:blipFill>
        <p:spPr>
          <a:xfrm>
            <a:off x="2360066" y="1234440"/>
            <a:ext cx="3418027" cy="4069080"/>
          </a:xfrm>
          <a:prstGeom prst="rect">
            <a:avLst/>
          </a:prstGeom>
        </p:spPr>
      </p:pic>
      <p:sp>
        <p:nvSpPr>
          <p:cNvPr id="8" name="TextBox 7"/>
          <p:cNvSpPr txBox="1"/>
          <p:nvPr/>
        </p:nvSpPr>
        <p:spPr>
          <a:xfrm>
            <a:off x="2177186" y="5321808"/>
            <a:ext cx="3783787"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243834"/>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Radius</a:t>
            </a:r>
          </a:p>
        </p:txBody>
      </p:sp>
      <p:cxnSp>
        <p:nvCxnSpPr>
          <p:cNvPr id="10" name="Connector 9"/>
          <p:cNvCxnSpPr/>
          <p:nvPr/>
        </p:nvCxnSpPr>
        <p:spPr>
          <a:xfrm>
            <a:off x="2103120" y="3472434"/>
            <a:ext cx="1445117"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507089" y="343128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755898"/>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Ulna</a:t>
            </a:r>
          </a:p>
        </p:txBody>
      </p:sp>
      <p:cxnSp>
        <p:nvCxnSpPr>
          <p:cNvPr id="13" name="Connector 12"/>
          <p:cNvCxnSpPr/>
          <p:nvPr/>
        </p:nvCxnSpPr>
        <p:spPr>
          <a:xfrm flipV="1">
            <a:off x="2103120" y="3830513"/>
            <a:ext cx="1103315" cy="153985"/>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165287" y="378936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4267962"/>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Arka (ekstensör) kas grubu</a:t>
            </a:r>
          </a:p>
        </p:txBody>
      </p:sp>
      <p:cxnSp>
        <p:nvCxnSpPr>
          <p:cNvPr id="16" name="Connector 15"/>
          <p:cNvCxnSpPr/>
          <p:nvPr/>
        </p:nvCxnSpPr>
        <p:spPr>
          <a:xfrm flipV="1">
            <a:off x="2103120" y="4204868"/>
            <a:ext cx="907999" cy="29169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969971" y="416372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2063800"/>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Mobil kas grubu: M. brachioradialis, Mm. extensores carpi radiales</a:t>
            </a:r>
          </a:p>
        </p:txBody>
      </p:sp>
      <p:cxnSp>
        <p:nvCxnSpPr>
          <p:cNvPr id="19" name="Connector 18"/>
          <p:cNvCxnSpPr/>
          <p:nvPr/>
        </p:nvCxnSpPr>
        <p:spPr>
          <a:xfrm flipH="1">
            <a:off x="3906316" y="2292400"/>
            <a:ext cx="212872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865168" y="225125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2633472"/>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Damar–sinir yapıları (a. brachialis dalları, n. medianus)</a:t>
            </a:r>
          </a:p>
        </p:txBody>
      </p:sp>
      <p:cxnSp>
        <p:nvCxnSpPr>
          <p:cNvPr id="22" name="Connector 21"/>
          <p:cNvCxnSpPr/>
          <p:nvPr/>
        </p:nvCxnSpPr>
        <p:spPr>
          <a:xfrm flipH="1">
            <a:off x="4435297" y="2862072"/>
            <a:ext cx="159974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394149" y="282092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3447287"/>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Fleksör–pronator kas grubu</a:t>
            </a:r>
          </a:p>
        </p:txBody>
      </p:sp>
      <p:cxnSp>
        <p:nvCxnSpPr>
          <p:cNvPr id="25" name="Connector 24"/>
          <p:cNvCxnSpPr/>
          <p:nvPr/>
        </p:nvCxnSpPr>
        <p:spPr>
          <a:xfrm flipH="1">
            <a:off x="4516678" y="3675887"/>
            <a:ext cx="151836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475530" y="363473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t_1645_R.png"/>
          <p:cNvPicPr>
            <a:picLocks noChangeAspect="1"/>
          </p:cNvPicPr>
          <p:nvPr/>
        </p:nvPicPr>
        <p:blipFill>
          <a:blip r:embed="rId3"/>
          <a:stretch>
            <a:fillRect/>
          </a:stretch>
        </p:blipFill>
        <p:spPr>
          <a:xfrm>
            <a:off x="8229600" y="1935480"/>
            <a:ext cx="2240280" cy="2667000"/>
          </a:xfrm>
          <a:prstGeom prst="rect">
            <a:avLst/>
          </a:prstGeom>
        </p:spPr>
      </p:pic>
      <p:sp>
        <p:nvSpPr>
          <p:cNvPr id="28" name="TextBox 27"/>
          <p:cNvSpPr txBox="1"/>
          <p:nvPr/>
        </p:nvSpPr>
        <p:spPr>
          <a:xfrm>
            <a:off x="8046720" y="4620767"/>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9" name="TextBox 28"/>
          <p:cNvSpPr txBox="1"/>
          <p:nvPr/>
        </p:nvSpPr>
        <p:spPr>
          <a:xfrm>
            <a:off x="7955279" y="4895088"/>
            <a:ext cx="2788920" cy="640080"/>
          </a:xfrm>
          <a:prstGeom prst="rect">
            <a:avLst/>
          </a:prstGeom>
          <a:noFill/>
        </p:spPr>
        <p:txBody>
          <a:bodyPr wrap="square" anchor="t" lIns="45720" rIns="45720" tIns="18288" bIns="18288">
            <a:spAutoFit/>
          </a:bodyPr>
          <a:lstStyle/>
          <a:p>
            <a:pPr algn="l"/>
            <a:r>
              <a:rPr sz="1100" b="0" i="1">
                <a:solidFill>
                  <a:srgbClr val="C0392B"/>
                </a:solidFill>
                <a:latin typeface="Calibri"/>
              </a:rPr>
              <a:t>Kol BT görüş alanının kenarında; kenar artefaktı nedeniyle etiketlenmemiştir.</a:t>
            </a:r>
          </a:p>
        </p:txBody>
      </p:sp>
      <p:pic>
        <p:nvPicPr>
          <p:cNvPr id="30" name="Picture 29" descr="loc_1645.jpg"/>
          <p:cNvPicPr>
            <a:picLocks noChangeAspect="1"/>
          </p:cNvPicPr>
          <p:nvPr/>
        </p:nvPicPr>
        <p:blipFill>
          <a:blip r:embed="rId4"/>
          <a:stretch>
            <a:fillRect/>
          </a:stretch>
        </p:blipFill>
        <p:spPr>
          <a:xfrm>
            <a:off x="10515600" y="1240131"/>
            <a:ext cx="1554480" cy="903017"/>
          </a:xfrm>
          <a:prstGeom prst="rect">
            <a:avLst/>
          </a:prstGeom>
        </p:spPr>
      </p:pic>
      <p:sp>
        <p:nvSpPr>
          <p:cNvPr id="31" name="TextBox 30"/>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32" name="TextBox 31"/>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Radius–ulna ayrımı 1 mm donmuş BT'de kemiklerin kesintisiz izlenmesiyle doğrulanmıştır (bkz. QA notları).</a:t>
            </a:r>
          </a:p>
          <a:p>
            <a:pPr algn="l">
              <a:spcAft>
                <a:spcPts val="300"/>
              </a:spcAft>
            </a:pPr>
            <a:r>
              <a:rPr sz="1500" b="0" i="0">
                <a:solidFill>
                  <a:srgbClr val="1F2A44"/>
                </a:solidFill>
                <a:latin typeface="Calibri"/>
              </a:rPr>
              <a:t>• N. interosseus posterior bu bölgede m. supinator içinden geçer (Frohse arkadı).</a:t>
            </a:r>
          </a:p>
        </p:txBody>
      </p:sp>
      <p:cxnSp>
        <p:nvCxnSpPr>
          <p:cNvPr id="33" name="Connector 3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a_vm1645, donmuş BT c_vm1645.fro); NCI Imaging Data Commons (doi:10.5281/zenodo.12690049); NLM Terms and Conditions (2019). Yönelim: radyolojik (ön yukarıda, hastanın sağı solda); sağ üst ekstremite.</a:t>
            </a:r>
          </a:p>
        </p:txBody>
      </p:sp>
      <p:sp>
        <p:nvSpPr>
          <p:cNvPr id="35" name="TextBox 3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 proksimal-orta bölüm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Pronasyondaki önkolda kemikler ve kompartmanlar – NLM kesit no. 1700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700_R.jpg"/>
          <p:cNvPicPr>
            <a:picLocks noChangeAspect="1"/>
          </p:cNvPicPr>
          <p:nvPr/>
        </p:nvPicPr>
        <p:blipFill>
          <a:blip r:embed="rId2"/>
          <a:stretch>
            <a:fillRect/>
          </a:stretch>
        </p:blipFill>
        <p:spPr>
          <a:xfrm>
            <a:off x="2359501" y="1234440"/>
            <a:ext cx="3419157" cy="4069080"/>
          </a:xfrm>
          <a:prstGeom prst="rect">
            <a:avLst/>
          </a:prstGeom>
        </p:spPr>
      </p:pic>
      <p:sp>
        <p:nvSpPr>
          <p:cNvPr id="8" name="TextBox 7"/>
          <p:cNvSpPr txBox="1"/>
          <p:nvPr/>
        </p:nvSpPr>
        <p:spPr>
          <a:xfrm>
            <a:off x="2176621" y="5321808"/>
            <a:ext cx="3784917"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089044"/>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Radius</a:t>
            </a:r>
          </a:p>
        </p:txBody>
      </p:sp>
      <p:cxnSp>
        <p:nvCxnSpPr>
          <p:cNvPr id="10" name="Connector 9"/>
          <p:cNvCxnSpPr/>
          <p:nvPr/>
        </p:nvCxnSpPr>
        <p:spPr>
          <a:xfrm>
            <a:off x="2103120" y="2317644"/>
            <a:ext cx="216847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4230444" y="227649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2889673"/>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Ekstensör ve lateral kas grubu</a:t>
            </a:r>
          </a:p>
        </p:txBody>
      </p:sp>
      <p:cxnSp>
        <p:nvCxnSpPr>
          <p:cNvPr id="13" name="Connector 12"/>
          <p:cNvCxnSpPr/>
          <p:nvPr/>
        </p:nvCxnSpPr>
        <p:spPr>
          <a:xfrm>
            <a:off x="2103120" y="3118273"/>
            <a:ext cx="91572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977694" y="307712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445404"/>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Ulna</a:t>
            </a:r>
          </a:p>
        </p:txBody>
      </p:sp>
      <p:cxnSp>
        <p:nvCxnSpPr>
          <p:cNvPr id="16" name="Connector 15"/>
          <p:cNvCxnSpPr/>
          <p:nvPr/>
        </p:nvCxnSpPr>
        <p:spPr>
          <a:xfrm>
            <a:off x="2103120" y="3674004"/>
            <a:ext cx="1188878"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250850" y="363285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643206"/>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Fleksör (ön) kompartman</a:t>
            </a:r>
          </a:p>
        </p:txBody>
      </p:sp>
      <p:cxnSp>
        <p:nvCxnSpPr>
          <p:cNvPr id="19" name="Connector 18"/>
          <p:cNvCxnSpPr/>
          <p:nvPr/>
        </p:nvCxnSpPr>
        <p:spPr>
          <a:xfrm flipH="1">
            <a:off x="4996867" y="3871806"/>
            <a:ext cx="103817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955719" y="383065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t_1700_R.png"/>
          <p:cNvPicPr>
            <a:picLocks noChangeAspect="1"/>
          </p:cNvPicPr>
          <p:nvPr/>
        </p:nvPicPr>
        <p:blipFill>
          <a:blip r:embed="rId3"/>
          <a:stretch>
            <a:fillRect/>
          </a:stretch>
        </p:blipFill>
        <p:spPr>
          <a:xfrm>
            <a:off x="8229600" y="1935920"/>
            <a:ext cx="2240280" cy="2666118"/>
          </a:xfrm>
          <a:prstGeom prst="rect">
            <a:avLst/>
          </a:prstGeom>
        </p:spPr>
      </p:pic>
      <p:sp>
        <p:nvSpPr>
          <p:cNvPr id="22" name="TextBox 21"/>
          <p:cNvSpPr txBox="1"/>
          <p:nvPr/>
        </p:nvSpPr>
        <p:spPr>
          <a:xfrm>
            <a:off x="8046720" y="4620327"/>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3" name="TextBox 22"/>
          <p:cNvSpPr txBox="1"/>
          <p:nvPr/>
        </p:nvSpPr>
        <p:spPr>
          <a:xfrm>
            <a:off x="10561320" y="2429394"/>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Radius</a:t>
            </a:r>
          </a:p>
        </p:txBody>
      </p:sp>
      <p:cxnSp>
        <p:nvCxnSpPr>
          <p:cNvPr id="24" name="Connector 23"/>
          <p:cNvCxnSpPr/>
          <p:nvPr/>
        </p:nvCxnSpPr>
        <p:spPr>
          <a:xfrm flipH="1">
            <a:off x="9500943" y="2657994"/>
            <a:ext cx="1060377"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459795" y="261684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61320" y="3305757"/>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Ulna</a:t>
            </a:r>
          </a:p>
        </p:txBody>
      </p:sp>
      <p:cxnSp>
        <p:nvCxnSpPr>
          <p:cNvPr id="27" name="Connector 26"/>
          <p:cNvCxnSpPr/>
          <p:nvPr/>
        </p:nvCxnSpPr>
        <p:spPr>
          <a:xfrm flipH="1">
            <a:off x="8840585" y="3534357"/>
            <a:ext cx="172073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8799437" y="349320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oc_1700.jpg"/>
          <p:cNvPicPr>
            <a:picLocks noChangeAspect="1"/>
          </p:cNvPicPr>
          <p:nvPr/>
        </p:nvPicPr>
        <p:blipFill>
          <a:blip r:embed="rId4"/>
          <a:stretch>
            <a:fillRect/>
          </a:stretch>
        </p:blipFill>
        <p:spPr>
          <a:xfrm>
            <a:off x="10515600" y="1240131"/>
            <a:ext cx="1554480" cy="903017"/>
          </a:xfrm>
          <a:prstGeom prst="rect">
            <a:avLst/>
          </a:prstGeom>
        </p:spPr>
      </p:pic>
      <p:sp>
        <p:nvSpPr>
          <p:cNvPr id="30" name="TextBox 29"/>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31" name="TextBox 30"/>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Önkol pronasyonda: radius ulnanın önünden çaprazlanarak mediale yer değiştirmiştir.</a:t>
            </a:r>
          </a:p>
          <a:p>
            <a:pPr algn="l">
              <a:spcAft>
                <a:spcPts val="300"/>
              </a:spcAft>
            </a:pPr>
            <a:r>
              <a:rPr sz="1500" b="0" i="0">
                <a:solidFill>
                  <a:srgbClr val="1F2A44"/>
                </a:solidFill>
                <a:latin typeface="Calibri"/>
              </a:rPr>
              <a:t>• Fleksör kompartman (yüzeyel, orta, derin tabakalar) ekstensör kompartmandan belirgin şekilde hacimlidir.</a:t>
            </a:r>
          </a:p>
        </p:txBody>
      </p:sp>
      <p:cxnSp>
        <p:nvCxnSpPr>
          <p:cNvPr id="32" name="Connector 3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a_vm1700, donmuş BT c_vm1700.fro); NCI Imaging Data Commons (doi:10.5281/zenodo.12690049); NLM Terms and Conditions (2019). Yönelim: radyolojik (ön yukarıda, hastanın sağı solda); sağ üst ekstremite.</a:t>
            </a:r>
          </a:p>
        </p:txBody>
      </p:sp>
      <p:sp>
        <p:nvSpPr>
          <p:cNvPr id="34" name="TextBox 3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 distal üçte bir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Kas karınlarından tendonlara geçiş – NLM kesit no. 1740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740_R.jpg"/>
          <p:cNvPicPr>
            <a:picLocks noChangeAspect="1"/>
          </p:cNvPicPr>
          <p:nvPr/>
        </p:nvPicPr>
        <p:blipFill>
          <a:blip r:embed="rId2"/>
          <a:stretch>
            <a:fillRect/>
          </a:stretch>
        </p:blipFill>
        <p:spPr>
          <a:xfrm>
            <a:off x="2339721" y="1234440"/>
            <a:ext cx="3458718" cy="4069080"/>
          </a:xfrm>
          <a:prstGeom prst="rect">
            <a:avLst/>
          </a:prstGeom>
        </p:spPr>
      </p:pic>
      <p:sp>
        <p:nvSpPr>
          <p:cNvPr id="8" name="TextBox 7"/>
          <p:cNvSpPr txBox="1"/>
          <p:nvPr/>
        </p:nvSpPr>
        <p:spPr>
          <a:xfrm>
            <a:off x="2156840" y="5321808"/>
            <a:ext cx="3824478"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653817"/>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Radius</a:t>
            </a:r>
          </a:p>
        </p:txBody>
      </p:sp>
      <p:cxnSp>
        <p:nvCxnSpPr>
          <p:cNvPr id="10" name="Connector 9"/>
          <p:cNvCxnSpPr/>
          <p:nvPr/>
        </p:nvCxnSpPr>
        <p:spPr>
          <a:xfrm>
            <a:off x="2103120" y="2882417"/>
            <a:ext cx="198630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4048277" y="284126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165881"/>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Ekstensör (arka) kompartman</a:t>
            </a:r>
          </a:p>
        </p:txBody>
      </p:sp>
      <p:cxnSp>
        <p:nvCxnSpPr>
          <p:cNvPr id="13" name="Connector 12"/>
          <p:cNvCxnSpPr/>
          <p:nvPr/>
        </p:nvCxnSpPr>
        <p:spPr>
          <a:xfrm flipV="1">
            <a:off x="2103120" y="3238461"/>
            <a:ext cx="918171" cy="15602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980143" y="319731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925404"/>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Ulna</a:t>
            </a:r>
          </a:p>
        </p:txBody>
      </p:sp>
      <p:cxnSp>
        <p:nvCxnSpPr>
          <p:cNvPr id="16" name="Connector 15"/>
          <p:cNvCxnSpPr/>
          <p:nvPr/>
        </p:nvCxnSpPr>
        <p:spPr>
          <a:xfrm>
            <a:off x="2103120" y="4154004"/>
            <a:ext cx="92834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990316" y="411285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650741"/>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Fleksör (ön) kompartman</a:t>
            </a:r>
          </a:p>
        </p:txBody>
      </p:sp>
      <p:cxnSp>
        <p:nvCxnSpPr>
          <p:cNvPr id="19" name="Connector 18"/>
          <p:cNvCxnSpPr/>
          <p:nvPr/>
        </p:nvCxnSpPr>
        <p:spPr>
          <a:xfrm flipH="1">
            <a:off x="4374261" y="3879341"/>
            <a:ext cx="166077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333113" y="383819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t_1740_R.png"/>
          <p:cNvPicPr>
            <a:picLocks noChangeAspect="1"/>
          </p:cNvPicPr>
          <p:nvPr/>
        </p:nvPicPr>
        <p:blipFill>
          <a:blip r:embed="rId3"/>
          <a:stretch>
            <a:fillRect/>
          </a:stretch>
        </p:blipFill>
        <p:spPr>
          <a:xfrm>
            <a:off x="8229600" y="1951168"/>
            <a:ext cx="2240280" cy="2635623"/>
          </a:xfrm>
          <a:prstGeom prst="rect">
            <a:avLst/>
          </a:prstGeom>
        </p:spPr>
      </p:pic>
      <p:sp>
        <p:nvSpPr>
          <p:cNvPr id="22" name="TextBox 21"/>
          <p:cNvSpPr txBox="1"/>
          <p:nvPr/>
        </p:nvSpPr>
        <p:spPr>
          <a:xfrm>
            <a:off x="8046720" y="4605079"/>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3" name="TextBox 22"/>
          <p:cNvSpPr txBox="1"/>
          <p:nvPr/>
        </p:nvSpPr>
        <p:spPr>
          <a:xfrm>
            <a:off x="10561320" y="2809762"/>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Radius</a:t>
            </a:r>
          </a:p>
        </p:txBody>
      </p:sp>
      <p:cxnSp>
        <p:nvCxnSpPr>
          <p:cNvPr id="24" name="Connector 23"/>
          <p:cNvCxnSpPr/>
          <p:nvPr/>
        </p:nvCxnSpPr>
        <p:spPr>
          <a:xfrm flipH="1">
            <a:off x="9389274" y="3038362"/>
            <a:ext cx="117204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348126" y="299721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61320" y="3639984"/>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Ulna</a:t>
            </a:r>
          </a:p>
        </p:txBody>
      </p:sp>
      <p:cxnSp>
        <p:nvCxnSpPr>
          <p:cNvPr id="27" name="Connector 26"/>
          <p:cNvCxnSpPr/>
          <p:nvPr/>
        </p:nvCxnSpPr>
        <p:spPr>
          <a:xfrm flipH="1">
            <a:off x="8690834" y="3868584"/>
            <a:ext cx="187048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8649686" y="382743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oc_1740.jpg"/>
          <p:cNvPicPr>
            <a:picLocks noChangeAspect="1"/>
          </p:cNvPicPr>
          <p:nvPr/>
        </p:nvPicPr>
        <p:blipFill>
          <a:blip r:embed="rId4"/>
          <a:stretch>
            <a:fillRect/>
          </a:stretch>
        </p:blipFill>
        <p:spPr>
          <a:xfrm>
            <a:off x="10515600" y="1240131"/>
            <a:ext cx="1554480" cy="903017"/>
          </a:xfrm>
          <a:prstGeom prst="rect">
            <a:avLst/>
          </a:prstGeom>
        </p:spPr>
      </p:pic>
      <p:sp>
        <p:nvSpPr>
          <p:cNvPr id="30" name="TextBox 29"/>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31" name="TextBox 30"/>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Ulnanın subkutan arka kenarı deriye yakındır – kırıkların sık açık olmasının anatomik temeli.</a:t>
            </a:r>
          </a:p>
          <a:p>
            <a:pPr algn="l">
              <a:spcAft>
                <a:spcPts val="300"/>
              </a:spcAft>
            </a:pPr>
            <a:r>
              <a:rPr sz="1500" b="0" i="0">
                <a:solidFill>
                  <a:srgbClr val="1F2A44"/>
                </a:solidFill>
                <a:latin typeface="Calibri"/>
              </a:rPr>
              <a:t>• Distal önkolda m. pronator quadratus radius ile ulna arasında en derin tabakadır.</a:t>
            </a:r>
          </a:p>
        </p:txBody>
      </p:sp>
      <p:cxnSp>
        <p:nvCxnSpPr>
          <p:cNvPr id="32" name="Connector 3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a_vm1740, donmuş BT c_vm1740.fro); NCI Imaging Data Commons (doi:10.5281/zenodo.12690049); NLM Terms and Conditions (2019). Yönelim: radyolojik (ön yukarıda, hastanın sağı solda); sağ üst ekstremite.</a:t>
            </a:r>
          </a:p>
        </p:txBody>
      </p:sp>
      <p:sp>
        <p:nvSpPr>
          <p:cNvPr id="34" name="TextBox 3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 distal uç (radius ve ulna distal epifizleri)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El bileğine yaklaşırken – NLM kesit no. 1770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770_R.jpg"/>
          <p:cNvPicPr>
            <a:picLocks noChangeAspect="1"/>
          </p:cNvPicPr>
          <p:nvPr/>
        </p:nvPicPr>
        <p:blipFill>
          <a:blip r:embed="rId2"/>
          <a:stretch>
            <a:fillRect/>
          </a:stretch>
        </p:blipFill>
        <p:spPr>
          <a:xfrm>
            <a:off x="2194560" y="1652057"/>
            <a:ext cx="3749039" cy="3233844"/>
          </a:xfrm>
          <a:prstGeom prst="rect">
            <a:avLst/>
          </a:prstGeom>
        </p:spPr>
      </p:pic>
      <p:sp>
        <p:nvSpPr>
          <p:cNvPr id="8" name="TextBox 7"/>
          <p:cNvSpPr txBox="1"/>
          <p:nvPr/>
        </p:nvSpPr>
        <p:spPr>
          <a:xfrm>
            <a:off x="2011679" y="4904190"/>
            <a:ext cx="411480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311179"/>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Radius (distal uç)</a:t>
            </a:r>
          </a:p>
        </p:txBody>
      </p:sp>
      <p:cxnSp>
        <p:nvCxnSpPr>
          <p:cNvPr id="10" name="Connector 9"/>
          <p:cNvCxnSpPr/>
          <p:nvPr/>
        </p:nvCxnSpPr>
        <p:spPr>
          <a:xfrm>
            <a:off x="2103120" y="2539779"/>
            <a:ext cx="154191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603886" y="249863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555575"/>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Ulna (distal uç)</a:t>
            </a:r>
          </a:p>
        </p:txBody>
      </p:sp>
      <p:cxnSp>
        <p:nvCxnSpPr>
          <p:cNvPr id="13" name="Connector 12"/>
          <p:cNvCxnSpPr/>
          <p:nvPr/>
        </p:nvCxnSpPr>
        <p:spPr>
          <a:xfrm>
            <a:off x="2103120" y="3784175"/>
            <a:ext cx="68589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747868" y="374302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3325719"/>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Distal önkol kasları ve tendonları</a:t>
            </a:r>
          </a:p>
        </p:txBody>
      </p:sp>
      <p:cxnSp>
        <p:nvCxnSpPr>
          <p:cNvPr id="16" name="Connector 15"/>
          <p:cNvCxnSpPr/>
          <p:nvPr/>
        </p:nvCxnSpPr>
        <p:spPr>
          <a:xfrm flipH="1">
            <a:off x="3224951" y="3554319"/>
            <a:ext cx="281008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183803" y="351317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t_1770_R.png"/>
          <p:cNvPicPr>
            <a:picLocks noChangeAspect="1"/>
          </p:cNvPicPr>
          <p:nvPr/>
        </p:nvPicPr>
        <p:blipFill>
          <a:blip r:embed="rId3"/>
          <a:stretch>
            <a:fillRect/>
          </a:stretch>
        </p:blipFill>
        <p:spPr>
          <a:xfrm>
            <a:off x="8229600" y="2302770"/>
            <a:ext cx="2240280" cy="1932419"/>
          </a:xfrm>
          <a:prstGeom prst="rect">
            <a:avLst/>
          </a:prstGeom>
        </p:spPr>
      </p:pic>
      <p:sp>
        <p:nvSpPr>
          <p:cNvPr id="19" name="TextBox 18"/>
          <p:cNvSpPr txBox="1"/>
          <p:nvPr/>
        </p:nvSpPr>
        <p:spPr>
          <a:xfrm>
            <a:off x="8046720" y="4253477"/>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0" name="TextBox 19"/>
          <p:cNvSpPr txBox="1"/>
          <p:nvPr/>
        </p:nvSpPr>
        <p:spPr>
          <a:xfrm>
            <a:off x="10561320" y="2708837"/>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Radius</a:t>
            </a:r>
          </a:p>
        </p:txBody>
      </p:sp>
      <p:cxnSp>
        <p:nvCxnSpPr>
          <p:cNvPr id="21" name="Connector 20"/>
          <p:cNvCxnSpPr/>
          <p:nvPr/>
        </p:nvCxnSpPr>
        <p:spPr>
          <a:xfrm flipH="1">
            <a:off x="9025301" y="2937437"/>
            <a:ext cx="153601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8984153" y="289628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61320" y="3348240"/>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Ulna</a:t>
            </a:r>
          </a:p>
        </p:txBody>
      </p:sp>
      <p:cxnSp>
        <p:nvCxnSpPr>
          <p:cNvPr id="24" name="Connector 23"/>
          <p:cNvCxnSpPr/>
          <p:nvPr/>
        </p:nvCxnSpPr>
        <p:spPr>
          <a:xfrm flipH="1">
            <a:off x="8584824" y="3576840"/>
            <a:ext cx="197649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543676" y="353569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oc_1770.jpg"/>
          <p:cNvPicPr>
            <a:picLocks noChangeAspect="1"/>
          </p:cNvPicPr>
          <p:nvPr/>
        </p:nvPicPr>
        <p:blipFill>
          <a:blip r:embed="rId4"/>
          <a:stretch>
            <a:fillRect/>
          </a:stretch>
        </p:blipFill>
        <p:spPr>
          <a:xfrm>
            <a:off x="10515600" y="1240131"/>
            <a:ext cx="1554480" cy="903017"/>
          </a:xfrm>
          <a:prstGeom prst="rect">
            <a:avLst/>
          </a:prstGeom>
        </p:spPr>
      </p:pic>
      <p:sp>
        <p:nvSpPr>
          <p:cNvPr id="27" name="TextBox 26"/>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28" name="TextBox 27"/>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Radius distalde genişler (radiokarpal eklemin ana yüzü); ulna incelir ve caput ulnae ile sonlanır.</a:t>
            </a:r>
          </a:p>
          <a:p>
            <a:pPr algn="l">
              <a:spcAft>
                <a:spcPts val="300"/>
              </a:spcAft>
            </a:pPr>
            <a:r>
              <a:rPr sz="1500" b="0" i="0">
                <a:solidFill>
                  <a:srgbClr val="1F2A44"/>
                </a:solidFill>
                <a:latin typeface="Calibri"/>
              </a:rPr>
              <a:t>• Bu düzeyde birçok kas karnı tendonlara dönüşmüştür – el bileği kesitlerine hazırlık.</a:t>
            </a:r>
          </a:p>
        </p:txBody>
      </p:sp>
      <p:cxnSp>
        <p:nvCxnSpPr>
          <p:cNvPr id="29" name="Connector 28"/>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a_vm1770, donmuş BT c_vm1770.fro); NCI Imaging Data Commons (doi:10.5281/zenodo.12690049); NLM Terms and Conditions (2019). Yönelim: radyolojik (ön yukarıda, hastanın sağı solda); sağ üst ekstremite.</a:t>
            </a:r>
          </a:p>
        </p:txBody>
      </p:sp>
      <p:sp>
        <p:nvSpPr>
          <p:cNvPr id="31" name="TextBox 30"/>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Dirsek kollateral bağları – şema ve MR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Acosta Batlle ve ark., Insights Imaging 2019</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3244_2019_725_Fig4_HTML.jpg"/>
          <p:cNvPicPr>
            <a:picLocks noChangeAspect="1"/>
          </p:cNvPicPr>
          <p:nvPr/>
        </p:nvPicPr>
        <p:blipFill>
          <a:blip r:embed="rId2"/>
          <a:stretch>
            <a:fillRect/>
          </a:stretch>
        </p:blipFill>
        <p:spPr>
          <a:xfrm>
            <a:off x="1139803" y="1234440"/>
            <a:ext cx="4532673" cy="2288712"/>
          </a:xfrm>
          <a:prstGeom prst="rect">
            <a:avLst/>
          </a:prstGeom>
        </p:spPr>
      </p:pic>
      <p:sp>
        <p:nvSpPr>
          <p:cNvPr id="8" name="TextBox 7"/>
          <p:cNvSpPr txBox="1"/>
          <p:nvPr/>
        </p:nvSpPr>
        <p:spPr>
          <a:xfrm>
            <a:off x="956923" y="3523152"/>
            <a:ext cx="489843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4 – Acosta Batlle José ve ark., 2019 (PMC6447645, CC BY)</a:t>
            </a:r>
          </a:p>
        </p:txBody>
      </p:sp>
      <p:pic>
        <p:nvPicPr>
          <p:cNvPr id="9" name="Picture 8" descr="13244_2019_725_Fig5_HTML.jpg"/>
          <p:cNvPicPr>
            <a:picLocks noChangeAspect="1"/>
          </p:cNvPicPr>
          <p:nvPr/>
        </p:nvPicPr>
        <p:blipFill>
          <a:blip r:embed="rId3"/>
          <a:stretch>
            <a:fillRect/>
          </a:stretch>
        </p:blipFill>
        <p:spPr>
          <a:xfrm>
            <a:off x="1139803" y="3797472"/>
            <a:ext cx="4532673" cy="2237567"/>
          </a:xfrm>
          <a:prstGeom prst="rect">
            <a:avLst/>
          </a:prstGeom>
        </p:spPr>
      </p:pic>
      <p:sp>
        <p:nvSpPr>
          <p:cNvPr id="10" name="TextBox 9"/>
          <p:cNvSpPr txBox="1"/>
          <p:nvPr/>
        </p:nvSpPr>
        <p:spPr>
          <a:xfrm>
            <a:off x="956923" y="6035040"/>
            <a:ext cx="489843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5 – Acosta Batlle José ve ark., 2019 (PMC6447645,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2111248"/>
          </a:xfrm>
          <a:prstGeom prst="rect">
            <a:avLst/>
          </a:prstGeom>
          <a:noFill/>
        </p:spPr>
        <p:txBody>
          <a:bodyPr wrap="square">
            <a:spAutoFit/>
          </a:bodyPr>
          <a:lstStyle/>
          <a:p>
            <a:pPr algn="l">
              <a:spcAft>
                <a:spcPts val="300"/>
              </a:spcAft>
            </a:pPr>
            <a:r>
              <a:rPr sz="1600" b="0" i="0">
                <a:solidFill>
                  <a:srgbClr val="1F2A44"/>
                </a:solidFill>
                <a:latin typeface="Calibri"/>
              </a:rPr>
              <a:t>• Şema: </a:t>
            </a:r>
            <a:r>
              <a:rPr sz="1600" b="0" i="0">
                <a:solidFill>
                  <a:srgbClr val="1F2A44"/>
                </a:solidFill>
                <a:latin typeface="Calibri"/>
              </a:rPr>
              <a:t>A-MCL</a:t>
            </a:r>
            <a:r>
              <a:rPr sz="1600" b="0" i="0">
                <a:solidFill>
                  <a:srgbClr val="1F2A44"/>
                </a:solidFill>
                <a:latin typeface="Calibri"/>
              </a:rPr>
              <a:t> lig. collaterale ulnare – ön bant; </a:t>
            </a:r>
            <a:r>
              <a:rPr sz="1600" b="0" i="0">
                <a:solidFill>
                  <a:srgbClr val="1F2A44"/>
                </a:solidFill>
                <a:latin typeface="Calibri"/>
              </a:rPr>
              <a:t>P-MCL</a:t>
            </a:r>
            <a:r>
              <a:rPr sz="1600" b="0" i="0">
                <a:solidFill>
                  <a:srgbClr val="1F2A44"/>
                </a:solidFill>
                <a:latin typeface="Calibri"/>
              </a:rPr>
              <a:t> lig. collaterale ulnare – arka bant; </a:t>
            </a:r>
            <a:r>
              <a:rPr sz="1600" b="0" i="0">
                <a:solidFill>
                  <a:srgbClr val="1F2A44"/>
                </a:solidFill>
                <a:latin typeface="Calibri"/>
              </a:rPr>
              <a:t>T-MCL</a:t>
            </a:r>
            <a:r>
              <a:rPr sz="1600" b="0" i="0">
                <a:solidFill>
                  <a:srgbClr val="1F2A44"/>
                </a:solidFill>
                <a:latin typeface="Calibri"/>
              </a:rPr>
              <a:t> lig. collaterale ulnare – transvers bant; </a:t>
            </a:r>
            <a:r>
              <a:rPr sz="1600" b="0" i="0">
                <a:solidFill>
                  <a:srgbClr val="1F2A44"/>
                </a:solidFill>
                <a:latin typeface="Calibri"/>
              </a:rPr>
              <a:t>RCL</a:t>
            </a:r>
            <a:r>
              <a:rPr sz="1600" b="0" i="0">
                <a:solidFill>
                  <a:srgbClr val="1F2A44"/>
                </a:solidFill>
                <a:latin typeface="Calibri"/>
              </a:rPr>
              <a:t> lig. collaterale radiale; </a:t>
            </a:r>
            <a:r>
              <a:rPr sz="1600" b="0" i="0">
                <a:solidFill>
                  <a:srgbClr val="1F2A44"/>
                </a:solidFill>
                <a:latin typeface="Calibri"/>
              </a:rPr>
              <a:t>AL</a:t>
            </a:r>
            <a:r>
              <a:rPr sz="1600" b="0" i="0">
                <a:solidFill>
                  <a:srgbClr val="1F2A44"/>
                </a:solidFill>
                <a:latin typeface="Calibri"/>
              </a:rPr>
              <a:t> lig. anulare radii; </a:t>
            </a:r>
            <a:r>
              <a:rPr sz="1600" b="0" i="0">
                <a:solidFill>
                  <a:srgbClr val="1F2A44"/>
                </a:solidFill>
                <a:latin typeface="Calibri"/>
              </a:rPr>
              <a:t>LUCL</a:t>
            </a:r>
            <a:r>
              <a:rPr sz="1600" b="0" i="0">
                <a:solidFill>
                  <a:srgbClr val="1F2A44"/>
                </a:solidFill>
                <a:latin typeface="Calibri"/>
              </a:rPr>
              <a:t> lateral ulnar kollateral bağ</a:t>
            </a:r>
          </a:p>
          <a:p>
            <a:pPr algn="l">
              <a:spcAft>
                <a:spcPts val="300"/>
              </a:spcAft>
            </a:pPr>
            <a:r>
              <a:rPr sz="1600" b="0" i="0">
                <a:solidFill>
                  <a:srgbClr val="1F2A44"/>
                </a:solidFill>
                <a:latin typeface="Calibri"/>
              </a:rPr>
              <a:t>• Koronal yağ baskılı PD MR: ***</a:t>
            </a:r>
            <a:r>
              <a:rPr sz="1600" b="0" i="0">
                <a:solidFill>
                  <a:srgbClr val="1F2A44"/>
                </a:solidFill>
                <a:latin typeface="Calibri"/>
              </a:rPr>
              <a:t> A-MCL (epicondylus medialis – tuberculum sublime ulnae); </a:t>
            </a:r>
            <a:r>
              <a:rPr sz="1600" b="0" i="0">
                <a:solidFill>
                  <a:srgbClr val="1F2A44"/>
                </a:solidFill>
                <a:latin typeface="Calibri"/>
              </a:rPr>
              <a:t>ME** epicondylus medialis</a:t>
            </a:r>
          </a:p>
        </p:txBody>
      </p:sp>
      <p:sp>
        <p:nvSpPr>
          <p:cNvPr id="13" name="TextBox 12"/>
          <p:cNvSpPr txBox="1"/>
          <p:nvPr/>
        </p:nvSpPr>
        <p:spPr>
          <a:xfrm>
            <a:off x="6720840" y="3738879"/>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4086351"/>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Lig. collaterale ulnare'nin ön bandı valgus stabilitesinin </a:t>
            </a:r>
            <a:r>
              <a:rPr sz="1600" b="0" i="0">
                <a:solidFill>
                  <a:srgbClr val="1F2A44"/>
                </a:solidFill>
                <a:latin typeface="Calibri"/>
              </a:rPr>
              <a:t>~%54</a:t>
            </a:r>
            <a:r>
              <a:rPr sz="1600" b="0" i="0">
                <a:solidFill>
                  <a:srgbClr val="1F2A44"/>
                </a:solidFill>
                <a:latin typeface="Calibri"/>
              </a:rPr>
              <a:t>'ünü, humeroulnar eklem ~%33'ünü sağlar.</a:t>
            </a:r>
          </a:p>
          <a:p>
            <a:pPr algn="l">
              <a:spcAft>
                <a:spcPts val="300"/>
              </a:spcAft>
            </a:pPr>
            <a:r>
              <a:rPr sz="1600" b="0" i="0">
                <a:solidFill>
                  <a:srgbClr val="1F2A44"/>
                </a:solidFill>
                <a:latin typeface="Calibri"/>
              </a:rPr>
              <a:t>• Normal proksimal A-MCL çizgili görünümdedir.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Acosta Batlle José, Cerezal Luis, López Parra María Dolores et al. The elbow: review of anatomy and common collateral ligament complex pathology using MRI. Insights Imaging. 2019 Apr 3;10:43. doi: 10.1186/s13244-019-0725-7 PMCID: PMC6447645.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Dirseğin lateral bağları – MR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Acosta Batlle ve ark., Insights Imaging 2019</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3244_2019_725_Fig7_HTML.jpg"/>
          <p:cNvPicPr>
            <a:picLocks noChangeAspect="1"/>
          </p:cNvPicPr>
          <p:nvPr/>
        </p:nvPicPr>
        <p:blipFill>
          <a:blip r:embed="rId2"/>
          <a:stretch>
            <a:fillRect/>
          </a:stretch>
        </p:blipFill>
        <p:spPr>
          <a:xfrm>
            <a:off x="1163962" y="1234440"/>
            <a:ext cx="4484354" cy="4800600"/>
          </a:xfrm>
          <a:prstGeom prst="rect">
            <a:avLst/>
          </a:prstGeom>
        </p:spPr>
      </p:pic>
      <p:sp>
        <p:nvSpPr>
          <p:cNvPr id="8" name="TextBox 7"/>
          <p:cNvSpPr txBox="1"/>
          <p:nvPr/>
        </p:nvSpPr>
        <p:spPr>
          <a:xfrm>
            <a:off x="981082" y="6035040"/>
            <a:ext cx="485011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7 – Acosta Batlle José ve ark., 2019 (PMC6447645,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 LUCL; kısa oklar lig. collaterale radiale; uzun ok lig. anulare; ok başları ortak ekstensör tendon; </a:t>
            </a:r>
            <a:r>
              <a:rPr sz="1600" b="0" i="0">
                <a:solidFill>
                  <a:srgbClr val="1F2A44"/>
                </a:solidFill>
                <a:latin typeface="Calibri"/>
              </a:rPr>
              <a:t>LE</a:t>
            </a:r>
            <a:r>
              <a:rPr sz="1600" b="0" i="0">
                <a:solidFill>
                  <a:srgbClr val="1F2A44"/>
                </a:solidFill>
                <a:latin typeface="Calibri"/>
              </a:rPr>
              <a:t> epicondylus lateralis; </a:t>
            </a:r>
            <a:r>
              <a:rPr sz="1600" b="0" i="0">
                <a:solidFill>
                  <a:srgbClr val="1F2A44"/>
                </a:solidFill>
                <a:latin typeface="Calibri"/>
              </a:rPr>
              <a:t>SC** crista m. supinatoris</a:t>
            </a:r>
          </a:p>
        </p:txBody>
      </p:sp>
      <p:sp>
        <p:nvSpPr>
          <p:cNvPr id="11" name="TextBox 10"/>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076448"/>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LUCL radius boynunun arkasını sarar – posterolateral rotatuar instabilitede kritik.</a:t>
            </a:r>
          </a:p>
          <a:p>
            <a:pPr algn="l">
              <a:spcAft>
                <a:spcPts val="300"/>
              </a:spcAft>
            </a:pPr>
            <a:r>
              <a:rPr sz="1600" b="0" i="0">
                <a:solidFill>
                  <a:srgbClr val="1F2A44"/>
                </a:solidFill>
                <a:latin typeface="Calibri"/>
              </a:rPr>
              <a:t>• Ortak ekstensör tendonu lateral epikondilitte kalınlaşır ve sinyali artar.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Acosta Batlle José, Cerezal Luis, López Parra María Dolores et al. The elbow: review of anatomy and common collateral ligament complex pathology using MRI. Insights Imaging. 2019 Apr 3;10:43. doi: 10.1186/s13244-019-0725-7 PMCID: PMC6447645.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Kubital tünel – ultrason ve diseksiyon korelasyonu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Ferre-Martinez ve ark., Diagnostics 2023 – 8 kadavra, 11 ekstremite</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diagnostics-13-01332-g004.jpg"/>
          <p:cNvPicPr>
            <a:picLocks noChangeAspect="1"/>
          </p:cNvPicPr>
          <p:nvPr/>
        </p:nvPicPr>
        <p:blipFill>
          <a:blip r:embed="rId2"/>
          <a:stretch>
            <a:fillRect/>
          </a:stretch>
        </p:blipFill>
        <p:spPr>
          <a:xfrm>
            <a:off x="2062654" y="1234440"/>
            <a:ext cx="2686971" cy="860698"/>
          </a:xfrm>
          <a:prstGeom prst="rect">
            <a:avLst/>
          </a:prstGeom>
        </p:spPr>
      </p:pic>
      <p:sp>
        <p:nvSpPr>
          <p:cNvPr id="8" name="TextBox 7"/>
          <p:cNvSpPr txBox="1"/>
          <p:nvPr/>
        </p:nvSpPr>
        <p:spPr>
          <a:xfrm>
            <a:off x="1879774" y="2095138"/>
            <a:ext cx="305273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Ferre-Martinez Andrea ve ark., 2023 (PMC10093241, CC BY)</a:t>
            </a:r>
          </a:p>
        </p:txBody>
      </p:sp>
      <p:pic>
        <p:nvPicPr>
          <p:cNvPr id="9" name="Picture 8" descr="diagnostics-13-01332-g007.jpg"/>
          <p:cNvPicPr>
            <a:picLocks noChangeAspect="1"/>
          </p:cNvPicPr>
          <p:nvPr/>
        </p:nvPicPr>
        <p:blipFill>
          <a:blip r:embed="rId3"/>
          <a:stretch>
            <a:fillRect/>
          </a:stretch>
        </p:blipFill>
        <p:spPr>
          <a:xfrm>
            <a:off x="2062654" y="2369458"/>
            <a:ext cx="2686971" cy="3665581"/>
          </a:xfrm>
          <a:prstGeom prst="rect">
            <a:avLst/>
          </a:prstGeom>
        </p:spPr>
      </p:pic>
      <p:sp>
        <p:nvSpPr>
          <p:cNvPr id="10" name="TextBox 9"/>
          <p:cNvSpPr txBox="1"/>
          <p:nvPr/>
        </p:nvSpPr>
        <p:spPr>
          <a:xfrm>
            <a:off x="1879774" y="6035040"/>
            <a:ext cx="305273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7 – Ferre-Martinez Andrea ve ark., 2023 (PMC10093241,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Üst: </a:t>
            </a:r>
            <a:r>
              <a:rPr sz="1600" b="0" i="0">
                <a:solidFill>
                  <a:srgbClr val="1F2A44"/>
                </a:solidFill>
                <a:latin typeface="Calibri"/>
              </a:rPr>
              <a:t>UN</a:t>
            </a:r>
            <a:r>
              <a:rPr sz="1600" b="0" i="0">
                <a:solidFill>
                  <a:srgbClr val="1F2A44"/>
                </a:solidFill>
                <a:latin typeface="Calibri"/>
              </a:rPr>
              <a:t> n. ulnaris; </a:t>
            </a:r>
            <a:r>
              <a:rPr sz="1600" b="0" i="0">
                <a:solidFill>
                  <a:srgbClr val="1F2A44"/>
                </a:solidFill>
                <a:latin typeface="Calibri"/>
              </a:rPr>
              <a:t>ME</a:t>
            </a:r>
            <a:r>
              <a:rPr sz="1600" b="0" i="0">
                <a:solidFill>
                  <a:srgbClr val="1F2A44"/>
                </a:solidFill>
                <a:latin typeface="Calibri"/>
              </a:rPr>
              <a:t> epicondylus medialis; </a:t>
            </a:r>
            <a:r>
              <a:rPr sz="1600" b="0" i="0">
                <a:solidFill>
                  <a:srgbClr val="1F2A44"/>
                </a:solidFill>
                <a:latin typeface="Calibri"/>
              </a:rPr>
              <a:t>Olc</a:t>
            </a:r>
            <a:r>
              <a:rPr sz="1600" b="0" i="0">
                <a:solidFill>
                  <a:srgbClr val="1F2A44"/>
                </a:solidFill>
                <a:latin typeface="Calibri"/>
              </a:rPr>
              <a:t> olecranon; oklar Osborne fasyası (US ve anatomik görünüm)</a:t>
            </a:r>
          </a:p>
          <a:p>
            <a:pPr algn="l">
              <a:spcAft>
                <a:spcPts val="300"/>
              </a:spcAft>
            </a:pPr>
            <a:r>
              <a:rPr sz="1600" b="0" i="0">
                <a:solidFill>
                  <a:srgbClr val="1F2A44"/>
                </a:solidFill>
                <a:latin typeface="Calibri"/>
              </a:rPr>
              <a:t>• Alt: n. ulnaris (artı işaretleri) FCU'nun medial (</a:t>
            </a:r>
            <a:r>
              <a:rPr sz="1600" b="0" i="0">
                <a:solidFill>
                  <a:srgbClr val="1F2A44"/>
                </a:solidFill>
                <a:latin typeface="Calibri"/>
              </a:rPr>
              <a:t>MH</a:t>
            </a:r>
            <a:r>
              <a:rPr sz="1600" b="0" i="0">
                <a:solidFill>
                  <a:srgbClr val="1F2A44"/>
                </a:solidFill>
                <a:latin typeface="Calibri"/>
              </a:rPr>
              <a:t>) ve lateral (</a:t>
            </a:r>
            <a:r>
              <a:rPr sz="1600" b="0" i="0">
                <a:solidFill>
                  <a:srgbClr val="1F2A44"/>
                </a:solidFill>
                <a:latin typeface="Calibri"/>
              </a:rPr>
              <a:t>LH</a:t>
            </a:r>
            <a:r>
              <a:rPr sz="1600" b="0" i="0">
                <a:solidFill>
                  <a:srgbClr val="1F2A44"/>
                </a:solidFill>
                <a:latin typeface="Calibri"/>
              </a:rPr>
              <a:t>) başları arasından tünelden çıkar; ***** lig. Osborne</a:t>
            </a:r>
          </a:p>
        </p:txBody>
      </p:sp>
      <p:sp>
        <p:nvSpPr>
          <p:cNvPr id="13" name="TextBox 12"/>
          <p:cNvSpPr txBox="1"/>
          <p:nvPr/>
        </p:nvSpPr>
        <p:spPr>
          <a:xfrm>
            <a:off x="6720840" y="32593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606800"/>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Her ultrason bulgusu aynı ekstremitenin diseksiyonu ile doğrulanmıştır.</a:t>
            </a:r>
          </a:p>
          <a:p>
            <a:pPr algn="l">
              <a:spcAft>
                <a:spcPts val="300"/>
              </a:spcAft>
            </a:pPr>
            <a:r>
              <a:rPr sz="1600" b="0" i="0">
                <a:solidFill>
                  <a:srgbClr val="1F2A44"/>
                </a:solidFill>
                <a:latin typeface="Calibri"/>
              </a:rPr>
              <a:t>• Sinir septum intermusculare mediale, triceps aponevrozu, Osborne bağı ve FCU başlarıyla ilişkili sıkışma noktalarında izlenebilir.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Ferre-Martinez Andrea, Miguel-Pérez Maribel, Möller Ingrid et al. Possible Points of Ulnar Nerve Entrapment in the Arm and Forearm: An Ultrasound, Anatomical, and Histological Study. Diagnostics (Basel). 2023 Apr 3;13(7):1332. doi: 10.3390/diagnostics13071332 PMCID: PMC10093241.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kompartmanları – dört düzey şema ve ultrason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Borges ve ark., Radiol Bras 2021</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rb-54-06-0388-g05.jpg"/>
          <p:cNvPicPr>
            <a:picLocks noChangeAspect="1"/>
          </p:cNvPicPr>
          <p:nvPr/>
        </p:nvPicPr>
        <p:blipFill>
          <a:blip r:embed="rId2"/>
          <a:stretch>
            <a:fillRect/>
          </a:stretch>
        </p:blipFill>
        <p:spPr>
          <a:xfrm>
            <a:off x="726658" y="1234440"/>
            <a:ext cx="2120457" cy="4800600"/>
          </a:xfrm>
          <a:prstGeom prst="rect">
            <a:avLst/>
          </a:prstGeom>
        </p:spPr>
      </p:pic>
      <p:sp>
        <p:nvSpPr>
          <p:cNvPr id="8" name="TextBox 7"/>
          <p:cNvSpPr txBox="1"/>
          <p:nvPr/>
        </p:nvSpPr>
        <p:spPr>
          <a:xfrm>
            <a:off x="543778" y="6035040"/>
            <a:ext cx="248621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5 – Borges Áurea V. R. Mohana ve ark., 2021 (PMC8630951, CC BY)</a:t>
            </a:r>
          </a:p>
        </p:txBody>
      </p:sp>
      <p:pic>
        <p:nvPicPr>
          <p:cNvPr id="9" name="Picture 8" descr="rb-54-06-0388-g06.jpg"/>
          <p:cNvPicPr>
            <a:picLocks noChangeAspect="1"/>
          </p:cNvPicPr>
          <p:nvPr/>
        </p:nvPicPr>
        <p:blipFill>
          <a:blip r:embed="rId3"/>
          <a:stretch>
            <a:fillRect/>
          </a:stretch>
        </p:blipFill>
        <p:spPr>
          <a:xfrm>
            <a:off x="2984275" y="1234440"/>
            <a:ext cx="3101346" cy="4800600"/>
          </a:xfrm>
          <a:prstGeom prst="rect">
            <a:avLst/>
          </a:prstGeom>
        </p:spPr>
      </p:pic>
      <p:sp>
        <p:nvSpPr>
          <p:cNvPr id="10" name="TextBox 9"/>
          <p:cNvSpPr txBox="1"/>
          <p:nvPr/>
        </p:nvSpPr>
        <p:spPr>
          <a:xfrm>
            <a:off x="2801395" y="6035040"/>
            <a:ext cx="3467106"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6 – Borges Áurea V. R. Mohana ve ark., 2021 (PMC8630951,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3017901"/>
          </a:xfrm>
          <a:prstGeom prst="rect">
            <a:avLst/>
          </a:prstGeom>
          <a:noFill/>
        </p:spPr>
        <p:txBody>
          <a:bodyPr wrap="square">
            <a:spAutoFit/>
          </a:bodyPr>
          <a:lstStyle/>
          <a:p>
            <a:pPr algn="l">
              <a:spcAft>
                <a:spcPts val="300"/>
              </a:spcAft>
            </a:pPr>
            <a:r>
              <a:rPr sz="1450" b="0" i="0">
                <a:solidFill>
                  <a:srgbClr val="1F2A44"/>
                </a:solidFill>
                <a:latin typeface="Calibri"/>
              </a:rPr>
              <a:t>• Şema: yüzeyel volar, derin volar, yüzeyel dorsal, derin dorsal ve lateral (mobil) kompartmanlar; </a:t>
            </a:r>
            <a:r>
              <a:rPr sz="1450" b="0" i="0">
                <a:solidFill>
                  <a:srgbClr val="1F2A44"/>
                </a:solidFill>
                <a:latin typeface="Calibri"/>
              </a:rPr>
              <a:t>1</a:t>
            </a:r>
            <a:r>
              <a:rPr sz="1450" b="0" i="0">
                <a:solidFill>
                  <a:srgbClr val="1F2A44"/>
                </a:solidFill>
                <a:latin typeface="Calibri"/>
              </a:rPr>
              <a:t> n. medianus; </a:t>
            </a:r>
            <a:r>
              <a:rPr sz="1450" b="0" i="0">
                <a:solidFill>
                  <a:srgbClr val="1F2A44"/>
                </a:solidFill>
                <a:latin typeface="Calibri"/>
              </a:rPr>
              <a:t>2</a:t>
            </a:r>
            <a:r>
              <a:rPr sz="1450" b="0" i="0">
                <a:solidFill>
                  <a:srgbClr val="1F2A44"/>
                </a:solidFill>
                <a:latin typeface="Calibri"/>
              </a:rPr>
              <a:t> a. ulnaris; </a:t>
            </a:r>
            <a:r>
              <a:rPr sz="1450" b="0" i="0">
                <a:solidFill>
                  <a:srgbClr val="1F2A44"/>
                </a:solidFill>
                <a:latin typeface="Calibri"/>
              </a:rPr>
              <a:t>3</a:t>
            </a:r>
            <a:r>
              <a:rPr sz="1450" b="0" i="0">
                <a:solidFill>
                  <a:srgbClr val="1F2A44"/>
                </a:solidFill>
                <a:latin typeface="Calibri"/>
              </a:rPr>
              <a:t> n. ulnaris; PR m. pronator teres; </a:t>
            </a:r>
            <a:r>
              <a:rPr sz="1450" b="0" i="0">
                <a:solidFill>
                  <a:srgbClr val="1F2A44"/>
                </a:solidFill>
                <a:latin typeface="Calibri"/>
              </a:rPr>
              <a:t>FCR</a:t>
            </a:r>
            <a:r>
              <a:rPr sz="1450" b="0" i="0">
                <a:solidFill>
                  <a:srgbClr val="1F2A44"/>
                </a:solidFill>
                <a:latin typeface="Calibri"/>
              </a:rPr>
              <a:t> m. flexor carpi radialis; </a:t>
            </a:r>
            <a:r>
              <a:rPr sz="1450" b="0" i="0">
                <a:solidFill>
                  <a:srgbClr val="1F2A44"/>
                </a:solidFill>
                <a:latin typeface="Calibri"/>
              </a:rPr>
              <a:t>PL</a:t>
            </a:r>
            <a:r>
              <a:rPr sz="1450" b="0" i="0">
                <a:solidFill>
                  <a:srgbClr val="1F2A44"/>
                </a:solidFill>
                <a:latin typeface="Calibri"/>
              </a:rPr>
              <a:t> m. palmaris longus; </a:t>
            </a:r>
            <a:r>
              <a:rPr sz="1450" b="0" i="0">
                <a:solidFill>
                  <a:srgbClr val="1F2A44"/>
                </a:solidFill>
                <a:latin typeface="Calibri"/>
              </a:rPr>
              <a:t>FDS</a:t>
            </a:r>
            <a:r>
              <a:rPr sz="1450" b="0" i="0">
                <a:solidFill>
                  <a:srgbClr val="1F2A44"/>
                </a:solidFill>
                <a:latin typeface="Calibri"/>
              </a:rPr>
              <a:t> m. flexor digitorum superficialis; </a:t>
            </a:r>
            <a:r>
              <a:rPr sz="1450" b="0" i="0">
                <a:solidFill>
                  <a:srgbClr val="1F2A44"/>
                </a:solidFill>
                <a:latin typeface="Calibri"/>
              </a:rPr>
              <a:t>FCU</a:t>
            </a:r>
            <a:r>
              <a:rPr sz="1450" b="0" i="0">
                <a:solidFill>
                  <a:srgbClr val="1F2A44"/>
                </a:solidFill>
                <a:latin typeface="Calibri"/>
              </a:rPr>
              <a:t> m. flexor carpi ulnaris; </a:t>
            </a:r>
            <a:r>
              <a:rPr sz="1450" b="0" i="0">
                <a:solidFill>
                  <a:srgbClr val="1F2A44"/>
                </a:solidFill>
                <a:latin typeface="Calibri"/>
              </a:rPr>
              <a:t>FDP</a:t>
            </a:r>
            <a:r>
              <a:rPr sz="1450" b="0" i="0">
                <a:solidFill>
                  <a:srgbClr val="1F2A44"/>
                </a:solidFill>
                <a:latin typeface="Calibri"/>
              </a:rPr>
              <a:t> m. flexor digitorum profundus</a:t>
            </a:r>
          </a:p>
          <a:p>
            <a:pPr algn="l">
              <a:spcAft>
                <a:spcPts val="300"/>
              </a:spcAft>
            </a:pPr>
            <a:r>
              <a:rPr sz="1450" b="0" i="0">
                <a:solidFill>
                  <a:srgbClr val="1F2A44"/>
                </a:solidFill>
                <a:latin typeface="Calibri"/>
              </a:rPr>
              <a:t>• US: </a:t>
            </a:r>
            <a:r>
              <a:rPr sz="1450" b="0" i="0">
                <a:solidFill>
                  <a:srgbClr val="1F2A44"/>
                </a:solidFill>
                <a:latin typeface="Calibri"/>
              </a:rPr>
              <a:t>ECRL</a:t>
            </a:r>
            <a:r>
              <a:rPr sz="1450" b="0" i="0">
                <a:solidFill>
                  <a:srgbClr val="1F2A44"/>
                </a:solidFill>
                <a:latin typeface="Calibri"/>
              </a:rPr>
              <a:t> m. extensor carpi radialis longus; </a:t>
            </a:r>
            <a:r>
              <a:rPr sz="1450" b="0" i="0">
                <a:solidFill>
                  <a:srgbClr val="1F2A44"/>
                </a:solidFill>
                <a:latin typeface="Calibri"/>
              </a:rPr>
              <a:t>ECRB</a:t>
            </a:r>
            <a:r>
              <a:rPr sz="1450" b="0" i="0">
                <a:solidFill>
                  <a:srgbClr val="1F2A44"/>
                </a:solidFill>
                <a:latin typeface="Calibri"/>
              </a:rPr>
              <a:t> m. extensor carpi radialis brevis; </a:t>
            </a:r>
            <a:r>
              <a:rPr sz="1450" b="0" i="0">
                <a:solidFill>
                  <a:srgbClr val="1F2A44"/>
                </a:solidFill>
                <a:latin typeface="Calibri"/>
              </a:rPr>
              <a:t>SBRN</a:t>
            </a:r>
            <a:r>
              <a:rPr sz="1450" b="0" i="0">
                <a:solidFill>
                  <a:srgbClr val="1F2A44"/>
                </a:solidFill>
                <a:latin typeface="Calibri"/>
              </a:rPr>
              <a:t> r. superficialis n. radialis; </a:t>
            </a:r>
            <a:r>
              <a:rPr sz="1450" b="0" i="0">
                <a:solidFill>
                  <a:srgbClr val="1F2A44"/>
                </a:solidFill>
                <a:latin typeface="Calibri"/>
              </a:rPr>
              <a:t>RA</a:t>
            </a:r>
            <a:r>
              <a:rPr sz="1450" b="0" i="0">
                <a:solidFill>
                  <a:srgbClr val="1F2A44"/>
                </a:solidFill>
                <a:latin typeface="Calibri"/>
              </a:rPr>
              <a:t> a. radialis; </a:t>
            </a:r>
            <a:r>
              <a:rPr sz="1450" b="0" i="0">
                <a:solidFill>
                  <a:srgbClr val="1F2A44"/>
                </a:solidFill>
                <a:latin typeface="Calibri"/>
              </a:rPr>
              <a:t>ECU</a:t>
            </a:r>
            <a:r>
              <a:rPr sz="1450" b="0" i="0">
                <a:solidFill>
                  <a:srgbClr val="1F2A44"/>
                </a:solidFill>
                <a:latin typeface="Calibri"/>
              </a:rPr>
              <a:t> m. extensor carpi ulnaris; </a:t>
            </a:r>
            <a:r>
              <a:rPr sz="1450" b="0" i="0">
                <a:solidFill>
                  <a:srgbClr val="1F2A44"/>
                </a:solidFill>
                <a:latin typeface="Calibri"/>
              </a:rPr>
              <a:t>EDM</a:t>
            </a:r>
            <a:r>
              <a:rPr sz="1450" b="0" i="0">
                <a:solidFill>
                  <a:srgbClr val="1F2A44"/>
                </a:solidFill>
                <a:latin typeface="Calibri"/>
              </a:rPr>
              <a:t> m. extensor digiti minimi; </a:t>
            </a:r>
            <a:r>
              <a:rPr sz="1450" b="0" i="0">
                <a:solidFill>
                  <a:srgbClr val="1F2A44"/>
                </a:solidFill>
                <a:latin typeface="Calibri"/>
              </a:rPr>
              <a:t>ED</a:t>
            </a:r>
            <a:r>
              <a:rPr sz="1450" b="0" i="0">
                <a:solidFill>
                  <a:srgbClr val="1F2A44"/>
                </a:solidFill>
                <a:latin typeface="Calibri"/>
              </a:rPr>
              <a:t> m. extensor digitorum; </a:t>
            </a:r>
            <a:r>
              <a:rPr sz="1450" b="0" i="0">
                <a:solidFill>
                  <a:srgbClr val="1F2A44"/>
                </a:solidFill>
                <a:latin typeface="Calibri"/>
              </a:rPr>
              <a:t>APL</a:t>
            </a:r>
            <a:r>
              <a:rPr sz="1450" b="0" i="0">
                <a:solidFill>
                  <a:srgbClr val="1F2A44"/>
                </a:solidFill>
                <a:latin typeface="Calibri"/>
              </a:rPr>
              <a:t> m. abductor pollicis longus; </a:t>
            </a:r>
            <a:r>
              <a:rPr sz="1450" b="0" i="0">
                <a:solidFill>
                  <a:srgbClr val="1F2A44"/>
                </a:solidFill>
                <a:latin typeface="Calibri"/>
              </a:rPr>
              <a:t>PIA</a:t>
            </a:r>
            <a:r>
              <a:rPr sz="1450" b="0" i="0">
                <a:solidFill>
                  <a:srgbClr val="1F2A44"/>
                </a:solidFill>
                <a:latin typeface="Calibri"/>
              </a:rPr>
              <a:t> a. interossea posterior; </a:t>
            </a:r>
            <a:r>
              <a:rPr sz="1450" b="0" i="0">
                <a:solidFill>
                  <a:srgbClr val="1F2A44"/>
                </a:solidFill>
                <a:latin typeface="Calibri"/>
              </a:rPr>
              <a:t>PIN</a:t>
            </a:r>
            <a:r>
              <a:rPr sz="1450" b="0" i="0">
                <a:solidFill>
                  <a:srgbClr val="1F2A44"/>
                </a:solidFill>
                <a:latin typeface="Calibri"/>
              </a:rPr>
              <a:t> n. interosseus posterior; Br m. brachioradialis; ECRBb ECRB dalı; S m. supinator; R/U radius/ulna</a:t>
            </a:r>
          </a:p>
        </p:txBody>
      </p:sp>
      <p:sp>
        <p:nvSpPr>
          <p:cNvPr id="13" name="TextBox 12"/>
          <p:cNvSpPr txBox="1"/>
          <p:nvPr/>
        </p:nvSpPr>
        <p:spPr>
          <a:xfrm>
            <a:off x="6720840" y="4645533"/>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4993005"/>
            <a:ext cx="5257800" cy="1062228"/>
          </a:xfrm>
          <a:prstGeom prst="rect">
            <a:avLst/>
          </a:prstGeom>
          <a:noFill/>
        </p:spPr>
        <p:txBody>
          <a:bodyPr wrap="square">
            <a:spAutoFit/>
          </a:bodyPr>
          <a:lstStyle/>
          <a:p>
            <a:pPr algn="l">
              <a:spcAft>
                <a:spcPts val="300"/>
              </a:spcAft>
            </a:pPr>
            <a:r>
              <a:rPr sz="1450" b="0" i="0">
                <a:solidFill>
                  <a:srgbClr val="1F2A44"/>
                </a:solidFill>
                <a:latin typeface="Calibri"/>
              </a:rPr>
              <a:t>• Volar kompartman kaslarının çoğunu n. medianus innerve eder (FCU ve FDP medial yarısı hariç – n. ulnaris).</a:t>
            </a:r>
          </a:p>
          <a:p>
            <a:pPr algn="l">
              <a:spcAft>
                <a:spcPts val="300"/>
              </a:spcAft>
            </a:pPr>
            <a:r>
              <a:rPr sz="1450" b="0" i="0">
                <a:solidFill>
                  <a:srgbClr val="1F2A44"/>
                </a:solidFill>
                <a:latin typeface="Calibri"/>
              </a:rPr>
              <a:t>• Yüksek frekanslı (18–5 MHz) prob ile sinirler ve dalları ayrıntılı izlenebilir.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Borges Áurea V. R. Mohana, Souza Sergio A. L Anatomy of the nerves, vessels, and muscular compartments of the forearm, as revealed by high-resolution ultrasound. Part 1: overall structure and forearm compartments. Radiol Bras. 2021 Nov-Dec;54(6):388–97. doi: 10.1590/0100-3984.2021.0030 PMCID: PMC8630951.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arterleri – Doppler ultrason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Borges ve ark., Radiol Bras 2021</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rb-54-06-0398-g01.jpg"/>
          <p:cNvPicPr>
            <a:picLocks noChangeAspect="1"/>
          </p:cNvPicPr>
          <p:nvPr/>
        </p:nvPicPr>
        <p:blipFill>
          <a:blip r:embed="rId2"/>
          <a:stretch>
            <a:fillRect/>
          </a:stretch>
        </p:blipFill>
        <p:spPr>
          <a:xfrm>
            <a:off x="274320" y="1234440"/>
            <a:ext cx="1479785" cy="1555134"/>
          </a:xfrm>
          <a:prstGeom prst="rect">
            <a:avLst/>
          </a:prstGeom>
        </p:spPr>
      </p:pic>
      <p:sp>
        <p:nvSpPr>
          <p:cNvPr id="8" name="TextBox 7"/>
          <p:cNvSpPr txBox="1"/>
          <p:nvPr/>
        </p:nvSpPr>
        <p:spPr>
          <a:xfrm>
            <a:off x="91439" y="2789574"/>
            <a:ext cx="184554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Borges Áurea V. R. Mohana ve ark., 2021 (PMC8630952, CC BY)</a:t>
            </a:r>
          </a:p>
        </p:txBody>
      </p:sp>
      <p:pic>
        <p:nvPicPr>
          <p:cNvPr id="9" name="Picture 8" descr="rb-54-06-0398-g05.jpg"/>
          <p:cNvPicPr>
            <a:picLocks noChangeAspect="1"/>
          </p:cNvPicPr>
          <p:nvPr/>
        </p:nvPicPr>
        <p:blipFill>
          <a:blip r:embed="rId3"/>
          <a:stretch>
            <a:fillRect/>
          </a:stretch>
        </p:blipFill>
        <p:spPr>
          <a:xfrm>
            <a:off x="1891265" y="1234440"/>
            <a:ext cx="3028871" cy="1555134"/>
          </a:xfrm>
          <a:prstGeom prst="rect">
            <a:avLst/>
          </a:prstGeom>
        </p:spPr>
      </p:pic>
      <p:sp>
        <p:nvSpPr>
          <p:cNvPr id="10" name="TextBox 9"/>
          <p:cNvSpPr txBox="1"/>
          <p:nvPr/>
        </p:nvSpPr>
        <p:spPr>
          <a:xfrm>
            <a:off x="1708385" y="2789574"/>
            <a:ext cx="339463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5 – Borges Áurea V. R. Mohana ve ark., 2021 (PMC8630952, CC BY)</a:t>
            </a:r>
          </a:p>
        </p:txBody>
      </p:sp>
      <p:pic>
        <p:nvPicPr>
          <p:cNvPr id="11" name="Picture 10" descr="rb-54-06-0398-g06.jpg"/>
          <p:cNvPicPr>
            <a:picLocks noChangeAspect="1"/>
          </p:cNvPicPr>
          <p:nvPr/>
        </p:nvPicPr>
        <p:blipFill>
          <a:blip r:embed="rId4"/>
          <a:stretch>
            <a:fillRect/>
          </a:stretch>
        </p:blipFill>
        <p:spPr>
          <a:xfrm>
            <a:off x="5057296" y="1234440"/>
            <a:ext cx="1480663" cy="1555134"/>
          </a:xfrm>
          <a:prstGeom prst="rect">
            <a:avLst/>
          </a:prstGeom>
        </p:spPr>
      </p:pic>
      <p:sp>
        <p:nvSpPr>
          <p:cNvPr id="12" name="TextBox 11"/>
          <p:cNvSpPr txBox="1"/>
          <p:nvPr/>
        </p:nvSpPr>
        <p:spPr>
          <a:xfrm>
            <a:off x="4874416" y="2789574"/>
            <a:ext cx="184642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6 – Borges Áurea V. R. Mohana ve ark., 2021 (PMC8630952, CC BY)</a:t>
            </a:r>
          </a:p>
        </p:txBody>
      </p:sp>
      <p:sp>
        <p:nvSpPr>
          <p:cNvPr id="13" name="TextBox 12"/>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4" name="TextBox 13"/>
          <p:cNvSpPr txBox="1"/>
          <p:nvPr/>
        </p:nvSpPr>
        <p:spPr>
          <a:xfrm>
            <a:off x="6720840" y="1581912"/>
            <a:ext cx="5257800" cy="2532506"/>
          </a:xfrm>
          <a:prstGeom prst="rect">
            <a:avLst/>
          </a:prstGeom>
          <a:noFill/>
        </p:spPr>
        <p:txBody>
          <a:bodyPr wrap="square">
            <a:spAutoFit/>
          </a:bodyPr>
          <a:lstStyle/>
          <a:p>
            <a:pPr algn="l">
              <a:spcAft>
                <a:spcPts val="300"/>
              </a:spcAft>
            </a:pPr>
            <a:r>
              <a:rPr sz="1450" b="0" i="0">
                <a:solidFill>
                  <a:srgbClr val="1F2A44"/>
                </a:solidFill>
                <a:latin typeface="Calibri"/>
              </a:rPr>
              <a:t>• </a:t>
            </a:r>
            <a:r>
              <a:rPr sz="1450" b="0" i="0">
                <a:solidFill>
                  <a:srgbClr val="1F2A44"/>
                </a:solidFill>
                <a:latin typeface="Calibri"/>
              </a:rPr>
              <a:t>BA</a:t>
            </a:r>
            <a:r>
              <a:rPr sz="1450" b="0" i="0">
                <a:solidFill>
                  <a:srgbClr val="1F2A44"/>
                </a:solidFill>
                <a:latin typeface="Calibri"/>
              </a:rPr>
              <a:t> a. brachialis; </a:t>
            </a:r>
            <a:r>
              <a:rPr sz="1450" b="0" i="0">
                <a:solidFill>
                  <a:srgbClr val="1F2A44"/>
                </a:solidFill>
                <a:latin typeface="Calibri"/>
              </a:rPr>
              <a:t>RA</a:t>
            </a:r>
            <a:r>
              <a:rPr sz="1450" b="0" i="0">
                <a:solidFill>
                  <a:srgbClr val="1F2A44"/>
                </a:solidFill>
                <a:latin typeface="Calibri"/>
              </a:rPr>
              <a:t> a. radialis; </a:t>
            </a:r>
            <a:r>
              <a:rPr sz="1450" b="0" i="0">
                <a:solidFill>
                  <a:srgbClr val="1F2A44"/>
                </a:solidFill>
                <a:latin typeface="Calibri"/>
              </a:rPr>
              <a:t>UA</a:t>
            </a:r>
            <a:r>
              <a:rPr sz="1450" b="0" i="0">
                <a:solidFill>
                  <a:srgbClr val="1F2A44"/>
                </a:solidFill>
                <a:latin typeface="Calibri"/>
              </a:rPr>
              <a:t> a. ulnaris; </a:t>
            </a:r>
            <a:r>
              <a:rPr sz="1450" b="0" i="0">
                <a:solidFill>
                  <a:srgbClr val="1F2A44"/>
                </a:solidFill>
                <a:latin typeface="Calibri"/>
              </a:rPr>
              <a:t>PURA</a:t>
            </a:r>
            <a:r>
              <a:rPr sz="1450" b="0" i="0">
                <a:solidFill>
                  <a:srgbClr val="1F2A44"/>
                </a:solidFill>
                <a:latin typeface="Calibri"/>
              </a:rPr>
              <a:t> a. recurrens ulnaris posterior; </a:t>
            </a:r>
            <a:r>
              <a:rPr sz="1450" b="0" i="0">
                <a:solidFill>
                  <a:srgbClr val="1F2A44"/>
                </a:solidFill>
                <a:latin typeface="Calibri"/>
              </a:rPr>
              <a:t>CIA</a:t>
            </a:r>
            <a:r>
              <a:rPr sz="1450" b="0" i="0">
                <a:solidFill>
                  <a:srgbClr val="1F2A44"/>
                </a:solidFill>
                <a:latin typeface="Calibri"/>
              </a:rPr>
              <a:t> a. interossea communis; </a:t>
            </a:r>
            <a:r>
              <a:rPr sz="1450" b="0" i="0">
                <a:solidFill>
                  <a:srgbClr val="1F2A44"/>
                </a:solidFill>
                <a:latin typeface="Calibri"/>
              </a:rPr>
              <a:t>SBRN</a:t>
            </a:r>
            <a:r>
              <a:rPr sz="1450" b="0" i="0">
                <a:solidFill>
                  <a:srgbClr val="1F2A44"/>
                </a:solidFill>
                <a:latin typeface="Calibri"/>
              </a:rPr>
              <a:t> r. superficialis n. radialis; </a:t>
            </a:r>
            <a:r>
              <a:rPr sz="1450" b="0" i="0">
                <a:solidFill>
                  <a:srgbClr val="1F2A44"/>
                </a:solidFill>
                <a:latin typeface="Calibri"/>
              </a:rPr>
              <a:t>DBRN</a:t>
            </a:r>
            <a:r>
              <a:rPr sz="1450" b="0" i="0">
                <a:solidFill>
                  <a:srgbClr val="1F2A44"/>
                </a:solidFill>
                <a:latin typeface="Calibri"/>
              </a:rPr>
              <a:t> r. profundus n. radialis; </a:t>
            </a:r>
            <a:r>
              <a:rPr sz="1450" b="0" i="0">
                <a:solidFill>
                  <a:srgbClr val="1F2A44"/>
                </a:solidFill>
                <a:latin typeface="Calibri"/>
              </a:rPr>
              <a:t>PIA</a:t>
            </a:r>
            <a:r>
              <a:rPr sz="1450" b="0" i="0">
                <a:solidFill>
                  <a:srgbClr val="1F2A44"/>
                </a:solidFill>
                <a:latin typeface="Calibri"/>
              </a:rPr>
              <a:t> a. interossea posterior; </a:t>
            </a:r>
            <a:r>
              <a:rPr sz="1450" b="0" i="0">
                <a:solidFill>
                  <a:srgbClr val="1F2A44"/>
                </a:solidFill>
                <a:latin typeface="Calibri"/>
              </a:rPr>
              <a:t>AIN</a:t>
            </a:r>
            <a:r>
              <a:rPr sz="1450" b="0" i="0">
                <a:solidFill>
                  <a:srgbClr val="1F2A44"/>
                </a:solidFill>
                <a:latin typeface="Calibri"/>
              </a:rPr>
              <a:t> n. interosseus anterior; </a:t>
            </a:r>
            <a:r>
              <a:rPr sz="1450" b="0" i="0">
                <a:solidFill>
                  <a:srgbClr val="1F2A44"/>
                </a:solidFill>
                <a:latin typeface="Calibri"/>
              </a:rPr>
              <a:t>AIA</a:t>
            </a:r>
            <a:r>
              <a:rPr sz="1450" b="0" i="0">
                <a:solidFill>
                  <a:srgbClr val="1F2A44"/>
                </a:solidFill>
                <a:latin typeface="Calibri"/>
              </a:rPr>
              <a:t> a. interossea anterior; Leash of Henry = Henry tasması; </a:t>
            </a:r>
            <a:r>
              <a:rPr sz="1450" b="0" i="0">
                <a:solidFill>
                  <a:srgbClr val="1F2A44"/>
                </a:solidFill>
                <a:latin typeface="Calibri"/>
              </a:rPr>
              <a:t>ECU</a:t>
            </a:r>
            <a:r>
              <a:rPr sz="1450" b="0" i="0">
                <a:solidFill>
                  <a:srgbClr val="1F2A44"/>
                </a:solidFill>
                <a:latin typeface="Calibri"/>
              </a:rPr>
              <a:t> m. extensor carpi ulnaris; </a:t>
            </a:r>
            <a:r>
              <a:rPr sz="1450" b="0" i="0">
                <a:solidFill>
                  <a:srgbClr val="1F2A44"/>
                </a:solidFill>
                <a:latin typeface="Calibri"/>
              </a:rPr>
              <a:t>EDM</a:t>
            </a:r>
            <a:r>
              <a:rPr sz="1450" b="0" i="0">
                <a:solidFill>
                  <a:srgbClr val="1F2A44"/>
                </a:solidFill>
                <a:latin typeface="Calibri"/>
              </a:rPr>
              <a:t> m. extensor digiti minimi; </a:t>
            </a:r>
            <a:r>
              <a:rPr sz="1450" b="0" i="0">
                <a:solidFill>
                  <a:srgbClr val="1F2A44"/>
                </a:solidFill>
                <a:latin typeface="Calibri"/>
              </a:rPr>
              <a:t>ED</a:t>
            </a:r>
            <a:r>
              <a:rPr sz="1450" b="0" i="0">
                <a:solidFill>
                  <a:srgbClr val="1F2A44"/>
                </a:solidFill>
                <a:latin typeface="Calibri"/>
              </a:rPr>
              <a:t> m. extensor digitorum; </a:t>
            </a:r>
            <a:r>
              <a:rPr sz="1450" b="0" i="0">
                <a:solidFill>
                  <a:srgbClr val="1F2A44"/>
                </a:solidFill>
                <a:latin typeface="Calibri"/>
              </a:rPr>
              <a:t>APL</a:t>
            </a:r>
            <a:r>
              <a:rPr sz="1450" b="0" i="0">
                <a:solidFill>
                  <a:srgbClr val="1F2A44"/>
                </a:solidFill>
                <a:latin typeface="Calibri"/>
              </a:rPr>
              <a:t> m. abductor pollicis longus; </a:t>
            </a:r>
            <a:r>
              <a:rPr sz="1450" b="0" i="0">
                <a:solidFill>
                  <a:srgbClr val="1F2A44"/>
                </a:solidFill>
                <a:latin typeface="Calibri"/>
              </a:rPr>
              <a:t>FPL</a:t>
            </a:r>
            <a:r>
              <a:rPr sz="1450" b="0" i="0">
                <a:solidFill>
                  <a:srgbClr val="1F2A44"/>
                </a:solidFill>
                <a:latin typeface="Calibri"/>
              </a:rPr>
              <a:t> m. flexor pollicis longus; </a:t>
            </a:r>
            <a:r>
              <a:rPr sz="1450" b="0" i="0">
                <a:solidFill>
                  <a:srgbClr val="1F2A44"/>
                </a:solidFill>
                <a:latin typeface="Calibri"/>
              </a:rPr>
              <a:t>FDP</a:t>
            </a:r>
            <a:r>
              <a:rPr sz="1450" b="0" i="0">
                <a:solidFill>
                  <a:srgbClr val="1F2A44"/>
                </a:solidFill>
                <a:latin typeface="Calibri"/>
              </a:rPr>
              <a:t> m. flexor digitorum profundus; </a:t>
            </a:r>
            <a:r>
              <a:rPr sz="1450" b="0" i="0">
                <a:solidFill>
                  <a:srgbClr val="1F2A44"/>
                </a:solidFill>
                <a:latin typeface="Calibri"/>
              </a:rPr>
              <a:t>FCR</a:t>
            </a:r>
            <a:r>
              <a:rPr sz="1450" b="0" i="0">
                <a:solidFill>
                  <a:srgbClr val="1F2A44"/>
                </a:solidFill>
                <a:latin typeface="Calibri"/>
              </a:rPr>
              <a:t> m. flexor carpi radialis; </a:t>
            </a:r>
            <a:r>
              <a:rPr sz="1450" b="0" i="0">
                <a:solidFill>
                  <a:srgbClr val="1F2A44"/>
                </a:solidFill>
                <a:latin typeface="Calibri"/>
              </a:rPr>
              <a:t>ECRL</a:t>
            </a:r>
            <a:r>
              <a:rPr sz="1450" b="0" i="0">
                <a:solidFill>
                  <a:srgbClr val="1F2A44"/>
                </a:solidFill>
                <a:latin typeface="Calibri"/>
              </a:rPr>
              <a:t> m. extensor carpi radialis longus; </a:t>
            </a:r>
            <a:r>
              <a:rPr sz="1450" b="0" i="0">
                <a:solidFill>
                  <a:srgbClr val="1F2A44"/>
                </a:solidFill>
                <a:latin typeface="Calibri"/>
              </a:rPr>
              <a:t>S</a:t>
            </a:r>
            <a:r>
              <a:rPr sz="1450" b="0" i="0">
                <a:solidFill>
                  <a:srgbClr val="1F2A44"/>
                </a:solidFill>
                <a:latin typeface="Calibri"/>
              </a:rPr>
              <a:t> m. supinator</a:t>
            </a:r>
          </a:p>
        </p:txBody>
      </p:sp>
      <p:sp>
        <p:nvSpPr>
          <p:cNvPr id="15" name="TextBox 14"/>
          <p:cNvSpPr txBox="1"/>
          <p:nvPr/>
        </p:nvSpPr>
        <p:spPr>
          <a:xfrm>
            <a:off x="6720840" y="416013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6" name="TextBox 15"/>
          <p:cNvSpPr txBox="1"/>
          <p:nvPr/>
        </p:nvSpPr>
        <p:spPr>
          <a:xfrm>
            <a:off x="6720840" y="4507610"/>
            <a:ext cx="5257800" cy="1764919"/>
          </a:xfrm>
          <a:prstGeom prst="rect">
            <a:avLst/>
          </a:prstGeom>
          <a:noFill/>
        </p:spPr>
        <p:txBody>
          <a:bodyPr wrap="square">
            <a:spAutoFit/>
          </a:bodyPr>
          <a:lstStyle/>
          <a:p>
            <a:pPr algn="l">
              <a:spcAft>
                <a:spcPts val="300"/>
              </a:spcAft>
            </a:pPr>
            <a:r>
              <a:rPr sz="1450" b="0" i="0">
                <a:solidFill>
                  <a:srgbClr val="1F2A44"/>
                </a:solidFill>
                <a:latin typeface="Calibri"/>
              </a:rPr>
              <a:t>• A. radialis a. brachialis'in daha doğrudan devamıdır; a. ulnaris daha derindedir ve a. interossea communis'i verir.</a:t>
            </a:r>
          </a:p>
          <a:p>
            <a:pPr algn="l">
              <a:spcAft>
                <a:spcPts val="300"/>
              </a:spcAft>
            </a:pPr>
            <a:r>
              <a:rPr sz="1450" b="0" i="0">
                <a:solidFill>
                  <a:srgbClr val="1F2A44"/>
                </a:solidFill>
                <a:latin typeface="Calibri"/>
              </a:rPr>
              <a:t>• Henry tasması radius başı düzeyinde DBRN ile SBRN arasından geçer.</a:t>
            </a:r>
          </a:p>
          <a:p>
            <a:pPr algn="l">
              <a:spcAft>
                <a:spcPts val="300"/>
              </a:spcAft>
            </a:pPr>
            <a:r>
              <a:rPr sz="1450" b="0" i="0">
                <a:solidFill>
                  <a:srgbClr val="1F2A44"/>
                </a:solidFill>
                <a:latin typeface="Calibri"/>
              </a:rPr>
              <a:t>• A. interossea posterior membrana interossea'nın üstünden arka kompartmana girer.</a:t>
            </a:r>
          </a:p>
        </p:txBody>
      </p:sp>
      <p:cxnSp>
        <p:nvCxnSpPr>
          <p:cNvPr id="17" name="Connector 1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Borges Áurea V. R. Mohana, Souza Sergio A. L Anatomy of the nerves, vessels, and muscular compartments of the forearm, as revealed by high-resolution ultrasound. Part 2: vascularization of compartments and cutaneous innervation. Radiol Bras. 2021 Nov-Dec;54(6):398–405. doi: 10.1590/0100-3984.2021.0031 PMCID: PMC8630952. Lisans: CC BY.</a:t>
            </a:r>
          </a:p>
        </p:txBody>
      </p:sp>
      <p:sp>
        <p:nvSpPr>
          <p:cNvPr id="19" name="TextBox 18"/>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 görüntüleme tabanlı varyasyonlar: literatür taraması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MR, BT, ultrason ve grafi çalışmaları (PMC açık erişim)</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234440"/>
          <a:ext cx="11640312" cy="2868926"/>
        </p:xfrm>
        <a:graphic>
          <a:graphicData uri="http://schemas.openxmlformats.org/drawingml/2006/table">
            <a:tbl>
              <a:tblPr firstRow="1" bandRow="1">
                <a:tableStyleId>{5C22544A-7EE6-4342-B048-85BDC9FD1C3A}</a:tableStyleId>
              </a:tblPr>
              <a:tblGrid>
                <a:gridCol w="2108088"/>
                <a:gridCol w="1924776"/>
                <a:gridCol w="1833120"/>
                <a:gridCol w="3024648"/>
                <a:gridCol w="2749680"/>
              </a:tblGrid>
              <a:tr h="457200">
                <a:tc>
                  <a:txBody>
                    <a:bodyPr/>
                    <a:lstStyle/>
                    <a:p>
                      <a:r>
                        <a:rPr sz="1350" b="1">
                          <a:solidFill>
                            <a:srgbClr val="FFFFFF"/>
                          </a:solidFill>
                          <a:latin typeface="Calibri"/>
                        </a:rPr>
                        <a:t>Varyasyon</a:t>
                      </a:r>
                    </a:p>
                  </a:txBody>
                  <a:tcPr>
                    <a:solidFill>
                      <a:srgbClr val="1F2A44"/>
                    </a:solidFill>
                  </a:tcPr>
                </a:tc>
                <a:tc>
                  <a:txBody>
                    <a:bodyPr/>
                    <a:lstStyle/>
                    <a:p>
                      <a:r>
                        <a:rPr sz="1350" b="1">
                          <a:solidFill>
                            <a:srgbClr val="FFFFFF"/>
                          </a:solidFill>
                          <a:latin typeface="Calibri"/>
                        </a:rPr>
                        <a:t>Çalışma</a:t>
                      </a:r>
                    </a:p>
                  </a:txBody>
                  <a:tcPr>
                    <a:solidFill>
                      <a:srgbClr val="1F2A44"/>
                    </a:solidFill>
                  </a:tcPr>
                </a:tc>
                <a:tc>
                  <a:txBody>
                    <a:bodyPr/>
                    <a:lstStyle/>
                    <a:p>
                      <a:r>
                        <a:rPr sz="1350" b="1">
                          <a:solidFill>
                            <a:srgbClr val="FFFFFF"/>
                          </a:solidFill>
                          <a:latin typeface="Calibri"/>
                        </a:rPr>
                        <a:t>Örneklem / yöntem</a:t>
                      </a:r>
                    </a:p>
                  </a:txBody>
                  <a:tcPr>
                    <a:solidFill>
                      <a:srgbClr val="1F2A44"/>
                    </a:solidFill>
                  </a:tcPr>
                </a:tc>
                <a:tc>
                  <a:txBody>
                    <a:bodyPr/>
                    <a:lstStyle/>
                    <a:p>
                      <a:r>
                        <a:rPr sz="1350" b="1">
                          <a:solidFill>
                            <a:srgbClr val="FFFFFF"/>
                          </a:solidFill>
                          <a:latin typeface="Calibri"/>
                        </a:rPr>
                        <a:t>Sıklık / ana bulgu</a:t>
                      </a:r>
                    </a:p>
                  </a:txBody>
                  <a:tcPr>
                    <a:solidFill>
                      <a:srgbClr val="1F2A44"/>
                    </a:solidFill>
                  </a:tcPr>
                </a:tc>
                <a:tc>
                  <a:txBody>
                    <a:bodyPr/>
                    <a:lstStyle/>
                    <a:p>
                      <a:r>
                        <a:rPr sz="1350" b="1">
                          <a:solidFill>
                            <a:srgbClr val="FFFFFF"/>
                          </a:solidFill>
                          <a:latin typeface="Calibri"/>
                        </a:rPr>
                        <a:t>Klinik önem</a:t>
                      </a:r>
                    </a:p>
                  </a:txBody>
                  <a:tcPr>
                    <a:solidFill>
                      <a:srgbClr val="1F2A44"/>
                    </a:solidFill>
                  </a:tcPr>
                </a:tc>
              </a:tr>
              <a:tr h="554227">
                <a:tc>
                  <a:txBody>
                    <a:bodyPr/>
                    <a:lstStyle/>
                    <a:p>
                      <a:r>
                        <a:rPr sz="1300" b="1">
                          <a:solidFill>
                            <a:srgbClr val="1F2A44"/>
                          </a:solidFill>
                          <a:latin typeface="Calibri"/>
                        </a:rPr>
                        <a:t>Chiasma antebrachii (FDS) – MR</a:t>
                      </a:r>
                    </a:p>
                  </a:txBody>
                  <a:tcPr>
                    <a:solidFill>
                      <a:srgbClr val="F3F4F6"/>
                    </a:solidFill>
                  </a:tcPr>
                </a:tc>
                <a:tc>
                  <a:txBody>
                    <a:bodyPr/>
                    <a:lstStyle/>
                    <a:p>
                      <a:r>
                        <a:rPr sz="1300" b="0">
                          <a:solidFill>
                            <a:srgbClr val="1F2A44"/>
                          </a:solidFill>
                          <a:latin typeface="Calibri"/>
                        </a:rPr>
                        <a:t>Elsner ve ark. 2023</a:t>
                      </a:r>
                    </a:p>
                  </a:txBody>
                  <a:tcPr>
                    <a:solidFill>
                      <a:srgbClr val="F3F4F6"/>
                    </a:solidFill>
                  </a:tcPr>
                </a:tc>
                <a:tc>
                  <a:txBody>
                    <a:bodyPr/>
                    <a:lstStyle/>
                    <a:p>
                      <a:r>
                        <a:rPr sz="1300" b="0">
                          <a:solidFill>
                            <a:srgbClr val="1F2A44"/>
                          </a:solidFill>
                          <a:latin typeface="Calibri"/>
                        </a:rPr>
                        <a:t>89 hasta MR'ı</a:t>
                      </a:r>
                    </a:p>
                  </a:txBody>
                  <a:tcPr>
                    <a:solidFill>
                      <a:srgbClr val="F3F4F6"/>
                    </a:solidFill>
                  </a:tcPr>
                </a:tc>
                <a:tc>
                  <a:txBody>
                    <a:bodyPr/>
                    <a:lstStyle/>
                    <a:p>
                      <a:r>
                        <a:rPr sz="1300" b="0">
                          <a:solidFill>
                            <a:srgbClr val="1F2A44"/>
                          </a:solidFill>
                          <a:latin typeface="Calibri"/>
                        </a:rPr>
                        <a:t>Distal üçte birde %98,9; medyan uzunluk 28 mm</a:t>
                      </a:r>
                    </a:p>
                  </a:txBody>
                  <a:tcPr>
                    <a:solidFill>
                      <a:srgbClr val="F3F4F6"/>
                    </a:solidFill>
                  </a:tcPr>
                </a:tc>
                <a:tc>
                  <a:txBody>
                    <a:bodyPr/>
                    <a:lstStyle/>
                    <a:p>
                      <a:r>
                        <a:rPr sz="1300" b="0">
                          <a:solidFill>
                            <a:srgbClr val="1F2A44"/>
                          </a:solidFill>
                          <a:latin typeface="Calibri"/>
                        </a:rPr>
                        <a:t>Tendon transferi ve cerrahi planlama</a:t>
                      </a:r>
                    </a:p>
                  </a:txBody>
                  <a:tcPr>
                    <a:solidFill>
                      <a:srgbClr val="F3F4F6"/>
                    </a:solidFill>
                  </a:tcPr>
                </a:tc>
              </a:tr>
              <a:tr h="554227">
                <a:tc>
                  <a:txBody>
                    <a:bodyPr/>
                    <a:lstStyle/>
                    <a:p>
                      <a:r>
                        <a:rPr sz="1300" b="1">
                          <a:solidFill>
                            <a:srgbClr val="1F2A44"/>
                          </a:solidFill>
                          <a:latin typeface="Calibri"/>
                        </a:rPr>
                        <a:t>M. flexor carpi radialis brevis – MR</a:t>
                      </a:r>
                    </a:p>
                  </a:txBody>
                  <a:tcPr>
                    <a:solidFill>
                      <a:srgbClr val="FFFFFF"/>
                    </a:solidFill>
                  </a:tcPr>
                </a:tc>
                <a:tc>
                  <a:txBody>
                    <a:bodyPr/>
                    <a:lstStyle/>
                    <a:p>
                      <a:r>
                        <a:rPr sz="1300" b="0">
                          <a:solidFill>
                            <a:srgbClr val="1F2A44"/>
                          </a:solidFill>
                          <a:latin typeface="Calibri"/>
                        </a:rPr>
                        <a:t>Akkoc ve ark. 2022 (Türk popülasyonu)</a:t>
                      </a:r>
                    </a:p>
                  </a:txBody>
                  <a:tcPr>
                    <a:solidFill>
                      <a:srgbClr val="FFFFFF"/>
                    </a:solidFill>
                  </a:tcPr>
                </a:tc>
                <a:tc>
                  <a:txBody>
                    <a:bodyPr/>
                    <a:lstStyle/>
                    <a:p>
                      <a:r>
                        <a:rPr sz="1300" b="0">
                          <a:solidFill>
                            <a:srgbClr val="1F2A44"/>
                          </a:solidFill>
                          <a:latin typeface="Calibri"/>
                        </a:rPr>
                        <a:t>849 kişi MR</a:t>
                      </a:r>
                    </a:p>
                  </a:txBody>
                  <a:tcPr>
                    <a:solidFill>
                      <a:srgbClr val="FFFFFF"/>
                    </a:solidFill>
                  </a:tcPr>
                </a:tc>
                <a:tc>
                  <a:txBody>
                    <a:bodyPr/>
                    <a:lstStyle/>
                    <a:p>
                      <a:r>
                        <a:rPr sz="1300" b="0">
                          <a:solidFill>
                            <a:srgbClr val="1F2A44"/>
                          </a:solidFill>
                          <a:latin typeface="Calibri"/>
                        </a:rPr>
                        <a:t>%4 (kadın %3,6, erkek %4,7)</a:t>
                      </a:r>
                    </a:p>
                  </a:txBody>
                  <a:tcPr>
                    <a:solidFill>
                      <a:srgbClr val="FFFFFF"/>
                    </a:solidFill>
                  </a:tcPr>
                </a:tc>
                <a:tc>
                  <a:txBody>
                    <a:bodyPr/>
                    <a:lstStyle/>
                    <a:p>
                      <a:r>
                        <a:rPr sz="1300" b="0">
                          <a:solidFill>
                            <a:srgbClr val="1F2A44"/>
                          </a:solidFill>
                          <a:latin typeface="Calibri"/>
                        </a:rPr>
                        <a:t>Karpal tünel / kitle ayırıcı tanısı</a:t>
                      </a:r>
                    </a:p>
                  </a:txBody>
                  <a:tcPr>
                    <a:solidFill>
                      <a:srgbClr val="FFFFFF"/>
                    </a:solidFill>
                  </a:tcPr>
                </a:tc>
              </a:tr>
              <a:tr h="749045">
                <a:tc>
                  <a:txBody>
                    <a:bodyPr/>
                    <a:lstStyle/>
                    <a:p>
                      <a:r>
                        <a:rPr sz="1300" b="1">
                          <a:solidFill>
                            <a:srgbClr val="1F2A44"/>
                          </a:solidFill>
                          <a:latin typeface="Calibri"/>
                        </a:rPr>
                        <a:t>M. palmaris longus varlığı ve n. medianus derinliği – MR</a:t>
                      </a:r>
                    </a:p>
                  </a:txBody>
                  <a:tcPr>
                    <a:solidFill>
                      <a:srgbClr val="F3F4F6"/>
                    </a:solidFill>
                  </a:tcPr>
                </a:tc>
                <a:tc>
                  <a:txBody>
                    <a:bodyPr/>
                    <a:lstStyle/>
                    <a:p>
                      <a:r>
                        <a:rPr sz="1300" b="0">
                          <a:solidFill>
                            <a:srgbClr val="1F2A44"/>
                          </a:solidFill>
                          <a:latin typeface="Calibri"/>
                        </a:rPr>
                        <a:t>Chavez ve ark. 2025</a:t>
                      </a:r>
                    </a:p>
                  </a:txBody>
                  <a:tcPr>
                    <a:solidFill>
                      <a:srgbClr val="F3F4F6"/>
                    </a:solidFill>
                  </a:tcPr>
                </a:tc>
                <a:tc>
                  <a:txBody>
                    <a:bodyPr/>
                    <a:lstStyle/>
                    <a:p>
                      <a:r>
                        <a:rPr sz="1300" b="0">
                          <a:solidFill>
                            <a:srgbClr val="1F2A44"/>
                          </a:solidFill>
                          <a:latin typeface="Calibri"/>
                        </a:rPr>
                        <a:t>50 PL var / 50 PL yok</a:t>
                      </a:r>
                    </a:p>
                  </a:txBody>
                  <a:tcPr>
                    <a:solidFill>
                      <a:srgbClr val="F3F4F6"/>
                    </a:solidFill>
                  </a:tcPr>
                </a:tc>
                <a:tc>
                  <a:txBody>
                    <a:bodyPr/>
                    <a:lstStyle/>
                    <a:p>
                      <a:r>
                        <a:rPr sz="1300" b="0">
                          <a:solidFill>
                            <a:srgbClr val="1F2A44"/>
                          </a:solidFill>
                          <a:latin typeface="Calibri"/>
                        </a:rPr>
                        <a:t>PL varlığında n. medianus–cilt mesafesi daha büyük</a:t>
                      </a:r>
                    </a:p>
                  </a:txBody>
                  <a:tcPr>
                    <a:solidFill>
                      <a:srgbClr val="F3F4F6"/>
                    </a:solidFill>
                  </a:tcPr>
                </a:tc>
                <a:tc>
                  <a:txBody>
                    <a:bodyPr/>
                    <a:lstStyle/>
                    <a:p>
                      <a:r>
                        <a:rPr sz="1300" b="0">
                          <a:solidFill>
                            <a:srgbClr val="1F2A44"/>
                          </a:solidFill>
                          <a:latin typeface="Calibri"/>
                        </a:rPr>
                        <a:t>Enjeksiyon güvenliği</a:t>
                      </a:r>
                    </a:p>
                  </a:txBody>
                  <a:tcPr>
                    <a:solidFill>
                      <a:srgbClr val="F3F4F6"/>
                    </a:solidFill>
                  </a:tcPr>
                </a:tc>
              </a:tr>
              <a:tr h="554227">
                <a:tc>
                  <a:txBody>
                    <a:bodyPr/>
                    <a:lstStyle/>
                    <a:p>
                      <a:r>
                        <a:rPr sz="1300" b="1">
                          <a:solidFill>
                            <a:srgbClr val="1F2A44"/>
                          </a:solidFill>
                          <a:latin typeface="Calibri"/>
                        </a:rPr>
                        <a:t>M. anconeus epitrochlearis – US</a:t>
                      </a:r>
                    </a:p>
                  </a:txBody>
                  <a:tcPr>
                    <a:solidFill>
                      <a:srgbClr val="FFFFFF"/>
                    </a:solidFill>
                  </a:tcPr>
                </a:tc>
                <a:tc>
                  <a:txBody>
                    <a:bodyPr/>
                    <a:lstStyle/>
                    <a:p>
                      <a:r>
                        <a:rPr sz="1300" b="0">
                          <a:solidFill>
                            <a:srgbClr val="1F2A44"/>
                          </a:solidFill>
                          <a:latin typeface="Calibri"/>
                        </a:rPr>
                        <a:t>Lee ve ark. 2016 (CC BY-NC)</a:t>
                      </a:r>
                    </a:p>
                  </a:txBody>
                  <a:tcPr>
                    <a:solidFill>
                      <a:srgbClr val="FFFFFF"/>
                    </a:solidFill>
                  </a:tcPr>
                </a:tc>
                <a:tc>
                  <a:txBody>
                    <a:bodyPr/>
                    <a:lstStyle/>
                    <a:p>
                      <a:r>
                        <a:rPr sz="1300" b="0">
                          <a:solidFill>
                            <a:srgbClr val="1F2A44"/>
                          </a:solidFill>
                          <a:latin typeface="Calibri"/>
                        </a:rPr>
                        <a:t>Olgu</a:t>
                      </a:r>
                    </a:p>
                  </a:txBody>
                  <a:tcPr>
                    <a:solidFill>
                      <a:srgbClr val="FFFFFF"/>
                    </a:solidFill>
                  </a:tcPr>
                </a:tc>
                <a:tc>
                  <a:txBody>
                    <a:bodyPr/>
                    <a:lstStyle/>
                    <a:p>
                      <a:r>
                        <a:rPr sz="1300" b="0">
                          <a:solidFill>
                            <a:srgbClr val="1F2A44"/>
                          </a:solidFill>
                          <a:latin typeface="Calibri"/>
                        </a:rPr>
                        <a:t>Kubital tünelde kas + Guyon'da ganglion (çifte sıkışma)</a:t>
                      </a:r>
                    </a:p>
                  </a:txBody>
                  <a:tcPr>
                    <a:solidFill>
                      <a:srgbClr val="FFFFFF"/>
                    </a:solidFill>
                  </a:tcPr>
                </a:tc>
                <a:tc>
                  <a:txBody>
                    <a:bodyPr/>
                    <a:lstStyle/>
                    <a:p>
                      <a:r>
                        <a:rPr sz="1300" b="0">
                          <a:solidFill>
                            <a:srgbClr val="1F2A44"/>
                          </a:solidFill>
                          <a:latin typeface="Calibri"/>
                        </a:rPr>
                        <a:t>Kubital tünel sendromu</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Chiasma antebrachii – MR ve kadavra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Elsner ve ark., Diagnostics 2023 – 89 hasta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diagnostics-13-02406-g002.jpg"/>
          <p:cNvPicPr>
            <a:picLocks noChangeAspect="1"/>
          </p:cNvPicPr>
          <p:nvPr/>
        </p:nvPicPr>
        <p:blipFill>
          <a:blip r:embed="rId2"/>
          <a:stretch>
            <a:fillRect/>
          </a:stretch>
        </p:blipFill>
        <p:spPr>
          <a:xfrm>
            <a:off x="274320" y="1234440"/>
            <a:ext cx="2309775" cy="2285994"/>
          </a:xfrm>
          <a:prstGeom prst="rect">
            <a:avLst/>
          </a:prstGeom>
        </p:spPr>
      </p:pic>
      <p:sp>
        <p:nvSpPr>
          <p:cNvPr id="8" name="TextBox 7"/>
          <p:cNvSpPr txBox="1"/>
          <p:nvPr/>
        </p:nvSpPr>
        <p:spPr>
          <a:xfrm>
            <a:off x="91439" y="3520434"/>
            <a:ext cx="267553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Elsner Clara ve ark., 2023 (PMC10378300, CC BY)</a:t>
            </a:r>
          </a:p>
        </p:txBody>
      </p:sp>
      <p:pic>
        <p:nvPicPr>
          <p:cNvPr id="9" name="Picture 8" descr="diagnostics-13-02406-g004.jpg"/>
          <p:cNvPicPr>
            <a:picLocks noChangeAspect="1"/>
          </p:cNvPicPr>
          <p:nvPr/>
        </p:nvPicPr>
        <p:blipFill>
          <a:blip r:embed="rId3"/>
          <a:stretch>
            <a:fillRect/>
          </a:stretch>
        </p:blipFill>
        <p:spPr>
          <a:xfrm>
            <a:off x="2721255" y="1234440"/>
            <a:ext cx="3816704" cy="2285994"/>
          </a:xfrm>
          <a:prstGeom prst="rect">
            <a:avLst/>
          </a:prstGeom>
        </p:spPr>
      </p:pic>
      <p:sp>
        <p:nvSpPr>
          <p:cNvPr id="10" name="TextBox 9"/>
          <p:cNvSpPr txBox="1"/>
          <p:nvPr/>
        </p:nvSpPr>
        <p:spPr>
          <a:xfrm>
            <a:off x="2538375" y="3520434"/>
            <a:ext cx="418246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Elsner Clara ve ark., 2023 (PMC10378300,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MR: siyah ok FDS/2 tendonu, beyaz ok FDS/3 tendonu – önkol (A,B), karpal tünel (C–E), midkarpal (F) düzeyleri</a:t>
            </a:r>
          </a:p>
          <a:p>
            <a:pPr algn="l">
              <a:spcAft>
                <a:spcPts val="300"/>
              </a:spcAft>
            </a:pPr>
            <a:r>
              <a:rPr sz="1600" b="0" i="0">
                <a:solidFill>
                  <a:srgbClr val="1F2A44"/>
                </a:solidFill>
                <a:latin typeface="Calibri"/>
              </a:rPr>
              <a:t>• Kadavra: kırmızı FDS/2, sarı FDS/3; </a:t>
            </a:r>
            <a:r>
              <a:rPr sz="1600" b="0" i="0">
                <a:solidFill>
                  <a:srgbClr val="1F2A44"/>
                </a:solidFill>
                <a:latin typeface="Calibri"/>
              </a:rPr>
              <a:t>2–5</a:t>
            </a:r>
            <a:r>
              <a:rPr sz="1600" b="0" i="0">
                <a:solidFill>
                  <a:srgbClr val="1F2A44"/>
                </a:solidFill>
                <a:latin typeface="Calibri"/>
              </a:rPr>
              <a:t> 2.–5. parmak FDS tendonları</a:t>
            </a:r>
          </a:p>
        </p:txBody>
      </p:sp>
      <p:sp>
        <p:nvSpPr>
          <p:cNvPr id="13" name="TextBox 12"/>
          <p:cNvSpPr txBox="1"/>
          <p:nvPr/>
        </p:nvSpPr>
        <p:spPr>
          <a:xfrm>
            <a:off x="6720840" y="30195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367024"/>
            <a:ext cx="5257800" cy="1442720"/>
          </a:xfrm>
          <a:prstGeom prst="rect">
            <a:avLst/>
          </a:prstGeom>
          <a:noFill/>
        </p:spPr>
        <p:txBody>
          <a:bodyPr wrap="square">
            <a:spAutoFit/>
          </a:bodyPr>
          <a:lstStyle/>
          <a:p>
            <a:pPr algn="l">
              <a:spcAft>
                <a:spcPts val="300"/>
              </a:spcAft>
            </a:pPr>
            <a:r>
              <a:rPr sz="1600" b="0" i="0">
                <a:solidFill>
                  <a:srgbClr val="1F2A44"/>
                </a:solidFill>
                <a:latin typeface="Calibri"/>
              </a:rPr>
              <a:t>• Chiasma antebrachii olguların </a:t>
            </a:r>
            <a:r>
              <a:rPr sz="1600" b="0" i="0">
                <a:solidFill>
                  <a:srgbClr val="1F2A44"/>
                </a:solidFill>
                <a:latin typeface="Calibri"/>
              </a:rPr>
              <a:t>%98,9</a:t>
            </a:r>
            <a:r>
              <a:rPr sz="1600" b="0" i="0">
                <a:solidFill>
                  <a:srgbClr val="1F2A44"/>
                </a:solidFill>
                <a:latin typeface="Calibri"/>
              </a:rPr>
              <a:t>'unda önkolun distal üçte birinde; medyan uzunluk 28 mm.</a:t>
            </a:r>
          </a:p>
          <a:p>
            <a:pPr algn="l">
              <a:spcAft>
                <a:spcPts val="300"/>
              </a:spcAft>
            </a:pPr>
            <a:r>
              <a:rPr sz="1600" b="0" i="0">
                <a:solidFill>
                  <a:srgbClr val="1F2A44"/>
                </a:solidFill>
                <a:latin typeface="Calibri"/>
              </a:rPr>
              <a:t>• DRUJ'a uzaklık 16 mm, dirseğe 215 mm (medyan).</a:t>
            </a:r>
          </a:p>
          <a:p>
            <a:pPr algn="l">
              <a:spcAft>
                <a:spcPts val="300"/>
              </a:spcAft>
            </a:pPr>
            <a:r>
              <a:rPr sz="1600" b="0" i="0">
                <a:solidFill>
                  <a:srgbClr val="1F2A44"/>
                </a:solidFill>
                <a:latin typeface="Calibri"/>
              </a:rPr>
              <a:t>• FDS tendonlarının çaprazlaşması MR'da tendon tanımlanmasında ve transfer cerrahisinde önemlidir.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Elsner Clara, Kunz Andreas Steven, Wagner Nicole et al. MRI-Based Evaluation of the Flexor Digitorum Superficialis Anatomy: Investigating the Prevalence and Morphometry of the “Chiasma Antebrachii”. Diagnostics (Basel). 2023 Jul 19;13(14):2406. doi: 10.3390/diagnostics13142406 PMCID: PMC10378300.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flexor carpi radialis brevis – MR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Akkoc ve ark., Sci Rep 2022 – 849 kişi (Türk popülasyonu)</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41598_2021_4445_Fig2_HTML.jpg"/>
          <p:cNvPicPr>
            <a:picLocks noChangeAspect="1"/>
          </p:cNvPicPr>
          <p:nvPr/>
        </p:nvPicPr>
        <p:blipFill>
          <a:blip r:embed="rId2"/>
          <a:stretch>
            <a:fillRect/>
          </a:stretch>
        </p:blipFill>
        <p:spPr>
          <a:xfrm>
            <a:off x="274320" y="1234440"/>
            <a:ext cx="2886604" cy="3124166"/>
          </a:xfrm>
          <a:prstGeom prst="rect">
            <a:avLst/>
          </a:prstGeom>
        </p:spPr>
      </p:pic>
      <p:sp>
        <p:nvSpPr>
          <p:cNvPr id="8" name="TextBox 7"/>
          <p:cNvSpPr txBox="1"/>
          <p:nvPr/>
        </p:nvSpPr>
        <p:spPr>
          <a:xfrm>
            <a:off x="91439" y="4358606"/>
            <a:ext cx="325236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Akkoc R. F. ve ark., 2022 (PMC8748762, CC BY)</a:t>
            </a:r>
          </a:p>
        </p:txBody>
      </p:sp>
      <p:pic>
        <p:nvPicPr>
          <p:cNvPr id="9" name="Picture 8" descr="41598_2021_4445_Fig3_HTML.jpg"/>
          <p:cNvPicPr>
            <a:picLocks noChangeAspect="1"/>
          </p:cNvPicPr>
          <p:nvPr/>
        </p:nvPicPr>
        <p:blipFill>
          <a:blip r:embed="rId3"/>
          <a:stretch>
            <a:fillRect/>
          </a:stretch>
        </p:blipFill>
        <p:spPr>
          <a:xfrm>
            <a:off x="3298084" y="1234440"/>
            <a:ext cx="3239875" cy="3124166"/>
          </a:xfrm>
          <a:prstGeom prst="rect">
            <a:avLst/>
          </a:prstGeom>
        </p:spPr>
      </p:pic>
      <p:sp>
        <p:nvSpPr>
          <p:cNvPr id="10" name="TextBox 9"/>
          <p:cNvSpPr txBox="1"/>
          <p:nvPr/>
        </p:nvSpPr>
        <p:spPr>
          <a:xfrm>
            <a:off x="3115204" y="4358606"/>
            <a:ext cx="360563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Akkoc R. F. ve ark., 2022 (PMC8748762,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Aksiyel T1 MR: ok başı FCR tendonu; </a:t>
            </a:r>
            <a:r>
              <a:rPr sz="1600" b="0" i="0">
                <a:solidFill>
                  <a:srgbClr val="1F2A44"/>
                </a:solidFill>
                <a:latin typeface="Calibri"/>
              </a:rPr>
              <a:t>ok FCRB</a:t>
            </a:r>
            <a:r>
              <a:rPr sz="1600" b="0" i="0">
                <a:solidFill>
                  <a:srgbClr val="1F2A44"/>
                </a:solidFill>
                <a:latin typeface="Calibri"/>
              </a:rPr>
              <a:t>; noktalı ok FPL; </a:t>
            </a:r>
            <a:r>
              <a:rPr sz="1600" b="0" i="0">
                <a:solidFill>
                  <a:srgbClr val="1F2A44"/>
                </a:solidFill>
                <a:latin typeface="Calibri"/>
              </a:rPr>
              <a:t>CT</a:t>
            </a:r>
            <a:r>
              <a:rPr sz="1600" b="0" i="0">
                <a:solidFill>
                  <a:srgbClr val="1F2A44"/>
                </a:solidFill>
                <a:latin typeface="Calibri"/>
              </a:rPr>
              <a:t> canalis carpi içeriği; </a:t>
            </a:r>
            <a:r>
              <a:rPr sz="1600" b="0" i="0">
                <a:solidFill>
                  <a:srgbClr val="1F2A44"/>
                </a:solidFill>
                <a:latin typeface="Calibri"/>
              </a:rPr>
              <a:t>PQ</a:t>
            </a:r>
            <a:r>
              <a:rPr sz="1600" b="0" i="0">
                <a:solidFill>
                  <a:srgbClr val="1F2A44"/>
                </a:solidFill>
                <a:latin typeface="Calibri"/>
              </a:rPr>
              <a:t> m. pronator quadratus; RAD radius; ULNA; yıldız n. medianus; 2. MC = os metacarpi II</a:t>
            </a:r>
          </a:p>
        </p:txBody>
      </p:sp>
      <p:sp>
        <p:nvSpPr>
          <p:cNvPr id="13" name="TextBox 12"/>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076448"/>
            <a:ext cx="5257800" cy="1922272"/>
          </a:xfrm>
          <a:prstGeom prst="rect">
            <a:avLst/>
          </a:prstGeom>
          <a:noFill/>
        </p:spPr>
        <p:txBody>
          <a:bodyPr wrap="square">
            <a:spAutoFit/>
          </a:bodyPr>
          <a:lstStyle/>
          <a:p>
            <a:pPr algn="l">
              <a:spcAft>
                <a:spcPts val="300"/>
              </a:spcAft>
            </a:pPr>
            <a:r>
              <a:rPr sz="1600" b="0" i="0">
                <a:solidFill>
                  <a:srgbClr val="1F2A44"/>
                </a:solidFill>
                <a:latin typeface="Calibri"/>
              </a:rPr>
              <a:t>• FCRB prevalansı </a:t>
            </a:r>
            <a:r>
              <a:rPr sz="1600" b="0" i="0">
                <a:solidFill>
                  <a:srgbClr val="1F2A44"/>
                </a:solidFill>
                <a:latin typeface="Calibri"/>
              </a:rPr>
              <a:t>%4</a:t>
            </a:r>
            <a:r>
              <a:rPr sz="1600" b="0" i="0">
                <a:solidFill>
                  <a:srgbClr val="1F2A44"/>
                </a:solidFill>
                <a:latin typeface="Calibri"/>
              </a:rPr>
              <a:t> (kadın %3,6, erkek %4,7; p = 0,629).</a:t>
            </a:r>
          </a:p>
          <a:p>
            <a:pPr algn="l">
              <a:spcAft>
                <a:spcPts val="300"/>
              </a:spcAft>
            </a:pPr>
            <a:r>
              <a:rPr sz="1600" b="0" i="0">
                <a:solidFill>
                  <a:srgbClr val="1F2A44"/>
                </a:solidFill>
                <a:latin typeface="Calibri"/>
              </a:rPr>
              <a:t>• 34 FCRB'nin tamamı radius ön yüzünün distal üçte birinden başlamış; 28'i MC II'ye, 6'sı os trapezium'a yapışmıştır.</a:t>
            </a:r>
          </a:p>
          <a:p>
            <a:pPr algn="l">
              <a:spcAft>
                <a:spcPts val="300"/>
              </a:spcAft>
            </a:pPr>
            <a:r>
              <a:rPr sz="1600" b="0" i="0">
                <a:solidFill>
                  <a:srgbClr val="1F2A44"/>
                </a:solidFill>
                <a:latin typeface="Calibri"/>
              </a:rPr>
              <a:t>• Not: makalenin şekil açıklamalarını düzelten bir ek (PMC9458718) yayımlanmıştır.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Akkoc R. F., Aksu F., Emre E. et al. The prevalence and distribution of the flexor carpi radialis brevis muscle in the Turkish population. Sci Rep. 2022 Jan 10;12:416. doi: 10.1038/s41598-021-04445-8 PMCID: PMC8748762.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palmaris longus varlığı ve n. medianus'un derinliği – MR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Chavez ve ark., Hand (N Y) 2025 – 100 el bileği MR'ı</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10.1177_15589447251314145-fig3.jpg"/>
          <p:cNvPicPr>
            <a:picLocks noChangeAspect="1"/>
          </p:cNvPicPr>
          <p:nvPr/>
        </p:nvPicPr>
        <p:blipFill>
          <a:blip r:embed="rId2"/>
          <a:stretch>
            <a:fillRect/>
          </a:stretch>
        </p:blipFill>
        <p:spPr>
          <a:xfrm>
            <a:off x="274320" y="1234440"/>
            <a:ext cx="3113596" cy="2251843"/>
          </a:xfrm>
          <a:prstGeom prst="rect">
            <a:avLst/>
          </a:prstGeom>
        </p:spPr>
      </p:pic>
      <p:sp>
        <p:nvSpPr>
          <p:cNvPr id="8" name="TextBox 7"/>
          <p:cNvSpPr txBox="1"/>
          <p:nvPr/>
        </p:nvSpPr>
        <p:spPr>
          <a:xfrm>
            <a:off x="91439" y="3486283"/>
            <a:ext cx="3479356"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Chavez Victor B. ve ark., 2025 (PMC11783411, CC BY)</a:t>
            </a:r>
          </a:p>
        </p:txBody>
      </p:sp>
      <p:pic>
        <p:nvPicPr>
          <p:cNvPr id="9" name="Picture 8" descr="10.1177_15589447251314145-fig4.jpg"/>
          <p:cNvPicPr>
            <a:picLocks noChangeAspect="1"/>
          </p:cNvPicPr>
          <p:nvPr/>
        </p:nvPicPr>
        <p:blipFill>
          <a:blip r:embed="rId3"/>
          <a:stretch>
            <a:fillRect/>
          </a:stretch>
        </p:blipFill>
        <p:spPr>
          <a:xfrm>
            <a:off x="3525076" y="1234440"/>
            <a:ext cx="3012883" cy="2251843"/>
          </a:xfrm>
          <a:prstGeom prst="rect">
            <a:avLst/>
          </a:prstGeom>
        </p:spPr>
      </p:pic>
      <p:sp>
        <p:nvSpPr>
          <p:cNvPr id="10" name="TextBox 9"/>
          <p:cNvSpPr txBox="1"/>
          <p:nvPr/>
        </p:nvSpPr>
        <p:spPr>
          <a:xfrm>
            <a:off x="3342196" y="3486283"/>
            <a:ext cx="337864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Chavez Victor B. ve ark., 2025 (PMC11783411,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912367"/>
          </a:xfrm>
          <a:prstGeom prst="rect">
            <a:avLst/>
          </a:prstGeom>
          <a:noFill/>
        </p:spPr>
        <p:txBody>
          <a:bodyPr wrap="square">
            <a:spAutoFit/>
          </a:bodyPr>
          <a:lstStyle/>
          <a:p>
            <a:pPr algn="l">
              <a:spcAft>
                <a:spcPts val="300"/>
              </a:spcAft>
            </a:pPr>
            <a:r>
              <a:rPr sz="1600" b="0" i="0">
                <a:solidFill>
                  <a:srgbClr val="1F2A44"/>
                </a:solidFill>
                <a:latin typeface="Calibri"/>
              </a:rPr>
              <a:t>• Sol: PL var – n. medianus merkezi–volar cilt 8,47 mm; n. medianus–FCR 6,02 mm</a:t>
            </a:r>
          </a:p>
          <a:p>
            <a:pPr algn="l">
              <a:spcAft>
                <a:spcPts val="300"/>
              </a:spcAft>
            </a:pPr>
            <a:r>
              <a:rPr sz="1600" b="0" i="0">
                <a:solidFill>
                  <a:srgbClr val="1F2A44"/>
                </a:solidFill>
                <a:latin typeface="Calibri"/>
              </a:rPr>
              <a:t>• Sağ: PL yok – n. medianus–cilt 3,58 mm</a:t>
            </a:r>
          </a:p>
        </p:txBody>
      </p:sp>
      <p:sp>
        <p:nvSpPr>
          <p:cNvPr id="13" name="TextBox 12"/>
          <p:cNvSpPr txBox="1"/>
          <p:nvPr/>
        </p:nvSpPr>
        <p:spPr>
          <a:xfrm>
            <a:off x="6720840" y="25400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2887472"/>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PL bulunan bireylerde n. medianus volar cilt yüzeyinden daha uzaktadır.</a:t>
            </a:r>
          </a:p>
          <a:p>
            <a:pPr algn="l">
              <a:spcAft>
                <a:spcPts val="300"/>
              </a:spcAft>
            </a:pPr>
            <a:r>
              <a:rPr sz="1600" b="0" i="0">
                <a:solidFill>
                  <a:srgbClr val="1F2A44"/>
                </a:solidFill>
                <a:latin typeface="Calibri"/>
              </a:rPr>
              <a:t>• PL agenezisi olan kişilerde el bileği enjeksiyonlarında n. medianus daha yüzeyeldir – dikkat.</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Chavez Victor B., Smith Dean W. MRI Analysis of the Wrist: Does the Presence of Palmaris Longus Affect Median Nerve Position? Hand (N Y). 2025 Jan 30;21(3):410–6. doi: 10.1177/15589447251314145 PMCID: PMC11783411.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anconeus epitrochlearis – ultrason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Lee ve ark., J Korean Neurosurg Soc 2016 – olgu</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ÖNKOL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jkns-59-75-g001.jpg"/>
          <p:cNvPicPr>
            <a:picLocks noChangeAspect="1"/>
          </p:cNvPicPr>
          <p:nvPr/>
        </p:nvPicPr>
        <p:blipFill>
          <a:blip r:embed="rId2"/>
          <a:stretch>
            <a:fillRect/>
          </a:stretch>
        </p:blipFill>
        <p:spPr>
          <a:xfrm>
            <a:off x="274320" y="2807843"/>
            <a:ext cx="6263639" cy="1653792"/>
          </a:xfrm>
          <a:prstGeom prst="rect">
            <a:avLst/>
          </a:prstGeom>
        </p:spPr>
      </p:pic>
      <p:sp>
        <p:nvSpPr>
          <p:cNvPr id="8" name="TextBox 7"/>
          <p:cNvSpPr txBox="1"/>
          <p:nvPr/>
        </p:nvSpPr>
        <p:spPr>
          <a:xfrm>
            <a:off x="91440" y="4461636"/>
            <a:ext cx="662939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Lee Sang-Uk ve ark., 2016 (PMC4754593, CC BY-NC)</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A: ok başı m. anconeus epitrochlearis, ok şişmiş n. ulnaris; B: </a:t>
            </a:r>
            <a:r>
              <a:rPr sz="1600" b="0" i="0">
                <a:solidFill>
                  <a:srgbClr val="1F2A44"/>
                </a:solidFill>
                <a:latin typeface="Calibri"/>
              </a:rPr>
              <a:t>G</a:t>
            </a:r>
            <a:r>
              <a:rPr sz="1600" b="0" i="0">
                <a:solidFill>
                  <a:srgbClr val="1F2A44"/>
                </a:solidFill>
                <a:latin typeface="Calibri"/>
              </a:rPr>
              <a:t> ganglion kisti, daire n. ulnaris, </a:t>
            </a:r>
            <a:r>
              <a:rPr sz="1600" b="0" i="0">
                <a:solidFill>
                  <a:srgbClr val="1F2A44"/>
                </a:solidFill>
                <a:latin typeface="Calibri"/>
              </a:rPr>
              <a:t>HAM</a:t>
            </a:r>
            <a:r>
              <a:rPr sz="1600" b="0" i="0">
                <a:solidFill>
                  <a:srgbClr val="1F2A44"/>
                </a:solidFill>
                <a:latin typeface="Calibri"/>
              </a:rPr>
              <a:t> hamulus ossis hamati</a:t>
            </a:r>
          </a:p>
        </p:txBody>
      </p:sp>
      <p:sp>
        <p:nvSpPr>
          <p:cNvPr id="11" name="TextBox 10"/>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2836672"/>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Kubital tünelde aksesuar kas ve Guyon kanalında ganglion – n. ulnaris'in </a:t>
            </a:r>
            <a:r>
              <a:rPr sz="1600" b="0" i="0">
                <a:solidFill>
                  <a:srgbClr val="1F2A44"/>
                </a:solidFill>
                <a:latin typeface="Calibri"/>
              </a:rPr>
              <a:t>çifte sıkışması</a:t>
            </a:r>
            <a:r>
              <a:rPr sz="1600" b="0" i="0">
                <a:solidFill>
                  <a:srgbClr val="1F2A44"/>
                </a:solidFill>
                <a:latin typeface="Calibri"/>
              </a:rPr>
              <a:t>.</a:t>
            </a:r>
          </a:p>
          <a:p>
            <a:pPr algn="l">
              <a:spcAft>
                <a:spcPts val="300"/>
              </a:spcAft>
            </a:pPr>
            <a:r>
              <a:rPr sz="1600" b="0" i="0">
                <a:solidFill>
                  <a:srgbClr val="1F2A44"/>
                </a:solidFill>
                <a:latin typeface="Calibri"/>
              </a:rPr>
              <a:t>• Kas kubital tünelin çatısını oluşturur; US dinamik değerlendirmeye olanak verir.</a:t>
            </a:r>
          </a:p>
        </p:txBody>
      </p:sp>
      <p:sp>
        <p:nvSpPr>
          <p:cNvPr id="13" name="TextBox 12"/>
          <p:cNvSpPr txBox="1"/>
          <p:nvPr/>
        </p:nvSpPr>
        <p:spPr>
          <a:xfrm>
            <a:off x="6720840" y="6035040"/>
            <a:ext cx="5257800" cy="292608"/>
          </a:xfrm>
          <a:prstGeom prst="rect">
            <a:avLst/>
          </a:prstGeom>
          <a:noFill/>
        </p:spPr>
        <p:txBody>
          <a:bodyPr wrap="square" anchor="t" lIns="45720" rIns="45720" tIns="18288" bIns="18288">
            <a:spAutoFit/>
          </a:bodyPr>
          <a:lstStyle/>
          <a:p>
            <a:pPr algn="l"/>
            <a:r>
              <a:rPr sz="1050" b="0" i="1">
                <a:solidFill>
                  <a:srgbClr val="C0392B"/>
                </a:solidFill>
                <a:latin typeface="Calibri"/>
              </a:rPr>
              <a:t>Lisans: CC BY-NC – yalnızca ticari olmayan eğitim amaçlı kullanım.</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Lee Sang-Uk, Kim Min-Wook, Kim Jae Min Ultrasound Diagnosis of Double Crush Syndrome of the Ulnar Nerve by the Anconeus Epitrochlearis and a Ganglion. J Korean Neurosurg Soc. 2016 Jan 20;59(1):75–7. doi: 10.3340/jkns.2016.59.1.75 PMCID: PMC4754593. Lisans: CC BY-NC.</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4</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EL</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El bileği ve elin kesitsel anatomisi</a:t>
            </a:r>
          </a:p>
          <a:p>
            <a:pPr algn="l"/>
            <a:r>
              <a:rPr sz="1800" b="0" i="0">
                <a:solidFill>
                  <a:srgbClr val="C8D1E6"/>
                </a:solidFill>
                <a:latin typeface="Calibri"/>
              </a:rPr>
              <a:t>Karpal tünel, Guyon kanalı, TFCC, makaralar</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Kesitsel okuma rehberi</a:t>
            </a:r>
          </a:p>
          <a:p>
            <a:pPr algn="l">
              <a:spcAft>
                <a:spcPts val="300"/>
              </a:spcAft>
            </a:pPr>
            <a:r>
              <a:rPr sz="1700" b="0" i="0">
                <a:solidFill>
                  <a:srgbClr val="FFFFFF"/>
                </a:solidFill>
                <a:latin typeface="Calibri"/>
              </a:rPr>
              <a:t>• VHP düzeyleri 1785 – 1800 – 1830 – 1850</a:t>
            </a:r>
          </a:p>
          <a:p>
            <a:pPr algn="l">
              <a:spcAft>
                <a:spcPts val="300"/>
              </a:spcAft>
            </a:pPr>
            <a:r>
              <a:rPr sz="1700" b="0" i="0">
                <a:solidFill>
                  <a:srgbClr val="FFFFFF"/>
                </a:solidFill>
                <a:latin typeface="Calibri"/>
              </a:rPr>
              <a:t>• Karpal tünel, Guyon, TFCC, makaralar</a:t>
            </a:r>
          </a:p>
          <a:p>
            <a:pPr algn="l">
              <a:spcAft>
                <a:spcPts val="300"/>
              </a:spcAft>
            </a:pPr>
            <a:r>
              <a:rPr sz="1700" b="0" i="0">
                <a:solidFill>
                  <a:srgbClr val="FFFFFF"/>
                </a:solidFill>
                <a:latin typeface="Calibri"/>
              </a:rPr>
              <a:t>• Görüntüleme varyasyonları: bifid MN/PMA, tenar dal, aADM, koalisyon</a:t>
            </a:r>
          </a:p>
        </p:txBody>
      </p:sp>
      <p:pic>
        <p:nvPicPr>
          <p:cNvPr id="7" name="Picture 6" descr="cryo_1830_R.jpg"/>
          <p:cNvPicPr>
            <a:picLocks noChangeAspect="1"/>
          </p:cNvPicPr>
          <p:nvPr/>
        </p:nvPicPr>
        <p:blipFill>
          <a:blip r:embed="rId2"/>
          <a:stretch>
            <a:fillRect/>
          </a:stretch>
        </p:blipFill>
        <p:spPr>
          <a:xfrm>
            <a:off x="7877320" y="365760"/>
            <a:ext cx="2990558" cy="2634539"/>
          </a:xfrm>
          <a:prstGeom prst="rect">
            <a:avLst/>
          </a:prstGeom>
        </p:spPr>
      </p:pic>
      <p:sp>
        <p:nvSpPr>
          <p:cNvPr id="8" name="TextBox 7"/>
          <p:cNvSpPr txBox="1"/>
          <p:nvPr/>
        </p:nvSpPr>
        <p:spPr>
          <a:xfrm>
            <a:off x="7694440" y="3000299"/>
            <a:ext cx="3356318"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kriyokesit 1830</a:t>
            </a:r>
          </a:p>
        </p:txBody>
      </p:sp>
      <p:pic>
        <p:nvPicPr>
          <p:cNvPr id="9" name="Picture 8" descr="turkjmedsci-51-1912-fig001.jpg"/>
          <p:cNvPicPr>
            <a:picLocks noChangeAspect="1"/>
          </p:cNvPicPr>
          <p:nvPr/>
        </p:nvPicPr>
        <p:blipFill>
          <a:blip r:embed="rId3"/>
          <a:stretch>
            <a:fillRect/>
          </a:stretch>
        </p:blipFill>
        <p:spPr>
          <a:xfrm>
            <a:off x="7877320" y="3274619"/>
            <a:ext cx="2990558" cy="2577540"/>
          </a:xfrm>
          <a:prstGeom prst="rect">
            <a:avLst/>
          </a:prstGeom>
        </p:spPr>
      </p:pic>
      <p:sp>
        <p:nvSpPr>
          <p:cNvPr id="10" name="TextBox 9"/>
          <p:cNvSpPr txBox="1"/>
          <p:nvPr/>
        </p:nvSpPr>
        <p:spPr>
          <a:xfrm>
            <a:off x="7694440" y="5852160"/>
            <a:ext cx="335631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ERÇAKMAK GÜNEŞ B. ve ark., 2021 (PMC8569728, CC BY)</a:t>
            </a:r>
          </a:p>
        </p:txBody>
      </p:sp>
      <p:sp>
        <p:nvSpPr>
          <p:cNvPr id="11" name="TextBox 10"/>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Görüntü: NLM Visible Human Project (NCI Imaging Data Commons, doi:10.5281/zenodo.12690049; NLM Terms and Conditions 2019). İşleme/kırpma: bu proje.  •  ERÇAKMAK GÜNEŞ B., VATANSEVER A., DEMİRYÜREK D. et al. Tendon of Flexor Carpi Radialis in carpal tunnel: a radiologic and cadaveric study. Turk J Med Sci. 2021 Aug 30;51(4):1912–6. doi: 10.3906/sag-2012-31 PMCID: PMC8569728.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bileği ve el kesitlerini okumak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Kanallar ve tendon dizilimi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El bileği kesitlerinde iki standart düzey kullanılır: proksimalde os pisiforme ve os scaphoideum, distalde hamulus ossis hamati ve os trapezium düzeyi. Bu iki düzeyde karpal tünelin çatısını oluşturan retinakulum, tünelin içindeki n. medianus ve fleksör tendonları ile medialde Guyon kanalı açıkça izlenir.</a:t>
            </a:r>
          </a:p>
          <a:p>
            <a:pPr algn="l">
              <a:lnSpc>
                <a:spcPct val="108000"/>
              </a:lnSpc>
              <a:spcAft>
                <a:spcPts val="900"/>
              </a:spcAft>
            </a:pPr>
            <a:r>
              <a:rPr sz="2000" b="0" i="0">
                <a:solidFill>
                  <a:srgbClr val="1F2A44"/>
                </a:solidFill>
                <a:latin typeface="Calibri"/>
              </a:rPr>
              <a:t>Kadavramızda el uyluğa yaslı olduğu için kesitler eğiktir; buna rağmen karpal kemiklerin, tenar ve hipotenar kasların ve metakarpların düzeni tanınabilir. Ulnar taraftaki hipotenar kasların ve radial taraftaki başparmağın yeri, kesitin yönünü doğrulamamızı sağlar.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bileği ve elin kesitsel anatomisi – okuma rehberi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Karpal tünel, Guyon kanalı, TFCC ve parmak tendonları</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KONU ANLATIMI</a:t>
            </a:r>
          </a:p>
        </p:txBody>
      </p:sp>
      <p:sp>
        <p:nvSpPr>
          <p:cNvPr id="7" name="TextBox 6"/>
          <p:cNvSpPr txBox="1"/>
          <p:nvPr/>
        </p:nvSpPr>
        <p:spPr>
          <a:xfrm>
            <a:off x="274320" y="1234440"/>
            <a:ext cx="6400800" cy="5074920"/>
          </a:xfrm>
          <a:prstGeom prst="rect">
            <a:avLst/>
          </a:prstGeom>
          <a:noFill/>
        </p:spPr>
        <p:txBody>
          <a:bodyPr wrap="square">
            <a:spAutoFit/>
          </a:bodyPr>
          <a:lstStyle/>
          <a:p>
            <a:pPr algn="l">
              <a:spcAft>
                <a:spcPts val="300"/>
              </a:spcAft>
            </a:pPr>
            <a:r>
              <a:rPr sz="1900" b="0" i="0">
                <a:solidFill>
                  <a:srgbClr val="1F2A44"/>
                </a:solidFill>
                <a:latin typeface="Calibri"/>
              </a:rPr>
              <a:t>• </a:t>
            </a:r>
            <a:r>
              <a:rPr sz="1900" b="0" i="0">
                <a:solidFill>
                  <a:srgbClr val="1F2A44"/>
                </a:solidFill>
                <a:latin typeface="Calibri"/>
              </a:rPr>
              <a:t>Proksimal karpal tünel</a:t>
            </a:r>
            <a:r>
              <a:rPr sz="1900" b="0" i="0">
                <a:solidFill>
                  <a:srgbClr val="1F2A44"/>
                </a:solidFill>
                <a:latin typeface="Calibri"/>
              </a:rPr>
              <a:t> (os pisiforme – tuberculum ossis scaphoidei düzeyi) ve </a:t>
            </a:r>
            <a:r>
              <a:rPr sz="1900" b="0" i="0">
                <a:solidFill>
                  <a:srgbClr val="1F2A44"/>
                </a:solidFill>
                <a:latin typeface="Calibri"/>
              </a:rPr>
              <a:t>distal karpal tünel</a:t>
            </a:r>
            <a:r>
              <a:rPr sz="1900" b="0" i="0">
                <a:solidFill>
                  <a:srgbClr val="1F2A44"/>
                </a:solidFill>
                <a:latin typeface="Calibri"/>
              </a:rPr>
              <a:t> (hamulus ossis hamati – os trapezium) aksiyel MR/US'de iki standart düzeydir.</a:t>
            </a:r>
          </a:p>
          <a:p>
            <a:pPr algn="l">
              <a:spcAft>
                <a:spcPts val="300"/>
              </a:spcAft>
            </a:pPr>
            <a:r>
              <a:rPr sz="1900" b="0" i="0">
                <a:solidFill>
                  <a:srgbClr val="1F2A44"/>
                </a:solidFill>
                <a:latin typeface="Calibri"/>
              </a:rPr>
              <a:t>• Kanalda n. medianus retinakulumun hemen altında, en yüzeyeldir; FPL radialde, FDS tendonları yüzeyel, FDP tendonları derin sırada dizilir; FCR kendi bölmesindedir.</a:t>
            </a:r>
          </a:p>
          <a:p>
            <a:pPr algn="l">
              <a:spcAft>
                <a:spcPts val="300"/>
              </a:spcAft>
            </a:pPr>
            <a:r>
              <a:rPr sz="1900" b="0" i="0">
                <a:solidFill>
                  <a:srgbClr val="1F2A44"/>
                </a:solidFill>
                <a:latin typeface="Calibri"/>
              </a:rPr>
              <a:t>• </a:t>
            </a:r>
            <a:r>
              <a:rPr sz="1900" b="0" i="0">
                <a:solidFill>
                  <a:srgbClr val="1F2A44"/>
                </a:solidFill>
                <a:latin typeface="Calibri"/>
              </a:rPr>
              <a:t>Guyon kanalı</a:t>
            </a:r>
            <a:r>
              <a:rPr sz="1900" b="0" i="0">
                <a:solidFill>
                  <a:srgbClr val="1F2A44"/>
                </a:solidFill>
                <a:latin typeface="Calibri"/>
              </a:rPr>
              <a:t> pisiform düzeyinde kanalın medial-yüzeyelinde: a. ulnaris lateralde, n. ulnaris medialde.</a:t>
            </a:r>
          </a:p>
          <a:p>
            <a:pPr algn="l">
              <a:spcAft>
                <a:spcPts val="300"/>
              </a:spcAft>
            </a:pPr>
            <a:r>
              <a:rPr sz="1900" b="0" i="0">
                <a:solidFill>
                  <a:srgbClr val="1F2A44"/>
                </a:solidFill>
                <a:latin typeface="Calibri"/>
              </a:rPr>
              <a:t>• </a:t>
            </a:r>
            <a:r>
              <a:rPr sz="1900" b="0" i="0">
                <a:solidFill>
                  <a:srgbClr val="1F2A44"/>
                </a:solidFill>
                <a:latin typeface="Calibri"/>
              </a:rPr>
              <a:t>TFCC</a:t>
            </a:r>
            <a:r>
              <a:rPr sz="1900" b="0" i="0">
                <a:solidFill>
                  <a:srgbClr val="1F2A44"/>
                </a:solidFill>
                <a:latin typeface="Calibri"/>
              </a:rPr>
              <a:t> koronal MR'da ulnar tarafta discus articularis ve radioulnar bağlar olarak izlenir.</a:t>
            </a:r>
          </a:p>
          <a:p>
            <a:pPr algn="l">
              <a:spcAft>
                <a:spcPts val="300"/>
              </a:spcAft>
            </a:pPr>
            <a:r>
              <a:rPr sz="1900" b="0" i="0">
                <a:solidFill>
                  <a:srgbClr val="1F2A44"/>
                </a:solidFill>
                <a:latin typeface="Calibri"/>
              </a:rPr>
              <a:t>• </a:t>
            </a:r>
            <a:r>
              <a:rPr sz="1900" b="0" i="0">
                <a:solidFill>
                  <a:srgbClr val="1F2A44"/>
                </a:solidFill>
                <a:latin typeface="Calibri"/>
              </a:rPr>
              <a:t>Parmaklar:</a:t>
            </a:r>
            <a:r>
              <a:rPr sz="1900" b="0" i="0">
                <a:solidFill>
                  <a:srgbClr val="1F2A44"/>
                </a:solidFill>
                <a:latin typeface="Calibri"/>
              </a:rPr>
              <a:t> US'de A1/A2 makaraları fleksör tendonların üzerinde ince hipoekoik bantlar; dorsalde sagital bantlar ekstensör tendonu merkezde tutar.</a:t>
            </a:r>
          </a:p>
        </p:txBody>
      </p:sp>
      <p:pic>
        <p:nvPicPr>
          <p:cNvPr id="8" name="Picture 7" descr="turkjmedsci-51-1912-fig001.jpg"/>
          <p:cNvPicPr>
            <a:picLocks noChangeAspect="1"/>
          </p:cNvPicPr>
          <p:nvPr/>
        </p:nvPicPr>
        <p:blipFill>
          <a:blip r:embed="rId2"/>
          <a:stretch>
            <a:fillRect/>
          </a:stretch>
        </p:blipFill>
        <p:spPr>
          <a:xfrm>
            <a:off x="6903720" y="1444564"/>
            <a:ext cx="5029200" cy="4334630"/>
          </a:xfrm>
          <a:prstGeom prst="rect">
            <a:avLst/>
          </a:prstGeom>
        </p:spPr>
      </p:pic>
      <p:sp>
        <p:nvSpPr>
          <p:cNvPr id="9" name="TextBox 8"/>
          <p:cNvSpPr txBox="1"/>
          <p:nvPr/>
        </p:nvSpPr>
        <p:spPr>
          <a:xfrm>
            <a:off x="6720840" y="5779195"/>
            <a:ext cx="539496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ERÇAKMAK GÜNEŞ B. ve ark., 2021 (PMC8569728,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ERÇAKMAK GÜNEŞ B., VATANSEVER A., DEMİRYÜREK D. et al. Tendon of Flexor Carpi Radialis in carpal tunnel: a radiologic and cadaveric study. Turk J Med Sci. 2021 Aug 30;51(4):1912–6. doi: 10.3906/sag-2012-31 PMCID: PMC8569728.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bileği – articulatio radiocarpalis / ossa carpi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Kesit eğik (el uyluğa yaslı) – NLM kesit no. 1785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785_R.jpg"/>
          <p:cNvPicPr>
            <a:picLocks noChangeAspect="1"/>
          </p:cNvPicPr>
          <p:nvPr/>
        </p:nvPicPr>
        <p:blipFill>
          <a:blip r:embed="rId2"/>
          <a:stretch>
            <a:fillRect/>
          </a:stretch>
        </p:blipFill>
        <p:spPr>
          <a:xfrm>
            <a:off x="2194560" y="1811020"/>
            <a:ext cx="3749039" cy="2915920"/>
          </a:xfrm>
          <a:prstGeom prst="rect">
            <a:avLst/>
          </a:prstGeom>
        </p:spPr>
      </p:pic>
      <p:sp>
        <p:nvSpPr>
          <p:cNvPr id="8" name="TextBox 7"/>
          <p:cNvSpPr txBox="1"/>
          <p:nvPr/>
        </p:nvSpPr>
        <p:spPr>
          <a:xfrm>
            <a:off x="2011679" y="4745227"/>
            <a:ext cx="411480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186176"/>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Caput ulnae (distal uç)</a:t>
            </a:r>
          </a:p>
        </p:txBody>
      </p:sp>
      <p:cxnSp>
        <p:nvCxnSpPr>
          <p:cNvPr id="10" name="Connector 9"/>
          <p:cNvCxnSpPr/>
          <p:nvPr/>
        </p:nvCxnSpPr>
        <p:spPr>
          <a:xfrm>
            <a:off x="2103120" y="3414776"/>
            <a:ext cx="91067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972646" y="337362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2929297"/>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Ossa carpi</a:t>
            </a:r>
          </a:p>
        </p:txBody>
      </p:sp>
      <p:cxnSp>
        <p:nvCxnSpPr>
          <p:cNvPr id="13" name="Connector 12"/>
          <p:cNvCxnSpPr/>
          <p:nvPr/>
        </p:nvCxnSpPr>
        <p:spPr>
          <a:xfrm flipH="1">
            <a:off x="3680290" y="3157897"/>
            <a:ext cx="235475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639142" y="311674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t_1785_R.png"/>
          <p:cNvPicPr>
            <a:picLocks noChangeAspect="1"/>
          </p:cNvPicPr>
          <p:nvPr/>
        </p:nvPicPr>
        <p:blipFill>
          <a:blip r:embed="rId3"/>
          <a:stretch>
            <a:fillRect/>
          </a:stretch>
        </p:blipFill>
        <p:spPr>
          <a:xfrm>
            <a:off x="8229600" y="2397760"/>
            <a:ext cx="2240280" cy="1742440"/>
          </a:xfrm>
          <a:prstGeom prst="rect">
            <a:avLst/>
          </a:prstGeom>
        </p:spPr>
      </p:pic>
      <p:sp>
        <p:nvSpPr>
          <p:cNvPr id="16" name="TextBox 15"/>
          <p:cNvSpPr txBox="1"/>
          <p:nvPr/>
        </p:nvSpPr>
        <p:spPr>
          <a:xfrm>
            <a:off x="8046720" y="4158487"/>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17" name="TextBox 16"/>
          <p:cNvSpPr txBox="1"/>
          <p:nvPr/>
        </p:nvSpPr>
        <p:spPr>
          <a:xfrm>
            <a:off x="10561320" y="2974001"/>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Ossa carpi</a:t>
            </a:r>
          </a:p>
        </p:txBody>
      </p:sp>
      <p:cxnSp>
        <p:nvCxnSpPr>
          <p:cNvPr id="18" name="Connector 17"/>
          <p:cNvCxnSpPr/>
          <p:nvPr/>
        </p:nvCxnSpPr>
        <p:spPr>
          <a:xfrm flipH="1">
            <a:off x="9096671" y="3202601"/>
            <a:ext cx="146464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055523" y="316145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61320" y="3486065"/>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Caput ulnae</a:t>
            </a:r>
          </a:p>
        </p:txBody>
      </p:sp>
      <p:cxnSp>
        <p:nvCxnSpPr>
          <p:cNvPr id="21" name="Connector 20"/>
          <p:cNvCxnSpPr/>
          <p:nvPr/>
        </p:nvCxnSpPr>
        <p:spPr>
          <a:xfrm flipH="1" flipV="1">
            <a:off x="8781372" y="3322912"/>
            <a:ext cx="1779948" cy="391753"/>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8740224" y="328176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oc_1785.jpg"/>
          <p:cNvPicPr>
            <a:picLocks noChangeAspect="1"/>
          </p:cNvPicPr>
          <p:nvPr/>
        </p:nvPicPr>
        <p:blipFill>
          <a:blip r:embed="rId4"/>
          <a:stretch>
            <a:fillRect/>
          </a:stretch>
        </p:blipFill>
        <p:spPr>
          <a:xfrm>
            <a:off x="10515600" y="1240131"/>
            <a:ext cx="1554480" cy="903017"/>
          </a:xfrm>
          <a:prstGeom prst="rect">
            <a:avLst/>
          </a:prstGeom>
        </p:spPr>
      </p:pic>
      <p:sp>
        <p:nvSpPr>
          <p:cNvPr id="24" name="TextBox 23"/>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25" name="TextBox 24"/>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Karpal kemikler ≈1780'de belirir (radiokarpal düzey ≈1775–1780).</a:t>
            </a:r>
          </a:p>
          <a:p>
            <a:pPr algn="l">
              <a:spcAft>
                <a:spcPts val="300"/>
              </a:spcAft>
            </a:pPr>
            <a:r>
              <a:rPr sz="1500" b="0" i="0">
                <a:solidFill>
                  <a:srgbClr val="1F2A44"/>
                </a:solidFill>
                <a:latin typeface="Calibri"/>
              </a:rPr>
              <a:t>• Canalis carpi: ossa carpi ile retinaculum flexorum arasında; n. medianus + 9 fleksör tendon.</a:t>
            </a:r>
          </a:p>
        </p:txBody>
      </p:sp>
      <p:cxnSp>
        <p:nvCxnSpPr>
          <p:cNvPr id="26" name="Connector 25"/>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a_vm1785, donmuş BT c_vm1785.fro); NCI Imaging Data Commons (doi:10.5281/zenodo.12690049); NLM Terms and Conditions (2019). Yönelim: radyolojik (ön yukarıda, hastanın sağı solda); sağ üst ekstremite.</a:t>
            </a:r>
          </a:p>
        </p:txBody>
      </p:sp>
      <p:sp>
        <p:nvSpPr>
          <p:cNvPr id="28" name="TextBox 27"/>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bileği – karpal kemikler ve tenar kitle</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Başparmak tabanı düzeyi – NLM kesit no. 1800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800_R.jpg"/>
          <p:cNvPicPr>
            <a:picLocks noChangeAspect="1"/>
          </p:cNvPicPr>
          <p:nvPr/>
        </p:nvPicPr>
        <p:blipFill>
          <a:blip r:embed="rId2"/>
          <a:stretch>
            <a:fillRect/>
          </a:stretch>
        </p:blipFill>
        <p:spPr>
          <a:xfrm>
            <a:off x="2194560" y="1940580"/>
            <a:ext cx="3749039" cy="2656800"/>
          </a:xfrm>
          <a:prstGeom prst="rect">
            <a:avLst/>
          </a:prstGeom>
        </p:spPr>
      </p:pic>
      <p:sp>
        <p:nvSpPr>
          <p:cNvPr id="8" name="TextBox 7"/>
          <p:cNvSpPr txBox="1"/>
          <p:nvPr/>
        </p:nvSpPr>
        <p:spPr>
          <a:xfrm>
            <a:off x="2011679" y="4615668"/>
            <a:ext cx="411480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187980"/>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Ossa carpi</a:t>
            </a:r>
          </a:p>
        </p:txBody>
      </p:sp>
      <p:cxnSp>
        <p:nvCxnSpPr>
          <p:cNvPr id="10" name="Connector 9"/>
          <p:cNvCxnSpPr/>
          <p:nvPr/>
        </p:nvCxnSpPr>
        <p:spPr>
          <a:xfrm>
            <a:off x="2103120" y="3416580"/>
            <a:ext cx="90324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965212" y="337543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793140"/>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Hipotenar kaslar</a:t>
            </a:r>
          </a:p>
        </p:txBody>
      </p:sp>
      <p:cxnSp>
        <p:nvCxnSpPr>
          <p:cNvPr id="13" name="Connector 12"/>
          <p:cNvCxnSpPr/>
          <p:nvPr/>
        </p:nvCxnSpPr>
        <p:spPr>
          <a:xfrm>
            <a:off x="2103120" y="4021740"/>
            <a:ext cx="100656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068532" y="398059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2545920"/>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Başparmak (pollex) kemiği</a:t>
            </a:r>
          </a:p>
        </p:txBody>
      </p:sp>
      <p:cxnSp>
        <p:nvCxnSpPr>
          <p:cNvPr id="16" name="Connector 15"/>
          <p:cNvCxnSpPr/>
          <p:nvPr/>
        </p:nvCxnSpPr>
        <p:spPr>
          <a:xfrm flipH="1">
            <a:off x="5294160" y="2774520"/>
            <a:ext cx="74088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253012" y="273337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057984"/>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Tenar kaslar</a:t>
            </a:r>
          </a:p>
        </p:txBody>
      </p:sp>
      <p:cxnSp>
        <p:nvCxnSpPr>
          <p:cNvPr id="19" name="Connector 18"/>
          <p:cNvCxnSpPr/>
          <p:nvPr/>
        </p:nvCxnSpPr>
        <p:spPr>
          <a:xfrm flipH="1" flipV="1">
            <a:off x="4334759" y="2826180"/>
            <a:ext cx="1700281" cy="46040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293611" y="278503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3570048"/>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Fleksör tendonlar (canalis carpi bölgesi)</a:t>
            </a:r>
          </a:p>
        </p:txBody>
      </p:sp>
      <p:cxnSp>
        <p:nvCxnSpPr>
          <p:cNvPr id="22" name="Connector 21"/>
          <p:cNvCxnSpPr/>
          <p:nvPr/>
        </p:nvCxnSpPr>
        <p:spPr>
          <a:xfrm flipH="1" flipV="1">
            <a:off x="3707460" y="3601080"/>
            <a:ext cx="2327580" cy="197568"/>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3666312" y="355993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t_1800_R.png"/>
          <p:cNvPicPr>
            <a:picLocks noChangeAspect="1"/>
          </p:cNvPicPr>
          <p:nvPr/>
        </p:nvPicPr>
        <p:blipFill>
          <a:blip r:embed="rId3"/>
          <a:stretch>
            <a:fillRect/>
          </a:stretch>
        </p:blipFill>
        <p:spPr>
          <a:xfrm>
            <a:off x="8229600" y="2475180"/>
            <a:ext cx="2240280" cy="1587600"/>
          </a:xfrm>
          <a:prstGeom prst="rect">
            <a:avLst/>
          </a:prstGeom>
        </p:spPr>
      </p:pic>
      <p:sp>
        <p:nvSpPr>
          <p:cNvPr id="25" name="TextBox 24"/>
          <p:cNvSpPr txBox="1"/>
          <p:nvPr/>
        </p:nvSpPr>
        <p:spPr>
          <a:xfrm>
            <a:off x="8046720" y="4081068"/>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6" name="TextBox 25"/>
          <p:cNvSpPr txBox="1"/>
          <p:nvPr/>
        </p:nvSpPr>
        <p:spPr>
          <a:xfrm>
            <a:off x="10561320" y="2762550"/>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Başparmak (pollex) kemiği</a:t>
            </a:r>
          </a:p>
        </p:txBody>
      </p:sp>
      <p:cxnSp>
        <p:nvCxnSpPr>
          <p:cNvPr id="27" name="Connector 26"/>
          <p:cNvCxnSpPr/>
          <p:nvPr/>
        </p:nvCxnSpPr>
        <p:spPr>
          <a:xfrm flipH="1">
            <a:off x="10072980" y="2991150"/>
            <a:ext cx="48834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0031832" y="295000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61320" y="3274614"/>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Ossa carpi</a:t>
            </a:r>
          </a:p>
        </p:txBody>
      </p:sp>
      <p:cxnSp>
        <p:nvCxnSpPr>
          <p:cNvPr id="30" name="Connector 29"/>
          <p:cNvCxnSpPr/>
          <p:nvPr/>
        </p:nvCxnSpPr>
        <p:spPr>
          <a:xfrm flipH="1" flipV="1">
            <a:off x="8714700" y="3357180"/>
            <a:ext cx="1846620" cy="14603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8673552" y="331603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oc_1800.jpg"/>
          <p:cNvPicPr>
            <a:picLocks noChangeAspect="1"/>
          </p:cNvPicPr>
          <p:nvPr/>
        </p:nvPicPr>
        <p:blipFill>
          <a:blip r:embed="rId4"/>
          <a:stretch>
            <a:fillRect/>
          </a:stretch>
        </p:blipFill>
        <p:spPr>
          <a:xfrm>
            <a:off x="10515600" y="1240131"/>
            <a:ext cx="1554480" cy="903017"/>
          </a:xfrm>
          <a:prstGeom prst="rect">
            <a:avLst/>
          </a:prstGeom>
        </p:spPr>
      </p:pic>
      <p:sp>
        <p:nvSpPr>
          <p:cNvPr id="33" name="TextBox 32"/>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34" name="TextBox 33"/>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Tenar kitle (m. abductor/flexor pollicis brevis, m. opponens pollicis) başparmak tabanında belirgindir.</a:t>
            </a:r>
          </a:p>
          <a:p>
            <a:pPr algn="l">
              <a:spcAft>
                <a:spcPts val="300"/>
              </a:spcAft>
            </a:pPr>
            <a:r>
              <a:rPr sz="1500" b="0" i="0">
                <a:solidFill>
                  <a:srgbClr val="1F2A44"/>
                </a:solidFill>
                <a:latin typeface="Calibri"/>
              </a:rPr>
              <a:t>• Ulnar tarafta hipotenar kaslar ve Guyon kanalı bölgesi yer alır.</a:t>
            </a:r>
          </a:p>
        </p:txBody>
      </p:sp>
      <p:cxnSp>
        <p:nvCxnSpPr>
          <p:cNvPr id="35" name="Connector 3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a_vm1800, donmuş BT c_vm1800.fro); NCI Imaging Data Commons (doi:10.5281/zenodo.12690049); NLM Terms and Conditions (2019). Yönelim: radyolojik (ön yukarıda, hastanın sağı solda); sağ üst ekstremite.</a:t>
            </a:r>
          </a:p>
        </p:txBody>
      </p:sp>
      <p:sp>
        <p:nvSpPr>
          <p:cNvPr id="37" name="TextBox 3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 metacarpus (avuç içi)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Metakarpal kemikler, interosseöz, tenar ve hipotenar kaslar – NLM kesit no. 1830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830_R.jpg"/>
          <p:cNvPicPr>
            <a:picLocks noChangeAspect="1"/>
          </p:cNvPicPr>
          <p:nvPr/>
        </p:nvPicPr>
        <p:blipFill>
          <a:blip r:embed="rId2"/>
          <a:stretch>
            <a:fillRect/>
          </a:stretch>
        </p:blipFill>
        <p:spPr>
          <a:xfrm>
            <a:off x="2194560" y="1617617"/>
            <a:ext cx="3749039" cy="3302725"/>
          </a:xfrm>
          <a:prstGeom prst="rect">
            <a:avLst/>
          </a:prstGeom>
        </p:spPr>
      </p:pic>
      <p:sp>
        <p:nvSpPr>
          <p:cNvPr id="8" name="TextBox 7"/>
          <p:cNvSpPr txBox="1"/>
          <p:nvPr/>
        </p:nvSpPr>
        <p:spPr>
          <a:xfrm>
            <a:off x="2011679" y="4938630"/>
            <a:ext cx="411480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817222"/>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Mm. interossei</a:t>
            </a:r>
          </a:p>
        </p:txBody>
      </p:sp>
      <p:cxnSp>
        <p:nvCxnSpPr>
          <p:cNvPr id="10" name="Connector 9"/>
          <p:cNvCxnSpPr/>
          <p:nvPr/>
        </p:nvCxnSpPr>
        <p:spPr>
          <a:xfrm>
            <a:off x="2103120" y="3045822"/>
            <a:ext cx="147501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536986" y="300467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329286"/>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Ossa metacarpi</a:t>
            </a:r>
          </a:p>
        </p:txBody>
      </p:sp>
      <p:cxnSp>
        <p:nvCxnSpPr>
          <p:cNvPr id="13" name="Connector 12"/>
          <p:cNvCxnSpPr/>
          <p:nvPr/>
        </p:nvCxnSpPr>
        <p:spPr>
          <a:xfrm flipV="1">
            <a:off x="2103120" y="3242201"/>
            <a:ext cx="1260783" cy="315685"/>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322755" y="320105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841350"/>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Hipotenar kaslar</a:t>
            </a:r>
          </a:p>
        </p:txBody>
      </p:sp>
      <p:cxnSp>
        <p:nvCxnSpPr>
          <p:cNvPr id="16" name="Connector 15"/>
          <p:cNvCxnSpPr/>
          <p:nvPr/>
        </p:nvCxnSpPr>
        <p:spPr>
          <a:xfrm flipV="1">
            <a:off x="2103120" y="4027714"/>
            <a:ext cx="894805" cy="42236"/>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956777" y="398656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2120972"/>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Başparmak (pollex) kemikleri</a:t>
            </a:r>
          </a:p>
        </p:txBody>
      </p:sp>
      <p:cxnSp>
        <p:nvCxnSpPr>
          <p:cNvPr id="19" name="Connector 18"/>
          <p:cNvCxnSpPr/>
          <p:nvPr/>
        </p:nvCxnSpPr>
        <p:spPr>
          <a:xfrm flipH="1">
            <a:off x="4560025" y="2349572"/>
            <a:ext cx="147501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518877" y="230842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2633036"/>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Tenar kaslar</a:t>
            </a:r>
          </a:p>
        </p:txBody>
      </p:sp>
      <p:cxnSp>
        <p:nvCxnSpPr>
          <p:cNvPr id="22" name="Connector 21"/>
          <p:cNvCxnSpPr/>
          <p:nvPr/>
        </p:nvCxnSpPr>
        <p:spPr>
          <a:xfrm flipH="1" flipV="1">
            <a:off x="4158342" y="2688771"/>
            <a:ext cx="1876698" cy="172865"/>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117194" y="264762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3145100"/>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Fleksör tendonlar</a:t>
            </a:r>
          </a:p>
        </p:txBody>
      </p:sp>
      <p:cxnSp>
        <p:nvCxnSpPr>
          <p:cNvPr id="25" name="Connector 24"/>
          <p:cNvCxnSpPr/>
          <p:nvPr/>
        </p:nvCxnSpPr>
        <p:spPr>
          <a:xfrm flipH="1" flipV="1">
            <a:off x="4113711" y="3224348"/>
            <a:ext cx="1921329" cy="149352"/>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072563" y="318320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t_1830_R.png"/>
          <p:cNvPicPr>
            <a:picLocks noChangeAspect="1"/>
          </p:cNvPicPr>
          <p:nvPr/>
        </p:nvPicPr>
        <p:blipFill>
          <a:blip r:embed="rId3"/>
          <a:stretch>
            <a:fillRect/>
          </a:stretch>
        </p:blipFill>
        <p:spPr>
          <a:xfrm>
            <a:off x="8229600" y="2282190"/>
            <a:ext cx="2240280" cy="1973580"/>
          </a:xfrm>
          <a:prstGeom prst="rect">
            <a:avLst/>
          </a:prstGeom>
        </p:spPr>
      </p:pic>
      <p:sp>
        <p:nvSpPr>
          <p:cNvPr id="28" name="TextBox 27"/>
          <p:cNvSpPr txBox="1"/>
          <p:nvPr/>
        </p:nvSpPr>
        <p:spPr>
          <a:xfrm>
            <a:off x="8046720" y="4274058"/>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9" name="TextBox 28"/>
          <p:cNvSpPr txBox="1"/>
          <p:nvPr/>
        </p:nvSpPr>
        <p:spPr>
          <a:xfrm>
            <a:off x="10561320" y="2490978"/>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Başparmak (pollex) kemikleri</a:t>
            </a:r>
          </a:p>
        </p:txBody>
      </p:sp>
      <p:cxnSp>
        <p:nvCxnSpPr>
          <p:cNvPr id="30" name="Connector 29"/>
          <p:cNvCxnSpPr/>
          <p:nvPr/>
        </p:nvCxnSpPr>
        <p:spPr>
          <a:xfrm flipH="1">
            <a:off x="9664446" y="2719578"/>
            <a:ext cx="89687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9623298" y="267843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61320" y="3024378"/>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Ossa metacarpi</a:t>
            </a:r>
          </a:p>
        </p:txBody>
      </p:sp>
      <p:cxnSp>
        <p:nvCxnSpPr>
          <p:cNvPr id="33" name="Connector 32"/>
          <p:cNvCxnSpPr/>
          <p:nvPr/>
        </p:nvCxnSpPr>
        <p:spPr>
          <a:xfrm flipH="1">
            <a:off x="8928354" y="3252978"/>
            <a:ext cx="163296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8887206" y="321183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oc_1830.jpg"/>
          <p:cNvPicPr>
            <a:picLocks noChangeAspect="1"/>
          </p:cNvPicPr>
          <p:nvPr/>
        </p:nvPicPr>
        <p:blipFill>
          <a:blip r:embed="rId4"/>
          <a:stretch>
            <a:fillRect/>
          </a:stretch>
        </p:blipFill>
        <p:spPr>
          <a:xfrm>
            <a:off x="10515600" y="1240131"/>
            <a:ext cx="1554480" cy="903017"/>
          </a:xfrm>
          <a:prstGeom prst="rect">
            <a:avLst/>
          </a:prstGeom>
        </p:spPr>
      </p:pic>
      <p:sp>
        <p:nvSpPr>
          <p:cNvPr id="36" name="TextBox 35"/>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37" name="TextBox 36"/>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Ulnar taraf (hipotenar) aşağı-solda, radial taraf (başparmak) yukarı-sağda – el bileğindeki ulna konumuyla tutarlı.</a:t>
            </a:r>
          </a:p>
          <a:p>
            <a:pPr algn="l">
              <a:spcAft>
                <a:spcPts val="300"/>
              </a:spcAft>
            </a:pPr>
            <a:r>
              <a:rPr sz="1500" b="0" i="0">
                <a:solidFill>
                  <a:srgbClr val="1F2A44"/>
                </a:solidFill>
                <a:latin typeface="Calibri"/>
              </a:rPr>
              <a:t>• Mm. interossei metakarpallar arasında; palmar tarafta fleksör tendonlar.</a:t>
            </a:r>
          </a:p>
        </p:txBody>
      </p:sp>
      <p:cxnSp>
        <p:nvCxnSpPr>
          <p:cNvPr id="38" name="Connector 3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a_vm1830, donmuş BT c_vm1830.fro); NCI Imaging Data Commons (doi:10.5281/zenodo.12690049); NLM Terms and Conditions (2019). Yönelim: radyolojik (ön yukarıda, hastanın sağı solda); sağ üst ekstremite.</a:t>
            </a:r>
          </a:p>
        </p:txBody>
      </p:sp>
      <p:sp>
        <p:nvSpPr>
          <p:cNvPr id="40" name="TextBox 3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 metakarp başları ve başparmak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El ve başparmağın ayrıldığı düzey – NLM kesit no. 1850</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cryo_1850_R.jpg"/>
          <p:cNvPicPr>
            <a:picLocks noChangeAspect="1"/>
          </p:cNvPicPr>
          <p:nvPr/>
        </p:nvPicPr>
        <p:blipFill>
          <a:blip r:embed="rId2"/>
          <a:stretch>
            <a:fillRect/>
          </a:stretch>
        </p:blipFill>
        <p:spPr>
          <a:xfrm>
            <a:off x="2194560" y="2151477"/>
            <a:ext cx="3749039" cy="2235004"/>
          </a:xfrm>
          <a:prstGeom prst="rect">
            <a:avLst/>
          </a:prstGeom>
        </p:spPr>
      </p:pic>
      <p:sp>
        <p:nvSpPr>
          <p:cNvPr id="8" name="TextBox 7"/>
          <p:cNvSpPr txBox="1"/>
          <p:nvPr/>
        </p:nvSpPr>
        <p:spPr>
          <a:xfrm>
            <a:off x="2011679" y="4404770"/>
            <a:ext cx="411480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499653"/>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Ossa metacarpi (capita)</a:t>
            </a:r>
          </a:p>
        </p:txBody>
      </p:sp>
      <p:cxnSp>
        <p:nvCxnSpPr>
          <p:cNvPr id="10" name="Connector 9"/>
          <p:cNvCxnSpPr/>
          <p:nvPr/>
        </p:nvCxnSpPr>
        <p:spPr>
          <a:xfrm>
            <a:off x="2103120" y="2728253"/>
            <a:ext cx="138918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451156" y="268710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617155"/>
            <a:ext cx="2011680" cy="457200"/>
          </a:xfrm>
          <a:prstGeom prst="rect">
            <a:avLst/>
          </a:prstGeom>
          <a:noFill/>
        </p:spPr>
        <p:txBody>
          <a:bodyPr wrap="square" anchor="ctr" lIns="45720" rIns="45720" tIns="18288" bIns="18288">
            <a:spAutoFit/>
          </a:bodyPr>
          <a:lstStyle/>
          <a:p>
            <a:pPr algn="r"/>
            <a:r>
              <a:rPr sz="1300" b="1" i="0">
                <a:solidFill>
                  <a:srgbClr val="1F2A44"/>
                </a:solidFill>
                <a:latin typeface="Calibri"/>
              </a:rPr>
              <a:t>Hipotenar kaslar</a:t>
            </a:r>
          </a:p>
        </p:txBody>
      </p:sp>
      <p:cxnSp>
        <p:nvCxnSpPr>
          <p:cNvPr id="13" name="Connector 12"/>
          <p:cNvCxnSpPr/>
          <p:nvPr/>
        </p:nvCxnSpPr>
        <p:spPr>
          <a:xfrm>
            <a:off x="2103120" y="3845755"/>
            <a:ext cx="88450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946478" y="380460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2564540"/>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Başparmak (pollex) kemikleri</a:t>
            </a:r>
          </a:p>
        </p:txBody>
      </p:sp>
      <p:cxnSp>
        <p:nvCxnSpPr>
          <p:cNvPr id="16" name="Connector 15"/>
          <p:cNvCxnSpPr/>
          <p:nvPr/>
        </p:nvCxnSpPr>
        <p:spPr>
          <a:xfrm flipH="1">
            <a:off x="4833307" y="2793140"/>
            <a:ext cx="120173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792159" y="275199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184573"/>
            <a:ext cx="2103120" cy="457200"/>
          </a:xfrm>
          <a:prstGeom prst="rect">
            <a:avLst/>
          </a:prstGeom>
          <a:noFill/>
        </p:spPr>
        <p:txBody>
          <a:bodyPr wrap="square" anchor="ctr" lIns="45720" rIns="45720" tIns="18288" bIns="18288">
            <a:spAutoFit/>
          </a:bodyPr>
          <a:lstStyle/>
          <a:p>
            <a:pPr algn="l"/>
            <a:r>
              <a:rPr sz="1300" b="1" i="0">
                <a:solidFill>
                  <a:srgbClr val="1F2A44"/>
                </a:solidFill>
                <a:latin typeface="Calibri"/>
              </a:rPr>
              <a:t>İntrinsik el kasları</a:t>
            </a:r>
          </a:p>
        </p:txBody>
      </p:sp>
      <p:cxnSp>
        <p:nvCxnSpPr>
          <p:cNvPr id="19" name="Connector 18"/>
          <p:cNvCxnSpPr/>
          <p:nvPr/>
        </p:nvCxnSpPr>
        <p:spPr>
          <a:xfrm flipH="1">
            <a:off x="3276013" y="3413173"/>
            <a:ext cx="2759027"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234865" y="337202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t_1850_R.png"/>
          <p:cNvPicPr>
            <a:picLocks noChangeAspect="1"/>
          </p:cNvPicPr>
          <p:nvPr/>
        </p:nvPicPr>
        <p:blipFill>
          <a:blip r:embed="rId3"/>
          <a:stretch>
            <a:fillRect/>
          </a:stretch>
        </p:blipFill>
        <p:spPr>
          <a:xfrm>
            <a:off x="8229600" y="2601204"/>
            <a:ext cx="2240280" cy="1335551"/>
          </a:xfrm>
          <a:prstGeom prst="rect">
            <a:avLst/>
          </a:prstGeom>
        </p:spPr>
      </p:pic>
      <p:sp>
        <p:nvSpPr>
          <p:cNvPr id="22" name="TextBox 21"/>
          <p:cNvSpPr txBox="1"/>
          <p:nvPr/>
        </p:nvSpPr>
        <p:spPr>
          <a:xfrm>
            <a:off x="8046720" y="3955043"/>
            <a:ext cx="26060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a:t>
            </a:r>
          </a:p>
        </p:txBody>
      </p:sp>
      <p:sp>
        <p:nvSpPr>
          <p:cNvPr id="23" name="TextBox 22"/>
          <p:cNvSpPr txBox="1"/>
          <p:nvPr/>
        </p:nvSpPr>
        <p:spPr>
          <a:xfrm>
            <a:off x="10561320" y="2712954"/>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Ossa metacarpi</a:t>
            </a:r>
          </a:p>
        </p:txBody>
      </p:sp>
      <p:cxnSp>
        <p:nvCxnSpPr>
          <p:cNvPr id="24" name="Connector 23"/>
          <p:cNvCxnSpPr/>
          <p:nvPr/>
        </p:nvCxnSpPr>
        <p:spPr>
          <a:xfrm flipH="1">
            <a:off x="9000773" y="2941554"/>
            <a:ext cx="1560547"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959625" y="290040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61320" y="3225018"/>
            <a:ext cx="1463040" cy="457200"/>
          </a:xfrm>
          <a:prstGeom prst="rect">
            <a:avLst/>
          </a:prstGeom>
          <a:noFill/>
        </p:spPr>
        <p:txBody>
          <a:bodyPr wrap="square" anchor="ctr" lIns="45720" rIns="45720" tIns="18288" bIns="18288">
            <a:spAutoFit/>
          </a:bodyPr>
          <a:lstStyle/>
          <a:p>
            <a:pPr algn="l"/>
            <a:r>
              <a:rPr sz="1250" b="1" i="0">
                <a:solidFill>
                  <a:srgbClr val="1F2A44"/>
                </a:solidFill>
                <a:latin typeface="Calibri"/>
              </a:rPr>
              <a:t>Başparmak (pollex) kemikleri</a:t>
            </a:r>
          </a:p>
        </p:txBody>
      </p:sp>
      <p:cxnSp>
        <p:nvCxnSpPr>
          <p:cNvPr id="27" name="Connector 26"/>
          <p:cNvCxnSpPr/>
          <p:nvPr/>
        </p:nvCxnSpPr>
        <p:spPr>
          <a:xfrm flipH="1" flipV="1">
            <a:off x="9802104" y="2984636"/>
            <a:ext cx="759216" cy="468982"/>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760956" y="294348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oc_1850.jpg"/>
          <p:cNvPicPr>
            <a:picLocks noChangeAspect="1"/>
          </p:cNvPicPr>
          <p:nvPr/>
        </p:nvPicPr>
        <p:blipFill>
          <a:blip r:embed="rId4"/>
          <a:stretch>
            <a:fillRect/>
          </a:stretch>
        </p:blipFill>
        <p:spPr>
          <a:xfrm>
            <a:off x="10515600" y="1240131"/>
            <a:ext cx="1554480" cy="903017"/>
          </a:xfrm>
          <a:prstGeom prst="rect">
            <a:avLst/>
          </a:prstGeom>
        </p:spPr>
      </p:pic>
      <p:sp>
        <p:nvSpPr>
          <p:cNvPr id="30" name="TextBox 29"/>
          <p:cNvSpPr txBox="1"/>
          <p:nvPr/>
        </p:nvSpPr>
        <p:spPr>
          <a:xfrm>
            <a:off x="10469880" y="2148840"/>
            <a:ext cx="1645920" cy="274320"/>
          </a:xfrm>
          <a:prstGeom prst="rect">
            <a:avLst/>
          </a:prstGeom>
          <a:noFill/>
        </p:spPr>
        <p:txBody>
          <a:bodyPr wrap="square" anchor="t" lIns="45720" rIns="45720" tIns="18288" bIns="18288">
            <a:spAutoFit/>
          </a:bodyPr>
          <a:lstStyle/>
          <a:p>
            <a:pPr algn="l"/>
            <a:r>
              <a:rPr sz="1000" b="0" i="1">
                <a:solidFill>
                  <a:srgbClr val="555B66"/>
                </a:solidFill>
                <a:latin typeface="Calibri"/>
              </a:rPr>
              <a:t>Konum (kırmızı kutu)</a:t>
            </a:r>
          </a:p>
        </p:txBody>
      </p:sp>
      <p:sp>
        <p:nvSpPr>
          <p:cNvPr id="31" name="TextBox 30"/>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Metakarp başları MCP eklemlerini oluşturur; avuçta lumbrikaller fleksör tendonların radial yanında yer alır.</a:t>
            </a:r>
          </a:p>
          <a:p>
            <a:pPr algn="l">
              <a:spcAft>
                <a:spcPts val="300"/>
              </a:spcAft>
            </a:pPr>
            <a:r>
              <a:rPr sz="1500" b="0" i="0">
                <a:solidFill>
                  <a:srgbClr val="1F2A44"/>
                </a:solidFill>
                <a:latin typeface="Calibri"/>
              </a:rPr>
              <a:t>• Başparmak el düzleminden ayrılmış olarak kesitlenmiştir (opozisyon pozisyonu).</a:t>
            </a:r>
          </a:p>
        </p:txBody>
      </p:sp>
      <p:cxnSp>
        <p:nvCxnSpPr>
          <p:cNvPr id="32" name="Connector 3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a_vm1850, donmuş BT c_vm1850.fro); NCI Imaging Data Commons (doi:10.5281/zenodo.12690049); NLM Terms and Conditions (2019). Yönelim: radyolojik (ön yukarıda, hastanın sağı solda); sağ üst ekstremite.</a:t>
            </a:r>
          </a:p>
        </p:txBody>
      </p:sp>
      <p:sp>
        <p:nvSpPr>
          <p:cNvPr id="34" name="TextBox 3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Karpal tünel – aksiyel MR ve ultrason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Erçakmak Güneş ve ark., Turk J Med Sci 2021; Wu ve ark., Diagnostics 2023</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turkjmedsci-51-1912-fig001.jpg"/>
          <p:cNvPicPr>
            <a:picLocks noChangeAspect="1"/>
          </p:cNvPicPr>
          <p:nvPr/>
        </p:nvPicPr>
        <p:blipFill>
          <a:blip r:embed="rId2"/>
          <a:stretch>
            <a:fillRect/>
          </a:stretch>
        </p:blipFill>
        <p:spPr>
          <a:xfrm>
            <a:off x="274320" y="1234440"/>
            <a:ext cx="1897939" cy="1635819"/>
          </a:xfrm>
          <a:prstGeom prst="rect">
            <a:avLst/>
          </a:prstGeom>
        </p:spPr>
      </p:pic>
      <p:sp>
        <p:nvSpPr>
          <p:cNvPr id="8" name="TextBox 7"/>
          <p:cNvSpPr txBox="1"/>
          <p:nvPr/>
        </p:nvSpPr>
        <p:spPr>
          <a:xfrm>
            <a:off x="91439" y="2870259"/>
            <a:ext cx="226369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ERÇAKMAK GÜNEŞ B. ve ark., 2021 (PMC8569728, CC BY)</a:t>
            </a:r>
          </a:p>
        </p:txBody>
      </p:sp>
      <p:pic>
        <p:nvPicPr>
          <p:cNvPr id="9" name="Picture 8" descr="diagnostics-13-01928-g002.jpg"/>
          <p:cNvPicPr>
            <a:picLocks noChangeAspect="1"/>
          </p:cNvPicPr>
          <p:nvPr/>
        </p:nvPicPr>
        <p:blipFill>
          <a:blip r:embed="rId3"/>
          <a:stretch>
            <a:fillRect/>
          </a:stretch>
        </p:blipFill>
        <p:spPr>
          <a:xfrm>
            <a:off x="2309419" y="1234440"/>
            <a:ext cx="4228540" cy="1635819"/>
          </a:xfrm>
          <a:prstGeom prst="rect">
            <a:avLst/>
          </a:prstGeom>
        </p:spPr>
      </p:pic>
      <p:sp>
        <p:nvSpPr>
          <p:cNvPr id="10" name="TextBox 9"/>
          <p:cNvSpPr txBox="1"/>
          <p:nvPr/>
        </p:nvSpPr>
        <p:spPr>
          <a:xfrm>
            <a:off x="2126539" y="2870259"/>
            <a:ext cx="45943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Wu W. T. ve ark., 2023 (PMC10253229,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2111248"/>
          </a:xfrm>
          <a:prstGeom prst="rect">
            <a:avLst/>
          </a:prstGeom>
          <a:noFill/>
        </p:spPr>
        <p:txBody>
          <a:bodyPr wrap="square">
            <a:spAutoFit/>
          </a:bodyPr>
          <a:lstStyle/>
          <a:p>
            <a:pPr algn="l">
              <a:spcAft>
                <a:spcPts val="300"/>
              </a:spcAft>
            </a:pPr>
            <a:r>
              <a:rPr sz="1600" b="0" i="0">
                <a:solidFill>
                  <a:srgbClr val="1F2A44"/>
                </a:solidFill>
                <a:latin typeface="Calibri"/>
              </a:rPr>
              <a:t>• MR (pisiform düzeyi T1): kırmızı ok FCR tendonu; sarı ok retinaculum flexorum; yeşil yıldız fleksör tendonlar</a:t>
            </a:r>
          </a:p>
          <a:p>
            <a:pPr algn="l">
              <a:spcAft>
                <a:spcPts val="300"/>
              </a:spcAft>
            </a:pPr>
            <a:r>
              <a:rPr sz="1600" b="0" i="0">
                <a:solidFill>
                  <a:srgbClr val="1F2A44"/>
                </a:solidFill>
                <a:latin typeface="Calibri"/>
              </a:rPr>
              <a:t>• US: yıldız n. medianus; küçük ok başları normal retinakulum; A giriş, B çıkış; C–D retinakulum hipertrofisi (patolojik); </a:t>
            </a:r>
            <a:r>
              <a:rPr sz="1600" b="0" i="0">
                <a:solidFill>
                  <a:srgbClr val="1F2A44"/>
                </a:solidFill>
                <a:latin typeface="Calibri"/>
              </a:rPr>
              <a:t>FCR</a:t>
            </a:r>
            <a:r>
              <a:rPr sz="1600" b="0" i="0">
                <a:solidFill>
                  <a:srgbClr val="1F2A44"/>
                </a:solidFill>
                <a:latin typeface="Calibri"/>
              </a:rPr>
              <a:t> m. flexor carpi radialis; S scaphoideum; P pisiforme; T trapezium; H hamulus</a:t>
            </a:r>
          </a:p>
        </p:txBody>
      </p:sp>
      <p:sp>
        <p:nvSpPr>
          <p:cNvPr id="13" name="TextBox 12"/>
          <p:cNvSpPr txBox="1"/>
          <p:nvPr/>
        </p:nvSpPr>
        <p:spPr>
          <a:xfrm>
            <a:off x="6720840" y="3738879"/>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4086351"/>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118 el bileği MR'ında FCR tendonu retinakulumun üstünde kendi septal bölmesinde bulunmuştur.</a:t>
            </a:r>
          </a:p>
          <a:p>
            <a:pPr algn="l">
              <a:spcAft>
                <a:spcPts val="300"/>
              </a:spcAft>
            </a:pPr>
            <a:r>
              <a:rPr sz="1600" b="0" i="0">
                <a:solidFill>
                  <a:srgbClr val="1F2A44"/>
                </a:solidFill>
                <a:latin typeface="Calibri"/>
              </a:rPr>
              <a:t>• US'de n. medianus kanal girişinde ve çıkışında kısa eksende izlenir; kesit alanı karpal tünel sendromunda artar.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ERÇAKMAK GÜNEŞ B., VATANSEVER A., DEMİRYÜREK D. et al. Tendon of Flexor Carpi Radialis in carpal tunnel: a radiologic and cadaveric study. Turk J Med Sci. 2021 Aug 30;51(4):1912–6. doi: 10.3906/sag-2012-31 PMCID: PMC8569728. Lisans: CC BY.  •  Wu W. T., Chang K. V., Hsu Y. C. et al. Ultrasound Imaging and Guidance for Distal Peripheral Nerve Pathologies at the Wrist/Hand. Diagnostics (Basel). 2023 May 31;13(11):1928. doi: 10.3390/diagnostics13111928 PMCID: PMC10253229.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Guyon kanalı – şema ve ultrason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Saran ve ark., Diagnostics 2025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diagnostics-15-00592-g001.jpg"/>
          <p:cNvPicPr>
            <a:picLocks noChangeAspect="1"/>
          </p:cNvPicPr>
          <p:nvPr/>
        </p:nvPicPr>
        <p:blipFill>
          <a:blip r:embed="rId2"/>
          <a:stretch>
            <a:fillRect/>
          </a:stretch>
        </p:blipFill>
        <p:spPr>
          <a:xfrm>
            <a:off x="1197888" y="1234440"/>
            <a:ext cx="4416503" cy="2498048"/>
          </a:xfrm>
          <a:prstGeom prst="rect">
            <a:avLst/>
          </a:prstGeom>
        </p:spPr>
      </p:pic>
      <p:sp>
        <p:nvSpPr>
          <p:cNvPr id="8" name="TextBox 7"/>
          <p:cNvSpPr txBox="1"/>
          <p:nvPr/>
        </p:nvSpPr>
        <p:spPr>
          <a:xfrm>
            <a:off x="1015008" y="3732488"/>
            <a:ext cx="478226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Saran S. ve ark., 2025 (PMC11899079, CC BY)</a:t>
            </a:r>
          </a:p>
        </p:txBody>
      </p:sp>
      <p:pic>
        <p:nvPicPr>
          <p:cNvPr id="9" name="Picture 8" descr="diagnostics-15-00592-g003.jpg"/>
          <p:cNvPicPr>
            <a:picLocks noChangeAspect="1"/>
          </p:cNvPicPr>
          <p:nvPr/>
        </p:nvPicPr>
        <p:blipFill>
          <a:blip r:embed="rId3"/>
          <a:stretch>
            <a:fillRect/>
          </a:stretch>
        </p:blipFill>
        <p:spPr>
          <a:xfrm>
            <a:off x="1197888" y="4006808"/>
            <a:ext cx="4416503" cy="2028231"/>
          </a:xfrm>
          <a:prstGeom prst="rect">
            <a:avLst/>
          </a:prstGeom>
        </p:spPr>
      </p:pic>
      <p:sp>
        <p:nvSpPr>
          <p:cNvPr id="10" name="TextBox 9"/>
          <p:cNvSpPr txBox="1"/>
          <p:nvPr/>
        </p:nvSpPr>
        <p:spPr>
          <a:xfrm>
            <a:off x="1015008" y="6035040"/>
            <a:ext cx="478226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Saran S. ve ark., 2025 (PMC11899079,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2351024"/>
          </a:xfrm>
          <a:prstGeom prst="rect">
            <a:avLst/>
          </a:prstGeom>
          <a:noFill/>
        </p:spPr>
        <p:txBody>
          <a:bodyPr wrap="square">
            <a:spAutoFit/>
          </a:bodyPr>
          <a:lstStyle/>
          <a:p>
            <a:pPr algn="l">
              <a:spcAft>
                <a:spcPts val="300"/>
              </a:spcAft>
            </a:pPr>
            <a:r>
              <a:rPr sz="1600" b="0" i="0">
                <a:solidFill>
                  <a:srgbClr val="1F2A44"/>
                </a:solidFill>
                <a:latin typeface="Calibri"/>
              </a:rPr>
              <a:t>• Şema: </a:t>
            </a:r>
            <a:r>
              <a:rPr sz="1600" b="0" i="0">
                <a:solidFill>
                  <a:srgbClr val="1F2A44"/>
                </a:solidFill>
                <a:latin typeface="Calibri"/>
              </a:rPr>
              <a:t>UN</a:t>
            </a:r>
            <a:r>
              <a:rPr sz="1600" b="0" i="0">
                <a:solidFill>
                  <a:srgbClr val="1F2A44"/>
                </a:solidFill>
                <a:latin typeface="Calibri"/>
              </a:rPr>
              <a:t> n. ulnaris; </a:t>
            </a:r>
            <a:r>
              <a:rPr sz="1600" b="0" i="0">
                <a:solidFill>
                  <a:srgbClr val="1F2A44"/>
                </a:solidFill>
                <a:latin typeface="Calibri"/>
              </a:rPr>
              <a:t>UA</a:t>
            </a:r>
            <a:r>
              <a:rPr sz="1600" b="0" i="0">
                <a:solidFill>
                  <a:srgbClr val="1F2A44"/>
                </a:solidFill>
                <a:latin typeface="Calibri"/>
              </a:rPr>
              <a:t> a. ulnaris; </a:t>
            </a:r>
            <a:r>
              <a:rPr sz="1600" b="0" i="0">
                <a:solidFill>
                  <a:srgbClr val="1F2A44"/>
                </a:solidFill>
                <a:latin typeface="Calibri"/>
              </a:rPr>
              <a:t>MN</a:t>
            </a:r>
            <a:r>
              <a:rPr sz="1600" b="0" i="0">
                <a:solidFill>
                  <a:srgbClr val="1F2A44"/>
                </a:solidFill>
                <a:latin typeface="Calibri"/>
              </a:rPr>
              <a:t> n. medianus; </a:t>
            </a:r>
            <a:r>
              <a:rPr sz="1600" b="0" i="0">
                <a:solidFill>
                  <a:srgbClr val="1F2A44"/>
                </a:solidFill>
                <a:latin typeface="Calibri"/>
              </a:rPr>
              <a:t>PL</a:t>
            </a:r>
            <a:r>
              <a:rPr sz="1600" b="0" i="0">
                <a:solidFill>
                  <a:srgbClr val="1F2A44"/>
                </a:solidFill>
                <a:latin typeface="Calibri"/>
              </a:rPr>
              <a:t> m. palmaris longus; </a:t>
            </a:r>
            <a:r>
              <a:rPr sz="1600" b="0" i="0">
                <a:solidFill>
                  <a:srgbClr val="1F2A44"/>
                </a:solidFill>
                <a:latin typeface="Calibri"/>
              </a:rPr>
              <a:t>FCR</a:t>
            </a:r>
            <a:r>
              <a:rPr sz="1600" b="0" i="0">
                <a:solidFill>
                  <a:srgbClr val="1F2A44"/>
                </a:solidFill>
                <a:latin typeface="Calibri"/>
              </a:rPr>
              <a:t> m. flexor carpi radialis; </a:t>
            </a:r>
            <a:r>
              <a:rPr sz="1600" b="0" i="0">
                <a:solidFill>
                  <a:srgbClr val="1F2A44"/>
                </a:solidFill>
                <a:latin typeface="Calibri"/>
              </a:rPr>
              <a:t>FR</a:t>
            </a:r>
            <a:r>
              <a:rPr sz="1600" b="0" i="0">
                <a:solidFill>
                  <a:srgbClr val="1F2A44"/>
                </a:solidFill>
                <a:latin typeface="Calibri"/>
              </a:rPr>
              <a:t> retinaculum flexorum; </a:t>
            </a:r>
            <a:r>
              <a:rPr sz="1600" b="0" i="0">
                <a:solidFill>
                  <a:srgbClr val="1F2A44"/>
                </a:solidFill>
                <a:latin typeface="Calibri"/>
              </a:rPr>
              <a:t>FDMB</a:t>
            </a:r>
            <a:r>
              <a:rPr sz="1600" b="0" i="0">
                <a:solidFill>
                  <a:srgbClr val="1F2A44"/>
                </a:solidFill>
                <a:latin typeface="Calibri"/>
              </a:rPr>
              <a:t> m. flexor digiti minimi brevis; TM tenar kas; VCL lig. carpi palmare; PHL lig. pisohamatum; ODM m. opponens digiti minimi; ADMB m. abductor digiti minimi</a:t>
            </a:r>
          </a:p>
          <a:p>
            <a:pPr algn="l">
              <a:spcAft>
                <a:spcPts val="300"/>
              </a:spcAft>
            </a:pPr>
            <a:r>
              <a:rPr sz="1600" b="0" i="0">
                <a:solidFill>
                  <a:srgbClr val="1F2A44"/>
                </a:solidFill>
                <a:latin typeface="Calibri"/>
              </a:rPr>
              <a:t>• US: UA, UN, Pisiform (proksimal kanal); Hypothenar, Hook of Hamate (distal kanal); Flexor Retinaculum, Flexor Tendons</a:t>
            </a:r>
          </a:p>
        </p:txBody>
      </p:sp>
      <p:sp>
        <p:nvSpPr>
          <p:cNvPr id="13" name="TextBox 12"/>
          <p:cNvSpPr txBox="1"/>
          <p:nvPr/>
        </p:nvSpPr>
        <p:spPr>
          <a:xfrm>
            <a:off x="6720840" y="397865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4326128"/>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Kanal üç zona ayrılır; her zon farklı sinir yapıları içerir (karışık / motor / duyusal).</a:t>
            </a:r>
          </a:p>
          <a:p>
            <a:pPr algn="l">
              <a:spcAft>
                <a:spcPts val="300"/>
              </a:spcAft>
            </a:pPr>
            <a:r>
              <a:rPr sz="1600" b="0" i="0">
                <a:solidFill>
                  <a:srgbClr val="1F2A44"/>
                </a:solidFill>
                <a:latin typeface="Calibri"/>
              </a:rPr>
              <a:t>• US ile pisiform ve hamulus düzeylerinde sinir ve arter ayrı ayrı izlenebilir.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Saran S., Reddy P. S., Shirodkar K. et al. Unveiling Guyon’s Canal: Insights into Clinical Anatomy, Pathology, and Imaging. Diagnostics (Basel). 2025 Feb 28;15(5):592. doi: 10.3390/diagnostics15050592 PMCID: PMC11899079.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ulnaris'in dallarının ultrasonu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Wu ve ark., Diagnostics 2023</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diagnostics-13-01928-g013.jpg"/>
          <p:cNvPicPr>
            <a:picLocks noChangeAspect="1"/>
          </p:cNvPicPr>
          <p:nvPr/>
        </p:nvPicPr>
        <p:blipFill>
          <a:blip r:embed="rId2"/>
          <a:stretch>
            <a:fillRect/>
          </a:stretch>
        </p:blipFill>
        <p:spPr>
          <a:xfrm>
            <a:off x="274319" y="2121377"/>
            <a:ext cx="6263640" cy="3026725"/>
          </a:xfrm>
          <a:prstGeom prst="rect">
            <a:avLst/>
          </a:prstGeom>
        </p:spPr>
      </p:pic>
      <p:sp>
        <p:nvSpPr>
          <p:cNvPr id="8" name="TextBox 7"/>
          <p:cNvSpPr txBox="1"/>
          <p:nvPr/>
        </p:nvSpPr>
        <p:spPr>
          <a:xfrm>
            <a:off x="91439" y="5148102"/>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13 – Wu W. T. ve ark., 2023 (PMC10253229,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341120"/>
          </a:xfrm>
          <a:prstGeom prst="rect">
            <a:avLst/>
          </a:prstGeom>
          <a:noFill/>
        </p:spPr>
        <p:txBody>
          <a:bodyPr wrap="square">
            <a:spAutoFit/>
          </a:bodyPr>
          <a:lstStyle/>
          <a:p>
            <a:pPr algn="l">
              <a:spcAft>
                <a:spcPts val="300"/>
              </a:spcAft>
            </a:pPr>
            <a:r>
              <a:rPr sz="1600" b="0" i="0">
                <a:solidFill>
                  <a:srgbClr val="1F2A44"/>
                </a:solidFill>
                <a:latin typeface="Calibri"/>
              </a:rPr>
              <a:t>• A: Guyon kanalında n. ulnaris; B: pisohamat aralıkta dallara ayrılma; C: hamulus distalinde hipotenar kaslar arasında derin dal (FDM, Opp DM, AbDM); D: m. adductor pollicis içinde derin dal (uzun eksen)</a:t>
            </a:r>
          </a:p>
        </p:txBody>
      </p:sp>
      <p:sp>
        <p:nvSpPr>
          <p:cNvPr id="11" name="TextBox 10"/>
          <p:cNvSpPr txBox="1"/>
          <p:nvPr/>
        </p:nvSpPr>
        <p:spPr>
          <a:xfrm>
            <a:off x="6720840" y="29687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316224"/>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Derin (motor) dal hamulus'un distalinde hipotenar kaslar arasından geçerek m. adductor pollicis'e ulaşır.</a:t>
            </a:r>
          </a:p>
          <a:p>
            <a:pPr algn="l">
              <a:spcAft>
                <a:spcPts val="300"/>
              </a:spcAft>
            </a:pPr>
            <a:r>
              <a:rPr sz="1600" b="0" i="0">
                <a:solidFill>
                  <a:srgbClr val="1F2A44"/>
                </a:solidFill>
                <a:latin typeface="Calibri"/>
              </a:rPr>
              <a:t>• Zon II lezyonları saf motor kayıp yapar.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Wu W. T., Chang K. V., Hsu Y. C. et al. Ultrasound Imaging and Guidance for Distal Peripheral Nerve Pathologies at the Wrist/Hand. Diagnostics (Basel). 2023 May 31;13(11):1928. doi: 10.3390/diagnostics13111928 PMCID: PMC10253229.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TFCC ve ulnokarpal bağlar – 3B MR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von Borstel ve ark., Magn Reson Med Sci 2016</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mrms-16-003-g6.jpg"/>
          <p:cNvPicPr>
            <a:picLocks noChangeAspect="1"/>
          </p:cNvPicPr>
          <p:nvPr/>
        </p:nvPicPr>
        <p:blipFill>
          <a:blip r:embed="rId2"/>
          <a:stretch>
            <a:fillRect/>
          </a:stretch>
        </p:blipFill>
        <p:spPr>
          <a:xfrm>
            <a:off x="759419" y="1234440"/>
            <a:ext cx="5293441" cy="1753898"/>
          </a:xfrm>
          <a:prstGeom prst="rect">
            <a:avLst/>
          </a:prstGeom>
        </p:spPr>
      </p:pic>
      <p:sp>
        <p:nvSpPr>
          <p:cNvPr id="8" name="TextBox 7"/>
          <p:cNvSpPr txBox="1"/>
          <p:nvPr/>
        </p:nvSpPr>
        <p:spPr>
          <a:xfrm>
            <a:off x="576539" y="2988338"/>
            <a:ext cx="565920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6. – von Borstel D. ve ark., 2016 (PMC5600038, CC BY)</a:t>
            </a:r>
          </a:p>
        </p:txBody>
      </p:sp>
      <p:pic>
        <p:nvPicPr>
          <p:cNvPr id="9" name="Picture 8" descr="mrms-16-003-g9.jpg"/>
          <p:cNvPicPr>
            <a:picLocks noChangeAspect="1"/>
          </p:cNvPicPr>
          <p:nvPr/>
        </p:nvPicPr>
        <p:blipFill>
          <a:blip r:embed="rId3"/>
          <a:stretch>
            <a:fillRect/>
          </a:stretch>
        </p:blipFill>
        <p:spPr>
          <a:xfrm>
            <a:off x="759419" y="3262658"/>
            <a:ext cx="5293441" cy="2772381"/>
          </a:xfrm>
          <a:prstGeom prst="rect">
            <a:avLst/>
          </a:prstGeom>
        </p:spPr>
      </p:pic>
      <p:sp>
        <p:nvSpPr>
          <p:cNvPr id="10" name="TextBox 9"/>
          <p:cNvSpPr txBox="1"/>
          <p:nvPr/>
        </p:nvSpPr>
        <p:spPr>
          <a:xfrm>
            <a:off x="576539" y="6035040"/>
            <a:ext cx="565920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9. – von Borstel D. ve ark., 2016 (PMC5600038,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Üst: ok başı dorsal radioulnar bağ; kırmızı ok discus articularis; noktalı ok volar radioulnar bağ; sarı ok menisküs homoloğu; </a:t>
            </a:r>
            <a:r>
              <a:rPr sz="1600" b="0" i="0">
                <a:solidFill>
                  <a:srgbClr val="1F2A44"/>
                </a:solidFill>
                <a:latin typeface="Calibri"/>
              </a:rPr>
              <a:t>L</a:t>
            </a:r>
            <a:r>
              <a:rPr sz="1600" b="0" i="0">
                <a:solidFill>
                  <a:srgbClr val="1F2A44"/>
                </a:solidFill>
                <a:latin typeface="Calibri"/>
              </a:rPr>
              <a:t> lunatum, </a:t>
            </a:r>
            <a:r>
              <a:rPr sz="1600" b="0" i="0">
                <a:solidFill>
                  <a:srgbClr val="1F2A44"/>
                </a:solidFill>
                <a:latin typeface="Calibri"/>
              </a:rPr>
              <a:t>T</a:t>
            </a:r>
            <a:r>
              <a:rPr sz="1600" b="0" i="0">
                <a:solidFill>
                  <a:srgbClr val="1F2A44"/>
                </a:solidFill>
                <a:latin typeface="Calibri"/>
              </a:rPr>
              <a:t> triquetrum, </a:t>
            </a:r>
            <a:r>
              <a:rPr sz="1600" b="0" i="0">
                <a:solidFill>
                  <a:srgbClr val="1F2A44"/>
                </a:solidFill>
                <a:latin typeface="Calibri"/>
              </a:rPr>
              <a:t>R</a:t>
            </a:r>
            <a:r>
              <a:rPr sz="1600" b="0" i="0">
                <a:solidFill>
                  <a:srgbClr val="1F2A44"/>
                </a:solidFill>
                <a:latin typeface="Calibri"/>
              </a:rPr>
              <a:t> radius, </a:t>
            </a:r>
            <a:r>
              <a:rPr sz="1600" b="0" i="0">
                <a:solidFill>
                  <a:srgbClr val="1F2A44"/>
                </a:solidFill>
                <a:latin typeface="Calibri"/>
              </a:rPr>
              <a:t>U</a:t>
            </a:r>
            <a:r>
              <a:rPr sz="1600" b="0" i="0">
                <a:solidFill>
                  <a:srgbClr val="1F2A44"/>
                </a:solidFill>
                <a:latin typeface="Calibri"/>
              </a:rPr>
              <a:t> ulna</a:t>
            </a:r>
          </a:p>
          <a:p>
            <a:pPr algn="l">
              <a:spcAft>
                <a:spcPts val="300"/>
              </a:spcAft>
            </a:pPr>
            <a:r>
              <a:rPr sz="1600" b="0" i="0">
                <a:solidFill>
                  <a:srgbClr val="1F2A44"/>
                </a:solidFill>
                <a:latin typeface="Calibri"/>
              </a:rPr>
              <a:t>• Alt: noktalı ok lig. ulnotriquetrum (koronal 3B ve sagital PD); </a:t>
            </a:r>
            <a:r>
              <a:rPr sz="1600" b="0" i="0">
                <a:solidFill>
                  <a:srgbClr val="1F2A44"/>
                </a:solidFill>
                <a:latin typeface="Calibri"/>
              </a:rPr>
              <a:t>P</a:t>
            </a:r>
            <a:r>
              <a:rPr sz="1600" b="0" i="0">
                <a:solidFill>
                  <a:srgbClr val="1F2A44"/>
                </a:solidFill>
                <a:latin typeface="Calibri"/>
              </a:rPr>
              <a:t> pisiforme</a:t>
            </a:r>
          </a:p>
        </p:txBody>
      </p:sp>
      <p:sp>
        <p:nvSpPr>
          <p:cNvPr id="13" name="TextBox 12"/>
          <p:cNvSpPr txBox="1"/>
          <p:nvPr/>
        </p:nvSpPr>
        <p:spPr>
          <a:xfrm>
            <a:off x="6720840" y="32593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606800"/>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TFCC: discus articularis, radioulnar bağlar, menisküs homoloğu, UCL ve ECU kılıfından oluşur.</a:t>
            </a:r>
          </a:p>
          <a:p>
            <a:pPr algn="l">
              <a:spcAft>
                <a:spcPts val="300"/>
              </a:spcAft>
            </a:pPr>
            <a:r>
              <a:rPr sz="1600" b="0" i="0">
                <a:solidFill>
                  <a:srgbClr val="1F2A44"/>
                </a:solidFill>
                <a:latin typeface="Calibri"/>
              </a:rPr>
              <a:t>• İzotropik 3B görüntüleme ince bağların çok düzlemli değerlendirilmesini sağlar.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von Borstel D., Wang M., Small K. et al. High-Resolution 3T MR Imaging of the Triangular Fibrocartilage Complex. Magn Reson Med Sci. 2016 Aug 16;16(1):3–15. doi: 10.2463/mrms.rev.2016-0011 PMCID: PMC5600038.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Parmak makaraları ve sagital bantlar – ultrason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Coronel ve ark., Rheumatology 2023; Fenech, Australas J Ultrasound Med 2023</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kead614f3.jpg"/>
          <p:cNvPicPr>
            <a:picLocks noChangeAspect="1"/>
          </p:cNvPicPr>
          <p:nvPr/>
        </p:nvPicPr>
        <p:blipFill>
          <a:blip r:embed="rId2"/>
          <a:stretch>
            <a:fillRect/>
          </a:stretch>
        </p:blipFill>
        <p:spPr>
          <a:xfrm>
            <a:off x="274320" y="1234440"/>
            <a:ext cx="1653902" cy="2498082"/>
          </a:xfrm>
          <a:prstGeom prst="rect">
            <a:avLst/>
          </a:prstGeom>
        </p:spPr>
      </p:pic>
      <p:sp>
        <p:nvSpPr>
          <p:cNvPr id="8" name="TextBox 7"/>
          <p:cNvSpPr txBox="1"/>
          <p:nvPr/>
        </p:nvSpPr>
        <p:spPr>
          <a:xfrm>
            <a:off x="91439" y="3732522"/>
            <a:ext cx="201966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Coronel L. ve ark., 2023 (PMC11534144, CC BY)</a:t>
            </a:r>
          </a:p>
        </p:txBody>
      </p:sp>
      <p:pic>
        <p:nvPicPr>
          <p:cNvPr id="9" name="Picture 8" descr="AJUM-26-216-g003.jpg"/>
          <p:cNvPicPr>
            <a:picLocks noChangeAspect="1"/>
          </p:cNvPicPr>
          <p:nvPr/>
        </p:nvPicPr>
        <p:blipFill>
          <a:blip r:embed="rId3"/>
          <a:stretch>
            <a:fillRect/>
          </a:stretch>
        </p:blipFill>
        <p:spPr>
          <a:xfrm>
            <a:off x="2065382" y="1234440"/>
            <a:ext cx="4472577" cy="2498082"/>
          </a:xfrm>
          <a:prstGeom prst="rect">
            <a:avLst/>
          </a:prstGeom>
        </p:spPr>
      </p:pic>
      <p:sp>
        <p:nvSpPr>
          <p:cNvPr id="10" name="TextBox 9"/>
          <p:cNvSpPr txBox="1"/>
          <p:nvPr/>
        </p:nvSpPr>
        <p:spPr>
          <a:xfrm>
            <a:off x="1882502" y="3732522"/>
            <a:ext cx="483833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9 – Fenech M. ve ark., 2023 (PMC10716571,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871471"/>
          </a:xfrm>
          <a:prstGeom prst="rect">
            <a:avLst/>
          </a:prstGeom>
          <a:noFill/>
        </p:spPr>
        <p:txBody>
          <a:bodyPr wrap="square">
            <a:spAutoFit/>
          </a:bodyPr>
          <a:lstStyle/>
          <a:p>
            <a:pPr algn="l">
              <a:spcAft>
                <a:spcPts val="300"/>
              </a:spcAft>
            </a:pPr>
            <a:r>
              <a:rPr sz="1600" b="0" i="0">
                <a:solidFill>
                  <a:srgbClr val="1F2A44"/>
                </a:solidFill>
                <a:latin typeface="Calibri"/>
              </a:rPr>
              <a:t>• Sol: A1 ve A2 makara entezleri; </a:t>
            </a:r>
            <a:r>
              <a:rPr sz="1600" b="0" i="0">
                <a:solidFill>
                  <a:srgbClr val="1F2A44"/>
                </a:solidFill>
                <a:latin typeface="Calibri"/>
              </a:rPr>
              <a:t>FT</a:t>
            </a:r>
            <a:r>
              <a:rPr sz="1600" b="0" i="0">
                <a:solidFill>
                  <a:srgbClr val="1F2A44"/>
                </a:solidFill>
                <a:latin typeface="Calibri"/>
              </a:rPr>
              <a:t> fleksör tendon; </a:t>
            </a:r>
            <a:r>
              <a:rPr sz="1600" b="0" i="0">
                <a:solidFill>
                  <a:srgbClr val="1F2A44"/>
                </a:solidFill>
                <a:latin typeface="Calibri"/>
              </a:rPr>
              <a:t>VP</a:t>
            </a:r>
            <a:r>
              <a:rPr sz="1600" b="0" i="0">
                <a:solidFill>
                  <a:srgbClr val="1F2A44"/>
                </a:solidFill>
                <a:latin typeface="Calibri"/>
              </a:rPr>
              <a:t> lamina palmaris (volar plak); </a:t>
            </a:r>
            <a:r>
              <a:rPr sz="1600" b="0" i="0">
                <a:solidFill>
                  <a:srgbClr val="1F2A44"/>
                </a:solidFill>
                <a:latin typeface="Calibri"/>
              </a:rPr>
              <a:t>MCH</a:t>
            </a:r>
            <a:r>
              <a:rPr sz="1600" b="0" i="0">
                <a:solidFill>
                  <a:srgbClr val="1F2A44"/>
                </a:solidFill>
                <a:latin typeface="Calibri"/>
              </a:rPr>
              <a:t> caput ossis metacarpi; </a:t>
            </a:r>
            <a:r>
              <a:rPr sz="1600" b="0" i="0">
                <a:solidFill>
                  <a:srgbClr val="1F2A44"/>
                </a:solidFill>
                <a:latin typeface="Calibri"/>
              </a:rPr>
              <a:t>PP</a:t>
            </a:r>
            <a:r>
              <a:rPr sz="1600" b="0" i="0">
                <a:solidFill>
                  <a:srgbClr val="1F2A44"/>
                </a:solidFill>
                <a:latin typeface="Calibri"/>
              </a:rPr>
              <a:t> phalanx proximalis; SB sesamoid kemik</a:t>
            </a:r>
          </a:p>
          <a:p>
            <a:pPr algn="l">
              <a:spcAft>
                <a:spcPts val="300"/>
              </a:spcAft>
            </a:pPr>
            <a:r>
              <a:rPr sz="1600" b="0" i="0">
                <a:solidFill>
                  <a:srgbClr val="1F2A44"/>
                </a:solidFill>
                <a:latin typeface="Calibri"/>
              </a:rPr>
              <a:t>• Sağ: ulnar / radial sagital bant, sagital bandın yüzeyel ve derin bölümü; ED tendonu; dorsal plak; metakarp başı</a:t>
            </a:r>
          </a:p>
        </p:txBody>
      </p:sp>
      <p:sp>
        <p:nvSpPr>
          <p:cNvPr id="13" name="TextBox 12"/>
          <p:cNvSpPr txBox="1"/>
          <p:nvPr/>
        </p:nvSpPr>
        <p:spPr>
          <a:xfrm>
            <a:off x="6720840" y="3499103"/>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846575"/>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20 kadavra elinde makara ölçümlerinde US–anatomi korelasyonu güçlü (r = 0,96).</a:t>
            </a:r>
          </a:p>
          <a:p>
            <a:pPr algn="l">
              <a:spcAft>
                <a:spcPts val="300"/>
              </a:spcAft>
            </a:pPr>
            <a:r>
              <a:rPr sz="1600" b="0" i="0">
                <a:solidFill>
                  <a:srgbClr val="1F2A44"/>
                </a:solidFill>
                <a:latin typeface="Calibri"/>
              </a:rPr>
              <a:t>• Sagital bant yaralanmaları boksörlerde el–bilek yaralanmalarının %16'sını oluşturur.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Coronel L., Mandl P., Miguel-Pérez M. et al. Characterization of digital annular pulleys and their entheses: an ultrasonographic study with anatomical and histological correlations. Rheumatology (Oxford). 2023 Nov 23;63(11):3050–5. doi: 10.1093/rheumatology/kead614 PMCID: PMC11534144. Lisans: CC BY.  •  Fenech M. Boxer's knuckle: Sonographic anatomy and assessment of sagittal band tears of the dorsal hood. Australas J Ultrasound Med. 2023 Oct 12;26(4):216–29. doi: 10.1002/ajum.12363 PMCID: PMC10716571.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 görüntüleme tabanlı varyasyonlar: literatür taraması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MR, BT, ultrason ve grafi çalışmaları (PMC açık erişim)</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234440"/>
          <a:ext cx="11640312" cy="3423153"/>
        </p:xfrm>
        <a:graphic>
          <a:graphicData uri="http://schemas.openxmlformats.org/drawingml/2006/table">
            <a:tbl>
              <a:tblPr firstRow="1" bandRow="1">
                <a:tableStyleId>{5C22544A-7EE6-4342-B048-85BDC9FD1C3A}</a:tableStyleId>
              </a:tblPr>
              <a:tblGrid>
                <a:gridCol w="2108088"/>
                <a:gridCol w="1924776"/>
                <a:gridCol w="1833120"/>
                <a:gridCol w="3024648"/>
                <a:gridCol w="2749680"/>
              </a:tblGrid>
              <a:tr h="457200">
                <a:tc>
                  <a:txBody>
                    <a:bodyPr/>
                    <a:lstStyle/>
                    <a:p>
                      <a:r>
                        <a:rPr sz="1350" b="1">
                          <a:solidFill>
                            <a:srgbClr val="FFFFFF"/>
                          </a:solidFill>
                          <a:latin typeface="Calibri"/>
                        </a:rPr>
                        <a:t>Varyasyon</a:t>
                      </a:r>
                    </a:p>
                  </a:txBody>
                  <a:tcPr>
                    <a:solidFill>
                      <a:srgbClr val="1F2A44"/>
                    </a:solidFill>
                  </a:tcPr>
                </a:tc>
                <a:tc>
                  <a:txBody>
                    <a:bodyPr/>
                    <a:lstStyle/>
                    <a:p>
                      <a:r>
                        <a:rPr sz="1350" b="1">
                          <a:solidFill>
                            <a:srgbClr val="FFFFFF"/>
                          </a:solidFill>
                          <a:latin typeface="Calibri"/>
                        </a:rPr>
                        <a:t>Çalışma</a:t>
                      </a:r>
                    </a:p>
                  </a:txBody>
                  <a:tcPr>
                    <a:solidFill>
                      <a:srgbClr val="1F2A44"/>
                    </a:solidFill>
                  </a:tcPr>
                </a:tc>
                <a:tc>
                  <a:txBody>
                    <a:bodyPr/>
                    <a:lstStyle/>
                    <a:p>
                      <a:r>
                        <a:rPr sz="1350" b="1">
                          <a:solidFill>
                            <a:srgbClr val="FFFFFF"/>
                          </a:solidFill>
                          <a:latin typeface="Calibri"/>
                        </a:rPr>
                        <a:t>Örneklem / yöntem</a:t>
                      </a:r>
                    </a:p>
                  </a:txBody>
                  <a:tcPr>
                    <a:solidFill>
                      <a:srgbClr val="1F2A44"/>
                    </a:solidFill>
                  </a:tcPr>
                </a:tc>
                <a:tc>
                  <a:txBody>
                    <a:bodyPr/>
                    <a:lstStyle/>
                    <a:p>
                      <a:r>
                        <a:rPr sz="1350" b="1">
                          <a:solidFill>
                            <a:srgbClr val="FFFFFF"/>
                          </a:solidFill>
                          <a:latin typeface="Calibri"/>
                        </a:rPr>
                        <a:t>Sıklık / ana bulgu</a:t>
                      </a:r>
                    </a:p>
                  </a:txBody>
                  <a:tcPr>
                    <a:solidFill>
                      <a:srgbClr val="1F2A44"/>
                    </a:solidFill>
                  </a:tcPr>
                </a:tc>
                <a:tc>
                  <a:txBody>
                    <a:bodyPr/>
                    <a:lstStyle/>
                    <a:p>
                      <a:r>
                        <a:rPr sz="1350" b="1">
                          <a:solidFill>
                            <a:srgbClr val="FFFFFF"/>
                          </a:solidFill>
                          <a:latin typeface="Calibri"/>
                        </a:rPr>
                        <a:t>Klinik önem</a:t>
                      </a:r>
                    </a:p>
                  </a:txBody>
                  <a:tcPr>
                    <a:solidFill>
                      <a:srgbClr val="1F2A44"/>
                    </a:solidFill>
                  </a:tcPr>
                </a:tc>
              </a:tr>
              <a:tr h="554227">
                <a:tc>
                  <a:txBody>
                    <a:bodyPr/>
                    <a:lstStyle/>
                    <a:p>
                      <a:r>
                        <a:rPr sz="1300" b="1">
                          <a:solidFill>
                            <a:srgbClr val="1F2A44"/>
                          </a:solidFill>
                          <a:latin typeface="Calibri"/>
                        </a:rPr>
                        <a:t>Bifid n. medianus ve PMA (US)</a:t>
                      </a:r>
                    </a:p>
                  </a:txBody>
                  <a:tcPr>
                    <a:solidFill>
                      <a:srgbClr val="F3F4F6"/>
                    </a:solidFill>
                  </a:tcPr>
                </a:tc>
                <a:tc>
                  <a:txBody>
                    <a:bodyPr/>
                    <a:lstStyle/>
                    <a:p>
                      <a:r>
                        <a:rPr sz="1300" b="0">
                          <a:solidFill>
                            <a:srgbClr val="1F2A44"/>
                          </a:solidFill>
                          <a:latin typeface="Calibri"/>
                        </a:rPr>
                        <a:t>Chen ve ark. 2017</a:t>
                      </a:r>
                    </a:p>
                  </a:txBody>
                  <a:tcPr>
                    <a:solidFill>
                      <a:srgbClr val="F3F4F6"/>
                    </a:solidFill>
                  </a:tcPr>
                </a:tc>
                <a:tc>
                  <a:txBody>
                    <a:bodyPr/>
                    <a:lstStyle/>
                    <a:p>
                      <a:r>
                        <a:rPr sz="1300" b="0">
                          <a:solidFill>
                            <a:srgbClr val="1F2A44"/>
                          </a:solidFill>
                          <a:latin typeface="Calibri"/>
                        </a:rPr>
                        <a:t>160 el bileği</a:t>
                      </a:r>
                    </a:p>
                  </a:txBody>
                  <a:tcPr>
                    <a:solidFill>
                      <a:srgbClr val="F3F4F6"/>
                    </a:solidFill>
                  </a:tcPr>
                </a:tc>
                <a:tc>
                  <a:txBody>
                    <a:bodyPr/>
                    <a:lstStyle/>
                    <a:p>
                      <a:r>
                        <a:rPr sz="1300" b="0">
                          <a:solidFill>
                            <a:srgbClr val="1F2A44"/>
                          </a:solidFill>
                          <a:latin typeface="Calibri"/>
                        </a:rPr>
                        <a:t>Bifid MN %9,4; PMA %7,5; birlikte %6,3; persistan median ven %5,6</a:t>
                      </a:r>
                    </a:p>
                  </a:txBody>
                  <a:tcPr>
                    <a:solidFill>
                      <a:srgbClr val="F3F4F6"/>
                    </a:solidFill>
                  </a:tcPr>
                </a:tc>
                <a:tc>
                  <a:txBody>
                    <a:bodyPr/>
                    <a:lstStyle/>
                    <a:p>
                      <a:r>
                        <a:rPr sz="1300" b="0">
                          <a:solidFill>
                            <a:srgbClr val="1F2A44"/>
                          </a:solidFill>
                          <a:latin typeface="Calibri"/>
                        </a:rPr>
                        <a:t>Karpal tünel sendromu ve cerrahisi</a:t>
                      </a:r>
                    </a:p>
                  </a:txBody>
                  <a:tcPr>
                    <a:solidFill>
                      <a:srgbClr val="F3F4F6"/>
                    </a:solidFill>
                  </a:tcPr>
                </a:tc>
              </a:tr>
              <a:tr h="749045">
                <a:tc>
                  <a:txBody>
                    <a:bodyPr/>
                    <a:lstStyle/>
                    <a:p>
                      <a:r>
                        <a:rPr sz="1300" b="1">
                          <a:solidFill>
                            <a:srgbClr val="1F2A44"/>
                          </a:solidFill>
                          <a:latin typeface="Calibri"/>
                        </a:rPr>
                        <a:t>Motor tenar dal tipleri (US – diseksiyon)</a:t>
                      </a:r>
                    </a:p>
                  </a:txBody>
                  <a:tcPr>
                    <a:solidFill>
                      <a:srgbClr val="FFFFFF"/>
                    </a:solidFill>
                  </a:tcPr>
                </a:tc>
                <a:tc>
                  <a:txBody>
                    <a:bodyPr/>
                    <a:lstStyle/>
                    <a:p>
                      <a:r>
                        <a:rPr sz="1300" b="0">
                          <a:solidFill>
                            <a:srgbClr val="1F2A44"/>
                          </a:solidFill>
                          <a:latin typeface="Calibri"/>
                        </a:rPr>
                        <a:t>Petrover ve ark. 2017</a:t>
                      </a:r>
                    </a:p>
                  </a:txBody>
                  <a:tcPr>
                    <a:solidFill>
                      <a:srgbClr val="FFFFFF"/>
                    </a:solidFill>
                  </a:tcPr>
                </a:tc>
                <a:tc>
                  <a:txBody>
                    <a:bodyPr/>
                    <a:lstStyle/>
                    <a:p>
                      <a:r>
                        <a:rPr sz="1300" b="0">
                          <a:solidFill>
                            <a:srgbClr val="1F2A44"/>
                          </a:solidFill>
                          <a:latin typeface="Calibri"/>
                        </a:rPr>
                        <a:t>15 kadavra, 30 el bileği</a:t>
                      </a:r>
                    </a:p>
                  </a:txBody>
                  <a:tcPr>
                    <a:solidFill>
                      <a:srgbClr val="FFFFFF"/>
                    </a:solidFill>
                  </a:tcPr>
                </a:tc>
                <a:tc>
                  <a:txBody>
                    <a:bodyPr/>
                    <a:lstStyle/>
                    <a:p>
                      <a:r>
                        <a:rPr sz="1300" b="0">
                          <a:solidFill>
                            <a:srgbClr val="1F2A44"/>
                          </a:solidFill>
                          <a:latin typeface="Calibri"/>
                        </a:rPr>
                        <a:t>Lanz Tip 1/2/3: %84/%3/%13; ekstra/sub/transligamentöz %65/%31/%4; κ = 0,9</a:t>
                      </a:r>
                    </a:p>
                  </a:txBody>
                  <a:tcPr>
                    <a:solidFill>
                      <a:srgbClr val="FFFFFF"/>
                    </a:solidFill>
                  </a:tcPr>
                </a:tc>
                <a:tc>
                  <a:txBody>
                    <a:bodyPr/>
                    <a:lstStyle/>
                    <a:p>
                      <a:r>
                        <a:rPr sz="1300" b="0">
                          <a:solidFill>
                            <a:srgbClr val="1F2A44"/>
                          </a:solidFill>
                          <a:latin typeface="Calibri"/>
                        </a:rPr>
                        <a:t>Gevşetme cerrahisi planlaması</a:t>
                      </a:r>
                    </a:p>
                  </a:txBody>
                  <a:tcPr>
                    <a:solidFill>
                      <a:srgbClr val="FFFFFF"/>
                    </a:solidFill>
                  </a:tcPr>
                </a:tc>
              </a:tr>
              <a:tr h="554227">
                <a:tc>
                  <a:txBody>
                    <a:bodyPr/>
                    <a:lstStyle/>
                    <a:p>
                      <a:r>
                        <a:rPr sz="1300" b="1">
                          <a:solidFill>
                            <a:srgbClr val="1F2A44"/>
                          </a:solidFill>
                          <a:latin typeface="Calibri"/>
                        </a:rPr>
                        <a:t>Aksesuar m. abductor digiti minimi (US)</a:t>
                      </a:r>
                    </a:p>
                  </a:txBody>
                  <a:tcPr>
                    <a:solidFill>
                      <a:srgbClr val="F3F4F6"/>
                    </a:solidFill>
                  </a:tcPr>
                </a:tc>
                <a:tc>
                  <a:txBody>
                    <a:bodyPr/>
                    <a:lstStyle/>
                    <a:p>
                      <a:r>
                        <a:rPr sz="1300" b="0">
                          <a:solidFill>
                            <a:srgbClr val="1F2A44"/>
                          </a:solidFill>
                          <a:latin typeface="Calibri"/>
                        </a:rPr>
                        <a:t>Saran ve ark. 2025</a:t>
                      </a:r>
                    </a:p>
                  </a:txBody>
                  <a:tcPr>
                    <a:solidFill>
                      <a:srgbClr val="F3F4F6"/>
                    </a:solidFill>
                  </a:tcPr>
                </a:tc>
                <a:tc>
                  <a:txBody>
                    <a:bodyPr/>
                    <a:lstStyle/>
                    <a:p>
                      <a:r>
                        <a:rPr sz="1300" b="0">
                          <a:solidFill>
                            <a:srgbClr val="1F2A44"/>
                          </a:solidFill>
                          <a:latin typeface="Calibri"/>
                        </a:rPr>
                        <a:t>Derleme</a:t>
                      </a:r>
                    </a:p>
                  </a:txBody>
                  <a:tcPr>
                    <a:solidFill>
                      <a:srgbClr val="F3F4F6"/>
                    </a:solidFill>
                  </a:tcPr>
                </a:tc>
                <a:tc>
                  <a:txBody>
                    <a:bodyPr/>
                    <a:lstStyle/>
                    <a:p>
                      <a:r>
                        <a:rPr sz="1300" b="0">
                          <a:solidFill>
                            <a:srgbClr val="1F2A44"/>
                          </a:solidFill>
                          <a:latin typeface="Calibri"/>
                        </a:rPr>
                        <a:t>Guyon kanalının üzerinde aksesuar kas; dinamik US ile değerlendirme</a:t>
                      </a:r>
                    </a:p>
                  </a:txBody>
                  <a:tcPr>
                    <a:solidFill>
                      <a:srgbClr val="F3F4F6"/>
                    </a:solidFill>
                  </a:tcPr>
                </a:tc>
                <a:tc>
                  <a:txBody>
                    <a:bodyPr/>
                    <a:lstStyle/>
                    <a:p>
                      <a:r>
                        <a:rPr sz="1300" b="0">
                          <a:solidFill>
                            <a:srgbClr val="1F2A44"/>
                          </a:solidFill>
                          <a:latin typeface="Calibri"/>
                        </a:rPr>
                        <a:t>N. ulnaris sıkışması</a:t>
                      </a:r>
                    </a:p>
                  </a:txBody>
                  <a:tcPr>
                    <a:solidFill>
                      <a:srgbClr val="F3F4F6"/>
                    </a:solidFill>
                  </a:tcPr>
                </a:tc>
              </a:tr>
              <a:tr h="554227">
                <a:tc>
                  <a:txBody>
                    <a:bodyPr/>
                    <a:lstStyle/>
                    <a:p>
                      <a:r>
                        <a:rPr sz="1300" b="1">
                          <a:solidFill>
                            <a:srgbClr val="1F2A44"/>
                          </a:solidFill>
                          <a:latin typeface="Calibri"/>
                        </a:rPr>
                        <a:t>Lunotriquetral koalisyon (grafi)</a:t>
                      </a:r>
                    </a:p>
                  </a:txBody>
                  <a:tcPr>
                    <a:solidFill>
                      <a:srgbClr val="FFFFFF"/>
                    </a:solidFill>
                  </a:tcPr>
                </a:tc>
                <a:tc>
                  <a:txBody>
                    <a:bodyPr/>
                    <a:lstStyle/>
                    <a:p>
                      <a:r>
                        <a:rPr sz="1300" b="0">
                          <a:solidFill>
                            <a:srgbClr val="1F2A44"/>
                          </a:solidFill>
                          <a:latin typeface="Calibri"/>
                        </a:rPr>
                        <a:t>Lotter ve ark. 2010</a:t>
                      </a:r>
                    </a:p>
                  </a:txBody>
                  <a:tcPr>
                    <a:solidFill>
                      <a:srgbClr val="FFFFFF"/>
                    </a:solidFill>
                  </a:tcPr>
                </a:tc>
                <a:tc>
                  <a:txBody>
                    <a:bodyPr/>
                    <a:lstStyle/>
                    <a:p>
                      <a:r>
                        <a:rPr sz="1300" b="0">
                          <a:solidFill>
                            <a:srgbClr val="1F2A44"/>
                          </a:solidFill>
                          <a:latin typeface="Calibri"/>
                        </a:rPr>
                        <a:t>Olgu (bilateral)</a:t>
                      </a:r>
                    </a:p>
                  </a:txBody>
                  <a:tcPr>
                    <a:solidFill>
                      <a:srgbClr val="FFFFFF"/>
                    </a:solidFill>
                  </a:tcPr>
                </a:tc>
                <a:tc>
                  <a:txBody>
                    <a:bodyPr/>
                    <a:lstStyle/>
                    <a:p>
                      <a:r>
                        <a:rPr sz="1300" b="0">
                          <a:solidFill>
                            <a:srgbClr val="1F2A44"/>
                          </a:solidFill>
                          <a:latin typeface="Calibri"/>
                        </a:rPr>
                        <a:t>Karpal füzyonların ~%90'ı; genel prevalans ~%0,1 (aktarılan)</a:t>
                      </a:r>
                    </a:p>
                  </a:txBody>
                  <a:tcPr>
                    <a:solidFill>
                      <a:srgbClr val="FFFFFF"/>
                    </a:solidFill>
                  </a:tcPr>
                </a:tc>
                <a:tc>
                  <a:txBody>
                    <a:bodyPr/>
                    <a:lstStyle/>
                    <a:p>
                      <a:r>
                        <a:rPr sz="1300" b="0">
                          <a:solidFill>
                            <a:srgbClr val="1F2A44"/>
                          </a:solidFill>
                          <a:latin typeface="Calibri"/>
                        </a:rPr>
                        <a:t>Genellikle asemptomatik</a:t>
                      </a:r>
                    </a:p>
                  </a:txBody>
                  <a:tcPr>
                    <a:solidFill>
                      <a:srgbClr val="FFFFFF"/>
                    </a:solidFill>
                  </a:tcPr>
                </a:tc>
              </a:tr>
              <a:tr h="554227">
                <a:tc>
                  <a:txBody>
                    <a:bodyPr/>
                    <a:lstStyle/>
                    <a:p>
                      <a:r>
                        <a:rPr sz="1300" b="1">
                          <a:solidFill>
                            <a:srgbClr val="1F2A44"/>
                          </a:solidFill>
                          <a:latin typeface="Calibri"/>
                        </a:rPr>
                        <a:t>Os styloideum (grafi/BT/MR)</a:t>
                      </a:r>
                    </a:p>
                  </a:txBody>
                  <a:tcPr>
                    <a:solidFill>
                      <a:srgbClr val="F3F4F6"/>
                    </a:solidFill>
                  </a:tcPr>
                </a:tc>
                <a:tc>
                  <a:txBody>
                    <a:bodyPr/>
                    <a:lstStyle/>
                    <a:p>
                      <a:r>
                        <a:rPr sz="1300" b="0">
                          <a:solidFill>
                            <a:srgbClr val="1F2A44"/>
                          </a:solidFill>
                          <a:latin typeface="Calibri"/>
                        </a:rPr>
                        <a:t>Nicolodi ve ark. 2017</a:t>
                      </a:r>
                    </a:p>
                  </a:txBody>
                  <a:tcPr>
                    <a:solidFill>
                      <a:srgbClr val="F3F4F6"/>
                    </a:solidFill>
                  </a:tcPr>
                </a:tc>
                <a:tc>
                  <a:txBody>
                    <a:bodyPr/>
                    <a:lstStyle/>
                    <a:p>
                      <a:r>
                        <a:rPr sz="1300" b="0">
                          <a:solidFill>
                            <a:srgbClr val="1F2A44"/>
                          </a:solidFill>
                          <a:latin typeface="Calibri"/>
                        </a:rPr>
                        <a:t>Olgu</a:t>
                      </a:r>
                    </a:p>
                  </a:txBody>
                  <a:tcPr>
                    <a:solidFill>
                      <a:srgbClr val="F3F4F6"/>
                    </a:solidFill>
                  </a:tcPr>
                </a:tc>
                <a:tc>
                  <a:txBody>
                    <a:bodyPr/>
                    <a:lstStyle/>
                    <a:p>
                      <a:r>
                        <a:rPr sz="1300" b="0">
                          <a:solidFill>
                            <a:srgbClr val="1F2A44"/>
                          </a:solidFill>
                          <a:latin typeface="Calibri"/>
                        </a:rPr>
                        <a:t>Trapezoideum ile füzyon yalnız %0,5 (aktarılan)</a:t>
                      </a:r>
                    </a:p>
                  </a:txBody>
                  <a:tcPr>
                    <a:solidFill>
                      <a:srgbClr val="F3F4F6"/>
                    </a:solidFill>
                  </a:tcPr>
                </a:tc>
                <a:tc>
                  <a:txBody>
                    <a:bodyPr/>
                    <a:lstStyle/>
                    <a:p>
                      <a:r>
                        <a:rPr sz="1300" b="0">
                          <a:solidFill>
                            <a:srgbClr val="1F2A44"/>
                          </a:solidFill>
                          <a:latin typeface="Calibri"/>
                        </a:rPr>
                        <a:t>Karpal 'boss' sendromu</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Bifid n. medianus ve a. mediana persistens (US)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Chen ve ark., Clinics 2017 – 160 el bileği; Wu ve ark., Diagnostics 2023</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cln-72-06-358-g001.jpg"/>
          <p:cNvPicPr>
            <a:picLocks noChangeAspect="1"/>
          </p:cNvPicPr>
          <p:nvPr/>
        </p:nvPicPr>
        <p:blipFill>
          <a:blip r:embed="rId2"/>
          <a:stretch>
            <a:fillRect/>
          </a:stretch>
        </p:blipFill>
        <p:spPr>
          <a:xfrm>
            <a:off x="551953" y="1234440"/>
            <a:ext cx="5708373" cy="2040743"/>
          </a:xfrm>
          <a:prstGeom prst="rect">
            <a:avLst/>
          </a:prstGeom>
        </p:spPr>
      </p:pic>
      <p:sp>
        <p:nvSpPr>
          <p:cNvPr id="8" name="TextBox 7"/>
          <p:cNvSpPr txBox="1"/>
          <p:nvPr/>
        </p:nvSpPr>
        <p:spPr>
          <a:xfrm>
            <a:off x="369073" y="3275183"/>
            <a:ext cx="607413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and Figure 2 – Chen L. ve ark., 2017 (PMC5463256, CC BY)</a:t>
            </a:r>
          </a:p>
        </p:txBody>
      </p:sp>
      <p:pic>
        <p:nvPicPr>
          <p:cNvPr id="9" name="Picture 8" descr="diagnostics-13-01928-g004.jpg"/>
          <p:cNvPicPr>
            <a:picLocks noChangeAspect="1"/>
          </p:cNvPicPr>
          <p:nvPr/>
        </p:nvPicPr>
        <p:blipFill>
          <a:blip r:embed="rId3"/>
          <a:stretch>
            <a:fillRect/>
          </a:stretch>
        </p:blipFill>
        <p:spPr>
          <a:xfrm>
            <a:off x="551953" y="3549503"/>
            <a:ext cx="5708373" cy="2485536"/>
          </a:xfrm>
          <a:prstGeom prst="rect">
            <a:avLst/>
          </a:prstGeom>
        </p:spPr>
      </p:pic>
      <p:sp>
        <p:nvSpPr>
          <p:cNvPr id="10" name="TextBox 9"/>
          <p:cNvSpPr txBox="1"/>
          <p:nvPr/>
        </p:nvSpPr>
        <p:spPr>
          <a:xfrm>
            <a:off x="369073" y="6035040"/>
            <a:ext cx="607413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Wu W. T. ve ark., 2023 (PMC10253229,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Üst: ince ok bifid n. medianus, kalın ok PMA (proksimal karpal tünel, sağda çizimli)</a:t>
            </a:r>
          </a:p>
          <a:p>
            <a:pPr algn="l">
              <a:spcAft>
                <a:spcPts val="300"/>
              </a:spcAft>
            </a:pPr>
            <a:r>
              <a:rPr sz="1600" b="0" i="0">
                <a:solidFill>
                  <a:srgbClr val="1F2A44"/>
                </a:solidFill>
                <a:latin typeface="Calibri"/>
              </a:rPr>
              <a:t>• Alt: A bifid MN; B PMA + bifid MN; C aksesuar FDS kası (yıldız); D PL tendon laserasyonu; beyaz ok başları n. medianus; </a:t>
            </a:r>
            <a:r>
              <a:rPr sz="1600" b="0" i="0">
                <a:solidFill>
                  <a:srgbClr val="1F2A44"/>
                </a:solidFill>
                <a:latin typeface="Calibri"/>
              </a:rPr>
              <a:t>FCR</a:t>
            </a:r>
            <a:r>
              <a:rPr sz="1600" b="0" i="0">
                <a:solidFill>
                  <a:srgbClr val="1F2A44"/>
                </a:solidFill>
                <a:latin typeface="Calibri"/>
              </a:rPr>
              <a:t> m. flexor carpi radialis; </a:t>
            </a:r>
            <a:r>
              <a:rPr sz="1600" b="0" i="0">
                <a:solidFill>
                  <a:srgbClr val="1F2A44"/>
                </a:solidFill>
                <a:latin typeface="Calibri"/>
              </a:rPr>
              <a:t>PL</a:t>
            </a:r>
            <a:r>
              <a:rPr sz="1600" b="0" i="0">
                <a:solidFill>
                  <a:srgbClr val="1F2A44"/>
                </a:solidFill>
                <a:latin typeface="Calibri"/>
              </a:rPr>
              <a:t> m. palmaris longus; S scaphoideum</a:t>
            </a:r>
          </a:p>
        </p:txBody>
      </p:sp>
      <p:sp>
        <p:nvSpPr>
          <p:cNvPr id="13" name="TextBox 12"/>
          <p:cNvSpPr txBox="1"/>
          <p:nvPr/>
        </p:nvSpPr>
        <p:spPr>
          <a:xfrm>
            <a:off x="6720840" y="32593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606800"/>
            <a:ext cx="5257800" cy="1442720"/>
          </a:xfrm>
          <a:prstGeom prst="rect">
            <a:avLst/>
          </a:prstGeom>
          <a:noFill/>
        </p:spPr>
        <p:txBody>
          <a:bodyPr wrap="square">
            <a:spAutoFit/>
          </a:bodyPr>
          <a:lstStyle/>
          <a:p>
            <a:pPr algn="l">
              <a:spcAft>
                <a:spcPts val="300"/>
              </a:spcAft>
            </a:pPr>
            <a:r>
              <a:rPr sz="1600" b="0" i="0">
                <a:solidFill>
                  <a:srgbClr val="1F2A44"/>
                </a:solidFill>
                <a:latin typeface="Calibri"/>
              </a:rPr>
              <a:t>• Bifid n. medianus </a:t>
            </a:r>
            <a:r>
              <a:rPr sz="1600" b="0" i="0">
                <a:solidFill>
                  <a:srgbClr val="1F2A44"/>
                </a:solidFill>
                <a:latin typeface="Calibri"/>
              </a:rPr>
              <a:t>%9,4</a:t>
            </a:r>
            <a:r>
              <a:rPr sz="1600" b="0" i="0">
                <a:solidFill>
                  <a:srgbClr val="1F2A44"/>
                </a:solidFill>
                <a:latin typeface="Calibri"/>
              </a:rPr>
              <a:t>, PMA </a:t>
            </a:r>
            <a:r>
              <a:rPr sz="1600" b="0" i="0">
                <a:solidFill>
                  <a:srgbClr val="1F2A44"/>
                </a:solidFill>
                <a:latin typeface="Calibri"/>
              </a:rPr>
              <a:t>%7,5</a:t>
            </a:r>
            <a:r>
              <a:rPr sz="1600" b="0" i="0">
                <a:solidFill>
                  <a:srgbClr val="1F2A44"/>
                </a:solidFill>
                <a:latin typeface="Calibri"/>
              </a:rPr>
              <a:t>; birlikte bulunma olasılığı (%6,3) tek başına bulunmaktan yüksek.</a:t>
            </a:r>
          </a:p>
          <a:p>
            <a:pPr algn="l">
              <a:spcAft>
                <a:spcPts val="300"/>
              </a:spcAft>
            </a:pPr>
            <a:r>
              <a:rPr sz="1600" b="0" i="0">
                <a:solidFill>
                  <a:srgbClr val="1F2A44"/>
                </a:solidFill>
                <a:latin typeface="Calibri"/>
              </a:rPr>
              <a:t>• Persistan median ven %5,6.</a:t>
            </a:r>
          </a:p>
          <a:p>
            <a:pPr algn="l">
              <a:spcAft>
                <a:spcPts val="300"/>
              </a:spcAft>
            </a:pPr>
            <a:r>
              <a:rPr sz="1600" b="0" i="0">
                <a:solidFill>
                  <a:srgbClr val="1F2A44"/>
                </a:solidFill>
                <a:latin typeface="Calibri"/>
              </a:rPr>
              <a:t>• Endoskopik gevşetme öncesi US ile tanınması komplikasyonları azaltır.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Chen L., Chen J., Hu B. et al. Sonographic Findings of the Bifid Median Nerve and Persistent Median Artery in Carpal Tunnel: A Preliminary Study in Chinese Individuals. Clinics (Sao Paulo). 2017 Jun;72(6):358–62. doi: 10.6061/clinics/2017(06)05 PMCID: PMC5463256. Lisans: CC BY.  •  Wu W. T., Chang K. V., Hsu Y. C. et al. Ultrasound Imaging and Guidance for Distal Peripheral Nerve Pathologies at the Wrist/Hand. Diagnostics (Basel). 2023 May 31;13(11):1928. doi: 10.3390/diagnostics13111928 PMCID: PMC10253229.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Motor tenar dalın tipleri – US ve diseksiyon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Petrover ve ark., Eur Radiol 2017 – 15 taze kadavra, 30 el bileği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330_2017_4882_Fig2_HTML.jpg"/>
          <p:cNvPicPr>
            <a:picLocks noChangeAspect="1"/>
          </p:cNvPicPr>
          <p:nvPr/>
        </p:nvPicPr>
        <p:blipFill>
          <a:blip r:embed="rId2"/>
          <a:stretch>
            <a:fillRect/>
          </a:stretch>
        </p:blipFill>
        <p:spPr>
          <a:xfrm>
            <a:off x="274319" y="1234440"/>
            <a:ext cx="3063239" cy="4629846"/>
          </a:xfrm>
          <a:prstGeom prst="rect">
            <a:avLst/>
          </a:prstGeom>
        </p:spPr>
      </p:pic>
      <p:sp>
        <p:nvSpPr>
          <p:cNvPr id="8" name="TextBox 7"/>
          <p:cNvSpPr txBox="1"/>
          <p:nvPr/>
        </p:nvSpPr>
        <p:spPr>
          <a:xfrm>
            <a:off x="91439" y="5864286"/>
            <a:ext cx="342899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Petrover D. ve ark., 2017 (PMC5635084, CC BY)</a:t>
            </a:r>
          </a:p>
        </p:txBody>
      </p:sp>
      <p:pic>
        <p:nvPicPr>
          <p:cNvPr id="9" name="Picture 8" descr="330_2017_4882_Fig3_HTML.jpg"/>
          <p:cNvPicPr>
            <a:picLocks noChangeAspect="1"/>
          </p:cNvPicPr>
          <p:nvPr/>
        </p:nvPicPr>
        <p:blipFill>
          <a:blip r:embed="rId3"/>
          <a:stretch>
            <a:fillRect/>
          </a:stretch>
        </p:blipFill>
        <p:spPr>
          <a:xfrm>
            <a:off x="3474720" y="1234440"/>
            <a:ext cx="3063239" cy="4629846"/>
          </a:xfrm>
          <a:prstGeom prst="rect">
            <a:avLst/>
          </a:prstGeom>
        </p:spPr>
      </p:pic>
      <p:sp>
        <p:nvSpPr>
          <p:cNvPr id="10" name="TextBox 9"/>
          <p:cNvSpPr txBox="1"/>
          <p:nvPr/>
        </p:nvSpPr>
        <p:spPr>
          <a:xfrm>
            <a:off x="3291839" y="5864286"/>
            <a:ext cx="342899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3 – Petrover D. ve ark., 2017 (PMC5635084,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FR</a:t>
            </a:r>
            <a:r>
              <a:rPr sz="1600" b="0" i="0">
                <a:solidFill>
                  <a:srgbClr val="1F2A44"/>
                </a:solidFill>
                <a:latin typeface="Calibri"/>
              </a:rPr>
              <a:t> retinaculum flexorum; </a:t>
            </a:r>
            <a:r>
              <a:rPr sz="1600" b="0" i="0">
                <a:solidFill>
                  <a:srgbClr val="1F2A44"/>
                </a:solidFill>
                <a:latin typeface="Calibri"/>
              </a:rPr>
              <a:t>MN</a:t>
            </a:r>
            <a:r>
              <a:rPr sz="1600" b="0" i="0">
                <a:solidFill>
                  <a:srgbClr val="1F2A44"/>
                </a:solidFill>
                <a:latin typeface="Calibri"/>
              </a:rPr>
              <a:t> n. medianus; </a:t>
            </a:r>
            <a:r>
              <a:rPr sz="1600" b="0" i="0">
                <a:solidFill>
                  <a:srgbClr val="1F2A44"/>
                </a:solidFill>
                <a:latin typeface="Calibri"/>
              </a:rPr>
              <a:t>MB</a:t>
            </a:r>
            <a:r>
              <a:rPr sz="1600" b="0" i="0">
                <a:solidFill>
                  <a:srgbClr val="1F2A44"/>
                </a:solidFill>
                <a:latin typeface="Calibri"/>
              </a:rPr>
              <a:t> motor (tenar) dal; noktalı çizgiler palmar dijital sinirler; Fig. 3: High division of the MN = n. medianus'un yüksek bölünmesi (Lanz Tip 3)</a:t>
            </a:r>
          </a:p>
        </p:txBody>
      </p:sp>
      <p:sp>
        <p:nvSpPr>
          <p:cNvPr id="13" name="TextBox 12"/>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076448"/>
            <a:ext cx="5257800" cy="1922272"/>
          </a:xfrm>
          <a:prstGeom prst="rect">
            <a:avLst/>
          </a:prstGeom>
          <a:noFill/>
        </p:spPr>
        <p:txBody>
          <a:bodyPr wrap="square">
            <a:spAutoFit/>
          </a:bodyPr>
          <a:lstStyle/>
          <a:p>
            <a:pPr algn="l">
              <a:spcAft>
                <a:spcPts val="300"/>
              </a:spcAft>
            </a:pPr>
            <a:r>
              <a:rPr sz="1600" b="0" i="0">
                <a:solidFill>
                  <a:srgbClr val="1F2A44"/>
                </a:solidFill>
                <a:latin typeface="Calibri"/>
              </a:rPr>
              <a:t>• Diseksiyonda Lanz Tip 1, 2, 3: </a:t>
            </a:r>
            <a:r>
              <a:rPr sz="1600" b="0" i="0">
                <a:solidFill>
                  <a:srgbClr val="1F2A44"/>
                </a:solidFill>
                <a:latin typeface="Calibri"/>
              </a:rPr>
              <a:t>%84, %3, %13</a:t>
            </a:r>
            <a:r>
              <a:rPr sz="1600" b="0" i="0">
                <a:solidFill>
                  <a:srgbClr val="1F2A44"/>
                </a:solidFill>
                <a:latin typeface="Calibri"/>
              </a:rPr>
              <a:t>; dalın seyri ekstra-, sub-, transligamentöz: %65, %31, %4.</a:t>
            </a:r>
          </a:p>
          <a:p>
            <a:pPr algn="l">
              <a:spcAft>
                <a:spcPts val="300"/>
              </a:spcAft>
            </a:pPr>
            <a:r>
              <a:rPr sz="1600" b="0" i="0">
                <a:solidFill>
                  <a:srgbClr val="1F2A44"/>
                </a:solidFill>
                <a:latin typeface="Calibri"/>
              </a:rPr>
              <a:t>• US ile diseksiyon uyumu: tip için κ = 0,9, seyir için κ = 1.</a:t>
            </a:r>
          </a:p>
          <a:p>
            <a:pPr algn="l">
              <a:spcAft>
                <a:spcPts val="300"/>
              </a:spcAft>
            </a:pPr>
            <a:r>
              <a:rPr sz="1600" b="0" i="0">
                <a:solidFill>
                  <a:srgbClr val="1F2A44"/>
                </a:solidFill>
                <a:latin typeface="Calibri"/>
              </a:rPr>
              <a:t>• Bifid sinir ve hipertrofik kas %13,3; bilateral simetri %86,7.</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Petrover D., Bellity J., Vigan M. et al. Ultrasound imaging of the thenar motor branch of the median nerve: a cadaveric study. Eur Radiol. 2017 Jun 7;27(11):4883–8. doi: 10.1007/s00330-017-4882-0 PMCID: PMC5635084.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Aksesuar m. abductor digiti minimi (US)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Saran ve ark., Diagnostics 2025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diagnostics-15-00592-g004.jpg"/>
          <p:cNvPicPr>
            <a:picLocks noChangeAspect="1"/>
          </p:cNvPicPr>
          <p:nvPr/>
        </p:nvPicPr>
        <p:blipFill>
          <a:blip r:embed="rId2"/>
          <a:stretch>
            <a:fillRect/>
          </a:stretch>
        </p:blipFill>
        <p:spPr>
          <a:xfrm>
            <a:off x="274320" y="1829890"/>
            <a:ext cx="6263640" cy="3609699"/>
          </a:xfrm>
          <a:prstGeom prst="rect">
            <a:avLst/>
          </a:prstGeom>
        </p:spPr>
      </p:pic>
      <p:sp>
        <p:nvSpPr>
          <p:cNvPr id="8" name="TextBox 7"/>
          <p:cNvSpPr txBox="1"/>
          <p:nvPr/>
        </p:nvSpPr>
        <p:spPr>
          <a:xfrm>
            <a:off x="91439" y="5439589"/>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Saran S. ve ark., 2025 (PMC11899079,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621792"/>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aADM</a:t>
            </a:r>
            <a:r>
              <a:rPr sz="1600" b="0" i="0">
                <a:solidFill>
                  <a:srgbClr val="1F2A44"/>
                </a:solidFill>
                <a:latin typeface="Calibri"/>
              </a:rPr>
              <a:t> aksesuar m. abductor digiti minimi; </a:t>
            </a:r>
            <a:r>
              <a:rPr sz="1600" b="0" i="0">
                <a:solidFill>
                  <a:srgbClr val="1F2A44"/>
                </a:solidFill>
                <a:latin typeface="Calibri"/>
              </a:rPr>
              <a:t>UN</a:t>
            </a:r>
            <a:r>
              <a:rPr sz="1600" b="0" i="0">
                <a:solidFill>
                  <a:srgbClr val="1F2A44"/>
                </a:solidFill>
                <a:latin typeface="Calibri"/>
              </a:rPr>
              <a:t> n. ulnaris; </a:t>
            </a:r>
            <a:r>
              <a:rPr sz="1600" b="0" i="0">
                <a:solidFill>
                  <a:srgbClr val="1F2A44"/>
                </a:solidFill>
                <a:latin typeface="Calibri"/>
              </a:rPr>
              <a:t>UA</a:t>
            </a:r>
            <a:r>
              <a:rPr sz="1600" b="0" i="0">
                <a:solidFill>
                  <a:srgbClr val="1F2A44"/>
                </a:solidFill>
                <a:latin typeface="Calibri"/>
              </a:rPr>
              <a:t> a. ulnaris; Pisiform</a:t>
            </a:r>
          </a:p>
        </p:txBody>
      </p:sp>
      <p:sp>
        <p:nvSpPr>
          <p:cNvPr id="11" name="TextBox 10"/>
          <p:cNvSpPr txBox="1"/>
          <p:nvPr/>
        </p:nvSpPr>
        <p:spPr>
          <a:xfrm>
            <a:off x="6720840" y="2249424"/>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2596896"/>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Aksesuar kas Guyon kanalının üzerinde; n. ulnaris kanal içinde, a. ulnaris kasın volarinde.</a:t>
            </a:r>
          </a:p>
          <a:p>
            <a:pPr algn="l">
              <a:spcAft>
                <a:spcPts val="300"/>
              </a:spcAft>
            </a:pPr>
            <a:r>
              <a:rPr sz="1600" b="0" i="0">
                <a:solidFill>
                  <a:srgbClr val="1F2A44"/>
                </a:solidFill>
                <a:latin typeface="Calibri"/>
              </a:rPr>
              <a:t>• Küçük parmak abduksiyonu sırasında dinamik US, asemptomatik varyantı sıkıştıran varyanttan ayırır.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Saran S., Reddy P. S., Shirodkar K. et al. Unveiling Guyon’s Canal: Insights into Clinical Anatomy, Pathology, and Imaging. Diagnostics (Basel). 2025 Feb 28;15(5):592. doi: 10.3390/diagnostics15050592 PMCID: PMC11899079.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Lunotriquetral koalisyon ve os styloideum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Lotter ve ark., Eplasty 2010; Nicolodi ve ark., Radiol Bras 2017</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EL</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eplasty10e47_fig1.jpg"/>
          <p:cNvPicPr>
            <a:picLocks noChangeAspect="1"/>
          </p:cNvPicPr>
          <p:nvPr/>
        </p:nvPicPr>
        <p:blipFill>
          <a:blip r:embed="rId2"/>
          <a:stretch>
            <a:fillRect/>
          </a:stretch>
        </p:blipFill>
        <p:spPr>
          <a:xfrm>
            <a:off x="274320" y="1234440"/>
            <a:ext cx="2292111" cy="2426941"/>
          </a:xfrm>
          <a:prstGeom prst="rect">
            <a:avLst/>
          </a:prstGeom>
        </p:spPr>
      </p:pic>
      <p:sp>
        <p:nvSpPr>
          <p:cNvPr id="8" name="TextBox 7"/>
          <p:cNvSpPr txBox="1"/>
          <p:nvPr/>
        </p:nvSpPr>
        <p:spPr>
          <a:xfrm>
            <a:off x="91439" y="3661381"/>
            <a:ext cx="265787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Lotter O. ve ark., 2010 (PMC2893531, CC BY)</a:t>
            </a:r>
          </a:p>
        </p:txBody>
      </p:sp>
      <p:pic>
        <p:nvPicPr>
          <p:cNvPr id="9" name="Picture 8" descr="rb-50-03-0200-g01.jpg"/>
          <p:cNvPicPr>
            <a:picLocks noChangeAspect="1"/>
          </p:cNvPicPr>
          <p:nvPr/>
        </p:nvPicPr>
        <p:blipFill>
          <a:blip r:embed="rId3"/>
          <a:stretch>
            <a:fillRect/>
          </a:stretch>
        </p:blipFill>
        <p:spPr>
          <a:xfrm>
            <a:off x="2703591" y="1234440"/>
            <a:ext cx="3834368" cy="2426941"/>
          </a:xfrm>
          <a:prstGeom prst="rect">
            <a:avLst/>
          </a:prstGeom>
        </p:spPr>
      </p:pic>
      <p:sp>
        <p:nvSpPr>
          <p:cNvPr id="10" name="TextBox 9"/>
          <p:cNvSpPr txBox="1"/>
          <p:nvPr/>
        </p:nvSpPr>
        <p:spPr>
          <a:xfrm>
            <a:off x="2520711" y="3661381"/>
            <a:ext cx="420012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Nicolodi G. C. ve ark., 2017 (PMC5487237,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Sol: AP grafide lunotriquetral koalisyon (Minnaar Tip II) – şekilde etiket yok</a:t>
            </a:r>
          </a:p>
          <a:p>
            <a:pPr algn="l">
              <a:spcAft>
                <a:spcPts val="300"/>
              </a:spcAft>
            </a:pPr>
            <a:r>
              <a:rPr sz="1600" b="0" i="0">
                <a:solidFill>
                  <a:srgbClr val="1F2A44"/>
                </a:solidFill>
                <a:latin typeface="Calibri"/>
              </a:rPr>
              <a:t>• Sağ: A grafi, B–C 3B ve aksiyel BT (os styloideum trapezoideum ile kaynaşmış), D T1 MR</a:t>
            </a:r>
          </a:p>
        </p:txBody>
      </p:sp>
      <p:sp>
        <p:nvSpPr>
          <p:cNvPr id="13" name="TextBox 12"/>
          <p:cNvSpPr txBox="1"/>
          <p:nvPr/>
        </p:nvSpPr>
        <p:spPr>
          <a:xfrm>
            <a:off x="6720840" y="27797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127248"/>
            <a:ext cx="5257800" cy="2162048"/>
          </a:xfrm>
          <a:prstGeom prst="rect">
            <a:avLst/>
          </a:prstGeom>
          <a:noFill/>
        </p:spPr>
        <p:txBody>
          <a:bodyPr wrap="square">
            <a:spAutoFit/>
          </a:bodyPr>
          <a:lstStyle/>
          <a:p>
            <a:pPr algn="l">
              <a:spcAft>
                <a:spcPts val="300"/>
              </a:spcAft>
            </a:pPr>
            <a:r>
              <a:rPr sz="1600" b="0" i="0">
                <a:solidFill>
                  <a:srgbClr val="1F2A44"/>
                </a:solidFill>
                <a:latin typeface="Calibri"/>
              </a:rPr>
              <a:t>• Lunotriquetral koalisyon karpal füzyonların </a:t>
            </a:r>
            <a:r>
              <a:rPr sz="1600" b="0" i="0">
                <a:solidFill>
                  <a:srgbClr val="1F2A44"/>
                </a:solidFill>
                <a:latin typeface="Calibri"/>
              </a:rPr>
              <a:t>~%90</a:t>
            </a:r>
            <a:r>
              <a:rPr sz="1600" b="0" i="0">
                <a:solidFill>
                  <a:srgbClr val="1F2A44"/>
                </a:solidFill>
                <a:latin typeface="Calibri"/>
              </a:rPr>
              <a:t>'ını oluşturur; genel prevalans </a:t>
            </a:r>
            <a:r>
              <a:rPr sz="1600" b="0" i="0">
                <a:solidFill>
                  <a:srgbClr val="1F2A44"/>
                </a:solidFill>
                <a:latin typeface="Calibri"/>
              </a:rPr>
              <a:t>%0,1, Afrikalılarda </a:t>
            </a:r>
            <a:r>
              <a:rPr sz="1600" b="0" i="0">
                <a:solidFill>
                  <a:srgbClr val="1F2A44"/>
                </a:solidFill>
                <a:latin typeface="Calibri"/>
              </a:rPr>
              <a:t>100 kat daha sık (aktarılan); kadınlarda 2:1.</a:t>
            </a:r>
          </a:p>
          <a:p>
            <a:pPr algn="l">
              <a:spcAft>
                <a:spcPts val="300"/>
              </a:spcAft>
            </a:pPr>
            <a:r>
              <a:rPr sz="1600" b="0" i="0">
                <a:solidFill>
                  <a:srgbClr val="1F2A44"/>
                </a:solidFill>
                <a:latin typeface="Calibri"/>
              </a:rPr>
              <a:t>• Os styloideum çoğunlukla (%94,0) 2.–3. metakarp tabanıyla kaynaşır; trapezoideum ile füzyon yalnız %0,5 (aktarılan).</a:t>
            </a:r>
          </a:p>
          <a:p>
            <a:pPr algn="l">
              <a:spcAft>
                <a:spcPts val="300"/>
              </a:spcAft>
            </a:pPr>
            <a:r>
              <a:rPr sz="1600" b="0" i="0">
                <a:solidFill>
                  <a:srgbClr val="1F2A44"/>
                </a:solidFill>
                <a:latin typeface="Calibri"/>
              </a:rPr>
              <a:t>• Karpal 'boss' sendromu ve el sırtında kemik çıkıntısı ayırıcı tanısı.</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Lotter O., Stahl S., Luz O. et al. CASE REPORT Bilateral Paradoxically Symptomatic Luno-triquetral Coalition: A Case Report. Eplasty. 2010 Jun 23;10:e47. PMCID: PMC2893531. Lisans: CC BY.  •  Nicolodi G. C., Trippia C. R., Caboclo M. F. F. S. et al. Carpal boss syndrome: os styloideum fused to the trapezoid. Radiol Bras. 2017 May-Jun;50(3):200–1. doi: 10.1590/0100-3984.2015.0160 PMCID: PMC5487237.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Sınırlılıklar ve kalite kontrol</a:t>
            </a:r>
          </a:p>
        </p:txBody>
      </p:sp>
      <p:sp>
        <p:nvSpPr>
          <p:cNvPr id="4" name="TextBox 3"/>
          <p:cNvSpPr txBox="1"/>
          <p:nvPr/>
        </p:nvSpPr>
        <p:spPr>
          <a:xfrm>
            <a:off x="365760" y="1097280"/>
            <a:ext cx="11430000" cy="5120640"/>
          </a:xfrm>
          <a:prstGeom prst="rect">
            <a:avLst/>
          </a:prstGeom>
          <a:noFill/>
        </p:spPr>
        <p:txBody>
          <a:bodyPr wrap="square">
            <a:spAutoFit/>
          </a:bodyPr>
          <a:lstStyle/>
          <a:p>
            <a:pPr algn="l">
              <a:spcAft>
                <a:spcPts val="300"/>
              </a:spcAft>
            </a:pPr>
            <a:r>
              <a:rPr sz="1500" b="0" i="0">
                <a:solidFill>
                  <a:srgbClr val="1F2A44"/>
                </a:solidFill>
                <a:latin typeface="Calibri"/>
              </a:rPr>
              <a:t>• </a:t>
            </a:r>
            <a:r>
              <a:rPr sz="1500" b="0" i="0">
                <a:solidFill>
                  <a:srgbClr val="1F2A44"/>
                </a:solidFill>
                <a:latin typeface="Calibri"/>
              </a:rPr>
              <a:t>Düzey eşleştirme</a:t>
            </a:r>
            <a:r>
              <a:rPr sz="1500" b="0" i="0">
                <a:solidFill>
                  <a:srgbClr val="1F2A44"/>
                </a:solidFill>
                <a:latin typeface="Calibri"/>
              </a:rPr>
              <a:t> NLM kesit numarasına dayanır (Ackerman 1995; Spitzer ve ark. 1996); yalnız düzlem içi hizalama hesaplanmıştır.</a:t>
            </a:r>
          </a:p>
          <a:p>
            <a:pPr algn="l">
              <a:spcAft>
                <a:spcPts val="300"/>
              </a:spcAft>
            </a:pPr>
            <a:r>
              <a:rPr sz="1500" b="0" i="0">
                <a:solidFill>
                  <a:srgbClr val="1F2A44"/>
                </a:solidFill>
                <a:latin typeface="Calibri"/>
              </a:rPr>
              <a:t>• </a:t>
            </a:r>
            <a:r>
              <a:rPr sz="1500" b="0" i="0">
                <a:solidFill>
                  <a:srgbClr val="1F2A44"/>
                </a:solidFill>
                <a:latin typeface="Calibri"/>
              </a:rPr>
              <a:t>BT görüş alanı</a:t>
            </a:r>
            <a:r>
              <a:rPr sz="1500" b="0" i="0">
                <a:solidFill>
                  <a:srgbClr val="1F2A44"/>
                </a:solidFill>
                <a:latin typeface="Calibri"/>
              </a:rPr>
              <a:t> (480 mm) kol ortasından dirseğe kadar kolu kısmen dışarıda bırakır: 1490–1645 düzeylerinde BT etiketlenmemiştir.</a:t>
            </a:r>
          </a:p>
          <a:p>
            <a:pPr algn="l">
              <a:spcAft>
                <a:spcPts val="300"/>
              </a:spcAft>
            </a:pPr>
            <a:r>
              <a:rPr sz="1500" b="0" i="0">
                <a:solidFill>
                  <a:srgbClr val="1F2A44"/>
                </a:solidFill>
                <a:latin typeface="Calibri"/>
              </a:rPr>
              <a:t>• </a:t>
            </a:r>
            <a:r>
              <a:rPr sz="1500" b="0" i="0">
                <a:solidFill>
                  <a:srgbClr val="1F2A44"/>
                </a:solidFill>
                <a:latin typeface="Calibri"/>
              </a:rPr>
              <a:t>MR:</a:t>
            </a:r>
            <a:r>
              <a:rPr sz="1500" b="0" i="0">
                <a:solidFill>
                  <a:srgbClr val="1F2A44"/>
                </a:solidFill>
                <a:latin typeface="Calibri"/>
              </a:rPr>
              <a:t> VHP-M aksiyel MR yalnız başı kapsar; ekstremite MR/US örnekleri farklı bireylerden alınmış literatür görselleridir (aynı kişi değildir).</a:t>
            </a:r>
          </a:p>
          <a:p>
            <a:pPr algn="l">
              <a:spcAft>
                <a:spcPts val="300"/>
              </a:spcAft>
            </a:pPr>
            <a:r>
              <a:rPr sz="1500" b="0" i="0">
                <a:solidFill>
                  <a:srgbClr val="1F2A44"/>
                </a:solidFill>
                <a:latin typeface="Calibri"/>
              </a:rPr>
              <a:t>• </a:t>
            </a:r>
            <a:r>
              <a:rPr sz="1500" b="0" i="0">
                <a:solidFill>
                  <a:srgbClr val="1F2A44"/>
                </a:solidFill>
                <a:latin typeface="Calibri"/>
              </a:rPr>
              <a:t>Etiketler:</a:t>
            </a:r>
            <a:r>
              <a:rPr sz="1500" b="0" i="0">
                <a:solidFill>
                  <a:srgbClr val="1F2A44"/>
                </a:solidFill>
                <a:latin typeface="Calibri"/>
              </a:rPr>
              <a:t> kaynak piksel koordinatında tanımlanmış, kemik etiketleri kemik maskesine yapıştırılmış, slaytlar PNG'ye dönüştürülüp görsel olarak denetlenmiştir (kesitsel/qa/). Tek tek karpal kemikler, ayrı sinirler ve yüzeyel venler bilinçli olarak etiketlenmemiştir.</a:t>
            </a:r>
          </a:p>
          <a:p>
            <a:pPr algn="l">
              <a:spcAft>
                <a:spcPts val="300"/>
              </a:spcAft>
            </a:pPr>
            <a:r>
              <a:rPr sz="1500" b="0" i="0">
                <a:solidFill>
                  <a:srgbClr val="1F2A44"/>
                </a:solidFill>
                <a:latin typeface="Calibri"/>
              </a:rPr>
              <a:t>• </a:t>
            </a:r>
            <a:r>
              <a:rPr sz="1500" b="0" i="0">
                <a:solidFill>
                  <a:srgbClr val="1F2A44"/>
                </a:solidFill>
                <a:latin typeface="Calibri"/>
              </a:rPr>
              <a:t>Önkol ve el kesitleri</a:t>
            </a:r>
            <a:r>
              <a:rPr sz="1500" b="0" i="0">
                <a:solidFill>
                  <a:srgbClr val="1F2A44"/>
                </a:solidFill>
                <a:latin typeface="Calibri"/>
              </a:rPr>
              <a:t> kadavranın pozisyonu (pronasyon, el uyluğa yaslı) nedeniyle eğiktir.</a:t>
            </a:r>
          </a:p>
          <a:p>
            <a:pPr algn="l">
              <a:spcAft>
                <a:spcPts val="300"/>
              </a:spcAft>
            </a:pPr>
            <a:r>
              <a:rPr sz="1500" b="0" i="0">
                <a:solidFill>
                  <a:srgbClr val="1F2A44"/>
                </a:solidFill>
                <a:latin typeface="Calibri"/>
              </a:rPr>
              <a:t>• </a:t>
            </a:r>
            <a:r>
              <a:rPr sz="1500" b="0" i="0">
                <a:solidFill>
                  <a:srgbClr val="1F2A44"/>
                </a:solidFill>
                <a:latin typeface="Calibri"/>
              </a:rPr>
              <a:t>Boylamsal reformat</a:t>
            </a:r>
            <a:r>
              <a:rPr sz="1500" b="0" i="0">
                <a:solidFill>
                  <a:srgbClr val="1F2A44"/>
                </a:solidFill>
                <a:latin typeface="Calibri"/>
              </a:rPr>
              <a:t> doğrulanmış kemik merkezleri arasında enterpolasyonla çizilmiş bir yol boyunca örneklenmiştir; blok sınırlarında süreksizlik vardır.</a:t>
            </a:r>
          </a:p>
          <a:p>
            <a:pPr algn="l">
              <a:spcAft>
                <a:spcPts val="300"/>
              </a:spcAft>
            </a:pPr>
            <a:r>
              <a:rPr sz="1500" b="0" i="0">
                <a:solidFill>
                  <a:srgbClr val="1F2A44"/>
                </a:solidFill>
                <a:latin typeface="Calibri"/>
              </a:rPr>
              <a:t>• Tüm etiketler ve özetler eğitim amaçlıdır; bir anatomi öğretim üyesince gözden geçirilmesi önerilir.</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Spitzer V, et al. J Am Med Inform Assoc 1996;3(2):118–130 • Ackerman MJ. D-Lib Magazine 1995 • Fedorov A, et al. RadioGraphics 2023;43(12):e230180.</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(1)</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Szaro Pawel, McGrath Alexandra, Ciszek Bogdan et al. Magnetic resonance imaging of the brachial plexus. Part 1: Anatomical considerations, magnetic resonance techniques, and non-traumatic lesions. </a:t>
            </a:r>
            <a:r>
              <a:rPr sz="1300" b="0" i="0">
                <a:solidFill>
                  <a:srgbClr val="1F2A44"/>
                </a:solidFill>
                <a:latin typeface="Calibri"/>
              </a:rPr>
              <a:t>European Journal of Radiology Open</a:t>
            </a:r>
            <a:r>
              <a:rPr sz="1300" b="0" i="0">
                <a:solidFill>
                  <a:srgbClr val="1F2A44"/>
                </a:solidFill>
                <a:latin typeface="Calibri"/>
              </a:rPr>
              <a:t> 2021. doi:10.1016/j.ejro.2021.100392 – PMC8695258 – </a:t>
            </a:r>
            <a:r>
              <a:rPr sz="1300" b="0" i="0">
                <a:solidFill>
                  <a:srgbClr val="1F2A44"/>
                </a:solidFill>
                <a:latin typeface="Calibri"/>
              </a:rPr>
              <a:t>CC BY</a:t>
            </a:r>
          </a:p>
          <a:p>
            <a:pPr algn="l">
              <a:spcAft>
                <a:spcPts val="300"/>
              </a:spcAft>
            </a:pPr>
            <a:r>
              <a:rPr sz="1300" b="0" i="0">
                <a:solidFill>
                  <a:srgbClr val="1F2A44"/>
                </a:solidFill>
                <a:latin typeface="Calibri"/>
              </a:rPr>
              <a:t>• Kadi Redouane, Milants Annemieke, Shahabpour Maryam Shoulder Anatomy and Normal Variants. </a:t>
            </a:r>
            <a:r>
              <a:rPr sz="1300" b="0" i="0">
                <a:solidFill>
                  <a:srgbClr val="1F2A44"/>
                </a:solidFill>
                <a:latin typeface="Calibri"/>
              </a:rPr>
              <a:t>Journal of the Belgian Society of Radiology</a:t>
            </a:r>
            <a:r>
              <a:rPr sz="1300" b="0" i="0">
                <a:solidFill>
                  <a:srgbClr val="1F2A44"/>
                </a:solidFill>
                <a:latin typeface="Calibri"/>
              </a:rPr>
              <a:t> 2017. doi:10.5334/jbr-btr.1467 – PMC6251069 – </a:t>
            </a:r>
            <a:r>
              <a:rPr sz="1300" b="0" i="0">
                <a:solidFill>
                  <a:srgbClr val="1F2A44"/>
                </a:solidFill>
                <a:latin typeface="Calibri"/>
              </a:rPr>
              <a:t>CC BY</a:t>
            </a:r>
          </a:p>
          <a:p>
            <a:pPr algn="l">
              <a:spcAft>
                <a:spcPts val="300"/>
              </a:spcAft>
            </a:pPr>
            <a:r>
              <a:rPr sz="1300" b="0" i="0">
                <a:solidFill>
                  <a:srgbClr val="1F2A44"/>
                </a:solidFill>
                <a:latin typeface="Calibri"/>
              </a:rPr>
              <a:t>• Tan SP, Fairbairn KJ, Kirk JE et al. Shoulder ultrasound. </a:t>
            </a:r>
            <a:r>
              <a:rPr sz="1300" b="0" i="0">
                <a:solidFill>
                  <a:srgbClr val="1F2A44"/>
                </a:solidFill>
                <a:latin typeface="Calibri"/>
              </a:rPr>
              <a:t>Biomedical Imaging and Intervention Journal</a:t>
            </a:r>
            <a:r>
              <a:rPr sz="1300" b="0" i="0">
                <a:solidFill>
                  <a:srgbClr val="1F2A44"/>
                </a:solidFill>
                <a:latin typeface="Calibri"/>
              </a:rPr>
              <a:t> 2006. doi:10.2349/biij.2.4.e58 – PMC3097811 – </a:t>
            </a:r>
            <a:r>
              <a:rPr sz="1300" b="0" i="0">
                <a:solidFill>
                  <a:srgbClr val="1F2A44"/>
                </a:solidFill>
                <a:latin typeface="Calibri"/>
              </a:rPr>
              <a:t>CC BY</a:t>
            </a:r>
          </a:p>
          <a:p>
            <a:pPr algn="l">
              <a:spcAft>
                <a:spcPts val="300"/>
              </a:spcAft>
            </a:pPr>
            <a:r>
              <a:rPr sz="1300" b="0" i="0">
                <a:solidFill>
                  <a:srgbClr val="1F2A44"/>
                </a:solidFill>
                <a:latin typeface="Calibri"/>
              </a:rPr>
              <a:t>• Leonhard Vanessa, Caldwell Gregory, Goh Mei et al. Ultrasonographic Diagnosis of Thoracic Outlet Syndrome Secondary to Brachial Plexus Piercing Variation. </a:t>
            </a:r>
            <a:r>
              <a:rPr sz="1300" b="0" i="0">
                <a:solidFill>
                  <a:srgbClr val="1F2A44"/>
                </a:solidFill>
                <a:latin typeface="Calibri"/>
              </a:rPr>
              <a:t>Diagnostics</a:t>
            </a:r>
            <a:r>
              <a:rPr sz="1300" b="0" i="0">
                <a:solidFill>
                  <a:srgbClr val="1F2A44"/>
                </a:solidFill>
                <a:latin typeface="Calibri"/>
              </a:rPr>
              <a:t> 2017. doi:10.3390/diagnostics7030040 – PMC5617940 – </a:t>
            </a:r>
            <a:r>
              <a:rPr sz="1300" b="0" i="0">
                <a:solidFill>
                  <a:srgbClr val="1F2A44"/>
                </a:solidFill>
                <a:latin typeface="Calibri"/>
              </a:rPr>
              <a:t>CC BY</a:t>
            </a:r>
          </a:p>
          <a:p>
            <a:pPr algn="l">
              <a:spcAft>
                <a:spcPts val="300"/>
              </a:spcAft>
            </a:pPr>
            <a:r>
              <a:rPr sz="1300" b="0" i="0">
                <a:solidFill>
                  <a:srgbClr val="1F2A44"/>
                </a:solidFill>
                <a:latin typeface="Calibri"/>
              </a:rPr>
              <a:t>• Fischer Cornelius Sebastian, Floß Matthias, Ittermann Till et al. Os acromiale: prevalence and associated patient-related factors—a population-based study of three thousand and fifty participants. </a:t>
            </a:r>
            <a:r>
              <a:rPr sz="1300" b="0" i="0">
                <a:solidFill>
                  <a:srgbClr val="1F2A44"/>
                </a:solidFill>
                <a:latin typeface="Calibri"/>
              </a:rPr>
              <a:t>International Orthopaedics</a:t>
            </a:r>
            <a:r>
              <a:rPr sz="1300" b="0" i="0">
                <a:solidFill>
                  <a:srgbClr val="1F2A44"/>
                </a:solidFill>
                <a:latin typeface="Calibri"/>
              </a:rPr>
              <a:t> 2022. doi:10.1007/s00264-022-05406-0 – PMC9166870 – </a:t>
            </a:r>
            <a:r>
              <a:rPr sz="1300" b="0" i="0">
                <a:solidFill>
                  <a:srgbClr val="1F2A44"/>
                </a:solidFill>
                <a:latin typeface="Calibri"/>
              </a:rPr>
              <a:t>CC BY</a:t>
            </a:r>
          </a:p>
          <a:p>
            <a:pPr algn="l">
              <a:spcAft>
                <a:spcPts val="300"/>
              </a:spcAft>
            </a:pPr>
            <a:r>
              <a:rPr sz="1300" b="0" i="0">
                <a:solidFill>
                  <a:srgbClr val="1F2A44"/>
                </a:solidFill>
                <a:latin typeface="Calibri"/>
              </a:rPr>
              <a:t>• Birsel Olgar, Yığman Gizem Timoçin, Günerbüyük Caner et al. Prevalence of os acromiale and concomitant rotator cuff tears: a focused assessment of 3697 shoulder magnetic resonance imagings. </a:t>
            </a:r>
            <a:r>
              <a:rPr sz="1300" b="0" i="0">
                <a:solidFill>
                  <a:srgbClr val="1F2A44"/>
                </a:solidFill>
                <a:latin typeface="Calibri"/>
              </a:rPr>
              <a:t>Acta Orthopaedica et Traumatologica Turcica</a:t>
            </a:r>
            <a:r>
              <a:rPr sz="1300" b="0" i="0">
                <a:solidFill>
                  <a:srgbClr val="1F2A44"/>
                </a:solidFill>
                <a:latin typeface="Calibri"/>
              </a:rPr>
              <a:t> 2026. doi:10.5152/j.aott.2026.25714 – PMC13051579 – </a:t>
            </a:r>
            <a:r>
              <a:rPr sz="1300" b="0" i="0">
                <a:solidFill>
                  <a:srgbClr val="1F2A44"/>
                </a:solidFill>
                <a:latin typeface="Calibri"/>
              </a:rPr>
              <a:t>CC BY-NC</a:t>
            </a:r>
          </a:p>
          <a:p>
            <a:pPr algn="l">
              <a:spcAft>
                <a:spcPts val="300"/>
              </a:spcAft>
            </a:pPr>
            <a:r>
              <a:rPr sz="1300" b="0" i="0">
                <a:solidFill>
                  <a:srgbClr val="1F2A44"/>
                </a:solidFill>
                <a:latin typeface="Calibri"/>
              </a:rPr>
              <a:t>• Benes Michal, Kachlik David, Kopp Lubomir et al. Prevalence of the anterosuperior capsulolabral anatomical variations and their association with pathologies of the glenoid labrum: a systematic review and meta-analysis. </a:t>
            </a:r>
            <a:r>
              <a:rPr sz="1300" b="0" i="0">
                <a:solidFill>
                  <a:srgbClr val="1F2A44"/>
                </a:solidFill>
                <a:latin typeface="Calibri"/>
              </a:rPr>
              <a:t>Archives of Orthopaedic and Trauma Surgery</a:t>
            </a:r>
            <a:r>
              <a:rPr sz="1300" b="0" i="0">
                <a:solidFill>
                  <a:srgbClr val="1F2A44"/>
                </a:solidFill>
                <a:latin typeface="Calibri"/>
              </a:rPr>
              <a:t> 2023. doi:10.1007/s00402-023-04932-9 – PMC10491707 – </a:t>
            </a:r>
            <a:r>
              <a:rPr sz="1300" b="0" i="0">
                <a:solidFill>
                  <a:srgbClr val="1F2A44"/>
                </a:solidFill>
                <a:latin typeface="Calibri"/>
              </a:rPr>
              <a:t>CC BY</a:t>
            </a:r>
          </a:p>
          <a:p>
            <a:pPr algn="l">
              <a:spcAft>
                <a:spcPts val="300"/>
              </a:spcAft>
            </a:pPr>
            <a:r>
              <a:rPr sz="1300" b="0" i="0">
                <a:solidFill>
                  <a:srgbClr val="1F2A44"/>
                </a:solidFill>
                <a:latin typeface="Calibri"/>
              </a:rPr>
              <a:t>• Polguj Michał, Sibiński Marcin, Grzegorzewski Andrzej et al. Suprascapular Notch Asymmetry: A Study on 311 Patients. </a:t>
            </a:r>
            <a:r>
              <a:rPr sz="1300" b="0" i="0">
                <a:solidFill>
                  <a:srgbClr val="1F2A44"/>
                </a:solidFill>
                <a:latin typeface="Calibri"/>
              </a:rPr>
              <a:t>BioMed Research International</a:t>
            </a:r>
            <a:r>
              <a:rPr sz="1300" b="0" i="0">
                <a:solidFill>
                  <a:srgbClr val="1F2A44"/>
                </a:solidFill>
                <a:latin typeface="Calibri"/>
              </a:rPr>
              <a:t> 2014. doi:10.1155/2014/196896 – PMC4044447 – </a:t>
            </a:r>
            <a:r>
              <a:rPr sz="13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(2)</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Zhu Weijuan, Zhou Riyong, Chen Lulu et al. The ultrasound-guided selective nerve block in the upper arm: an approach of retaining the motor function in elbow. </a:t>
            </a:r>
            <a:r>
              <a:rPr sz="1300" b="0" i="0">
                <a:solidFill>
                  <a:srgbClr val="1F2A44"/>
                </a:solidFill>
                <a:latin typeface="Calibri"/>
              </a:rPr>
              <a:t>BMC Anesthesiology</a:t>
            </a:r>
            <a:r>
              <a:rPr sz="1300" b="0" i="0">
                <a:solidFill>
                  <a:srgbClr val="1F2A44"/>
                </a:solidFill>
                <a:latin typeface="Calibri"/>
              </a:rPr>
              <a:t> 2018. doi:10.1186/s12871-018-0584-7 – PMC6195720 – </a:t>
            </a:r>
            <a:r>
              <a:rPr sz="1300" b="0" i="0">
                <a:solidFill>
                  <a:srgbClr val="1F2A44"/>
                </a:solidFill>
                <a:latin typeface="Calibri"/>
              </a:rPr>
              <a:t>CC BY</a:t>
            </a:r>
          </a:p>
          <a:p>
            <a:pPr algn="l">
              <a:spcAft>
                <a:spcPts val="300"/>
              </a:spcAft>
            </a:pPr>
            <a:r>
              <a:rPr sz="1300" b="0" i="0">
                <a:solidFill>
                  <a:srgbClr val="1F2A44"/>
                </a:solidFill>
                <a:latin typeface="Calibri"/>
              </a:rPr>
              <a:t>• Agarwal Aakanksha, Chandra Abhishek, Jaipal Usha et al. A panorama of radial nerve pathologies- an imaging diagnosis: a step ahead. </a:t>
            </a:r>
            <a:r>
              <a:rPr sz="1300" b="0" i="0">
                <a:solidFill>
                  <a:srgbClr val="1F2A44"/>
                </a:solidFill>
                <a:latin typeface="Calibri"/>
              </a:rPr>
              <a:t>Insights into Imaging</a:t>
            </a:r>
            <a:r>
              <a:rPr sz="1300" b="0" i="0">
                <a:solidFill>
                  <a:srgbClr val="1F2A44"/>
                </a:solidFill>
                <a:latin typeface="Calibri"/>
              </a:rPr>
              <a:t> 2018. doi:10.1007/s13244-018-0662-x – PMC6269333 – </a:t>
            </a:r>
            <a:r>
              <a:rPr sz="1300" b="0" i="0">
                <a:solidFill>
                  <a:srgbClr val="1F2A44"/>
                </a:solidFill>
                <a:latin typeface="Calibri"/>
              </a:rPr>
              <a:t>CC BY</a:t>
            </a:r>
          </a:p>
          <a:p>
            <a:pPr algn="l">
              <a:spcAft>
                <a:spcPts val="300"/>
              </a:spcAft>
            </a:pPr>
            <a:r>
              <a:rPr sz="1300" b="0" i="0">
                <a:solidFill>
                  <a:srgbClr val="1F2A44"/>
                </a:solidFill>
                <a:latin typeface="Calibri"/>
              </a:rPr>
              <a:t>• Xiao Ted G., Cartwright Michael S. Ultrasound in the Evaluation of Radial Neuropathies at the Elbow. </a:t>
            </a:r>
            <a:r>
              <a:rPr sz="1300" b="0" i="0">
                <a:solidFill>
                  <a:srgbClr val="1F2A44"/>
                </a:solidFill>
                <a:latin typeface="Calibri"/>
              </a:rPr>
              <a:t>Frontiers in Neurology</a:t>
            </a:r>
            <a:r>
              <a:rPr sz="1300" b="0" i="0">
                <a:solidFill>
                  <a:srgbClr val="1F2A44"/>
                </a:solidFill>
                <a:latin typeface="Calibri"/>
              </a:rPr>
              <a:t> 2019. doi:10.3389/fneur.2019.00216 – PMC6423902 – </a:t>
            </a:r>
            <a:r>
              <a:rPr sz="1300" b="0" i="0">
                <a:solidFill>
                  <a:srgbClr val="1F2A44"/>
                </a:solidFill>
                <a:latin typeface="Calibri"/>
              </a:rPr>
              <a:t>CC BY</a:t>
            </a:r>
          </a:p>
          <a:p>
            <a:pPr algn="l">
              <a:spcAft>
                <a:spcPts val="300"/>
              </a:spcAft>
            </a:pPr>
            <a:r>
              <a:rPr sz="1300" b="0" i="0">
                <a:solidFill>
                  <a:srgbClr val="1F2A44"/>
                </a:solidFill>
                <a:latin typeface="Calibri"/>
              </a:rPr>
              <a:t>• Albano Domenico, Di Rocco Gabriella, Gitto Salvatore et al. Imaging of elbow entrapment neuropathies. </a:t>
            </a:r>
            <a:r>
              <a:rPr sz="1300" b="0" i="0">
                <a:solidFill>
                  <a:srgbClr val="1F2A44"/>
                </a:solidFill>
                <a:latin typeface="Calibri"/>
              </a:rPr>
              <a:t>Insights into Imaging</a:t>
            </a:r>
            <a:r>
              <a:rPr sz="1300" b="0" i="0">
                <a:solidFill>
                  <a:srgbClr val="1F2A44"/>
                </a:solidFill>
                <a:latin typeface="Calibri"/>
              </a:rPr>
              <a:t> 2025. doi:10.1186/s13244-025-01901-1 – PMC11780019 – </a:t>
            </a:r>
            <a:r>
              <a:rPr sz="1300" b="0" i="0">
                <a:solidFill>
                  <a:srgbClr val="1F2A44"/>
                </a:solidFill>
                <a:latin typeface="Calibri"/>
              </a:rPr>
              <a:t>CC BY</a:t>
            </a:r>
          </a:p>
          <a:p>
            <a:pPr algn="l">
              <a:spcAft>
                <a:spcPts val="300"/>
              </a:spcAft>
            </a:pPr>
            <a:r>
              <a:rPr sz="1300" b="0" i="0">
                <a:solidFill>
                  <a:srgbClr val="1F2A44"/>
                </a:solidFill>
                <a:latin typeface="Calibri"/>
              </a:rPr>
              <a:t>• Mangi Mohammad Danish, Zadow Steven, Lim WanYin Nerve entrapment syndromes of the upper limb: a pictorial review. </a:t>
            </a:r>
            <a:r>
              <a:rPr sz="1300" b="0" i="0">
                <a:solidFill>
                  <a:srgbClr val="1F2A44"/>
                </a:solidFill>
                <a:latin typeface="Calibri"/>
              </a:rPr>
              <a:t>Insights into Imaging</a:t>
            </a:r>
            <a:r>
              <a:rPr sz="1300" b="0" i="0">
                <a:solidFill>
                  <a:srgbClr val="1F2A44"/>
                </a:solidFill>
                <a:latin typeface="Calibri"/>
              </a:rPr>
              <a:t> 2022. doi:10.1186/s13244-022-01305-5 – PMC9556688 – </a:t>
            </a:r>
            <a:r>
              <a:rPr sz="1300" b="0" i="0">
                <a:solidFill>
                  <a:srgbClr val="1F2A44"/>
                </a:solidFill>
                <a:latin typeface="Calibri"/>
              </a:rPr>
              <a:t>CC BY</a:t>
            </a:r>
          </a:p>
          <a:p>
            <a:pPr algn="l">
              <a:spcAft>
                <a:spcPts val="300"/>
              </a:spcAft>
            </a:pPr>
            <a:r>
              <a:rPr sz="1300" b="0" i="0">
                <a:solidFill>
                  <a:srgbClr val="1F2A44"/>
                </a:solidFill>
                <a:latin typeface="Calibri"/>
              </a:rPr>
              <a:t>• França Mariana Jordão, França Graciliano José, Takahashi Luciana Akemi et al. Assessment of anatomic variations of the brachial artery bifurcation using vascular Doppler ultrasound: a cross-sectional study. </a:t>
            </a:r>
            <a:r>
              <a:rPr sz="1300" b="0" i="0">
                <a:solidFill>
                  <a:srgbClr val="1F2A44"/>
                </a:solidFill>
                <a:latin typeface="Calibri"/>
              </a:rPr>
              <a:t>Jornal Vascular Brasileiro</a:t>
            </a:r>
            <a:r>
              <a:rPr sz="1300" b="0" i="0">
                <a:solidFill>
                  <a:srgbClr val="1F2A44"/>
                </a:solidFill>
                <a:latin typeface="Calibri"/>
              </a:rPr>
              <a:t> 2024. doi:10.1590/1677-5449.202301172 – PMC11042541 – </a:t>
            </a:r>
            <a:r>
              <a:rPr sz="1300" b="0" i="0">
                <a:solidFill>
                  <a:srgbClr val="1F2A44"/>
                </a:solidFill>
                <a:latin typeface="Calibri"/>
              </a:rPr>
              <a:t>CC BY</a:t>
            </a:r>
          </a:p>
          <a:p>
            <a:pPr algn="l">
              <a:spcAft>
                <a:spcPts val="300"/>
              </a:spcAft>
            </a:pPr>
            <a:r>
              <a:rPr sz="1300" b="0" i="0">
                <a:solidFill>
                  <a:srgbClr val="1F2A44"/>
                </a:solidFill>
                <a:latin typeface="Calibri"/>
              </a:rPr>
              <a:t>• Boyle Alex B, MacLean Simon BM Classification system for partial distal biceps tendon tears: a descriptive 3-Tesla magnetic resonance imaging study of tear morphology. </a:t>
            </a:r>
            <a:r>
              <a:rPr sz="1300" b="0" i="0">
                <a:solidFill>
                  <a:srgbClr val="1F2A44"/>
                </a:solidFill>
                <a:latin typeface="Calibri"/>
              </a:rPr>
              <a:t>Clinics in Shoulder and Elbow</a:t>
            </a:r>
            <a:r>
              <a:rPr sz="1300" b="0" i="0">
                <a:solidFill>
                  <a:srgbClr val="1F2A44"/>
                </a:solidFill>
                <a:latin typeface="Calibri"/>
              </a:rPr>
              <a:t> 2023. doi:10.5397/cise.2023.00458 – PMC10698130 – </a:t>
            </a:r>
            <a:r>
              <a:rPr sz="1300" b="0" i="0">
                <a:solidFill>
                  <a:srgbClr val="1F2A44"/>
                </a:solidFill>
                <a:latin typeface="Calibri"/>
              </a:rPr>
              <a:t>CC BY-NC</a:t>
            </a:r>
          </a:p>
          <a:p>
            <a:pPr algn="l">
              <a:spcAft>
                <a:spcPts val="300"/>
              </a:spcAft>
            </a:pPr>
            <a:r>
              <a:rPr sz="1300" b="0" i="0">
                <a:solidFill>
                  <a:srgbClr val="1F2A44"/>
                </a:solidFill>
                <a:latin typeface="Calibri"/>
              </a:rPr>
              <a:t>• Borges Áurea V. R. Mohana, Souza Sergio A. L Anatomy of the nerves, vessels, and muscular compartments of the forearm, as revealed by high-resolution ultrasound. Part 1: overall structure and forearm compartments. </a:t>
            </a:r>
            <a:r>
              <a:rPr sz="1300" b="0" i="0">
                <a:solidFill>
                  <a:srgbClr val="1F2A44"/>
                </a:solidFill>
                <a:latin typeface="Calibri"/>
              </a:rPr>
              <a:t>Radiologia Brasileira</a:t>
            </a:r>
            <a:r>
              <a:rPr sz="1300" b="0" i="0">
                <a:solidFill>
                  <a:srgbClr val="1F2A44"/>
                </a:solidFill>
                <a:latin typeface="Calibri"/>
              </a:rPr>
              <a:t> 2021. doi:10.1590/0100-3984.2021.0030 – PMC8630951 – </a:t>
            </a:r>
            <a:r>
              <a:rPr sz="13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(3)</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Acosta Batlle José, Cerezal Luis, López Parra María Dolores et al. The elbow: review of anatomy and common collateral ligament complex pathology using MRI. </a:t>
            </a:r>
            <a:r>
              <a:rPr sz="1300" b="0" i="0">
                <a:solidFill>
                  <a:srgbClr val="1F2A44"/>
                </a:solidFill>
                <a:latin typeface="Calibri"/>
              </a:rPr>
              <a:t>Insights into Imaging</a:t>
            </a:r>
            <a:r>
              <a:rPr sz="1300" b="0" i="0">
                <a:solidFill>
                  <a:srgbClr val="1F2A44"/>
                </a:solidFill>
                <a:latin typeface="Calibri"/>
              </a:rPr>
              <a:t> 2019. doi:10.1186/s13244-019-0725-7 – PMC6447645 – </a:t>
            </a:r>
            <a:r>
              <a:rPr sz="1300" b="0" i="0">
                <a:solidFill>
                  <a:srgbClr val="1F2A44"/>
                </a:solidFill>
                <a:latin typeface="Calibri"/>
              </a:rPr>
              <a:t>CC BY</a:t>
            </a:r>
          </a:p>
          <a:p>
            <a:pPr algn="l">
              <a:spcAft>
                <a:spcPts val="300"/>
              </a:spcAft>
            </a:pPr>
            <a:r>
              <a:rPr sz="1300" b="0" i="0">
                <a:solidFill>
                  <a:srgbClr val="1F2A44"/>
                </a:solidFill>
                <a:latin typeface="Calibri"/>
              </a:rPr>
              <a:t>• Ferre-Martinez Andrea, Miguel-Pérez Maribel, Möller Ingrid et al. Possible Points of Ulnar Nerve Entrapment in the Arm and Forearm: An Ultrasound, Anatomical, and Histological Study. </a:t>
            </a:r>
            <a:r>
              <a:rPr sz="1300" b="0" i="0">
                <a:solidFill>
                  <a:srgbClr val="1F2A44"/>
                </a:solidFill>
                <a:latin typeface="Calibri"/>
              </a:rPr>
              <a:t>Diagnostics</a:t>
            </a:r>
            <a:r>
              <a:rPr sz="1300" b="0" i="0">
                <a:solidFill>
                  <a:srgbClr val="1F2A44"/>
                </a:solidFill>
                <a:latin typeface="Calibri"/>
              </a:rPr>
              <a:t> 2023. doi:10.3390/diagnostics13071332 – PMC10093241 – </a:t>
            </a:r>
            <a:r>
              <a:rPr sz="1300" b="0" i="0">
                <a:solidFill>
                  <a:srgbClr val="1F2A44"/>
                </a:solidFill>
                <a:latin typeface="Calibri"/>
              </a:rPr>
              <a:t>CC BY</a:t>
            </a:r>
          </a:p>
          <a:p>
            <a:pPr algn="l">
              <a:spcAft>
                <a:spcPts val="300"/>
              </a:spcAft>
            </a:pPr>
            <a:r>
              <a:rPr sz="1300" b="0" i="0">
                <a:solidFill>
                  <a:srgbClr val="1F2A44"/>
                </a:solidFill>
                <a:latin typeface="Calibri"/>
              </a:rPr>
              <a:t>• Borges Áurea V. R. Mohana, Souza Sergio A. L Anatomy of the nerves, vessels, and muscular compartments of the forearm, as revealed by high-resolution ultrasound. Part 2: vascularization of compartments and cutaneous innervation. </a:t>
            </a:r>
            <a:r>
              <a:rPr sz="1300" b="0" i="0">
                <a:solidFill>
                  <a:srgbClr val="1F2A44"/>
                </a:solidFill>
                <a:latin typeface="Calibri"/>
              </a:rPr>
              <a:t>Radiologia Brasileira</a:t>
            </a:r>
            <a:r>
              <a:rPr sz="1300" b="0" i="0">
                <a:solidFill>
                  <a:srgbClr val="1F2A44"/>
                </a:solidFill>
                <a:latin typeface="Calibri"/>
              </a:rPr>
              <a:t> 2021. doi:10.1590/0100-3984.2021.0031 – PMC8630952 – </a:t>
            </a:r>
            <a:r>
              <a:rPr sz="1300" b="0" i="0">
                <a:solidFill>
                  <a:srgbClr val="1F2A44"/>
                </a:solidFill>
                <a:latin typeface="Calibri"/>
              </a:rPr>
              <a:t>CC BY</a:t>
            </a:r>
          </a:p>
          <a:p>
            <a:pPr algn="l">
              <a:spcAft>
                <a:spcPts val="300"/>
              </a:spcAft>
            </a:pPr>
            <a:r>
              <a:rPr sz="1300" b="0" i="0">
                <a:solidFill>
                  <a:srgbClr val="1F2A44"/>
                </a:solidFill>
                <a:latin typeface="Calibri"/>
              </a:rPr>
              <a:t>• Elsner Clara, Kunz Andreas Steven, Wagner Nicole et al. MRI-Based Evaluation of the Flexor Digitorum Superficialis Anatomy: Investigating the Prevalence and Morphometry of the “Chiasma Antebrachii”. </a:t>
            </a:r>
            <a:r>
              <a:rPr sz="1300" b="0" i="0">
                <a:solidFill>
                  <a:srgbClr val="1F2A44"/>
                </a:solidFill>
                <a:latin typeface="Calibri"/>
              </a:rPr>
              <a:t>Diagnostics</a:t>
            </a:r>
            <a:r>
              <a:rPr sz="1300" b="0" i="0">
                <a:solidFill>
                  <a:srgbClr val="1F2A44"/>
                </a:solidFill>
                <a:latin typeface="Calibri"/>
              </a:rPr>
              <a:t> 2023. doi:10.3390/diagnostics13142406 – PMC10378300 – </a:t>
            </a:r>
            <a:r>
              <a:rPr sz="1300" b="0" i="0">
                <a:solidFill>
                  <a:srgbClr val="1F2A44"/>
                </a:solidFill>
                <a:latin typeface="Calibri"/>
              </a:rPr>
              <a:t>CC BY</a:t>
            </a:r>
          </a:p>
          <a:p>
            <a:pPr algn="l">
              <a:spcAft>
                <a:spcPts val="300"/>
              </a:spcAft>
            </a:pPr>
            <a:r>
              <a:rPr sz="1300" b="0" i="0">
                <a:solidFill>
                  <a:srgbClr val="1F2A44"/>
                </a:solidFill>
                <a:latin typeface="Calibri"/>
              </a:rPr>
              <a:t>• Akkoc R. F., Aksu F., Emre E. et al. The prevalence and distribution of the flexor carpi radialis brevis muscle in the Turkish population. </a:t>
            </a:r>
            <a:r>
              <a:rPr sz="1300" b="0" i="0">
                <a:solidFill>
                  <a:srgbClr val="1F2A44"/>
                </a:solidFill>
                <a:latin typeface="Calibri"/>
              </a:rPr>
              <a:t>Scientific Reports</a:t>
            </a:r>
            <a:r>
              <a:rPr sz="1300" b="0" i="0">
                <a:solidFill>
                  <a:srgbClr val="1F2A44"/>
                </a:solidFill>
                <a:latin typeface="Calibri"/>
              </a:rPr>
              <a:t> 2022. doi:10.1038/s41598-021-04445-8 – PMC8748762 – </a:t>
            </a:r>
            <a:r>
              <a:rPr sz="1300" b="0" i="0">
                <a:solidFill>
                  <a:srgbClr val="1F2A44"/>
                </a:solidFill>
                <a:latin typeface="Calibri"/>
              </a:rPr>
              <a:t>CC BY</a:t>
            </a:r>
          </a:p>
          <a:p>
            <a:pPr algn="l">
              <a:spcAft>
                <a:spcPts val="300"/>
              </a:spcAft>
            </a:pPr>
            <a:r>
              <a:rPr sz="1300" b="0" i="0">
                <a:solidFill>
                  <a:srgbClr val="1F2A44"/>
                </a:solidFill>
                <a:latin typeface="Calibri"/>
              </a:rPr>
              <a:t>• Chavez Victor B., Smith Dean W. MRI Analysis of the Wrist: Does the Presence of Palmaris Longus Affect Median Nerve Position? </a:t>
            </a:r>
            <a:r>
              <a:rPr sz="1300" b="0" i="0">
                <a:solidFill>
                  <a:srgbClr val="1F2A44"/>
                </a:solidFill>
                <a:latin typeface="Calibri"/>
              </a:rPr>
              <a:t>Hand (New York, N.Y.)</a:t>
            </a:r>
            <a:r>
              <a:rPr sz="1300" b="0" i="0">
                <a:solidFill>
                  <a:srgbClr val="1F2A44"/>
                </a:solidFill>
                <a:latin typeface="Calibri"/>
              </a:rPr>
              <a:t> 2025. doi:10.1177/15589447251314145 – PMC11783411 – </a:t>
            </a:r>
            <a:r>
              <a:rPr sz="1300" b="0" i="0">
                <a:solidFill>
                  <a:srgbClr val="1F2A44"/>
                </a:solidFill>
                <a:latin typeface="Calibri"/>
              </a:rPr>
              <a:t>CC BY</a:t>
            </a:r>
          </a:p>
          <a:p>
            <a:pPr algn="l">
              <a:spcAft>
                <a:spcPts val="300"/>
              </a:spcAft>
            </a:pPr>
            <a:r>
              <a:rPr sz="1300" b="0" i="0">
                <a:solidFill>
                  <a:srgbClr val="1F2A44"/>
                </a:solidFill>
                <a:latin typeface="Calibri"/>
              </a:rPr>
              <a:t>• Lee Sang-Uk, Kim Min-Wook, Kim Jae Min Ultrasound Diagnosis of Double Crush Syndrome of the Ulnar Nerve by the Anconeus Epitrochlearis and a Ganglion. </a:t>
            </a:r>
            <a:r>
              <a:rPr sz="1300" b="0" i="0">
                <a:solidFill>
                  <a:srgbClr val="1F2A44"/>
                </a:solidFill>
                <a:latin typeface="Calibri"/>
              </a:rPr>
              <a:t>Journal of Korean Neurosurgical Society</a:t>
            </a:r>
            <a:r>
              <a:rPr sz="1300" b="0" i="0">
                <a:solidFill>
                  <a:srgbClr val="1F2A44"/>
                </a:solidFill>
                <a:latin typeface="Calibri"/>
              </a:rPr>
              <a:t> 2016. doi:10.3340/jkns.2016.59.1.75 – PMC4754593 – </a:t>
            </a:r>
            <a:r>
              <a:rPr sz="1300" b="0" i="0">
                <a:solidFill>
                  <a:srgbClr val="1F2A44"/>
                </a:solidFill>
                <a:latin typeface="Calibri"/>
              </a:rPr>
              <a:t>CC BY-NC</a:t>
            </a:r>
          </a:p>
          <a:p>
            <a:pPr algn="l">
              <a:spcAft>
                <a:spcPts val="300"/>
              </a:spcAft>
            </a:pPr>
            <a:r>
              <a:rPr sz="1300" b="0" i="0">
                <a:solidFill>
                  <a:srgbClr val="1F2A44"/>
                </a:solidFill>
                <a:latin typeface="Calibri"/>
              </a:rPr>
              <a:t>• ERÇAKMAK GÜNEŞ B., VATANSEVER A., DEMİRYÜREK D. et al. Tendon of Flexor Carpi Radialis in carpal tunnel: a radiologic and cadaveric study. </a:t>
            </a:r>
            <a:r>
              <a:rPr sz="1300" b="0" i="0">
                <a:solidFill>
                  <a:srgbClr val="1F2A44"/>
                </a:solidFill>
                <a:latin typeface="Calibri"/>
              </a:rPr>
              <a:t>Turkish Journal of Medical Sciences</a:t>
            </a:r>
            <a:r>
              <a:rPr sz="1300" b="0" i="0">
                <a:solidFill>
                  <a:srgbClr val="1F2A44"/>
                </a:solidFill>
                <a:latin typeface="Calibri"/>
              </a:rPr>
              <a:t> 2021. doi:10.3906/sag-2012-31 – PMC8569728 – </a:t>
            </a:r>
            <a:r>
              <a:rPr sz="13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(4)</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Wu W. T., Chang K. V., Hsu Y. C. et al. Ultrasound Imaging and Guidance for Distal Peripheral Nerve Pathologies at the Wrist/Hand. </a:t>
            </a:r>
            <a:r>
              <a:rPr sz="1300" b="0" i="0">
                <a:solidFill>
                  <a:srgbClr val="1F2A44"/>
                </a:solidFill>
                <a:latin typeface="Calibri"/>
              </a:rPr>
              <a:t>Diagnostics</a:t>
            </a:r>
            <a:r>
              <a:rPr sz="1300" b="0" i="0">
                <a:solidFill>
                  <a:srgbClr val="1F2A44"/>
                </a:solidFill>
                <a:latin typeface="Calibri"/>
              </a:rPr>
              <a:t> 2023. doi:10.3390/diagnostics13111928 – PMC10253229 – </a:t>
            </a:r>
            <a:r>
              <a:rPr sz="1300" b="0" i="0">
                <a:solidFill>
                  <a:srgbClr val="1F2A44"/>
                </a:solidFill>
                <a:latin typeface="Calibri"/>
              </a:rPr>
              <a:t>CC BY</a:t>
            </a:r>
          </a:p>
          <a:p>
            <a:pPr algn="l">
              <a:spcAft>
                <a:spcPts val="300"/>
              </a:spcAft>
            </a:pPr>
            <a:r>
              <a:rPr sz="1300" b="0" i="0">
                <a:solidFill>
                  <a:srgbClr val="1F2A44"/>
                </a:solidFill>
                <a:latin typeface="Calibri"/>
              </a:rPr>
              <a:t>• Saran S., Reddy P. S., Shirodkar K. et al. Unveiling Guyon’s Canal: Insights into Clinical Anatomy, Pathology, and Imaging. </a:t>
            </a:r>
            <a:r>
              <a:rPr sz="1300" b="0" i="0">
                <a:solidFill>
                  <a:srgbClr val="1F2A44"/>
                </a:solidFill>
                <a:latin typeface="Calibri"/>
              </a:rPr>
              <a:t>Diagnostics</a:t>
            </a:r>
            <a:r>
              <a:rPr sz="1300" b="0" i="0">
                <a:solidFill>
                  <a:srgbClr val="1F2A44"/>
                </a:solidFill>
                <a:latin typeface="Calibri"/>
              </a:rPr>
              <a:t> 2025. doi:10.3390/diagnostics15050592 – PMC11899079 – </a:t>
            </a:r>
            <a:r>
              <a:rPr sz="1300" b="0" i="0">
                <a:solidFill>
                  <a:srgbClr val="1F2A44"/>
                </a:solidFill>
                <a:latin typeface="Calibri"/>
              </a:rPr>
              <a:t>CC BY</a:t>
            </a:r>
          </a:p>
          <a:p>
            <a:pPr algn="l">
              <a:spcAft>
                <a:spcPts val="300"/>
              </a:spcAft>
            </a:pPr>
            <a:r>
              <a:rPr sz="1300" b="0" i="0">
                <a:solidFill>
                  <a:srgbClr val="1F2A44"/>
                </a:solidFill>
                <a:latin typeface="Calibri"/>
              </a:rPr>
              <a:t>• von Borstel D., Wang M., Small K. et al. High-Resolution 3T MR Imaging of the Triangular Fibrocartilage Complex. </a:t>
            </a:r>
            <a:r>
              <a:rPr sz="1300" b="0" i="0">
                <a:solidFill>
                  <a:srgbClr val="1F2A44"/>
                </a:solidFill>
                <a:latin typeface="Calibri"/>
              </a:rPr>
              <a:t>Magnetic Resonance in Medical Sciences</a:t>
            </a:r>
            <a:r>
              <a:rPr sz="1300" b="0" i="0">
                <a:solidFill>
                  <a:srgbClr val="1F2A44"/>
                </a:solidFill>
                <a:latin typeface="Calibri"/>
              </a:rPr>
              <a:t> 2016. doi:10.2463/mrms.rev.2016-0011 – PMC5600038 – </a:t>
            </a:r>
            <a:r>
              <a:rPr sz="1300" b="0" i="0">
                <a:solidFill>
                  <a:srgbClr val="1F2A44"/>
                </a:solidFill>
                <a:latin typeface="Calibri"/>
              </a:rPr>
              <a:t>CC BY</a:t>
            </a:r>
          </a:p>
          <a:p>
            <a:pPr algn="l">
              <a:spcAft>
                <a:spcPts val="300"/>
              </a:spcAft>
            </a:pPr>
            <a:r>
              <a:rPr sz="1300" b="0" i="0">
                <a:solidFill>
                  <a:srgbClr val="1F2A44"/>
                </a:solidFill>
                <a:latin typeface="Calibri"/>
              </a:rPr>
              <a:t>• Coronel L., Mandl P., Miguel-Pérez M. et al. Characterization of digital annular pulleys and their entheses: an ultrasonographic study with anatomical and histological correlations. </a:t>
            </a:r>
            <a:r>
              <a:rPr sz="1300" b="0" i="0">
                <a:solidFill>
                  <a:srgbClr val="1F2A44"/>
                </a:solidFill>
                <a:latin typeface="Calibri"/>
              </a:rPr>
              <a:t>Rheumatology (Oxford, England)</a:t>
            </a:r>
            <a:r>
              <a:rPr sz="1300" b="0" i="0">
                <a:solidFill>
                  <a:srgbClr val="1F2A44"/>
                </a:solidFill>
                <a:latin typeface="Calibri"/>
              </a:rPr>
              <a:t> 2023. doi:10.1093/rheumatology/kead614 – PMC11534144 – </a:t>
            </a:r>
            <a:r>
              <a:rPr sz="1300" b="0" i="0">
                <a:solidFill>
                  <a:srgbClr val="1F2A44"/>
                </a:solidFill>
                <a:latin typeface="Calibri"/>
              </a:rPr>
              <a:t>CC BY</a:t>
            </a:r>
          </a:p>
          <a:p>
            <a:pPr algn="l">
              <a:spcAft>
                <a:spcPts val="300"/>
              </a:spcAft>
            </a:pPr>
            <a:r>
              <a:rPr sz="1300" b="0" i="0">
                <a:solidFill>
                  <a:srgbClr val="1F2A44"/>
                </a:solidFill>
                <a:latin typeface="Calibri"/>
              </a:rPr>
              <a:t>• Fenech M. Boxer's knuckle: Sonographic anatomy and assessment of sagittal band tears of the dorsal hood. </a:t>
            </a:r>
            <a:r>
              <a:rPr sz="1300" b="0" i="0">
                <a:solidFill>
                  <a:srgbClr val="1F2A44"/>
                </a:solidFill>
                <a:latin typeface="Calibri"/>
              </a:rPr>
              <a:t>Australasian Journal of Ultrasound in Medicine</a:t>
            </a:r>
            <a:r>
              <a:rPr sz="1300" b="0" i="0">
                <a:solidFill>
                  <a:srgbClr val="1F2A44"/>
                </a:solidFill>
                <a:latin typeface="Calibri"/>
              </a:rPr>
              <a:t> 2023. doi:10.1002/ajum.12363 – PMC10716571 – </a:t>
            </a:r>
            <a:r>
              <a:rPr sz="1300" b="0" i="0">
                <a:solidFill>
                  <a:srgbClr val="1F2A44"/>
                </a:solidFill>
                <a:latin typeface="Calibri"/>
              </a:rPr>
              <a:t>CC BY</a:t>
            </a:r>
          </a:p>
          <a:p>
            <a:pPr algn="l">
              <a:spcAft>
                <a:spcPts val="300"/>
              </a:spcAft>
            </a:pPr>
            <a:r>
              <a:rPr sz="1300" b="0" i="0">
                <a:solidFill>
                  <a:srgbClr val="1F2A44"/>
                </a:solidFill>
                <a:latin typeface="Calibri"/>
              </a:rPr>
              <a:t>• Chen L., Chen J., Hu B. et al. Sonographic Findings of the Bifid Median Nerve and Persistent Median Artery in Carpal Tunnel: A Preliminary Study in Chinese Individuals. </a:t>
            </a:r>
            <a:r>
              <a:rPr sz="1300" b="0" i="0">
                <a:solidFill>
                  <a:srgbClr val="1F2A44"/>
                </a:solidFill>
                <a:latin typeface="Calibri"/>
              </a:rPr>
              <a:t>Clinics</a:t>
            </a:r>
            <a:r>
              <a:rPr sz="1300" b="0" i="0">
                <a:solidFill>
                  <a:srgbClr val="1F2A44"/>
                </a:solidFill>
                <a:latin typeface="Calibri"/>
              </a:rPr>
              <a:t> 2017. doi:10.6061/clinics/2017(06)05 – PMC5463256 – </a:t>
            </a:r>
            <a:r>
              <a:rPr sz="1300" b="0" i="0">
                <a:solidFill>
                  <a:srgbClr val="1F2A44"/>
                </a:solidFill>
                <a:latin typeface="Calibri"/>
              </a:rPr>
              <a:t>CC BY</a:t>
            </a:r>
          </a:p>
          <a:p>
            <a:pPr algn="l">
              <a:spcAft>
                <a:spcPts val="300"/>
              </a:spcAft>
            </a:pPr>
            <a:r>
              <a:rPr sz="1300" b="0" i="0">
                <a:solidFill>
                  <a:srgbClr val="1F2A44"/>
                </a:solidFill>
                <a:latin typeface="Calibri"/>
              </a:rPr>
              <a:t>• Petrover D., Bellity J., Vigan M. et al. Ultrasound imaging of the thenar motor branch of the median nerve: a cadaveric study. </a:t>
            </a:r>
            <a:r>
              <a:rPr sz="1300" b="0" i="0">
                <a:solidFill>
                  <a:srgbClr val="1F2A44"/>
                </a:solidFill>
                <a:latin typeface="Calibri"/>
              </a:rPr>
              <a:t>European Radiology</a:t>
            </a:r>
            <a:r>
              <a:rPr sz="1300" b="0" i="0">
                <a:solidFill>
                  <a:srgbClr val="1F2A44"/>
                </a:solidFill>
                <a:latin typeface="Calibri"/>
              </a:rPr>
              <a:t> 2017. doi:10.1007/s00330-017-4882-0 – PMC5635084 – </a:t>
            </a:r>
            <a:r>
              <a:rPr sz="1300" b="0" i="0">
                <a:solidFill>
                  <a:srgbClr val="1F2A44"/>
                </a:solidFill>
                <a:latin typeface="Calibri"/>
              </a:rPr>
              <a:t>CC BY</a:t>
            </a:r>
          </a:p>
          <a:p>
            <a:pPr algn="l">
              <a:spcAft>
                <a:spcPts val="300"/>
              </a:spcAft>
            </a:pPr>
            <a:r>
              <a:rPr sz="1300" b="0" i="0">
                <a:solidFill>
                  <a:srgbClr val="1F2A44"/>
                </a:solidFill>
                <a:latin typeface="Calibri"/>
              </a:rPr>
              <a:t>• Lotter O., Stahl S., Luz O. et al. CASE REPORT Bilateral Paradoxically Symptomatic Luno-triquetral Coalition: A Case Report. </a:t>
            </a:r>
            <a:r>
              <a:rPr sz="1300" b="0" i="0">
                <a:solidFill>
                  <a:srgbClr val="1F2A44"/>
                </a:solidFill>
                <a:latin typeface="Calibri"/>
              </a:rPr>
              <a:t>Eplasty</a:t>
            </a:r>
            <a:r>
              <a:rPr sz="1300" b="0" i="0">
                <a:solidFill>
                  <a:srgbClr val="1F2A44"/>
                </a:solidFill>
                <a:latin typeface="Calibri"/>
              </a:rPr>
              <a:t> 2010. doi:None – PMC2893531 – </a:t>
            </a:r>
            <a:r>
              <a:rPr sz="13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(5)</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Nicolodi G. C., Trippia C. R., Caboclo M. F. F. S. et al. Carpal boss syndrome: os styloideum fused to the trapezoid. </a:t>
            </a:r>
            <a:r>
              <a:rPr sz="1300" b="0" i="0">
                <a:solidFill>
                  <a:srgbClr val="1F2A44"/>
                </a:solidFill>
                <a:latin typeface="Calibri"/>
              </a:rPr>
              <a:t>Radiologia Brasileira</a:t>
            </a:r>
            <a:r>
              <a:rPr sz="1300" b="0" i="0">
                <a:solidFill>
                  <a:srgbClr val="1F2A44"/>
                </a:solidFill>
                <a:latin typeface="Calibri"/>
              </a:rPr>
              <a:t> 2017. doi:10.1590/0100-3984.2015.0160 – PMC5487237 – </a:t>
            </a:r>
            <a:r>
              <a:rPr sz="13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