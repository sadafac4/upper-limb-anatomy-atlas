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Chin Hung-Yen, Peng Chih-Wei, Wu Ming-Ping et al. Attachment of the levator ani muscle extends to the superior ramus of the pubic bone through electrophysiological and anatomical examinations. Sci Rep. 2021 May 4;11:9483. doi: 10.1038/s41598-021-89041-6 PMCID: PMC8096964. Lisans: CC BY.</a:t>
            </a:r>
          </a:p>
          <a:p>
            <a:r>
              <a:t>Altyazı: Photographs of the inner side of a hemipelvis with the intact obturator fascia. (A) The arcus tendinous levator ani (ATLA) is located within the obturator fascia and attached from the ischial spine to the inferior border of the superior ramus of the pubic bone. The arcus tendineus fasciae pelvis (ATFP) is located between the urinary bladder and obturator fascia and is attached from the ischial spine to the inferior border of the pubic symphysis (PS) in the right pelvis. (B) The obturator fascia can be separated from the obturator internus muscle through the obturator canal in the right pelvis. (C) The margins of the obturator fascia can also be identified through finger insertion into the space between the obturator fascia and obturator internus muscle in the left pelvis. (D) The obturator fascia in the left pelvis of male. (E) The thickness of obturator fascia of male is significantly thinner than that of female. The obturator canal is labeled by a circle. *p &lt; 0.01.</a:t>
            </a:r>
          </a:p>
          <a:p>
            <a:r>
              <a:t>Chin Hung-Yen, Peng Chih-Wei, Wu Ming-Ping et al. Attachment of the levator ani muscle extends to the superior ramus of the pubic bone through electrophysiological and anatomical examinations. Sci Rep. 2021 May 4;11:9483. doi: 10.1038/s41598-021-89041-6 PMCID: PMC8096964. Lisans: CC BY.</a:t>
            </a:r>
          </a:p>
          <a:p>
            <a:r>
              <a:t>Altyazı: Photographs presenting the levator ani muscle (LAM) fascia fused with the obturator fascia above the arcus tendinous levator ani (ATLA). (A) Photographs of the right side of the hemipelvis with a reflected obturator fascia and an exposed obturator internus muscle (OIM). Detaching the obturator fascia would detach puborectalis muscle (PRM) of the LAM and destroy the muscle fibers of the OIM only above the ATLA. (B) Whole-body frontal section displaying the fascia of the LAM fused with the obturator fascia above the ATLA. Arrows indicate the fusion site of the LAM fascia with the obturator fascia. The obturator canal is labeled by a circle. IAF ischioanal fossa, Rc rectum, Ut uterus.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Suriyut Janyaruk, Muro Satoru, Baramee Phichaya et al. Various significant connections of the male pelvic floor muscles with special reference to the anal and urethral sphincter muscles. Anat Sci Int. 2019 Dec 23;95(3):305–12. doi: 10.1007/s12565-019-00521-2 PMCID: PMC7182620. Lisans: CC BY.</a:t>
            </a:r>
          </a:p>
          <a:p>
            <a:r>
              <a:t>Altyazı: Pelvic floor muscle. a Pelvic floor muscle on the lateral aspect, which is composed of the IC, BS, STP, EAS, and LA. The star represents the lateral tendon of the STP; white and black arrows, the connection among the STP, BS, and EAS; black asterisk, the connection between the BS and EAS. b After the lateral reflections of the STP, the white and black arrowheads represent the anterior and posterior muscle bundle of the LA, respectively; white asterisk, the connection between the LA and BS; black triangle, the connection between the STP and LA; circle, the blending point between the LA and EAS. ACL anococcygeal ligament, BS bulbospongiosus, EAS external anal sphincter, IC ischiocavernosus, LA levator ani muscle, STP superficial transverse perineal; yellow arrow, anal opening</a:t>
            </a:r>
          </a:p>
          <a:p>
            <a:r>
              <a:t>Suriyut Janyaruk, Muro Satoru, Baramee Phichaya et al. Various significant connections of the male pelvic floor muscles with special reference to the anal and urethral sphincter muscles. Anat Sci Int. 2019 Dec 23;95(3):305–12. doi: 10.1007/s12565-019-00521-2 PMCID: PMC7182620. Lisans: CC BY.</a:t>
            </a:r>
          </a:p>
          <a:p>
            <a:r>
              <a:t>Altyazı: The muscle bundle of the LA extended to the coccyx via the ACL (white triangle). ACL anococcygeal ligament, EAS external anal sphincter, IC ischiocavernosus, LA levator ani muscle, STP superficial transverse perineal; yellow arrow, anal opening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Baramee Phichaya, Muro Satoru, Suriyut Janyaruk et al. Three muscle slings of the pelvic floor in women: an anatomic study. Anat Sci Int. 2019 Jun 4;95(1):47–53. doi: 10.1007/s12565-019-00492-4 PMCID: PMC6942605. Lisans: CC BY.</a:t>
            </a:r>
          </a:p>
          <a:p>
            <a:r>
              <a:t>Altyazı: Whole pelvis dissection, inferior aspect. The muscle bundle of the BS fuses with the lateral surface of the EAS. The superficial transverse perineal muscle crosses the BS superiorly. STP Superficial transverse perineal muscle</a:t>
            </a:r>
          </a:p>
          <a:p>
            <a:r>
              <a:t>Baramee Phichaya, Muro Satoru, Suriyut Janyaruk et al. Three muscle slings of the pelvic floor in women: an anatomic study. Anat Sci Int. 2019 Jun 4;95(1):47–53. doi: 10.1007/s12565-019-00492-4 PMCID: PMC6942605. Lisans: CC BY.</a:t>
            </a:r>
          </a:p>
          <a:p>
            <a:r>
              <a:t>Altyazı: a Schematic representation of the three muscle slings in the pelvic floor shown from inferior aspect. b The anterior muscular wall of the anal canal from medial aspect. AB Anterior bundle of the anterior part of the LA, ACL anococcygeal ligament, BS bulbospongiosus, EAS external anal sphincter, LA levator ani, PB the posterior bundle of the anterior part of the LA, STP superficial transverse perineal muscle, Sub. EAS subcutaneous part of the EAS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Wu Yi, Dabhoiwala Noshir F., Hagoort Jaco et al. 3D Topography of the Young Adult Anal Sphincter Complex Reconstructed from Undeformed Serial Anatomical Sections. PLoS One. 2015 Aug 25;10(8):e0132226. doi: 10.1371/journal.pone.0132226 PMCID: PMC4549266. Lisans: CC BY.</a:t>
            </a:r>
          </a:p>
          <a:p>
            <a:r>
              <a:t>Altyazı: The architecture of the levator ani muscle.Panel G shows the positions of the transverse sections in panels A-D and that of obliquely sectioned panel E (calculated from reconstruction). The sections show the bilayered make-up of the pubovisceral muscle (A-C) and its attachment to the rectococcygeal muscle (A,B), the extension of the pubovisceral and deep layer of the puborectal muscles to the pubic bone (B,C), the external anal sphincter, the superficial layer of the puborectal muscle, and the conjoint longitudinal muscle of the rectum (C-E), and the rectoperineal muscle (D). Panel E visualizes the successive layers of the anal-sphincter complex, while panel F, a calculated midsagittal section of this specimen, shows the muscles surrounding the anal canal. Panels G and H show reconstructions of the levator and sphincter ani muscles as seen from the left (G) and anterosuperior (H). The color code of the (outlined) structures is shown in S2 Fig and sections without outlines S5 Fig. Abbreviations: AL, anococcygeal ligament; Ant, anterior; B, bladder; Co, coccygeal muscle; EAS, external anal sphincter; GM, gluteus maximus muscle; Post, posterior; PR-D, puborectal muscle, deep portion; PR-S, puborectal muscle, superficial portion; PV, pubovisceral muscle with deep (purple) and superficial (orange) layers; RC, rectococcygeal muscle; U, urethra; R, rectum; V, vagina.</a:t>
            </a:r>
          </a:p>
          <a:p>
            <a:r>
              <a:t>Wu Yi, Dabhoiwala Noshir F., Hagoort Jaco et al. 3D Topography of the Young Adult Anal Sphincter Complex Reconstructed from Undeformed Serial Anatomical Sections. PLoS One. 2015 Aug 25;10(8):e0132226. doi: 10.1371/journal.pone.0132226 PMCID: PMC4549266. Lisans: CC BY.</a:t>
            </a:r>
          </a:p>
          <a:p>
            <a:r>
              <a:t>Altyazı: The architecture of the anal sphincter complex and perineal body.Panel D shows the positions of the sagittal sections of panels A-C. The sections show the position of muscles and the perineal body around the rectum (A: midsagittal; C: most lateral). Panels E and F show a left-lateral and left-anterior view of the muscles surrounding the rectum and vagina that have insertions on the perineal body. The rectococcygeal muscle and anococcygeal ligament are shown in panel E. The bulbospongious muscle is not shown in panel E so as not to hide the perineal body and deep perineal muscle. For the same reason, the vagina and uterus are not shown in panel F. The color code of the (outlined) structures is shown in S2 Fig and sections without outlines in S6 Fig. Abbreviations: AL, anococcygeal ligament; B, bladder; BS, bulbospongious muscle; DP, deep perineal muscle; EAS, external anal sphincter; LR, longitudinal smooth muscle of rectum; PB, perineal body; PR-D, puborectal muscle, deep portion; PR-S, puborectal muscle, superficial portion; Pub: pubic bone; RC, rectococcygeal muscle; RP, rectoperineal muscle; STP, superficial transverse perineal muscle; U, urethra; Ute, uterus; UVS, urethrovaginal sphincter; R, rectum; V, vagina.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Manzini Claudia, van den Noort Frieda, Grob Anique T. M. et al. Appearance of the levator ani muscle subdivisions on 3D transperineal ultrasound. Insights Imaging. 2021 Jul 2;12:91. doi: 10.1186/s13244-021-01037-y PMCID: PMC8253870. Lisans: CC BY.</a:t>
            </a:r>
          </a:p>
          <a:p>
            <a:r>
              <a:t>Altyazı: The 3D model showing the segmented structures: The Pubic bone (PB, grey), external sphincter (ES, brown), puboperineal muscle (PPM, red), puboanal muscle (PAM, orange), pubovaginal muscle (PVM, yellow), puborectal muscle (PRM, green) and iliococcygeal muscle (ICM, blue). A shows the view from caudal to cranial; B shows the view from cranial to caudal. In C, the model is disassembled to appreciate the single structures separately</a:t>
            </a:r>
          </a:p>
          <a:p>
            <a:r>
              <a:t>Manzini Claudia, van den Noort Frieda, Grob Anique T. M. et al. Appearance of the levator ani muscle subdivisions on 3D transperineal ultrasound. Insights Imaging. 2021 Jul 2;12:91. doi: 10.1186/s13244-021-01037-y PMCID: PMC8253870. Lisans: CC BY.</a:t>
            </a:r>
          </a:p>
          <a:p>
            <a:r>
              <a:t>Altyazı: Midsagittal (A and B) and coronal (C and D) plane, without and with segmentation. In B, the C shape of the iliococcygeal muscle (ICM) (blue) surrounding the puborectal muscle (PRM) (green); in D, the round shape of the external sphincter (brown). The red line in B shows the position of the coronal plane and in D, the position of the midsagittal plane (A and B). The ultrasound probe position with respect to the images is indicated by the arrows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Kampelmann Morten, Grindley Carina, Mühlfeld Christian et al. Macroscopical and histological characterization of the perineal membrane and deep perineal pouch. J Anat. 2025 Oct 22;248(5):755–65. doi: 10.1111/joa.70057 PMCID: PMC13069139. Lisans: CC BY.</a:t>
            </a:r>
          </a:p>
          <a:p>
            <a:r>
              <a:t>Altyazı: Perineal regions of (a) female and (b) male donors. Branches of the pudendal artery and nerve partly covering the deep perineal pouch. (1) Ischioanal fossa, (2) levator ani muscle, (3) perineal membrane/deep transverse perineal muscle covered by branches of the internal pudendal artery (inferior rectal artery), as well as branches of the pudendal nerve (perineal nerves and inferior rectal nerves), (4) superficial transverse perineal muscle (only visible in males), (5) ischiocavernous muscle, and (6) bulbospongiosus muscle.</a:t>
            </a:r>
          </a:p>
          <a:p>
            <a:r>
              <a:t>Kampelmann Morten, Grindley Carina, Mühlfeld Christian et al. Macroscopical and histological characterization of the perineal membrane and deep perineal pouch. J Anat. 2025 Oct 22;248(5):755–65. doi: 10.1111/joa.70057 PMCID: PMC13069139. Lisans: CC BY.</a:t>
            </a:r>
          </a:p>
          <a:p>
            <a:r>
              <a:t>Altyazı: Topography of the perineal region in a male. Dorsally, the anal region is formed by the ischioanal fossa (green circle). On the ventral side is the urogenital region with the deep and superficial perineal pouches. The loose connective tissue extends over (cranial) the deep perineal pouch (arrow). (1) levator ani muscle, (2) coccygeus muscle, (3) perineal membrane/deep transverse perineal muscle, (4) ischiocavernosus muscle, and (5) bulbospongiosus muscle.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Kampelmann Morten, Grindley Carina, Mühlfeld Christian et al. Macroscopical and histological characterization of the perineal membrane and deep perineal pouch. J Anat. 2025 Oct 22;248(5):755–65. doi: 10.1111/joa.70057 PMCID: PMC13069139. Lisans: CC BY.</a:t>
            </a:r>
          </a:p>
          <a:p>
            <a:r>
              <a:t>Altyazı: Histological section of (a) female (no. 7 in Table 1) and (b) male (no. 4 in Table) DTPs stained with azan. Transversally running collagen fibers (blue) are predominantly seen. Only limited muscle fibers (red) are visible. Green boxes indicate the counting frame for the stereological analysis. Scale bar: 0.2 Cm. (c, d) Male donor; age at death, 87 years (no. 5 in Table 1). Azan section (c) with subsequent immunofluorescence (d). Acidophilic structures, which were stereologically evaluated as smooth muscles (black arrows), are immunohistochemically positive for smooth muscle actin (white arrows). Merged channels with blue = DAPI and green = smooth muscle actin. Scale bar: 50 μm.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a:p>
            <a:r>
              <a:t>Altyazı: Macroscopic examination of the male perineum. (A) Removal of the skin, fat, and connective tissue reveals the perineal muscles. (B) A slender, band-like muscle extending from the midline to the IPR, identified as the STP. (C) Deeper dissection reveals the PM, a firm, dense connective tissue structure. (D) Removal of the PM exposes the structure, a triangular, plate-like shaped muscle with transverse fibers, continuous with the anterior rectal wall (dashed arrows). BP, bulb of penis; Bs, bulbospongiosus; EAS, external anal sphincter; Ic, ischiocavernosus; IPR, ischiopubic ramus; LA, levator ani; PM, perineal membrane; SM, smooth muscle; STP, superficial transverse perineal muscle; Ur, urethra.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a:p>
            <a:r>
              <a:t>Altyazı: Macroscopic examination of the female perineum. (A) Dissection of the skin, fat, and connective tissue reveals the perineal muscles. (B) A slender, band-like muscle running transversely, identified as the STP, is located posterolateral to the vaginal opening. (C) Deeper dissection reveals the PM. (D) Removal of the PM exposes the structure, a triangular, plate-like shaped muscle with transverse fibers, continuous with the vaginal wall and anterior rectal wall (dashed arrow). BV, bulb of vestibule; Bs, bulbospongiosus; EAS, external anal sphincter; Ic, ischiocavernosus; IPR, ischiopubic ramus; LA, levator ani; PM, perineal membrane; SM, smooth muscle; STP, superficial transverse perineal muscle; Ur, urethra; Va, vagina.</a:t>
            </a:r>
          </a:p>
          <a:p>
            <a: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a:p>
            <a:r>
              <a:t>Altyazı: Schematic view of the pelvic region, seen from an oblique inferior angle. (A) Male pelvic structures. (B) Female pelvic structures. (C) Enlarged view of the male perineum, illustrating the arrangement from superficial to deep layers: the STP, followed by the PM, and then the smooth muscle structure in the deep perineal space, a triangular, plate-like shaped smooth muscle continuous with the rectal wall. (D) Enlarged view of the female perineum, showing the arrangement from superficial to deep layers: the STP, followed by the PM, and then the smooth muscle structure in the deep perineal space, a triangular, plate-like shaped smooth muscle continuous with both the rectal wall and the vaginal wall. Bl, bladder; Bs, bulbospongiosus; EAS, external anal sphincter; EUS, external urethral sphincter; Ic, ischiocavernosus; LM, longitudinal muscle of rectum; PM, perineal membrane; R, rectum; SM, smooth muscle; STP, superficial transverse perineal muscle; Ur, urethra; Va, vagina.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Hinata Nobuyuki, Murakami Gen The Urethral Rhabdosphincter, Levator Ani Muscle, and Perineal Membrane: A Review. Biomed Res Int. 2014 Apr 27;2014:906921. doi: 10.1155/2014/906921 PMCID: PMC4022307. Lisans: CC BY.</a:t>
            </a:r>
          </a:p>
          <a:p>
            <a:r>
              <a:t>Altyazı: A diagram of the levator ani, rhabdosphincter, and perineal membrane in women. Lateral view through the bony pelvis. In the female, the rhabdosphincter is connected with the ischiadic bony ramus by the perineal membrane. The fibers of the levator ani muscle are directed to the external sphincter and anus. In the female, the rhabdosphincter is continuous with the anterior long muscle sheet, the urethrovaginal sphincter (UVS), and the posterolateral small part, the compressor urethrae (CU). These striated muscles are embedded in an elastic-fiber mesh that provides the insertion for the perineal membrane (PM) to the ischiadic bony ramus. The perineal membrane extends anteromedially to a space between the vestibular bulb and the vaginal wall. The levator ani is attached to the superior aspects of the perineal membrane (arrows).</a:t>
            </a:r>
          </a:p>
          <a:p>
            <a:r>
              <a:t>Hinata Nobuyuki, Murakami Gen The Urethral Rhabdosphincter, Levator Ani Muscle, and Perineal Membrane: A Review. Biomed Res Int. 2014 Apr 27;2014:906921. doi: 10.1155/2014/906921 PMCID: PMC4022307. Lisans: CC BY.</a:t>
            </a:r>
          </a:p>
          <a:p>
            <a:r>
              <a:t>Altyazı: Horizontal sections in a 76-year-old woman. Panel (a) (elastica-Masson staining) includes the urethra (UR), crus clitoris (CC), rhabdosphincter (RS), urethrovaginal sphincter (UVS), and levator ani (LA): the anterior side of the body corresponds to the upper side of the figure. Panel (b) (immunohistochemistry for smooth muscle actin) is a higher-magnification view of the square marked B in panel (a), while panel (c) (immunohistochemistry for desmin) and panel (d) (immunohistochemistry for smooth muscle actin) are higher-magnification views of the square marked CD in panel (a). The levator ani is accompanied by a smooth muscle-rich fascia (panel (b)). The urethrovaginal sphincter is composed of striated muscle fibers (positive in panel (c); negative in panel (d)), accompanied by abundant irregular elastic fibers (panel (e)). The rectovaginal septum between the vagina (VAG) and rectum (REC) is replaced by veins. Scales bars: 10 mm in panel (a); 1 mm in panels (b), (c), and (d); 0.1 mm in panel (e).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 Yi, Zhao Ya-Min, Ma Yan-Bing et al. The “Y”-shaped Denonvilliers’ fascia and its adjacent relationship with the urogenital fascia based on a male cadaveric anatomical study. BMC Surg. 2023 Jan 17;23:13. doi: 10.1186/s12893-023-01913-y PMCID: PMC9843937. Lisans: CC BY.</a:t>
            </a:r>
          </a:p>
          <a:p>
            <a:r>
              <a:t>Altyazı: Midsagittal male cadaveric specimens. 1 Visceral layer of the urogenital fascia; 2 peritoneum; 3 peritoneal reflection; 4 Denonvilliers’ fascia; 5 urinary bladder; 6 rectum; 7 seminal vesicles; 8. prostate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Muraoka Kuniyasu, Hinata Nobuyuki, Morizane Shuichi et al. Site-dependent and interindividual variations in Denonvilliers’ fascia: a histological study using donated elderly male cadavers. BMC Urol. 2015 May 12;15:42. doi: 10.1186/s12894-015-0034-5 PMCID: PMC4433060. Lisans: CC BY.</a:t>
            </a:r>
          </a:p>
          <a:p>
            <a:r>
              <a:t>Altyazı: Multiple-leaf configuration of Denonvilliers’ fascia in a midsagittal section from a 79-year-old man. Panel A displays topographical anatomy around Denonvilliers’ fascia (DF). The longitudinal muscle layer of the rectum (LMR) extends inferiorly to continue to the conjoint muscle coat or longitudinal anal muscle (asterisks). The leaves of DF (arrow) are dispersed in a venous plexus (veins) without ending at the rectourethralis muscle (RUM) in this specimen. The insert in the panel A (elastic–Masson staining; a section near panel A) shows rich content of elastic fibers (black color) in the prostatic capsule, DF, and fascia propria of the rectum. Panel B, corresponding to the rectangle in panel A, shows the multiple-leaf configuration of DF. Periprostatic nerves (thin arrows) are scattered between the fascial leaves. A thick leaf of the fascia is fused with the prostatic capsule (capsule) at the site indicated by arrowheads, while the other leaf merges with the fascia propria of the rectum (stars) at a site indicated by thick arrows. BP: bulbus penis; CG: Cowper’s gland, CMR: circular muscle layer of the rectum; EAS: external anal sphincter; IAS: internal anal sphincter; PR: prostate; REC: rectum; RS: rhabdosphincter area; UR: urethra.</a:t>
            </a:r>
          </a:p>
          <a:p>
            <a:r>
              <a:t>Yang Seung Yoon, Kim Ho Seung, Cho Min Soo et al. Three-dimensional anatomy of the Denonvilliers’ fascia after micro-CT reconstruction. Sci Rep. 2021 Nov 5;11:21759. doi: 10.1038/s41598-021-01106-8 PMCID: PMC8571354. Lisans: CC BY.</a:t>
            </a:r>
          </a:p>
          <a:p>
            <a:r>
              <a:t>Altyazı: (A) Three-dimensional anatomy of the hemi-pelvis from a sagittal section reconstructed from micro-computed tomography. (B) Masson trichrome-stained section at the level of the seminal vesicles. Horizontal sections of the Denonvilliers’ fascia (DVF) are indicated by the black arrowheads. (C) Masson trichrome-stained section at the level of the prostate. Horizontal sections of the DVF are indicated by the black arrowheads and of the prostatic capsule is indicated by the red arrowheads. (D) Masson trichrome-stained section of the specimen. The black arrowheads indicate sagittal sections of the DVF, and the black arrow indicates the neurovascular bundle. The distal seminar part of the DVF merging with the prostatic capsule is indicated by the white arrows. UB, urinary bladder; SV, seminal vesicle; P, prostate; R, rectum; S, sagittal; M, medial; A, anterior; P, posterior.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García-Gausí María, García-Armengol Juan, Pellino Gianluca et al. Navigating surgical anatomy of the Denonvilliers’ fascia and dissection planes of the anterior mesorectum with a cadaveric simulation model. Updates Surg. 2022 Mar 14;74(2):629–36. doi: 10.1007/s13304-022-01252-2 PMCID: PMC8995278. Lisans: CC BY.</a:t>
            </a:r>
          </a:p>
          <a:p>
            <a:r>
              <a:t>Altyazı: After cranial anterior dissection of loose areolar tissue, forceps make a traction of Denonvilliers’ fascia like a single and consistent layer that offers a posterior plane with the anterior mesorectum (red arrow), and an anterior plane (yellow arrow) in front of said fascia with the seminal vesicles (SV). Immediately below the seminal vesicles, the fascia adheres firmly to the prostate capsule in all its extension (Den + PC). Den*: Denonvilliers’ fascia extends downward to reach the level of the urogenital diaphragm (colour figure online)</a:t>
            </a:r>
          </a:p>
          <a:p>
            <a:r>
              <a:t>Yang Seung Yoon, Kim Ho Seung, Cho Min Soo et al. Three-dimensional anatomy of the Denonvilliers’ fascia after micro-CT reconstruction. Sci Rep. 2021 Nov 5;11:21759. doi: 10.1038/s41598-021-01106-8 PMCID: PMC8571354. Lisans: CC BY.</a:t>
            </a:r>
          </a:p>
          <a:p>
            <a:r>
              <a:t>Altyazı: Schematic representation of the relationships of the correct surgical plane during an anterior total mesorectal excision to the Denonvilliers’s fascia in the male. The authors would like to thank Dong-Su Jang, MID (Medical Illustration &amp; Design), a part of the Medical Research Support Services of sei University College of Medicine, for all artistic support related to this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 Nam Kyu Anatomic Basis of Sharp Pelvic Dissection for Curative Resection of Rectal Cancer. Yonsei Med J. 2005 Dec 31;46(6):737–49. doi: 10.3349/ymj.2005.46.6.737 PMCID: PMC2810586. Lisans: CC BY-NC.</a:t>
            </a:r>
          </a:p>
          <a:p>
            <a:r>
              <a:t>Altyazı: Cadaveric dissection of hemisectioned pelvis. (A) Presacral fascia covers the presacral vein over the sacrum. (B) The fascia picked up by the forceps is the rectal proper fascia enveloping the mesorectum and the rectum.</a:t>
            </a:r>
          </a:p>
          <a:p>
            <a:r>
              <a:t>Kim Nam Kyu Anatomic Basis of Sharp Pelvic Dissection for Curative Resection of Rectal Cancer. Yonsei Med J. 2005 Dec 31;46(6):737–49. doi: 10.3349/ymj.2005.46.6.737 PMCID: PMC2810586. Lisans: CC BY-NC.</a:t>
            </a:r>
          </a:p>
          <a:p>
            <a:r>
              <a:t>Altyazı: Cadaveric dissection of hemisectioned pelvis; the retrorectal space. The rectosacral fascia is noted in the retrorectal space at the level of 4th sacrum when dissection proceeds along the rectal proper fascial plane.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Garner Danielle K., Patel Akash B., Hung Jun et al. Midline and Mediolateral Episiotomy: Risk Assessment Based on Clinical Anatomy. Diagnostics (Basel). 2021 Feb 2;11(2):221. doi: 10.3390/diagnostics11020221 PMCID: PMC7913006. Lisans: CC BY.</a:t>
            </a:r>
          </a:p>
          <a:p>
            <a:r>
              <a:t>Altyazı: Representative anatomy of the perineum based on our dissections. Most commonly, the perineal body was not a major site of muscle attachment. The bulbospongiosus muscle was continuous with the superficial portion of the external anal sphincter (EAS), both innervated by branches of the perineal nerves. The inferior rectal nerve innervated the subcutaneous EAS and skin around the anus. The bulb of the vestibule extended to the posterior fourchette, with the greater vestibular gland anchored to its posterior margin.</a:t>
            </a:r>
          </a:p>
          <a:p>
            <a:r>
              <a:t>Garner Danielle K., Patel Akash B., Hung Jun et al. Midline and Mediolateral Episiotomy: Risk Assessment Based on Clinical Anatomy. Diagnostics (Basel). 2021 Feb 2;11(2):221. doi: 10.3390/diagnostics11020221 PMCID: PMC7913006. Lisans: CC BY.</a:t>
            </a:r>
          </a:p>
          <a:p>
            <a:r>
              <a:t>Altyazı: Female perineum dissected to reveal all perineal structures accessed by continuing a mediolateral episiotomy incision. The neurovascular bundles contain branches of the superficial (S) and deep (D) perineal nerves and the internal pudendal artery. *Bulb of the vestibule overlain by the bulbospongiosus muscle.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Golden Edwarda, Cooke Siobhan, Butler Elise et al. Under the hood: vulvar anatomy and pathology with a focus on MRI. Abdom Radiol (NY). 2025 Sep 8;51(4):2106–24. doi: 10.1007/s00261-025-05179-1 PMCID: PMC13013239. Lisans: CC BY.</a:t>
            </a:r>
          </a:p>
          <a:p>
            <a:r>
              <a:t>Altyazı: Illustrated depiction of the clitoris. A Inferior view, corresponding to imaging findings in the axial plane. B Sagittal view, corresponding to imaging findings and highlighting the clitoris, surrounding structures, and the three components of the suspensory ligament (46). C Inferior oblique view depicting spatial relationships of the erectile tissues of the clitoris, neurovascular supply, pelvic floor musculature, and the bony pelvis. D Detailed view of the clitoris, bulb of the vestibule, and associated neurovasculature in cross section.Illustration © 2025 Elise Butler</a:t>
            </a:r>
          </a:p>
          <a:p>
            <a:r>
              <a:t>Golden Edwarda, Cooke Siobhan, Butler Elise et al. Under the hood: vulvar anatomy and pathology with a focus on MRI. Abdom Radiol (NY). 2025 Sep 8;51(4):2106–24. doi: 10.1007/s00261-025-05179-1 PMCID: PMC13013239. Lisans: CC BY.</a:t>
            </a:r>
          </a:p>
          <a:p>
            <a:r>
              <a:t>Altyazı: Axial T2WI (Left) and Sagittal T2WI with fat saturation (Right) demonstrating normal anatomy of the clitoris and relationship with surrounding structures in a 67-year-old female undergoing MRI for follow-up of repaired urethral diverticulum. The T2 hyperintense or intermediate vestibular bulbs of the clitoris (black arrows) flank the vaginal introitus (dashed white arrows). The T2 hyperintense crura of the clitoris run inferior to the inferior pubic rami (white arrows) and join anteriorly to form the body of the clitoris (grey arrow). The glans is ovoid in shape and intermediate in signal on T2WI (white arrow heads). The urethra (black dashed arrow) is anterior to the vaginal introitus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Regent Bartosz, Nowak Karolina, Skrobisz Katarzyna et al. MRI of the Scrotum and Penis: Current Applications and Clinical Relevance. Diagnostics (Basel). 2025 Dec 9;15(24):3134. doi: 10.3390/diagnostics15243134 PMCID: PMC12732017. Lisans: CC BY.</a:t>
            </a:r>
          </a:p>
          <a:p>
            <a:r>
              <a:t>Altyazı: Normal penile anatomy on T2-weighted MRI. (a) Sagittal and (b) coronal images. Green arrows indicate the tunica albuginea; yellow arrows denote the urethra centrally located within the corpus spongiosum. The glans penis is marked with a white arrow. Red arrows identify the cavernosal arteries, and the blue arrow highlights the superficial dorsal vein.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Alshoabi Sultan Abdulwadoud, Binnuhaid Abdulkhaleq Ayedh, Magram Abdullatif O. et al. Perianal Fistulae Medical Imaging Maps: A Pictorial Diagnostic Review. Diagnostics (Basel). 2026 Aug 15;16(16):2584. doi: 10.3390/diagnostics16162584 PMCID: PMC13512459. Lisans: CC BY.</a:t>
            </a:r>
          </a:p>
          <a:p>
            <a:r>
              <a:t>Altyazı: The diagram illustrates the anal and perianal anatomy, showing the anal verge (A), anal canal (AC), dentate line (D), anorectal junction (AR), rectum (R), internal anal sphincter (IAS), external anal sphincter (EAS), puborectalis muscle (PR) and levator ani muscle (LA). The diagram also shows the four types of perianal fistulae: intersphincteric fistula (1), transsphincteric fistula (2), suprasphincteric fistula (3), and extrasphincteric fistula (4).</a:t>
            </a:r>
          </a:p>
          <a:p>
            <a:r>
              <a:t>Alshoabi Sultan Abdulwadoud, Binnuhaid Abdulkhaleq Ayedh, Magram Abdullatif O. et al. Perianal Fistulae Medical Imaging Maps: A Pictorial Diagnostic Review. Diagnostics (Basel). 2026 Aug 15;16(16):2584. doi: 10.3390/diagnostics16162584 PMCID: PMC13512459. Lisans: CC BY.</a:t>
            </a:r>
          </a:p>
          <a:p>
            <a:r>
              <a:t>Altyazı: Pelvic MRI acquired using a 1.5 Tesla MRI machine with high resolution illustrating the normal anatomy of the anal canal. (A) Axial T2-weighted image showing the high signal intensity fat around the anal canal (AC) and bilateral ischiorectal fossae (IRF). (A+) Corresponding unannotated image. (B) Coronal T2-weighted image showing the internal anal sphincter (green line) continuous with the inner circular smooth muscle of the rectum (blue line), external anal sphincter (yellow line), the intersphincteric space in between, the puborectalis muscle (red lines), and the levator ani muscles bilaterally (arrows). (B+) Corresponding unannotated image. (C) Sagittal T2-weighted image showing the internal anal sphincter (green line), external anal sphincter (dotted yellow line), the puborectalis muscle (red lines), and the levator ani muscle (arrow). (C+) Corresponding unannotated image. UB: Urinary bladder.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Carter Dan, Ram Edward, Engel Tal Combined 3D Endoanal Ultrasound and Transperineal Ultrasound Improves the Detection of Anal Sphincter Defects †. Diagnostics (Basel). 2023 Feb 11;13(4):682. doi: 10.3390/diagnostics13040682 PMCID: PMC9955566. Lisans: CC BY.</a:t>
            </a:r>
          </a:p>
          <a:p>
            <a:r>
              <a:t>Altyazı: Mid-anal canal image in EAUS (left image) and axial view on PUS (right image). EAS—external anal sphincter. IAS—internal anal sphincter.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Gaeta Michele, Turturici Sofia, Galletta Karol et al. MRI in Chronic Pudendal Neuralgia: Diagnostic Criteria and Associated Pathologies. Diagnostics (Basel). 2026 Jan 20;16(2):326. doi: 10.3390/diagnostics16020326 PMCID: PMC12840153. Lisans: CC BY.</a:t>
            </a:r>
          </a:p>
          <a:p>
            <a:r>
              <a:t>Altyazı: Representation of the anatomic course of pudendal nerve at four fundamental levels. (a) Axial T1-weighted scan shows trough piriform muscles and lumbosacral (black arrow) and pudendal (arrowhead) plexuses of the anterior surface of left piriform muscle. On the right side, the S2 spinal root runs into the piriform muscle (arrow). This anatomic variation can predispose to nerve entrapment and pudendalgia. (b) Axial T1-weighted scan at the extra-pelvic course of the pudendal nerve. The nerve runs in the space between sacro-tuberous ligament posteriorly (arrow) and coccygeal muscle and sacro-spinous ligament (arrowhead) anteriorly. (c) Axial T1-weighted scan at the level of proximal Alcock’s canal. The pudendal neurovascular bundle runs close to the obturator internal muscle (arrow). The transverse course of inferior rectal neurovascular bundle can be seen into ischiorectal fossa (arrowhead). (d) Axial T1-weighted scan at distal Alcock’s canal. At this level, it is difficult to detect the distal branches (arrowhead) of the pudendal nerve.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Rotstein Emilia, Rose Nina, Starck Marianne et al. Three‐dimensional endoanal ultrasound measurements for the assessment of perineal body size in a cohort of Swedish nulligravidae. Acta Obstet Gynecol Scand. 2026 Jun 17;105(7):1303–8. doi: 10.1111/aogs.70227 PMCID: PMC13308972. Lisans: CC BY.</a:t>
            </a:r>
          </a:p>
          <a:p>
            <a:r>
              <a:t>Altyazı: Axial (1) and coronal (2) view of the perineal muscles. Individual muscles marked: (a) puboperineal insertion, (b) deep transverse perineal muscle, (c) superficial transverse perineal muscle, (d) external anal sphincter, and (e) internal anal sphincter.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Ranjan Rajiv, Chanda Camellia, Kushwaha Rajesh et al. Anatomical Study of the Variants of the Extrapelvic Part of the Pudendal Nerve. Cureus. 2022 Aug 22;14(8):e28281. doi: 10.7759/cureus.28281 PMCID: PMC9492552. Lisans: CC BY.</a:t>
            </a:r>
          </a:p>
          <a:p>
            <a:r>
              <a:t>Altyazı: Showing type I pattern of Pudendal nerve: single trunk, with no sciatic communication.PN(I): Pudendal nerve type I, IPV: Internal Pudendal Vessels, SN: Sciatic Nerve</a:t>
            </a:r>
          </a:p>
          <a:p>
            <a:r>
              <a:t>Ranjan Rajiv, Chanda Camellia, Kushwaha Rajesh et al. Anatomical Study of the Variants of the Extrapelvic Part of the Pudendal Nerve. Cureus. 2022 Aug 22;14(8):e28281. doi: 10.7759/cureus.28281 PMCID: PMC9492552. Lisans: CC BY.</a:t>
            </a:r>
          </a:p>
          <a:p>
            <a:r>
              <a:t>Altyazı: Showing type IIa, double trunked with inferior rectal nerve piercing the sacrospinous ligament. PN(IIa): Bifurcated Pudendal nerve with inferior rectal nerve piercing the sacrospinous ligament.IPV: Internal Pudendal Vessels SSL: SSL: Sacrospinous ligament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Junjie, Webb Katie E., Carrington Emma V. et al. Anatomical Variation of the Pudendal Nerve and Related Structures. Eur Urol Open Sci. 2026 Feb 9;85:71–81. doi: 10.1016/j.euros.2026.01.015 PMCID: PMC12908042. Lisans: CC BY.</a:t>
            </a:r>
          </a:p>
          <a:p>
            <a:r>
              <a:t>Altyazı: Origin roots of the pudendal nerve. Different combinations of sacral-root contributions in the formation of the pudendal nerve are illustrated, showing S1–S5 except for the right-hand image (marked L4–S5). Prevalence is summarised according to a combined analysis of 509 samples. The most common configuration was S2–S4, followed by S2–S3, S3–S4, S1–S3, S1–S2, S1–S4, and S2–S5. In addition, rare case studies reported contributions from lumbar roots L4 and L5.</a:t>
            </a:r>
          </a:p>
          <a:p>
            <a:r>
              <a:t>Yang Junjie, Webb Katie E., Carrington Emma V. et al. Anatomical Variation of the Pudendal Nerve and Related Structures. Eur Urol Open Sci. 2026 Feb 9;85:71–81. doi: 10.1016/j.euros.2026.01.015 PMCID: PMC12908042. Lisans: CC BY.</a:t>
            </a:r>
          </a:p>
          <a:p>
            <a:r>
              <a:t>Altyazı: Trunk configurations of the pudendal nerve. Schematic representations show branching patterns of the pudendal nerve near the ischial spine. (A) Single-trunk pattern; the dorsal genital nerve branches first in some cases. (B) Double-trunk pattern, with rectopudendal or pudendogenital division. (C) Triple-trunk pattern, with separate rectal, perineal, and genital branches. (D) Quadruple-trunk variants, including duplicated rectal or perineal branches.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Suganya Grace, Ray Biswabina, Bharadwaj Yashu Morphology and morphometry of pudendal nerve in East Indian population with surgical implications: a cadaveric study. Anat Cell Biol. 2025 Jun 2;58(3):388–94. doi: 10.5115/acb.25.012 PMCID: PMC12519013. Lisans: CC BY-NC.</a:t>
            </a:r>
          </a:p>
          <a:p>
            <a:r>
              <a:t>Altyazı: The formation and trunking variations in pudendal nerve. (A) Formation variation of pudendal nerve from S3 and S4 root. (B) The trunking variations in pudendal nerve 2 trunks. (C) The trunking variations in pudendal nerve 3 trunks. (D) The trunking variations in pudendal nerve 4 trunks. PN, pudendal nerve; LST, lumbosacral trunk; S, superior; I, inferior; M, medial; L, lateral; Rt, right; Lt, left; yellow arrow, communication with sciatic nerve.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Badagabettu Satheesha Nayak, Padur Ashwini Aithal, Shetty Surekha Devadasa Variations in the branching pattern of the internal iliac artery and its implications in trauma and surgery – a South Indian cadaveric study. J Vasc Bras. 2025 Mar 31;24:e20240075. doi: 10.1590/1677-5449.202400752 PMCID: PMC11961128. Lisans: CC BY.</a:t>
            </a:r>
          </a:p>
          <a:p>
            <a:r>
              <a:t>Altyazı: Dissected left hemipelvis showing a common trunk of the internal pudendal artery and middle rectal artery. IIA = anterior division of internal iliac artery; IIV = internal iliac vein; MUL = medial umbilical ligament; SVA = superior vesical artery; IVA = inferior vesical artery; MRA = middle rectal artery; IGA = inferior gluteal artery; IPA = internal pudendal artery; CT = common trunk of origin of internal pudendal and middle rectal arteries; EIV = external iliac vein; UB = urinary bladder; R = rectum; S = sacrum.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 Yulin, Dou Chaoran, Wang Xia et al. Combination of tomographic ultrasound imaging and three-dimensional magnetic resonance imaging-based model to diagnose postpartum levator avulsion. Sci Rep. 2017 Sep 11;7:11235. doi: 10.1038/s41598-017-08201-9 PMCID: PMC5593956. Lisans: CC BY.</a:t>
            </a:r>
          </a:p>
          <a:p>
            <a:r>
              <a:t>Altyazı: Images of the normal levator ani muscle of a 20-year-old nulliparous woman on TUI are presented. The image in the top left corner is a reference slice in the coronal plane. The other eight images represent axial plane slices obtained at 2.5-mm intervals; slice 1 is obtained in the plane of the minimum levator hiatus; the -1, -2, and 0 slices are caudal of the minimum plane; and the 2, 3, 4, and 5 slices are cephalad of the minimum plane. LUG was measured in slices 0, 1, and 2 and then averaged. (TUI: Tomographic ultrasound imaging; LUG: Levator-urethra gap, PR: puborectalis).</a:t>
            </a:r>
          </a:p>
          <a:p>
            <a:r>
              <a:t>Yan Yulin, Dou Chaoran, Wang Xia et al. Combination of tomographic ultrasound imaging and three-dimensional magnetic resonance imaging-based model to diagnose postpartum levator avulsion. Sci Rep. 2017 Sep 11;7:11235. doi: 10.1038/s41598-017-08201-9 PMCID: PMC5593956. Lisans: CC BY.</a:t>
            </a:r>
          </a:p>
          <a:p>
            <a:r>
              <a:t>Altyazı: (a) Shows that the puborectalis originates from the inner surface of the pubic bone and bypasses the rectum to the inner surface of the pubic bone on the other side, like a sling. (b–d) Demonstrate the morphology of the iliococcygeus in the axial, coronal and sagittal planes, respectively. In the coronal plane, it is similar to a wing. In (e,f), the pelvic bone structures are presented in green, the obturator muscle in yellow (showing its attachment to the pelvic medial surface), the iliococcygeus muscle in blue and puborectalis in red. (g,h) Shows the 3D model of the iliococcygeus and puborectalis. In (g), the blue structure is the iliococcygeus, and the red structure is the puborectalis. To better display the puborectalis, which is in the bottom of the iliococcygeus, the iliococcygeus, obturator muscle and bone structure were made transparent as seen on (h). (PR: puborectalis, IC: iliococcygeus, OB: obturator muscle).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Coalter Wendy S, Siddiqui Salman A Translevator perineal hernia; an incidental rare imaging presentation. BJR Case Rep. 2022 Jun 8;8(4):20220009. doi: 10.1259/bjrcr.20220009 PMCID: PMC9668258. Lisans: CC BY.</a:t>
            </a:r>
          </a:p>
          <a:p>
            <a:r>
              <a:t>Altyazı: Line diagram showing cross-sectional (axial) anatomy of female perineal musculature. Anterior (A) and posterior (P) perineal hernias relative to the transverse perineal muscle.</a:t>
            </a:r>
          </a:p>
          <a:p>
            <a:r>
              <a:t>Coalter Wendy S, Siddiqui Salman A Translevator perineal hernia; an incidental rare imaging presentation. BJR Case Rep. 2022 Jun 8;8(4):20220009. doi: 10.1259/bjrcr.20220009 PMCID: PMC9668258. Lisans: CC BY.</a:t>
            </a:r>
          </a:p>
          <a:p>
            <a:r>
              <a:t>Altyazı: Axial (a) and coronal (b) T 2-weighted rectal MRI images demonstrating a small Richter type hernia of the left lateral rectal wall (red arrow) through a 22 mm defect in the left levator ani muscle (yellow arrow). No restricted diffusion is noted on ADC (c) and DWI (d) axial sequences in the region of the perineal hernia (yellow circles).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8.jp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6.jpg"/><Relationship Id="rId4"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5.jpg"/><Relationship Id="rId4"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41.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3.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8.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0.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 Id="rId4"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6766560" cy="1463040"/>
          </a:xfrm>
          <a:prstGeom prst="rect">
            <a:avLst/>
          </a:prstGeom>
          <a:noFill/>
        </p:spPr>
        <p:txBody>
          <a:bodyPr wrap="square" anchor="t" lIns="45720" rIns="45720" tIns="18288" bIns="18288">
            <a:spAutoFit/>
          </a:bodyPr>
          <a:lstStyle/>
          <a:p>
            <a:pPr algn="l"/>
            <a:r>
              <a:rPr sz="3800" b="1" i="0">
                <a:solidFill>
                  <a:srgbClr val="FFFFFF"/>
                </a:solidFill>
                <a:latin typeface="Calibri"/>
              </a:rPr>
              <a:t>Perine ve Pelvis</a:t>
            </a:r>
          </a:p>
        </p:txBody>
      </p:sp>
      <p:sp>
        <p:nvSpPr>
          <p:cNvPr id="4" name="TextBox 3"/>
          <p:cNvSpPr txBox="1"/>
          <p:nvPr/>
        </p:nvSpPr>
        <p:spPr>
          <a:xfrm>
            <a:off x="640080" y="2514600"/>
            <a:ext cx="6766560" cy="1005840"/>
          </a:xfrm>
          <a:prstGeom prst="rect">
            <a:avLst/>
          </a:prstGeom>
          <a:noFill/>
        </p:spPr>
        <p:txBody>
          <a:bodyPr wrap="square" anchor="t" lIns="45720" rIns="45720" tIns="18288" bIns="18288">
            <a:spAutoFit/>
          </a:bodyPr>
          <a:lstStyle/>
          <a:p>
            <a:pPr algn="l"/>
            <a:r>
              <a:rPr sz="1900" b="0" i="0">
                <a:solidFill>
                  <a:srgbClr val="C8D1E6"/>
                </a:solidFill>
                <a:latin typeface="Calibri"/>
              </a:rPr>
              <a:t>Perine odaklı topografik ve kesitsel anatomi – fasyalar ayrıntılı</a:t>
            </a:r>
          </a:p>
        </p:txBody>
      </p:sp>
      <p:sp>
        <p:nvSpPr>
          <p:cNvPr id="5" name="TextBox 4"/>
          <p:cNvSpPr txBox="1"/>
          <p:nvPr/>
        </p:nvSpPr>
        <p:spPr>
          <a:xfrm>
            <a:off x="640080" y="3657600"/>
            <a:ext cx="6766560" cy="2377440"/>
          </a:xfrm>
          <a:prstGeom prst="rect">
            <a:avLst/>
          </a:prstGeom>
          <a:noFill/>
        </p:spPr>
        <p:txBody>
          <a:bodyPr wrap="square" anchor="t" lIns="45720" rIns="45720" tIns="18288" bIns="18288">
            <a:spAutoFit/>
          </a:bodyPr>
          <a:lstStyle/>
          <a:p>
            <a:pPr algn="l"/>
            <a:r>
              <a:rPr sz="1600" b="0" i="0">
                <a:solidFill>
                  <a:srgbClr val="FFFFFF"/>
                </a:solidFill>
                <a:latin typeface="Calibri"/>
              </a:rPr>
              <a:t>Pelvis tabanı → fasyalar ve keseler → ürogenital ve anal bölgeler → kesitler → varyasyonlar</a:t>
            </a:r>
          </a:p>
          <a:p>
            <a:pPr algn="l"/>
            <a:r>
              <a:rPr sz="1600" b="0" i="0">
                <a:solidFill>
                  <a:srgbClr val="FFFFFF"/>
                </a:solidFill>
                <a:latin typeface="Calibri"/>
              </a:rPr>
              <a:t>Gerçek kadavra diseksiyonları, histoloji ve MR/US görüntüleri (PMC açık erişim)</a:t>
            </a:r>
          </a:p>
          <a:p>
            <a:pPr algn="l"/>
            <a:r>
              <a:rPr sz="1600" b="0" i="0">
                <a:solidFill>
                  <a:srgbClr val="FFFFFF"/>
                </a:solidFill>
                <a:latin typeface="Calibri"/>
              </a:rPr>
              <a:t>NLM Visible Human erkek ve kadın kesitleri (aynı kadavranın BT'si ile)</a:t>
            </a:r>
          </a:p>
        </p:txBody>
      </p:sp>
      <p:pic>
        <p:nvPicPr>
          <p:cNvPr id="6" name="Picture 5" descr="41598_2025_9585_Fig1_HTML.jpg"/>
          <p:cNvPicPr>
            <a:picLocks noChangeAspect="1"/>
          </p:cNvPicPr>
          <p:nvPr/>
        </p:nvPicPr>
        <p:blipFill>
          <a:blip r:embed="rId2"/>
          <a:stretch>
            <a:fillRect/>
          </a:stretch>
        </p:blipFill>
        <p:spPr>
          <a:xfrm>
            <a:off x="7680960" y="1076060"/>
            <a:ext cx="2057400" cy="1688359"/>
          </a:xfrm>
          <a:prstGeom prst="rect">
            <a:avLst/>
          </a:prstGeom>
        </p:spPr>
      </p:pic>
      <p:pic>
        <p:nvPicPr>
          <p:cNvPr id="7" name="Picture 6" descr="M1900_cryo.jpg"/>
          <p:cNvPicPr>
            <a:picLocks noChangeAspect="1"/>
          </p:cNvPicPr>
          <p:nvPr/>
        </p:nvPicPr>
        <p:blipFill>
          <a:blip r:embed="rId3"/>
          <a:stretch>
            <a:fillRect/>
          </a:stretch>
        </p:blipFill>
        <p:spPr>
          <a:xfrm>
            <a:off x="9829800" y="731000"/>
            <a:ext cx="2057400" cy="2378479"/>
          </a:xfrm>
          <a:prstGeom prst="rect">
            <a:avLst/>
          </a:prstGeom>
        </p:spPr>
      </p:pic>
      <p:pic>
        <p:nvPicPr>
          <p:cNvPr id="8" name="Picture 7" descr="JOA-248-755-g001.jpg"/>
          <p:cNvPicPr>
            <a:picLocks noChangeAspect="1"/>
          </p:cNvPicPr>
          <p:nvPr/>
        </p:nvPicPr>
        <p:blipFill>
          <a:blip r:embed="rId4"/>
          <a:stretch>
            <a:fillRect/>
          </a:stretch>
        </p:blipFill>
        <p:spPr>
          <a:xfrm>
            <a:off x="7960943" y="3566160"/>
            <a:ext cx="1497432" cy="3017520"/>
          </a:xfrm>
          <a:prstGeom prst="rect">
            <a:avLst/>
          </a:prstGeom>
        </p:spPr>
      </p:pic>
      <p:pic>
        <p:nvPicPr>
          <p:cNvPr id="9" name="Picture 8" descr="F1860_cryo.jpg"/>
          <p:cNvPicPr>
            <a:picLocks noChangeAspect="1"/>
          </p:cNvPicPr>
          <p:nvPr/>
        </p:nvPicPr>
        <p:blipFill>
          <a:blip r:embed="rId5"/>
          <a:stretch>
            <a:fillRect/>
          </a:stretch>
        </p:blipFill>
        <p:spPr>
          <a:xfrm>
            <a:off x="9829800" y="3938674"/>
            <a:ext cx="2057400" cy="2272491"/>
          </a:xfrm>
          <a:prstGeom prst="rect">
            <a:avLst/>
          </a:prstGeom>
        </p:spPr>
      </p:pic>
      <p:sp>
        <p:nvSpPr>
          <p:cNvPr id="10" name="TextBox 9"/>
          <p:cNvSpPr txBox="1"/>
          <p:nvPr/>
        </p:nvSpPr>
        <p:spPr>
          <a:xfrm>
            <a:off x="640080" y="6172200"/>
            <a:ext cx="6949440" cy="365760"/>
          </a:xfrm>
          <a:prstGeom prst="rect">
            <a:avLst/>
          </a:prstGeom>
          <a:noFill/>
        </p:spPr>
        <p:txBody>
          <a:bodyPr wrap="square" anchor="t" lIns="45720" rIns="45720" tIns="18288" bIns="18288">
            <a:spAutoFit/>
          </a:bodyPr>
          <a:lstStyle/>
          <a:p>
            <a:pPr algn="l"/>
            <a:r>
              <a:rPr sz="1300" b="0" i="1">
                <a:solidFill>
                  <a:srgbClr val="C8D1E6"/>
                </a:solidFill>
                <a:latin typeface="Calibri"/>
              </a:rPr>
              <a:t>Sunum dili Türkçe; anatomik terimler Terminologia Anatomica (Latince).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İçindekiler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Her bölüm: konu anlatımı → görseller → klinik bağlantılar → varyasyon literatür taraması</a:t>
            </a:r>
          </a:p>
        </p:txBody>
      </p:sp>
      <p:sp>
        <p:nvSpPr>
          <p:cNvPr id="5" name="Rounded Rectangle 4"/>
          <p:cNvSpPr/>
          <p:nvPr/>
        </p:nvSpPr>
        <p:spPr>
          <a:xfrm>
            <a:off x="411480" y="1051560"/>
            <a:ext cx="2121408"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143000"/>
            <a:ext cx="1938527" cy="502920"/>
          </a:xfrm>
          <a:prstGeom prst="rect">
            <a:avLst/>
          </a:prstGeom>
          <a:noFill/>
        </p:spPr>
        <p:txBody>
          <a:bodyPr wrap="square" anchor="t" lIns="45720" rIns="45720" tIns="18288" bIns="18288">
            <a:spAutoFit/>
          </a:bodyPr>
          <a:lstStyle/>
          <a:p>
            <a:pPr algn="l"/>
            <a:r>
              <a:rPr sz="2200" b="1" i="0">
                <a:solidFill>
                  <a:srgbClr val="C0392B"/>
                </a:solidFill>
                <a:latin typeface="Calibri"/>
              </a:rPr>
              <a:t>1. TABAN</a:t>
            </a:r>
          </a:p>
        </p:txBody>
      </p:sp>
      <p:sp>
        <p:nvSpPr>
          <p:cNvPr id="7" name="TextBox 6"/>
          <p:cNvSpPr txBox="1"/>
          <p:nvPr/>
        </p:nvSpPr>
        <p:spPr>
          <a:xfrm>
            <a:off x="502920" y="1691640"/>
            <a:ext cx="1938527" cy="548640"/>
          </a:xfrm>
          <a:prstGeom prst="rect">
            <a:avLst/>
          </a:prstGeom>
          <a:noFill/>
        </p:spPr>
        <p:txBody>
          <a:bodyPr wrap="square" anchor="t" lIns="45720" rIns="45720" tIns="18288" bIns="18288">
            <a:spAutoFit/>
          </a:bodyPr>
          <a:lstStyle/>
          <a:p>
            <a:pPr algn="l"/>
            <a:r>
              <a:rPr sz="1250" b="0" i="1">
                <a:solidFill>
                  <a:srgbClr val="555B66"/>
                </a:solidFill>
                <a:latin typeface="Calibri"/>
              </a:rPr>
              <a:t>Diaphragma pelvis ve centrum tendineum perinei</a:t>
            </a:r>
          </a:p>
        </p:txBody>
      </p:sp>
      <p:sp>
        <p:nvSpPr>
          <p:cNvPr id="8" name="TextBox 7"/>
          <p:cNvSpPr txBox="1"/>
          <p:nvPr/>
        </p:nvSpPr>
        <p:spPr>
          <a:xfrm>
            <a:off x="502920" y="2286000"/>
            <a:ext cx="1938527" cy="3611880"/>
          </a:xfrm>
          <a:prstGeom prst="rect">
            <a:avLst/>
          </a:prstGeom>
          <a:noFill/>
        </p:spPr>
        <p:txBody>
          <a:bodyPr wrap="square">
            <a:spAutoFit/>
          </a:bodyPr>
          <a:lstStyle/>
          <a:p>
            <a:pPr algn="l">
              <a:spcAft>
                <a:spcPts val="300"/>
              </a:spcAft>
            </a:pPr>
            <a:r>
              <a:rPr sz="1500" b="0" i="0">
                <a:solidFill>
                  <a:srgbClr val="1F2A44"/>
                </a:solidFill>
                <a:latin typeface="Calibri"/>
              </a:rPr>
              <a:t>• Perinenin sınırları ve üçgenleri</a:t>
            </a:r>
          </a:p>
          <a:p>
            <a:pPr algn="l">
              <a:spcAft>
                <a:spcPts val="300"/>
              </a:spcAft>
            </a:pPr>
            <a:r>
              <a:rPr sz="1500" b="0" i="0">
                <a:solidFill>
                  <a:srgbClr val="1F2A44"/>
                </a:solidFill>
                <a:latin typeface="Calibri"/>
              </a:rPr>
              <a:t>• M. levator ani ve m. coccygeus</a:t>
            </a:r>
          </a:p>
          <a:p>
            <a:pPr algn="l">
              <a:spcAft>
                <a:spcPts val="300"/>
              </a:spcAft>
            </a:pPr>
            <a:r>
              <a:rPr sz="1500" b="0" i="0">
                <a:solidFill>
                  <a:srgbClr val="1F2A44"/>
                </a:solidFill>
                <a:latin typeface="Calibri"/>
              </a:rPr>
              <a:t>• Arcus tendineus ve fasyalar</a:t>
            </a:r>
          </a:p>
          <a:p>
            <a:pPr algn="l">
              <a:spcAft>
                <a:spcPts val="300"/>
              </a:spcAft>
            </a:pPr>
            <a:r>
              <a:rPr sz="1500" b="0" i="0">
                <a:solidFill>
                  <a:srgbClr val="1F2A44"/>
                </a:solidFill>
                <a:latin typeface="Calibri"/>
              </a:rPr>
              <a:t>• Perine kas askıları</a:t>
            </a:r>
          </a:p>
          <a:p>
            <a:pPr algn="l">
              <a:spcAft>
                <a:spcPts val="300"/>
              </a:spcAft>
            </a:pPr>
            <a:r>
              <a:rPr sz="1500" b="0" i="0">
                <a:solidFill>
                  <a:srgbClr val="1F2A44"/>
                </a:solidFill>
                <a:latin typeface="Calibri"/>
              </a:rPr>
              <a:t>• Görüntüleme</a:t>
            </a:r>
          </a:p>
        </p:txBody>
      </p:sp>
      <p:sp>
        <p:nvSpPr>
          <p:cNvPr id="9" name="Rounded Rectangle 8"/>
          <p:cNvSpPr/>
          <p:nvPr/>
        </p:nvSpPr>
        <p:spPr>
          <a:xfrm>
            <a:off x="2715768" y="1051560"/>
            <a:ext cx="2121408"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7208" y="1143000"/>
            <a:ext cx="1938527" cy="502920"/>
          </a:xfrm>
          <a:prstGeom prst="rect">
            <a:avLst/>
          </a:prstGeom>
          <a:noFill/>
        </p:spPr>
        <p:txBody>
          <a:bodyPr wrap="square" anchor="t" lIns="45720" rIns="45720" tIns="18288" bIns="18288">
            <a:spAutoFit/>
          </a:bodyPr>
          <a:lstStyle/>
          <a:p>
            <a:pPr algn="l"/>
            <a:r>
              <a:rPr sz="2200" b="1" i="0">
                <a:solidFill>
                  <a:srgbClr val="C0392B"/>
                </a:solidFill>
                <a:latin typeface="Calibri"/>
              </a:rPr>
              <a:t>2. FASYALAR</a:t>
            </a:r>
          </a:p>
        </p:txBody>
      </p:sp>
      <p:sp>
        <p:nvSpPr>
          <p:cNvPr id="11" name="TextBox 10"/>
          <p:cNvSpPr txBox="1"/>
          <p:nvPr/>
        </p:nvSpPr>
        <p:spPr>
          <a:xfrm>
            <a:off x="2807208" y="1691640"/>
            <a:ext cx="1938527" cy="548640"/>
          </a:xfrm>
          <a:prstGeom prst="rect">
            <a:avLst/>
          </a:prstGeom>
          <a:noFill/>
        </p:spPr>
        <p:txBody>
          <a:bodyPr wrap="square" anchor="t" lIns="45720" rIns="45720" tIns="18288" bIns="18288">
            <a:spAutoFit/>
          </a:bodyPr>
          <a:lstStyle/>
          <a:p>
            <a:pPr algn="l"/>
            <a:r>
              <a:rPr sz="1250" b="0" i="1">
                <a:solidFill>
                  <a:srgbClr val="555B66"/>
                </a:solidFill>
                <a:latin typeface="Calibri"/>
              </a:rPr>
              <a:t>Camper/Scarpa'dan Denonvilliers'e</a:t>
            </a:r>
          </a:p>
        </p:txBody>
      </p:sp>
      <p:sp>
        <p:nvSpPr>
          <p:cNvPr id="12" name="TextBox 11"/>
          <p:cNvSpPr txBox="1"/>
          <p:nvPr/>
        </p:nvSpPr>
        <p:spPr>
          <a:xfrm>
            <a:off x="2807208" y="2286000"/>
            <a:ext cx="1938527" cy="3611880"/>
          </a:xfrm>
          <a:prstGeom prst="rect">
            <a:avLst/>
          </a:prstGeom>
          <a:noFill/>
        </p:spPr>
        <p:txBody>
          <a:bodyPr wrap="square">
            <a:spAutoFit/>
          </a:bodyPr>
          <a:lstStyle/>
          <a:p>
            <a:pPr algn="l">
              <a:spcAft>
                <a:spcPts val="300"/>
              </a:spcAft>
            </a:pPr>
            <a:r>
              <a:rPr sz="1500" b="0" i="0">
                <a:solidFill>
                  <a:srgbClr val="1F2A44"/>
                </a:solidFill>
                <a:latin typeface="Calibri"/>
              </a:rPr>
              <a:t>• Katman şeması</a:t>
            </a:r>
          </a:p>
          <a:p>
            <a:pPr algn="l">
              <a:spcAft>
                <a:spcPts val="300"/>
              </a:spcAft>
            </a:pPr>
            <a:r>
              <a:rPr sz="1500" b="0" i="0">
                <a:solidFill>
                  <a:srgbClr val="1F2A44"/>
                </a:solidFill>
                <a:latin typeface="Calibri"/>
              </a:rPr>
              <a:t>• Colles, Buck, dartos, Gallaudet</a:t>
            </a:r>
          </a:p>
          <a:p>
            <a:pPr algn="l">
              <a:spcAft>
                <a:spcPts val="300"/>
              </a:spcAft>
            </a:pPr>
            <a:r>
              <a:rPr sz="1500" b="0" i="0">
                <a:solidFill>
                  <a:srgbClr val="1F2A44"/>
                </a:solidFill>
                <a:latin typeface="Calibri"/>
              </a:rPr>
              <a:t>• Membrana perinei ve derin kese</a:t>
            </a:r>
          </a:p>
          <a:p>
            <a:pPr algn="l">
              <a:spcAft>
                <a:spcPts val="300"/>
              </a:spcAft>
            </a:pPr>
            <a:r>
              <a:rPr sz="1500" b="0" i="0">
                <a:solidFill>
                  <a:srgbClr val="1F2A44"/>
                </a:solidFill>
                <a:latin typeface="Calibri"/>
              </a:rPr>
              <a:t>• Pelvis içi fasyalar</a:t>
            </a:r>
          </a:p>
          <a:p>
            <a:pPr algn="l">
              <a:spcAft>
                <a:spcPts val="300"/>
              </a:spcAft>
            </a:pPr>
            <a:r>
              <a:rPr sz="1500" b="0" i="0">
                <a:solidFill>
                  <a:srgbClr val="1F2A44"/>
                </a:solidFill>
                <a:latin typeface="Calibri"/>
              </a:rPr>
              <a:t>• İdrar ekstravazasyonu, Fournier</a:t>
            </a:r>
          </a:p>
        </p:txBody>
      </p:sp>
      <p:sp>
        <p:nvSpPr>
          <p:cNvPr id="13" name="Rounded Rectangle 12"/>
          <p:cNvSpPr/>
          <p:nvPr/>
        </p:nvSpPr>
        <p:spPr>
          <a:xfrm>
            <a:off x="5020056" y="1051560"/>
            <a:ext cx="2121408"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11496" y="1143000"/>
            <a:ext cx="1938527" cy="502920"/>
          </a:xfrm>
          <a:prstGeom prst="rect">
            <a:avLst/>
          </a:prstGeom>
          <a:noFill/>
        </p:spPr>
        <p:txBody>
          <a:bodyPr wrap="square" anchor="t" lIns="45720" rIns="45720" tIns="18288" bIns="18288">
            <a:spAutoFit/>
          </a:bodyPr>
          <a:lstStyle/>
          <a:p>
            <a:pPr algn="l"/>
            <a:r>
              <a:rPr sz="2200" b="1" i="0">
                <a:solidFill>
                  <a:srgbClr val="C0392B"/>
                </a:solidFill>
                <a:latin typeface="Calibri"/>
              </a:rPr>
              <a:t>3. ÜROGENİTAL</a:t>
            </a:r>
          </a:p>
        </p:txBody>
      </p:sp>
      <p:sp>
        <p:nvSpPr>
          <p:cNvPr id="15" name="TextBox 14"/>
          <p:cNvSpPr txBox="1"/>
          <p:nvPr/>
        </p:nvSpPr>
        <p:spPr>
          <a:xfrm>
            <a:off x="5111496" y="1691640"/>
            <a:ext cx="1938527" cy="548640"/>
          </a:xfrm>
          <a:prstGeom prst="rect">
            <a:avLst/>
          </a:prstGeom>
          <a:noFill/>
        </p:spPr>
        <p:txBody>
          <a:bodyPr wrap="square" anchor="t" lIns="45720" rIns="45720" tIns="18288" bIns="18288">
            <a:spAutoFit/>
          </a:bodyPr>
          <a:lstStyle/>
          <a:p>
            <a:pPr algn="l"/>
            <a:r>
              <a:rPr sz="1250" b="0" i="1">
                <a:solidFill>
                  <a:srgbClr val="555B66"/>
                </a:solidFill>
                <a:latin typeface="Calibri"/>
              </a:rPr>
              <a:t>Erkek ve kadın</a:t>
            </a:r>
          </a:p>
        </p:txBody>
      </p:sp>
      <p:sp>
        <p:nvSpPr>
          <p:cNvPr id="16" name="TextBox 15"/>
          <p:cNvSpPr txBox="1"/>
          <p:nvPr/>
        </p:nvSpPr>
        <p:spPr>
          <a:xfrm>
            <a:off x="5111496" y="2286000"/>
            <a:ext cx="1938527" cy="3611880"/>
          </a:xfrm>
          <a:prstGeom prst="rect">
            <a:avLst/>
          </a:prstGeom>
          <a:noFill/>
        </p:spPr>
        <p:txBody>
          <a:bodyPr wrap="square">
            <a:spAutoFit/>
          </a:bodyPr>
          <a:lstStyle/>
          <a:p>
            <a:pPr algn="l">
              <a:spcAft>
                <a:spcPts val="300"/>
              </a:spcAft>
            </a:pPr>
            <a:r>
              <a:rPr sz="1500" b="0" i="0">
                <a:solidFill>
                  <a:srgbClr val="1F2A44"/>
                </a:solidFill>
                <a:latin typeface="Calibri"/>
              </a:rPr>
              <a:t>• Yüzeyel kese içeriği</a:t>
            </a:r>
          </a:p>
          <a:p>
            <a:pPr algn="l">
              <a:spcAft>
                <a:spcPts val="300"/>
              </a:spcAft>
            </a:pPr>
            <a:r>
              <a:rPr sz="1500" b="0" i="0">
                <a:solidFill>
                  <a:srgbClr val="1F2A44"/>
                </a:solidFill>
                <a:latin typeface="Calibri"/>
              </a:rPr>
              <a:t>• Erektil dokular</a:t>
            </a:r>
          </a:p>
          <a:p>
            <a:pPr algn="l">
              <a:spcAft>
                <a:spcPts val="300"/>
              </a:spcAft>
            </a:pPr>
            <a:r>
              <a:rPr sz="1500" b="0" i="0">
                <a:solidFill>
                  <a:srgbClr val="1F2A44"/>
                </a:solidFill>
                <a:latin typeface="Calibri"/>
              </a:rPr>
              <a:t>• Sfinkter urethrae</a:t>
            </a:r>
          </a:p>
          <a:p>
            <a:pPr algn="l">
              <a:spcAft>
                <a:spcPts val="300"/>
              </a:spcAft>
            </a:pPr>
            <a:r>
              <a:rPr sz="1500" b="0" i="0">
                <a:solidFill>
                  <a:srgbClr val="1F2A44"/>
                </a:solidFill>
                <a:latin typeface="Calibri"/>
              </a:rPr>
              <a:t>• Glandula vestibularis major</a:t>
            </a:r>
          </a:p>
          <a:p>
            <a:pPr algn="l">
              <a:spcAft>
                <a:spcPts val="300"/>
              </a:spcAft>
            </a:pPr>
            <a:r>
              <a:rPr sz="1500" b="0" i="0">
                <a:solidFill>
                  <a:srgbClr val="1F2A44"/>
                </a:solidFill>
                <a:latin typeface="Calibri"/>
              </a:rPr>
              <a:t>• MR anatomisi</a:t>
            </a:r>
          </a:p>
        </p:txBody>
      </p:sp>
      <p:sp>
        <p:nvSpPr>
          <p:cNvPr id="17" name="Rounded Rectangle 16"/>
          <p:cNvSpPr/>
          <p:nvPr/>
        </p:nvSpPr>
        <p:spPr>
          <a:xfrm>
            <a:off x="7324344" y="1051560"/>
            <a:ext cx="2121408"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15783" y="1143000"/>
            <a:ext cx="1938527" cy="502920"/>
          </a:xfrm>
          <a:prstGeom prst="rect">
            <a:avLst/>
          </a:prstGeom>
          <a:noFill/>
        </p:spPr>
        <p:txBody>
          <a:bodyPr wrap="square" anchor="t" lIns="45720" rIns="45720" tIns="18288" bIns="18288">
            <a:spAutoFit/>
          </a:bodyPr>
          <a:lstStyle/>
          <a:p>
            <a:pPr algn="l"/>
            <a:r>
              <a:rPr sz="2200" b="1" i="0">
                <a:solidFill>
                  <a:srgbClr val="C0392B"/>
                </a:solidFill>
                <a:latin typeface="Calibri"/>
              </a:rPr>
              <a:t>4. ANAL</a:t>
            </a:r>
          </a:p>
        </p:txBody>
      </p:sp>
      <p:sp>
        <p:nvSpPr>
          <p:cNvPr id="19" name="TextBox 18"/>
          <p:cNvSpPr txBox="1"/>
          <p:nvPr/>
        </p:nvSpPr>
        <p:spPr>
          <a:xfrm>
            <a:off x="7415783" y="1691640"/>
            <a:ext cx="1938527" cy="548640"/>
          </a:xfrm>
          <a:prstGeom prst="rect">
            <a:avLst/>
          </a:prstGeom>
          <a:noFill/>
        </p:spPr>
        <p:txBody>
          <a:bodyPr wrap="square" anchor="t" lIns="45720" rIns="45720" tIns="18288" bIns="18288">
            <a:spAutoFit/>
          </a:bodyPr>
          <a:lstStyle/>
          <a:p>
            <a:pPr algn="l"/>
            <a:r>
              <a:rPr sz="1250" b="0" i="1">
                <a:solidFill>
                  <a:srgbClr val="555B66"/>
                </a:solidFill>
                <a:latin typeface="Calibri"/>
              </a:rPr>
              <a:t>Fossa ischioanalis ve sfinkterler</a:t>
            </a:r>
          </a:p>
        </p:txBody>
      </p:sp>
      <p:sp>
        <p:nvSpPr>
          <p:cNvPr id="20" name="TextBox 19"/>
          <p:cNvSpPr txBox="1"/>
          <p:nvPr/>
        </p:nvSpPr>
        <p:spPr>
          <a:xfrm>
            <a:off x="7415783" y="2286000"/>
            <a:ext cx="1938527" cy="3611880"/>
          </a:xfrm>
          <a:prstGeom prst="rect">
            <a:avLst/>
          </a:prstGeom>
          <a:noFill/>
        </p:spPr>
        <p:txBody>
          <a:bodyPr wrap="square">
            <a:spAutoFit/>
          </a:bodyPr>
          <a:lstStyle/>
          <a:p>
            <a:pPr algn="l">
              <a:spcAft>
                <a:spcPts val="300"/>
              </a:spcAft>
            </a:pPr>
            <a:r>
              <a:rPr sz="1500" b="0" i="0">
                <a:solidFill>
                  <a:srgbClr val="1F2A44"/>
                </a:solidFill>
                <a:latin typeface="Calibri"/>
              </a:rPr>
              <a:t>• Canalis analis</a:t>
            </a:r>
          </a:p>
          <a:p>
            <a:pPr algn="l">
              <a:spcAft>
                <a:spcPts val="300"/>
              </a:spcAft>
            </a:pPr>
            <a:r>
              <a:rPr sz="1500" b="0" i="0">
                <a:solidFill>
                  <a:srgbClr val="1F2A44"/>
                </a:solidFill>
                <a:latin typeface="Calibri"/>
              </a:rPr>
              <a:t>• Sfinkter kompleksi</a:t>
            </a:r>
          </a:p>
          <a:p>
            <a:pPr algn="l">
              <a:spcAft>
                <a:spcPts val="300"/>
              </a:spcAft>
            </a:pPr>
            <a:r>
              <a:rPr sz="1500" b="0" i="0">
                <a:solidFill>
                  <a:srgbClr val="1F2A44"/>
                </a:solidFill>
                <a:latin typeface="Calibri"/>
              </a:rPr>
              <a:t>• Fossa ischioanalis</a:t>
            </a:r>
          </a:p>
          <a:p>
            <a:pPr algn="l">
              <a:spcAft>
                <a:spcPts val="300"/>
              </a:spcAft>
            </a:pPr>
            <a:r>
              <a:rPr sz="1500" b="0" i="0">
                <a:solidFill>
                  <a:srgbClr val="1F2A44"/>
                </a:solidFill>
                <a:latin typeface="Calibri"/>
              </a:rPr>
              <a:t>• Canalis pudendalis</a:t>
            </a:r>
          </a:p>
          <a:p>
            <a:pPr algn="l">
              <a:spcAft>
                <a:spcPts val="300"/>
              </a:spcAft>
            </a:pPr>
            <a:r>
              <a:rPr sz="1500" b="0" i="0">
                <a:solidFill>
                  <a:srgbClr val="1F2A44"/>
                </a:solidFill>
                <a:latin typeface="Calibri"/>
              </a:rPr>
              <a:t>• MR ve ultrason</a:t>
            </a:r>
          </a:p>
        </p:txBody>
      </p:sp>
      <p:sp>
        <p:nvSpPr>
          <p:cNvPr id="21" name="Rounded Rectangle 20"/>
          <p:cNvSpPr/>
          <p:nvPr/>
        </p:nvSpPr>
        <p:spPr>
          <a:xfrm>
            <a:off x="9628632" y="1051560"/>
            <a:ext cx="2121408"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0072" y="1143000"/>
            <a:ext cx="1938527" cy="502920"/>
          </a:xfrm>
          <a:prstGeom prst="rect">
            <a:avLst/>
          </a:prstGeom>
          <a:noFill/>
        </p:spPr>
        <p:txBody>
          <a:bodyPr wrap="square" anchor="t" lIns="45720" rIns="45720" tIns="18288" bIns="18288">
            <a:spAutoFit/>
          </a:bodyPr>
          <a:lstStyle/>
          <a:p>
            <a:pPr algn="l"/>
            <a:r>
              <a:rPr sz="2200" b="1" i="0">
                <a:solidFill>
                  <a:srgbClr val="C0392B"/>
                </a:solidFill>
                <a:latin typeface="Calibri"/>
              </a:rPr>
              <a:t>5. KESİT + VARYASYON</a:t>
            </a:r>
          </a:p>
        </p:txBody>
      </p:sp>
      <p:sp>
        <p:nvSpPr>
          <p:cNvPr id="23" name="TextBox 22"/>
          <p:cNvSpPr txBox="1"/>
          <p:nvPr/>
        </p:nvSpPr>
        <p:spPr>
          <a:xfrm>
            <a:off x="9720072" y="1691640"/>
            <a:ext cx="1938527" cy="548640"/>
          </a:xfrm>
          <a:prstGeom prst="rect">
            <a:avLst/>
          </a:prstGeom>
          <a:noFill/>
        </p:spPr>
        <p:txBody>
          <a:bodyPr wrap="square" anchor="t" lIns="45720" rIns="45720" tIns="18288" bIns="18288">
            <a:spAutoFit/>
          </a:bodyPr>
          <a:lstStyle/>
          <a:p>
            <a:pPr algn="l"/>
            <a:r>
              <a:rPr sz="1250" b="0" i="1">
                <a:solidFill>
                  <a:srgbClr val="555B66"/>
                </a:solidFill>
                <a:latin typeface="Calibri"/>
              </a:rPr>
              <a:t>VHP erkek–kadın; literatür taraması</a:t>
            </a:r>
          </a:p>
        </p:txBody>
      </p:sp>
      <p:sp>
        <p:nvSpPr>
          <p:cNvPr id="24" name="TextBox 23"/>
          <p:cNvSpPr txBox="1"/>
          <p:nvPr/>
        </p:nvSpPr>
        <p:spPr>
          <a:xfrm>
            <a:off x="9720072" y="2286000"/>
            <a:ext cx="1938527" cy="3611880"/>
          </a:xfrm>
          <a:prstGeom prst="rect">
            <a:avLst/>
          </a:prstGeom>
          <a:noFill/>
        </p:spPr>
        <p:txBody>
          <a:bodyPr wrap="square">
            <a:spAutoFit/>
          </a:bodyPr>
          <a:lstStyle/>
          <a:p>
            <a:pPr algn="l">
              <a:spcAft>
                <a:spcPts val="300"/>
              </a:spcAft>
            </a:pPr>
            <a:r>
              <a:rPr sz="1500" b="0" i="0">
                <a:solidFill>
                  <a:srgbClr val="1F2A44"/>
                </a:solidFill>
                <a:latin typeface="Calibri"/>
              </a:rPr>
              <a:t>• Erkek pelvis/perine kesitleri</a:t>
            </a:r>
          </a:p>
          <a:p>
            <a:pPr algn="l">
              <a:spcAft>
                <a:spcPts val="300"/>
              </a:spcAft>
            </a:pPr>
            <a:r>
              <a:rPr sz="1500" b="0" i="0">
                <a:solidFill>
                  <a:srgbClr val="1F2A44"/>
                </a:solidFill>
                <a:latin typeface="Calibri"/>
              </a:rPr>
              <a:t>• Kadın pelvis/perine kesitleri</a:t>
            </a:r>
          </a:p>
          <a:p>
            <a:pPr algn="l">
              <a:spcAft>
                <a:spcPts val="300"/>
              </a:spcAft>
            </a:pPr>
            <a:r>
              <a:rPr sz="1500" b="0" i="0">
                <a:solidFill>
                  <a:srgbClr val="1F2A44"/>
                </a:solidFill>
                <a:latin typeface="Calibri"/>
              </a:rPr>
              <a:t>• N. pudendus ve a. pudenda interna varyasyonları</a:t>
            </a:r>
          </a:p>
          <a:p>
            <a:pPr algn="l">
              <a:spcAft>
                <a:spcPts val="300"/>
              </a:spcAft>
            </a:pPr>
            <a:r>
              <a:rPr sz="1500" b="0" i="0">
                <a:solidFill>
                  <a:srgbClr val="1F2A44"/>
                </a:solidFill>
                <a:latin typeface="Calibri"/>
              </a:rPr>
              <a:t>• Levator avülsiyonu, perine cismi</a:t>
            </a:r>
          </a:p>
          <a:p>
            <a:pPr algn="l">
              <a:spcAft>
                <a:spcPts val="300"/>
              </a:spcAft>
            </a:pPr>
            <a:r>
              <a:rPr sz="1500" b="0" i="0">
                <a:solidFill>
                  <a:srgbClr val="1F2A44"/>
                </a:solidFill>
                <a:latin typeface="Calibri"/>
              </a:rPr>
              <a:t>• Klinik bağlantılar</a:t>
            </a:r>
          </a:p>
        </p:txBody>
      </p:sp>
      <p:cxnSp>
        <p:nvCxnSpPr>
          <p:cNvPr id="25" name="Connector 2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27" name="TextBox 2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nedir ve nasıl çalışılır?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Pelvis çıkımının altında kalan elmas şeklindeki bölge</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GİRİŞ</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Perine, pelvis çıkımını aşağıdan kapatan, diaphragma pelvis'in altında ve deri ile arasında kalan bölgedir. Litotomi pozisyonunda bakıldığında elmas şeklindedir: önde symphysis pubica, yanlarda ramus ischiopubicus ve tuber ischiadicum, arkada lig. sacrotuberale ve os coccygis bu elmasın köşelerini ve kenarlarını oluşturur.</a:t>
            </a:r>
          </a:p>
          <a:p>
            <a:pPr algn="l">
              <a:lnSpc>
                <a:spcPct val="108000"/>
              </a:lnSpc>
              <a:spcAft>
                <a:spcPts val="900"/>
              </a:spcAft>
            </a:pPr>
            <a:r>
              <a:rPr sz="2000" b="0" i="0">
                <a:solidFill>
                  <a:srgbClr val="1F2A44"/>
                </a:solidFill>
                <a:latin typeface="Calibri"/>
              </a:rPr>
              <a:t>İki tuber ischiadicum'u birleştiren hayali bir çizgi, perineyi iki üçgene ayırır. Öndeki ürogenital üçgen, dış genital organları ve urethra'yı; arkadaki anal üçgen ise canalis analis'i ve iki yanındaki fossa ischioanalis'i içerir. İki üçgen aynı düzlemde değildir; ürogenital üçgen daha yatay, anal üçgen ise yukarı-arkaya eğimlidir.</a:t>
            </a:r>
          </a:p>
          <a:p>
            <a:pPr algn="l">
              <a:lnSpc>
                <a:spcPct val="108000"/>
              </a:lnSpc>
              <a:spcAft>
                <a:spcPts val="900"/>
              </a:spcAft>
            </a:pPr>
            <a:r>
              <a:rPr sz="2000" b="0" i="0">
                <a:solidFill>
                  <a:srgbClr val="1F2A44"/>
                </a:solidFill>
                <a:latin typeface="Calibri"/>
              </a:rPr>
              <a:t>Perineyi anlamanın anahtarı fasyalardır. Karın ön duvarının yüzeyel fasyası perineye kesintisiz devam eder, membrana perinei ve pelvis tabanı ise kesin sınırlar çizer. Bu katmanlar, bir idrar kaçağının veya bir enfeksiyonun hangi yöne yayılabileceğini, hangi yöne ise yayılamayacağını belirler. Bu sunumda önce pelvis tabanını, ardından fasyaları ve keseleri, sonra ürogenital ve anal bölgeleri, en son da kesitleri ve varyasyonları ele alacağız.</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1</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TABAN</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Pelvis tabanı</a:t>
            </a:r>
          </a:p>
          <a:p>
            <a:pPr algn="l"/>
            <a:r>
              <a:rPr sz="1800" b="0" i="0">
                <a:solidFill>
                  <a:srgbClr val="C8D1E6"/>
                </a:solidFill>
                <a:latin typeface="Calibri"/>
              </a:rPr>
              <a:t>Diaphragma pelvis ve centrum tendineum perinei</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Perinenin sınırları ve üçgenleri</a:t>
            </a:r>
          </a:p>
          <a:p>
            <a:pPr algn="l">
              <a:spcAft>
                <a:spcPts val="300"/>
              </a:spcAft>
            </a:pPr>
            <a:r>
              <a:rPr sz="1700" b="0" i="0">
                <a:solidFill>
                  <a:srgbClr val="FFFFFF"/>
                </a:solidFill>
                <a:latin typeface="Calibri"/>
              </a:rPr>
              <a:t>• M. levator ani ve m. coccygeus</a:t>
            </a:r>
          </a:p>
          <a:p>
            <a:pPr algn="l">
              <a:spcAft>
                <a:spcPts val="300"/>
              </a:spcAft>
            </a:pPr>
            <a:r>
              <a:rPr sz="1700" b="0" i="0">
                <a:solidFill>
                  <a:srgbClr val="FFFFFF"/>
                </a:solidFill>
                <a:latin typeface="Calibri"/>
              </a:rPr>
              <a:t>• Arcus tendineus ve fasyalar</a:t>
            </a:r>
          </a:p>
          <a:p>
            <a:pPr algn="l">
              <a:spcAft>
                <a:spcPts val="300"/>
              </a:spcAft>
            </a:pPr>
            <a:r>
              <a:rPr sz="1700" b="0" i="0">
                <a:solidFill>
                  <a:srgbClr val="FFFFFF"/>
                </a:solidFill>
                <a:latin typeface="Calibri"/>
              </a:rPr>
              <a:t>• Perine kas askıları</a:t>
            </a:r>
          </a:p>
          <a:p>
            <a:pPr algn="l">
              <a:spcAft>
                <a:spcPts val="300"/>
              </a:spcAft>
            </a:pPr>
            <a:r>
              <a:rPr sz="1700" b="0" i="0">
                <a:solidFill>
                  <a:srgbClr val="FFFFFF"/>
                </a:solidFill>
                <a:latin typeface="Calibri"/>
              </a:rPr>
              <a:t>• Görüntüleme</a:t>
            </a:r>
          </a:p>
        </p:txBody>
      </p:sp>
      <p:pic>
        <p:nvPicPr>
          <p:cNvPr id="7" name="Picture 6" descr="12565_2019_521_Fig1_HTML.jpg"/>
          <p:cNvPicPr>
            <a:picLocks noChangeAspect="1"/>
          </p:cNvPicPr>
          <p:nvPr/>
        </p:nvPicPr>
        <p:blipFill>
          <a:blip r:embed="rId2"/>
          <a:stretch>
            <a:fillRect/>
          </a:stretch>
        </p:blipFill>
        <p:spPr>
          <a:xfrm>
            <a:off x="7743825" y="365760"/>
            <a:ext cx="3257550" cy="5486400"/>
          </a:xfrm>
          <a:prstGeom prst="rect">
            <a:avLst/>
          </a:prstGeom>
        </p:spPr>
      </p:pic>
      <p:sp>
        <p:nvSpPr>
          <p:cNvPr id="8" name="TextBox 7"/>
          <p:cNvSpPr txBox="1"/>
          <p:nvPr/>
        </p:nvSpPr>
        <p:spPr>
          <a:xfrm>
            <a:off x="7560945" y="5852160"/>
            <a:ext cx="362331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Suriyut Janyaruk ve ark., 2019 (PMC7182620, CC BY)</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Suriyut Janyaruk, Muro Satoru, Baramee Phichaya et al. Various significant connections of the male pelvic floor muscles with special reference to the anal and urethral sphincter muscles. Anat Sci Int. 2019 Dec 23;95(3):305–12. doi: 10.1007/s12565-019-00521-2 PMCID: PMC7182620. Lisans: CC BY.</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Pelvis tabanı: bir huni ve bir askı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Diaphragma pelvis</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Pelvis tabanı, pelvis organlarını taşıyan ve karın içi basınca karşı koyan kas–fasya yapısıdır. Ana bileşeni, iki taraflı m. levator ani ve arkadaki m. coccygeus'tur. Bu kaslar üstte ve altta fasyalarla örtülerek diaphragma pelvis'i oluşturur.</a:t>
            </a:r>
          </a:p>
          <a:p>
            <a:pPr algn="l">
              <a:lnSpc>
                <a:spcPct val="108000"/>
              </a:lnSpc>
              <a:spcAft>
                <a:spcPts val="900"/>
              </a:spcAft>
            </a:pPr>
            <a:r>
              <a:rPr sz="2000" b="0" i="0">
                <a:solidFill>
                  <a:srgbClr val="1F2A44"/>
                </a:solidFill>
                <a:latin typeface="Calibri"/>
              </a:rPr>
              <a:t>M. levator ani bir 'huni' şeklindedir. Önde os pubis'ten, yanlarda m. obturatorius internus fasyası üzerindeki kalınlaşmadan, yani arcus tendineus musculi levatoris ani'den, arkada spina ischiadica'dan başlar. Lifleri aşağı ve mediale inerek orta hatta organların etrafında ve arkada lig. anococcygeum'da birleşir.</a:t>
            </a:r>
          </a:p>
          <a:p>
            <a:pPr algn="l">
              <a:lnSpc>
                <a:spcPct val="108000"/>
              </a:lnSpc>
              <a:spcAft>
                <a:spcPts val="900"/>
              </a:spcAft>
            </a:pPr>
            <a:r>
              <a:rPr sz="2000" b="0" i="0">
                <a:solidFill>
                  <a:srgbClr val="1F2A44"/>
                </a:solidFill>
                <a:latin typeface="Calibri"/>
              </a:rPr>
              <a:t>Levator ani'nin en medial ve en önemli kısmı m. puborectalis'tir. Rektumun arkasından bir 'U' askı gibi dolanarak anorektal açıyı oluşturur ve kontinansın temel unsurlarından biridir. Bu askının önünde kalan açıklık, levator hiatus'tur; kadında urethra, vagina ve rektum, erkekte urethra ve rektum bu hiatus'tan geçer. Doğum sırasında bu kasın kemiğe yapışma yerinden kopması (avülsiyon) prolapsus ve inkontinansın önemli bir nedenidir.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Pelvis tabanı ve perine kasları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Köken – yapışma – sinir – işlev</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graphicFrame>
        <p:nvGraphicFramePr>
          <p:cNvPr id="7" name="Table 6"/>
          <p:cNvGraphicFramePr>
            <a:graphicFrameLocks noGrp="1"/>
          </p:cNvGraphicFramePr>
          <p:nvPr/>
        </p:nvGraphicFramePr>
        <p:xfrm>
          <a:off x="274320" y="1234440"/>
          <a:ext cx="11640312" cy="4209156"/>
        </p:xfrm>
        <a:graphic>
          <a:graphicData uri="http://schemas.openxmlformats.org/drawingml/2006/table">
            <a:tbl>
              <a:tblPr firstRow="1" bandRow="1">
                <a:tableStyleId>{5C22544A-7EE6-4342-B048-85BDC9FD1C3A}</a:tableStyleId>
              </a:tblPr>
              <a:tblGrid>
                <a:gridCol w="2108088"/>
                <a:gridCol w="2383056"/>
                <a:gridCol w="2566368"/>
                <a:gridCol w="2016432"/>
                <a:gridCol w="2566368"/>
              </a:tblGrid>
              <a:tr h="457200">
                <a:tc>
                  <a:txBody>
                    <a:bodyPr/>
                    <a:lstStyle/>
                    <a:p>
                      <a:r>
                        <a:rPr sz="1300" b="1">
                          <a:solidFill>
                            <a:srgbClr val="FFFFFF"/>
                          </a:solidFill>
                          <a:latin typeface="Calibri"/>
                        </a:rPr>
                        <a:t>Kas</a:t>
                      </a:r>
                    </a:p>
                  </a:txBody>
                  <a:tcPr>
                    <a:solidFill>
                      <a:srgbClr val="1F2A44"/>
                    </a:solidFill>
                  </a:tcPr>
                </a:tc>
                <a:tc>
                  <a:txBody>
                    <a:bodyPr/>
                    <a:lstStyle/>
                    <a:p>
                      <a:r>
                        <a:rPr sz="1300" b="1">
                          <a:solidFill>
                            <a:srgbClr val="FFFFFF"/>
                          </a:solidFill>
                          <a:latin typeface="Calibri"/>
                        </a:rPr>
                        <a:t>Köken</a:t>
                      </a:r>
                    </a:p>
                  </a:txBody>
                  <a:tcPr>
                    <a:solidFill>
                      <a:srgbClr val="1F2A44"/>
                    </a:solidFill>
                  </a:tcPr>
                </a:tc>
                <a:tc>
                  <a:txBody>
                    <a:bodyPr/>
                    <a:lstStyle/>
                    <a:p>
                      <a:r>
                        <a:rPr sz="1300" b="1">
                          <a:solidFill>
                            <a:srgbClr val="FFFFFF"/>
                          </a:solidFill>
                          <a:latin typeface="Calibri"/>
                        </a:rPr>
                        <a:t>Yapışma</a:t>
                      </a:r>
                    </a:p>
                  </a:txBody>
                  <a:tcPr>
                    <a:solidFill>
                      <a:srgbClr val="1F2A44"/>
                    </a:solidFill>
                  </a:tcPr>
                </a:tc>
                <a:tc>
                  <a:txBody>
                    <a:bodyPr/>
                    <a:lstStyle/>
                    <a:p>
                      <a:r>
                        <a:rPr sz="1300" b="1">
                          <a:solidFill>
                            <a:srgbClr val="FFFFFF"/>
                          </a:solidFill>
                          <a:latin typeface="Calibri"/>
                        </a:rPr>
                        <a:t>Sinir</a:t>
                      </a:r>
                    </a:p>
                  </a:txBody>
                  <a:tcPr>
                    <a:solidFill>
                      <a:srgbClr val="1F2A44"/>
                    </a:solidFill>
                  </a:tcPr>
                </a:tc>
                <a:tc>
                  <a:txBody>
                    <a:bodyPr/>
                    <a:lstStyle/>
                    <a:p>
                      <a:r>
                        <a:rPr sz="1300" b="1">
                          <a:solidFill>
                            <a:srgbClr val="FFFFFF"/>
                          </a:solidFill>
                          <a:latin typeface="Calibri"/>
                        </a:rPr>
                        <a:t>İşlev</a:t>
                      </a:r>
                    </a:p>
                  </a:txBody>
                  <a:tcPr>
                    <a:solidFill>
                      <a:srgbClr val="1F2A44"/>
                    </a:solidFill>
                  </a:tcPr>
                </a:tc>
              </a:tr>
              <a:tr h="539241">
                <a:tc>
                  <a:txBody>
                    <a:bodyPr/>
                    <a:lstStyle/>
                    <a:p>
                      <a:r>
                        <a:rPr sz="1250" b="1">
                          <a:solidFill>
                            <a:srgbClr val="1F2A44"/>
                          </a:solidFill>
                          <a:latin typeface="Calibri"/>
                        </a:rPr>
                        <a:t>M. puborectalis</a:t>
                      </a:r>
                    </a:p>
                  </a:txBody>
                  <a:tcPr>
                    <a:solidFill>
                      <a:srgbClr val="F3F4F6"/>
                    </a:solidFill>
                  </a:tcPr>
                </a:tc>
                <a:tc>
                  <a:txBody>
                    <a:bodyPr/>
                    <a:lstStyle/>
                    <a:p>
                      <a:r>
                        <a:rPr sz="1250" b="0">
                          <a:solidFill>
                            <a:srgbClr val="1F2A44"/>
                          </a:solidFill>
                          <a:latin typeface="Calibri"/>
                        </a:rPr>
                        <a:t>Os pubis arka yüzü</a:t>
                      </a:r>
                    </a:p>
                  </a:txBody>
                  <a:tcPr>
                    <a:solidFill>
                      <a:srgbClr val="F3F4F6"/>
                    </a:solidFill>
                  </a:tcPr>
                </a:tc>
                <a:tc>
                  <a:txBody>
                    <a:bodyPr/>
                    <a:lstStyle/>
                    <a:p>
                      <a:r>
                        <a:rPr sz="1250" b="0">
                          <a:solidFill>
                            <a:srgbClr val="1F2A44"/>
                          </a:solidFill>
                          <a:latin typeface="Calibri"/>
                        </a:rPr>
                        <a:t>Rektum arkasında karşı tarafla 'U' askı</a:t>
                      </a:r>
                    </a:p>
                  </a:txBody>
                  <a:tcPr>
                    <a:solidFill>
                      <a:srgbClr val="F3F4F6"/>
                    </a:solidFill>
                  </a:tcPr>
                </a:tc>
                <a:tc>
                  <a:txBody>
                    <a:bodyPr/>
                    <a:lstStyle/>
                    <a:p>
                      <a:r>
                        <a:rPr sz="1250" b="0">
                          <a:solidFill>
                            <a:srgbClr val="1F2A44"/>
                          </a:solidFill>
                          <a:latin typeface="Calibri"/>
                        </a:rPr>
                        <a:t>N. pudendus + S3–S4 dalları</a:t>
                      </a:r>
                    </a:p>
                  </a:txBody>
                  <a:tcPr>
                    <a:solidFill>
                      <a:srgbClr val="F3F4F6"/>
                    </a:solidFill>
                  </a:tcPr>
                </a:tc>
                <a:tc>
                  <a:txBody>
                    <a:bodyPr/>
                    <a:lstStyle/>
                    <a:p>
                      <a:r>
                        <a:rPr sz="1250" b="0">
                          <a:solidFill>
                            <a:srgbClr val="1F2A44"/>
                          </a:solidFill>
                          <a:latin typeface="Calibri"/>
                        </a:rPr>
                        <a:t>Anorektal açı, kontinans</a:t>
                      </a:r>
                    </a:p>
                  </a:txBody>
                  <a:tcPr>
                    <a:solidFill>
                      <a:srgbClr val="F3F4F6"/>
                    </a:solidFill>
                  </a:tcPr>
                </a:tc>
              </a:tr>
              <a:tr h="351917">
                <a:tc>
                  <a:txBody>
                    <a:bodyPr/>
                    <a:lstStyle/>
                    <a:p>
                      <a:r>
                        <a:rPr sz="1250" b="1">
                          <a:solidFill>
                            <a:srgbClr val="1F2A44"/>
                          </a:solidFill>
                          <a:latin typeface="Calibri"/>
                        </a:rPr>
                        <a:t>M. pubococcygeus</a:t>
                      </a:r>
                    </a:p>
                  </a:txBody>
                  <a:tcPr>
                    <a:solidFill>
                      <a:srgbClr val="FFFFFF"/>
                    </a:solidFill>
                  </a:tcPr>
                </a:tc>
                <a:tc>
                  <a:txBody>
                    <a:bodyPr/>
                    <a:lstStyle/>
                    <a:p>
                      <a:r>
                        <a:rPr sz="1250" b="0">
                          <a:solidFill>
                            <a:srgbClr val="1F2A44"/>
                          </a:solidFill>
                          <a:latin typeface="Calibri"/>
                        </a:rPr>
                        <a:t>Os pubis</a:t>
                      </a:r>
                    </a:p>
                  </a:txBody>
                  <a:tcPr>
                    <a:solidFill>
                      <a:srgbClr val="FFFFFF"/>
                    </a:solidFill>
                  </a:tcPr>
                </a:tc>
                <a:tc>
                  <a:txBody>
                    <a:bodyPr/>
                    <a:lstStyle/>
                    <a:p>
                      <a:r>
                        <a:rPr sz="1250" b="0">
                          <a:solidFill>
                            <a:srgbClr val="1F2A44"/>
                          </a:solidFill>
                          <a:latin typeface="Calibri"/>
                        </a:rPr>
                        <a:t>Lig. anococcygeum, os coccygis</a:t>
                      </a:r>
                    </a:p>
                  </a:txBody>
                  <a:tcPr>
                    <a:solidFill>
                      <a:srgbClr val="FFFFFF"/>
                    </a:solidFill>
                  </a:tcPr>
                </a:tc>
                <a:tc>
                  <a:txBody>
                    <a:bodyPr/>
                    <a:lstStyle/>
                    <a:p>
                      <a:r>
                        <a:rPr sz="1250" b="0">
                          <a:solidFill>
                            <a:srgbClr val="1F2A44"/>
                          </a:solidFill>
                          <a:latin typeface="Calibri"/>
                        </a:rPr>
                        <a:t>S3–S4 (n. levator ani)</a:t>
                      </a:r>
                    </a:p>
                  </a:txBody>
                  <a:tcPr>
                    <a:solidFill>
                      <a:srgbClr val="FFFFFF"/>
                    </a:solidFill>
                  </a:tcPr>
                </a:tc>
                <a:tc>
                  <a:txBody>
                    <a:bodyPr/>
                    <a:lstStyle/>
                    <a:p>
                      <a:r>
                        <a:rPr sz="1250" b="0">
                          <a:solidFill>
                            <a:srgbClr val="1F2A44"/>
                          </a:solidFill>
                          <a:latin typeface="Calibri"/>
                        </a:rPr>
                        <a:t>Pelvis organlarını destekler</a:t>
                      </a:r>
                    </a:p>
                  </a:txBody>
                  <a:tcPr>
                    <a:solidFill>
                      <a:srgbClr val="FFFFFF"/>
                    </a:solidFill>
                  </a:tcPr>
                </a:tc>
              </a:tr>
              <a:tr h="539241">
                <a:tc>
                  <a:txBody>
                    <a:bodyPr/>
                    <a:lstStyle/>
                    <a:p>
                      <a:r>
                        <a:rPr sz="1250" b="1">
                          <a:solidFill>
                            <a:srgbClr val="1F2A44"/>
                          </a:solidFill>
                          <a:latin typeface="Calibri"/>
                        </a:rPr>
                        <a:t>M. iliococcygeus</a:t>
                      </a:r>
                    </a:p>
                  </a:txBody>
                  <a:tcPr>
                    <a:solidFill>
                      <a:srgbClr val="F3F4F6"/>
                    </a:solidFill>
                  </a:tcPr>
                </a:tc>
                <a:tc>
                  <a:txBody>
                    <a:bodyPr/>
                    <a:lstStyle/>
                    <a:p>
                      <a:r>
                        <a:rPr sz="1250" b="0">
                          <a:solidFill>
                            <a:srgbClr val="1F2A44"/>
                          </a:solidFill>
                          <a:latin typeface="Calibri"/>
                        </a:rPr>
                        <a:t>Arcus tendineus m. levatoris ani, spina ischiadica</a:t>
                      </a:r>
                    </a:p>
                  </a:txBody>
                  <a:tcPr>
                    <a:solidFill>
                      <a:srgbClr val="F3F4F6"/>
                    </a:solidFill>
                  </a:tcPr>
                </a:tc>
                <a:tc>
                  <a:txBody>
                    <a:bodyPr/>
                    <a:lstStyle/>
                    <a:p>
                      <a:r>
                        <a:rPr sz="1250" b="0">
                          <a:solidFill>
                            <a:srgbClr val="1F2A44"/>
                          </a:solidFill>
                          <a:latin typeface="Calibri"/>
                        </a:rPr>
                        <a:t>Lig. anococcygeum, coccyx</a:t>
                      </a:r>
                    </a:p>
                  </a:txBody>
                  <a:tcPr>
                    <a:solidFill>
                      <a:srgbClr val="F3F4F6"/>
                    </a:solidFill>
                  </a:tcPr>
                </a:tc>
                <a:tc>
                  <a:txBody>
                    <a:bodyPr/>
                    <a:lstStyle/>
                    <a:p>
                      <a:r>
                        <a:rPr sz="1250" b="0">
                          <a:solidFill>
                            <a:srgbClr val="1F2A44"/>
                          </a:solidFill>
                          <a:latin typeface="Calibri"/>
                        </a:rPr>
                        <a:t>S3–S4</a:t>
                      </a:r>
                    </a:p>
                  </a:txBody>
                  <a:tcPr>
                    <a:solidFill>
                      <a:srgbClr val="F3F4F6"/>
                    </a:solidFill>
                  </a:tcPr>
                </a:tc>
                <a:tc>
                  <a:txBody>
                    <a:bodyPr/>
                    <a:lstStyle/>
                    <a:p>
                      <a:r>
                        <a:rPr sz="1250" b="0">
                          <a:solidFill>
                            <a:srgbClr val="1F2A44"/>
                          </a:solidFill>
                          <a:latin typeface="Calibri"/>
                        </a:rPr>
                        <a:t>Pelvis tabanını kaldırır</a:t>
                      </a:r>
                    </a:p>
                  </a:txBody>
                  <a:tcPr>
                    <a:solidFill>
                      <a:srgbClr val="F3F4F6"/>
                    </a:solidFill>
                  </a:tcPr>
                </a:tc>
              </a:tr>
              <a:tr h="351917">
                <a:tc>
                  <a:txBody>
                    <a:bodyPr/>
                    <a:lstStyle/>
                    <a:p>
                      <a:r>
                        <a:rPr sz="1250" b="1">
                          <a:solidFill>
                            <a:srgbClr val="1F2A44"/>
                          </a:solidFill>
                          <a:latin typeface="Calibri"/>
                        </a:rPr>
                        <a:t>M. coccygeus</a:t>
                      </a:r>
                    </a:p>
                  </a:txBody>
                  <a:tcPr>
                    <a:solidFill>
                      <a:srgbClr val="FFFFFF"/>
                    </a:solidFill>
                  </a:tcPr>
                </a:tc>
                <a:tc>
                  <a:txBody>
                    <a:bodyPr/>
                    <a:lstStyle/>
                    <a:p>
                      <a:r>
                        <a:rPr sz="1250" b="0">
                          <a:solidFill>
                            <a:srgbClr val="1F2A44"/>
                          </a:solidFill>
                          <a:latin typeface="Calibri"/>
                        </a:rPr>
                        <a:t>Spina ischiadica</a:t>
                      </a:r>
                    </a:p>
                  </a:txBody>
                  <a:tcPr>
                    <a:solidFill>
                      <a:srgbClr val="FFFFFF"/>
                    </a:solidFill>
                  </a:tcPr>
                </a:tc>
                <a:tc>
                  <a:txBody>
                    <a:bodyPr/>
                    <a:lstStyle/>
                    <a:p>
                      <a:r>
                        <a:rPr sz="1250" b="0">
                          <a:solidFill>
                            <a:srgbClr val="1F2A44"/>
                          </a:solidFill>
                          <a:latin typeface="Calibri"/>
                        </a:rPr>
                        <a:t>Coccyx ve sacrum alt kenarı</a:t>
                      </a:r>
                    </a:p>
                  </a:txBody>
                  <a:tcPr>
                    <a:solidFill>
                      <a:srgbClr val="FFFFFF"/>
                    </a:solidFill>
                  </a:tcPr>
                </a:tc>
                <a:tc>
                  <a:txBody>
                    <a:bodyPr/>
                    <a:lstStyle/>
                    <a:p>
                      <a:r>
                        <a:rPr sz="1250" b="0">
                          <a:solidFill>
                            <a:srgbClr val="1F2A44"/>
                          </a:solidFill>
                          <a:latin typeface="Calibri"/>
                        </a:rPr>
                        <a:t>S4–S5</a:t>
                      </a:r>
                    </a:p>
                  </a:txBody>
                  <a:tcPr>
                    <a:solidFill>
                      <a:srgbClr val="FFFFFF"/>
                    </a:solidFill>
                  </a:tcPr>
                </a:tc>
                <a:tc>
                  <a:txBody>
                    <a:bodyPr/>
                    <a:lstStyle/>
                    <a:p>
                      <a:r>
                        <a:rPr sz="1250" b="0">
                          <a:solidFill>
                            <a:srgbClr val="1F2A44"/>
                          </a:solidFill>
                          <a:latin typeface="Calibri"/>
                        </a:rPr>
                        <a:t>Coccyx'i destekler</a:t>
                      </a:r>
                    </a:p>
                  </a:txBody>
                  <a:tcPr>
                    <a:solidFill>
                      <a:srgbClr val="FFFFFF"/>
                    </a:solidFill>
                  </a:tcPr>
                </a:tc>
              </a:tr>
              <a:tr h="539241">
                <a:tc>
                  <a:txBody>
                    <a:bodyPr/>
                    <a:lstStyle/>
                    <a:p>
                      <a:r>
                        <a:rPr sz="1250" b="1">
                          <a:solidFill>
                            <a:srgbClr val="1F2A44"/>
                          </a:solidFill>
                          <a:latin typeface="Calibri"/>
                        </a:rPr>
                        <a:t>M. transversus perinei superficialis</a:t>
                      </a:r>
                    </a:p>
                  </a:txBody>
                  <a:tcPr>
                    <a:solidFill>
                      <a:srgbClr val="F3F4F6"/>
                    </a:solidFill>
                  </a:tcPr>
                </a:tc>
                <a:tc>
                  <a:txBody>
                    <a:bodyPr/>
                    <a:lstStyle/>
                    <a:p>
                      <a:r>
                        <a:rPr sz="1250" b="0">
                          <a:solidFill>
                            <a:srgbClr val="1F2A44"/>
                          </a:solidFill>
                          <a:latin typeface="Calibri"/>
                        </a:rPr>
                        <a:t>Tuber ischiadicum</a:t>
                      </a:r>
                    </a:p>
                  </a:txBody>
                  <a:tcPr>
                    <a:solidFill>
                      <a:srgbClr val="F3F4F6"/>
                    </a:solidFill>
                  </a:tcPr>
                </a:tc>
                <a:tc>
                  <a:txBody>
                    <a:bodyPr/>
                    <a:lstStyle/>
                    <a:p>
                      <a:r>
                        <a:rPr sz="1250" b="0">
                          <a:solidFill>
                            <a:srgbClr val="1F2A44"/>
                          </a:solidFill>
                          <a:latin typeface="Calibri"/>
                        </a:rPr>
                        <a:t>Centrum tendineum perinei</a:t>
                      </a:r>
                    </a:p>
                  </a:txBody>
                  <a:tcPr>
                    <a:solidFill>
                      <a:srgbClr val="F3F4F6"/>
                    </a:solidFill>
                  </a:tcPr>
                </a:tc>
                <a:tc>
                  <a:txBody>
                    <a:bodyPr/>
                    <a:lstStyle/>
                    <a:p>
                      <a:r>
                        <a:rPr sz="1250" b="0">
                          <a:solidFill>
                            <a:srgbClr val="1F2A44"/>
                          </a:solidFill>
                          <a:latin typeface="Calibri"/>
                        </a:rPr>
                        <a:t>N. perinealis</a:t>
                      </a:r>
                    </a:p>
                  </a:txBody>
                  <a:tcPr>
                    <a:solidFill>
                      <a:srgbClr val="F3F4F6"/>
                    </a:solidFill>
                  </a:tcPr>
                </a:tc>
                <a:tc>
                  <a:txBody>
                    <a:bodyPr/>
                    <a:lstStyle/>
                    <a:p>
                      <a:r>
                        <a:rPr sz="1250" b="0">
                          <a:solidFill>
                            <a:srgbClr val="1F2A44"/>
                          </a:solidFill>
                          <a:latin typeface="Calibri"/>
                        </a:rPr>
                        <a:t>Perine cismini sabitler</a:t>
                      </a:r>
                    </a:p>
                  </a:txBody>
                  <a:tcPr>
                    <a:solidFill>
                      <a:srgbClr val="F3F4F6"/>
                    </a:solidFill>
                  </a:tcPr>
                </a:tc>
              </a:tr>
              <a:tr h="539241">
                <a:tc>
                  <a:txBody>
                    <a:bodyPr/>
                    <a:lstStyle/>
                    <a:p>
                      <a:r>
                        <a:rPr sz="1250" b="1">
                          <a:solidFill>
                            <a:srgbClr val="1F2A44"/>
                          </a:solidFill>
                          <a:latin typeface="Calibri"/>
                        </a:rPr>
                        <a:t>M. bulbospongiosus</a:t>
                      </a:r>
                    </a:p>
                  </a:txBody>
                  <a:tcPr>
                    <a:solidFill>
                      <a:srgbClr val="FFFFFF"/>
                    </a:solidFill>
                  </a:tcPr>
                </a:tc>
                <a:tc>
                  <a:txBody>
                    <a:bodyPr/>
                    <a:lstStyle/>
                    <a:p>
                      <a:r>
                        <a:rPr sz="1250" b="0">
                          <a:solidFill>
                            <a:srgbClr val="1F2A44"/>
                          </a:solidFill>
                          <a:latin typeface="Calibri"/>
                        </a:rPr>
                        <a:t>Centrum tendineum, rafe</a:t>
                      </a:r>
                    </a:p>
                  </a:txBody>
                  <a:tcPr>
                    <a:solidFill>
                      <a:srgbClr val="FFFFFF"/>
                    </a:solidFill>
                  </a:tcPr>
                </a:tc>
                <a:tc>
                  <a:txBody>
                    <a:bodyPr/>
                    <a:lstStyle/>
                    <a:p>
                      <a:r>
                        <a:rPr sz="1250" b="0">
                          <a:solidFill>
                            <a:srgbClr val="1F2A44"/>
                          </a:solidFill>
                          <a:latin typeface="Calibri"/>
                        </a:rPr>
                        <a:t>Membrana perinei, corpus spongiosum / bulbus vestibuli</a:t>
                      </a:r>
                    </a:p>
                  </a:txBody>
                  <a:tcPr>
                    <a:solidFill>
                      <a:srgbClr val="FFFFFF"/>
                    </a:solidFill>
                  </a:tcPr>
                </a:tc>
                <a:tc>
                  <a:txBody>
                    <a:bodyPr/>
                    <a:lstStyle/>
                    <a:p>
                      <a:r>
                        <a:rPr sz="1250" b="0">
                          <a:solidFill>
                            <a:srgbClr val="1F2A44"/>
                          </a:solidFill>
                          <a:latin typeface="Calibri"/>
                        </a:rPr>
                        <a:t>N. perinealis</a:t>
                      </a:r>
                    </a:p>
                  </a:txBody>
                  <a:tcPr>
                    <a:solidFill>
                      <a:srgbClr val="FFFFFF"/>
                    </a:solidFill>
                  </a:tcPr>
                </a:tc>
                <a:tc>
                  <a:txBody>
                    <a:bodyPr/>
                    <a:lstStyle/>
                    <a:p>
                      <a:r>
                        <a:rPr sz="1250" b="0">
                          <a:solidFill>
                            <a:srgbClr val="1F2A44"/>
                          </a:solidFill>
                          <a:latin typeface="Calibri"/>
                        </a:rPr>
                        <a:t>Ejakülasyon, ereksiyon; vajina girişini daraltır</a:t>
                      </a:r>
                    </a:p>
                  </a:txBody>
                  <a:tcPr>
                    <a:solidFill>
                      <a:srgbClr val="FFFFFF"/>
                    </a:solidFill>
                  </a:tcPr>
                </a:tc>
              </a:tr>
              <a:tr h="351917">
                <a:tc>
                  <a:txBody>
                    <a:bodyPr/>
                    <a:lstStyle/>
                    <a:p>
                      <a:r>
                        <a:rPr sz="1250" b="1">
                          <a:solidFill>
                            <a:srgbClr val="1F2A44"/>
                          </a:solidFill>
                          <a:latin typeface="Calibri"/>
                        </a:rPr>
                        <a:t>M. ischiocavernosus</a:t>
                      </a:r>
                    </a:p>
                  </a:txBody>
                  <a:tcPr>
                    <a:solidFill>
                      <a:srgbClr val="F3F4F6"/>
                    </a:solidFill>
                  </a:tcPr>
                </a:tc>
                <a:tc>
                  <a:txBody>
                    <a:bodyPr/>
                    <a:lstStyle/>
                    <a:p>
                      <a:r>
                        <a:rPr sz="1250" b="0">
                          <a:solidFill>
                            <a:srgbClr val="1F2A44"/>
                          </a:solidFill>
                          <a:latin typeface="Calibri"/>
                        </a:rPr>
                        <a:t>Ramus ischiopubicus</a:t>
                      </a:r>
                    </a:p>
                  </a:txBody>
                  <a:tcPr>
                    <a:solidFill>
                      <a:srgbClr val="F3F4F6"/>
                    </a:solidFill>
                  </a:tcPr>
                </a:tc>
                <a:tc>
                  <a:txBody>
                    <a:bodyPr/>
                    <a:lstStyle/>
                    <a:p>
                      <a:r>
                        <a:rPr sz="1250" b="0">
                          <a:solidFill>
                            <a:srgbClr val="1F2A44"/>
                          </a:solidFill>
                          <a:latin typeface="Calibri"/>
                        </a:rPr>
                        <a:t>Crus penis / clitoridis</a:t>
                      </a:r>
                    </a:p>
                  </a:txBody>
                  <a:tcPr>
                    <a:solidFill>
                      <a:srgbClr val="F3F4F6"/>
                    </a:solidFill>
                  </a:tcPr>
                </a:tc>
                <a:tc>
                  <a:txBody>
                    <a:bodyPr/>
                    <a:lstStyle/>
                    <a:p>
                      <a:r>
                        <a:rPr sz="1250" b="0">
                          <a:solidFill>
                            <a:srgbClr val="1F2A44"/>
                          </a:solidFill>
                          <a:latin typeface="Calibri"/>
                        </a:rPr>
                        <a:t>N. perinealis</a:t>
                      </a:r>
                    </a:p>
                  </a:txBody>
                  <a:tcPr>
                    <a:solidFill>
                      <a:srgbClr val="F3F4F6"/>
                    </a:solidFill>
                  </a:tcPr>
                </a:tc>
                <a:tc>
                  <a:txBody>
                    <a:bodyPr/>
                    <a:lstStyle/>
                    <a:p>
                      <a:r>
                        <a:rPr sz="1250" b="0">
                          <a:solidFill>
                            <a:srgbClr val="1F2A44"/>
                          </a:solidFill>
                          <a:latin typeface="Calibri"/>
                        </a:rPr>
                        <a:t>Ereksiyonu sürdürür</a:t>
                      </a:r>
                    </a:p>
                  </a:txBody>
                  <a:tcPr>
                    <a:solidFill>
                      <a:srgbClr val="F3F4F6"/>
                    </a:solidFill>
                  </a:tcPr>
                </a:tc>
              </a:tr>
              <a:tr h="539241">
                <a:tc>
                  <a:txBody>
                    <a:bodyPr/>
                    <a:lstStyle/>
                    <a:p>
                      <a:r>
                        <a:rPr sz="1250" b="1">
                          <a:solidFill>
                            <a:srgbClr val="1F2A44"/>
                          </a:solidFill>
                          <a:latin typeface="Calibri"/>
                        </a:rPr>
                        <a:t>M. sphincter ani externus</a:t>
                      </a:r>
                    </a:p>
                  </a:txBody>
                  <a:tcPr>
                    <a:solidFill>
                      <a:srgbClr val="FFFFFF"/>
                    </a:solidFill>
                  </a:tcPr>
                </a:tc>
                <a:tc>
                  <a:txBody>
                    <a:bodyPr/>
                    <a:lstStyle/>
                    <a:p>
                      <a:r>
                        <a:rPr sz="1250" b="0">
                          <a:solidFill>
                            <a:srgbClr val="1F2A44"/>
                          </a:solidFill>
                          <a:latin typeface="Calibri"/>
                        </a:rPr>
                        <a:t>Perine cismi, lig. anococcygeum</a:t>
                      </a:r>
                    </a:p>
                  </a:txBody>
                  <a:tcPr>
                    <a:solidFill>
                      <a:srgbClr val="FFFFFF"/>
                    </a:solidFill>
                  </a:tcPr>
                </a:tc>
                <a:tc>
                  <a:txBody>
                    <a:bodyPr/>
                    <a:lstStyle/>
                    <a:p>
                      <a:r>
                        <a:rPr sz="1250" b="0">
                          <a:solidFill>
                            <a:srgbClr val="1F2A44"/>
                          </a:solidFill>
                          <a:latin typeface="Calibri"/>
                        </a:rPr>
                        <a:t>Canalis analis çevresi</a:t>
                      </a:r>
                    </a:p>
                  </a:txBody>
                  <a:tcPr>
                    <a:solidFill>
                      <a:srgbClr val="FFFFFF"/>
                    </a:solidFill>
                  </a:tcPr>
                </a:tc>
                <a:tc>
                  <a:txBody>
                    <a:bodyPr/>
                    <a:lstStyle/>
                    <a:p>
                      <a:r>
                        <a:rPr sz="1250" b="0">
                          <a:solidFill>
                            <a:srgbClr val="1F2A44"/>
                          </a:solidFill>
                          <a:latin typeface="Calibri"/>
                        </a:rPr>
                        <a:t>N. rectalis inferior</a:t>
                      </a:r>
                    </a:p>
                  </a:txBody>
                  <a:tcPr>
                    <a:solidFill>
                      <a:srgbClr val="FFFFFF"/>
                    </a:solidFill>
                  </a:tcPr>
                </a:tc>
                <a:tc>
                  <a:txBody>
                    <a:bodyPr/>
                    <a:lstStyle/>
                    <a:p>
                      <a:r>
                        <a:rPr sz="1250" b="0">
                          <a:solidFill>
                            <a:srgbClr val="1F2A44"/>
                          </a:solidFill>
                          <a:latin typeface="Calibri"/>
                        </a:rPr>
                        <a:t>İstemli anal kontinans</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Arcus tendineus m. levatoris ani ve fascia obturatoria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Chin ve ark., Sci Rep 2021 – hemipelvis diseksiyonu</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41598_2021_89041_Fig2_HTML.jpg"/>
          <p:cNvPicPr>
            <a:picLocks noChangeAspect="1"/>
          </p:cNvPicPr>
          <p:nvPr/>
        </p:nvPicPr>
        <p:blipFill>
          <a:blip r:embed="rId2"/>
          <a:stretch>
            <a:fillRect/>
          </a:stretch>
        </p:blipFill>
        <p:spPr>
          <a:xfrm>
            <a:off x="274320" y="1234440"/>
            <a:ext cx="3140216" cy="3951882"/>
          </a:xfrm>
          <a:prstGeom prst="rect">
            <a:avLst/>
          </a:prstGeom>
        </p:spPr>
      </p:pic>
      <p:sp>
        <p:nvSpPr>
          <p:cNvPr id="8" name="TextBox 7"/>
          <p:cNvSpPr txBox="1"/>
          <p:nvPr/>
        </p:nvSpPr>
        <p:spPr>
          <a:xfrm>
            <a:off x="91440" y="5186322"/>
            <a:ext cx="350597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Chin Hung-Yen ve ark., 2021 (PMC8096964, CC BY)</a:t>
            </a:r>
          </a:p>
        </p:txBody>
      </p:sp>
      <p:pic>
        <p:nvPicPr>
          <p:cNvPr id="9" name="Picture 8" descr="41598_2021_89041_Fig4_HTML.jpg"/>
          <p:cNvPicPr>
            <a:picLocks noChangeAspect="1"/>
          </p:cNvPicPr>
          <p:nvPr/>
        </p:nvPicPr>
        <p:blipFill>
          <a:blip r:embed="rId3"/>
          <a:stretch>
            <a:fillRect/>
          </a:stretch>
        </p:blipFill>
        <p:spPr>
          <a:xfrm>
            <a:off x="3551696" y="1234440"/>
            <a:ext cx="2986263" cy="3951882"/>
          </a:xfrm>
          <a:prstGeom prst="rect">
            <a:avLst/>
          </a:prstGeom>
        </p:spPr>
      </p:pic>
      <p:sp>
        <p:nvSpPr>
          <p:cNvPr id="10" name="TextBox 9"/>
          <p:cNvSpPr txBox="1"/>
          <p:nvPr/>
        </p:nvSpPr>
        <p:spPr>
          <a:xfrm>
            <a:off x="3368816" y="5186322"/>
            <a:ext cx="335202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Chin Hung-Yen ve ark., 2021 (PMC8096964,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ATLA</a:t>
            </a:r>
            <a:r>
              <a:rPr sz="1600" b="0" i="0">
                <a:solidFill>
                  <a:srgbClr val="1F2A44"/>
                </a:solidFill>
                <a:latin typeface="Calibri"/>
              </a:rPr>
              <a:t> arcus tendineus m. levatoris ani; </a:t>
            </a:r>
            <a:r>
              <a:rPr sz="1600" b="0" i="0">
                <a:solidFill>
                  <a:srgbClr val="1F2A44"/>
                </a:solidFill>
                <a:latin typeface="Calibri"/>
              </a:rPr>
              <a:t>ATFP</a:t>
            </a:r>
            <a:r>
              <a:rPr sz="1600" b="0" i="0">
                <a:solidFill>
                  <a:srgbClr val="1F2A44"/>
                </a:solidFill>
                <a:latin typeface="Calibri"/>
              </a:rPr>
              <a:t> arcus tendineus fasciae pelvis; </a:t>
            </a:r>
            <a:r>
              <a:rPr sz="1600" b="0" i="0">
                <a:solidFill>
                  <a:srgbClr val="1F2A44"/>
                </a:solidFill>
                <a:latin typeface="Calibri"/>
              </a:rPr>
              <a:t>PS</a:t>
            </a:r>
            <a:r>
              <a:rPr sz="1600" b="0" i="0">
                <a:solidFill>
                  <a:srgbClr val="1F2A44"/>
                </a:solidFill>
                <a:latin typeface="Calibri"/>
              </a:rPr>
              <a:t> symphysis pubica; siyah daireler canalis obturatorius</a:t>
            </a:r>
          </a:p>
          <a:p>
            <a:pPr algn="l">
              <a:spcAft>
                <a:spcPts val="300"/>
              </a:spcAft>
            </a:pPr>
            <a:r>
              <a:rPr sz="1600" b="0" i="0">
                <a:solidFill>
                  <a:srgbClr val="1F2A44"/>
                </a:solidFill>
                <a:latin typeface="Calibri"/>
              </a:rPr>
              <a:t>• Şekil 4: </a:t>
            </a:r>
            <a:r>
              <a:rPr sz="1600" b="0" i="0">
                <a:solidFill>
                  <a:srgbClr val="1F2A44"/>
                </a:solidFill>
                <a:latin typeface="Calibri"/>
              </a:rPr>
              <a:t>LAM</a:t>
            </a:r>
            <a:r>
              <a:rPr sz="1600" b="0" i="0">
                <a:solidFill>
                  <a:srgbClr val="1F2A44"/>
                </a:solidFill>
                <a:latin typeface="Calibri"/>
              </a:rPr>
              <a:t> m. levator ani; </a:t>
            </a:r>
            <a:r>
              <a:rPr sz="1600" b="0" i="0">
                <a:solidFill>
                  <a:srgbClr val="1F2A44"/>
                </a:solidFill>
                <a:latin typeface="Calibri"/>
              </a:rPr>
              <a:t>OIM</a:t>
            </a:r>
            <a:r>
              <a:rPr sz="1600" b="0" i="0">
                <a:solidFill>
                  <a:srgbClr val="1F2A44"/>
                </a:solidFill>
                <a:latin typeface="Calibri"/>
              </a:rPr>
              <a:t> m. obturatorius internus; </a:t>
            </a:r>
            <a:r>
              <a:rPr sz="1600" b="0" i="0">
                <a:solidFill>
                  <a:srgbClr val="1F2A44"/>
                </a:solidFill>
                <a:latin typeface="Calibri"/>
              </a:rPr>
              <a:t>PRM</a:t>
            </a:r>
            <a:r>
              <a:rPr sz="1600" b="0" i="0">
                <a:solidFill>
                  <a:srgbClr val="1F2A44"/>
                </a:solidFill>
                <a:latin typeface="Calibri"/>
              </a:rPr>
              <a:t> m. piriformis; </a:t>
            </a:r>
            <a:r>
              <a:rPr sz="1600" b="0" i="0">
                <a:solidFill>
                  <a:srgbClr val="1F2A44"/>
                </a:solidFill>
                <a:latin typeface="Calibri"/>
              </a:rPr>
              <a:t>IAF</a:t>
            </a:r>
            <a:r>
              <a:rPr sz="1600" b="0" i="0">
                <a:solidFill>
                  <a:srgbClr val="1F2A44"/>
                </a:solidFill>
                <a:latin typeface="Calibri"/>
              </a:rPr>
              <a:t> fossa ischioanalis; </a:t>
            </a:r>
            <a:r>
              <a:rPr sz="1600" b="0" i="0">
                <a:solidFill>
                  <a:srgbClr val="1F2A44"/>
                </a:solidFill>
                <a:latin typeface="Calibri"/>
              </a:rPr>
              <a:t>Ut</a:t>
            </a:r>
            <a:r>
              <a:rPr sz="1600" b="0" i="0">
                <a:solidFill>
                  <a:srgbClr val="1F2A44"/>
                </a:solidFill>
                <a:latin typeface="Calibri"/>
              </a:rPr>
              <a:t> uterus; </a:t>
            </a:r>
            <a:r>
              <a:rPr sz="1600" b="0" i="0">
                <a:solidFill>
                  <a:srgbClr val="1F2A44"/>
                </a:solidFill>
                <a:latin typeface="Calibri"/>
              </a:rPr>
              <a:t>Rc</a:t>
            </a:r>
            <a:r>
              <a:rPr sz="1600" b="0" i="0">
                <a:solidFill>
                  <a:srgbClr val="1F2A44"/>
                </a:solidFill>
                <a:latin typeface="Calibri"/>
              </a:rPr>
              <a:t> rectum</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Fascia obturatoria kalınlığı erkekte 0,167 ± 0,031 mm, kadında 0,228 ± 0,036 mm (p &lt; 0,01).</a:t>
            </a:r>
          </a:p>
          <a:p>
            <a:pPr algn="l">
              <a:spcAft>
                <a:spcPts val="300"/>
              </a:spcAft>
            </a:pPr>
            <a:r>
              <a:rPr sz="1600" b="0" i="0">
                <a:solidFill>
                  <a:srgbClr val="1F2A44"/>
                </a:solidFill>
                <a:latin typeface="Calibri"/>
              </a:rPr>
              <a:t>• Tüm kadavralarda levator ani aponevrozu ATLA'nın üstünde fascia obturatoria ile kaynaşmıştır.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Chin Hung-Yen, Peng Chih-Wei, Wu Ming-Ping et al. Attachment of the levator ani muscle extends to the superior ramus of the pubic bone through electrophysiological and anatomical examinations. Sci Rep. 2021 May 4;11:9483. doi: 10.1038/s41598-021-89041-6 PMCID: PMC8096964.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pelvis tabanı – lateral görünüm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Suriyut ve ark., Anat Sci Int 2019 – 15 erkek pelvis</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12565_2019_521_Fig1_HTML.jpg"/>
          <p:cNvPicPr>
            <a:picLocks noChangeAspect="1"/>
          </p:cNvPicPr>
          <p:nvPr/>
        </p:nvPicPr>
        <p:blipFill>
          <a:blip r:embed="rId2"/>
          <a:stretch>
            <a:fillRect/>
          </a:stretch>
        </p:blipFill>
        <p:spPr>
          <a:xfrm>
            <a:off x="274320" y="1234440"/>
            <a:ext cx="1968270" cy="3314981"/>
          </a:xfrm>
          <a:prstGeom prst="rect">
            <a:avLst/>
          </a:prstGeom>
        </p:spPr>
      </p:pic>
      <p:sp>
        <p:nvSpPr>
          <p:cNvPr id="8" name="TextBox 7"/>
          <p:cNvSpPr txBox="1"/>
          <p:nvPr/>
        </p:nvSpPr>
        <p:spPr>
          <a:xfrm>
            <a:off x="91439" y="4549421"/>
            <a:ext cx="233403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Suriyut Janyaruk ve ark., 2019 (PMC7182620, CC BY)</a:t>
            </a:r>
          </a:p>
        </p:txBody>
      </p:sp>
      <p:pic>
        <p:nvPicPr>
          <p:cNvPr id="9" name="Picture 8" descr="12565_2019_521_Fig2_HTML.jpg"/>
          <p:cNvPicPr>
            <a:picLocks noChangeAspect="1"/>
          </p:cNvPicPr>
          <p:nvPr/>
        </p:nvPicPr>
        <p:blipFill>
          <a:blip r:embed="rId3"/>
          <a:stretch>
            <a:fillRect/>
          </a:stretch>
        </p:blipFill>
        <p:spPr>
          <a:xfrm>
            <a:off x="2379750" y="1234440"/>
            <a:ext cx="4158209" cy="3314981"/>
          </a:xfrm>
          <a:prstGeom prst="rect">
            <a:avLst/>
          </a:prstGeom>
        </p:spPr>
      </p:pic>
      <p:sp>
        <p:nvSpPr>
          <p:cNvPr id="10" name="TextBox 9"/>
          <p:cNvSpPr txBox="1"/>
          <p:nvPr/>
        </p:nvSpPr>
        <p:spPr>
          <a:xfrm>
            <a:off x="2196870" y="4549421"/>
            <a:ext cx="452396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Suriyut Janyaruk ve ark., 2019 (PMC7182620,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LA</a:t>
            </a:r>
            <a:r>
              <a:rPr sz="1600" b="0" i="0">
                <a:solidFill>
                  <a:srgbClr val="1F2A44"/>
                </a:solidFill>
                <a:latin typeface="Calibri"/>
              </a:rPr>
              <a:t> m. levator ani; </a:t>
            </a:r>
            <a:r>
              <a:rPr sz="1600" b="0" i="0">
                <a:solidFill>
                  <a:srgbClr val="1F2A44"/>
                </a:solidFill>
                <a:latin typeface="Calibri"/>
              </a:rPr>
              <a:t>IC</a:t>
            </a:r>
            <a:r>
              <a:rPr sz="1600" b="0" i="0">
                <a:solidFill>
                  <a:srgbClr val="1F2A44"/>
                </a:solidFill>
                <a:latin typeface="Calibri"/>
              </a:rPr>
              <a:t> m. ischiocavernosus; </a:t>
            </a:r>
            <a:r>
              <a:rPr sz="1600" b="0" i="0">
                <a:solidFill>
                  <a:srgbClr val="1F2A44"/>
                </a:solidFill>
                <a:latin typeface="Calibri"/>
              </a:rPr>
              <a:t>BS</a:t>
            </a:r>
            <a:r>
              <a:rPr sz="1600" b="0" i="0">
                <a:solidFill>
                  <a:srgbClr val="1F2A44"/>
                </a:solidFill>
                <a:latin typeface="Calibri"/>
              </a:rPr>
              <a:t> m. bulbospongiosus; </a:t>
            </a:r>
            <a:r>
              <a:rPr sz="1600" b="0" i="0">
                <a:solidFill>
                  <a:srgbClr val="1F2A44"/>
                </a:solidFill>
                <a:latin typeface="Calibri"/>
              </a:rPr>
              <a:t>STP</a:t>
            </a:r>
            <a:r>
              <a:rPr sz="1600" b="0" i="0">
                <a:solidFill>
                  <a:srgbClr val="1F2A44"/>
                </a:solidFill>
                <a:latin typeface="Calibri"/>
              </a:rPr>
              <a:t> m. transversus perinei superficialis; </a:t>
            </a:r>
            <a:r>
              <a:rPr sz="1600" b="0" i="0">
                <a:solidFill>
                  <a:srgbClr val="1F2A44"/>
                </a:solidFill>
                <a:latin typeface="Calibri"/>
              </a:rPr>
              <a:t>EAS</a:t>
            </a:r>
            <a:r>
              <a:rPr sz="1600" b="0" i="0">
                <a:solidFill>
                  <a:srgbClr val="1F2A44"/>
                </a:solidFill>
                <a:latin typeface="Calibri"/>
              </a:rPr>
              <a:t> m. sphincter ani externus; </a:t>
            </a:r>
            <a:r>
              <a:rPr sz="1600" b="0" i="0">
                <a:solidFill>
                  <a:srgbClr val="1F2A44"/>
                </a:solidFill>
                <a:latin typeface="Calibri"/>
              </a:rPr>
              <a:t>ACL</a:t>
            </a:r>
            <a:r>
              <a:rPr sz="1600" b="0" i="0">
                <a:solidFill>
                  <a:srgbClr val="1F2A44"/>
                </a:solidFill>
                <a:latin typeface="Calibri"/>
              </a:rPr>
              <a:t> lig. anococcygeum; pubis, tendinous arch (arcus tendineus), coccyx</a:t>
            </a:r>
          </a:p>
        </p:txBody>
      </p:sp>
      <p:sp>
        <p:nvSpPr>
          <p:cNvPr id="13" name="TextBox 12"/>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16224"/>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Perine kasları lateralde birbiriyle bağlantılıdır.</a:t>
            </a:r>
          </a:p>
          <a:p>
            <a:pPr algn="l">
              <a:spcAft>
                <a:spcPts val="300"/>
              </a:spcAft>
            </a:pPr>
            <a:r>
              <a:rPr sz="1600" b="0" i="0">
                <a:solidFill>
                  <a:srgbClr val="1F2A44"/>
                </a:solidFill>
                <a:latin typeface="Calibri"/>
              </a:rPr>
              <a:t>• Levator ani'den uzanan demetler ve perine kasları dış üretral sfinkteri çevreler.</a:t>
            </a:r>
          </a:p>
          <a:p>
            <a:pPr algn="l">
              <a:spcAft>
                <a:spcPts val="300"/>
              </a:spcAft>
            </a:pPr>
            <a:r>
              <a:rPr sz="1600" b="0" i="0">
                <a:solidFill>
                  <a:srgbClr val="1F2A44"/>
                </a:solidFill>
                <a:latin typeface="Calibri"/>
              </a:rPr>
              <a:t>• Levator ani demetleri lig. anococcygeum ile coccyx'e uzanır.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Suriyut Janyaruk, Muro Satoru, Baramee Phichaya et al. Various significant connections of the male pelvic floor muscles with special reference to the anal and urethral sphincter muscles. Anat Sci Int. 2019 Dec 23;95(3):305–12. doi: 10.1007/s12565-019-00521-2 PMCID: PMC7182620.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 perinesi – üç kas askısı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Baramee ve ark., Anat Sci Int 2019 – 16 kadın kadavra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12565_2019_492_Fig2_HTML.jpg"/>
          <p:cNvPicPr>
            <a:picLocks noChangeAspect="1"/>
          </p:cNvPicPr>
          <p:nvPr/>
        </p:nvPicPr>
        <p:blipFill>
          <a:blip r:embed="rId2"/>
          <a:stretch>
            <a:fillRect/>
          </a:stretch>
        </p:blipFill>
        <p:spPr>
          <a:xfrm>
            <a:off x="274320" y="1234440"/>
            <a:ext cx="1867990" cy="2784859"/>
          </a:xfrm>
          <a:prstGeom prst="rect">
            <a:avLst/>
          </a:prstGeom>
        </p:spPr>
      </p:pic>
      <p:sp>
        <p:nvSpPr>
          <p:cNvPr id="8" name="TextBox 7"/>
          <p:cNvSpPr txBox="1"/>
          <p:nvPr/>
        </p:nvSpPr>
        <p:spPr>
          <a:xfrm>
            <a:off x="91440" y="4019299"/>
            <a:ext cx="223375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Baramee Phichaya ve ark., 2019 (PMC6942605, CC BY)</a:t>
            </a:r>
          </a:p>
        </p:txBody>
      </p:sp>
      <p:pic>
        <p:nvPicPr>
          <p:cNvPr id="9" name="Picture 8" descr="12565_2019_492_Fig6_HTML.jpg"/>
          <p:cNvPicPr>
            <a:picLocks noChangeAspect="1"/>
          </p:cNvPicPr>
          <p:nvPr/>
        </p:nvPicPr>
        <p:blipFill>
          <a:blip r:embed="rId3"/>
          <a:stretch>
            <a:fillRect/>
          </a:stretch>
        </p:blipFill>
        <p:spPr>
          <a:xfrm>
            <a:off x="2279470" y="1234440"/>
            <a:ext cx="4258489" cy="2784859"/>
          </a:xfrm>
          <a:prstGeom prst="rect">
            <a:avLst/>
          </a:prstGeom>
        </p:spPr>
      </p:pic>
      <p:sp>
        <p:nvSpPr>
          <p:cNvPr id="10" name="TextBox 9"/>
          <p:cNvSpPr txBox="1"/>
          <p:nvPr/>
        </p:nvSpPr>
        <p:spPr>
          <a:xfrm>
            <a:off x="2096590" y="4019299"/>
            <a:ext cx="462424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6 – Baramee Phichaya ve ark., 2019 (PMC6942605,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IC</a:t>
            </a:r>
            <a:r>
              <a:rPr sz="1600" b="0" i="0">
                <a:solidFill>
                  <a:srgbClr val="1F2A44"/>
                </a:solidFill>
                <a:latin typeface="Calibri"/>
              </a:rPr>
              <a:t> m. ischiocavernosus; </a:t>
            </a:r>
            <a:r>
              <a:rPr sz="1600" b="0" i="0">
                <a:solidFill>
                  <a:srgbClr val="1F2A44"/>
                </a:solidFill>
                <a:latin typeface="Calibri"/>
              </a:rPr>
              <a:t>BS</a:t>
            </a:r>
            <a:r>
              <a:rPr sz="1600" b="0" i="0">
                <a:solidFill>
                  <a:srgbClr val="1F2A44"/>
                </a:solidFill>
                <a:latin typeface="Calibri"/>
              </a:rPr>
              <a:t> m. bulbospongiosus; </a:t>
            </a:r>
            <a:r>
              <a:rPr sz="1600" b="0" i="0">
                <a:solidFill>
                  <a:srgbClr val="1F2A44"/>
                </a:solidFill>
                <a:latin typeface="Calibri"/>
              </a:rPr>
              <a:t>STP</a:t>
            </a:r>
            <a:r>
              <a:rPr sz="1600" b="0" i="0">
                <a:solidFill>
                  <a:srgbClr val="1F2A44"/>
                </a:solidFill>
                <a:latin typeface="Calibri"/>
              </a:rPr>
              <a:t> m. transversus perinei superficialis; </a:t>
            </a:r>
            <a:r>
              <a:rPr sz="1600" b="0" i="0">
                <a:solidFill>
                  <a:srgbClr val="1F2A44"/>
                </a:solidFill>
                <a:latin typeface="Calibri"/>
              </a:rPr>
              <a:t>EAS</a:t>
            </a:r>
            <a:r>
              <a:rPr sz="1600" b="0" i="0">
                <a:solidFill>
                  <a:srgbClr val="1F2A44"/>
                </a:solidFill>
                <a:latin typeface="Calibri"/>
              </a:rPr>
              <a:t> m. sphincter ani externus (Sub. EAS deri altı bölüm); </a:t>
            </a:r>
            <a:r>
              <a:rPr sz="1600" b="0" i="0">
                <a:solidFill>
                  <a:srgbClr val="1F2A44"/>
                </a:solidFill>
                <a:latin typeface="Calibri"/>
              </a:rPr>
              <a:t>LA</a:t>
            </a:r>
            <a:r>
              <a:rPr sz="1600" b="0" i="0">
                <a:solidFill>
                  <a:srgbClr val="1F2A44"/>
                </a:solidFill>
                <a:latin typeface="Calibri"/>
              </a:rPr>
              <a:t> m. levator ani; </a:t>
            </a:r>
            <a:r>
              <a:rPr sz="1600" b="0" i="0">
                <a:solidFill>
                  <a:srgbClr val="1F2A44"/>
                </a:solidFill>
                <a:latin typeface="Calibri"/>
              </a:rPr>
              <a:t>AB/PB</a:t>
            </a:r>
            <a:r>
              <a:rPr sz="1600" b="0" i="0">
                <a:solidFill>
                  <a:srgbClr val="1F2A44"/>
                </a:solidFill>
                <a:latin typeface="Calibri"/>
              </a:rPr>
              <a:t> levator ani ön bölümünün ön/arka demeti; </a:t>
            </a:r>
            <a:r>
              <a:rPr sz="1600" b="0" i="0">
                <a:solidFill>
                  <a:srgbClr val="1F2A44"/>
                </a:solidFill>
                <a:latin typeface="Calibri"/>
              </a:rPr>
              <a:t>ACL</a:t>
            </a:r>
            <a:r>
              <a:rPr sz="1600" b="0" i="0">
                <a:solidFill>
                  <a:srgbClr val="1F2A44"/>
                </a:solidFill>
                <a:latin typeface="Calibri"/>
              </a:rPr>
              <a:t> lig. anococcygeum</a:t>
            </a:r>
          </a:p>
        </p:txBody>
      </p:sp>
      <p:sp>
        <p:nvSpPr>
          <p:cNvPr id="13" name="TextBox 12"/>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16224"/>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M. bulbospongiosus dış anal sfinkterin lateral yüzüne kaynaşır.</a:t>
            </a:r>
          </a:p>
          <a:p>
            <a:pPr algn="l">
              <a:spcAft>
                <a:spcPts val="300"/>
              </a:spcAft>
            </a:pPr>
            <a:r>
              <a:rPr sz="1600" b="0" i="0">
                <a:solidFill>
                  <a:srgbClr val="1F2A44"/>
                </a:solidFill>
                <a:latin typeface="Calibri"/>
              </a:rPr>
              <a:t>• M. transversus perinei superficialis orta askıyı oluşturur.</a:t>
            </a:r>
          </a:p>
          <a:p>
            <a:pPr algn="l">
              <a:spcAft>
                <a:spcPts val="300"/>
              </a:spcAft>
            </a:pPr>
            <a:r>
              <a:rPr sz="1600" b="0" i="0">
                <a:solidFill>
                  <a:srgbClr val="1F2A44"/>
                </a:solidFill>
                <a:latin typeface="Calibri"/>
              </a:rPr>
              <a:t>• Yazarlar pelvis tabanını destekleyen üç kas askısı önermektedir.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Baramee Phichaya, Muro Satoru, Suriyut Janyaruk et al. Three muscle slings of the pelvic floor in women: an anatomic study. Anat Sci Int. 2019 Jun 4;95(1):47–53. doi: 10.1007/s12565-019-00492-4 PMCID: PMC6942605.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Levator ani ve sfinkter kompleksi – 3B rekonstrüksiyon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Wu ve ark., PLoS ONE 2015 – Chinese Visible Human kesitleri</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pone.0132226.g001.jpg"/>
          <p:cNvPicPr>
            <a:picLocks noChangeAspect="1"/>
          </p:cNvPicPr>
          <p:nvPr/>
        </p:nvPicPr>
        <p:blipFill>
          <a:blip r:embed="rId2"/>
          <a:stretch>
            <a:fillRect/>
          </a:stretch>
        </p:blipFill>
        <p:spPr>
          <a:xfrm>
            <a:off x="1989373" y="1234440"/>
            <a:ext cx="2833533" cy="3041326"/>
          </a:xfrm>
          <a:prstGeom prst="rect">
            <a:avLst/>
          </a:prstGeom>
        </p:spPr>
      </p:pic>
      <p:sp>
        <p:nvSpPr>
          <p:cNvPr id="8" name="TextBox 7"/>
          <p:cNvSpPr txBox="1"/>
          <p:nvPr/>
        </p:nvSpPr>
        <p:spPr>
          <a:xfrm>
            <a:off x="1806493" y="4275766"/>
            <a:ext cx="319929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Wu Yi ve ark., 2015 (PMC4549266, CC BY)</a:t>
            </a:r>
          </a:p>
        </p:txBody>
      </p:sp>
      <p:pic>
        <p:nvPicPr>
          <p:cNvPr id="9" name="Picture 8" descr="pone.0132226.g002.jpg"/>
          <p:cNvPicPr>
            <a:picLocks noChangeAspect="1"/>
          </p:cNvPicPr>
          <p:nvPr/>
        </p:nvPicPr>
        <p:blipFill>
          <a:blip r:embed="rId3"/>
          <a:stretch>
            <a:fillRect/>
          </a:stretch>
        </p:blipFill>
        <p:spPr>
          <a:xfrm>
            <a:off x="1989373" y="4550086"/>
            <a:ext cx="2833533" cy="1484953"/>
          </a:xfrm>
          <a:prstGeom prst="rect">
            <a:avLst/>
          </a:prstGeom>
        </p:spPr>
      </p:pic>
      <p:sp>
        <p:nvSpPr>
          <p:cNvPr id="10" name="TextBox 9"/>
          <p:cNvSpPr txBox="1"/>
          <p:nvPr/>
        </p:nvSpPr>
        <p:spPr>
          <a:xfrm>
            <a:off x="1806493" y="6035040"/>
            <a:ext cx="319929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Wu Yi ve ark., 2015 (PMC4549266,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B</a:t>
            </a:r>
            <a:r>
              <a:rPr sz="1600" b="0" i="0">
                <a:solidFill>
                  <a:srgbClr val="1F2A44"/>
                </a:solidFill>
                <a:latin typeface="Calibri"/>
              </a:rPr>
              <a:t> mesane; </a:t>
            </a:r>
            <a:r>
              <a:rPr sz="1600" b="0" i="0">
                <a:solidFill>
                  <a:srgbClr val="1F2A44"/>
                </a:solidFill>
                <a:latin typeface="Calibri"/>
              </a:rPr>
              <a:t>V</a:t>
            </a:r>
            <a:r>
              <a:rPr sz="1600" b="0" i="0">
                <a:solidFill>
                  <a:srgbClr val="1F2A44"/>
                </a:solidFill>
                <a:latin typeface="Calibri"/>
              </a:rPr>
              <a:t> vagina; </a:t>
            </a:r>
            <a:r>
              <a:rPr sz="1600" b="0" i="0">
                <a:solidFill>
                  <a:srgbClr val="1F2A44"/>
                </a:solidFill>
                <a:latin typeface="Calibri"/>
              </a:rPr>
              <a:t>R</a:t>
            </a:r>
            <a:r>
              <a:rPr sz="1600" b="0" i="0">
                <a:solidFill>
                  <a:srgbClr val="1F2A44"/>
                </a:solidFill>
                <a:latin typeface="Calibri"/>
              </a:rPr>
              <a:t> rektum; </a:t>
            </a:r>
            <a:r>
              <a:rPr sz="1600" b="0" i="0">
                <a:solidFill>
                  <a:srgbClr val="1F2A44"/>
                </a:solidFill>
                <a:latin typeface="Calibri"/>
              </a:rPr>
              <a:t>U</a:t>
            </a:r>
            <a:r>
              <a:rPr sz="1600" b="0" i="0">
                <a:solidFill>
                  <a:srgbClr val="1F2A44"/>
                </a:solidFill>
                <a:latin typeface="Calibri"/>
              </a:rPr>
              <a:t> urethra; </a:t>
            </a:r>
            <a:r>
              <a:rPr sz="1600" b="0" i="0">
                <a:solidFill>
                  <a:srgbClr val="1F2A44"/>
                </a:solidFill>
                <a:latin typeface="Calibri"/>
              </a:rPr>
              <a:t>OI</a:t>
            </a:r>
            <a:r>
              <a:rPr sz="1600" b="0" i="0">
                <a:solidFill>
                  <a:srgbClr val="1F2A44"/>
                </a:solidFill>
                <a:latin typeface="Calibri"/>
              </a:rPr>
              <a:t> m. obturatorius internus; </a:t>
            </a:r>
            <a:r>
              <a:rPr sz="1600" b="0" i="0">
                <a:solidFill>
                  <a:srgbClr val="1F2A44"/>
                </a:solidFill>
                <a:latin typeface="Calibri"/>
              </a:rPr>
              <a:t>EAS</a:t>
            </a:r>
            <a:r>
              <a:rPr sz="1600" b="0" i="0">
                <a:solidFill>
                  <a:srgbClr val="1F2A44"/>
                </a:solidFill>
                <a:latin typeface="Calibri"/>
              </a:rPr>
              <a:t> m. sphincter ani externus; </a:t>
            </a:r>
            <a:r>
              <a:rPr sz="1600" b="0" i="0">
                <a:solidFill>
                  <a:srgbClr val="1F2A44"/>
                </a:solidFill>
                <a:latin typeface="Calibri"/>
              </a:rPr>
              <a:t>PV</a:t>
            </a:r>
            <a:r>
              <a:rPr sz="1600" b="0" i="0">
                <a:solidFill>
                  <a:srgbClr val="1F2A44"/>
                </a:solidFill>
                <a:latin typeface="Calibri"/>
              </a:rPr>
              <a:t> m. pubovisceralis; </a:t>
            </a:r>
            <a:r>
              <a:rPr sz="1600" b="0" i="0">
                <a:solidFill>
                  <a:srgbClr val="1F2A44"/>
                </a:solidFill>
                <a:latin typeface="Calibri"/>
              </a:rPr>
              <a:t>PR-D/PR-S</a:t>
            </a:r>
            <a:r>
              <a:rPr sz="1600" b="0" i="0">
                <a:solidFill>
                  <a:srgbClr val="1F2A44"/>
                </a:solidFill>
                <a:latin typeface="Calibri"/>
              </a:rPr>
              <a:t> m. puborectalis derin/yüzeyel; </a:t>
            </a:r>
            <a:r>
              <a:rPr sz="1600" b="0" i="0">
                <a:solidFill>
                  <a:srgbClr val="1F2A44"/>
                </a:solidFill>
                <a:latin typeface="Calibri"/>
              </a:rPr>
              <a:t>RC</a:t>
            </a:r>
            <a:r>
              <a:rPr sz="1600" b="0" i="0">
                <a:solidFill>
                  <a:srgbClr val="1F2A44"/>
                </a:solidFill>
                <a:latin typeface="Calibri"/>
              </a:rPr>
              <a:t> m. rectococcygeus; </a:t>
            </a:r>
            <a:r>
              <a:rPr sz="1600" b="0" i="0">
                <a:solidFill>
                  <a:srgbClr val="1F2A44"/>
                </a:solidFill>
                <a:latin typeface="Calibri"/>
              </a:rPr>
              <a:t>AL</a:t>
            </a:r>
            <a:r>
              <a:rPr sz="1600" b="0" i="0">
                <a:solidFill>
                  <a:srgbClr val="1F2A44"/>
                </a:solidFill>
                <a:latin typeface="Calibri"/>
              </a:rPr>
              <a:t> lig. anococcygeum; </a:t>
            </a:r>
            <a:r>
              <a:rPr sz="1600" b="0" i="0">
                <a:solidFill>
                  <a:srgbClr val="1F2A44"/>
                </a:solidFill>
                <a:latin typeface="Calibri"/>
              </a:rPr>
              <a:t>PB</a:t>
            </a:r>
            <a:r>
              <a:rPr sz="1600" b="0" i="0">
                <a:solidFill>
                  <a:srgbClr val="1F2A44"/>
                </a:solidFill>
                <a:latin typeface="Calibri"/>
              </a:rPr>
              <a:t> perine cismi; </a:t>
            </a:r>
            <a:r>
              <a:rPr sz="1600" b="0" i="0">
                <a:solidFill>
                  <a:srgbClr val="1F2A44"/>
                </a:solidFill>
                <a:latin typeface="Calibri"/>
              </a:rPr>
              <a:t>DP</a:t>
            </a:r>
            <a:r>
              <a:rPr sz="1600" b="0" i="0">
                <a:solidFill>
                  <a:srgbClr val="1F2A44"/>
                </a:solidFill>
                <a:latin typeface="Calibri"/>
              </a:rPr>
              <a:t> derin perine kası; </a:t>
            </a:r>
            <a:r>
              <a:rPr sz="1600" b="0" i="0">
                <a:solidFill>
                  <a:srgbClr val="1F2A44"/>
                </a:solidFill>
                <a:latin typeface="Calibri"/>
              </a:rPr>
              <a:t>STP</a:t>
            </a:r>
            <a:r>
              <a:rPr sz="1600" b="0" i="0">
                <a:solidFill>
                  <a:srgbClr val="1F2A44"/>
                </a:solidFill>
                <a:latin typeface="Calibri"/>
              </a:rPr>
              <a:t>; </a:t>
            </a:r>
            <a:r>
              <a:rPr sz="1600" b="0" i="0">
                <a:solidFill>
                  <a:srgbClr val="1F2A44"/>
                </a:solidFill>
                <a:latin typeface="Calibri"/>
              </a:rPr>
              <a:t>BS</a:t>
            </a:r>
          </a:p>
        </p:txBody>
      </p:sp>
      <p:sp>
        <p:nvSpPr>
          <p:cNvPr id="13" name="TextBox 12"/>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556000"/>
            <a:ext cx="5257800" cy="1682495"/>
          </a:xfrm>
          <a:prstGeom prst="rect">
            <a:avLst/>
          </a:prstGeom>
          <a:noFill/>
        </p:spPr>
        <p:txBody>
          <a:bodyPr wrap="square">
            <a:spAutoFit/>
          </a:bodyPr>
          <a:lstStyle/>
          <a:p>
            <a:pPr algn="l">
              <a:spcAft>
                <a:spcPts val="300"/>
              </a:spcAft>
            </a:pPr>
            <a:r>
              <a:rPr sz="1600" b="0" i="0">
                <a:solidFill>
                  <a:srgbClr val="1F2A44"/>
                </a:solidFill>
                <a:latin typeface="Calibri"/>
              </a:rPr>
              <a:t>• 4 kadın ve 2 erkekten ince seri kesitlerle 3B model.</a:t>
            </a:r>
          </a:p>
          <a:p>
            <a:pPr algn="l">
              <a:spcAft>
                <a:spcPts val="300"/>
              </a:spcAft>
            </a:pPr>
            <a:r>
              <a:rPr sz="1600" b="0" i="0">
                <a:solidFill>
                  <a:srgbClr val="1F2A44"/>
                </a:solidFill>
                <a:latin typeface="Calibri"/>
              </a:rPr>
              <a:t>• Puborektal kas halkaları anorektal birleşimi dolanır ve levator hiatus'u tanımlar.</a:t>
            </a:r>
          </a:p>
          <a:p>
            <a:pPr algn="l">
              <a:spcAft>
                <a:spcPts val="300"/>
              </a:spcAft>
            </a:pPr>
            <a:r>
              <a:rPr sz="1600" b="0" i="0">
                <a:solidFill>
                  <a:srgbClr val="1F2A44"/>
                </a:solidFill>
                <a:latin typeface="Calibri"/>
              </a:rPr>
              <a:t>• Lig. anococcygeum dış anal sfinkteri coccyx'e sabitler.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Wu Yi, Dabhoiwala Noshir F., Hagoort Jaco et al. 3D Topography of the Young Adult Anal Sphincter Complex Reconstructed from Undeformed Serial Anatomical Sections. PLoS One. 2015 Aug 25;10(8):e0132226. doi: 10.1371/journal.pone.0132226 PMCID: PMC4549266.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Levator ani alt bölümleri – 3B transperineal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Manzini ve ark., Insights Imaging 2021</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1 · TABAN</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13244_2021_1037_Fig4_HTML.jpg"/>
          <p:cNvPicPr>
            <a:picLocks noChangeAspect="1"/>
          </p:cNvPicPr>
          <p:nvPr/>
        </p:nvPicPr>
        <p:blipFill>
          <a:blip r:embed="rId2"/>
          <a:stretch>
            <a:fillRect/>
          </a:stretch>
        </p:blipFill>
        <p:spPr>
          <a:xfrm>
            <a:off x="1920822" y="1234440"/>
            <a:ext cx="2970634" cy="2140827"/>
          </a:xfrm>
          <a:prstGeom prst="rect">
            <a:avLst/>
          </a:prstGeom>
        </p:spPr>
      </p:pic>
      <p:sp>
        <p:nvSpPr>
          <p:cNvPr id="8" name="TextBox 7"/>
          <p:cNvSpPr txBox="1"/>
          <p:nvPr/>
        </p:nvSpPr>
        <p:spPr>
          <a:xfrm>
            <a:off x="1737942" y="3375267"/>
            <a:ext cx="333639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4 – Manzini Claudia ve ark., 2021 (PMC8253870, CC BY)</a:t>
            </a:r>
          </a:p>
        </p:txBody>
      </p:sp>
      <p:pic>
        <p:nvPicPr>
          <p:cNvPr id="9" name="Picture 8" descr="13244_2021_1037_Fig1_HTML.jpg"/>
          <p:cNvPicPr>
            <a:picLocks noChangeAspect="1"/>
          </p:cNvPicPr>
          <p:nvPr/>
        </p:nvPicPr>
        <p:blipFill>
          <a:blip r:embed="rId3"/>
          <a:stretch>
            <a:fillRect/>
          </a:stretch>
        </p:blipFill>
        <p:spPr>
          <a:xfrm>
            <a:off x="1920822" y="3649587"/>
            <a:ext cx="2970634" cy="2385452"/>
          </a:xfrm>
          <a:prstGeom prst="rect">
            <a:avLst/>
          </a:prstGeom>
        </p:spPr>
      </p:pic>
      <p:sp>
        <p:nvSpPr>
          <p:cNvPr id="10" name="TextBox 9"/>
          <p:cNvSpPr txBox="1"/>
          <p:nvPr/>
        </p:nvSpPr>
        <p:spPr>
          <a:xfrm>
            <a:off x="1737942" y="6035040"/>
            <a:ext cx="333639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Manzini Claudia ve ark., 2021 (PMC8253870,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Renk kodu: gri os pubis; kahverengi dış sfinkter; kırmızı m. puboperinealis; turuncu m. puboanalis; sarı m. pubovaginalis; yeşil m. puborectalis; mavi m. iliococcygeus</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Hiç doğum yapmamış 20 kadında 3B ultrasonla segmentasyon.</a:t>
            </a:r>
          </a:p>
          <a:p>
            <a:pPr algn="l">
              <a:spcAft>
                <a:spcPts val="300"/>
              </a:spcAft>
            </a:pPr>
            <a:r>
              <a:rPr sz="1600" b="0" i="0">
                <a:solidFill>
                  <a:srgbClr val="1F2A44"/>
                </a:solidFill>
                <a:latin typeface="Calibri"/>
              </a:rPr>
              <a:t>• Gözlemciler arası uyum: puborektal 0,83, dış sfinkter 0,81.</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Manzini Claudia, van den Noort Frieda, Grob Anique T. M. et al. Appearance of the levator ani muscle subdivisions on 3D transperineal ultrasound. Insights Imaging. 2021 Jul 2;12:91. doi: 10.1186/s13244-021-01037-y PMCID: PMC8253870.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2</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FASYALAR</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Perine fasyaları ve keseler</a:t>
            </a:r>
          </a:p>
          <a:p>
            <a:pPr algn="l"/>
            <a:r>
              <a:rPr sz="1800" b="0" i="0">
                <a:solidFill>
                  <a:srgbClr val="C8D1E6"/>
                </a:solidFill>
                <a:latin typeface="Calibri"/>
              </a:rPr>
              <a:t>Camper/Scarpa'dan Denonvilliers'e</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Katman şeması</a:t>
            </a:r>
          </a:p>
          <a:p>
            <a:pPr algn="l">
              <a:spcAft>
                <a:spcPts val="300"/>
              </a:spcAft>
            </a:pPr>
            <a:r>
              <a:rPr sz="1700" b="0" i="0">
                <a:solidFill>
                  <a:srgbClr val="FFFFFF"/>
                </a:solidFill>
                <a:latin typeface="Calibri"/>
              </a:rPr>
              <a:t>• Colles, Buck, dartos, Gallaudet</a:t>
            </a:r>
          </a:p>
          <a:p>
            <a:pPr algn="l">
              <a:spcAft>
                <a:spcPts val="300"/>
              </a:spcAft>
            </a:pPr>
            <a:r>
              <a:rPr sz="1700" b="0" i="0">
                <a:solidFill>
                  <a:srgbClr val="FFFFFF"/>
                </a:solidFill>
                <a:latin typeface="Calibri"/>
              </a:rPr>
              <a:t>• Membrana perinei ve derin kese</a:t>
            </a:r>
          </a:p>
          <a:p>
            <a:pPr algn="l">
              <a:spcAft>
                <a:spcPts val="300"/>
              </a:spcAft>
            </a:pPr>
            <a:r>
              <a:rPr sz="1700" b="0" i="0">
                <a:solidFill>
                  <a:srgbClr val="FFFFFF"/>
                </a:solidFill>
                <a:latin typeface="Calibri"/>
              </a:rPr>
              <a:t>• Pelvis içi fasyalar</a:t>
            </a:r>
          </a:p>
          <a:p>
            <a:pPr algn="l">
              <a:spcAft>
                <a:spcPts val="300"/>
              </a:spcAft>
            </a:pPr>
            <a:r>
              <a:rPr sz="1700" b="0" i="0">
                <a:solidFill>
                  <a:srgbClr val="FFFFFF"/>
                </a:solidFill>
                <a:latin typeface="Calibri"/>
              </a:rPr>
              <a:t>• İdrar ekstravazasyonu, Fournier</a:t>
            </a:r>
          </a:p>
        </p:txBody>
      </p:sp>
      <p:pic>
        <p:nvPicPr>
          <p:cNvPr id="7" name="Picture 6" descr="41598_2025_9585_Fig7_HTML.jpg"/>
          <p:cNvPicPr>
            <a:picLocks noChangeAspect="1"/>
          </p:cNvPicPr>
          <p:nvPr/>
        </p:nvPicPr>
        <p:blipFill>
          <a:blip r:embed="rId2"/>
          <a:stretch>
            <a:fillRect/>
          </a:stretch>
        </p:blipFill>
        <p:spPr>
          <a:xfrm>
            <a:off x="6812280" y="1084431"/>
            <a:ext cx="5120640" cy="4049056"/>
          </a:xfrm>
          <a:prstGeom prst="rect">
            <a:avLst/>
          </a:prstGeom>
        </p:spPr>
      </p:pic>
      <p:sp>
        <p:nvSpPr>
          <p:cNvPr id="8" name="TextBox 7"/>
          <p:cNvSpPr txBox="1"/>
          <p:nvPr/>
        </p:nvSpPr>
        <p:spPr>
          <a:xfrm>
            <a:off x="6629400" y="5133488"/>
            <a:ext cx="5486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7 – Muro Satoru ve ark., 2025 (PMC12229694, CC BY)</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fasyaları: katman katman düşünmek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Karın duvarından perineye kesintisiz bir sistem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1750" b="0" i="0">
                <a:solidFill>
                  <a:srgbClr val="1F2A44"/>
                </a:solidFill>
                <a:latin typeface="Calibri"/>
              </a:rPr>
              <a:t>Perinenin fasyalarını anlamak için karın ön duvarından başlamak gerekir. Karnın yüzeyel fasyası iki tabakadır: yüzeyde yağlı Camper fasyası, derinde zarsı Scarpa fasyası. Camper fasyası perineye geçerken yağını kaybeder; skrotumda düz kas içeren tunica dartos'a, penis'te ise yüzeyel penis fasyasına dönüşür.</a:t>
            </a:r>
          </a:p>
          <a:p>
            <a:pPr algn="l">
              <a:lnSpc>
                <a:spcPct val="108000"/>
              </a:lnSpc>
              <a:spcAft>
                <a:spcPts val="900"/>
              </a:spcAft>
            </a:pPr>
            <a:r>
              <a:rPr sz="1750" b="0" i="0">
                <a:solidFill>
                  <a:srgbClr val="1F2A44"/>
                </a:solidFill>
                <a:latin typeface="Calibri"/>
              </a:rPr>
              <a:t>Asıl önemli olan zarsı tabakadır. Scarpa fasyası perineye Colles fasyası (fascia perinei superficialis) adıyla devam eder. Colles fasyası yanlarda ramus ischiopubicus'a, arkada ise membrana perinei'nin arka kenarına sıkıca tutunur. Bu tutunmalar sayesinde Colles fasyası ile membrana perinei arasında, öne ve yukarıya, karın duvarına açık, ama arkaya ve uyluklara kapalı bir boşluk oluşur: yüzeyel perine kesesi.</a:t>
            </a:r>
          </a:p>
          <a:p>
            <a:pPr algn="l">
              <a:lnSpc>
                <a:spcPct val="108000"/>
              </a:lnSpc>
              <a:spcAft>
                <a:spcPts val="900"/>
              </a:spcAft>
            </a:pPr>
            <a:r>
              <a:rPr sz="1750" b="0" i="0">
                <a:solidFill>
                  <a:srgbClr val="1F2A44"/>
                </a:solidFill>
                <a:latin typeface="Calibri"/>
              </a:rPr>
              <a:t>Yüzeyel kesenin tabanında membrana perinei yer alır. Bu sağlam fibröz tabaka, ürogenital üçgeni iki ramus ischiopubicus arasında germektedir. Membrana perinei'nin üstünde, levator ani'ye kadar uzanan bölge derin perine kesesidir. Klasik kitaplardaki 'diaphragma urogenitale' kavramı günümüzde terk edilmiştir; derin kesede dış üretral sfinkter, m. transversus perinei profundus (kadında büyük ölçüde düz kas ve bağ dokusu) ve damar–sinirler bulunur.</a:t>
            </a:r>
          </a:p>
          <a:p>
            <a:pPr algn="l">
              <a:lnSpc>
                <a:spcPct val="108000"/>
              </a:lnSpc>
              <a:spcAft>
                <a:spcPts val="900"/>
              </a:spcAft>
            </a:pPr>
            <a:r>
              <a:rPr sz="1750" b="0" i="0">
                <a:solidFill>
                  <a:srgbClr val="1F2A44"/>
                </a:solidFill>
                <a:latin typeface="Calibri"/>
              </a:rPr>
              <a:t>Bu katman düzeni klinikte çok somut sonuçlar doğurur. Bulbus düzeyinde yırtılan bir urethra'dan kaçan idrar yüzeyel kesede birikir; Colles fasyasının tutunmaları nedeniyle uyluklara veya anal bölgeye geçemez, skrotum, penis ve karın ön duvarına doğru yayılır. Fournier gangreni de aynı fasyal planları izler.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Ürogenital üçgende katmanlar – yüzeyelden derine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Erkek perinesi (kadında karşılıkları parantez içinde)</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ŞEMA</a:t>
            </a:r>
          </a:p>
        </p:txBody>
      </p:sp>
      <p:sp>
        <p:nvSpPr>
          <p:cNvPr id="7" name="Rectangle 6"/>
          <p:cNvSpPr/>
          <p:nvPr/>
        </p:nvSpPr>
        <p:spPr>
          <a:xfrm>
            <a:off x="274320" y="1234440"/>
            <a:ext cx="3108960" cy="425196"/>
          </a:xfrm>
          <a:prstGeom prst="rect">
            <a:avLst/>
          </a:prstGeom>
          <a:solidFill>
            <a:srgbClr val="F3E0C7"/>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1F2A44"/>
                </a:solidFill>
                <a:latin typeface="Calibri"/>
              </a:rPr>
              <a:t>Deri</a:t>
            </a:r>
          </a:p>
        </p:txBody>
      </p:sp>
      <p:sp>
        <p:nvSpPr>
          <p:cNvPr id="8" name="TextBox 7"/>
          <p:cNvSpPr txBox="1"/>
          <p:nvPr/>
        </p:nvSpPr>
        <p:spPr>
          <a:xfrm>
            <a:off x="3520440" y="1234440"/>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Skrotum (labia majora) ve perine derisi</a:t>
            </a:r>
          </a:p>
        </p:txBody>
      </p:sp>
      <p:sp>
        <p:nvSpPr>
          <p:cNvPr id="9" name="Rectangle 8"/>
          <p:cNvSpPr/>
          <p:nvPr/>
        </p:nvSpPr>
        <p:spPr>
          <a:xfrm>
            <a:off x="274320" y="1705356"/>
            <a:ext cx="3108960" cy="425196"/>
          </a:xfrm>
          <a:prstGeom prst="rect">
            <a:avLst/>
          </a:prstGeom>
          <a:solidFill>
            <a:srgbClr val="F7D774"/>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1F2A44"/>
                </a:solidFill>
                <a:latin typeface="Calibri"/>
              </a:rPr>
              <a:t>Camper fasyası (yağlı)</a:t>
            </a:r>
          </a:p>
        </p:txBody>
      </p:sp>
      <p:sp>
        <p:nvSpPr>
          <p:cNvPr id="10" name="TextBox 9"/>
          <p:cNvSpPr txBox="1"/>
          <p:nvPr/>
        </p:nvSpPr>
        <p:spPr>
          <a:xfrm>
            <a:off x="3520440" y="1705356"/>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Perinede yağını kaybeder → tunica dartos / yüzeyel penis fasyası</a:t>
            </a:r>
          </a:p>
        </p:txBody>
      </p:sp>
      <p:sp>
        <p:nvSpPr>
          <p:cNvPr id="11" name="Rectangle 10"/>
          <p:cNvSpPr/>
          <p:nvPr/>
        </p:nvSpPr>
        <p:spPr>
          <a:xfrm>
            <a:off x="274320" y="2176272"/>
            <a:ext cx="3108960" cy="425196"/>
          </a:xfrm>
          <a:prstGeom prst="rect">
            <a:avLst/>
          </a:prstGeom>
          <a:solidFill>
            <a:srgbClr val="E0A100"/>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1F2A44"/>
                </a:solidFill>
                <a:latin typeface="Calibri"/>
              </a:rPr>
              <a:t>Colles fasyası (zarsı)</a:t>
            </a:r>
          </a:p>
        </p:txBody>
      </p:sp>
      <p:sp>
        <p:nvSpPr>
          <p:cNvPr id="12" name="TextBox 11"/>
          <p:cNvSpPr txBox="1"/>
          <p:nvPr/>
        </p:nvSpPr>
        <p:spPr>
          <a:xfrm>
            <a:off x="3520440" y="2176272"/>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Scarpa fasyasının devamı; ramus ischiopubicus ve membrana perinei arka kenarına tutunur</a:t>
            </a:r>
          </a:p>
        </p:txBody>
      </p:sp>
      <p:sp>
        <p:nvSpPr>
          <p:cNvPr id="13" name="Rectangle 12"/>
          <p:cNvSpPr/>
          <p:nvPr/>
        </p:nvSpPr>
        <p:spPr>
          <a:xfrm>
            <a:off x="274320" y="2647188"/>
            <a:ext cx="3108960" cy="425196"/>
          </a:xfrm>
          <a:prstGeom prst="rect">
            <a:avLst/>
          </a:prstGeom>
          <a:solidFill>
            <a:srgbClr val="C77C02"/>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Derin perine fasyası (Gallaudet)</a:t>
            </a:r>
          </a:p>
        </p:txBody>
      </p:sp>
      <p:sp>
        <p:nvSpPr>
          <p:cNvPr id="14" name="TextBox 13"/>
          <p:cNvSpPr txBox="1"/>
          <p:nvPr/>
        </p:nvSpPr>
        <p:spPr>
          <a:xfrm>
            <a:off x="3520440" y="2647188"/>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Yüzeyel kese kaslarını örten fasya; penis'te Buck fasyasına devam eder</a:t>
            </a:r>
          </a:p>
        </p:txBody>
      </p:sp>
      <p:sp>
        <p:nvSpPr>
          <p:cNvPr id="15" name="Rectangle 14"/>
          <p:cNvSpPr/>
          <p:nvPr/>
        </p:nvSpPr>
        <p:spPr>
          <a:xfrm>
            <a:off x="274320" y="3118104"/>
            <a:ext cx="3108960" cy="425196"/>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YÜZEYEL PERİNE KESESİ</a:t>
            </a:r>
          </a:p>
        </p:txBody>
      </p:sp>
      <p:sp>
        <p:nvSpPr>
          <p:cNvPr id="16" name="TextBox 15"/>
          <p:cNvSpPr txBox="1"/>
          <p:nvPr/>
        </p:nvSpPr>
        <p:spPr>
          <a:xfrm>
            <a:off x="3520440" y="3118104"/>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Mm. ischiocavernosus, bulbospongiosus, transversus perinei superficialis; crura ve bulbus penis (bulbus vestibuli, Bartholin bezi)</a:t>
            </a:r>
          </a:p>
        </p:txBody>
      </p:sp>
      <p:sp>
        <p:nvSpPr>
          <p:cNvPr id="17" name="Rectangle 16"/>
          <p:cNvSpPr/>
          <p:nvPr/>
        </p:nvSpPr>
        <p:spPr>
          <a:xfrm>
            <a:off x="274320" y="3589020"/>
            <a:ext cx="3108960" cy="425196"/>
          </a:xfrm>
          <a:prstGeom prst="rect">
            <a:avLst/>
          </a:prstGeom>
          <a:solidFill>
            <a:srgbClr val="6D4C41"/>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Membrana perinei</a:t>
            </a:r>
          </a:p>
        </p:txBody>
      </p:sp>
      <p:sp>
        <p:nvSpPr>
          <p:cNvPr id="18" name="TextBox 17"/>
          <p:cNvSpPr txBox="1"/>
          <p:nvPr/>
        </p:nvSpPr>
        <p:spPr>
          <a:xfrm>
            <a:off x="3520440" y="3589020"/>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Ramus ischiopubicus'lar arasında gerili sağlam fibröz tabaka; urethra (ve vagina) tarafından delinir</a:t>
            </a:r>
          </a:p>
        </p:txBody>
      </p:sp>
      <p:sp>
        <p:nvSpPr>
          <p:cNvPr id="19" name="Rectangle 18"/>
          <p:cNvSpPr/>
          <p:nvPr/>
        </p:nvSpPr>
        <p:spPr>
          <a:xfrm>
            <a:off x="274320" y="4059936"/>
            <a:ext cx="3108960" cy="425196"/>
          </a:xfrm>
          <a:prstGeom prst="rect">
            <a:avLst/>
          </a:prstGeom>
          <a:solidFill>
            <a:srgbClr val="8E24AA"/>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DERİN PERİNE KESESİ</a:t>
            </a:r>
          </a:p>
        </p:txBody>
      </p:sp>
      <p:sp>
        <p:nvSpPr>
          <p:cNvPr id="20" name="TextBox 19"/>
          <p:cNvSpPr txBox="1"/>
          <p:nvPr/>
        </p:nvSpPr>
        <p:spPr>
          <a:xfrm>
            <a:off x="3520440" y="4059936"/>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M. sphincter urethrae externus, m. transversus perinei profundus / düz kas; bulbourethral bezler (erkek); a. ve n. dorsalis penis/clitoridis</a:t>
            </a:r>
          </a:p>
        </p:txBody>
      </p:sp>
      <p:sp>
        <p:nvSpPr>
          <p:cNvPr id="21" name="Rectangle 20"/>
          <p:cNvSpPr/>
          <p:nvPr/>
        </p:nvSpPr>
        <p:spPr>
          <a:xfrm>
            <a:off x="274320" y="4530852"/>
            <a:ext cx="3108960" cy="425196"/>
          </a:xfrm>
          <a:prstGeom prst="rect">
            <a:avLst/>
          </a:prstGeom>
          <a:solidFill>
            <a:srgbClr val="5E35B1"/>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Fascia diaphragmatis pelvis inferior</a:t>
            </a:r>
          </a:p>
        </p:txBody>
      </p:sp>
      <p:sp>
        <p:nvSpPr>
          <p:cNvPr id="22" name="TextBox 21"/>
          <p:cNvSpPr txBox="1"/>
          <p:nvPr/>
        </p:nvSpPr>
        <p:spPr>
          <a:xfrm>
            <a:off x="3520440" y="4530852"/>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Levator ani'nin alt yüzü; fossa ischioanalis'in medial duvarının ön uzantısı</a:t>
            </a:r>
          </a:p>
        </p:txBody>
      </p:sp>
      <p:sp>
        <p:nvSpPr>
          <p:cNvPr id="23" name="Rectangle 22"/>
          <p:cNvSpPr/>
          <p:nvPr/>
        </p:nvSpPr>
        <p:spPr>
          <a:xfrm>
            <a:off x="274320" y="5001768"/>
            <a:ext cx="3108960" cy="425196"/>
          </a:xfrm>
          <a:prstGeom prst="rect">
            <a:avLst/>
          </a:prstGeom>
          <a:solidFill>
            <a:srgbClr val="1F5F9E"/>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M. levator ani</a:t>
            </a:r>
          </a:p>
        </p:txBody>
      </p:sp>
      <p:sp>
        <p:nvSpPr>
          <p:cNvPr id="24" name="TextBox 23"/>
          <p:cNvSpPr txBox="1"/>
          <p:nvPr/>
        </p:nvSpPr>
        <p:spPr>
          <a:xfrm>
            <a:off x="3520440" y="5001768"/>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Pelvis tabanı</a:t>
            </a:r>
          </a:p>
        </p:txBody>
      </p:sp>
      <p:sp>
        <p:nvSpPr>
          <p:cNvPr id="25" name="Rectangle 24"/>
          <p:cNvSpPr/>
          <p:nvPr/>
        </p:nvSpPr>
        <p:spPr>
          <a:xfrm>
            <a:off x="274320" y="5472683"/>
            <a:ext cx="3108960" cy="425196"/>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r>
              <a:rPr sz="1300" b="1">
                <a:solidFill>
                  <a:srgbClr val="FFFFFF"/>
                </a:solidFill>
                <a:latin typeface="Calibri"/>
              </a:rPr>
              <a:t>Fascia diaphragmatis pelvis superior / fascia endopelvina</a:t>
            </a:r>
          </a:p>
        </p:txBody>
      </p:sp>
      <p:sp>
        <p:nvSpPr>
          <p:cNvPr id="26" name="TextBox 25"/>
          <p:cNvSpPr txBox="1"/>
          <p:nvPr/>
        </p:nvSpPr>
        <p:spPr>
          <a:xfrm>
            <a:off x="3520440" y="5472683"/>
            <a:ext cx="8412480" cy="425196"/>
          </a:xfrm>
          <a:prstGeom prst="rect">
            <a:avLst/>
          </a:prstGeom>
          <a:noFill/>
        </p:spPr>
        <p:txBody>
          <a:bodyPr wrap="square" anchor="ctr" lIns="45720" rIns="45720" tIns="18288" bIns="18288">
            <a:spAutoFit/>
          </a:bodyPr>
          <a:lstStyle/>
          <a:p>
            <a:pPr algn="l"/>
            <a:r>
              <a:rPr sz="1300" b="0" i="0">
                <a:solidFill>
                  <a:srgbClr val="1F2A44"/>
                </a:solidFill>
                <a:latin typeface="Calibri"/>
              </a:rPr>
              <a:t>Pelvis organlarını saran visseral ve parietal fasya</a:t>
            </a:r>
          </a:p>
        </p:txBody>
      </p:sp>
      <p:sp>
        <p:nvSpPr>
          <p:cNvPr id="27" name="TextBox 26"/>
          <p:cNvSpPr txBox="1"/>
          <p:nvPr/>
        </p:nvSpPr>
        <p:spPr>
          <a:xfrm>
            <a:off x="274320" y="6053328"/>
            <a:ext cx="11612880" cy="320040"/>
          </a:xfrm>
          <a:prstGeom prst="rect">
            <a:avLst/>
          </a:prstGeom>
          <a:noFill/>
        </p:spPr>
        <p:txBody>
          <a:bodyPr wrap="square" anchor="t" lIns="45720" rIns="45720" tIns="18288" bIns="18288">
            <a:spAutoFit/>
          </a:bodyPr>
          <a:lstStyle/>
          <a:p>
            <a:pPr algn="l"/>
            <a:r>
              <a:rPr sz="1200" b="0" i="1">
                <a:solidFill>
                  <a:srgbClr val="555B66"/>
                </a:solidFill>
                <a:latin typeface="Calibri"/>
              </a:rPr>
              <a:t>Klinik kural: Colles fasyası ile membrana perinei arasındaki kese öne açık, arkaya ve uyluklara kapalıdır.</a:t>
            </a:r>
          </a:p>
        </p:txBody>
      </p:sp>
      <p:cxnSp>
        <p:nvCxnSpPr>
          <p:cNvPr id="28" name="Connector 2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Şema: bu projede standart anatomi bilgisinden hazırlanmıştır (gerçek görüntü değildir).</a:t>
            </a:r>
          </a:p>
        </p:txBody>
      </p:sp>
      <p:sp>
        <p:nvSpPr>
          <p:cNvPr id="30" name="TextBox 2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fasyaları – süreklilik ve klinik önem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Hangi fasya nereye devam eder?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graphicFrame>
        <p:nvGraphicFramePr>
          <p:cNvPr id="7" name="Table 6"/>
          <p:cNvGraphicFramePr>
            <a:graphicFrameLocks noGrp="1"/>
          </p:cNvGraphicFramePr>
          <p:nvPr/>
        </p:nvGraphicFramePr>
        <p:xfrm>
          <a:off x="274320" y="1234440"/>
          <a:ext cx="11640312" cy="3782562"/>
        </p:xfrm>
        <a:graphic>
          <a:graphicData uri="http://schemas.openxmlformats.org/drawingml/2006/table">
            <a:tbl>
              <a:tblPr firstRow="1" bandRow="1">
                <a:tableStyleId>{5C22544A-7EE6-4342-B048-85BDC9FD1C3A}</a:tableStyleId>
              </a:tblPr>
              <a:tblGrid>
                <a:gridCol w="2566368"/>
                <a:gridCol w="2749680"/>
                <a:gridCol w="3116304"/>
                <a:gridCol w="3207960"/>
              </a:tblGrid>
              <a:tr h="457200">
                <a:tc>
                  <a:txBody>
                    <a:bodyPr/>
                    <a:lstStyle/>
                    <a:p>
                      <a:r>
                        <a:rPr sz="1350" b="1">
                          <a:solidFill>
                            <a:srgbClr val="FFFFFF"/>
                          </a:solidFill>
                          <a:latin typeface="Calibri"/>
                        </a:rPr>
                        <a:t>Fasya</a:t>
                      </a:r>
                    </a:p>
                  </a:txBody>
                  <a:tcPr>
                    <a:solidFill>
                      <a:srgbClr val="1F2A44"/>
                    </a:solidFill>
                  </a:tcPr>
                </a:tc>
                <a:tc>
                  <a:txBody>
                    <a:bodyPr/>
                    <a:lstStyle/>
                    <a:p>
                      <a:r>
                        <a:rPr sz="1350" b="1">
                          <a:solidFill>
                            <a:srgbClr val="FFFFFF"/>
                          </a:solidFill>
                          <a:latin typeface="Calibri"/>
                        </a:rPr>
                        <a:t>Karın / pelvis karşılığı</a:t>
                      </a:r>
                    </a:p>
                  </a:txBody>
                  <a:tcPr>
                    <a:solidFill>
                      <a:srgbClr val="1F2A44"/>
                    </a:solidFill>
                  </a:tcPr>
                </a:tc>
                <a:tc>
                  <a:txBody>
                    <a:bodyPr/>
                    <a:lstStyle/>
                    <a:p>
                      <a:r>
                        <a:rPr sz="1350" b="1">
                          <a:solidFill>
                            <a:srgbClr val="FFFFFF"/>
                          </a:solidFill>
                          <a:latin typeface="Calibri"/>
                        </a:rPr>
                        <a:t>Penis / skrotum / vulva karşılığı</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Camper (yağlı yüzeyel)</a:t>
                      </a:r>
                    </a:p>
                  </a:txBody>
                  <a:tcPr>
                    <a:solidFill>
                      <a:srgbClr val="F3F4F6"/>
                    </a:solidFill>
                  </a:tcPr>
                </a:tc>
                <a:tc>
                  <a:txBody>
                    <a:bodyPr/>
                    <a:lstStyle/>
                    <a:p>
                      <a:r>
                        <a:rPr sz="1300" b="0">
                          <a:solidFill>
                            <a:srgbClr val="1F2A44"/>
                          </a:solidFill>
                          <a:latin typeface="Calibri"/>
                        </a:rPr>
                        <a:t>Karın yüzeyel yağlı tabaka</a:t>
                      </a:r>
                    </a:p>
                  </a:txBody>
                  <a:tcPr>
                    <a:solidFill>
                      <a:srgbClr val="F3F4F6"/>
                    </a:solidFill>
                  </a:tcPr>
                </a:tc>
                <a:tc>
                  <a:txBody>
                    <a:bodyPr/>
                    <a:lstStyle/>
                    <a:p>
                      <a:r>
                        <a:rPr sz="1300" b="0">
                          <a:solidFill>
                            <a:srgbClr val="1F2A44"/>
                          </a:solidFill>
                          <a:latin typeface="Calibri"/>
                        </a:rPr>
                        <a:t>Tunica dartos (düz kas), yüzeyel penis fasyası</a:t>
                      </a:r>
                    </a:p>
                  </a:txBody>
                  <a:tcPr>
                    <a:solidFill>
                      <a:srgbClr val="F3F4F6"/>
                    </a:solidFill>
                  </a:tcPr>
                </a:tc>
                <a:tc>
                  <a:txBody>
                    <a:bodyPr/>
                    <a:lstStyle/>
                    <a:p>
                      <a:r>
                        <a:rPr sz="1300" b="0">
                          <a:solidFill>
                            <a:srgbClr val="1F2A44"/>
                          </a:solidFill>
                          <a:latin typeface="Calibri"/>
                        </a:rPr>
                        <a:t>Skrotumun ısı düzenlemesi</a:t>
                      </a:r>
                    </a:p>
                  </a:txBody>
                  <a:tcPr>
                    <a:solidFill>
                      <a:srgbClr val="F3F4F6"/>
                    </a:solidFill>
                  </a:tcPr>
                </a:tc>
              </a:tr>
              <a:tr h="554227">
                <a:tc>
                  <a:txBody>
                    <a:bodyPr/>
                    <a:lstStyle/>
                    <a:p>
                      <a:r>
                        <a:rPr sz="1300" b="1">
                          <a:solidFill>
                            <a:srgbClr val="1F2A44"/>
                          </a:solidFill>
                          <a:latin typeface="Calibri"/>
                        </a:rPr>
                        <a:t>Scarpa → Colles</a:t>
                      </a:r>
                    </a:p>
                  </a:txBody>
                  <a:tcPr>
                    <a:solidFill>
                      <a:srgbClr val="FFFFFF"/>
                    </a:solidFill>
                  </a:tcPr>
                </a:tc>
                <a:tc>
                  <a:txBody>
                    <a:bodyPr/>
                    <a:lstStyle/>
                    <a:p>
                      <a:r>
                        <a:rPr sz="1300" b="0">
                          <a:solidFill>
                            <a:srgbClr val="1F2A44"/>
                          </a:solidFill>
                          <a:latin typeface="Calibri"/>
                        </a:rPr>
                        <a:t>Karın zarsı yüzeyel fasya</a:t>
                      </a:r>
                    </a:p>
                  </a:txBody>
                  <a:tcPr>
                    <a:solidFill>
                      <a:srgbClr val="FFFFFF"/>
                    </a:solidFill>
                  </a:tcPr>
                </a:tc>
                <a:tc>
                  <a:txBody>
                    <a:bodyPr/>
                    <a:lstStyle/>
                    <a:p>
                      <a:r>
                        <a:rPr sz="1300" b="0">
                          <a:solidFill>
                            <a:srgbClr val="1F2A44"/>
                          </a:solidFill>
                          <a:latin typeface="Calibri"/>
                        </a:rPr>
                        <a:t>Colles fasyası; penis'te dartos ile birlikte</a:t>
                      </a:r>
                    </a:p>
                  </a:txBody>
                  <a:tcPr>
                    <a:solidFill>
                      <a:srgbClr val="FFFFFF"/>
                    </a:solidFill>
                  </a:tcPr>
                </a:tc>
                <a:tc>
                  <a:txBody>
                    <a:bodyPr/>
                    <a:lstStyle/>
                    <a:p>
                      <a:r>
                        <a:rPr sz="1300" b="0">
                          <a:solidFill>
                            <a:srgbClr val="1F2A44"/>
                          </a:solidFill>
                          <a:latin typeface="Calibri"/>
                        </a:rPr>
                        <a:t>İdrar ve enfeksiyonun yayılma sınırı</a:t>
                      </a:r>
                    </a:p>
                  </a:txBody>
                  <a:tcPr>
                    <a:solidFill>
                      <a:srgbClr val="FFFFFF"/>
                    </a:solidFill>
                  </a:tcPr>
                </a:tc>
              </a:tr>
              <a:tr h="554227">
                <a:tc>
                  <a:txBody>
                    <a:bodyPr/>
                    <a:lstStyle/>
                    <a:p>
                      <a:r>
                        <a:rPr sz="1300" b="1">
                          <a:solidFill>
                            <a:srgbClr val="1F2A44"/>
                          </a:solidFill>
                          <a:latin typeface="Calibri"/>
                        </a:rPr>
                        <a:t>Derin perine fasyası (Gallaudet)</a:t>
                      </a:r>
                    </a:p>
                  </a:txBody>
                  <a:tcPr>
                    <a:solidFill>
                      <a:srgbClr val="F3F4F6"/>
                    </a:solidFill>
                  </a:tcPr>
                </a:tc>
                <a:tc>
                  <a:txBody>
                    <a:bodyPr/>
                    <a:lstStyle/>
                    <a:p>
                      <a:r>
                        <a:rPr sz="1300" b="0">
                          <a:solidFill>
                            <a:srgbClr val="1F2A44"/>
                          </a:solidFill>
                          <a:latin typeface="Calibri"/>
                        </a:rPr>
                        <a:t>Dış oblik kas fasyası (innominate)</a:t>
                      </a:r>
                    </a:p>
                  </a:txBody>
                  <a:tcPr>
                    <a:solidFill>
                      <a:srgbClr val="F3F4F6"/>
                    </a:solidFill>
                  </a:tcPr>
                </a:tc>
                <a:tc>
                  <a:txBody>
                    <a:bodyPr/>
                    <a:lstStyle/>
                    <a:p>
                      <a:r>
                        <a:rPr sz="1300" b="0">
                          <a:solidFill>
                            <a:srgbClr val="1F2A44"/>
                          </a:solidFill>
                          <a:latin typeface="Calibri"/>
                        </a:rPr>
                        <a:t>Buck fasyası (fascia penis profunda)</a:t>
                      </a:r>
                    </a:p>
                  </a:txBody>
                  <a:tcPr>
                    <a:solidFill>
                      <a:srgbClr val="F3F4F6"/>
                    </a:solidFill>
                  </a:tcPr>
                </a:tc>
                <a:tc>
                  <a:txBody>
                    <a:bodyPr/>
                    <a:lstStyle/>
                    <a:p>
                      <a:r>
                        <a:rPr sz="1300" b="0">
                          <a:solidFill>
                            <a:srgbClr val="1F2A44"/>
                          </a:solidFill>
                          <a:latin typeface="Calibri"/>
                        </a:rPr>
                        <a:t>Penil hematom Buck içinde kalırsa penise sınırlı</a:t>
                      </a:r>
                    </a:p>
                  </a:txBody>
                  <a:tcPr>
                    <a:solidFill>
                      <a:srgbClr val="F3F4F6"/>
                    </a:solidFill>
                  </a:tcPr>
                </a:tc>
              </a:tr>
              <a:tr h="554227">
                <a:tc>
                  <a:txBody>
                    <a:bodyPr/>
                    <a:lstStyle/>
                    <a:p>
                      <a:r>
                        <a:rPr sz="1300" b="1">
                          <a:solidFill>
                            <a:srgbClr val="1F2A44"/>
                          </a:solidFill>
                          <a:latin typeface="Calibri"/>
                        </a:rPr>
                        <a:t>Membrana perinei</a:t>
                      </a:r>
                    </a:p>
                  </a:txBody>
                  <a:tcPr>
                    <a:solidFill>
                      <a:srgbClr val="FFFFFF"/>
                    </a:solidFill>
                  </a:tcPr>
                </a:tc>
                <a:tc>
                  <a:txBody>
                    <a:bodyPr/>
                    <a:lstStyle/>
                    <a:p>
                      <a:r>
                        <a:rPr sz="1300" b="0">
                          <a:solidFill>
                            <a:srgbClr val="1F2A44"/>
                          </a:solidFill>
                          <a:latin typeface="Calibri"/>
                        </a:rPr>
                        <a:t>—</a:t>
                      </a:r>
                    </a:p>
                  </a:txBody>
                  <a:tcPr>
                    <a:solidFill>
                      <a:srgbClr val="FFFFFF"/>
                    </a:solidFill>
                  </a:tcPr>
                </a:tc>
                <a:tc>
                  <a:txBody>
                    <a:bodyPr/>
                    <a:lstStyle/>
                    <a:p>
                      <a:r>
                        <a:rPr sz="1300" b="0">
                          <a:solidFill>
                            <a:srgbClr val="1F2A44"/>
                          </a:solidFill>
                          <a:latin typeface="Calibri"/>
                        </a:rPr>
                        <a:t>Corpus spongiosum ve crura buna tutunur</a:t>
                      </a:r>
                    </a:p>
                  </a:txBody>
                  <a:tcPr>
                    <a:solidFill>
                      <a:srgbClr val="FFFFFF"/>
                    </a:solidFill>
                  </a:tcPr>
                </a:tc>
                <a:tc>
                  <a:txBody>
                    <a:bodyPr/>
                    <a:lstStyle/>
                    <a:p>
                      <a:r>
                        <a:rPr sz="1300" b="0">
                          <a:solidFill>
                            <a:srgbClr val="1F2A44"/>
                          </a:solidFill>
                          <a:latin typeface="Calibri"/>
                        </a:rPr>
                        <a:t>Yüzeyel ve derin keseyi ayırır</a:t>
                      </a:r>
                    </a:p>
                  </a:txBody>
                  <a:tcPr>
                    <a:solidFill>
                      <a:srgbClr val="FFFFFF"/>
                    </a:solidFill>
                  </a:tcPr>
                </a:tc>
              </a:tr>
              <a:tr h="554227">
                <a:tc>
                  <a:txBody>
                    <a:bodyPr/>
                    <a:lstStyle/>
                    <a:p>
                      <a:r>
                        <a:rPr sz="1300" b="1">
                          <a:solidFill>
                            <a:srgbClr val="1F2A44"/>
                          </a:solidFill>
                          <a:latin typeface="Calibri"/>
                        </a:rPr>
                        <a:t>Denonvilliers (rektoprostatik / rektovajinal)</a:t>
                      </a:r>
                    </a:p>
                  </a:txBody>
                  <a:tcPr>
                    <a:solidFill>
                      <a:srgbClr val="F3F4F6"/>
                    </a:solidFill>
                  </a:tcPr>
                </a:tc>
                <a:tc>
                  <a:txBody>
                    <a:bodyPr/>
                    <a:lstStyle/>
                    <a:p>
                      <a:r>
                        <a:rPr sz="1300" b="0">
                          <a:solidFill>
                            <a:srgbClr val="1F2A44"/>
                          </a:solidFill>
                          <a:latin typeface="Calibri"/>
                        </a:rPr>
                        <a:t>Peritoneal reflexiondan aşağı uzanır</a:t>
                      </a:r>
                    </a:p>
                  </a:txBody>
                  <a:tcPr>
                    <a:solidFill>
                      <a:srgbClr val="F3F4F6"/>
                    </a:solidFill>
                  </a:tcPr>
                </a:tc>
                <a:tc>
                  <a:txBody>
                    <a:bodyPr/>
                    <a:lstStyle/>
                    <a:p>
                      <a:r>
                        <a:rPr sz="1300" b="0">
                          <a:solidFill>
                            <a:srgbClr val="1F2A44"/>
                          </a:solidFill>
                          <a:latin typeface="Calibri"/>
                        </a:rPr>
                        <a:t>—</a:t>
                      </a:r>
                    </a:p>
                  </a:txBody>
                  <a:tcPr>
                    <a:solidFill>
                      <a:srgbClr val="F3F4F6"/>
                    </a:solidFill>
                  </a:tcPr>
                </a:tc>
                <a:tc>
                  <a:txBody>
                    <a:bodyPr/>
                    <a:lstStyle/>
                    <a:p>
                      <a:r>
                        <a:rPr sz="1300" b="0">
                          <a:solidFill>
                            <a:srgbClr val="1F2A44"/>
                          </a:solidFill>
                          <a:latin typeface="Calibri"/>
                        </a:rPr>
                        <a:t>Total mezorektal eksizyon ve prostatektomi düzlemi</a:t>
                      </a:r>
                    </a:p>
                  </a:txBody>
                  <a:tcPr>
                    <a:solidFill>
                      <a:srgbClr val="F3F4F6"/>
                    </a:solidFill>
                  </a:tcPr>
                </a:tc>
              </a:tr>
              <a:tr h="554227">
                <a:tc>
                  <a:txBody>
                    <a:bodyPr/>
                    <a:lstStyle/>
                    <a:p>
                      <a:r>
                        <a:rPr sz="1300" b="1">
                          <a:solidFill>
                            <a:srgbClr val="1F2A44"/>
                          </a:solidFill>
                          <a:latin typeface="Calibri"/>
                        </a:rPr>
                        <a:t>Fascia mesorectalis / presakral / Waldeyer</a:t>
                      </a:r>
                    </a:p>
                  </a:txBody>
                  <a:tcPr>
                    <a:solidFill>
                      <a:srgbClr val="FFFFFF"/>
                    </a:solidFill>
                  </a:tcPr>
                </a:tc>
                <a:tc>
                  <a:txBody>
                    <a:bodyPr/>
                    <a:lstStyle/>
                    <a:p>
                      <a:r>
                        <a:rPr sz="1300" b="0">
                          <a:solidFill>
                            <a:srgbClr val="1F2A44"/>
                          </a:solidFill>
                          <a:latin typeface="Calibri"/>
                        </a:rPr>
                        <a:t>Fascia endopelvina'nın parçaları</a:t>
                      </a:r>
                    </a:p>
                  </a:txBody>
                  <a:tcPr>
                    <a:solidFill>
                      <a:srgbClr val="FFFFFF"/>
                    </a:solidFill>
                  </a:tcPr>
                </a:tc>
                <a:tc>
                  <a:txBody>
                    <a:bodyPr/>
                    <a:lstStyle/>
                    <a:p>
                      <a:r>
                        <a:rPr sz="1300" b="0">
                          <a:solidFill>
                            <a:srgbClr val="1F2A44"/>
                          </a:solidFill>
                          <a:latin typeface="Calibri"/>
                        </a:rPr>
                        <a:t>—</a:t>
                      </a:r>
                    </a:p>
                  </a:txBody>
                  <a:tcPr>
                    <a:solidFill>
                      <a:srgbClr val="FFFFFF"/>
                    </a:solidFill>
                  </a:tcPr>
                </a:tc>
                <a:tc>
                  <a:txBody>
                    <a:bodyPr/>
                    <a:lstStyle/>
                    <a:p>
                      <a:r>
                        <a:rPr sz="1300" b="0">
                          <a:solidFill>
                            <a:srgbClr val="1F2A44"/>
                          </a:solidFill>
                          <a:latin typeface="Calibri"/>
                        </a:rPr>
                        <a:t>Rektum kanseri cerrahisi, presakral venöz kanama</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bölgeleri ve membrana perinei – diseksiyon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Kampelmann ve ark., J Anat 2025 – 10 donör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JOA-248-755-g001.jpg"/>
          <p:cNvPicPr>
            <a:picLocks noChangeAspect="1"/>
          </p:cNvPicPr>
          <p:nvPr/>
        </p:nvPicPr>
        <p:blipFill>
          <a:blip r:embed="rId2"/>
          <a:stretch>
            <a:fillRect/>
          </a:stretch>
        </p:blipFill>
        <p:spPr>
          <a:xfrm>
            <a:off x="274320" y="1234440"/>
            <a:ext cx="1870657" cy="3769614"/>
          </a:xfrm>
          <a:prstGeom prst="rect">
            <a:avLst/>
          </a:prstGeom>
        </p:spPr>
      </p:pic>
      <p:sp>
        <p:nvSpPr>
          <p:cNvPr id="8" name="TextBox 7"/>
          <p:cNvSpPr txBox="1"/>
          <p:nvPr/>
        </p:nvSpPr>
        <p:spPr>
          <a:xfrm>
            <a:off x="91439" y="5004054"/>
            <a:ext cx="223641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Kampelmann Morten ve ark., 2025 (PMC13069139, CC BY)</a:t>
            </a:r>
          </a:p>
        </p:txBody>
      </p:sp>
      <p:pic>
        <p:nvPicPr>
          <p:cNvPr id="9" name="Picture 8" descr="JOA-248-755-g004.jpg"/>
          <p:cNvPicPr>
            <a:picLocks noChangeAspect="1"/>
          </p:cNvPicPr>
          <p:nvPr/>
        </p:nvPicPr>
        <p:blipFill>
          <a:blip r:embed="rId3"/>
          <a:stretch>
            <a:fillRect/>
          </a:stretch>
        </p:blipFill>
        <p:spPr>
          <a:xfrm>
            <a:off x="2282137" y="1234440"/>
            <a:ext cx="4255822" cy="3769614"/>
          </a:xfrm>
          <a:prstGeom prst="rect">
            <a:avLst/>
          </a:prstGeom>
        </p:spPr>
      </p:pic>
      <p:sp>
        <p:nvSpPr>
          <p:cNvPr id="10" name="TextBox 9"/>
          <p:cNvSpPr txBox="1"/>
          <p:nvPr/>
        </p:nvSpPr>
        <p:spPr>
          <a:xfrm>
            <a:off x="2099257" y="5004054"/>
            <a:ext cx="462158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Kampelmann Morten ve ark., 2025 (PMC13069139,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590800"/>
          </a:xfrm>
          <a:prstGeom prst="rect">
            <a:avLst/>
          </a:prstGeom>
          <a:noFill/>
        </p:spPr>
        <p:txBody>
          <a:bodyPr wrap="square">
            <a:spAutoFit/>
          </a:bodyPr>
          <a:lstStyle/>
          <a:p>
            <a:pPr algn="l">
              <a:spcAft>
                <a:spcPts val="300"/>
              </a:spcAft>
            </a:pPr>
            <a:r>
              <a:rPr sz="1600" b="0" i="0">
                <a:solidFill>
                  <a:srgbClr val="1F2A44"/>
                </a:solidFill>
                <a:latin typeface="Calibri"/>
              </a:rPr>
              <a:t>• Sol (a kadın, b erkek): </a:t>
            </a:r>
            <a:r>
              <a:rPr sz="1600" b="0" i="0">
                <a:solidFill>
                  <a:srgbClr val="1F2A44"/>
                </a:solidFill>
                <a:latin typeface="Calibri"/>
              </a:rPr>
              <a:t>1</a:t>
            </a:r>
            <a:r>
              <a:rPr sz="1600" b="0" i="0">
                <a:solidFill>
                  <a:srgbClr val="1F2A44"/>
                </a:solidFill>
                <a:latin typeface="Calibri"/>
              </a:rPr>
              <a:t> fossa ischioanalis; </a:t>
            </a:r>
            <a:r>
              <a:rPr sz="1600" b="0" i="0">
                <a:solidFill>
                  <a:srgbClr val="1F2A44"/>
                </a:solidFill>
                <a:latin typeface="Calibri"/>
              </a:rPr>
              <a:t>2</a:t>
            </a:r>
            <a:r>
              <a:rPr sz="1600" b="0" i="0">
                <a:solidFill>
                  <a:srgbClr val="1F2A44"/>
                </a:solidFill>
                <a:latin typeface="Calibri"/>
              </a:rPr>
              <a:t> m. levator ani; </a:t>
            </a:r>
            <a:r>
              <a:rPr sz="1600" b="0" i="0">
                <a:solidFill>
                  <a:srgbClr val="1F2A44"/>
                </a:solidFill>
                <a:latin typeface="Calibri"/>
              </a:rPr>
              <a:t>3</a:t>
            </a:r>
            <a:r>
              <a:rPr sz="1600" b="0" i="0">
                <a:solidFill>
                  <a:srgbClr val="1F2A44"/>
                </a:solidFill>
                <a:latin typeface="Calibri"/>
              </a:rPr>
              <a:t> membrana perinei / m. transversus perinei profundus (üzerinde a. pudenda interna ve n. pudendus dalları); </a:t>
            </a:r>
            <a:r>
              <a:rPr sz="1600" b="0" i="0">
                <a:solidFill>
                  <a:srgbClr val="1F2A44"/>
                </a:solidFill>
                <a:latin typeface="Calibri"/>
              </a:rPr>
              <a:t>4</a:t>
            </a:r>
            <a:r>
              <a:rPr sz="1600" b="0" i="0">
                <a:solidFill>
                  <a:srgbClr val="1F2A44"/>
                </a:solidFill>
                <a:latin typeface="Calibri"/>
              </a:rPr>
              <a:t> m. transversus perinei superficialis; </a:t>
            </a:r>
            <a:r>
              <a:rPr sz="1600" b="0" i="0">
                <a:solidFill>
                  <a:srgbClr val="1F2A44"/>
                </a:solidFill>
                <a:latin typeface="Calibri"/>
              </a:rPr>
              <a:t>5</a:t>
            </a:r>
            <a:r>
              <a:rPr sz="1600" b="0" i="0">
                <a:solidFill>
                  <a:srgbClr val="1F2A44"/>
                </a:solidFill>
                <a:latin typeface="Calibri"/>
              </a:rPr>
              <a:t> m. ischiocavernosus; </a:t>
            </a:r>
            <a:r>
              <a:rPr sz="1600" b="0" i="0">
                <a:solidFill>
                  <a:srgbClr val="1F2A44"/>
                </a:solidFill>
                <a:latin typeface="Calibri"/>
              </a:rPr>
              <a:t>6</a:t>
            </a:r>
            <a:r>
              <a:rPr sz="1600" b="0" i="0">
                <a:solidFill>
                  <a:srgbClr val="1F2A44"/>
                </a:solidFill>
                <a:latin typeface="Calibri"/>
              </a:rPr>
              <a:t> m. bulbospongiosus</a:t>
            </a:r>
          </a:p>
          <a:p>
            <a:pPr algn="l">
              <a:spcAft>
                <a:spcPts val="300"/>
              </a:spcAft>
            </a:pPr>
            <a:r>
              <a:rPr sz="1600" b="0" i="0">
                <a:solidFill>
                  <a:srgbClr val="1F2A44"/>
                </a:solidFill>
                <a:latin typeface="Calibri"/>
              </a:rPr>
              <a:t>• Sağ (erkek): </a:t>
            </a:r>
            <a:r>
              <a:rPr sz="1600" b="0" i="0">
                <a:solidFill>
                  <a:srgbClr val="1F2A44"/>
                </a:solidFill>
                <a:latin typeface="Calibri"/>
              </a:rPr>
              <a:t>1</a:t>
            </a:r>
            <a:r>
              <a:rPr sz="1600" b="0" i="0">
                <a:solidFill>
                  <a:srgbClr val="1F2A44"/>
                </a:solidFill>
                <a:latin typeface="Calibri"/>
              </a:rPr>
              <a:t> m. levator ani; </a:t>
            </a:r>
            <a:r>
              <a:rPr sz="1600" b="0" i="0">
                <a:solidFill>
                  <a:srgbClr val="1F2A44"/>
                </a:solidFill>
                <a:latin typeface="Calibri"/>
              </a:rPr>
              <a:t>2</a:t>
            </a:r>
            <a:r>
              <a:rPr sz="1600" b="0" i="0">
                <a:solidFill>
                  <a:srgbClr val="1F2A44"/>
                </a:solidFill>
                <a:latin typeface="Calibri"/>
              </a:rPr>
              <a:t> m. coccygeus; </a:t>
            </a:r>
            <a:r>
              <a:rPr sz="1600" b="0" i="0">
                <a:solidFill>
                  <a:srgbClr val="1F2A44"/>
                </a:solidFill>
                <a:latin typeface="Calibri"/>
              </a:rPr>
              <a:t>3</a:t>
            </a:r>
            <a:r>
              <a:rPr sz="1600" b="0" i="0">
                <a:solidFill>
                  <a:srgbClr val="1F2A44"/>
                </a:solidFill>
                <a:latin typeface="Calibri"/>
              </a:rPr>
              <a:t> membrana perinei / derin transvers kas; </a:t>
            </a:r>
            <a:r>
              <a:rPr sz="1600" b="0" i="0">
                <a:solidFill>
                  <a:srgbClr val="1F2A44"/>
                </a:solidFill>
                <a:latin typeface="Calibri"/>
              </a:rPr>
              <a:t>4</a:t>
            </a:r>
            <a:r>
              <a:rPr sz="1600" b="0" i="0">
                <a:solidFill>
                  <a:srgbClr val="1F2A44"/>
                </a:solidFill>
                <a:latin typeface="Calibri"/>
              </a:rPr>
              <a:t> m. ischiocavernosus; </a:t>
            </a:r>
            <a:r>
              <a:rPr sz="1600" b="0" i="0">
                <a:solidFill>
                  <a:srgbClr val="1F2A44"/>
                </a:solidFill>
                <a:latin typeface="Calibri"/>
              </a:rPr>
              <a:t>5</a:t>
            </a:r>
            <a:r>
              <a:rPr sz="1600" b="0" i="0">
                <a:solidFill>
                  <a:srgbClr val="1F2A44"/>
                </a:solidFill>
                <a:latin typeface="Calibri"/>
              </a:rPr>
              <a:t> m. bulbospongiosus; yeşil daire fossa ischioanalis</a:t>
            </a:r>
          </a:p>
        </p:txBody>
      </p:sp>
      <p:sp>
        <p:nvSpPr>
          <p:cNvPr id="13" name="TextBox 12"/>
          <p:cNvSpPr txBox="1"/>
          <p:nvPr/>
        </p:nvSpPr>
        <p:spPr>
          <a:xfrm>
            <a:off x="6720840" y="421843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565904"/>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Membrana perinei'nin üstünde 4–5 mm kalınlığında, ramus ischiopubicus'lara transvers uzanan bir doku plağı bulunmuştur.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Kampelmann Morten, Grindley Carina, Mühlfeld Christian et al. Macroscopical and histological characterization of the perineal membrane and deep perineal pouch. J Anat. 2025 Oct 22;248(5):755–65. doi: 10.1111/joa.70057 PMCID: PMC13069139.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Derin perine kesesinin histolojisi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Kampelmann ve ark., J Anat 2025 – azan boyası ve immünfloresan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8E24AA"/>
          </a:solidFill>
        </p:spPr>
        <p:txBody>
          <a:bodyPr wrap="square" anchor="ctr" lIns="45720" rIns="45720" tIns="18288" bIns="18288">
            <a:spAutoFit/>
          </a:bodyPr>
          <a:lstStyle/>
          <a:p>
            <a:pPr algn="ctr"/>
            <a:r>
              <a:rPr sz="1100" b="1" i="0">
                <a:solidFill>
                  <a:srgbClr val="FFFFFF"/>
                </a:solidFill>
                <a:latin typeface="Calibri"/>
              </a:rPr>
              <a:t>HİSTOLOJİ</a:t>
            </a:r>
          </a:p>
        </p:txBody>
      </p:sp>
      <p:pic>
        <p:nvPicPr>
          <p:cNvPr id="7" name="Picture 6" descr="JOA-248-755-g006.jpg"/>
          <p:cNvPicPr>
            <a:picLocks noChangeAspect="1"/>
          </p:cNvPicPr>
          <p:nvPr/>
        </p:nvPicPr>
        <p:blipFill>
          <a:blip r:embed="rId2"/>
          <a:stretch>
            <a:fillRect/>
          </a:stretch>
        </p:blipFill>
        <p:spPr>
          <a:xfrm>
            <a:off x="674498" y="1234440"/>
            <a:ext cx="5463283" cy="4800600"/>
          </a:xfrm>
          <a:prstGeom prst="rect">
            <a:avLst/>
          </a:prstGeom>
        </p:spPr>
      </p:pic>
      <p:sp>
        <p:nvSpPr>
          <p:cNvPr id="8" name="TextBox 7"/>
          <p:cNvSpPr txBox="1"/>
          <p:nvPr/>
        </p:nvSpPr>
        <p:spPr>
          <a:xfrm>
            <a:off x="491618" y="6035040"/>
            <a:ext cx="582904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5 – Kampelmann Morten ve ark., 2025 (PMC13069139,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 kadın, (b) erkek: mavi transvers kollajen lifler baskın, kırmızı kas lifleri az; yeşil çerçeveler stereolojik sayım alanı. (c–d) siyah oklar düz kas, düz kas aktini ile pozitif (beyaz oklar)</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Her iki cinsiyette doku hacminin yaklaşık %80'i bağ dokusudur.</a:t>
            </a:r>
          </a:p>
          <a:p>
            <a:pPr algn="l">
              <a:spcAft>
                <a:spcPts val="300"/>
              </a:spcAft>
            </a:pPr>
            <a:r>
              <a:rPr sz="1600" b="0" i="0">
                <a:solidFill>
                  <a:srgbClr val="1F2A44"/>
                </a:solidFill>
                <a:latin typeface="Calibri"/>
              </a:rPr>
              <a:t>• 'M. transversus perinei profundus' olarak bilinen yapı büyük ölçüde bağ dokusu ve düz kastan oluşur – klasik 'kaslı ürogenital diyafram' kavramının terk edilmesinin nedeni.</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Kampelmann Morten, Grindley Carina, Mühlfeld Christian et al. Macroscopical and histological characterization of the perineal membrane and deep perineal pouch. J Anat. 2025 Oct 22;248(5):755–65. doi: 10.1111/joa.70057 PMCID: PMC13069139.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perinesi – yüzeyelden derine katmanlar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Muro ve ark., Sci Rep 2025 – 9 kadavra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41598_2025_9585_Fig1_HTML.jpg"/>
          <p:cNvPicPr>
            <a:picLocks noChangeAspect="1"/>
          </p:cNvPicPr>
          <p:nvPr/>
        </p:nvPicPr>
        <p:blipFill>
          <a:blip r:embed="rId2"/>
          <a:stretch>
            <a:fillRect/>
          </a:stretch>
        </p:blipFill>
        <p:spPr>
          <a:xfrm>
            <a:off x="481184" y="1234440"/>
            <a:ext cx="5849911" cy="4800600"/>
          </a:xfrm>
          <a:prstGeom prst="rect">
            <a:avLst/>
          </a:prstGeom>
        </p:spPr>
      </p:pic>
      <p:sp>
        <p:nvSpPr>
          <p:cNvPr id="8" name="TextBox 7"/>
          <p:cNvSpPr txBox="1"/>
          <p:nvPr/>
        </p:nvSpPr>
        <p:spPr>
          <a:xfrm>
            <a:off x="298304" y="6035040"/>
            <a:ext cx="621567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Muro Satoru ve ark., 2025 (PMC12229694,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Ic</a:t>
            </a:r>
            <a:r>
              <a:rPr sz="1600" b="0" i="0">
                <a:solidFill>
                  <a:srgbClr val="1F2A44"/>
                </a:solidFill>
                <a:latin typeface="Calibri"/>
              </a:rPr>
              <a:t> m. ischiocavernosus; </a:t>
            </a:r>
            <a:r>
              <a:rPr sz="1600" b="0" i="0">
                <a:solidFill>
                  <a:srgbClr val="1F2A44"/>
                </a:solidFill>
                <a:latin typeface="Calibri"/>
              </a:rPr>
              <a:t>Bs</a:t>
            </a:r>
            <a:r>
              <a:rPr sz="1600" b="0" i="0">
                <a:solidFill>
                  <a:srgbClr val="1F2A44"/>
                </a:solidFill>
                <a:latin typeface="Calibri"/>
              </a:rPr>
              <a:t> m. bulbospongiosus; </a:t>
            </a:r>
            <a:r>
              <a:rPr sz="1600" b="0" i="0">
                <a:solidFill>
                  <a:srgbClr val="1F2A44"/>
                </a:solidFill>
                <a:latin typeface="Calibri"/>
              </a:rPr>
              <a:t>STP</a:t>
            </a:r>
            <a:r>
              <a:rPr sz="1600" b="0" i="0">
                <a:solidFill>
                  <a:srgbClr val="1F2A44"/>
                </a:solidFill>
                <a:latin typeface="Calibri"/>
              </a:rPr>
              <a:t> m. transversus perinei superficialis; </a:t>
            </a:r>
            <a:r>
              <a:rPr sz="1600" b="0" i="0">
                <a:solidFill>
                  <a:srgbClr val="1F2A44"/>
                </a:solidFill>
                <a:latin typeface="Calibri"/>
              </a:rPr>
              <a:t>EAS</a:t>
            </a:r>
            <a:r>
              <a:rPr sz="1600" b="0" i="0">
                <a:solidFill>
                  <a:srgbClr val="1F2A44"/>
                </a:solidFill>
                <a:latin typeface="Calibri"/>
              </a:rPr>
              <a:t> dış anal sfinkter; </a:t>
            </a:r>
            <a:r>
              <a:rPr sz="1600" b="0" i="0">
                <a:solidFill>
                  <a:srgbClr val="1F2A44"/>
                </a:solidFill>
                <a:latin typeface="Calibri"/>
              </a:rPr>
              <a:t>BP</a:t>
            </a:r>
            <a:r>
              <a:rPr sz="1600" b="0" i="0">
                <a:solidFill>
                  <a:srgbClr val="1F2A44"/>
                </a:solidFill>
                <a:latin typeface="Calibri"/>
              </a:rPr>
              <a:t> bulbus penis; </a:t>
            </a:r>
            <a:r>
              <a:rPr sz="1600" b="0" i="0">
                <a:solidFill>
                  <a:srgbClr val="1F2A44"/>
                </a:solidFill>
                <a:latin typeface="Calibri"/>
              </a:rPr>
              <a:t>IPR</a:t>
            </a:r>
            <a:r>
              <a:rPr sz="1600" b="0" i="0">
                <a:solidFill>
                  <a:srgbClr val="1F2A44"/>
                </a:solidFill>
                <a:latin typeface="Calibri"/>
              </a:rPr>
              <a:t> ramus ischiopubicus; </a:t>
            </a:r>
            <a:r>
              <a:rPr sz="1600" b="0" i="0">
                <a:solidFill>
                  <a:srgbClr val="1F2A44"/>
                </a:solidFill>
                <a:latin typeface="Calibri"/>
              </a:rPr>
              <a:t>PM</a:t>
            </a:r>
            <a:r>
              <a:rPr sz="1600" b="0" i="0">
                <a:solidFill>
                  <a:srgbClr val="1F2A44"/>
                </a:solidFill>
                <a:latin typeface="Calibri"/>
              </a:rPr>
              <a:t> membrana perinei; </a:t>
            </a:r>
            <a:r>
              <a:rPr sz="1600" b="0" i="0">
                <a:solidFill>
                  <a:srgbClr val="1F2A44"/>
                </a:solidFill>
                <a:latin typeface="Calibri"/>
              </a:rPr>
              <a:t>LA</a:t>
            </a:r>
            <a:r>
              <a:rPr sz="1600" b="0" i="0">
                <a:solidFill>
                  <a:srgbClr val="1F2A44"/>
                </a:solidFill>
                <a:latin typeface="Calibri"/>
              </a:rPr>
              <a:t> m. levator ani; </a:t>
            </a:r>
            <a:r>
              <a:rPr sz="1600" b="0" i="0">
                <a:solidFill>
                  <a:srgbClr val="1F2A44"/>
                </a:solidFill>
                <a:latin typeface="Calibri"/>
              </a:rPr>
              <a:t>EUS</a:t>
            </a:r>
            <a:r>
              <a:rPr sz="1600" b="0" i="0">
                <a:solidFill>
                  <a:srgbClr val="1F2A44"/>
                </a:solidFill>
                <a:latin typeface="Calibri"/>
              </a:rPr>
              <a:t> dış üretral sfinkter; </a:t>
            </a:r>
            <a:r>
              <a:rPr sz="1600" b="0" i="0">
                <a:solidFill>
                  <a:srgbClr val="1F2A44"/>
                </a:solidFill>
                <a:latin typeface="Calibri"/>
              </a:rPr>
              <a:t>Ur</a:t>
            </a:r>
            <a:r>
              <a:rPr sz="1600" b="0" i="0">
                <a:solidFill>
                  <a:srgbClr val="1F2A44"/>
                </a:solidFill>
                <a:latin typeface="Calibri"/>
              </a:rPr>
              <a:t> urethra; </a:t>
            </a:r>
            <a:r>
              <a:rPr sz="1600" b="0" i="0">
                <a:solidFill>
                  <a:srgbClr val="1F2A44"/>
                </a:solidFill>
                <a:latin typeface="Calibri"/>
              </a:rPr>
              <a:t>SM</a:t>
            </a:r>
            <a:r>
              <a:rPr sz="1600" b="0" i="0">
                <a:solidFill>
                  <a:srgbClr val="1F2A44"/>
                </a:solidFill>
                <a:latin typeface="Calibri"/>
              </a:rPr>
              <a:t> düz kas; </a:t>
            </a:r>
            <a:r>
              <a:rPr sz="1600" b="0" i="0">
                <a:solidFill>
                  <a:srgbClr val="1F2A44"/>
                </a:solidFill>
                <a:latin typeface="Calibri"/>
              </a:rPr>
              <a:t>LM</a:t>
            </a:r>
            <a:r>
              <a:rPr sz="1600" b="0" i="0">
                <a:solidFill>
                  <a:srgbClr val="1F2A44"/>
                </a:solidFill>
                <a:latin typeface="Calibri"/>
              </a:rPr>
              <a:t> rektumun longitudinal kası</a:t>
            </a:r>
          </a:p>
        </p:txBody>
      </p:sp>
      <p:sp>
        <p:nvSpPr>
          <p:cNvPr id="11" name="TextBox 10"/>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556000"/>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 Perine kasları; (B) STP; (C) daha derinde sert, yoğun bağ dokusu olan membrana perinei; (D) membrana perinei kaldırıldığında rektum duvarıyla devamlı üçgen düz kas plağı.</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 perinesi – yüzeyelden derine katmanlar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Muro ve ark., Sci Rep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41598_2025_9585_Fig2_HTML.jpg"/>
          <p:cNvPicPr>
            <a:picLocks noChangeAspect="1"/>
          </p:cNvPicPr>
          <p:nvPr/>
        </p:nvPicPr>
        <p:blipFill>
          <a:blip r:embed="rId2"/>
          <a:stretch>
            <a:fillRect/>
          </a:stretch>
        </p:blipFill>
        <p:spPr>
          <a:xfrm>
            <a:off x="274320" y="1234440"/>
            <a:ext cx="3006408" cy="2467142"/>
          </a:xfrm>
          <a:prstGeom prst="rect">
            <a:avLst/>
          </a:prstGeom>
        </p:spPr>
      </p:pic>
      <p:sp>
        <p:nvSpPr>
          <p:cNvPr id="8" name="TextBox 7"/>
          <p:cNvSpPr txBox="1"/>
          <p:nvPr/>
        </p:nvSpPr>
        <p:spPr>
          <a:xfrm>
            <a:off x="91439" y="3701582"/>
            <a:ext cx="337216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Muro Satoru ve ark., 2025 (PMC12229694, CC BY)</a:t>
            </a:r>
          </a:p>
        </p:txBody>
      </p:sp>
      <p:pic>
        <p:nvPicPr>
          <p:cNvPr id="9" name="Picture 8" descr="41598_2025_9585_Fig7_HTML.jpg"/>
          <p:cNvPicPr>
            <a:picLocks noChangeAspect="1"/>
          </p:cNvPicPr>
          <p:nvPr/>
        </p:nvPicPr>
        <p:blipFill>
          <a:blip r:embed="rId3"/>
          <a:stretch>
            <a:fillRect/>
          </a:stretch>
        </p:blipFill>
        <p:spPr>
          <a:xfrm>
            <a:off x="3417888" y="1234440"/>
            <a:ext cx="3120071" cy="2467142"/>
          </a:xfrm>
          <a:prstGeom prst="rect">
            <a:avLst/>
          </a:prstGeom>
        </p:spPr>
      </p:pic>
      <p:sp>
        <p:nvSpPr>
          <p:cNvPr id="10" name="TextBox 9"/>
          <p:cNvSpPr txBox="1"/>
          <p:nvPr/>
        </p:nvSpPr>
        <p:spPr>
          <a:xfrm>
            <a:off x="3235008" y="3701582"/>
            <a:ext cx="348583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7 – Muro Satoru ve ark., 2025 (PMC12229694,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BV</a:t>
            </a:r>
            <a:r>
              <a:rPr sz="1600" b="0" i="0">
                <a:solidFill>
                  <a:srgbClr val="1F2A44"/>
                </a:solidFill>
                <a:latin typeface="Calibri"/>
              </a:rPr>
              <a:t> bulbus vestibuli; </a:t>
            </a:r>
            <a:r>
              <a:rPr sz="1600" b="0" i="0">
                <a:solidFill>
                  <a:srgbClr val="1F2A44"/>
                </a:solidFill>
                <a:latin typeface="Calibri"/>
              </a:rPr>
              <a:t>Va</a:t>
            </a:r>
            <a:r>
              <a:rPr sz="1600" b="0" i="0">
                <a:solidFill>
                  <a:srgbClr val="1F2A44"/>
                </a:solidFill>
                <a:latin typeface="Calibri"/>
              </a:rPr>
              <a:t> vagina; </a:t>
            </a:r>
            <a:r>
              <a:rPr sz="1600" b="0" i="0">
                <a:solidFill>
                  <a:srgbClr val="1F2A44"/>
                </a:solidFill>
                <a:latin typeface="Calibri"/>
              </a:rPr>
              <a:t>Bs</a:t>
            </a:r>
            <a:r>
              <a:rPr sz="1600" b="0" i="0">
                <a:solidFill>
                  <a:srgbClr val="1F2A44"/>
                </a:solidFill>
                <a:latin typeface="Calibri"/>
              </a:rPr>
              <a:t>; </a:t>
            </a:r>
            <a:r>
              <a:rPr sz="1600" b="0" i="0">
                <a:solidFill>
                  <a:srgbClr val="1F2A44"/>
                </a:solidFill>
                <a:latin typeface="Calibri"/>
              </a:rPr>
              <a:t>Ic</a:t>
            </a:r>
            <a:r>
              <a:rPr sz="1600" b="0" i="0">
                <a:solidFill>
                  <a:srgbClr val="1F2A44"/>
                </a:solidFill>
                <a:latin typeface="Calibri"/>
              </a:rPr>
              <a:t>; </a:t>
            </a:r>
            <a:r>
              <a:rPr sz="1600" b="0" i="0">
                <a:solidFill>
                  <a:srgbClr val="1F2A44"/>
                </a:solidFill>
                <a:latin typeface="Calibri"/>
              </a:rPr>
              <a:t>STP</a:t>
            </a:r>
            <a:r>
              <a:rPr sz="1600" b="0" i="0">
                <a:solidFill>
                  <a:srgbClr val="1F2A44"/>
                </a:solidFill>
                <a:latin typeface="Calibri"/>
              </a:rPr>
              <a:t>; </a:t>
            </a:r>
            <a:r>
              <a:rPr sz="1600" b="0" i="0">
                <a:solidFill>
                  <a:srgbClr val="1F2A44"/>
                </a:solidFill>
                <a:latin typeface="Calibri"/>
              </a:rPr>
              <a:t>EAS</a:t>
            </a:r>
            <a:r>
              <a:rPr sz="1600" b="0" i="0">
                <a:solidFill>
                  <a:srgbClr val="1F2A44"/>
                </a:solidFill>
                <a:latin typeface="Calibri"/>
              </a:rPr>
              <a:t>; </a:t>
            </a:r>
            <a:r>
              <a:rPr sz="1600" b="0" i="0">
                <a:solidFill>
                  <a:srgbClr val="1F2A44"/>
                </a:solidFill>
                <a:latin typeface="Calibri"/>
              </a:rPr>
              <a:t>IPR</a:t>
            </a:r>
            <a:r>
              <a:rPr sz="1600" b="0" i="0">
                <a:solidFill>
                  <a:srgbClr val="1F2A44"/>
                </a:solidFill>
                <a:latin typeface="Calibri"/>
              </a:rPr>
              <a:t>; </a:t>
            </a:r>
            <a:r>
              <a:rPr sz="1600" b="0" i="0">
                <a:solidFill>
                  <a:srgbClr val="1F2A44"/>
                </a:solidFill>
                <a:latin typeface="Calibri"/>
              </a:rPr>
              <a:t>PM</a:t>
            </a:r>
            <a:r>
              <a:rPr sz="1600" b="0" i="0">
                <a:solidFill>
                  <a:srgbClr val="1F2A44"/>
                </a:solidFill>
                <a:latin typeface="Calibri"/>
              </a:rPr>
              <a:t> membrana perinei; </a:t>
            </a:r>
            <a:r>
              <a:rPr sz="1600" b="0" i="0">
                <a:solidFill>
                  <a:srgbClr val="1F2A44"/>
                </a:solidFill>
                <a:latin typeface="Calibri"/>
              </a:rPr>
              <a:t>Ur</a:t>
            </a:r>
            <a:r>
              <a:rPr sz="1600" b="0" i="0">
                <a:solidFill>
                  <a:srgbClr val="1F2A44"/>
                </a:solidFill>
                <a:latin typeface="Calibri"/>
              </a:rPr>
              <a:t>; </a:t>
            </a:r>
            <a:r>
              <a:rPr sz="1600" b="0" i="0">
                <a:solidFill>
                  <a:srgbClr val="1F2A44"/>
                </a:solidFill>
                <a:latin typeface="Calibri"/>
              </a:rPr>
              <a:t>SM</a:t>
            </a:r>
            <a:r>
              <a:rPr sz="1600" b="0" i="0">
                <a:solidFill>
                  <a:srgbClr val="1F2A44"/>
                </a:solidFill>
                <a:latin typeface="Calibri"/>
              </a:rPr>
              <a:t> düz kas; </a:t>
            </a:r>
            <a:r>
              <a:rPr sz="1600" b="0" i="0">
                <a:solidFill>
                  <a:srgbClr val="1F2A44"/>
                </a:solidFill>
                <a:latin typeface="Calibri"/>
              </a:rPr>
              <a:t>LA</a:t>
            </a:r>
            <a:r>
              <a:rPr sz="1600" b="0" i="0">
                <a:solidFill>
                  <a:srgbClr val="1F2A44"/>
                </a:solidFill>
                <a:latin typeface="Calibri"/>
              </a:rPr>
              <a:t>; şemada </a:t>
            </a:r>
            <a:r>
              <a:rPr sz="1600" b="0" i="0">
                <a:solidFill>
                  <a:srgbClr val="1F2A44"/>
                </a:solidFill>
                <a:latin typeface="Calibri"/>
              </a:rPr>
              <a:t>Bl</a:t>
            </a:r>
            <a:r>
              <a:rPr sz="1600" b="0" i="0">
                <a:solidFill>
                  <a:srgbClr val="1F2A44"/>
                </a:solidFill>
                <a:latin typeface="Calibri"/>
              </a:rPr>
              <a:t> mesane, </a:t>
            </a:r>
            <a:r>
              <a:rPr sz="1600" b="0" i="0">
                <a:solidFill>
                  <a:srgbClr val="1F2A44"/>
                </a:solidFill>
                <a:latin typeface="Calibri"/>
              </a:rPr>
              <a:t>R</a:t>
            </a:r>
            <a:r>
              <a:rPr sz="1600" b="0" i="0">
                <a:solidFill>
                  <a:srgbClr val="1F2A44"/>
                </a:solidFill>
                <a:latin typeface="Calibri"/>
              </a:rPr>
              <a:t> rektum</a:t>
            </a:r>
          </a:p>
        </p:txBody>
      </p:sp>
      <p:sp>
        <p:nvSpPr>
          <p:cNvPr id="13" name="TextBox 12"/>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Kadında derin perine boşluğundaki düz kas plağı hem vajina hem rektum duvarıyla devamlıdır.</a:t>
            </a:r>
          </a:p>
          <a:p>
            <a:pPr algn="l">
              <a:spcAft>
                <a:spcPts val="300"/>
              </a:spcAft>
            </a:pPr>
            <a:r>
              <a:rPr sz="1600" b="0" i="0">
                <a:solidFill>
                  <a:srgbClr val="1F2A44"/>
                </a:solidFill>
                <a:latin typeface="Calibri"/>
              </a:rPr>
              <a:t>• Her iki cinste perine katmanlı bir yapı gösterir: STP → membrana perinei → düz kas.</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Muro Satoru, Chang Liu, Tharnmanularp Suthasinee et al. Presence of smooth muscle continuous with the rectal and vaginal walls in the deep perineal space prompts reconsideration of the deep transverse perineal muscle. Sci Rep. 2025 Jul 3;15:23730. doi: 10.1038/s41598-025-09585-9 PMCID: PMC12229694.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Kadında membrana perinei ve rabdosfinkter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Hinata ve ark., Biomed Res Int 2014 – histoloji ve şema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8E24AA"/>
          </a:solidFill>
        </p:spPr>
        <p:txBody>
          <a:bodyPr wrap="square" anchor="ctr" lIns="45720" rIns="45720" tIns="18288" bIns="18288">
            <a:spAutoFit/>
          </a:bodyPr>
          <a:lstStyle/>
          <a:p>
            <a:pPr algn="ctr"/>
            <a:r>
              <a:rPr sz="1100" b="1" i="0">
                <a:solidFill>
                  <a:srgbClr val="FFFFFF"/>
                </a:solidFill>
                <a:latin typeface="Calibri"/>
              </a:rPr>
              <a:t>HİSTOLOJİ</a:t>
            </a:r>
          </a:p>
        </p:txBody>
      </p:sp>
      <p:pic>
        <p:nvPicPr>
          <p:cNvPr id="7" name="Picture 6" descr="BMRI2014-906921.011.jpg"/>
          <p:cNvPicPr>
            <a:picLocks noChangeAspect="1"/>
          </p:cNvPicPr>
          <p:nvPr/>
        </p:nvPicPr>
        <p:blipFill>
          <a:blip r:embed="rId2"/>
          <a:stretch>
            <a:fillRect/>
          </a:stretch>
        </p:blipFill>
        <p:spPr>
          <a:xfrm>
            <a:off x="274319" y="1234440"/>
            <a:ext cx="3373132" cy="4120843"/>
          </a:xfrm>
          <a:prstGeom prst="rect">
            <a:avLst/>
          </a:prstGeom>
        </p:spPr>
      </p:pic>
      <p:sp>
        <p:nvSpPr>
          <p:cNvPr id="8" name="TextBox 7"/>
          <p:cNvSpPr txBox="1"/>
          <p:nvPr/>
        </p:nvSpPr>
        <p:spPr>
          <a:xfrm>
            <a:off x="91439" y="5355283"/>
            <a:ext cx="373889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11 – Hinata Nobuyuki ve ark., 2014 (PMC4022307, CC BY)</a:t>
            </a:r>
          </a:p>
        </p:txBody>
      </p:sp>
      <p:pic>
        <p:nvPicPr>
          <p:cNvPr id="9" name="Picture 8" descr="BMRI2014-906921.007.jpg"/>
          <p:cNvPicPr>
            <a:picLocks noChangeAspect="1"/>
          </p:cNvPicPr>
          <p:nvPr/>
        </p:nvPicPr>
        <p:blipFill>
          <a:blip r:embed="rId3"/>
          <a:stretch>
            <a:fillRect/>
          </a:stretch>
        </p:blipFill>
        <p:spPr>
          <a:xfrm>
            <a:off x="3784612" y="1234440"/>
            <a:ext cx="2753347" cy="4120843"/>
          </a:xfrm>
          <a:prstGeom prst="rect">
            <a:avLst/>
          </a:prstGeom>
        </p:spPr>
      </p:pic>
      <p:sp>
        <p:nvSpPr>
          <p:cNvPr id="10" name="TextBox 9"/>
          <p:cNvSpPr txBox="1"/>
          <p:nvPr/>
        </p:nvSpPr>
        <p:spPr>
          <a:xfrm>
            <a:off x="3601732" y="5355283"/>
            <a:ext cx="311910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7 – Hinata Nobuyuki ve ark., 2014 (PMC4022307,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Şema: Uterus, Bladder (mesane), Pubis, </a:t>
            </a:r>
            <a:r>
              <a:rPr sz="1600" b="0" i="0">
                <a:solidFill>
                  <a:srgbClr val="1F2A44"/>
                </a:solidFill>
                <a:latin typeface="Calibri"/>
              </a:rPr>
              <a:t>RS</a:t>
            </a:r>
            <a:r>
              <a:rPr sz="1600" b="0" i="0">
                <a:solidFill>
                  <a:srgbClr val="1F2A44"/>
                </a:solidFill>
                <a:latin typeface="Calibri"/>
              </a:rPr>
              <a:t> rabdosfinkter, Urethra, </a:t>
            </a:r>
            <a:r>
              <a:rPr sz="1600" b="0" i="0">
                <a:solidFill>
                  <a:srgbClr val="1F2A44"/>
                </a:solidFill>
                <a:latin typeface="Calibri"/>
              </a:rPr>
              <a:t>UVS</a:t>
            </a:r>
            <a:r>
              <a:rPr sz="1600" b="0" i="0">
                <a:solidFill>
                  <a:srgbClr val="1F2A44"/>
                </a:solidFill>
                <a:latin typeface="Calibri"/>
              </a:rPr>
              <a:t> m. sphincter urethrovaginalis, Vestibular bulb, Bulbospongiosus, Vagina, </a:t>
            </a:r>
            <a:r>
              <a:rPr sz="1600" b="0" i="0">
                <a:solidFill>
                  <a:srgbClr val="1F2A44"/>
                </a:solidFill>
                <a:latin typeface="Calibri"/>
              </a:rPr>
              <a:t>CU</a:t>
            </a:r>
            <a:r>
              <a:rPr sz="1600" b="0" i="0">
                <a:solidFill>
                  <a:srgbClr val="1F2A44"/>
                </a:solidFill>
                <a:latin typeface="Calibri"/>
              </a:rPr>
              <a:t> m. compressor urethrae, Levator ani, </a:t>
            </a:r>
            <a:r>
              <a:rPr sz="1600" b="0" i="0">
                <a:solidFill>
                  <a:srgbClr val="1F2A44"/>
                </a:solidFill>
                <a:latin typeface="Calibri"/>
              </a:rPr>
              <a:t>PM</a:t>
            </a:r>
            <a:r>
              <a:rPr sz="1600" b="0" i="0">
                <a:solidFill>
                  <a:srgbClr val="1F2A44"/>
                </a:solidFill>
                <a:latin typeface="Calibri"/>
              </a:rPr>
              <a:t> membrana perinei, External anal sphincter, Anus</a:t>
            </a:r>
          </a:p>
          <a:p>
            <a:pPr algn="l">
              <a:spcAft>
                <a:spcPts val="300"/>
              </a:spcAft>
            </a:pPr>
            <a:r>
              <a:rPr sz="1600" b="0" i="0">
                <a:solidFill>
                  <a:srgbClr val="1F2A44"/>
                </a:solidFill>
                <a:latin typeface="Calibri"/>
              </a:rPr>
              <a:t>• Histoloji: </a:t>
            </a:r>
            <a:r>
              <a:rPr sz="1600" b="0" i="0">
                <a:solidFill>
                  <a:srgbClr val="1F2A44"/>
                </a:solidFill>
                <a:latin typeface="Calibri"/>
              </a:rPr>
              <a:t>UR</a:t>
            </a:r>
            <a:r>
              <a:rPr sz="1600" b="0" i="0">
                <a:solidFill>
                  <a:srgbClr val="1F2A44"/>
                </a:solidFill>
                <a:latin typeface="Calibri"/>
              </a:rPr>
              <a:t> urethra; </a:t>
            </a:r>
            <a:r>
              <a:rPr sz="1600" b="0" i="0">
                <a:solidFill>
                  <a:srgbClr val="1F2A44"/>
                </a:solidFill>
                <a:latin typeface="Calibri"/>
              </a:rPr>
              <a:t>CC</a:t>
            </a:r>
            <a:r>
              <a:rPr sz="1600" b="0" i="0">
                <a:solidFill>
                  <a:srgbClr val="1F2A44"/>
                </a:solidFill>
                <a:latin typeface="Calibri"/>
              </a:rPr>
              <a:t> crus clitoridis; </a:t>
            </a:r>
            <a:r>
              <a:rPr sz="1600" b="0" i="0">
                <a:solidFill>
                  <a:srgbClr val="1F2A44"/>
                </a:solidFill>
                <a:latin typeface="Calibri"/>
              </a:rPr>
              <a:t>VAG</a:t>
            </a:r>
            <a:r>
              <a:rPr sz="1600" b="0" i="0">
                <a:solidFill>
                  <a:srgbClr val="1F2A44"/>
                </a:solidFill>
                <a:latin typeface="Calibri"/>
              </a:rPr>
              <a:t> vagina; </a:t>
            </a:r>
            <a:r>
              <a:rPr sz="1600" b="0" i="0">
                <a:solidFill>
                  <a:srgbClr val="1F2A44"/>
                </a:solidFill>
                <a:latin typeface="Calibri"/>
              </a:rPr>
              <a:t>LA</a:t>
            </a:r>
            <a:r>
              <a:rPr sz="1600" b="0" i="0">
                <a:solidFill>
                  <a:srgbClr val="1F2A44"/>
                </a:solidFill>
                <a:latin typeface="Calibri"/>
              </a:rPr>
              <a:t> levator ani; </a:t>
            </a:r>
            <a:r>
              <a:rPr sz="1600" b="0" i="0">
                <a:solidFill>
                  <a:srgbClr val="1F2A44"/>
                </a:solidFill>
                <a:latin typeface="Calibri"/>
              </a:rPr>
              <a:t>REC</a:t>
            </a:r>
            <a:r>
              <a:rPr sz="1600" b="0" i="0">
                <a:solidFill>
                  <a:srgbClr val="1F2A44"/>
                </a:solidFill>
                <a:latin typeface="Calibri"/>
              </a:rPr>
              <a:t> rektum</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Erkekte membrana perinei ince ama sağlamdır ve rabdosfinkterin alt kenarı boyunca uzanır.</a:t>
            </a:r>
          </a:p>
          <a:p>
            <a:pPr algn="l">
              <a:spcAft>
                <a:spcPts val="300"/>
              </a:spcAft>
            </a:pPr>
            <a:r>
              <a:rPr sz="1600" b="0" i="0">
                <a:solidFill>
                  <a:srgbClr val="1F2A44"/>
                </a:solidFill>
                <a:latin typeface="Calibri"/>
              </a:rPr>
              <a:t>• Kadında rabdosfinkter, membrana perinei ile devamlı elastik lif ağı içine gömülüdür.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Hinata Nobuyuki, Murakami Gen The Urethral Rhabdosphincter, Levator Ani Muscle, and Perineal Membrane: A Review. Biomed Res Int. 2014 Apr 27;2014:906921. doi: 10.1155/2014/906921 PMCID: PMC4022307.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Pelvis içi fasyalar ve cerrahi düzlemler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Denonvilliers, mezorektal fasya ve Waldeyer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Pelvis tabanının üstünde, organları saran fasya sistemi fascia endopelvina olarak adlandırılır. Parietal yaprak pelvis duvarındaki kasları, visseral yaprak ise mesane, prostat, vajina ve rektumu örter. Bu iki yaprak arasında kalan gevşek bağ dokusu, cerrahların 'avasküler düzlem' olarak kullandığı boşlukları oluşturur.</a:t>
            </a:r>
          </a:p>
          <a:p>
            <a:pPr algn="l">
              <a:lnSpc>
                <a:spcPct val="108000"/>
              </a:lnSpc>
              <a:spcAft>
                <a:spcPts val="900"/>
              </a:spcAft>
            </a:pPr>
            <a:r>
              <a:rPr sz="2000" b="0" i="0">
                <a:solidFill>
                  <a:srgbClr val="1F2A44"/>
                </a:solidFill>
                <a:latin typeface="Calibri"/>
              </a:rPr>
              <a:t>Rektumun ön yüzünde, erkekte prostat ve vesiculae seminales ile rektum arasında Denonvilliers fasyası (septum rectovesicale/rectoprostaticum) bulunur; kadındaki karşılığı rektovajinal septumdur. Peritonun en alt reflexion'undan aşağıya, perine cismine kadar uzanır. Rektum kanseri cerrahisinde tümörün yerine göre diseksiyon bu fasyanın önünden veya arkasından yapılır; fasyanın ön-yanlarında ise ereksiyondan sorumlu kavernöz sinirler seyreder.</a:t>
            </a:r>
          </a:p>
          <a:p>
            <a:pPr algn="l">
              <a:lnSpc>
                <a:spcPct val="108000"/>
              </a:lnSpc>
              <a:spcAft>
                <a:spcPts val="900"/>
              </a:spcAft>
            </a:pPr>
            <a:r>
              <a:rPr sz="2000" b="0" i="0">
                <a:solidFill>
                  <a:srgbClr val="1F2A44"/>
                </a:solidFill>
                <a:latin typeface="Calibri"/>
              </a:rPr>
              <a:t>Rektumun arkasında ise mezorektumu saran fascia mesorectalis ile sakrumu örten presakral fasya arasında gevşek bir düzlem vardır. Yaklaşık S4 düzeyinde bu iki yaprağı birleştiren rektosakral (Waldeyer) fasya, rektumun tam mobilizasyonu için kesilmesi gereken bir yapıdır. Presakral fasyanın yırtılması, altındaki presakral venlerden ciddi kanamaya yol açabilir.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Denonvilliers fasyası – 'Y' şekli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Li ve ark., BMC Surg 2023 – 20 erkek pelvis (orta sagital kesit)</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12893_2023_1913_Fig2_HTML.jpg"/>
          <p:cNvPicPr>
            <a:picLocks noChangeAspect="1"/>
          </p:cNvPicPr>
          <p:nvPr/>
        </p:nvPicPr>
        <p:blipFill>
          <a:blip r:embed="rId2"/>
          <a:stretch>
            <a:fillRect/>
          </a:stretch>
        </p:blipFill>
        <p:spPr>
          <a:xfrm>
            <a:off x="648872" y="1234440"/>
            <a:ext cx="5514535" cy="4800600"/>
          </a:xfrm>
          <a:prstGeom prst="rect">
            <a:avLst/>
          </a:prstGeom>
        </p:spPr>
      </p:pic>
      <p:sp>
        <p:nvSpPr>
          <p:cNvPr id="8" name="TextBox 7"/>
          <p:cNvSpPr txBox="1"/>
          <p:nvPr/>
        </p:nvSpPr>
        <p:spPr>
          <a:xfrm>
            <a:off x="465992" y="6035040"/>
            <a:ext cx="588029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Li Yi ve ark., 2023 (PMC9843937,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1</a:t>
            </a:r>
            <a:r>
              <a:rPr sz="1600" b="0" i="0">
                <a:solidFill>
                  <a:srgbClr val="1F2A44"/>
                </a:solidFill>
                <a:latin typeface="Calibri"/>
              </a:rPr>
              <a:t> ürogenital fasyanın visseral yaprağı; </a:t>
            </a:r>
            <a:r>
              <a:rPr sz="1600" b="0" i="0">
                <a:solidFill>
                  <a:srgbClr val="1F2A44"/>
                </a:solidFill>
                <a:latin typeface="Calibri"/>
              </a:rPr>
              <a:t>2</a:t>
            </a:r>
            <a:r>
              <a:rPr sz="1600" b="0" i="0">
                <a:solidFill>
                  <a:srgbClr val="1F2A44"/>
                </a:solidFill>
                <a:latin typeface="Calibri"/>
              </a:rPr>
              <a:t> periton; </a:t>
            </a:r>
            <a:r>
              <a:rPr sz="1600" b="0" i="0">
                <a:solidFill>
                  <a:srgbClr val="1F2A44"/>
                </a:solidFill>
                <a:latin typeface="Calibri"/>
              </a:rPr>
              <a:t>3</a:t>
            </a:r>
            <a:r>
              <a:rPr sz="1600" b="0" i="0">
                <a:solidFill>
                  <a:srgbClr val="1F2A44"/>
                </a:solidFill>
                <a:latin typeface="Calibri"/>
              </a:rPr>
              <a:t> peritoneal reflexion; </a:t>
            </a:r>
            <a:r>
              <a:rPr sz="1600" b="0" i="0">
                <a:solidFill>
                  <a:srgbClr val="1F2A44"/>
                </a:solidFill>
                <a:latin typeface="Calibri"/>
              </a:rPr>
              <a:t>4</a:t>
            </a:r>
            <a:r>
              <a:rPr sz="1600" b="0" i="0">
                <a:solidFill>
                  <a:srgbClr val="1F2A44"/>
                </a:solidFill>
                <a:latin typeface="Calibri"/>
              </a:rPr>
              <a:t> Denonvilliers fasyası; </a:t>
            </a:r>
            <a:r>
              <a:rPr sz="1600" b="0" i="0">
                <a:solidFill>
                  <a:srgbClr val="1F2A44"/>
                </a:solidFill>
                <a:latin typeface="Calibri"/>
              </a:rPr>
              <a:t>5</a:t>
            </a:r>
            <a:r>
              <a:rPr sz="1600" b="0" i="0">
                <a:solidFill>
                  <a:srgbClr val="1F2A44"/>
                </a:solidFill>
                <a:latin typeface="Calibri"/>
              </a:rPr>
              <a:t> vesica urinaria; </a:t>
            </a:r>
            <a:r>
              <a:rPr sz="1600" b="0" i="0">
                <a:solidFill>
                  <a:srgbClr val="1F2A44"/>
                </a:solidFill>
                <a:latin typeface="Calibri"/>
              </a:rPr>
              <a:t>6</a:t>
            </a:r>
            <a:r>
              <a:rPr sz="1600" b="0" i="0">
                <a:solidFill>
                  <a:srgbClr val="1F2A44"/>
                </a:solidFill>
                <a:latin typeface="Calibri"/>
              </a:rPr>
              <a:t> rectum; </a:t>
            </a:r>
            <a:r>
              <a:rPr sz="1600" b="0" i="0">
                <a:solidFill>
                  <a:srgbClr val="1F2A44"/>
                </a:solidFill>
                <a:latin typeface="Calibri"/>
              </a:rPr>
              <a:t>7</a:t>
            </a:r>
            <a:r>
              <a:rPr sz="1600" b="0" i="0">
                <a:solidFill>
                  <a:srgbClr val="1F2A44"/>
                </a:solidFill>
                <a:latin typeface="Calibri"/>
              </a:rPr>
              <a:t> vesiculae seminales; </a:t>
            </a:r>
            <a:r>
              <a:rPr sz="1600" b="0" i="0">
                <a:solidFill>
                  <a:srgbClr val="1F2A44"/>
                </a:solidFill>
                <a:latin typeface="Calibri"/>
              </a:rPr>
              <a:t>8</a:t>
            </a:r>
            <a:r>
              <a:rPr sz="1600" b="0" i="0">
                <a:solidFill>
                  <a:srgbClr val="1F2A44"/>
                </a:solidFill>
                <a:latin typeface="Calibri"/>
              </a:rPr>
              <a:t> prostata</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Denonvilliers fasyası tipik olarak tek katlı ve serttir.</a:t>
            </a:r>
          </a:p>
          <a:p>
            <a:pPr algn="l">
              <a:spcAft>
                <a:spcPts val="300"/>
              </a:spcAft>
            </a:pPr>
            <a:r>
              <a:rPr sz="1600" b="0" i="0">
                <a:solidFill>
                  <a:srgbClr val="1F2A44"/>
                </a:solidFill>
                <a:latin typeface="Calibri"/>
              </a:rPr>
              <a:t>• Sagital düzlemde peritoneal reflexion ile birlikte 'Y' şekli oluşturur.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Li Yi, Zhao Ya-Min, Ma Yan-Bing et al. The “Y”-shaped Denonvilliers’ fascia and its adjacent relationship with the urogenital fascia based on a male cadaveric anatomical study. BMC Surg. 2023 Jan 17;23:13. doi: 10.1186/s12893-023-01913-y PMCID: PMC9843937.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Denonvilliers fasyası – histoloji ve mikro-BT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Muraoka ve ark., BMC Urol 2015; Yang ve ark., Sci Rep 2021</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8E24AA"/>
          </a:solidFill>
        </p:spPr>
        <p:txBody>
          <a:bodyPr wrap="square" anchor="ctr" lIns="45720" rIns="45720" tIns="18288" bIns="18288">
            <a:spAutoFit/>
          </a:bodyPr>
          <a:lstStyle/>
          <a:p>
            <a:pPr algn="ctr"/>
            <a:r>
              <a:rPr sz="1100" b="1" i="0">
                <a:solidFill>
                  <a:srgbClr val="FFFFFF"/>
                </a:solidFill>
                <a:latin typeface="Calibri"/>
              </a:rPr>
              <a:t>HİSTOLOJİ</a:t>
            </a:r>
          </a:p>
        </p:txBody>
      </p:sp>
      <p:pic>
        <p:nvPicPr>
          <p:cNvPr id="7" name="Picture 6" descr="12894_2015_34_Fig4_HTML.jpg"/>
          <p:cNvPicPr>
            <a:picLocks noChangeAspect="1"/>
          </p:cNvPicPr>
          <p:nvPr/>
        </p:nvPicPr>
        <p:blipFill>
          <a:blip r:embed="rId2"/>
          <a:stretch>
            <a:fillRect/>
          </a:stretch>
        </p:blipFill>
        <p:spPr>
          <a:xfrm>
            <a:off x="274320" y="1234440"/>
            <a:ext cx="1395152" cy="2317872"/>
          </a:xfrm>
          <a:prstGeom prst="rect">
            <a:avLst/>
          </a:prstGeom>
        </p:spPr>
      </p:pic>
      <p:sp>
        <p:nvSpPr>
          <p:cNvPr id="8" name="TextBox 7"/>
          <p:cNvSpPr txBox="1"/>
          <p:nvPr/>
        </p:nvSpPr>
        <p:spPr>
          <a:xfrm>
            <a:off x="91439" y="3552312"/>
            <a:ext cx="176091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Muraoka Kuniyasu ve ark., 2015 (PMC4433060, CC BY)</a:t>
            </a:r>
          </a:p>
        </p:txBody>
      </p:sp>
      <p:pic>
        <p:nvPicPr>
          <p:cNvPr id="9" name="Picture 8" descr="41598_2021_1106_Fig2_HTML.jpg"/>
          <p:cNvPicPr>
            <a:picLocks noChangeAspect="1"/>
          </p:cNvPicPr>
          <p:nvPr/>
        </p:nvPicPr>
        <p:blipFill>
          <a:blip r:embed="rId3"/>
          <a:stretch>
            <a:fillRect/>
          </a:stretch>
        </p:blipFill>
        <p:spPr>
          <a:xfrm>
            <a:off x="1806632" y="1234440"/>
            <a:ext cx="4731327" cy="2317872"/>
          </a:xfrm>
          <a:prstGeom prst="rect">
            <a:avLst/>
          </a:prstGeom>
        </p:spPr>
      </p:pic>
      <p:sp>
        <p:nvSpPr>
          <p:cNvPr id="10" name="TextBox 9"/>
          <p:cNvSpPr txBox="1"/>
          <p:nvPr/>
        </p:nvSpPr>
        <p:spPr>
          <a:xfrm>
            <a:off x="1623752" y="3552312"/>
            <a:ext cx="509708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Yang Seung Yoon ve ark., 2021 (PMC8571354,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Sol: </a:t>
            </a:r>
            <a:r>
              <a:rPr sz="1600" b="0" i="0">
                <a:solidFill>
                  <a:srgbClr val="1F2A44"/>
                </a:solidFill>
                <a:latin typeface="Calibri"/>
              </a:rPr>
              <a:t>DF</a:t>
            </a:r>
            <a:r>
              <a:rPr sz="1600" b="0" i="0">
                <a:solidFill>
                  <a:srgbClr val="1F2A44"/>
                </a:solidFill>
                <a:latin typeface="Calibri"/>
              </a:rPr>
              <a:t> Denonvilliers fasyası; </a:t>
            </a:r>
            <a:r>
              <a:rPr sz="1600" b="0" i="0">
                <a:solidFill>
                  <a:srgbClr val="1F2A44"/>
                </a:solidFill>
                <a:latin typeface="Calibri"/>
              </a:rPr>
              <a:t>PR</a:t>
            </a:r>
            <a:r>
              <a:rPr sz="1600" b="0" i="0">
                <a:solidFill>
                  <a:srgbClr val="1F2A44"/>
                </a:solidFill>
                <a:latin typeface="Calibri"/>
              </a:rPr>
              <a:t> prostat; </a:t>
            </a:r>
            <a:r>
              <a:rPr sz="1600" b="0" i="0">
                <a:solidFill>
                  <a:srgbClr val="1F2A44"/>
                </a:solidFill>
                <a:latin typeface="Calibri"/>
              </a:rPr>
              <a:t>UR</a:t>
            </a:r>
            <a:r>
              <a:rPr sz="1600" b="0" i="0">
                <a:solidFill>
                  <a:srgbClr val="1F2A44"/>
                </a:solidFill>
                <a:latin typeface="Calibri"/>
              </a:rPr>
              <a:t> urethra; </a:t>
            </a:r>
            <a:r>
              <a:rPr sz="1600" b="0" i="0">
                <a:solidFill>
                  <a:srgbClr val="1F2A44"/>
                </a:solidFill>
                <a:latin typeface="Calibri"/>
              </a:rPr>
              <a:t>RS</a:t>
            </a:r>
            <a:r>
              <a:rPr sz="1600" b="0" i="0">
                <a:solidFill>
                  <a:srgbClr val="1F2A44"/>
                </a:solidFill>
                <a:latin typeface="Calibri"/>
              </a:rPr>
              <a:t> rabdosfinkter; </a:t>
            </a:r>
            <a:r>
              <a:rPr sz="1600" b="0" i="0">
                <a:solidFill>
                  <a:srgbClr val="1F2A44"/>
                </a:solidFill>
                <a:latin typeface="Calibri"/>
              </a:rPr>
              <a:t>LMR/CMR</a:t>
            </a:r>
            <a:r>
              <a:rPr sz="1600" b="0" i="0">
                <a:solidFill>
                  <a:srgbClr val="1F2A44"/>
                </a:solidFill>
                <a:latin typeface="Calibri"/>
              </a:rPr>
              <a:t> rektumun longitudinal/sirküler kası; </a:t>
            </a:r>
            <a:r>
              <a:rPr sz="1600" b="0" i="0">
                <a:solidFill>
                  <a:srgbClr val="1F2A44"/>
                </a:solidFill>
                <a:latin typeface="Calibri"/>
              </a:rPr>
              <a:t>REC</a:t>
            </a:r>
            <a:r>
              <a:rPr sz="1600" b="0" i="0">
                <a:solidFill>
                  <a:srgbClr val="1F2A44"/>
                </a:solidFill>
                <a:latin typeface="Calibri"/>
              </a:rPr>
              <a:t> rektum; </a:t>
            </a:r>
            <a:r>
              <a:rPr sz="1600" b="0" i="0">
                <a:solidFill>
                  <a:srgbClr val="1F2A44"/>
                </a:solidFill>
                <a:latin typeface="Calibri"/>
              </a:rPr>
              <a:t>IAS/EAS</a:t>
            </a:r>
            <a:r>
              <a:rPr sz="1600" b="0" i="0">
                <a:solidFill>
                  <a:srgbClr val="1F2A44"/>
                </a:solidFill>
                <a:latin typeface="Calibri"/>
              </a:rPr>
              <a:t> iç/dış anal sfinkter; </a:t>
            </a:r>
            <a:r>
              <a:rPr sz="1600" b="0" i="0">
                <a:solidFill>
                  <a:srgbClr val="1F2A44"/>
                </a:solidFill>
                <a:latin typeface="Calibri"/>
              </a:rPr>
              <a:t>CG</a:t>
            </a:r>
            <a:r>
              <a:rPr sz="1600" b="0" i="0">
                <a:solidFill>
                  <a:srgbClr val="1F2A44"/>
                </a:solidFill>
                <a:latin typeface="Calibri"/>
              </a:rPr>
              <a:t> bulbourethral bez</a:t>
            </a:r>
          </a:p>
          <a:p>
            <a:pPr algn="l">
              <a:spcAft>
                <a:spcPts val="300"/>
              </a:spcAft>
            </a:pPr>
            <a:r>
              <a:rPr sz="1600" b="0" i="0">
                <a:solidFill>
                  <a:srgbClr val="1F2A44"/>
                </a:solidFill>
                <a:latin typeface="Calibri"/>
              </a:rPr>
              <a:t>• Sağ: mikro-BT ve Masson trikrom; </a:t>
            </a:r>
            <a:r>
              <a:rPr sz="1600" b="0" i="0">
                <a:solidFill>
                  <a:srgbClr val="1F2A44"/>
                </a:solidFill>
                <a:latin typeface="Calibri"/>
              </a:rPr>
              <a:t>U.B</a:t>
            </a:r>
            <a:r>
              <a:rPr sz="1600" b="0" i="0">
                <a:solidFill>
                  <a:srgbClr val="1F2A44"/>
                </a:solidFill>
                <a:latin typeface="Calibri"/>
              </a:rPr>
              <a:t> mesane; </a:t>
            </a:r>
            <a:r>
              <a:rPr sz="1600" b="0" i="0">
                <a:solidFill>
                  <a:srgbClr val="1F2A44"/>
                </a:solidFill>
                <a:latin typeface="Calibri"/>
              </a:rPr>
              <a:t>SV</a:t>
            </a:r>
            <a:r>
              <a:rPr sz="1600" b="0" i="0">
                <a:solidFill>
                  <a:srgbClr val="1F2A44"/>
                </a:solidFill>
                <a:latin typeface="Calibri"/>
              </a:rPr>
              <a:t> vesicula seminalis; </a:t>
            </a:r>
            <a:r>
              <a:rPr sz="1600" b="0" i="0">
                <a:solidFill>
                  <a:srgbClr val="1F2A44"/>
                </a:solidFill>
                <a:latin typeface="Calibri"/>
              </a:rPr>
              <a:t>R</a:t>
            </a:r>
            <a:r>
              <a:rPr sz="1600" b="0" i="0">
                <a:solidFill>
                  <a:srgbClr val="1F2A44"/>
                </a:solidFill>
                <a:latin typeface="Calibri"/>
              </a:rPr>
              <a:t> rektum; </a:t>
            </a:r>
            <a:r>
              <a:rPr sz="1600" b="0" i="0">
                <a:solidFill>
                  <a:srgbClr val="1F2A44"/>
                </a:solidFill>
                <a:latin typeface="Calibri"/>
              </a:rPr>
              <a:t>P</a:t>
            </a:r>
            <a:r>
              <a:rPr sz="1600" b="0" i="0">
                <a:solidFill>
                  <a:srgbClr val="1F2A44"/>
                </a:solidFill>
                <a:latin typeface="Calibri"/>
              </a:rPr>
              <a:t> prostat; ok başları DVF</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25 erkek kadavrada DF, düzensiz gevşek bağ dokusu ve iç içe 'yapraklar' şeklinde (elastik / düz kas lifleri) bulunmuştur.</a:t>
            </a:r>
          </a:p>
          <a:p>
            <a:pPr algn="l">
              <a:spcAft>
                <a:spcPts val="300"/>
              </a:spcAft>
            </a:pPr>
            <a:r>
              <a:rPr sz="1600" b="0" i="0">
                <a:solidFill>
                  <a:srgbClr val="1F2A44"/>
                </a:solidFill>
                <a:latin typeface="Calibri"/>
              </a:rPr>
              <a:t>• Mikro-BT de DF'nin çok katmanlı yapısını doğrulamaktadır.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Muraoka Kuniyasu, Hinata Nobuyuki, Morizane Shuichi et al. Site-dependent and interindividual variations in Denonvilliers’ fascia: a histological study using donated elderly male cadavers. BMC Urol. 2015 May 12;15:42. doi: 10.1186/s12894-015-0034-5 PMCID: PMC4433060. Lisans: CC BY.  •  Yang Seung Yoon, Kim Ho Seung, Cho Min Soo et al. Three-dimensional anatomy of the Denonvilliers’ fascia after micro-CT reconstruction. Sci Rep. 2021 Nov 5;11:21759. doi: 10.1038/s41598-021-01106-8 PMCID: PMC8571354.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Denonvilliers fasyası ve ön mezorektum – cerrahi düzlemler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García-Gausí ve ark., Updates Surg 2022; Yang ve ark. 2021 (şema)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13304_2022_1252_Fig3_HTML.jpg"/>
          <p:cNvPicPr>
            <a:picLocks noChangeAspect="1"/>
          </p:cNvPicPr>
          <p:nvPr/>
        </p:nvPicPr>
        <p:blipFill>
          <a:blip r:embed="rId2"/>
          <a:stretch>
            <a:fillRect/>
          </a:stretch>
        </p:blipFill>
        <p:spPr>
          <a:xfrm>
            <a:off x="1545823" y="1234440"/>
            <a:ext cx="3720632" cy="2245413"/>
          </a:xfrm>
          <a:prstGeom prst="rect">
            <a:avLst/>
          </a:prstGeom>
        </p:spPr>
      </p:pic>
      <p:sp>
        <p:nvSpPr>
          <p:cNvPr id="8" name="TextBox 7"/>
          <p:cNvSpPr txBox="1"/>
          <p:nvPr/>
        </p:nvSpPr>
        <p:spPr>
          <a:xfrm>
            <a:off x="1362943" y="3479853"/>
            <a:ext cx="408639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García-Gausí María ve ark., 2022 (PMC8995278, CC BY)</a:t>
            </a:r>
          </a:p>
        </p:txBody>
      </p:sp>
      <p:pic>
        <p:nvPicPr>
          <p:cNvPr id="9" name="Picture 8" descr="41598_2021_1106_Fig5_HTML.jpg"/>
          <p:cNvPicPr>
            <a:picLocks noChangeAspect="1"/>
          </p:cNvPicPr>
          <p:nvPr/>
        </p:nvPicPr>
        <p:blipFill>
          <a:blip r:embed="rId3"/>
          <a:stretch>
            <a:fillRect/>
          </a:stretch>
        </p:blipFill>
        <p:spPr>
          <a:xfrm>
            <a:off x="1545823" y="3754173"/>
            <a:ext cx="3720632" cy="2280866"/>
          </a:xfrm>
          <a:prstGeom prst="rect">
            <a:avLst/>
          </a:prstGeom>
        </p:spPr>
      </p:pic>
      <p:sp>
        <p:nvSpPr>
          <p:cNvPr id="10" name="TextBox 9"/>
          <p:cNvSpPr txBox="1"/>
          <p:nvPr/>
        </p:nvSpPr>
        <p:spPr>
          <a:xfrm>
            <a:off x="1362943" y="6035040"/>
            <a:ext cx="408639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5 – Yang Seung Yoon ve ark., 2021 (PMC8571354,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Üst: Prostate; </a:t>
            </a:r>
            <a:r>
              <a:rPr sz="1600" b="0" i="0">
                <a:solidFill>
                  <a:srgbClr val="1F2A44"/>
                </a:solidFill>
                <a:latin typeface="Calibri"/>
              </a:rPr>
              <a:t>Den (+PC)</a:t>
            </a:r>
            <a:r>
              <a:rPr sz="1600" b="0" i="0">
                <a:solidFill>
                  <a:srgbClr val="1F2A44"/>
                </a:solidFill>
                <a:latin typeface="Calibri"/>
              </a:rPr>
              <a:t> Denonvilliers fasyası (prostat kapsülü ile); </a:t>
            </a:r>
            <a:r>
              <a:rPr sz="1600" b="0" i="0">
                <a:solidFill>
                  <a:srgbClr val="1F2A44"/>
                </a:solidFill>
                <a:latin typeface="Calibri"/>
              </a:rPr>
              <a:t>SV</a:t>
            </a:r>
            <a:r>
              <a:rPr sz="1600" b="0" i="0">
                <a:solidFill>
                  <a:srgbClr val="1F2A44"/>
                </a:solidFill>
                <a:latin typeface="Calibri"/>
              </a:rPr>
              <a:t>; Anterior mesorectum; Rectal wall; sarı ok ön düzlem, kırmızı ok arka düzlem</a:t>
            </a:r>
          </a:p>
          <a:p>
            <a:pPr algn="l">
              <a:spcAft>
                <a:spcPts val="300"/>
              </a:spcAft>
            </a:pPr>
            <a:r>
              <a:rPr sz="1600" b="0" i="0">
                <a:solidFill>
                  <a:srgbClr val="1F2A44"/>
                </a:solidFill>
                <a:latin typeface="Calibri"/>
              </a:rPr>
              <a:t>• Alt şema: mezorektal fasya, Denonvilliers fasyası, ön ve arka diseksiyon düzlemleri</a:t>
            </a:r>
          </a:p>
        </p:txBody>
      </p:sp>
      <p:sp>
        <p:nvSpPr>
          <p:cNvPr id="13" name="TextBox 12"/>
          <p:cNvSpPr txBox="1"/>
          <p:nvPr/>
        </p:nvSpPr>
        <p:spPr>
          <a:xfrm>
            <a:off x="6720840" y="30195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67024"/>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31 kadavranın %100'ünde peritoneal reflexiondan başlayıp prostat kapsülüne sıkıca yapışan tek katlı fasya.</a:t>
            </a:r>
          </a:p>
          <a:p>
            <a:pPr algn="l">
              <a:spcAft>
                <a:spcPts val="300"/>
              </a:spcAft>
            </a:pPr>
            <a:r>
              <a:rPr sz="1600" b="0" i="0">
                <a:solidFill>
                  <a:srgbClr val="1F2A44"/>
                </a:solidFill>
                <a:latin typeface="Calibri"/>
              </a:rPr>
              <a:t>• Başarılı mezorektal eksizyon için diseksiyon düzlemi DVF'nin arkasından geçmelidir (Yang ve ark.).</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García-Gausí María, García-Armengol Juan, Pellino Gianluca et al. Navigating surgical anatomy of the Denonvilliers’ fascia and dissection planes of the anterior mesorectum with a cadaveric simulation model. Updates Surg. 2022 Mar 14;74(2):629–36. doi: 10.1007/s13304-022-01252-2 PMCID: PMC8995278. Lisans: CC BY.  •  Yang Seung Yoon, Kim Ho Seung, Cho Min Soo et al. Three-dimensional anatomy of the Denonvilliers’ fascia after micro-CT reconstruction. Sci Rep. 2021 Nov 5;11:21759. doi: 10.1038/s41598-021-01106-8 PMCID: PMC8571354.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Presakral, mezorektal ve rektosakral (Waldeyer) fasya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Kim, Yonsei Med J 2005 – hemipelvis diseksiyonu</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ymj-46-737-g001.jpg"/>
          <p:cNvPicPr>
            <a:picLocks noChangeAspect="1"/>
          </p:cNvPicPr>
          <p:nvPr/>
        </p:nvPicPr>
        <p:blipFill>
          <a:blip r:embed="rId2"/>
          <a:stretch>
            <a:fillRect/>
          </a:stretch>
        </p:blipFill>
        <p:spPr>
          <a:xfrm>
            <a:off x="1170412" y="1234440"/>
            <a:ext cx="4471454" cy="1500339"/>
          </a:xfrm>
          <a:prstGeom prst="rect">
            <a:avLst/>
          </a:prstGeom>
        </p:spPr>
      </p:pic>
      <p:sp>
        <p:nvSpPr>
          <p:cNvPr id="8" name="TextBox 7"/>
          <p:cNvSpPr txBox="1"/>
          <p:nvPr/>
        </p:nvSpPr>
        <p:spPr>
          <a:xfrm>
            <a:off x="987532" y="2734779"/>
            <a:ext cx="483721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Kim Nam Kyu ve ark., 2005 (PMC2810586, CC BY-NC)</a:t>
            </a:r>
          </a:p>
        </p:txBody>
      </p:sp>
      <p:pic>
        <p:nvPicPr>
          <p:cNvPr id="9" name="Picture 8" descr="ymj-46-737-g002.jpg"/>
          <p:cNvPicPr>
            <a:picLocks noChangeAspect="1"/>
          </p:cNvPicPr>
          <p:nvPr/>
        </p:nvPicPr>
        <p:blipFill>
          <a:blip r:embed="rId3"/>
          <a:stretch>
            <a:fillRect/>
          </a:stretch>
        </p:blipFill>
        <p:spPr>
          <a:xfrm>
            <a:off x="1170412" y="3009099"/>
            <a:ext cx="4471454" cy="3025940"/>
          </a:xfrm>
          <a:prstGeom prst="rect">
            <a:avLst/>
          </a:prstGeom>
        </p:spPr>
      </p:pic>
      <p:sp>
        <p:nvSpPr>
          <p:cNvPr id="10" name="TextBox 9"/>
          <p:cNvSpPr txBox="1"/>
          <p:nvPr/>
        </p:nvSpPr>
        <p:spPr>
          <a:xfrm>
            <a:off x="987532" y="6035040"/>
            <a:ext cx="483721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Kim Nam Kyu ve ark., 2005 (PMC2810586, CC BY-NC)</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Presacral fascia = fascia presacralis (presakral venleri örter); Rectal proper fascia = fascia mesorectalis; Rectosacral fascia = Waldeyer fasyası; Levator ani muscle</a:t>
            </a:r>
          </a:p>
        </p:txBody>
      </p:sp>
      <p:sp>
        <p:nvSpPr>
          <p:cNvPr id="13" name="TextBox 12"/>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Waldeyer fasyası yaklaşık S4 düzeyinde retrorektal boşlukta bulunur.</a:t>
            </a:r>
          </a:p>
          <a:p>
            <a:pPr algn="l">
              <a:spcAft>
                <a:spcPts val="300"/>
              </a:spcAft>
            </a:pPr>
            <a:r>
              <a:rPr sz="1600" b="0" i="0">
                <a:solidFill>
                  <a:srgbClr val="1F2A44"/>
                </a:solidFill>
                <a:latin typeface="Calibri"/>
              </a:rPr>
              <a:t>• Rektumun tam mobilizasyonu bu fasya kesilmeden mümkün değildir.</a:t>
            </a:r>
          </a:p>
        </p:txBody>
      </p:sp>
      <p:sp>
        <p:nvSpPr>
          <p:cNvPr id="15" name="TextBox 14"/>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6" name="Connector 1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Kim Nam Kyu Anatomic Basis of Sharp Pelvic Dissection for Curative Resection of Rectal Cancer. Yonsei Med J. 2005 Dec 31;46(6):737–49. doi: 10.3349/ymj.2005.46.6.737 PMCID: PMC2810586. Lisans: CC BY-NC.</a:t>
            </a:r>
          </a:p>
        </p:txBody>
      </p:sp>
      <p:sp>
        <p:nvSpPr>
          <p:cNvPr id="18" name="TextBox 17"/>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Fasyalar ve klinik: idrar ekstravazasyonu ve Fournier gangreni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Fasyal planlar yayılımı belirler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2 · FASYALAR</a:t>
            </a:r>
          </a:p>
        </p:txBody>
      </p:sp>
      <p:sp>
        <p:nvSpPr>
          <p:cNvPr id="6" name="TextBox 5"/>
          <p:cNvSpPr txBox="1"/>
          <p:nvPr/>
        </p:nvSpPr>
        <p:spPr>
          <a:xfrm>
            <a:off x="9646920" y="822960"/>
            <a:ext cx="2331720" cy="292608"/>
          </a:xfrm>
          <a:prstGeom prst="rect">
            <a:avLst/>
          </a:prstGeom>
          <a:solidFill>
            <a:srgbClr val="C26A00"/>
          </a:solidFill>
        </p:spPr>
        <p:txBody>
          <a:bodyPr wrap="square" anchor="ctr" lIns="45720" rIns="45720" tIns="18288" bIns="18288">
            <a:spAutoFit/>
          </a:bodyPr>
          <a:lstStyle/>
          <a:p>
            <a:pPr algn="ctr"/>
            <a:r>
              <a:rPr sz="1100" b="1" i="0">
                <a:solidFill>
                  <a:srgbClr val="FFFFFF"/>
                </a:solidFill>
                <a:latin typeface="Calibri"/>
              </a:rPr>
              <a:t>KLİNİK BAĞLANTI</a:t>
            </a:r>
          </a:p>
        </p:txBody>
      </p:sp>
      <p:sp>
        <p:nvSpPr>
          <p:cNvPr id="7" name="TextBox 6"/>
          <p:cNvSpPr txBox="1"/>
          <p:nvPr/>
        </p:nvSpPr>
        <p:spPr>
          <a:xfrm>
            <a:off x="274320" y="1234440"/>
            <a:ext cx="6400800" cy="5074920"/>
          </a:xfrm>
          <a:prstGeom prst="rect">
            <a:avLst/>
          </a:prstGeom>
          <a:noFill/>
        </p:spPr>
        <p:txBody>
          <a:bodyPr wrap="square">
            <a:spAutoFit/>
          </a:bodyPr>
          <a:lstStyle/>
          <a:p>
            <a:pPr algn="l">
              <a:spcAft>
                <a:spcPts val="300"/>
              </a:spcAft>
            </a:pPr>
            <a:r>
              <a:rPr sz="1850" b="0" i="0">
                <a:solidFill>
                  <a:srgbClr val="1F2A44"/>
                </a:solidFill>
                <a:latin typeface="Calibri"/>
              </a:rPr>
              <a:t>• </a:t>
            </a:r>
            <a:r>
              <a:rPr sz="1850" b="0" i="0">
                <a:solidFill>
                  <a:srgbClr val="1F2A44"/>
                </a:solidFill>
                <a:latin typeface="Calibri"/>
              </a:rPr>
              <a:t>Bulbus düzeyinde urethra rüptürü</a:t>
            </a:r>
            <a:r>
              <a:rPr sz="1850" b="0" i="0">
                <a:solidFill>
                  <a:srgbClr val="1F2A44"/>
                </a:solidFill>
                <a:latin typeface="Calibri"/>
              </a:rPr>
              <a:t> (ata biner tarzı düşme): idrar yüzeyel perine kesesinde toplanır → skrotum, penis ve karın ön duvarına (Scarpa altında) yayılır; Colles fasyasının ramus ischiopubicus ve membrana perinei arka kenarına tutunması nedeniyle </a:t>
            </a:r>
            <a:r>
              <a:rPr sz="1850" b="0" i="0">
                <a:solidFill>
                  <a:srgbClr val="1F2A44"/>
                </a:solidFill>
                <a:latin typeface="Calibri"/>
              </a:rPr>
              <a:t>uyluk ve anal bölgeye geçmez</a:t>
            </a:r>
            <a:r>
              <a:rPr sz="1850" b="0" i="0">
                <a:solidFill>
                  <a:srgbClr val="1F2A44"/>
                </a:solidFill>
                <a:latin typeface="Calibri"/>
              </a:rPr>
              <a:t>.</a:t>
            </a:r>
          </a:p>
          <a:p>
            <a:pPr algn="l">
              <a:spcAft>
                <a:spcPts val="300"/>
              </a:spcAft>
            </a:pPr>
            <a:r>
              <a:rPr sz="1850" b="0" i="0">
                <a:solidFill>
                  <a:srgbClr val="1F2A44"/>
                </a:solidFill>
                <a:latin typeface="Calibri"/>
              </a:rPr>
              <a:t>• </a:t>
            </a:r>
            <a:r>
              <a:rPr sz="1850" b="0" i="0">
                <a:solidFill>
                  <a:srgbClr val="1F2A44"/>
                </a:solidFill>
                <a:latin typeface="Calibri"/>
              </a:rPr>
              <a:t>Penil rüptürde</a:t>
            </a:r>
            <a:r>
              <a:rPr sz="1850" b="0" i="0">
                <a:solidFill>
                  <a:srgbClr val="1F2A44"/>
                </a:solidFill>
                <a:latin typeface="Calibri"/>
              </a:rPr>
              <a:t> kan Buck fasyası sağlamsa penise sınırlı kalır ('patlıcan' görünümü); Buck yırtılmışsa Colles altında 'kelebek' şeklinde perineye yayılır.</a:t>
            </a:r>
          </a:p>
          <a:p>
            <a:pPr algn="l">
              <a:spcAft>
                <a:spcPts val="300"/>
              </a:spcAft>
            </a:pPr>
            <a:r>
              <a:rPr sz="1850" b="0" i="0">
                <a:solidFill>
                  <a:srgbClr val="1F2A44"/>
                </a:solidFill>
                <a:latin typeface="Calibri"/>
              </a:rPr>
              <a:t>• </a:t>
            </a:r>
            <a:r>
              <a:rPr sz="1850" b="0" i="0">
                <a:solidFill>
                  <a:srgbClr val="1F2A44"/>
                </a:solidFill>
                <a:latin typeface="Calibri"/>
              </a:rPr>
              <a:t>Membranöz urethra yaralanması</a:t>
            </a:r>
            <a:r>
              <a:rPr sz="1850" b="0" i="0">
                <a:solidFill>
                  <a:srgbClr val="1F2A44"/>
                </a:solidFill>
                <a:latin typeface="Calibri"/>
              </a:rPr>
              <a:t> (pelvis kırığı): idrar derin kese ve pelvis içine (subperitoneal) yayılır.</a:t>
            </a:r>
          </a:p>
          <a:p>
            <a:pPr algn="l">
              <a:spcAft>
                <a:spcPts val="300"/>
              </a:spcAft>
            </a:pPr>
            <a:r>
              <a:rPr sz="1850" b="0" i="0">
                <a:solidFill>
                  <a:srgbClr val="1F2A44"/>
                </a:solidFill>
                <a:latin typeface="Calibri"/>
              </a:rPr>
              <a:t>• </a:t>
            </a:r>
            <a:r>
              <a:rPr sz="1850" b="0" i="0">
                <a:solidFill>
                  <a:srgbClr val="1F2A44"/>
                </a:solidFill>
                <a:latin typeface="Calibri"/>
              </a:rPr>
              <a:t>Fournier gangreni:</a:t>
            </a:r>
            <a:r>
              <a:rPr sz="1850" b="0" i="0">
                <a:solidFill>
                  <a:srgbClr val="1F2A44"/>
                </a:solidFill>
                <a:latin typeface="Calibri"/>
              </a:rPr>
              <a:t> Colles fasyasından Buck ve dartos'a, oradan Scarpa fasyası boyunca karın duvarına yayılan nekrotizan fasiit; acil debridman gerektirir.</a:t>
            </a:r>
          </a:p>
          <a:p>
            <a:pPr algn="l">
              <a:spcAft>
                <a:spcPts val="300"/>
              </a:spcAft>
            </a:pPr>
            <a:r>
              <a:rPr sz="1850" b="0" i="0">
                <a:solidFill>
                  <a:srgbClr val="1F2A44"/>
                </a:solidFill>
                <a:latin typeface="Calibri"/>
              </a:rPr>
              <a:t>• </a:t>
            </a:r>
            <a:r>
              <a:rPr sz="1850" b="0" i="0">
                <a:solidFill>
                  <a:srgbClr val="1F2A44"/>
                </a:solidFill>
                <a:latin typeface="Calibri"/>
              </a:rPr>
              <a:t>Perine cismi yaralanması</a:t>
            </a:r>
            <a:r>
              <a:rPr sz="1850" b="0" i="0">
                <a:solidFill>
                  <a:srgbClr val="1F2A44"/>
                </a:solidFill>
                <a:latin typeface="Calibri"/>
              </a:rPr>
              <a:t> (doğumda 3.–4. derece yırtık): dış anal sfinkter ve perine kaslarının ortak tutunma noktası bozulur → inkontinans.</a:t>
            </a:r>
          </a:p>
        </p:txBody>
      </p:sp>
      <p:pic>
        <p:nvPicPr>
          <p:cNvPr id="8" name="Picture 7" descr="cureus-0016-00000064019-i03.jpg"/>
          <p:cNvPicPr>
            <a:picLocks noChangeAspect="1"/>
          </p:cNvPicPr>
          <p:nvPr/>
        </p:nvPicPr>
        <p:blipFill>
          <a:blip r:embed="rId2"/>
          <a:stretch>
            <a:fillRect/>
          </a:stretch>
        </p:blipFill>
        <p:spPr>
          <a:xfrm>
            <a:off x="6903720" y="1771192"/>
            <a:ext cx="5029200" cy="3681374"/>
          </a:xfrm>
          <a:prstGeom prst="rect">
            <a:avLst/>
          </a:prstGeom>
        </p:spPr>
      </p:pic>
      <p:sp>
        <p:nvSpPr>
          <p:cNvPr id="9" name="TextBox 8"/>
          <p:cNvSpPr txBox="1"/>
          <p:nvPr/>
        </p:nvSpPr>
        <p:spPr>
          <a:xfrm>
            <a:off x="6720840" y="5452567"/>
            <a:ext cx="539496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Sears Shalondria J ve ark., 2024 (PMC11304407,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Sears Shalondria J, Menendez Katherine, Cobo Dominguez Beatriz et al. Fournier’s Gangrene in an Elderly Male: A Case Report. Cureus. 2024 Jul 7;16(7):e64019. doi: 10.7759/cureus.64019 PMCID: PMC11304407.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3</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ÜROGENİTAL</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Regio urogenitalis</a:t>
            </a:r>
          </a:p>
          <a:p>
            <a:pPr algn="l"/>
            <a:r>
              <a:rPr sz="1800" b="0" i="0">
                <a:solidFill>
                  <a:srgbClr val="C8D1E6"/>
                </a:solidFill>
                <a:latin typeface="Calibri"/>
              </a:rPr>
              <a:t>Erkek ve kadın</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Yüzeyel kese içeriği</a:t>
            </a:r>
          </a:p>
          <a:p>
            <a:pPr algn="l">
              <a:spcAft>
                <a:spcPts val="300"/>
              </a:spcAft>
            </a:pPr>
            <a:r>
              <a:rPr sz="1700" b="0" i="0">
                <a:solidFill>
                  <a:srgbClr val="FFFFFF"/>
                </a:solidFill>
                <a:latin typeface="Calibri"/>
              </a:rPr>
              <a:t>• Erektil dokular</a:t>
            </a:r>
          </a:p>
          <a:p>
            <a:pPr algn="l">
              <a:spcAft>
                <a:spcPts val="300"/>
              </a:spcAft>
            </a:pPr>
            <a:r>
              <a:rPr sz="1700" b="0" i="0">
                <a:solidFill>
                  <a:srgbClr val="FFFFFF"/>
                </a:solidFill>
                <a:latin typeface="Calibri"/>
              </a:rPr>
              <a:t>• Sfinkter urethrae</a:t>
            </a:r>
          </a:p>
          <a:p>
            <a:pPr algn="l">
              <a:spcAft>
                <a:spcPts val="300"/>
              </a:spcAft>
            </a:pPr>
            <a:r>
              <a:rPr sz="1700" b="0" i="0">
                <a:solidFill>
                  <a:srgbClr val="FFFFFF"/>
                </a:solidFill>
                <a:latin typeface="Calibri"/>
              </a:rPr>
              <a:t>• Glandula vestibularis major</a:t>
            </a:r>
          </a:p>
          <a:p>
            <a:pPr algn="l">
              <a:spcAft>
                <a:spcPts val="300"/>
              </a:spcAft>
            </a:pPr>
            <a:r>
              <a:rPr sz="1700" b="0" i="0">
                <a:solidFill>
                  <a:srgbClr val="FFFFFF"/>
                </a:solidFill>
                <a:latin typeface="Calibri"/>
              </a:rPr>
              <a:t>• MR anatomisi</a:t>
            </a:r>
          </a:p>
        </p:txBody>
      </p:sp>
      <p:pic>
        <p:nvPicPr>
          <p:cNvPr id="7" name="Picture 6" descr="diagnostics-11-00221-g003.jpg"/>
          <p:cNvPicPr>
            <a:picLocks noChangeAspect="1"/>
          </p:cNvPicPr>
          <p:nvPr/>
        </p:nvPicPr>
        <p:blipFill>
          <a:blip r:embed="rId2"/>
          <a:stretch>
            <a:fillRect/>
          </a:stretch>
        </p:blipFill>
        <p:spPr>
          <a:xfrm>
            <a:off x="6812280" y="1394028"/>
            <a:ext cx="5120640" cy="3429862"/>
          </a:xfrm>
          <a:prstGeom prst="rect">
            <a:avLst/>
          </a:prstGeom>
        </p:spPr>
      </p:pic>
      <p:sp>
        <p:nvSpPr>
          <p:cNvPr id="8" name="TextBox 7"/>
          <p:cNvSpPr txBox="1"/>
          <p:nvPr/>
        </p:nvSpPr>
        <p:spPr>
          <a:xfrm>
            <a:off x="6629400" y="4823891"/>
            <a:ext cx="5486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Garner Danielle K. ve ark., 2021 (PMC7913006, CC BY)</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Garner Danielle K., Patel Akash B., Hung Jun et al. Midline and Mediolateral Episiotomy: Risk Assessment Based on Clinical Anatomy. Diagnostics (Basel). 2021 Feb 2;11(2):221. doi: 10.3390/diagnostics11020221 PMCID: PMC7913006. Lisans: CC BY.</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Ürogenital üçgen: erkek ve kadın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Aynı plan, farklı organlar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ÜROGENİTAL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Ürogenital üçgenin temel planı iki cinsiyette aynıdır; farklı olan, bu planın içine yerleşen organlardır. Her iki cinsiyette yüzeyel kesede erektil dokular ve onları örten iskelet kasları bulunur: kemiklere tutunan crura üzerinde m. ischiocavernosus, orta hattaki bulbus üzerinde m. bulbospongiosus.</a:t>
            </a:r>
          </a:p>
          <a:p>
            <a:pPr algn="l">
              <a:lnSpc>
                <a:spcPct val="108000"/>
              </a:lnSpc>
              <a:spcAft>
                <a:spcPts val="900"/>
              </a:spcAft>
            </a:pPr>
            <a:r>
              <a:rPr sz="2000" b="0" i="0">
                <a:solidFill>
                  <a:srgbClr val="1F2A44"/>
                </a:solidFill>
                <a:latin typeface="Calibri"/>
              </a:rPr>
              <a:t>Erkekte iki crus birleşerek corpora cavernosa penis'i, bulbus ise urethra'yı taşıyan corpus spongiosum'u oluşturur. Kadında ise crura clitoridis klitorisin gövdesini oluşturur; bulbus vestibuli ise ikiye ayrılarak vajina girişinin iki yanında yer alır. Bulbus vestibuli'nin arka ucunda glandula vestibularis major (Bartholin bezi) bulunur.</a:t>
            </a:r>
          </a:p>
          <a:p>
            <a:pPr algn="l">
              <a:lnSpc>
                <a:spcPct val="108000"/>
              </a:lnSpc>
              <a:spcAft>
                <a:spcPts val="900"/>
              </a:spcAft>
            </a:pPr>
            <a:r>
              <a:rPr sz="2000" b="0" i="0">
                <a:solidFill>
                  <a:srgbClr val="1F2A44"/>
                </a:solidFill>
                <a:latin typeface="Calibri"/>
              </a:rPr>
              <a:t>Derin kesede, membrana perinei'nin üstünde, urethra'yı saran dış üretral sfinkter vardır. Erkekte bu bölgede bulbourethral (Cowper) bezler, kadında ise urethra ile vajinayı birlikte saran m. sphincter urethrovaginalis ve m. compressor urethrae yer alır. Tüm bu kasları n. pudendus'un perineal dalları innerve eder.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Ürogenital üçgenin damar ve sinirleri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 pudenda interna ve n. pudendus</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ÜROGENİTAL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7" name="TextBox 6"/>
          <p:cNvSpPr txBox="1"/>
          <p:nvPr/>
        </p:nvSpPr>
        <p:spPr>
          <a:xfrm>
            <a:off x="411480" y="1234440"/>
            <a:ext cx="11338560" cy="5074920"/>
          </a:xfrm>
          <a:prstGeom prst="rect">
            <a:avLst/>
          </a:prstGeom>
          <a:noFill/>
        </p:spPr>
        <p:txBody>
          <a:bodyPr wrap="square">
            <a:spAutoFit/>
          </a:bodyPr>
          <a:lstStyle/>
          <a:p>
            <a:pPr algn="l">
              <a:spcAft>
                <a:spcPts val="300"/>
              </a:spcAft>
            </a:pPr>
            <a:r>
              <a:rPr sz="2200" b="0" i="0">
                <a:solidFill>
                  <a:srgbClr val="1F2A44"/>
                </a:solidFill>
                <a:latin typeface="Calibri"/>
              </a:rPr>
              <a:t>• </a:t>
            </a:r>
            <a:r>
              <a:rPr sz="2200" b="0" i="0">
                <a:solidFill>
                  <a:srgbClr val="1F2A44"/>
                </a:solidFill>
                <a:latin typeface="Calibri"/>
              </a:rPr>
              <a:t>N. pudendus</a:t>
            </a:r>
            <a:r>
              <a:rPr sz="2200" b="0" i="0">
                <a:solidFill>
                  <a:srgbClr val="1F2A44"/>
                </a:solidFill>
                <a:latin typeface="Calibri"/>
              </a:rPr>
              <a:t> (S2–S4) foramen ischiadicum majus'tan pelvisi terk eder, spina ischiadica/lig. sacrospinale'yi dolanıp foramen ischiadicum minus'tan perineye girer ve </a:t>
            </a:r>
            <a:r>
              <a:rPr sz="2200" b="0" i="0">
                <a:solidFill>
                  <a:srgbClr val="1F2A44"/>
                </a:solidFill>
                <a:latin typeface="Calibri"/>
              </a:rPr>
              <a:t>canalis pudendalis (Alcock)</a:t>
            </a:r>
            <a:r>
              <a:rPr sz="2200" b="0" i="0">
                <a:solidFill>
                  <a:srgbClr val="1F2A44"/>
                </a:solidFill>
                <a:latin typeface="Calibri"/>
              </a:rPr>
              <a:t> içinde seyreder.</a:t>
            </a:r>
          </a:p>
          <a:p>
            <a:pPr algn="l">
              <a:spcAft>
                <a:spcPts val="300"/>
              </a:spcAft>
            </a:pPr>
            <a:r>
              <a:rPr sz="2200" b="0" i="0">
                <a:solidFill>
                  <a:srgbClr val="1F2A44"/>
                </a:solidFill>
                <a:latin typeface="Calibri"/>
              </a:rPr>
              <a:t>• Dalları: </a:t>
            </a:r>
            <a:r>
              <a:rPr sz="2200" b="0" i="0">
                <a:solidFill>
                  <a:srgbClr val="1F2A44"/>
                </a:solidFill>
                <a:latin typeface="Calibri"/>
              </a:rPr>
              <a:t>n. rectalis inferior</a:t>
            </a:r>
            <a:r>
              <a:rPr sz="2200" b="0" i="0">
                <a:solidFill>
                  <a:srgbClr val="1F2A44"/>
                </a:solidFill>
                <a:latin typeface="Calibri"/>
              </a:rPr>
              <a:t> (dış anal sfinkter, perianal deri), </a:t>
            </a:r>
            <a:r>
              <a:rPr sz="2200" b="0" i="0">
                <a:solidFill>
                  <a:srgbClr val="1F2A44"/>
                </a:solidFill>
                <a:latin typeface="Calibri"/>
              </a:rPr>
              <a:t>n. perinealis</a:t>
            </a:r>
            <a:r>
              <a:rPr sz="2200" b="0" i="0">
                <a:solidFill>
                  <a:srgbClr val="1F2A44"/>
                </a:solidFill>
                <a:latin typeface="Calibri"/>
              </a:rPr>
              <a:t> (yüzeyel dal: skrotum/labia derisi; derin dal: perine kasları, dış üretral sfinkter) ve </a:t>
            </a:r>
            <a:r>
              <a:rPr sz="2200" b="0" i="0">
                <a:solidFill>
                  <a:srgbClr val="1F2A44"/>
                </a:solidFill>
                <a:latin typeface="Calibri"/>
              </a:rPr>
              <a:t>n. dorsalis penis/clitoridis</a:t>
            </a:r>
            <a:r>
              <a:rPr sz="2200" b="0" i="0">
                <a:solidFill>
                  <a:srgbClr val="1F2A44"/>
                </a:solidFill>
                <a:latin typeface="Calibri"/>
              </a:rPr>
              <a:t> (derin keseden geçerek glans duyusu).</a:t>
            </a:r>
          </a:p>
          <a:p>
            <a:pPr algn="l">
              <a:spcAft>
                <a:spcPts val="300"/>
              </a:spcAft>
            </a:pPr>
            <a:r>
              <a:rPr sz="2200" b="0" i="0">
                <a:solidFill>
                  <a:srgbClr val="1F2A44"/>
                </a:solidFill>
                <a:latin typeface="Calibri"/>
              </a:rPr>
              <a:t>• </a:t>
            </a:r>
            <a:r>
              <a:rPr sz="2200" b="0" i="0">
                <a:solidFill>
                  <a:srgbClr val="1F2A44"/>
                </a:solidFill>
                <a:latin typeface="Calibri"/>
              </a:rPr>
              <a:t>A. pudenda interna</a:t>
            </a:r>
            <a:r>
              <a:rPr sz="2200" b="0" i="0">
                <a:solidFill>
                  <a:srgbClr val="1F2A44"/>
                </a:solidFill>
                <a:latin typeface="Calibri"/>
              </a:rPr>
              <a:t> sinirle birlikte seyreder; dalları a. rectalis inferior, a. perinealis, a. bulbi penis/vestibuli, a. profunda penis/clitoridis (ereksiyon) ve a. dorsalis penis/clitoridis.</a:t>
            </a:r>
          </a:p>
          <a:p>
            <a:pPr algn="l">
              <a:spcAft>
                <a:spcPts val="300"/>
              </a:spcAft>
            </a:pPr>
            <a:r>
              <a:rPr sz="2200" b="0" i="0">
                <a:solidFill>
                  <a:srgbClr val="1F2A44"/>
                </a:solidFill>
                <a:latin typeface="Calibri"/>
              </a:rPr>
              <a:t>• </a:t>
            </a:r>
            <a:r>
              <a:rPr sz="2200" b="0" i="0">
                <a:solidFill>
                  <a:srgbClr val="1F2A44"/>
                </a:solidFill>
                <a:latin typeface="Calibri"/>
              </a:rPr>
              <a:t>Pudendal blok:</a:t>
            </a:r>
            <a:r>
              <a:rPr sz="2200" b="0" i="0">
                <a:solidFill>
                  <a:srgbClr val="1F2A44"/>
                </a:solidFill>
                <a:latin typeface="Calibri"/>
              </a:rPr>
              <a:t> spina ischiadica referans alınarak transvajinal veya transperineal yapılır; doğumda perine analjezisi sağlar.</a:t>
            </a:r>
          </a:p>
          <a:p>
            <a:pPr algn="l">
              <a:spcAft>
                <a:spcPts val="300"/>
              </a:spcAft>
            </a:pPr>
            <a:r>
              <a:rPr sz="2200" b="0" i="0">
                <a:solidFill>
                  <a:srgbClr val="1F2A44"/>
                </a:solidFill>
                <a:latin typeface="Calibri"/>
              </a:rPr>
              <a:t>• </a:t>
            </a:r>
            <a:r>
              <a:rPr sz="2200" b="0" i="0">
                <a:solidFill>
                  <a:srgbClr val="1F2A44"/>
                </a:solidFill>
                <a:latin typeface="Calibri"/>
              </a:rPr>
              <a:t>Lenf:</a:t>
            </a:r>
            <a:r>
              <a:rPr sz="2200" b="0" i="0">
                <a:solidFill>
                  <a:srgbClr val="1F2A44"/>
                </a:solidFill>
                <a:latin typeface="Calibri"/>
              </a:rPr>
              <a:t> perine derisi ve dış genital organlar </a:t>
            </a:r>
            <a:r>
              <a:rPr sz="2200" b="0" i="0">
                <a:solidFill>
                  <a:srgbClr val="1F2A44"/>
                </a:solidFill>
                <a:latin typeface="Calibri"/>
              </a:rPr>
              <a:t>yüzeyel inguinal</a:t>
            </a:r>
            <a:r>
              <a:rPr sz="2200" b="0" i="0">
                <a:solidFill>
                  <a:srgbClr val="1F2A44"/>
                </a:solidFill>
                <a:latin typeface="Calibri"/>
              </a:rPr>
              <a:t> lenf düğümlerine; testis ise </a:t>
            </a:r>
            <a:r>
              <a:rPr sz="2200" b="0" i="0">
                <a:solidFill>
                  <a:srgbClr val="1F2A44"/>
                </a:solidFill>
                <a:latin typeface="Calibri"/>
              </a:rPr>
              <a:t>lomber/paraaortik</a:t>
            </a:r>
            <a:r>
              <a:rPr sz="2200" b="0" i="0">
                <a:solidFill>
                  <a:srgbClr val="1F2A44"/>
                </a:solidFill>
                <a:latin typeface="Calibri"/>
              </a:rPr>
              <a:t> düğümlere drene olur.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 perinesi – diseksiyon ve epizyotomi anatomisi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Garner ve ark., Diagnostics 2021 – 47 kadın kadavra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ÜROGENİTAL</a:t>
            </a:r>
          </a:p>
        </p:txBody>
      </p:sp>
      <p:sp>
        <p:nvSpPr>
          <p:cNvPr id="6" name="TextBox 5"/>
          <p:cNvSpPr txBox="1"/>
          <p:nvPr/>
        </p:nvSpPr>
        <p:spPr>
          <a:xfrm>
            <a:off x="9646920" y="822960"/>
            <a:ext cx="2331720" cy="292608"/>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DİSEKSİYON</a:t>
            </a:r>
          </a:p>
        </p:txBody>
      </p:sp>
      <p:pic>
        <p:nvPicPr>
          <p:cNvPr id="7" name="Picture 6" descr="diagnostics-11-00221-g003.jpg"/>
          <p:cNvPicPr>
            <a:picLocks noChangeAspect="1"/>
          </p:cNvPicPr>
          <p:nvPr/>
        </p:nvPicPr>
        <p:blipFill>
          <a:blip r:embed="rId2"/>
          <a:stretch>
            <a:fillRect/>
          </a:stretch>
        </p:blipFill>
        <p:spPr>
          <a:xfrm>
            <a:off x="274320" y="1234440"/>
            <a:ext cx="3745321" cy="2508658"/>
          </a:xfrm>
          <a:prstGeom prst="rect">
            <a:avLst/>
          </a:prstGeom>
        </p:spPr>
      </p:pic>
      <p:sp>
        <p:nvSpPr>
          <p:cNvPr id="8" name="TextBox 7"/>
          <p:cNvSpPr txBox="1"/>
          <p:nvPr/>
        </p:nvSpPr>
        <p:spPr>
          <a:xfrm>
            <a:off x="91439" y="3743098"/>
            <a:ext cx="411108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Garner Danielle K. ve ark., 2021 (PMC7913006, CC BY)</a:t>
            </a:r>
          </a:p>
        </p:txBody>
      </p:sp>
      <p:pic>
        <p:nvPicPr>
          <p:cNvPr id="9" name="Picture 8" descr="diagnostics-11-00221-g004.jpg"/>
          <p:cNvPicPr>
            <a:picLocks noChangeAspect="1"/>
          </p:cNvPicPr>
          <p:nvPr/>
        </p:nvPicPr>
        <p:blipFill>
          <a:blip r:embed="rId3"/>
          <a:stretch>
            <a:fillRect/>
          </a:stretch>
        </p:blipFill>
        <p:spPr>
          <a:xfrm>
            <a:off x="4156801" y="1234440"/>
            <a:ext cx="2381158" cy="2508658"/>
          </a:xfrm>
          <a:prstGeom prst="rect">
            <a:avLst/>
          </a:prstGeom>
        </p:spPr>
      </p:pic>
      <p:sp>
        <p:nvSpPr>
          <p:cNvPr id="10" name="TextBox 9"/>
          <p:cNvSpPr txBox="1"/>
          <p:nvPr/>
        </p:nvSpPr>
        <p:spPr>
          <a:xfrm>
            <a:off x="3973921" y="3743098"/>
            <a:ext cx="2746918"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Garner Danielle K. ve ark., 2021 (PMC7913006,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20672"/>
          </a:xfrm>
          <a:prstGeom prst="rect">
            <a:avLst/>
          </a:prstGeom>
          <a:noFill/>
        </p:spPr>
        <p:txBody>
          <a:bodyPr wrap="square">
            <a:spAutoFit/>
          </a:bodyPr>
          <a:lstStyle/>
          <a:p>
            <a:pPr algn="l">
              <a:spcAft>
                <a:spcPts val="300"/>
              </a:spcAft>
            </a:pPr>
            <a:r>
              <a:rPr sz="1600" b="0" i="0">
                <a:solidFill>
                  <a:srgbClr val="1F2A44"/>
                </a:solidFill>
                <a:latin typeface="Calibri"/>
              </a:rPr>
              <a:t>• Body / Crus of the clitoris = corpus / crus clitoridis; Bulb of the vestibule = bulbus vestibuli; Greater vestibular gland = Bartholin bezi; Bulbospongiosus m.; Posterior labial nn.; Deep / Superficial perineal n.; </a:t>
            </a:r>
            <a:r>
              <a:rPr sz="1600" b="0" i="0">
                <a:solidFill>
                  <a:srgbClr val="1F2A44"/>
                </a:solidFill>
                <a:latin typeface="Calibri"/>
              </a:rPr>
              <a:t>S/D</a:t>
            </a:r>
            <a:r>
              <a:rPr sz="1600" b="0" i="0">
                <a:solidFill>
                  <a:srgbClr val="1F2A44"/>
                </a:solidFill>
                <a:latin typeface="Calibri"/>
              </a:rPr>
              <a:t> yüzeyel/derin perineal sinir dalları; ***** m. bulbospongiosus ile örtülü bulbus vestibuli</a:t>
            </a:r>
          </a:p>
        </p:txBody>
      </p:sp>
      <p:sp>
        <p:nvSpPr>
          <p:cNvPr id="13" name="TextBox 12"/>
          <p:cNvSpPr txBox="1"/>
          <p:nvPr/>
        </p:nvSpPr>
        <p:spPr>
          <a:xfrm>
            <a:off x="6720840" y="3448304"/>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795775"/>
            <a:ext cx="5257800" cy="1922272"/>
          </a:xfrm>
          <a:prstGeom prst="rect">
            <a:avLst/>
          </a:prstGeom>
          <a:noFill/>
        </p:spPr>
        <p:txBody>
          <a:bodyPr wrap="square">
            <a:spAutoFit/>
          </a:bodyPr>
          <a:lstStyle/>
          <a:p>
            <a:pPr algn="l">
              <a:spcAft>
                <a:spcPts val="300"/>
              </a:spcAft>
            </a:pPr>
            <a:r>
              <a:rPr sz="1600" b="0" i="0">
                <a:solidFill>
                  <a:srgbClr val="1F2A44"/>
                </a:solidFill>
                <a:latin typeface="Calibri"/>
              </a:rPr>
              <a:t>• Orta hat insizyonu kadavraların %100'ünde perine cismi bağ dokusunu kesmiştir.</a:t>
            </a:r>
          </a:p>
          <a:p>
            <a:pPr algn="l">
              <a:spcAft>
                <a:spcPts val="300"/>
              </a:spcAft>
            </a:pPr>
            <a:r>
              <a:rPr sz="1600" b="0" i="0">
                <a:solidFill>
                  <a:srgbClr val="1F2A44"/>
                </a:solidFill>
                <a:latin typeface="Calibri"/>
              </a:rPr>
              <a:t>• Perine cismine ince kas lifleri yalnız %16,6 olguda tutunmuş; %83,4'ünde yalnız bağ dokusu bulunmuştur.</a:t>
            </a:r>
          </a:p>
          <a:p>
            <a:pPr algn="l">
              <a:spcAft>
                <a:spcPts val="300"/>
              </a:spcAft>
            </a:pPr>
            <a:r>
              <a:rPr sz="1600" b="0" i="0">
                <a:solidFill>
                  <a:srgbClr val="1F2A44"/>
                </a:solidFill>
                <a:latin typeface="Calibri"/>
              </a:rPr>
              <a:t>• M. bulbospongiosus dış anal sfinkterin yüzeyel bölümüyle devamlıdır.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Garner Danielle K., Patel Akash B., Hung Jun et al. Midline and Mediolateral Episiotomy: Risk Assessment Based on Clinical Anatomy. Diagnostics (Basel). 2021 Feb 2;11(2):221. doi: 10.3390/diagnostics11020221 PMCID: PMC7913006.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Klitoris ve bulbus vestibuli – MR ve illüstrasyon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Golden ve ark., Abdom Radiol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ÜROGENİTAL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261_2025_5179_Fig2_HTML.jpg"/>
          <p:cNvPicPr>
            <a:picLocks noChangeAspect="1"/>
          </p:cNvPicPr>
          <p:nvPr/>
        </p:nvPicPr>
        <p:blipFill>
          <a:blip r:embed="rId2"/>
          <a:stretch>
            <a:fillRect/>
          </a:stretch>
        </p:blipFill>
        <p:spPr>
          <a:xfrm>
            <a:off x="1804529" y="1234440"/>
            <a:ext cx="3203220" cy="3670947"/>
          </a:xfrm>
          <a:prstGeom prst="rect">
            <a:avLst/>
          </a:prstGeom>
        </p:spPr>
      </p:pic>
      <p:sp>
        <p:nvSpPr>
          <p:cNvPr id="8" name="TextBox 7"/>
          <p:cNvSpPr txBox="1"/>
          <p:nvPr/>
        </p:nvSpPr>
        <p:spPr>
          <a:xfrm>
            <a:off x="1621649" y="4905387"/>
            <a:ext cx="356898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Golden Edwarda ve ark., 2025 (PMC13013239, CC BY)</a:t>
            </a:r>
          </a:p>
        </p:txBody>
      </p:sp>
      <p:pic>
        <p:nvPicPr>
          <p:cNvPr id="9" name="Picture 8" descr="261_2025_5179_Fig1_HTML.jpg"/>
          <p:cNvPicPr>
            <a:picLocks noChangeAspect="1"/>
          </p:cNvPicPr>
          <p:nvPr/>
        </p:nvPicPr>
        <p:blipFill>
          <a:blip r:embed="rId3"/>
          <a:stretch>
            <a:fillRect/>
          </a:stretch>
        </p:blipFill>
        <p:spPr>
          <a:xfrm>
            <a:off x="1804529" y="5179707"/>
            <a:ext cx="3203220" cy="855332"/>
          </a:xfrm>
          <a:prstGeom prst="rect">
            <a:avLst/>
          </a:prstGeom>
        </p:spPr>
      </p:pic>
      <p:sp>
        <p:nvSpPr>
          <p:cNvPr id="10" name="TextBox 9"/>
          <p:cNvSpPr txBox="1"/>
          <p:nvPr/>
        </p:nvSpPr>
        <p:spPr>
          <a:xfrm>
            <a:off x="1621649" y="6035040"/>
            <a:ext cx="356898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1 – Golden Edwarda ve ark., 2025 (PMC13013239,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2111248"/>
          </a:xfrm>
          <a:prstGeom prst="rect">
            <a:avLst/>
          </a:prstGeom>
          <a:noFill/>
        </p:spPr>
        <p:txBody>
          <a:bodyPr wrap="square">
            <a:spAutoFit/>
          </a:bodyPr>
          <a:lstStyle/>
          <a:p>
            <a:pPr algn="l">
              <a:spcAft>
                <a:spcPts val="300"/>
              </a:spcAft>
            </a:pPr>
            <a:r>
              <a:rPr sz="1600" b="0" i="0">
                <a:solidFill>
                  <a:srgbClr val="1F2A44"/>
                </a:solidFill>
                <a:latin typeface="Calibri"/>
              </a:rPr>
              <a:t>• İllüstrasyon: Pubic symphysis; Dorsal n. (n. dorsalis clitoridis); Glans; Body; Crus; Bulb; External urethral orifice; Vaginal orifice; Greater vestibular gl. (Bartholin); </a:t>
            </a:r>
            <a:r>
              <a:rPr sz="1600" b="0" i="0">
                <a:solidFill>
                  <a:srgbClr val="1F2A44"/>
                </a:solidFill>
                <a:latin typeface="Calibri"/>
              </a:rPr>
              <a:t>Pudendal canal</a:t>
            </a:r>
            <a:r>
              <a:rPr sz="1600" b="0" i="0">
                <a:solidFill>
                  <a:srgbClr val="1F2A44"/>
                </a:solidFill>
                <a:latin typeface="Calibri"/>
              </a:rPr>
              <a:t> (Alcock); Pudendal n. (İllüstrasyon © 2025 Elise Butler, makalenin CC BY lisansı ile)</a:t>
            </a:r>
          </a:p>
          <a:p>
            <a:pPr algn="l">
              <a:spcAft>
                <a:spcPts val="300"/>
              </a:spcAft>
            </a:pPr>
            <a:r>
              <a:rPr sz="1600" b="0" i="0">
                <a:solidFill>
                  <a:srgbClr val="1F2A44"/>
                </a:solidFill>
                <a:latin typeface="Calibri"/>
              </a:rPr>
              <a:t>• MR: aksiyel T2 ve sagital yağ baskılı T2; siyah oklar T2'de hiperintens bulbus vestibuli</a:t>
            </a:r>
          </a:p>
        </p:txBody>
      </p:sp>
      <p:sp>
        <p:nvSpPr>
          <p:cNvPr id="13" name="TextBox 12"/>
          <p:cNvSpPr txBox="1"/>
          <p:nvPr/>
        </p:nvSpPr>
        <p:spPr>
          <a:xfrm>
            <a:off x="6720840" y="3738879"/>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4086351"/>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Bulbus vestibuli vajina girişini iki yandan kuşatır.</a:t>
            </a:r>
          </a:p>
          <a:p>
            <a:pPr algn="l">
              <a:spcAft>
                <a:spcPts val="300"/>
              </a:spcAft>
            </a:pPr>
            <a:r>
              <a:rPr sz="1600" b="0" i="0">
                <a:solidFill>
                  <a:srgbClr val="1F2A44"/>
                </a:solidFill>
                <a:latin typeface="Calibri"/>
              </a:rPr>
              <a:t>• Bartholin bezleri vajinanın posterolateralinde yer alır.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Golden Edwarda, Cooke Siobhan, Butler Elise et al. Under the hood: vulvar anatomy and pathology with a focus on MRI. Abdom Radiol (NY). 2025 Sep 8;51(4):2106–24. doi: 10.1007/s00261-025-05179-1 PMCID: PMC13013239.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Penis'in MR anatomisi ve fasyaları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Regent ve ark., Diagnostics 2025</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3 · ÜROGENİTAL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5-03134-g001.jpg"/>
          <p:cNvPicPr>
            <a:picLocks noChangeAspect="1"/>
          </p:cNvPicPr>
          <p:nvPr/>
        </p:nvPicPr>
        <p:blipFill>
          <a:blip r:embed="rId2"/>
          <a:stretch>
            <a:fillRect/>
          </a:stretch>
        </p:blipFill>
        <p:spPr>
          <a:xfrm>
            <a:off x="274320" y="1762232"/>
            <a:ext cx="6263639" cy="3745014"/>
          </a:xfrm>
          <a:prstGeom prst="rect">
            <a:avLst/>
          </a:prstGeom>
        </p:spPr>
      </p:pic>
      <p:sp>
        <p:nvSpPr>
          <p:cNvPr id="8" name="TextBox 7"/>
          <p:cNvSpPr txBox="1"/>
          <p:nvPr/>
        </p:nvSpPr>
        <p:spPr>
          <a:xfrm>
            <a:off x="91440" y="5507247"/>
            <a:ext cx="662939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Regent Bartosz ve ark., 2025 (PMC12732017,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T2 MR (a sagital, b koronal): yeşil oklar tunica albuginea; sarı oklar corpus spongiosum içindeki urethra; beyaz ok glans penis; kırmızı oklar corpora cavernosa</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Tunica albuginea'nın yüzeyinde Buck fasyası (bazen görüntülenebilir), daha yüzeyde ince dartos fasyası ve deri bulunur.</a:t>
            </a:r>
          </a:p>
          <a:p>
            <a:pPr algn="l">
              <a:spcAft>
                <a:spcPts val="300"/>
              </a:spcAft>
            </a:pPr>
            <a:r>
              <a:rPr sz="1600" b="0" i="0">
                <a:solidFill>
                  <a:srgbClr val="1F2A44"/>
                </a:solidFill>
                <a:latin typeface="Calibri"/>
              </a:rPr>
              <a:t>• Yüzeyel ve derin dorsal venler Buck fasyasıyla ilişkili olarak orta hatta seyreder.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Regent Bartosz, Nowak Karolina, Skrobisz Katarzyna et al. MRI of the Scrotum and Penis: Current Applications and Clinical Relevance. Diagnostics (Basel). 2025 Dec 9;15(24):3134. doi: 10.3390/diagnostics15243134 PMCID: PMC12732017.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4</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ANAL</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Regio analis</a:t>
            </a:r>
          </a:p>
          <a:p>
            <a:pPr algn="l"/>
            <a:r>
              <a:rPr sz="1800" b="0" i="0">
                <a:solidFill>
                  <a:srgbClr val="C8D1E6"/>
                </a:solidFill>
                <a:latin typeface="Calibri"/>
              </a:rPr>
              <a:t>Fossa ischioanalis ve sfinkterler</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Canalis analis</a:t>
            </a:r>
          </a:p>
          <a:p>
            <a:pPr algn="l">
              <a:spcAft>
                <a:spcPts val="300"/>
              </a:spcAft>
            </a:pPr>
            <a:r>
              <a:rPr sz="1700" b="0" i="0">
                <a:solidFill>
                  <a:srgbClr val="FFFFFF"/>
                </a:solidFill>
                <a:latin typeface="Calibri"/>
              </a:rPr>
              <a:t>• Sfinkter kompleksi</a:t>
            </a:r>
          </a:p>
          <a:p>
            <a:pPr algn="l">
              <a:spcAft>
                <a:spcPts val="300"/>
              </a:spcAft>
            </a:pPr>
            <a:r>
              <a:rPr sz="1700" b="0" i="0">
                <a:solidFill>
                  <a:srgbClr val="FFFFFF"/>
                </a:solidFill>
                <a:latin typeface="Calibri"/>
              </a:rPr>
              <a:t>• Fossa ischioanalis</a:t>
            </a:r>
          </a:p>
          <a:p>
            <a:pPr algn="l">
              <a:spcAft>
                <a:spcPts val="300"/>
              </a:spcAft>
            </a:pPr>
            <a:r>
              <a:rPr sz="1700" b="0" i="0">
                <a:solidFill>
                  <a:srgbClr val="FFFFFF"/>
                </a:solidFill>
                <a:latin typeface="Calibri"/>
              </a:rPr>
              <a:t>• Canalis pudendalis</a:t>
            </a:r>
          </a:p>
          <a:p>
            <a:pPr algn="l">
              <a:spcAft>
                <a:spcPts val="300"/>
              </a:spcAft>
            </a:pPr>
            <a:r>
              <a:rPr sz="1700" b="0" i="0">
                <a:solidFill>
                  <a:srgbClr val="FFFFFF"/>
                </a:solidFill>
                <a:latin typeface="Calibri"/>
              </a:rPr>
              <a:t>• MR ve ultrason</a:t>
            </a:r>
          </a:p>
        </p:txBody>
      </p:sp>
      <p:pic>
        <p:nvPicPr>
          <p:cNvPr id="7" name="Picture 6" descr="diagnostics-16-02584-g001.png"/>
          <p:cNvPicPr>
            <a:picLocks noChangeAspect="1"/>
          </p:cNvPicPr>
          <p:nvPr/>
        </p:nvPicPr>
        <p:blipFill>
          <a:blip r:embed="rId2"/>
          <a:stretch>
            <a:fillRect/>
          </a:stretch>
        </p:blipFill>
        <p:spPr>
          <a:xfrm>
            <a:off x="6812280" y="961491"/>
            <a:ext cx="5120640" cy="4294936"/>
          </a:xfrm>
          <a:prstGeom prst="rect">
            <a:avLst/>
          </a:prstGeom>
        </p:spPr>
      </p:pic>
      <p:sp>
        <p:nvSpPr>
          <p:cNvPr id="8" name="TextBox 7"/>
          <p:cNvSpPr txBox="1"/>
          <p:nvPr/>
        </p:nvSpPr>
        <p:spPr>
          <a:xfrm>
            <a:off x="6629400" y="5256428"/>
            <a:ext cx="5486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Alshoabi Sultan Abdulwadoud ve ark., 2026 (PMC13512459, CC BY)</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Alshoabi Sultan Abdulwadoud, Binnuhaid Abdulkhaleq Ayedh, Magram Abdullatif O. et al. Perianal Fistulae Medical Imaging Maps: A Pictorial Diagnostic Review. Diagnostics (Basel). 2026 Aug 15;16(16):2584. doi: 10.3390/diagnostics16162584 PMCID: PMC13512459. Lisans: CC BY.</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Anal üçgen: canalis analis ve fossa ischioanalis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Kontinans mekanizması ve yağ dolu boşluklar</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ANAL</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1950" b="0" i="0">
                <a:solidFill>
                  <a:srgbClr val="1F2A44"/>
                </a:solidFill>
                <a:latin typeface="Calibri"/>
              </a:rPr>
              <a:t>Anal üçgenin merkezinde yaklaşık 4 cm uzunluğundaki canalis analis yer alır. Kanal, m. puborectalis askısının oluşturduğu anorektal açıda rektumdan başlar ve anüste sonlanır. Kanalın ortasındaki linea pectinata (dentata) önemli bir sınırdır: üstünde iç organ tipi mukoza, otonom innervasyon ve portal drenaj; altında deri tipi epitel, somatik (ağrıya duyarlı) innervasyon ve sistemik drenaj bulunur.</a:t>
            </a:r>
          </a:p>
          <a:p>
            <a:pPr algn="l">
              <a:lnSpc>
                <a:spcPct val="108000"/>
              </a:lnSpc>
              <a:spcAft>
                <a:spcPts val="900"/>
              </a:spcAft>
            </a:pPr>
            <a:r>
              <a:rPr sz="1950" b="0" i="0">
                <a:solidFill>
                  <a:srgbClr val="1F2A44"/>
                </a:solidFill>
                <a:latin typeface="Calibri"/>
              </a:rPr>
              <a:t>Kanalı iki sfinkter sarar. İç anal sfinkter, rektumun sirküler düz kasının kalınlaşmasıdır ve istemsizdir; istirahat basıncının büyük kısmını sağlar. Dış anal sfinkter ise iskelet kasıdır, n. rectalis inferior ile innerve edilir ve istemli kontrolü sağlar. İkisinin arasında, rektumun longitudinal kasının devamı olan intersfinkterik boşluk vardır; anal fistüllerin sınıflandırması bu katmanlara göre yapılır.</a:t>
            </a:r>
          </a:p>
          <a:p>
            <a:pPr algn="l">
              <a:lnSpc>
                <a:spcPct val="108000"/>
              </a:lnSpc>
              <a:spcAft>
                <a:spcPts val="900"/>
              </a:spcAft>
            </a:pPr>
            <a:r>
              <a:rPr sz="1950" b="0" i="0">
                <a:solidFill>
                  <a:srgbClr val="1F2A44"/>
                </a:solidFill>
                <a:latin typeface="Calibri"/>
              </a:rPr>
              <a:t>Kanalın iki yanında, levator ani ile m. obturatorius internus arasında yağ dolu fossa ischioanalis bulunur. Bu boşluklar defekasyon sırasında kanalın genişlemesine izin verir. Lateral duvarında, fascia obturatoria'nın yarığı olan canalis pudendalis içinde n. pudendus ve a./v. pudenda interna seyreder. İki taraftaki fossa, kanalın arkasından birbiriyle bağlantılı olduğundan bir taraftaki apse karşı tarafa 'at nalı' şeklinde yayılabilir.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Anal kanal anatomisi – şema ve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Alshoabi ve ark., Diagnostics 2026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ANAL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6-02584-g001.png"/>
          <p:cNvPicPr>
            <a:picLocks noChangeAspect="1"/>
          </p:cNvPicPr>
          <p:nvPr/>
        </p:nvPicPr>
        <p:blipFill>
          <a:blip r:embed="rId2"/>
          <a:stretch>
            <a:fillRect/>
          </a:stretch>
        </p:blipFill>
        <p:spPr>
          <a:xfrm>
            <a:off x="274320" y="1234440"/>
            <a:ext cx="2861294" cy="2399911"/>
          </a:xfrm>
          <a:prstGeom prst="rect">
            <a:avLst/>
          </a:prstGeom>
        </p:spPr>
      </p:pic>
      <p:sp>
        <p:nvSpPr>
          <p:cNvPr id="8" name="TextBox 7"/>
          <p:cNvSpPr txBox="1"/>
          <p:nvPr/>
        </p:nvSpPr>
        <p:spPr>
          <a:xfrm>
            <a:off x="91440" y="3634351"/>
            <a:ext cx="3227054"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Alshoabi Sultan Abdulwadoud ve ark., 2026 (PMC13512459, CC BY)</a:t>
            </a:r>
          </a:p>
        </p:txBody>
      </p:sp>
      <p:pic>
        <p:nvPicPr>
          <p:cNvPr id="9" name="Picture 8" descr="diagnostics-16-02584-g002.png"/>
          <p:cNvPicPr>
            <a:picLocks noChangeAspect="1"/>
          </p:cNvPicPr>
          <p:nvPr/>
        </p:nvPicPr>
        <p:blipFill>
          <a:blip r:embed="rId3"/>
          <a:stretch>
            <a:fillRect/>
          </a:stretch>
        </p:blipFill>
        <p:spPr>
          <a:xfrm>
            <a:off x="3272774" y="1234440"/>
            <a:ext cx="3265185" cy="2399911"/>
          </a:xfrm>
          <a:prstGeom prst="rect">
            <a:avLst/>
          </a:prstGeom>
        </p:spPr>
      </p:pic>
      <p:sp>
        <p:nvSpPr>
          <p:cNvPr id="10" name="TextBox 9"/>
          <p:cNvSpPr txBox="1"/>
          <p:nvPr/>
        </p:nvSpPr>
        <p:spPr>
          <a:xfrm>
            <a:off x="3089894" y="3634351"/>
            <a:ext cx="3630945"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2 – Alshoabi Sultan Abdulwadoud ve ark., 2026 (PMC13512459,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871471"/>
          </a:xfrm>
          <a:prstGeom prst="rect">
            <a:avLst/>
          </a:prstGeom>
          <a:noFill/>
        </p:spPr>
        <p:txBody>
          <a:bodyPr wrap="square">
            <a:spAutoFit/>
          </a:bodyPr>
          <a:lstStyle/>
          <a:p>
            <a:pPr algn="l">
              <a:spcAft>
                <a:spcPts val="300"/>
              </a:spcAft>
            </a:pPr>
            <a:r>
              <a:rPr sz="1600" b="0" i="0">
                <a:solidFill>
                  <a:srgbClr val="1F2A44"/>
                </a:solidFill>
                <a:latin typeface="Calibri"/>
              </a:rPr>
              <a:t>• Şema: </a:t>
            </a:r>
            <a:r>
              <a:rPr sz="1600" b="0" i="0">
                <a:solidFill>
                  <a:srgbClr val="1F2A44"/>
                </a:solidFill>
                <a:latin typeface="Calibri"/>
              </a:rPr>
              <a:t>R</a:t>
            </a:r>
            <a:r>
              <a:rPr sz="1600" b="0" i="0">
                <a:solidFill>
                  <a:srgbClr val="1F2A44"/>
                </a:solidFill>
                <a:latin typeface="Calibri"/>
              </a:rPr>
              <a:t> rektum; </a:t>
            </a:r>
            <a:r>
              <a:rPr sz="1600" b="0" i="0">
                <a:solidFill>
                  <a:srgbClr val="1F2A44"/>
                </a:solidFill>
                <a:latin typeface="Calibri"/>
              </a:rPr>
              <a:t>AR</a:t>
            </a:r>
            <a:r>
              <a:rPr sz="1600" b="0" i="0">
                <a:solidFill>
                  <a:srgbClr val="1F2A44"/>
                </a:solidFill>
                <a:latin typeface="Calibri"/>
              </a:rPr>
              <a:t> anorektal birleşim; </a:t>
            </a:r>
            <a:r>
              <a:rPr sz="1600" b="0" i="0">
                <a:solidFill>
                  <a:srgbClr val="1F2A44"/>
                </a:solidFill>
                <a:latin typeface="Calibri"/>
              </a:rPr>
              <a:t>D</a:t>
            </a:r>
            <a:r>
              <a:rPr sz="1600" b="0" i="0">
                <a:solidFill>
                  <a:srgbClr val="1F2A44"/>
                </a:solidFill>
                <a:latin typeface="Calibri"/>
              </a:rPr>
              <a:t> linea dentata; </a:t>
            </a:r>
            <a:r>
              <a:rPr sz="1600" b="0" i="0">
                <a:solidFill>
                  <a:srgbClr val="1F2A44"/>
                </a:solidFill>
                <a:latin typeface="Calibri"/>
              </a:rPr>
              <a:t>AC</a:t>
            </a:r>
            <a:r>
              <a:rPr sz="1600" b="0" i="0">
                <a:solidFill>
                  <a:srgbClr val="1F2A44"/>
                </a:solidFill>
                <a:latin typeface="Calibri"/>
              </a:rPr>
              <a:t> canalis analis; </a:t>
            </a:r>
            <a:r>
              <a:rPr sz="1600" b="0" i="0">
                <a:solidFill>
                  <a:srgbClr val="1F2A44"/>
                </a:solidFill>
                <a:latin typeface="Calibri"/>
              </a:rPr>
              <a:t>A</a:t>
            </a:r>
            <a:r>
              <a:rPr sz="1600" b="0" i="0">
                <a:solidFill>
                  <a:srgbClr val="1F2A44"/>
                </a:solidFill>
                <a:latin typeface="Calibri"/>
              </a:rPr>
              <a:t> anal kenar; </a:t>
            </a:r>
            <a:r>
              <a:rPr sz="1600" b="0" i="0">
                <a:solidFill>
                  <a:srgbClr val="1F2A44"/>
                </a:solidFill>
                <a:latin typeface="Calibri"/>
              </a:rPr>
              <a:t>IAS/EAS</a:t>
            </a:r>
            <a:r>
              <a:rPr sz="1600" b="0" i="0">
                <a:solidFill>
                  <a:srgbClr val="1F2A44"/>
                </a:solidFill>
                <a:latin typeface="Calibri"/>
              </a:rPr>
              <a:t> iç/dış anal sfinkter; </a:t>
            </a:r>
            <a:r>
              <a:rPr sz="1600" b="0" i="0">
                <a:solidFill>
                  <a:srgbClr val="1F2A44"/>
                </a:solidFill>
                <a:latin typeface="Calibri"/>
              </a:rPr>
              <a:t>PR</a:t>
            </a:r>
            <a:r>
              <a:rPr sz="1600" b="0" i="0">
                <a:solidFill>
                  <a:srgbClr val="1F2A44"/>
                </a:solidFill>
                <a:latin typeface="Calibri"/>
              </a:rPr>
              <a:t> m. puborectalis; </a:t>
            </a:r>
            <a:r>
              <a:rPr sz="1600" b="0" i="0">
                <a:solidFill>
                  <a:srgbClr val="1F2A44"/>
                </a:solidFill>
                <a:latin typeface="Calibri"/>
              </a:rPr>
              <a:t>LA</a:t>
            </a:r>
            <a:r>
              <a:rPr sz="1600" b="0" i="0">
                <a:solidFill>
                  <a:srgbClr val="1F2A44"/>
                </a:solidFill>
                <a:latin typeface="Calibri"/>
              </a:rPr>
              <a:t> m. levator ani; 1–4 fistül tipleri</a:t>
            </a:r>
          </a:p>
          <a:p>
            <a:pPr algn="l">
              <a:spcAft>
                <a:spcPts val="300"/>
              </a:spcAft>
            </a:pPr>
            <a:r>
              <a:rPr sz="1600" b="0" i="0">
                <a:solidFill>
                  <a:srgbClr val="1F2A44"/>
                </a:solidFill>
                <a:latin typeface="Calibri"/>
              </a:rPr>
              <a:t>• MR (yüksek çözünürlüklü T2): </a:t>
            </a:r>
            <a:r>
              <a:rPr sz="1600" b="0" i="0">
                <a:solidFill>
                  <a:srgbClr val="1F2A44"/>
                </a:solidFill>
                <a:latin typeface="Calibri"/>
              </a:rPr>
              <a:t>AC</a:t>
            </a:r>
            <a:r>
              <a:rPr sz="1600" b="0" i="0">
                <a:solidFill>
                  <a:srgbClr val="1F2A44"/>
                </a:solidFill>
                <a:latin typeface="Calibri"/>
              </a:rPr>
              <a:t> canalis analis; </a:t>
            </a:r>
            <a:r>
              <a:rPr sz="1600" b="0" i="0">
                <a:solidFill>
                  <a:srgbClr val="1F2A44"/>
                </a:solidFill>
                <a:latin typeface="Calibri"/>
              </a:rPr>
              <a:t>IRF</a:t>
            </a:r>
            <a:r>
              <a:rPr sz="1600" b="0" i="0">
                <a:solidFill>
                  <a:srgbClr val="1F2A44"/>
                </a:solidFill>
                <a:latin typeface="Calibri"/>
              </a:rPr>
              <a:t> fossa ischiorectalis (ischioanalis); </a:t>
            </a:r>
            <a:r>
              <a:rPr sz="1600" b="0" i="0">
                <a:solidFill>
                  <a:srgbClr val="1F2A44"/>
                </a:solidFill>
                <a:latin typeface="Calibri"/>
              </a:rPr>
              <a:t>R</a:t>
            </a:r>
            <a:r>
              <a:rPr sz="1600" b="0" i="0">
                <a:solidFill>
                  <a:srgbClr val="1F2A44"/>
                </a:solidFill>
                <a:latin typeface="Calibri"/>
              </a:rPr>
              <a:t> rektum; </a:t>
            </a:r>
            <a:r>
              <a:rPr sz="1600" b="0" i="0">
                <a:solidFill>
                  <a:srgbClr val="1F2A44"/>
                </a:solidFill>
                <a:latin typeface="Calibri"/>
              </a:rPr>
              <a:t>UB</a:t>
            </a:r>
            <a:r>
              <a:rPr sz="1600" b="0" i="0">
                <a:solidFill>
                  <a:srgbClr val="1F2A44"/>
                </a:solidFill>
                <a:latin typeface="Calibri"/>
              </a:rPr>
              <a:t> mesane</a:t>
            </a:r>
          </a:p>
        </p:txBody>
      </p:sp>
      <p:sp>
        <p:nvSpPr>
          <p:cNvPr id="13" name="TextBox 12"/>
          <p:cNvSpPr txBox="1"/>
          <p:nvPr/>
        </p:nvSpPr>
        <p:spPr>
          <a:xfrm>
            <a:off x="6720840" y="3499103"/>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846575"/>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MR; iç ve dış sfinkteri, puborektal kası, levator ani'yi, intersfinkterik boşluğu ve fossa ischioanalis'i açıkça gösterir.</a:t>
            </a:r>
          </a:p>
          <a:p>
            <a:pPr algn="l">
              <a:spcAft>
                <a:spcPts val="300"/>
              </a:spcAft>
            </a:pPr>
            <a:r>
              <a:rPr sz="1600" b="0" i="0">
                <a:solidFill>
                  <a:srgbClr val="1F2A44"/>
                </a:solidFill>
                <a:latin typeface="Calibri"/>
              </a:rPr>
              <a:t>• Suprasfinkterik fistüller puborektal kasın üstünden geçip levator ani'yi delerek fossa ischioanalis'e iner.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Alshoabi Sultan Abdulwadoud, Binnuhaid Abdulkhaleq Ayedh, Magram Abdullatif O. et al. Perianal Fistulae Medical Imaging Maps: A Pictorial Diagnostic Review. Diagnostics (Basel). 2026 Aug 15;16(16):2584. doi: 10.3390/diagnostics16162584 PMCID: PMC13512459.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Anal sfinkterler – endoanal ve transperineal ultrason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Carter ve ark., Diagnostics 2023 – 108 hasta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ANAL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3-00682-g001.jpg"/>
          <p:cNvPicPr>
            <a:picLocks noChangeAspect="1"/>
          </p:cNvPicPr>
          <p:nvPr/>
        </p:nvPicPr>
        <p:blipFill>
          <a:blip r:embed="rId2"/>
          <a:stretch>
            <a:fillRect/>
          </a:stretch>
        </p:blipFill>
        <p:spPr>
          <a:xfrm>
            <a:off x="274320" y="1813816"/>
            <a:ext cx="6263640" cy="3641847"/>
          </a:xfrm>
          <a:prstGeom prst="rect">
            <a:avLst/>
          </a:prstGeom>
        </p:spPr>
      </p:pic>
      <p:sp>
        <p:nvSpPr>
          <p:cNvPr id="8" name="TextBox 7"/>
          <p:cNvSpPr txBox="1"/>
          <p:nvPr/>
        </p:nvSpPr>
        <p:spPr>
          <a:xfrm>
            <a:off x="91439" y="5455663"/>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Carter Dan ve ark., 2023 (PMC9955566,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EAUS</a:t>
            </a:r>
            <a:r>
              <a:rPr sz="1600" b="0" i="0">
                <a:solidFill>
                  <a:srgbClr val="1F2A44"/>
                </a:solidFill>
                <a:latin typeface="Calibri"/>
              </a:rPr>
              <a:t> endoanal US (sol); </a:t>
            </a:r>
            <a:r>
              <a:rPr sz="1600" b="0" i="0">
                <a:solidFill>
                  <a:srgbClr val="1F2A44"/>
                </a:solidFill>
                <a:latin typeface="Calibri"/>
              </a:rPr>
              <a:t>PUS</a:t>
            </a:r>
            <a:r>
              <a:rPr sz="1600" b="0" i="0">
                <a:solidFill>
                  <a:srgbClr val="1F2A44"/>
                </a:solidFill>
                <a:latin typeface="Calibri"/>
              </a:rPr>
              <a:t> transperineal US (sağ); </a:t>
            </a:r>
            <a:r>
              <a:rPr sz="1600" b="0" i="0">
                <a:solidFill>
                  <a:srgbClr val="1F2A44"/>
                </a:solidFill>
                <a:latin typeface="Calibri"/>
              </a:rPr>
              <a:t>EAS</a:t>
            </a:r>
            <a:r>
              <a:rPr sz="1600" b="0" i="0">
                <a:solidFill>
                  <a:srgbClr val="1F2A44"/>
                </a:solidFill>
                <a:latin typeface="Calibri"/>
              </a:rPr>
              <a:t> dış anal sfinkter (hiperekoik halka); </a:t>
            </a:r>
            <a:r>
              <a:rPr sz="1600" b="0" i="0">
                <a:solidFill>
                  <a:srgbClr val="1F2A44"/>
                </a:solidFill>
                <a:latin typeface="Calibri"/>
              </a:rPr>
              <a:t>IAS</a:t>
            </a:r>
            <a:r>
              <a:rPr sz="1600" b="0" i="0">
                <a:solidFill>
                  <a:srgbClr val="1F2A44"/>
                </a:solidFill>
                <a:latin typeface="Calibri"/>
              </a:rPr>
              <a:t> iç anal sfinkter (hipoekoik halka)</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İç sfinkter düz kas olduğu için hipoekoik, dış sfinkter hiperekoik görülür.</a:t>
            </a:r>
          </a:p>
          <a:p>
            <a:pPr algn="l">
              <a:spcAft>
                <a:spcPts val="300"/>
              </a:spcAft>
            </a:pPr>
            <a:r>
              <a:rPr sz="1600" b="0" i="0">
                <a:solidFill>
                  <a:srgbClr val="1F2A44"/>
                </a:solidFill>
                <a:latin typeface="Calibri"/>
              </a:rPr>
              <a:t>• Fekal inkontinanslı 108 hastada iki yöntem arasında yırtık tanısında uyum %83 (κ = 0,62).</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Carter Dan, Ram Edward, Engel Tal Combined 3D Endoanal Ultrasound and Transperineal Ultrasound Improves the Detection of Anal Sphincter Defects †. Diagnostics (Basel). 2023 Feb 11;13(4):682. doi: 10.3390/diagnostics13040682 PMCID: PMC9955566.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pudendus'un MR'da seyri – canalis pudendalis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Gaeta ve ark., Diagnostics 2026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ANAL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diagnostics-16-00326-g001.jpg"/>
          <p:cNvPicPr>
            <a:picLocks noChangeAspect="1"/>
          </p:cNvPicPr>
          <p:nvPr/>
        </p:nvPicPr>
        <p:blipFill>
          <a:blip r:embed="rId2"/>
          <a:stretch>
            <a:fillRect/>
          </a:stretch>
        </p:blipFill>
        <p:spPr>
          <a:xfrm>
            <a:off x="374619" y="1234440"/>
            <a:ext cx="6063041" cy="4800600"/>
          </a:xfrm>
          <a:prstGeom prst="rect">
            <a:avLst/>
          </a:prstGeom>
        </p:spPr>
      </p:pic>
      <p:sp>
        <p:nvSpPr>
          <p:cNvPr id="8" name="TextBox 7"/>
          <p:cNvSpPr txBox="1"/>
          <p:nvPr/>
        </p:nvSpPr>
        <p:spPr>
          <a:xfrm>
            <a:off x="191739" y="6035040"/>
            <a:ext cx="6428801"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Gaeta Michele ve ark., 2026 (PMC12840153,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341120"/>
          </a:xfrm>
          <a:prstGeom prst="rect">
            <a:avLst/>
          </a:prstGeom>
          <a:noFill/>
        </p:spPr>
        <p:txBody>
          <a:bodyPr wrap="square">
            <a:spAutoFit/>
          </a:bodyPr>
          <a:lstStyle/>
          <a:p>
            <a:pPr algn="l">
              <a:spcAft>
                <a:spcPts val="300"/>
              </a:spcAft>
            </a:pPr>
            <a:r>
              <a:rPr sz="1600" b="0" i="0">
                <a:solidFill>
                  <a:srgbClr val="1F2A44"/>
                </a:solidFill>
                <a:latin typeface="Calibri"/>
              </a:rPr>
              <a:t>• Dört düzeyde aksiyel T1 MR: (a) m. piriformis önünde lumbosakral (siyah ok) ve pudendal (ok başı) pleksus; (b) spina ischiadica düzeyi; (c) m. obturatorius internus'a komşu pudendal damar–sinir demeti (Alcock kanalı); (d) perine düzeyi</a:t>
            </a:r>
          </a:p>
        </p:txBody>
      </p:sp>
      <p:sp>
        <p:nvSpPr>
          <p:cNvPr id="11" name="TextBox 10"/>
          <p:cNvSpPr txBox="1"/>
          <p:nvPr/>
        </p:nvSpPr>
        <p:spPr>
          <a:xfrm>
            <a:off x="6720840" y="29687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316224"/>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Kronik pudendal nevraljili 81 hastanın 42'sinde DWI anormalliği saptanmıştır.</a:t>
            </a:r>
          </a:p>
          <a:p>
            <a:pPr algn="l">
              <a:spcAft>
                <a:spcPts val="300"/>
              </a:spcAft>
            </a:pPr>
            <a:r>
              <a:rPr sz="1600" b="0" i="0">
                <a:solidFill>
                  <a:srgbClr val="1F2A44"/>
                </a:solidFill>
                <a:latin typeface="Calibri"/>
              </a:rPr>
              <a:t>• Damar–sinir demeti Alcock kanalında m. obturatorius internus'a yakın seyreder – sıkışma noktası.</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Gaeta Michele, Turturici Sofia, Galletta Karol et al. MRI in Chronic Pudendal Neuralgia: Diagnostic Criteria and Associated Pathologies. Diagnostics (Basel). 2026 Jan 20;16(2):326. doi: 10.3390/diagnostics16020326 PMCID: PMC12840153.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kasları ve perine cismi – MR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Rotstein ve ark., Acta Obstet Gynecol Scand 2026 – 148 nulligravid kadın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4 · ANAL</a:t>
            </a:r>
          </a:p>
        </p:txBody>
      </p:sp>
      <p:sp>
        <p:nvSpPr>
          <p:cNvPr id="6" name="TextBox 5"/>
          <p:cNvSpPr txBox="1"/>
          <p:nvPr/>
        </p:nvSpPr>
        <p:spPr>
          <a:xfrm>
            <a:off x="9646920" y="822960"/>
            <a:ext cx="2331720" cy="292608"/>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GÖRÜNTÜLEME</a:t>
            </a:r>
          </a:p>
        </p:txBody>
      </p:sp>
      <p:pic>
        <p:nvPicPr>
          <p:cNvPr id="7" name="Picture 6" descr="AOGS-105-1303-g001.jpg"/>
          <p:cNvPicPr>
            <a:picLocks noChangeAspect="1"/>
          </p:cNvPicPr>
          <p:nvPr/>
        </p:nvPicPr>
        <p:blipFill>
          <a:blip r:embed="rId2"/>
          <a:stretch>
            <a:fillRect/>
          </a:stretch>
        </p:blipFill>
        <p:spPr>
          <a:xfrm>
            <a:off x="274320" y="2340489"/>
            <a:ext cx="6263640" cy="2588500"/>
          </a:xfrm>
          <a:prstGeom prst="rect">
            <a:avLst/>
          </a:prstGeom>
        </p:spPr>
      </p:pic>
      <p:sp>
        <p:nvSpPr>
          <p:cNvPr id="8" name="TextBox 7"/>
          <p:cNvSpPr txBox="1"/>
          <p:nvPr/>
        </p:nvSpPr>
        <p:spPr>
          <a:xfrm>
            <a:off x="91439" y="4928990"/>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Rotstein Emilia ve ark., 2026 (PMC13308972,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101344"/>
          </a:xfrm>
          <a:prstGeom prst="rect">
            <a:avLst/>
          </a:prstGeom>
          <a:noFill/>
        </p:spPr>
        <p:txBody>
          <a:bodyPr wrap="square">
            <a:spAutoFit/>
          </a:bodyPr>
          <a:lstStyle/>
          <a:p>
            <a:pPr algn="l">
              <a:spcAft>
                <a:spcPts val="300"/>
              </a:spcAft>
            </a:pPr>
            <a:r>
              <a:rPr sz="1600" b="0" i="0">
                <a:solidFill>
                  <a:srgbClr val="1F2A44"/>
                </a:solidFill>
                <a:latin typeface="Calibri"/>
              </a:rPr>
              <a:t>• Aksiyel (1) ve koronal (2): </a:t>
            </a:r>
            <a:r>
              <a:rPr sz="1600" b="0" i="0">
                <a:solidFill>
                  <a:srgbClr val="1F2A44"/>
                </a:solidFill>
                <a:latin typeface="Calibri"/>
              </a:rPr>
              <a:t>a</a:t>
            </a:r>
            <a:r>
              <a:rPr sz="1600" b="0" i="0">
                <a:solidFill>
                  <a:srgbClr val="1F2A44"/>
                </a:solidFill>
                <a:latin typeface="Calibri"/>
              </a:rPr>
              <a:t> puboperineal yapışma; </a:t>
            </a:r>
            <a:r>
              <a:rPr sz="1600" b="0" i="0">
                <a:solidFill>
                  <a:srgbClr val="1F2A44"/>
                </a:solidFill>
                <a:latin typeface="Calibri"/>
              </a:rPr>
              <a:t>b</a:t>
            </a:r>
            <a:r>
              <a:rPr sz="1600" b="0" i="0">
                <a:solidFill>
                  <a:srgbClr val="1F2A44"/>
                </a:solidFill>
                <a:latin typeface="Calibri"/>
              </a:rPr>
              <a:t> m. transversus perinei profundus; </a:t>
            </a:r>
            <a:r>
              <a:rPr sz="1600" b="0" i="0">
                <a:solidFill>
                  <a:srgbClr val="1F2A44"/>
                </a:solidFill>
                <a:latin typeface="Calibri"/>
              </a:rPr>
              <a:t>c</a:t>
            </a:r>
            <a:r>
              <a:rPr sz="1600" b="0" i="0">
                <a:solidFill>
                  <a:srgbClr val="1F2A44"/>
                </a:solidFill>
                <a:latin typeface="Calibri"/>
              </a:rPr>
              <a:t> m. transversus perinei superficialis; </a:t>
            </a:r>
            <a:r>
              <a:rPr sz="1600" b="0" i="0">
                <a:solidFill>
                  <a:srgbClr val="1F2A44"/>
                </a:solidFill>
                <a:latin typeface="Calibri"/>
              </a:rPr>
              <a:t>d</a:t>
            </a:r>
            <a:r>
              <a:rPr sz="1600" b="0" i="0">
                <a:solidFill>
                  <a:srgbClr val="1F2A44"/>
                </a:solidFill>
                <a:latin typeface="Calibri"/>
              </a:rPr>
              <a:t> dış anal sfinkter; </a:t>
            </a:r>
            <a:r>
              <a:rPr sz="1600" b="0" i="0">
                <a:solidFill>
                  <a:srgbClr val="1F2A44"/>
                </a:solidFill>
                <a:latin typeface="Calibri"/>
              </a:rPr>
              <a:t>e</a:t>
            </a:r>
            <a:r>
              <a:rPr sz="1600" b="0" i="0">
                <a:solidFill>
                  <a:srgbClr val="1F2A44"/>
                </a:solidFill>
                <a:latin typeface="Calibri"/>
              </a:rPr>
              <a:t> iç anal sfinkter</a:t>
            </a:r>
          </a:p>
        </p:txBody>
      </p:sp>
      <p:sp>
        <p:nvSpPr>
          <p:cNvPr id="11" name="TextBox 10"/>
          <p:cNvSpPr txBox="1"/>
          <p:nvPr/>
        </p:nvSpPr>
        <p:spPr>
          <a:xfrm>
            <a:off x="6720840" y="27289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0764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Perine cismi: ortalama uzunluk 17,5 ± 3,0 mm, ön-arka yükseklik 9,7 ± 1,4 mm, alan 120 ± 28 mm².</a:t>
            </a:r>
          </a:p>
          <a:p>
            <a:pPr algn="l">
              <a:spcAft>
                <a:spcPts val="300"/>
              </a:spcAft>
            </a:pPr>
            <a:r>
              <a:rPr sz="1600" b="0" i="0">
                <a:solidFill>
                  <a:srgbClr val="1F2A44"/>
                </a:solidFill>
                <a:latin typeface="Calibri"/>
              </a:rPr>
              <a:t>• Normal değerler, doğum hasarının değerlendirilmesinde referans sağlar.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Rotstein Emilia, Rose Nina, Starck Marianne et al. Three‐dimensional endoanal ultrasound measurements for the assessment of perineal body size in a cohort of Swedish nulligravidae. Acta Obstet Gynecol Scand. 2026 Jun 17;105(7):1303–8. doi: 10.1111/aogs.70227 PMCID: PMC13308972.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760720" cy="548640"/>
          </a:xfrm>
          <a:prstGeom prst="rect">
            <a:avLst/>
          </a:prstGeom>
          <a:noFill/>
        </p:spPr>
        <p:txBody>
          <a:bodyPr wrap="square" anchor="t" lIns="45720" rIns="45720" tIns="18288" bIns="18288">
            <a:spAutoFit/>
          </a:bodyPr>
          <a:lstStyle/>
          <a:p>
            <a:pPr algn="l"/>
            <a:r>
              <a:rPr sz="2000" b="1" i="0">
                <a:solidFill>
                  <a:srgbClr val="C8D1E6"/>
                </a:solidFill>
                <a:latin typeface="Calibri"/>
              </a:rPr>
              <a:t>BÖLÜM 5</a:t>
            </a:r>
          </a:p>
        </p:txBody>
      </p:sp>
      <p:sp>
        <p:nvSpPr>
          <p:cNvPr id="4" name="TextBox 3"/>
          <p:cNvSpPr txBox="1"/>
          <p:nvPr/>
        </p:nvSpPr>
        <p:spPr>
          <a:xfrm>
            <a:off x="548640" y="123444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KESİT + VARYASYON</a:t>
            </a:r>
          </a:p>
        </p:txBody>
      </p:sp>
      <p:sp>
        <p:nvSpPr>
          <p:cNvPr id="5" name="TextBox 4"/>
          <p:cNvSpPr txBox="1"/>
          <p:nvPr/>
        </p:nvSpPr>
        <p:spPr>
          <a:xfrm>
            <a:off x="548640" y="2286000"/>
            <a:ext cx="5760720" cy="914400"/>
          </a:xfrm>
          <a:prstGeom prst="rect">
            <a:avLst/>
          </a:prstGeom>
          <a:noFill/>
        </p:spPr>
        <p:txBody>
          <a:bodyPr wrap="square" anchor="t" lIns="45720" rIns="45720" tIns="18288" bIns="18288">
            <a:spAutoFit/>
          </a:bodyPr>
          <a:lstStyle/>
          <a:p>
            <a:pPr algn="l"/>
            <a:r>
              <a:rPr sz="1800" b="0" i="0">
                <a:solidFill>
                  <a:srgbClr val="C8D1E6"/>
                </a:solidFill>
                <a:latin typeface="Calibri"/>
              </a:rPr>
              <a:t>Kesitsel anatomi ve varyasyonlar</a:t>
            </a:r>
          </a:p>
          <a:p>
            <a:pPr algn="l"/>
            <a:r>
              <a:rPr sz="1800" b="0" i="0">
                <a:solidFill>
                  <a:srgbClr val="C8D1E6"/>
                </a:solidFill>
                <a:latin typeface="Calibri"/>
              </a:rPr>
              <a:t>VHP erkek–kadın; literatür taraması</a:t>
            </a:r>
          </a:p>
        </p:txBody>
      </p:sp>
      <p:sp>
        <p:nvSpPr>
          <p:cNvPr id="6" name="TextBox 5"/>
          <p:cNvSpPr txBox="1"/>
          <p:nvPr/>
        </p:nvSpPr>
        <p:spPr>
          <a:xfrm>
            <a:off x="548640" y="3383280"/>
            <a:ext cx="5760720" cy="3200400"/>
          </a:xfrm>
          <a:prstGeom prst="rect">
            <a:avLst/>
          </a:prstGeom>
          <a:noFill/>
        </p:spPr>
        <p:txBody>
          <a:bodyPr wrap="square">
            <a:spAutoFit/>
          </a:bodyPr>
          <a:lstStyle/>
          <a:p>
            <a:pPr algn="l">
              <a:spcAft>
                <a:spcPts val="300"/>
              </a:spcAft>
            </a:pPr>
            <a:r>
              <a:rPr sz="1700" b="0" i="0">
                <a:solidFill>
                  <a:srgbClr val="FFFFFF"/>
                </a:solidFill>
                <a:latin typeface="Calibri"/>
              </a:rPr>
              <a:t>• Erkek pelvis/perine kesitleri</a:t>
            </a:r>
          </a:p>
          <a:p>
            <a:pPr algn="l">
              <a:spcAft>
                <a:spcPts val="300"/>
              </a:spcAft>
            </a:pPr>
            <a:r>
              <a:rPr sz="1700" b="0" i="0">
                <a:solidFill>
                  <a:srgbClr val="FFFFFF"/>
                </a:solidFill>
                <a:latin typeface="Calibri"/>
              </a:rPr>
              <a:t>• Kadın pelvis/perine kesitleri</a:t>
            </a:r>
          </a:p>
          <a:p>
            <a:pPr algn="l">
              <a:spcAft>
                <a:spcPts val="300"/>
              </a:spcAft>
            </a:pPr>
            <a:r>
              <a:rPr sz="1700" b="0" i="0">
                <a:solidFill>
                  <a:srgbClr val="FFFFFF"/>
                </a:solidFill>
                <a:latin typeface="Calibri"/>
              </a:rPr>
              <a:t>• N. pudendus ve a. pudenda interna varyasyonları</a:t>
            </a:r>
          </a:p>
          <a:p>
            <a:pPr algn="l">
              <a:spcAft>
                <a:spcPts val="300"/>
              </a:spcAft>
            </a:pPr>
            <a:r>
              <a:rPr sz="1700" b="0" i="0">
                <a:solidFill>
                  <a:srgbClr val="FFFFFF"/>
                </a:solidFill>
                <a:latin typeface="Calibri"/>
              </a:rPr>
              <a:t>• Levator avülsiyonu, perine cismi</a:t>
            </a:r>
          </a:p>
          <a:p>
            <a:pPr algn="l">
              <a:spcAft>
                <a:spcPts val="300"/>
              </a:spcAft>
            </a:pPr>
            <a:r>
              <a:rPr sz="1700" b="0" i="0">
                <a:solidFill>
                  <a:srgbClr val="FFFFFF"/>
                </a:solidFill>
                <a:latin typeface="Calibri"/>
              </a:rPr>
              <a:t>• Klinik bağlantılar</a:t>
            </a:r>
          </a:p>
        </p:txBody>
      </p:sp>
      <p:pic>
        <p:nvPicPr>
          <p:cNvPr id="7" name="Picture 6" descr="M1934_cryo.jpg"/>
          <p:cNvPicPr>
            <a:picLocks noChangeAspect="1"/>
          </p:cNvPicPr>
          <p:nvPr/>
        </p:nvPicPr>
        <p:blipFill>
          <a:blip r:embed="rId2"/>
          <a:stretch>
            <a:fillRect/>
          </a:stretch>
        </p:blipFill>
        <p:spPr>
          <a:xfrm>
            <a:off x="7009007" y="365760"/>
            <a:ext cx="4727185" cy="5486399"/>
          </a:xfrm>
          <a:prstGeom prst="rect">
            <a:avLst/>
          </a:prstGeom>
        </p:spPr>
      </p:pic>
      <p:sp>
        <p:nvSpPr>
          <p:cNvPr id="8" name="TextBox 7"/>
          <p:cNvSpPr txBox="1"/>
          <p:nvPr/>
        </p:nvSpPr>
        <p:spPr>
          <a:xfrm>
            <a:off x="6826127" y="5852159"/>
            <a:ext cx="5092945" cy="274320"/>
          </a:xfrm>
          <a:prstGeom prst="rect">
            <a:avLst/>
          </a:prstGeom>
          <a:noFill/>
        </p:spPr>
        <p:txBody>
          <a:bodyPr wrap="square" anchor="t" lIns="45720" rIns="45720" tIns="18288" bIns="18288">
            <a:spAutoFit/>
          </a:bodyPr>
          <a:lstStyle/>
          <a:p>
            <a:pPr algn="ctr"/>
            <a:r>
              <a:rPr sz="950" b="0" i="1">
                <a:solidFill>
                  <a:srgbClr val="555B66"/>
                </a:solidFill>
                <a:latin typeface="Calibri"/>
              </a:rPr>
              <a:t>VHP-M kesit 1934</a:t>
            </a:r>
          </a:p>
        </p:txBody>
      </p:sp>
      <p:sp>
        <p:nvSpPr>
          <p:cNvPr id="9" name="TextBox 8"/>
          <p:cNvSpPr txBox="1"/>
          <p:nvPr/>
        </p:nvSpPr>
        <p:spPr>
          <a:xfrm>
            <a:off x="6812280" y="6309360"/>
            <a:ext cx="5120640" cy="502920"/>
          </a:xfrm>
          <a:prstGeom prst="rect">
            <a:avLst/>
          </a:prstGeom>
          <a:noFill/>
        </p:spPr>
        <p:txBody>
          <a:bodyPr wrap="square" anchor="t" lIns="45720" rIns="45720" tIns="18288" bIns="18288">
            <a:spAutoFit/>
          </a:bodyPr>
          <a:lstStyle/>
          <a:p>
            <a:pPr algn="l"/>
            <a:r>
              <a:rPr sz="750" b="0" i="0">
                <a:solidFill>
                  <a:srgbClr val="555B66"/>
                </a:solidFill>
                <a:latin typeface="Calibri"/>
              </a:rPr>
              <a:t>Görüntü: NLM Visible Human Project (NCI Imaging Data Commons, doi:10.5281/zenodo.12690049; NLM Terms and Conditions 2019). İşleme/kırpma: bu proje.</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1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Pelvis ve perine kesitlerini okumak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Erkek ve kadın Visible Human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Pelvis kesitlerinde yönümüzü kemiklerle buluruz: yukarıda caput femoris ve acetabulum, aşağıda symphysis pubica, ramus ischiopubicus ve tuber ischiadicum. Orta hatta önden arkaya erkekte mesane–prostat–rektum, kadında mesane/urethra–vagina–rektum sıralanır.</a:t>
            </a:r>
          </a:p>
          <a:p>
            <a:pPr algn="l">
              <a:lnSpc>
                <a:spcPct val="108000"/>
              </a:lnSpc>
              <a:spcAft>
                <a:spcPts val="900"/>
              </a:spcAft>
            </a:pPr>
            <a:r>
              <a:rPr sz="2000" b="0" i="0">
                <a:solidFill>
                  <a:srgbClr val="1F2A44"/>
                </a:solidFill>
                <a:latin typeface="Calibri"/>
              </a:rPr>
              <a:t>Kaslardan m. obturatorius internus pelvis duvarını, m. levator ani ise organların etrafındaki ince huniyi oluşturur. İkisinin arasında aşağıda genişleyen yağ dokusu fossa ischioanalis'tir. Kesitler aşağı indikçe ürogenital üçgen öne, anal üçgen arkaya ayrılır; en altta yüzeyel kesedeki erektil dokular görülür.</a:t>
            </a:r>
          </a:p>
          <a:p>
            <a:pPr algn="l">
              <a:lnSpc>
                <a:spcPct val="108000"/>
              </a:lnSpc>
              <a:spcAft>
                <a:spcPts val="900"/>
              </a:spcAft>
            </a:pPr>
            <a:r>
              <a:rPr sz="2000" b="0" i="0">
                <a:solidFill>
                  <a:srgbClr val="1F2A44"/>
                </a:solidFill>
                <a:latin typeface="Calibri"/>
              </a:rPr>
              <a:t>Aşağıdaki kesitlerde aynı kadavranın aynı düzeydeki BT görüntüsü de verilmiştir: kas, yağ ve kemiğin kriyokesitteki gerçek görünümü ile radyolojik görünümünü doğrudan karşılaştırabilirsiniz.</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pelvis – mesane ve vesiculae seminales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Caput femoris düzeyi – NLM kesit no. 1878 (erkek)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M1878_cryo.jpg"/>
          <p:cNvPicPr>
            <a:picLocks noChangeAspect="1"/>
          </p:cNvPicPr>
          <p:nvPr/>
        </p:nvPicPr>
        <p:blipFill>
          <a:blip r:embed="rId2"/>
          <a:stretch>
            <a:fillRect/>
          </a:stretch>
        </p:blipFill>
        <p:spPr>
          <a:xfrm>
            <a:off x="2316082" y="1234440"/>
            <a:ext cx="3505995" cy="4069080"/>
          </a:xfrm>
          <a:prstGeom prst="rect">
            <a:avLst/>
          </a:prstGeom>
        </p:spPr>
      </p:pic>
      <p:sp>
        <p:nvSpPr>
          <p:cNvPr id="8" name="TextBox 7"/>
          <p:cNvSpPr txBox="1"/>
          <p:nvPr/>
        </p:nvSpPr>
        <p:spPr>
          <a:xfrm>
            <a:off x="2041762" y="5321808"/>
            <a:ext cx="4054635"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75883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Caput femoris</a:t>
            </a:r>
          </a:p>
        </p:txBody>
      </p:sp>
      <p:cxnSp>
        <p:nvCxnSpPr>
          <p:cNvPr id="10" name="Connector 9"/>
          <p:cNvCxnSpPr/>
          <p:nvPr/>
        </p:nvCxnSpPr>
        <p:spPr>
          <a:xfrm>
            <a:off x="2148840" y="2987437"/>
            <a:ext cx="56565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673342" y="294628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27090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obturatorius internus</a:t>
            </a:r>
          </a:p>
        </p:txBody>
      </p:sp>
      <p:cxnSp>
        <p:nvCxnSpPr>
          <p:cNvPr id="13" name="Connector 12"/>
          <p:cNvCxnSpPr/>
          <p:nvPr/>
        </p:nvCxnSpPr>
        <p:spPr>
          <a:xfrm flipV="1">
            <a:off x="2148840" y="3359285"/>
            <a:ext cx="1309346" cy="14021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417038" y="331813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93812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Fossa ischioanalis (yağ)</a:t>
            </a:r>
          </a:p>
        </p:txBody>
      </p:sp>
      <p:cxnSp>
        <p:nvCxnSpPr>
          <p:cNvPr id="16" name="Connector 15"/>
          <p:cNvCxnSpPr/>
          <p:nvPr/>
        </p:nvCxnSpPr>
        <p:spPr>
          <a:xfrm>
            <a:off x="2148840" y="4166727"/>
            <a:ext cx="1559016"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666708" y="412557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45019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gluteus maximus</a:t>
            </a:r>
          </a:p>
        </p:txBody>
      </p:sp>
      <p:cxnSp>
        <p:nvCxnSpPr>
          <p:cNvPr id="19" name="Connector 18"/>
          <p:cNvCxnSpPr/>
          <p:nvPr/>
        </p:nvCxnSpPr>
        <p:spPr>
          <a:xfrm flipV="1">
            <a:off x="2148840" y="4395148"/>
            <a:ext cx="857817" cy="283643"/>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965509" y="435400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1669854"/>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M. rectus abdominis</a:t>
            </a:r>
          </a:p>
        </p:txBody>
      </p:sp>
      <p:cxnSp>
        <p:nvCxnSpPr>
          <p:cNvPr id="22" name="Connector 21"/>
          <p:cNvCxnSpPr/>
          <p:nvPr/>
        </p:nvCxnSpPr>
        <p:spPr>
          <a:xfrm flipH="1">
            <a:off x="4069080" y="1898454"/>
            <a:ext cx="192024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027932" y="185730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599474"/>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Vesica urinaria</a:t>
            </a:r>
          </a:p>
        </p:txBody>
      </p:sp>
      <p:cxnSp>
        <p:nvCxnSpPr>
          <p:cNvPr id="25" name="Connector 24"/>
          <p:cNvCxnSpPr/>
          <p:nvPr/>
        </p:nvCxnSpPr>
        <p:spPr>
          <a:xfrm flipH="1">
            <a:off x="4095640" y="2828074"/>
            <a:ext cx="189368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054492" y="278692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263488"/>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Vesiculae seminales</a:t>
            </a:r>
          </a:p>
        </p:txBody>
      </p:sp>
      <p:cxnSp>
        <p:nvCxnSpPr>
          <p:cNvPr id="28" name="Connector 27"/>
          <p:cNvCxnSpPr/>
          <p:nvPr/>
        </p:nvCxnSpPr>
        <p:spPr>
          <a:xfrm flipH="1">
            <a:off x="4148761" y="3492088"/>
            <a:ext cx="184055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107613" y="345094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3775552"/>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Rectum</a:t>
            </a:r>
          </a:p>
        </p:txBody>
      </p:sp>
      <p:cxnSp>
        <p:nvCxnSpPr>
          <p:cNvPr id="31" name="Connector 30"/>
          <p:cNvCxnSpPr/>
          <p:nvPr/>
        </p:nvCxnSpPr>
        <p:spPr>
          <a:xfrm flipH="1" flipV="1">
            <a:off x="4201882" y="3917058"/>
            <a:ext cx="1787438" cy="8709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160734" y="3875910"/>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M1878_ct.png"/>
          <p:cNvPicPr>
            <a:picLocks noChangeAspect="1"/>
          </p:cNvPicPr>
          <p:nvPr/>
        </p:nvPicPr>
        <p:blipFill>
          <a:blip r:embed="rId3"/>
          <a:stretch>
            <a:fillRect/>
          </a:stretch>
        </p:blipFill>
        <p:spPr>
          <a:xfrm>
            <a:off x="9317449" y="1234440"/>
            <a:ext cx="1619060" cy="1879092"/>
          </a:xfrm>
          <a:prstGeom prst="rect">
            <a:avLst/>
          </a:prstGeom>
        </p:spPr>
      </p:pic>
      <p:sp>
        <p:nvSpPr>
          <p:cNvPr id="34" name="TextBox 33"/>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35" name="Picture 34" descr="M1878_ctbone.png"/>
          <p:cNvPicPr>
            <a:picLocks noChangeAspect="1"/>
          </p:cNvPicPr>
          <p:nvPr/>
        </p:nvPicPr>
        <p:blipFill>
          <a:blip r:embed="rId4"/>
          <a:stretch>
            <a:fillRect/>
          </a:stretch>
        </p:blipFill>
        <p:spPr>
          <a:xfrm>
            <a:off x="9317449" y="3406140"/>
            <a:ext cx="1619060" cy="1879092"/>
          </a:xfrm>
          <a:prstGeom prst="rect">
            <a:avLst/>
          </a:prstGeom>
        </p:spPr>
      </p:pic>
      <p:sp>
        <p:nvSpPr>
          <p:cNvPr id="36" name="TextBox 35"/>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7" name="TextBox 36"/>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Mesane ile rektum arasında vesiculae seminales ve Denonvilliers fasyası bulunur (rektovezikal septum).</a:t>
            </a:r>
          </a:p>
          <a:p>
            <a:pPr algn="l">
              <a:spcAft>
                <a:spcPts val="300"/>
              </a:spcAft>
            </a:pPr>
            <a:r>
              <a:rPr sz="1500" b="0" i="0">
                <a:solidFill>
                  <a:srgbClr val="1F2A44"/>
                </a:solidFill>
                <a:latin typeface="Calibri"/>
              </a:rPr>
              <a:t>• Fossa ischioanalis yağ dokusu, m. obturatorius internus ile m. levator ani arasında piramit şeklinde uzanır.</a:t>
            </a:r>
          </a:p>
        </p:txBody>
      </p:sp>
      <p:cxnSp>
        <p:nvCxnSpPr>
          <p:cNvPr id="38" name="Connector 3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 aynı NLM numaralı donmuş BT); NCI Imaging Data Commons (doi:10.5281/zenodo.12690049); NLM Terms and Conditions (2019). Radyolojik yönelim: ön yukarıda, hastanın sağı solda.</a:t>
            </a:r>
          </a:p>
        </p:txBody>
      </p:sp>
      <p:sp>
        <p:nvSpPr>
          <p:cNvPr id="40" name="TextBox 3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perine – symphysis pubica ve prostat</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Pelvis çıkımı düzeyi – NLM kesit no. 1900 (erkek)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M1900_cryo.jpg"/>
          <p:cNvPicPr>
            <a:picLocks noChangeAspect="1"/>
          </p:cNvPicPr>
          <p:nvPr/>
        </p:nvPicPr>
        <p:blipFill>
          <a:blip r:embed="rId2"/>
          <a:stretch>
            <a:fillRect/>
          </a:stretch>
        </p:blipFill>
        <p:spPr>
          <a:xfrm>
            <a:off x="2309189" y="1234440"/>
            <a:ext cx="3519780" cy="4069080"/>
          </a:xfrm>
          <a:prstGeom prst="rect">
            <a:avLst/>
          </a:prstGeom>
        </p:spPr>
      </p:pic>
      <p:sp>
        <p:nvSpPr>
          <p:cNvPr id="8" name="TextBox 7"/>
          <p:cNvSpPr txBox="1"/>
          <p:nvPr/>
        </p:nvSpPr>
        <p:spPr>
          <a:xfrm>
            <a:off x="2034869" y="5321808"/>
            <a:ext cx="406842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085710"/>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obturatorius internus</a:t>
            </a:r>
          </a:p>
        </p:txBody>
      </p:sp>
      <p:cxnSp>
        <p:nvCxnSpPr>
          <p:cNvPr id="10" name="Connector 9"/>
          <p:cNvCxnSpPr/>
          <p:nvPr/>
        </p:nvCxnSpPr>
        <p:spPr>
          <a:xfrm>
            <a:off x="2148840" y="3314310"/>
            <a:ext cx="144026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547961" y="327316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597774"/>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Os ischii</a:t>
            </a:r>
          </a:p>
        </p:txBody>
      </p:sp>
      <p:cxnSp>
        <p:nvCxnSpPr>
          <p:cNvPr id="13" name="Connector 12"/>
          <p:cNvCxnSpPr/>
          <p:nvPr/>
        </p:nvCxnSpPr>
        <p:spPr>
          <a:xfrm flipV="1">
            <a:off x="2148840" y="3527630"/>
            <a:ext cx="746979" cy="29874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854671" y="348648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205640"/>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gluteus maximus</a:t>
            </a:r>
          </a:p>
        </p:txBody>
      </p:sp>
      <p:cxnSp>
        <p:nvCxnSpPr>
          <p:cNvPr id="16" name="Connector 15"/>
          <p:cNvCxnSpPr/>
          <p:nvPr/>
        </p:nvCxnSpPr>
        <p:spPr>
          <a:xfrm>
            <a:off x="2148840" y="4434240"/>
            <a:ext cx="90696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014661" y="439309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152435"/>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Symphysis pubica</a:t>
            </a:r>
          </a:p>
        </p:txBody>
      </p:sp>
      <p:cxnSp>
        <p:nvCxnSpPr>
          <p:cNvPr id="19" name="Connector 18"/>
          <p:cNvCxnSpPr/>
          <p:nvPr/>
        </p:nvCxnSpPr>
        <p:spPr>
          <a:xfrm flipH="1">
            <a:off x="4138409" y="2381035"/>
            <a:ext cx="185091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097261" y="233988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712400"/>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Prostata</a:t>
            </a:r>
          </a:p>
        </p:txBody>
      </p:sp>
      <p:cxnSp>
        <p:nvCxnSpPr>
          <p:cNvPr id="22" name="Connector 21"/>
          <p:cNvCxnSpPr/>
          <p:nvPr/>
        </p:nvCxnSpPr>
        <p:spPr>
          <a:xfrm flipH="1">
            <a:off x="4095745" y="2941000"/>
            <a:ext cx="189357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054597" y="289985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224464"/>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Caput femoris</a:t>
            </a:r>
          </a:p>
        </p:txBody>
      </p:sp>
      <p:cxnSp>
        <p:nvCxnSpPr>
          <p:cNvPr id="25" name="Connector 24"/>
          <p:cNvCxnSpPr/>
          <p:nvPr/>
        </p:nvCxnSpPr>
        <p:spPr>
          <a:xfrm flipH="1" flipV="1">
            <a:off x="5562320" y="2994330"/>
            <a:ext cx="427000" cy="45873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521172" y="295318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736528"/>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Rectum / canalis analis</a:t>
            </a:r>
          </a:p>
        </p:txBody>
      </p:sp>
      <p:cxnSp>
        <p:nvCxnSpPr>
          <p:cNvPr id="28" name="Connector 27"/>
          <p:cNvCxnSpPr/>
          <p:nvPr/>
        </p:nvCxnSpPr>
        <p:spPr>
          <a:xfrm flipH="1" flipV="1">
            <a:off x="4122410" y="3804946"/>
            <a:ext cx="1866910" cy="16018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081262" y="376379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M1900_ct.png"/>
          <p:cNvPicPr>
            <a:picLocks noChangeAspect="1"/>
          </p:cNvPicPr>
          <p:nvPr/>
        </p:nvPicPr>
        <p:blipFill>
          <a:blip r:embed="rId3"/>
          <a:stretch>
            <a:fillRect/>
          </a:stretch>
        </p:blipFill>
        <p:spPr>
          <a:xfrm>
            <a:off x="9314266" y="1234440"/>
            <a:ext cx="1625426" cy="1879092"/>
          </a:xfrm>
          <a:prstGeom prst="rect">
            <a:avLst/>
          </a:prstGeom>
        </p:spPr>
      </p:pic>
      <p:sp>
        <p:nvSpPr>
          <p:cNvPr id="31" name="TextBox 30"/>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32" name="Picture 31" descr="M1900_ctbone.png"/>
          <p:cNvPicPr>
            <a:picLocks noChangeAspect="1"/>
          </p:cNvPicPr>
          <p:nvPr/>
        </p:nvPicPr>
        <p:blipFill>
          <a:blip r:embed="rId4"/>
          <a:stretch>
            <a:fillRect/>
          </a:stretch>
        </p:blipFill>
        <p:spPr>
          <a:xfrm>
            <a:off x="9314266" y="3406140"/>
            <a:ext cx="1625426" cy="1879092"/>
          </a:xfrm>
          <a:prstGeom prst="rect">
            <a:avLst/>
          </a:prstGeom>
        </p:spPr>
      </p:pic>
      <p:sp>
        <p:nvSpPr>
          <p:cNvPr id="33" name="TextBox 32"/>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4" name="TextBox 33"/>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Prostat, symphysis pubica'nın arkasında ve rektumun önündedir – parmakla rektal muayenede ön duvardan palpe edilir.</a:t>
            </a:r>
          </a:p>
          <a:p>
            <a:pPr algn="l">
              <a:spcAft>
                <a:spcPts val="300"/>
              </a:spcAft>
            </a:pPr>
            <a:r>
              <a:rPr sz="1500" b="0" i="0">
                <a:solidFill>
                  <a:srgbClr val="1F2A44"/>
                </a:solidFill>
                <a:latin typeface="Calibri"/>
              </a:rPr>
              <a:t>• Prostat ile rektum arasındaki Denonvilliers fasyası, total mezorektal eksizyonda cerrahi düzlemi belirler.</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 aynı NLM numaralı donmuş BT); NCI Imaging Data Commons (doi:10.5281/zenodo.12690049); NLM Terms and Conditions (2019). Radyolojik yönelim: ön yukarıda, hastanın sağı solda.</a:t>
            </a:r>
          </a:p>
        </p:txBody>
      </p:sp>
      <p:sp>
        <p:nvSpPr>
          <p:cNvPr id="37" name="TextBox 3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perine – urethra ve canalis analis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Ramus inferior ossis pubis düzeyi – NLM kesit no. 1912 (erkek)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M1912_cryo.jpg"/>
          <p:cNvPicPr>
            <a:picLocks noChangeAspect="1"/>
          </p:cNvPicPr>
          <p:nvPr/>
        </p:nvPicPr>
        <p:blipFill>
          <a:blip r:embed="rId2"/>
          <a:stretch>
            <a:fillRect/>
          </a:stretch>
        </p:blipFill>
        <p:spPr>
          <a:xfrm>
            <a:off x="2299914" y="1234440"/>
            <a:ext cx="3538330" cy="4069080"/>
          </a:xfrm>
          <a:prstGeom prst="rect">
            <a:avLst/>
          </a:prstGeom>
        </p:spPr>
      </p:pic>
      <p:sp>
        <p:nvSpPr>
          <p:cNvPr id="8" name="TextBox 7"/>
          <p:cNvSpPr txBox="1"/>
          <p:nvPr/>
        </p:nvSpPr>
        <p:spPr>
          <a:xfrm>
            <a:off x="2025594" y="5321808"/>
            <a:ext cx="408697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47194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Tuber ischiadicum</a:t>
            </a:r>
          </a:p>
        </p:txBody>
      </p:sp>
      <p:cxnSp>
        <p:nvCxnSpPr>
          <p:cNvPr id="10" name="Connector 9"/>
          <p:cNvCxnSpPr/>
          <p:nvPr/>
        </p:nvCxnSpPr>
        <p:spPr>
          <a:xfrm>
            <a:off x="2148840" y="3700549"/>
            <a:ext cx="90162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009321" y="3659401"/>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98401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Fossa ischioanalis</a:t>
            </a:r>
          </a:p>
        </p:txBody>
      </p:sp>
      <p:cxnSp>
        <p:nvCxnSpPr>
          <p:cNvPr id="13" name="Connector 12"/>
          <p:cNvCxnSpPr/>
          <p:nvPr/>
        </p:nvCxnSpPr>
        <p:spPr>
          <a:xfrm flipV="1">
            <a:off x="2148840" y="4075826"/>
            <a:ext cx="1518156" cy="13678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25848" y="403467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49607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gluteus maximus</a:t>
            </a:r>
          </a:p>
        </p:txBody>
      </p:sp>
      <p:cxnSp>
        <p:nvCxnSpPr>
          <p:cNvPr id="16" name="Connector 15"/>
          <p:cNvCxnSpPr/>
          <p:nvPr/>
        </p:nvCxnSpPr>
        <p:spPr>
          <a:xfrm flipV="1">
            <a:off x="2148840" y="4370687"/>
            <a:ext cx="1116073" cy="35399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223765" y="43295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292505"/>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Os pubis (ramus inferior)</a:t>
            </a:r>
          </a:p>
        </p:txBody>
      </p:sp>
      <p:cxnSp>
        <p:nvCxnSpPr>
          <p:cNvPr id="19" name="Connector 18"/>
          <p:cNvCxnSpPr/>
          <p:nvPr/>
        </p:nvCxnSpPr>
        <p:spPr>
          <a:xfrm flipH="1">
            <a:off x="3961857" y="2521105"/>
            <a:ext cx="2027463"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20709" y="247995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80456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Urethra</a:t>
            </a:r>
          </a:p>
        </p:txBody>
      </p:sp>
      <p:cxnSp>
        <p:nvCxnSpPr>
          <p:cNvPr id="22" name="Connector 21"/>
          <p:cNvCxnSpPr/>
          <p:nvPr/>
        </p:nvCxnSpPr>
        <p:spPr>
          <a:xfrm flipH="1" flipV="1">
            <a:off x="4149496" y="2960716"/>
            <a:ext cx="1839824" cy="72453"/>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108348" y="291956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3514837"/>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Canalis analis</a:t>
            </a:r>
          </a:p>
        </p:txBody>
      </p:sp>
      <p:cxnSp>
        <p:nvCxnSpPr>
          <p:cNvPr id="25" name="Connector 24"/>
          <p:cNvCxnSpPr/>
          <p:nvPr/>
        </p:nvCxnSpPr>
        <p:spPr>
          <a:xfrm flipH="1">
            <a:off x="4149496" y="3743437"/>
            <a:ext cx="1839824"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108348" y="370228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1912_ct.png"/>
          <p:cNvPicPr>
            <a:picLocks noChangeAspect="1"/>
          </p:cNvPicPr>
          <p:nvPr/>
        </p:nvPicPr>
        <p:blipFill>
          <a:blip r:embed="rId3"/>
          <a:stretch>
            <a:fillRect/>
          </a:stretch>
        </p:blipFill>
        <p:spPr>
          <a:xfrm>
            <a:off x="9309983" y="1234440"/>
            <a:ext cx="1633993" cy="1879092"/>
          </a:xfrm>
          <a:prstGeom prst="rect">
            <a:avLst/>
          </a:prstGeom>
        </p:spPr>
      </p:pic>
      <p:sp>
        <p:nvSpPr>
          <p:cNvPr id="28" name="TextBox 27"/>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29" name="Picture 28" descr="M1912_ctbone.png"/>
          <p:cNvPicPr>
            <a:picLocks noChangeAspect="1"/>
          </p:cNvPicPr>
          <p:nvPr/>
        </p:nvPicPr>
        <p:blipFill>
          <a:blip r:embed="rId4"/>
          <a:stretch>
            <a:fillRect/>
          </a:stretch>
        </p:blipFill>
        <p:spPr>
          <a:xfrm>
            <a:off x="9309983" y="3406140"/>
            <a:ext cx="1633993" cy="1879092"/>
          </a:xfrm>
          <a:prstGeom prst="rect">
            <a:avLst/>
          </a:prstGeom>
        </p:spPr>
      </p:pic>
      <p:sp>
        <p:nvSpPr>
          <p:cNvPr id="30" name="TextBox 29"/>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250" b="0" i="0">
                <a:solidFill>
                  <a:srgbClr val="1F2A44"/>
                </a:solidFill>
                <a:latin typeface="Calibri"/>
              </a:rPr>
              <a:t>• Bu düzeyde ön tarafta ürogenital üçgen (urethra), arkada anal üçgen (canalis analis) yer alır; ikisini tuber ischiadicum'ları birleştiren hat ayırır.</a:t>
            </a:r>
          </a:p>
          <a:p>
            <a:pPr algn="l">
              <a:spcAft>
                <a:spcPts val="300"/>
              </a:spcAft>
            </a:pPr>
            <a:r>
              <a:rPr sz="1250" b="0" i="0">
                <a:solidFill>
                  <a:srgbClr val="1F2A44"/>
                </a:solidFill>
                <a:latin typeface="Calibri"/>
              </a:rPr>
              <a:t>• Fossa ischioanalis'in lateral duvarında canalis pudendalis (Alcock) içinde n. pudendus ve a./v. pudenda interna seyreder.</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 aynı NLM numaralı donmuş BT); NCI Imaging Data Commons (doi:10.5281/zenodo.12690049); NLM Terms and Conditions (2019). Radyolojik yönelim: ön yukarıda, hastanın sağı solda.</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Erkek perine – radix penis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Yüzeyel perine kesesi düzeyi – NLM kesit no. 1934 (erkek)</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M1934_cryo.jpg"/>
          <p:cNvPicPr>
            <a:picLocks noChangeAspect="1"/>
          </p:cNvPicPr>
          <p:nvPr/>
        </p:nvPicPr>
        <p:blipFill>
          <a:blip r:embed="rId2"/>
          <a:stretch>
            <a:fillRect/>
          </a:stretch>
        </p:blipFill>
        <p:spPr>
          <a:xfrm>
            <a:off x="2316082" y="1234440"/>
            <a:ext cx="3505995" cy="4069080"/>
          </a:xfrm>
          <a:prstGeom prst="rect">
            <a:avLst/>
          </a:prstGeom>
        </p:spPr>
      </p:pic>
      <p:sp>
        <p:nvSpPr>
          <p:cNvPr id="8" name="TextBox 7"/>
          <p:cNvSpPr txBox="1"/>
          <p:nvPr/>
        </p:nvSpPr>
        <p:spPr>
          <a:xfrm>
            <a:off x="2041762" y="5321808"/>
            <a:ext cx="4054635"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068262"/>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Radix penis (corpora)</a:t>
            </a:r>
          </a:p>
        </p:txBody>
      </p:sp>
      <p:cxnSp>
        <p:nvCxnSpPr>
          <p:cNvPr id="10" name="Connector 9"/>
          <p:cNvCxnSpPr/>
          <p:nvPr/>
        </p:nvCxnSpPr>
        <p:spPr>
          <a:xfrm>
            <a:off x="2148840" y="2296862"/>
            <a:ext cx="197336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4081053" y="2255714"/>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077564"/>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Bulbus penis bölgesi</a:t>
            </a:r>
          </a:p>
        </p:txBody>
      </p:sp>
      <p:cxnSp>
        <p:nvCxnSpPr>
          <p:cNvPr id="13" name="Connector 12"/>
          <p:cNvCxnSpPr/>
          <p:nvPr/>
        </p:nvCxnSpPr>
        <p:spPr>
          <a:xfrm>
            <a:off x="2148840" y="3306164"/>
            <a:ext cx="197336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081053" y="3265016"/>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66189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Canalis analis</a:t>
            </a:r>
          </a:p>
        </p:txBody>
      </p:sp>
      <p:cxnSp>
        <p:nvCxnSpPr>
          <p:cNvPr id="16" name="Connector 15"/>
          <p:cNvCxnSpPr/>
          <p:nvPr/>
        </p:nvCxnSpPr>
        <p:spPr>
          <a:xfrm>
            <a:off x="2148840" y="3890497"/>
            <a:ext cx="197336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081053" y="384934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3035067"/>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Crus penis ve m. ischiocavernosus</a:t>
            </a:r>
          </a:p>
        </p:txBody>
      </p:sp>
      <p:cxnSp>
        <p:nvCxnSpPr>
          <p:cNvPr id="19" name="Connector 18"/>
          <p:cNvCxnSpPr/>
          <p:nvPr/>
        </p:nvCxnSpPr>
        <p:spPr>
          <a:xfrm flipH="1">
            <a:off x="4600291" y="3263667"/>
            <a:ext cx="1389029"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59143" y="322251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555655"/>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Tuber ischiadicum</a:t>
            </a:r>
          </a:p>
        </p:txBody>
      </p:sp>
      <p:cxnSp>
        <p:nvCxnSpPr>
          <p:cNvPr id="22" name="Connector 21"/>
          <p:cNvCxnSpPr/>
          <p:nvPr/>
        </p:nvCxnSpPr>
        <p:spPr>
          <a:xfrm flipH="1">
            <a:off x="5025260" y="3784255"/>
            <a:ext cx="96406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984112" y="374310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406771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Fossa ischioanalis</a:t>
            </a:r>
          </a:p>
        </p:txBody>
      </p:sp>
      <p:cxnSp>
        <p:nvCxnSpPr>
          <p:cNvPr id="25" name="Connector 24"/>
          <p:cNvCxnSpPr/>
          <p:nvPr/>
        </p:nvCxnSpPr>
        <p:spPr>
          <a:xfrm flipH="1" flipV="1">
            <a:off x="4600291" y="3890497"/>
            <a:ext cx="1389029" cy="40582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559143" y="384934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1934_ct.png"/>
          <p:cNvPicPr>
            <a:picLocks noChangeAspect="1"/>
          </p:cNvPicPr>
          <p:nvPr/>
        </p:nvPicPr>
        <p:blipFill>
          <a:blip r:embed="rId3"/>
          <a:stretch>
            <a:fillRect/>
          </a:stretch>
        </p:blipFill>
        <p:spPr>
          <a:xfrm>
            <a:off x="9317449" y="1234440"/>
            <a:ext cx="1619060" cy="1879092"/>
          </a:xfrm>
          <a:prstGeom prst="rect">
            <a:avLst/>
          </a:prstGeom>
        </p:spPr>
      </p:pic>
      <p:sp>
        <p:nvSpPr>
          <p:cNvPr id="28" name="TextBox 27"/>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29" name="Picture 28" descr="M1934_ctbone.png"/>
          <p:cNvPicPr>
            <a:picLocks noChangeAspect="1"/>
          </p:cNvPicPr>
          <p:nvPr/>
        </p:nvPicPr>
        <p:blipFill>
          <a:blip r:embed="rId4"/>
          <a:stretch>
            <a:fillRect/>
          </a:stretch>
        </p:blipFill>
        <p:spPr>
          <a:xfrm>
            <a:off x="9317449" y="3406140"/>
            <a:ext cx="1619060" cy="1879092"/>
          </a:xfrm>
          <a:prstGeom prst="rect">
            <a:avLst/>
          </a:prstGeom>
        </p:spPr>
      </p:pic>
      <p:sp>
        <p:nvSpPr>
          <p:cNvPr id="30" name="TextBox 29"/>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1" name="TextBox 30"/>
          <p:cNvSpPr txBox="1"/>
          <p:nvPr/>
        </p:nvSpPr>
        <p:spPr>
          <a:xfrm>
            <a:off x="274320" y="5623560"/>
            <a:ext cx="11704320" cy="777240"/>
          </a:xfrm>
          <a:prstGeom prst="rect">
            <a:avLst/>
          </a:prstGeom>
          <a:noFill/>
        </p:spPr>
        <p:txBody>
          <a:bodyPr wrap="square">
            <a:spAutoFit/>
          </a:bodyPr>
          <a:lstStyle/>
          <a:p>
            <a:pPr algn="l">
              <a:spcAft>
                <a:spcPts val="300"/>
              </a:spcAft>
            </a:pPr>
            <a:r>
              <a:rPr sz="1250" b="0" i="0">
                <a:solidFill>
                  <a:srgbClr val="1F2A44"/>
                </a:solidFill>
                <a:latin typeface="Calibri"/>
              </a:rPr>
              <a:t>• Radix penis: ortada bulbus penis (m. bulbospongiosus ile örtülü), yanlarda ramus ischiopubicus'a tutunan crura (m. ischiocavernosus ile örtülü).</a:t>
            </a:r>
          </a:p>
          <a:p>
            <a:pPr algn="l">
              <a:spcAft>
                <a:spcPts val="300"/>
              </a:spcAft>
            </a:pPr>
            <a:r>
              <a:rPr sz="1250" b="0" i="0">
                <a:solidFill>
                  <a:srgbClr val="1F2A44"/>
                </a:solidFill>
                <a:latin typeface="Calibri"/>
              </a:rPr>
              <a:t>• Bu yapılar yüzeyel perine kesesindedir; altında membrana perinei, üstünde Colles fasyası bulunur.</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Male (kriyokesit + aynı NLM numaralı donmuş BT); NCI Imaging Data Commons (doi:10.5281/zenodo.12690049); NLM Terms and Conditions (2019). Radyolojik yönelim: ön yukarıda, hastanın sağı solda.</a:t>
            </a:r>
          </a:p>
        </p:txBody>
      </p:sp>
      <p:sp>
        <p:nvSpPr>
          <p:cNvPr id="34" name="TextBox 3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 pelvis – mesane boynu, vajina ve rektum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Os pubis düzeyi – NLM kesit no. 1860 (kadın)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F1860_cryo.jpg"/>
          <p:cNvPicPr>
            <a:picLocks noChangeAspect="1"/>
          </p:cNvPicPr>
          <p:nvPr/>
        </p:nvPicPr>
        <p:blipFill>
          <a:blip r:embed="rId2"/>
          <a:stretch>
            <a:fillRect/>
          </a:stretch>
        </p:blipFill>
        <p:spPr>
          <a:xfrm>
            <a:off x="2240280" y="1248987"/>
            <a:ext cx="3657600" cy="4039985"/>
          </a:xfrm>
          <a:prstGeom prst="rect">
            <a:avLst/>
          </a:prstGeom>
        </p:spPr>
      </p:pic>
      <p:sp>
        <p:nvSpPr>
          <p:cNvPr id="8" name="TextBox 7"/>
          <p:cNvSpPr txBox="1"/>
          <p:nvPr/>
        </p:nvSpPr>
        <p:spPr>
          <a:xfrm>
            <a:off x="1965960" y="5307260"/>
            <a:ext cx="42062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284918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Caput femoris</a:t>
            </a:r>
          </a:p>
        </p:txBody>
      </p:sp>
      <p:cxnSp>
        <p:nvCxnSpPr>
          <p:cNvPr id="10" name="Connector 9"/>
          <p:cNvCxnSpPr/>
          <p:nvPr/>
        </p:nvCxnSpPr>
        <p:spPr>
          <a:xfrm>
            <a:off x="2148840" y="3077787"/>
            <a:ext cx="340821"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448513" y="30366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36125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obturatorius internus</a:t>
            </a:r>
          </a:p>
        </p:txBody>
      </p:sp>
      <p:cxnSp>
        <p:nvCxnSpPr>
          <p:cNvPr id="13" name="Connector 12"/>
          <p:cNvCxnSpPr/>
          <p:nvPr/>
        </p:nvCxnSpPr>
        <p:spPr>
          <a:xfrm flipV="1">
            <a:off x="2148840" y="3077787"/>
            <a:ext cx="1116676" cy="51206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224368" y="30366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3873315"/>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Fossa ischioanalis</a:t>
            </a:r>
          </a:p>
        </p:txBody>
      </p:sp>
      <p:cxnSp>
        <p:nvCxnSpPr>
          <p:cNvPr id="16" name="Connector 15"/>
          <p:cNvCxnSpPr/>
          <p:nvPr/>
        </p:nvCxnSpPr>
        <p:spPr>
          <a:xfrm flipV="1">
            <a:off x="2148840" y="3920143"/>
            <a:ext cx="1282930" cy="181772"/>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390622" y="387899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 y="4385379"/>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gluteus maximus</a:t>
            </a:r>
          </a:p>
        </p:txBody>
      </p:sp>
      <p:cxnSp>
        <p:nvCxnSpPr>
          <p:cNvPr id="19" name="Connector 18"/>
          <p:cNvCxnSpPr/>
          <p:nvPr/>
        </p:nvCxnSpPr>
        <p:spPr>
          <a:xfrm flipV="1">
            <a:off x="2148840" y="4352405"/>
            <a:ext cx="811876" cy="261574"/>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919568" y="431125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2295005"/>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Os pubis</a:t>
            </a:r>
          </a:p>
        </p:txBody>
      </p:sp>
      <p:cxnSp>
        <p:nvCxnSpPr>
          <p:cNvPr id="22" name="Connector 21"/>
          <p:cNvCxnSpPr/>
          <p:nvPr/>
        </p:nvCxnSpPr>
        <p:spPr>
          <a:xfrm flipH="1">
            <a:off x="4678680" y="2523605"/>
            <a:ext cx="131064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637532" y="2482457"/>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2807069"/>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Collum vesicae / urethra</a:t>
            </a:r>
          </a:p>
        </p:txBody>
      </p:sp>
      <p:cxnSp>
        <p:nvCxnSpPr>
          <p:cNvPr id="25" name="Connector 24"/>
          <p:cNvCxnSpPr/>
          <p:nvPr/>
        </p:nvCxnSpPr>
        <p:spPr>
          <a:xfrm flipH="1" flipV="1">
            <a:off x="4069080" y="2579023"/>
            <a:ext cx="1920240" cy="45664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027932" y="253787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3319133"/>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Vagina</a:t>
            </a:r>
          </a:p>
        </p:txBody>
      </p:sp>
      <p:cxnSp>
        <p:nvCxnSpPr>
          <p:cNvPr id="28" name="Connector 27"/>
          <p:cNvCxnSpPr/>
          <p:nvPr/>
        </p:nvCxnSpPr>
        <p:spPr>
          <a:xfrm flipH="1" flipV="1">
            <a:off x="4069080" y="3077787"/>
            <a:ext cx="1920240" cy="469946"/>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027932" y="3036639"/>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89320" y="3831197"/>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Rectum</a:t>
            </a:r>
          </a:p>
        </p:txBody>
      </p:sp>
      <p:cxnSp>
        <p:nvCxnSpPr>
          <p:cNvPr id="31" name="Connector 30"/>
          <p:cNvCxnSpPr/>
          <p:nvPr/>
        </p:nvCxnSpPr>
        <p:spPr>
          <a:xfrm flipH="1" flipV="1">
            <a:off x="4124498" y="3715096"/>
            <a:ext cx="1864822" cy="344701"/>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4083350" y="367394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F1860_ct.png"/>
          <p:cNvPicPr>
            <a:picLocks noChangeAspect="1"/>
          </p:cNvPicPr>
          <p:nvPr/>
        </p:nvPicPr>
        <p:blipFill>
          <a:blip r:embed="rId3"/>
          <a:stretch>
            <a:fillRect/>
          </a:stretch>
        </p:blipFill>
        <p:spPr>
          <a:xfrm>
            <a:off x="9276362" y="1234440"/>
            <a:ext cx="1701235" cy="1879092"/>
          </a:xfrm>
          <a:prstGeom prst="rect">
            <a:avLst/>
          </a:prstGeom>
        </p:spPr>
      </p:pic>
      <p:sp>
        <p:nvSpPr>
          <p:cNvPr id="34" name="TextBox 33"/>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35" name="Picture 34" descr="F1860_ctbone.png"/>
          <p:cNvPicPr>
            <a:picLocks noChangeAspect="1"/>
          </p:cNvPicPr>
          <p:nvPr/>
        </p:nvPicPr>
        <p:blipFill>
          <a:blip r:embed="rId4"/>
          <a:stretch>
            <a:fillRect/>
          </a:stretch>
        </p:blipFill>
        <p:spPr>
          <a:xfrm>
            <a:off x="9276362" y="3406140"/>
            <a:ext cx="1701235" cy="1879092"/>
          </a:xfrm>
          <a:prstGeom prst="rect">
            <a:avLst/>
          </a:prstGeom>
        </p:spPr>
      </p:pic>
      <p:sp>
        <p:nvSpPr>
          <p:cNvPr id="36" name="TextBox 35"/>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37" name="TextBox 36"/>
          <p:cNvSpPr txBox="1"/>
          <p:nvPr/>
        </p:nvSpPr>
        <p:spPr>
          <a:xfrm>
            <a:off x="274320" y="5623560"/>
            <a:ext cx="11704320" cy="777240"/>
          </a:xfrm>
          <a:prstGeom prst="rect">
            <a:avLst/>
          </a:prstGeom>
          <a:noFill/>
        </p:spPr>
        <p:txBody>
          <a:bodyPr wrap="square">
            <a:spAutoFit/>
          </a:bodyPr>
          <a:lstStyle/>
          <a:p>
            <a:pPr algn="l">
              <a:spcAft>
                <a:spcPts val="300"/>
              </a:spcAft>
            </a:pPr>
            <a:r>
              <a:rPr sz="1500" b="0" i="0">
                <a:solidFill>
                  <a:srgbClr val="1F2A44"/>
                </a:solidFill>
                <a:latin typeface="Calibri"/>
              </a:rPr>
              <a:t>• Kadında önden arkaya üç açıklık sırası: urethra – vagina – rectum; hepsi m. levator ani'nin hiatus'undan geçer.</a:t>
            </a:r>
          </a:p>
          <a:p>
            <a:pPr algn="l">
              <a:spcAft>
                <a:spcPts val="300"/>
              </a:spcAft>
            </a:pPr>
            <a:r>
              <a:rPr sz="1500" b="0" i="0">
                <a:solidFill>
                  <a:srgbClr val="1F2A44"/>
                </a:solidFill>
                <a:latin typeface="Calibri"/>
              </a:rPr>
              <a:t>• Vajina ile rektum arasında rektovajinal septum (kadında Denonvilliers'in karşılığı) bulunur.</a:t>
            </a:r>
          </a:p>
        </p:txBody>
      </p:sp>
      <p:cxnSp>
        <p:nvCxnSpPr>
          <p:cNvPr id="38" name="Connector 3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Female (kriyokesit + aynı NLM numaralı donmuş BT); NCI Imaging Data Commons (doi:10.5281/zenodo.12690049); NLM Terms and Conditions (2019). Radyolojik yönelim: ön yukarıda, hastanın sağı solda.</a:t>
            </a:r>
          </a:p>
        </p:txBody>
      </p:sp>
      <p:sp>
        <p:nvSpPr>
          <p:cNvPr id="40" name="TextBox 3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Kadın perine – canalis analis ve anal üçgen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Tuber ischiadicum düzeyi – NLM kesit no. 1890 (kadın)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KESİT</a:t>
            </a:r>
          </a:p>
        </p:txBody>
      </p:sp>
      <p:pic>
        <p:nvPicPr>
          <p:cNvPr id="7" name="Picture 6" descr="F1890_cryo.jpg"/>
          <p:cNvPicPr>
            <a:picLocks noChangeAspect="1"/>
          </p:cNvPicPr>
          <p:nvPr/>
        </p:nvPicPr>
        <p:blipFill>
          <a:blip r:embed="rId2"/>
          <a:stretch>
            <a:fillRect/>
          </a:stretch>
        </p:blipFill>
        <p:spPr>
          <a:xfrm>
            <a:off x="2240280" y="1343198"/>
            <a:ext cx="3657600" cy="3851563"/>
          </a:xfrm>
          <a:prstGeom prst="rect">
            <a:avLst/>
          </a:prstGeom>
        </p:spPr>
      </p:pic>
      <p:sp>
        <p:nvSpPr>
          <p:cNvPr id="8" name="TextBox 7"/>
          <p:cNvSpPr txBox="1"/>
          <p:nvPr/>
        </p:nvSpPr>
        <p:spPr>
          <a:xfrm>
            <a:off x="1965960" y="5213049"/>
            <a:ext cx="4206240" cy="274320"/>
          </a:xfrm>
          <a:prstGeom prst="rect">
            <a:avLst/>
          </a:prstGeom>
          <a:noFill/>
        </p:spPr>
        <p:txBody>
          <a:bodyPr wrap="square" anchor="t" lIns="45720" rIns="45720" tIns="18288" bIns="18288">
            <a:spAutoFit/>
          </a:bodyPr>
          <a:lstStyle/>
          <a:p>
            <a:pPr algn="ctr"/>
            <a:r>
              <a:rPr sz="1100" b="0" i="1">
                <a:solidFill>
                  <a:srgbClr val="555B66"/>
                </a:solidFill>
                <a:latin typeface="Calibri"/>
              </a:rPr>
              <a:t>Kriyokesit (renkli fotoğraf)</a:t>
            </a:r>
          </a:p>
        </p:txBody>
      </p:sp>
      <p:sp>
        <p:nvSpPr>
          <p:cNvPr id="9" name="TextBox 8"/>
          <p:cNvSpPr txBox="1"/>
          <p:nvPr/>
        </p:nvSpPr>
        <p:spPr>
          <a:xfrm>
            <a:off x="91440" y="3386743"/>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Tuber ischiadicum</a:t>
            </a:r>
          </a:p>
        </p:txBody>
      </p:sp>
      <p:cxnSp>
        <p:nvCxnSpPr>
          <p:cNvPr id="10" name="Connector 9"/>
          <p:cNvCxnSpPr/>
          <p:nvPr/>
        </p:nvCxnSpPr>
        <p:spPr>
          <a:xfrm>
            <a:off x="2148840" y="3615343"/>
            <a:ext cx="701040"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808732" y="3574195"/>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 y="3898807"/>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Fossa ischioanalis</a:t>
            </a:r>
          </a:p>
        </p:txBody>
      </p:sp>
      <p:cxnSp>
        <p:nvCxnSpPr>
          <p:cNvPr id="13" name="Connector 12"/>
          <p:cNvCxnSpPr/>
          <p:nvPr/>
        </p:nvCxnSpPr>
        <p:spPr>
          <a:xfrm flipV="1">
            <a:off x="2148840" y="3848100"/>
            <a:ext cx="1255221" cy="279307"/>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362913" y="3806952"/>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 y="4410871"/>
            <a:ext cx="2057400" cy="457200"/>
          </a:xfrm>
          <a:prstGeom prst="rect">
            <a:avLst/>
          </a:prstGeom>
          <a:noFill/>
        </p:spPr>
        <p:txBody>
          <a:bodyPr wrap="square" anchor="ctr" lIns="45720" rIns="45720" tIns="18288" bIns="18288">
            <a:spAutoFit/>
          </a:bodyPr>
          <a:lstStyle/>
          <a:p>
            <a:pPr algn="r"/>
            <a:r>
              <a:rPr sz="1300" b="1" i="0">
                <a:solidFill>
                  <a:srgbClr val="1F2A44"/>
                </a:solidFill>
                <a:latin typeface="Calibri"/>
              </a:rPr>
              <a:t>M. gluteus maximus</a:t>
            </a:r>
          </a:p>
        </p:txBody>
      </p:sp>
      <p:cxnSp>
        <p:nvCxnSpPr>
          <p:cNvPr id="16" name="Connector 15"/>
          <p:cNvCxnSpPr/>
          <p:nvPr/>
        </p:nvCxnSpPr>
        <p:spPr>
          <a:xfrm flipV="1">
            <a:off x="2148840" y="4280361"/>
            <a:ext cx="756458" cy="35911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864150" y="423921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89320" y="2389216"/>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Ürogenital üçgen (vestibulum bölgesi)</a:t>
            </a:r>
          </a:p>
        </p:txBody>
      </p:sp>
      <p:cxnSp>
        <p:nvCxnSpPr>
          <p:cNvPr id="19" name="Connector 18"/>
          <p:cNvCxnSpPr/>
          <p:nvPr/>
        </p:nvCxnSpPr>
        <p:spPr>
          <a:xfrm flipH="1">
            <a:off x="3902825" y="2617816"/>
            <a:ext cx="2086495"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861677" y="2576668"/>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442161"/>
            <a:ext cx="2148840" cy="457200"/>
          </a:xfrm>
          <a:prstGeom prst="rect">
            <a:avLst/>
          </a:prstGeom>
          <a:noFill/>
        </p:spPr>
        <p:txBody>
          <a:bodyPr wrap="square" anchor="ctr" lIns="45720" rIns="45720" tIns="18288" bIns="18288">
            <a:spAutoFit/>
          </a:bodyPr>
          <a:lstStyle/>
          <a:p>
            <a:pPr algn="l"/>
            <a:r>
              <a:rPr sz="1300" b="1" i="0">
                <a:solidFill>
                  <a:srgbClr val="1F2A44"/>
                </a:solidFill>
                <a:latin typeface="Calibri"/>
              </a:rPr>
              <a:t>Canalis analis</a:t>
            </a:r>
          </a:p>
        </p:txBody>
      </p:sp>
      <p:cxnSp>
        <p:nvCxnSpPr>
          <p:cNvPr id="22" name="Connector 21"/>
          <p:cNvCxnSpPr/>
          <p:nvPr/>
        </p:nvCxnSpPr>
        <p:spPr>
          <a:xfrm flipH="1">
            <a:off x="4124498" y="3670761"/>
            <a:ext cx="1864822" cy="0"/>
          </a:xfrm>
          <a:prstGeom prst="line">
            <a:avLst/>
          </a:prstGeom>
          <a:ln w="19050">
            <a:solidFill>
              <a:srgbClr val="FFD20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083350" y="3629613"/>
            <a:ext cx="82296" cy="82296"/>
          </a:xfrm>
          <a:prstGeom prst="ellipse">
            <a:avLst/>
          </a:prstGeom>
          <a:solidFill>
            <a:srgbClr val="FFD200"/>
          </a:solidFill>
          <a:ln w="6350">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1890_ct.png"/>
          <p:cNvPicPr>
            <a:picLocks noChangeAspect="1"/>
          </p:cNvPicPr>
          <p:nvPr/>
        </p:nvPicPr>
        <p:blipFill>
          <a:blip r:embed="rId3"/>
          <a:stretch>
            <a:fillRect/>
          </a:stretch>
        </p:blipFill>
        <p:spPr>
          <a:xfrm>
            <a:off x="9234749" y="1234440"/>
            <a:ext cx="1784461" cy="1879092"/>
          </a:xfrm>
          <a:prstGeom prst="rect">
            <a:avLst/>
          </a:prstGeom>
        </p:spPr>
      </p:pic>
      <p:sp>
        <p:nvSpPr>
          <p:cNvPr id="25" name="TextBox 24"/>
          <p:cNvSpPr txBox="1"/>
          <p:nvPr/>
        </p:nvSpPr>
        <p:spPr>
          <a:xfrm>
            <a:off x="8229600" y="31135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Donmuş BT, aynı kesit no. (yumuşak doku)</a:t>
            </a:r>
          </a:p>
        </p:txBody>
      </p:sp>
      <p:pic>
        <p:nvPicPr>
          <p:cNvPr id="26" name="Picture 25" descr="F1890_ctbone.png"/>
          <p:cNvPicPr>
            <a:picLocks noChangeAspect="1"/>
          </p:cNvPicPr>
          <p:nvPr/>
        </p:nvPicPr>
        <p:blipFill>
          <a:blip r:embed="rId4"/>
          <a:stretch>
            <a:fillRect/>
          </a:stretch>
        </p:blipFill>
        <p:spPr>
          <a:xfrm>
            <a:off x="9234749" y="3406140"/>
            <a:ext cx="1784461" cy="1879092"/>
          </a:xfrm>
          <a:prstGeom prst="rect">
            <a:avLst/>
          </a:prstGeom>
        </p:spPr>
      </p:pic>
      <p:sp>
        <p:nvSpPr>
          <p:cNvPr id="27" name="TextBox 26"/>
          <p:cNvSpPr txBox="1"/>
          <p:nvPr/>
        </p:nvSpPr>
        <p:spPr>
          <a:xfrm>
            <a:off x="8229600" y="5285232"/>
            <a:ext cx="3794760" cy="274320"/>
          </a:xfrm>
          <a:prstGeom prst="rect">
            <a:avLst/>
          </a:prstGeom>
          <a:noFill/>
        </p:spPr>
        <p:txBody>
          <a:bodyPr wrap="square" anchor="t" lIns="45720" rIns="45720" tIns="18288" bIns="18288">
            <a:spAutoFit/>
          </a:bodyPr>
          <a:lstStyle/>
          <a:p>
            <a:pPr algn="ctr"/>
            <a:r>
              <a:rPr sz="1100" b="0" i="1">
                <a:solidFill>
                  <a:srgbClr val="555B66"/>
                </a:solidFill>
                <a:latin typeface="Calibri"/>
              </a:rPr>
              <a:t>Aynı BT, kemik penceresi</a:t>
            </a:r>
          </a:p>
        </p:txBody>
      </p:sp>
      <p:sp>
        <p:nvSpPr>
          <p:cNvPr id="28" name="TextBox 27"/>
          <p:cNvSpPr txBox="1"/>
          <p:nvPr/>
        </p:nvSpPr>
        <p:spPr>
          <a:xfrm>
            <a:off x="274320" y="5623560"/>
            <a:ext cx="11704320" cy="777240"/>
          </a:xfrm>
          <a:prstGeom prst="rect">
            <a:avLst/>
          </a:prstGeom>
          <a:noFill/>
        </p:spPr>
        <p:txBody>
          <a:bodyPr wrap="square">
            <a:spAutoFit/>
          </a:bodyPr>
          <a:lstStyle/>
          <a:p>
            <a:pPr algn="l">
              <a:spcAft>
                <a:spcPts val="300"/>
              </a:spcAft>
            </a:pPr>
            <a:r>
              <a:rPr sz="1450" b="0" i="0">
                <a:solidFill>
                  <a:srgbClr val="1F2A44"/>
                </a:solidFill>
                <a:latin typeface="Calibri"/>
              </a:rPr>
              <a:t>• Canalis analis'i iç ve dış sfinkterler sarar; lateralinde geniş yağlı fossa ischioanalis vardır.</a:t>
            </a:r>
          </a:p>
          <a:p>
            <a:pPr algn="l">
              <a:spcAft>
                <a:spcPts val="300"/>
              </a:spcAft>
            </a:pPr>
            <a:r>
              <a:rPr sz="1450" b="0" i="0">
                <a:solidFill>
                  <a:srgbClr val="1F2A44"/>
                </a:solidFill>
                <a:latin typeface="Calibri"/>
              </a:rPr>
              <a:t>• Fossa ischioanalis'teki apseler bu yağ dokusu içinde kolayca yayılabilir ve arkadan karşı tarafa geçebilir (at nalı apse).</a:t>
            </a:r>
          </a:p>
        </p:txBody>
      </p:sp>
      <p:cxnSp>
        <p:nvCxnSpPr>
          <p:cNvPr id="29" name="Connector 2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 NLM Visible Human Project – Visible Human Female (kriyokesit + aynı NLM numaralı donmuş BT); NCI Imaging Data Commons (doi:10.5281/zenodo.12690049); NLM Terms and Conditions (2019). Radyolojik yönelim: ön yukarıda, hastanın sağı solda.</a:t>
            </a:r>
          </a:p>
        </p:txBody>
      </p:sp>
      <p:sp>
        <p:nvSpPr>
          <p:cNvPr id="31" name="TextBox 3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Perinede varyasyonlar neden önemli?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Literatür taramasına giriş</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ANLATIM</a:t>
            </a:r>
          </a:p>
        </p:txBody>
      </p:sp>
      <p:sp>
        <p:nvSpPr>
          <p:cNvPr id="7" name="TextBox 6"/>
          <p:cNvSpPr txBox="1"/>
          <p:nvPr/>
        </p:nvSpPr>
        <p:spPr>
          <a:xfrm>
            <a:off x="548640" y="1234440"/>
            <a:ext cx="11064240" cy="5029200"/>
          </a:xfrm>
          <a:prstGeom prst="rect">
            <a:avLst/>
          </a:prstGeom>
          <a:noFill/>
        </p:spPr>
        <p:txBody>
          <a:bodyPr wrap="square" anchor="t" lIns="45720" rIns="45720" tIns="18288" bIns="18288">
            <a:spAutoFit/>
          </a:bodyPr>
          <a:lstStyle/>
          <a:p>
            <a:pPr algn="l">
              <a:lnSpc>
                <a:spcPct val="108000"/>
              </a:lnSpc>
              <a:spcAft>
                <a:spcPts val="900"/>
              </a:spcAft>
            </a:pPr>
            <a:r>
              <a:rPr sz="2000" b="0" i="0">
                <a:solidFill>
                  <a:srgbClr val="1F2A44"/>
                </a:solidFill>
                <a:latin typeface="Calibri"/>
              </a:rPr>
              <a:t>Perinede en önemli varyasyonlar damar ve sinirlerle ilgilidir. N. pudendus'un tek bir gövde yerine iki, üç hatta dört gövde halinde seyredebilmesi, pudendal blokların başarısızlığını veya pudendal nevralji cerrahisinde beklenmedik bulguları açıklayabilir.</a:t>
            </a:r>
          </a:p>
          <a:p>
            <a:pPr algn="l">
              <a:lnSpc>
                <a:spcPct val="108000"/>
              </a:lnSpc>
              <a:spcAft>
                <a:spcPts val="900"/>
              </a:spcAft>
            </a:pPr>
            <a:r>
              <a:rPr sz="2000" b="0" i="0">
                <a:solidFill>
                  <a:srgbClr val="1F2A44"/>
                </a:solidFill>
                <a:latin typeface="Calibri"/>
              </a:rPr>
              <a:t>A. iliaca interna'nın dallanma şekli de son derece değişkendir; a. pudenda interna'nın başka arterlerle ortak gövde yapması embolizasyon ve pelvis cerrahisinde önem taşır. Pelvis tabanı ise doğumla birlikte yapısal olarak değişir; levator avülsiyonu ve perine cismi boyutları bu açıdan güncel görüntüleme çalışmalarıyla değerlendirilmektedir.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varyasyonları – literatür taraması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görüntüleme ve sistematik derleme çalışmaları (PMC açık erişim)</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234440"/>
          <a:ext cx="11640312" cy="4726425"/>
        </p:xfrm>
        <a:graphic>
          <a:graphicData uri="http://schemas.openxmlformats.org/drawingml/2006/table">
            <a:tbl>
              <a:tblPr firstRow="1" bandRow="1">
                <a:tableStyleId>{5C22544A-7EE6-4342-B048-85BDC9FD1C3A}</a:tableStyleId>
              </a:tblPr>
              <a:tblGrid>
                <a:gridCol w="2108088"/>
                <a:gridCol w="1924776"/>
                <a:gridCol w="1833120"/>
                <a:gridCol w="3024648"/>
                <a:gridCol w="2749680"/>
              </a:tblGrid>
              <a:tr h="457200">
                <a:tc>
                  <a:txBody>
                    <a:bodyPr/>
                    <a:lstStyle/>
                    <a:p>
                      <a:r>
                        <a:rPr sz="1350" b="1">
                          <a:solidFill>
                            <a:srgbClr val="FFFFFF"/>
                          </a:solidFill>
                          <a:latin typeface="Calibri"/>
                        </a:rPr>
                        <a:t>Varyasyon</a:t>
                      </a:r>
                    </a:p>
                  </a:txBody>
                  <a:tcPr>
                    <a:solidFill>
                      <a:srgbClr val="1F2A44"/>
                    </a:solidFill>
                  </a:tcPr>
                </a:tc>
                <a:tc>
                  <a:txBody>
                    <a:bodyPr/>
                    <a:lstStyle/>
                    <a:p>
                      <a:r>
                        <a:rPr sz="1350" b="1">
                          <a:solidFill>
                            <a:srgbClr val="FFFFFF"/>
                          </a:solidFill>
                          <a:latin typeface="Calibri"/>
                        </a:rPr>
                        <a:t>Çalışma</a:t>
                      </a:r>
                    </a:p>
                  </a:txBody>
                  <a:tcPr>
                    <a:solidFill>
                      <a:srgbClr val="1F2A44"/>
                    </a:solidFill>
                  </a:tcPr>
                </a:tc>
                <a:tc>
                  <a:txBody>
                    <a:bodyPr/>
                    <a:lstStyle/>
                    <a:p>
                      <a:r>
                        <a:rPr sz="1350" b="1">
                          <a:solidFill>
                            <a:srgbClr val="FFFFFF"/>
                          </a:solidFill>
                          <a:latin typeface="Calibri"/>
                        </a:rPr>
                        <a:t>Örneklem / yöntem</a:t>
                      </a:r>
                    </a:p>
                  </a:txBody>
                  <a:tcPr>
                    <a:solidFill>
                      <a:srgbClr val="1F2A44"/>
                    </a:solidFill>
                  </a:tcPr>
                </a:tc>
                <a:tc>
                  <a:txBody>
                    <a:bodyPr/>
                    <a:lstStyle/>
                    <a:p>
                      <a:r>
                        <a:rPr sz="1350" b="1">
                          <a:solidFill>
                            <a:srgbClr val="FFFFFF"/>
                          </a:solidFill>
                          <a:latin typeface="Calibri"/>
                        </a:rPr>
                        <a:t>Sıklık / ana bulgu</a:t>
                      </a:r>
                    </a:p>
                  </a:txBody>
                  <a:tcPr>
                    <a:solidFill>
                      <a:srgbClr val="1F2A44"/>
                    </a:solidFill>
                  </a:tcPr>
                </a:tc>
                <a:tc>
                  <a:txBody>
                    <a:bodyPr/>
                    <a:lstStyle/>
                    <a:p>
                      <a:r>
                        <a:rPr sz="1350" b="1">
                          <a:solidFill>
                            <a:srgbClr val="FFFFFF"/>
                          </a:solidFill>
                          <a:latin typeface="Calibri"/>
                        </a:rPr>
                        <a:t>Klinik önem</a:t>
                      </a:r>
                    </a:p>
                  </a:txBody>
                  <a:tcPr>
                    <a:solidFill>
                      <a:srgbClr val="1F2A44"/>
                    </a:solidFill>
                  </a:tcPr>
                </a:tc>
              </a:tr>
              <a:tr h="554227">
                <a:tc>
                  <a:txBody>
                    <a:bodyPr/>
                    <a:lstStyle/>
                    <a:p>
                      <a:r>
                        <a:rPr sz="1300" b="1">
                          <a:solidFill>
                            <a:srgbClr val="1F2A44"/>
                          </a:solidFill>
                          <a:latin typeface="Calibri"/>
                        </a:rPr>
                        <a:t>N. pudendus gövde tipleri</a:t>
                      </a:r>
                    </a:p>
                  </a:txBody>
                  <a:tcPr>
                    <a:solidFill>
                      <a:srgbClr val="F3F4F6"/>
                    </a:solidFill>
                  </a:tcPr>
                </a:tc>
                <a:tc>
                  <a:txBody>
                    <a:bodyPr/>
                    <a:lstStyle/>
                    <a:p>
                      <a:r>
                        <a:rPr sz="1300" b="0">
                          <a:solidFill>
                            <a:srgbClr val="1F2A44"/>
                          </a:solidFill>
                          <a:latin typeface="Calibri"/>
                        </a:rPr>
                        <a:t>Ranjan ve ark. 2022</a:t>
                      </a:r>
                    </a:p>
                  </a:txBody>
                  <a:tcPr>
                    <a:solidFill>
                      <a:srgbClr val="F3F4F6"/>
                    </a:solidFill>
                  </a:tcPr>
                </a:tc>
                <a:tc>
                  <a:txBody>
                    <a:bodyPr/>
                    <a:lstStyle/>
                    <a:p>
                      <a:r>
                        <a:rPr sz="1300" b="0">
                          <a:solidFill>
                            <a:srgbClr val="1F2A44"/>
                          </a:solidFill>
                          <a:latin typeface="Calibri"/>
                        </a:rPr>
                        <a:t>26 kadavra, 52 hemipelvis</a:t>
                      </a:r>
                    </a:p>
                  </a:txBody>
                  <a:tcPr>
                    <a:solidFill>
                      <a:srgbClr val="F3F4F6"/>
                    </a:solidFill>
                  </a:tcPr>
                </a:tc>
                <a:tc>
                  <a:txBody>
                    <a:bodyPr/>
                    <a:lstStyle/>
                    <a:p>
                      <a:r>
                        <a:rPr sz="1300" b="0">
                          <a:solidFill>
                            <a:srgbClr val="1F2A44"/>
                          </a:solidFill>
                          <a:latin typeface="Calibri"/>
                        </a:rPr>
                        <a:t>Tek gövde %51,9; Tip IIa %13,5; IIb %23,1; Tip III %11,5</a:t>
                      </a:r>
                    </a:p>
                  </a:txBody>
                  <a:tcPr>
                    <a:solidFill>
                      <a:srgbClr val="F3F4F6"/>
                    </a:solidFill>
                  </a:tcPr>
                </a:tc>
                <a:tc>
                  <a:txBody>
                    <a:bodyPr/>
                    <a:lstStyle/>
                    <a:p>
                      <a:r>
                        <a:rPr sz="1300" b="0">
                          <a:solidFill>
                            <a:srgbClr val="1F2A44"/>
                          </a:solidFill>
                          <a:latin typeface="Calibri"/>
                        </a:rPr>
                        <a:t>Pudendal blok ve dekompresyon</a:t>
                      </a:r>
                    </a:p>
                  </a:txBody>
                  <a:tcPr>
                    <a:solidFill>
                      <a:srgbClr val="F3F4F6"/>
                    </a:solidFill>
                  </a:tcPr>
                </a:tc>
              </a:tr>
              <a:tr h="749045">
                <a:tc>
                  <a:txBody>
                    <a:bodyPr/>
                    <a:lstStyle/>
                    <a:p>
                      <a:r>
                        <a:rPr sz="1300" b="1">
                          <a:solidFill>
                            <a:srgbClr val="1F2A44"/>
                          </a:solidFill>
                          <a:latin typeface="Calibri"/>
                        </a:rPr>
                        <a:t>N. pudendus kökleri ve gövdeleri (sistematik derleme)</a:t>
                      </a:r>
                    </a:p>
                  </a:txBody>
                  <a:tcPr>
                    <a:solidFill>
                      <a:srgbClr val="FFFFFF"/>
                    </a:solidFill>
                  </a:tcPr>
                </a:tc>
                <a:tc>
                  <a:txBody>
                    <a:bodyPr/>
                    <a:lstStyle/>
                    <a:p>
                      <a:r>
                        <a:rPr sz="1300" b="0">
                          <a:solidFill>
                            <a:srgbClr val="1F2A44"/>
                          </a:solidFill>
                          <a:latin typeface="Calibri"/>
                        </a:rPr>
                        <a:t>Yang ve ark. 2026</a:t>
                      </a:r>
                    </a:p>
                  </a:txBody>
                  <a:tcPr>
                    <a:solidFill>
                      <a:srgbClr val="FFFFFF"/>
                    </a:solidFill>
                  </a:tcPr>
                </a:tc>
                <a:tc>
                  <a:txBody>
                    <a:bodyPr/>
                    <a:lstStyle/>
                    <a:p>
                      <a:r>
                        <a:rPr sz="1300" b="0">
                          <a:solidFill>
                            <a:srgbClr val="1F2A44"/>
                          </a:solidFill>
                          <a:latin typeface="Calibri"/>
                        </a:rPr>
                        <a:t>509 / 645 örnek</a:t>
                      </a:r>
                    </a:p>
                  </a:txBody>
                  <a:tcPr>
                    <a:solidFill>
                      <a:srgbClr val="FFFFFF"/>
                    </a:solidFill>
                  </a:tcPr>
                </a:tc>
                <a:tc>
                  <a:txBody>
                    <a:bodyPr/>
                    <a:lstStyle/>
                    <a:p>
                      <a:r>
                        <a:rPr sz="1300" b="0">
                          <a:solidFill>
                            <a:srgbClr val="1F2A44"/>
                          </a:solidFill>
                          <a:latin typeface="Calibri"/>
                        </a:rPr>
                        <a:t>S2–S4 kökeni %54,62; tek gövde %47,60, çoklu %52,40</a:t>
                      </a:r>
                    </a:p>
                  </a:txBody>
                  <a:tcPr>
                    <a:solidFill>
                      <a:srgbClr val="FFFFFF"/>
                    </a:solidFill>
                  </a:tcPr>
                </a:tc>
                <a:tc>
                  <a:txBody>
                    <a:bodyPr/>
                    <a:lstStyle/>
                    <a:p>
                      <a:r>
                        <a:rPr sz="1300" b="0">
                          <a:solidFill>
                            <a:srgbClr val="1F2A44"/>
                          </a:solidFill>
                          <a:latin typeface="Calibri"/>
                        </a:rPr>
                        <a:t>Nöromodülasyon, cerrahi</a:t>
                      </a:r>
                    </a:p>
                  </a:txBody>
                  <a:tcPr>
                    <a:solidFill>
                      <a:srgbClr val="FFFFFF"/>
                    </a:solidFill>
                  </a:tcPr>
                </a:tc>
              </a:tr>
              <a:tr h="554227">
                <a:tc>
                  <a:txBody>
                    <a:bodyPr/>
                    <a:lstStyle/>
                    <a:p>
                      <a:r>
                        <a:rPr sz="1300" b="1">
                          <a:solidFill>
                            <a:srgbClr val="1F2A44"/>
                          </a:solidFill>
                          <a:latin typeface="Calibri"/>
                        </a:rPr>
                        <a:t>N. pudendus oluşumu (S3–S4) ve gövdeler</a:t>
                      </a:r>
                    </a:p>
                  </a:txBody>
                  <a:tcPr>
                    <a:solidFill>
                      <a:srgbClr val="F3F4F6"/>
                    </a:solidFill>
                  </a:tcPr>
                </a:tc>
                <a:tc>
                  <a:txBody>
                    <a:bodyPr/>
                    <a:lstStyle/>
                    <a:p>
                      <a:r>
                        <a:rPr sz="1300" b="0">
                          <a:solidFill>
                            <a:srgbClr val="1F2A44"/>
                          </a:solidFill>
                          <a:latin typeface="Calibri"/>
                        </a:rPr>
                        <a:t>Suganya ve ark. 2025 (CC BY-NC)</a:t>
                      </a:r>
                    </a:p>
                  </a:txBody>
                  <a:tcPr>
                    <a:solidFill>
                      <a:srgbClr val="F3F4F6"/>
                    </a:solidFill>
                  </a:tcPr>
                </a:tc>
                <a:tc>
                  <a:txBody>
                    <a:bodyPr/>
                    <a:lstStyle/>
                    <a:p>
                      <a:r>
                        <a:rPr sz="1300" b="0">
                          <a:solidFill>
                            <a:srgbClr val="1F2A44"/>
                          </a:solidFill>
                          <a:latin typeface="Calibri"/>
                        </a:rPr>
                        <a:t>10 kadavra</a:t>
                      </a:r>
                    </a:p>
                  </a:txBody>
                  <a:tcPr>
                    <a:solidFill>
                      <a:srgbClr val="F3F4F6"/>
                    </a:solidFill>
                  </a:tcPr>
                </a:tc>
                <a:tc>
                  <a:txBody>
                    <a:bodyPr/>
                    <a:lstStyle/>
                    <a:p>
                      <a:r>
                        <a:rPr sz="1300" b="0">
                          <a:solidFill>
                            <a:srgbClr val="1F2A44"/>
                          </a:solidFill>
                          <a:latin typeface="Calibri"/>
                        </a:rPr>
                        <a:t>Kesit alanı m. piriformis'te 4,04 mm² → Alcock'ta 0,35 mm²</a:t>
                      </a:r>
                    </a:p>
                  </a:txBody>
                  <a:tcPr>
                    <a:solidFill>
                      <a:srgbClr val="F3F4F6"/>
                    </a:solidFill>
                  </a:tcPr>
                </a:tc>
                <a:tc>
                  <a:txBody>
                    <a:bodyPr/>
                    <a:lstStyle/>
                    <a:p>
                      <a:r>
                        <a:rPr sz="1300" b="0">
                          <a:solidFill>
                            <a:srgbClr val="1F2A44"/>
                          </a:solidFill>
                          <a:latin typeface="Calibri"/>
                        </a:rPr>
                        <a:t>Sıkışma noktaları</a:t>
                      </a:r>
                    </a:p>
                  </a:txBody>
                  <a:tcPr>
                    <a:solidFill>
                      <a:srgbClr val="F3F4F6"/>
                    </a:solidFill>
                  </a:tcPr>
                </a:tc>
              </a:tr>
              <a:tr h="749045">
                <a:tc>
                  <a:txBody>
                    <a:bodyPr/>
                    <a:lstStyle/>
                    <a:p>
                      <a:r>
                        <a:rPr sz="1300" b="1">
                          <a:solidFill>
                            <a:srgbClr val="1F2A44"/>
                          </a:solidFill>
                          <a:latin typeface="Calibri"/>
                        </a:rPr>
                        <a:t>A. pudenda interna – a. rectalis media ortak gövdesi</a:t>
                      </a:r>
                    </a:p>
                  </a:txBody>
                  <a:tcPr>
                    <a:solidFill>
                      <a:srgbClr val="FFFFFF"/>
                    </a:solidFill>
                  </a:tcPr>
                </a:tc>
                <a:tc>
                  <a:txBody>
                    <a:bodyPr/>
                    <a:lstStyle/>
                    <a:p>
                      <a:r>
                        <a:rPr sz="1300" b="0">
                          <a:solidFill>
                            <a:srgbClr val="1F2A44"/>
                          </a:solidFill>
                          <a:latin typeface="Calibri"/>
                        </a:rPr>
                        <a:t>Badagabettu ve ark. 2025</a:t>
                      </a:r>
                    </a:p>
                  </a:txBody>
                  <a:tcPr>
                    <a:solidFill>
                      <a:srgbClr val="FFFFFF"/>
                    </a:solidFill>
                  </a:tcPr>
                </a:tc>
                <a:tc>
                  <a:txBody>
                    <a:bodyPr/>
                    <a:lstStyle/>
                    <a:p>
                      <a:r>
                        <a:rPr sz="1300" b="0">
                          <a:solidFill>
                            <a:srgbClr val="1F2A44"/>
                          </a:solidFill>
                          <a:latin typeface="Calibri"/>
                        </a:rPr>
                        <a:t>80 erkek hemipelvis</a:t>
                      </a:r>
                    </a:p>
                  </a:txBody>
                  <a:tcPr>
                    <a:solidFill>
                      <a:srgbClr val="FFFFFF"/>
                    </a:solidFill>
                  </a:tcPr>
                </a:tc>
                <a:tc>
                  <a:txBody>
                    <a:bodyPr/>
                    <a:lstStyle/>
                    <a:p>
                      <a:r>
                        <a:rPr sz="1300" b="0">
                          <a:solidFill>
                            <a:srgbClr val="1F2A44"/>
                          </a:solidFill>
                          <a:latin typeface="Calibri"/>
                        </a:rPr>
                        <a:t>Dal varyasyonu %61; ortak gövde %24; a. glutea inferior varyasyonu %18</a:t>
                      </a:r>
                    </a:p>
                  </a:txBody>
                  <a:tcPr>
                    <a:solidFill>
                      <a:srgbClr val="FFFFFF"/>
                    </a:solidFill>
                  </a:tcPr>
                </a:tc>
                <a:tc>
                  <a:txBody>
                    <a:bodyPr/>
                    <a:lstStyle/>
                    <a:p>
                      <a:r>
                        <a:rPr sz="1300" b="0">
                          <a:solidFill>
                            <a:srgbClr val="1F2A44"/>
                          </a:solidFill>
                          <a:latin typeface="Calibri"/>
                        </a:rPr>
                        <a:t>Embolizasyon, pelvis cerrahisi</a:t>
                      </a:r>
                    </a:p>
                  </a:txBody>
                  <a:tcPr>
                    <a:solidFill>
                      <a:srgbClr val="FFFFFF"/>
                    </a:solidFill>
                  </a:tcPr>
                </a:tc>
              </a:tr>
              <a:tr h="554227">
                <a:tc>
                  <a:txBody>
                    <a:bodyPr/>
                    <a:lstStyle/>
                    <a:p>
                      <a:r>
                        <a:rPr sz="1300" b="1">
                          <a:solidFill>
                            <a:srgbClr val="1F2A44"/>
                          </a:solidFill>
                          <a:latin typeface="Calibri"/>
                        </a:rPr>
                        <a:t>Levator ani (puborektal) avülsiyonu</a:t>
                      </a:r>
                    </a:p>
                  </a:txBody>
                  <a:tcPr>
                    <a:solidFill>
                      <a:srgbClr val="F3F4F6"/>
                    </a:solidFill>
                  </a:tcPr>
                </a:tc>
                <a:tc>
                  <a:txBody>
                    <a:bodyPr/>
                    <a:lstStyle/>
                    <a:p>
                      <a:r>
                        <a:rPr sz="1300" b="0">
                          <a:solidFill>
                            <a:srgbClr val="1F2A44"/>
                          </a:solidFill>
                          <a:latin typeface="Calibri"/>
                        </a:rPr>
                        <a:t>Yan ve ark. 2017</a:t>
                      </a:r>
                    </a:p>
                  </a:txBody>
                  <a:tcPr>
                    <a:solidFill>
                      <a:srgbClr val="F3F4F6"/>
                    </a:solidFill>
                  </a:tcPr>
                </a:tc>
                <a:tc>
                  <a:txBody>
                    <a:bodyPr/>
                    <a:lstStyle/>
                    <a:p>
                      <a:r>
                        <a:rPr sz="1300" b="0">
                          <a:solidFill>
                            <a:srgbClr val="1F2A44"/>
                          </a:solidFill>
                          <a:latin typeface="Calibri"/>
                        </a:rPr>
                        <a:t>80 doğum sonrası kadın</a:t>
                      </a:r>
                    </a:p>
                  </a:txBody>
                  <a:tcPr>
                    <a:solidFill>
                      <a:srgbClr val="F3F4F6"/>
                    </a:solidFill>
                  </a:tcPr>
                </a:tc>
                <a:tc>
                  <a:txBody>
                    <a:bodyPr/>
                    <a:lstStyle/>
                    <a:p>
                      <a:r>
                        <a:rPr sz="1300" b="0">
                          <a:solidFill>
                            <a:srgbClr val="1F2A44"/>
                          </a:solidFill>
                          <a:latin typeface="Calibri"/>
                        </a:rPr>
                        <a:t>Puborektal avülsiyon %13,75</a:t>
                      </a:r>
                    </a:p>
                  </a:txBody>
                  <a:tcPr>
                    <a:solidFill>
                      <a:srgbClr val="F3F4F6"/>
                    </a:solidFill>
                  </a:tcPr>
                </a:tc>
                <a:tc>
                  <a:txBody>
                    <a:bodyPr/>
                    <a:lstStyle/>
                    <a:p>
                      <a:r>
                        <a:rPr sz="1300" b="0">
                          <a:solidFill>
                            <a:srgbClr val="1F2A44"/>
                          </a:solidFill>
                          <a:latin typeface="Calibri"/>
                        </a:rPr>
                        <a:t>Prolapsus, inkontinans</a:t>
                      </a:r>
                    </a:p>
                  </a:txBody>
                  <a:tcPr>
                    <a:solidFill>
                      <a:srgbClr val="F3F4F6"/>
                    </a:solidFill>
                  </a:tcPr>
                </a:tc>
              </a:tr>
              <a:tr h="554227">
                <a:tc>
                  <a:txBody>
                    <a:bodyPr/>
                    <a:lstStyle/>
                    <a:p>
                      <a:r>
                        <a:rPr sz="1300" b="1">
                          <a:solidFill>
                            <a:srgbClr val="1F2A44"/>
                          </a:solidFill>
                          <a:latin typeface="Calibri"/>
                        </a:rPr>
                        <a:t>Perine cismi boyutları</a:t>
                      </a:r>
                    </a:p>
                  </a:txBody>
                  <a:tcPr>
                    <a:solidFill>
                      <a:srgbClr val="FFFFFF"/>
                    </a:solidFill>
                  </a:tcPr>
                </a:tc>
                <a:tc>
                  <a:txBody>
                    <a:bodyPr/>
                    <a:lstStyle/>
                    <a:p>
                      <a:r>
                        <a:rPr sz="1300" b="0">
                          <a:solidFill>
                            <a:srgbClr val="1F2A44"/>
                          </a:solidFill>
                          <a:latin typeface="Calibri"/>
                        </a:rPr>
                        <a:t>Rotstein ve ark. 2026</a:t>
                      </a:r>
                    </a:p>
                  </a:txBody>
                  <a:tcPr>
                    <a:solidFill>
                      <a:srgbClr val="FFFFFF"/>
                    </a:solidFill>
                  </a:tcPr>
                </a:tc>
                <a:tc>
                  <a:txBody>
                    <a:bodyPr/>
                    <a:lstStyle/>
                    <a:p>
                      <a:r>
                        <a:rPr sz="1300" b="0">
                          <a:solidFill>
                            <a:srgbClr val="1F2A44"/>
                          </a:solidFill>
                          <a:latin typeface="Calibri"/>
                        </a:rPr>
                        <a:t>148 nulligravid kadın (MR)</a:t>
                      </a:r>
                    </a:p>
                  </a:txBody>
                  <a:tcPr>
                    <a:solidFill>
                      <a:srgbClr val="FFFFFF"/>
                    </a:solidFill>
                  </a:tcPr>
                </a:tc>
                <a:tc>
                  <a:txBody>
                    <a:bodyPr/>
                    <a:lstStyle/>
                    <a:p>
                      <a:r>
                        <a:rPr sz="1300" b="0">
                          <a:solidFill>
                            <a:srgbClr val="1F2A44"/>
                          </a:solidFill>
                          <a:latin typeface="Calibri"/>
                        </a:rPr>
                        <a:t>Uzunluk 17,5 ± 3,0 mm; alan 120 ± 28 mm²</a:t>
                      </a:r>
                    </a:p>
                  </a:txBody>
                  <a:tcPr>
                    <a:solidFill>
                      <a:srgbClr val="FFFFFF"/>
                    </a:solidFill>
                  </a:tcPr>
                </a:tc>
                <a:tc>
                  <a:txBody>
                    <a:bodyPr/>
                    <a:lstStyle/>
                    <a:p>
                      <a:r>
                        <a:rPr sz="1300" b="0">
                          <a:solidFill>
                            <a:srgbClr val="1F2A44"/>
                          </a:solidFill>
                          <a:latin typeface="Calibri"/>
                        </a:rPr>
                        <a:t>Doğum hasarı değerlendirmesi</a:t>
                      </a:r>
                    </a:p>
                  </a:txBody>
                  <a:tcPr>
                    <a:solidFill>
                      <a:srgbClr val="FFFFFF"/>
                    </a:solidFill>
                  </a:tcPr>
                </a:tc>
              </a:tr>
              <a:tr h="554227">
                <a:tc>
                  <a:txBody>
                    <a:bodyPr/>
                    <a:lstStyle/>
                    <a:p>
                      <a:r>
                        <a:rPr sz="1300" b="1">
                          <a:solidFill>
                            <a:srgbClr val="1F2A44"/>
                          </a:solidFill>
                          <a:latin typeface="Calibri"/>
                        </a:rPr>
                        <a:t>Perineal herni (translevator)</a:t>
                      </a:r>
                    </a:p>
                  </a:txBody>
                  <a:tcPr>
                    <a:solidFill>
                      <a:srgbClr val="F3F4F6"/>
                    </a:solidFill>
                  </a:tcPr>
                </a:tc>
                <a:tc>
                  <a:txBody>
                    <a:bodyPr/>
                    <a:lstStyle/>
                    <a:p>
                      <a:r>
                        <a:rPr sz="1300" b="0">
                          <a:solidFill>
                            <a:srgbClr val="1F2A44"/>
                          </a:solidFill>
                          <a:latin typeface="Calibri"/>
                        </a:rPr>
                        <a:t>Coalter ve ark. 2022</a:t>
                      </a:r>
                    </a:p>
                  </a:txBody>
                  <a:tcPr>
                    <a:solidFill>
                      <a:srgbClr val="F3F4F6"/>
                    </a:solidFill>
                  </a:tcPr>
                </a:tc>
                <a:tc>
                  <a:txBody>
                    <a:bodyPr/>
                    <a:lstStyle/>
                    <a:p>
                      <a:r>
                        <a:rPr sz="1300" b="0">
                          <a:solidFill>
                            <a:srgbClr val="1F2A44"/>
                          </a:solidFill>
                          <a:latin typeface="Calibri"/>
                        </a:rPr>
                        <a:t>Olgu</a:t>
                      </a:r>
                    </a:p>
                  </a:txBody>
                  <a:tcPr>
                    <a:solidFill>
                      <a:srgbClr val="F3F4F6"/>
                    </a:solidFill>
                  </a:tcPr>
                </a:tc>
                <a:tc>
                  <a:txBody>
                    <a:bodyPr/>
                    <a:lstStyle/>
                    <a:p>
                      <a:r>
                        <a:rPr sz="1300" b="0">
                          <a:solidFill>
                            <a:srgbClr val="1F2A44"/>
                          </a:solidFill>
                          <a:latin typeface="Calibri"/>
                        </a:rPr>
                        <a:t>Literatürde ~100 posterior perineal herni olgusu</a:t>
                      </a:r>
                    </a:p>
                  </a:txBody>
                  <a:tcPr>
                    <a:solidFill>
                      <a:srgbClr val="F3F4F6"/>
                    </a:solidFill>
                  </a:tcPr>
                </a:tc>
                <a:tc>
                  <a:txBody>
                    <a:bodyPr/>
                    <a:lstStyle/>
                    <a:p>
                      <a:r>
                        <a:rPr sz="1300" b="0">
                          <a:solidFill>
                            <a:srgbClr val="1F2A44"/>
                          </a:solidFill>
                          <a:latin typeface="Calibri"/>
                        </a:rPr>
                        <a:t>Nadir pelvis tabanı defekti</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pudendus'un gövde tipleri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Ranjan ve ark., Cureus 2022 – 26 kadavra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cureus-0014-00000028281-i01.jpg"/>
          <p:cNvPicPr>
            <a:picLocks noChangeAspect="1"/>
          </p:cNvPicPr>
          <p:nvPr/>
        </p:nvPicPr>
        <p:blipFill>
          <a:blip r:embed="rId2"/>
          <a:stretch>
            <a:fillRect/>
          </a:stretch>
        </p:blipFill>
        <p:spPr>
          <a:xfrm>
            <a:off x="274319" y="1234440"/>
            <a:ext cx="2857676" cy="1847963"/>
          </a:xfrm>
          <a:prstGeom prst="rect">
            <a:avLst/>
          </a:prstGeom>
        </p:spPr>
      </p:pic>
      <p:sp>
        <p:nvSpPr>
          <p:cNvPr id="8" name="TextBox 7"/>
          <p:cNvSpPr txBox="1"/>
          <p:nvPr/>
        </p:nvSpPr>
        <p:spPr>
          <a:xfrm>
            <a:off x="91439" y="3082403"/>
            <a:ext cx="322343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Ranjan Rajiv ve ark., 2022 (PMC9492552, CC BY)</a:t>
            </a:r>
          </a:p>
        </p:txBody>
      </p:sp>
      <p:pic>
        <p:nvPicPr>
          <p:cNvPr id="9" name="Picture 8" descr="cureus-0014-00000028281-i03.jpg"/>
          <p:cNvPicPr>
            <a:picLocks noChangeAspect="1"/>
          </p:cNvPicPr>
          <p:nvPr/>
        </p:nvPicPr>
        <p:blipFill>
          <a:blip r:embed="rId3"/>
          <a:stretch>
            <a:fillRect/>
          </a:stretch>
        </p:blipFill>
        <p:spPr>
          <a:xfrm>
            <a:off x="3269156" y="1234440"/>
            <a:ext cx="3268803" cy="1847963"/>
          </a:xfrm>
          <a:prstGeom prst="rect">
            <a:avLst/>
          </a:prstGeom>
        </p:spPr>
      </p:pic>
      <p:sp>
        <p:nvSpPr>
          <p:cNvPr id="10" name="TextBox 9"/>
          <p:cNvSpPr txBox="1"/>
          <p:nvPr/>
        </p:nvSpPr>
        <p:spPr>
          <a:xfrm>
            <a:off x="3086276" y="3082403"/>
            <a:ext cx="363456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Ranjan Rajiv ve ark., 2022 (PMC9492552,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PN(I)</a:t>
            </a:r>
            <a:r>
              <a:rPr sz="1600" b="0" i="0">
                <a:solidFill>
                  <a:srgbClr val="1F2A44"/>
                </a:solidFill>
                <a:latin typeface="Calibri"/>
              </a:rPr>
              <a:t> tek gövdeli n. pudendus; </a:t>
            </a:r>
            <a:r>
              <a:rPr sz="1600" b="0" i="0">
                <a:solidFill>
                  <a:srgbClr val="1F2A44"/>
                </a:solidFill>
                <a:latin typeface="Calibri"/>
              </a:rPr>
              <a:t>PN(IIa)</a:t>
            </a:r>
            <a:r>
              <a:rPr sz="1600" b="0" i="0">
                <a:solidFill>
                  <a:srgbClr val="1F2A44"/>
                </a:solidFill>
                <a:latin typeface="Calibri"/>
              </a:rPr>
              <a:t> iki gövdeli; </a:t>
            </a:r>
            <a:r>
              <a:rPr sz="1600" b="0" i="0">
                <a:solidFill>
                  <a:srgbClr val="1F2A44"/>
                </a:solidFill>
                <a:latin typeface="Calibri"/>
              </a:rPr>
              <a:t>IPV</a:t>
            </a:r>
            <a:r>
              <a:rPr sz="1600" b="0" i="0">
                <a:solidFill>
                  <a:srgbClr val="1F2A44"/>
                </a:solidFill>
                <a:latin typeface="Calibri"/>
              </a:rPr>
              <a:t> a./v. pudenda interna; </a:t>
            </a:r>
            <a:r>
              <a:rPr sz="1600" b="0" i="0">
                <a:solidFill>
                  <a:srgbClr val="1F2A44"/>
                </a:solidFill>
                <a:latin typeface="Calibri"/>
              </a:rPr>
              <a:t>SN</a:t>
            </a:r>
            <a:r>
              <a:rPr sz="1600" b="0" i="0">
                <a:solidFill>
                  <a:srgbClr val="1F2A44"/>
                </a:solidFill>
                <a:latin typeface="Calibri"/>
              </a:rPr>
              <a:t> n. ischiadicus; </a:t>
            </a:r>
            <a:r>
              <a:rPr sz="1600" b="0" i="0">
                <a:solidFill>
                  <a:srgbClr val="1F2A44"/>
                </a:solidFill>
                <a:latin typeface="Calibri"/>
              </a:rPr>
              <a:t>SSL</a:t>
            </a:r>
            <a:r>
              <a:rPr sz="1600" b="0" i="0">
                <a:solidFill>
                  <a:srgbClr val="1F2A44"/>
                </a:solidFill>
                <a:latin typeface="Calibri"/>
              </a:rPr>
              <a:t> lig. sacrospinale</a:t>
            </a:r>
          </a:p>
        </p:txBody>
      </p:sp>
      <p:sp>
        <p:nvSpPr>
          <p:cNvPr id="13" name="TextBox 12"/>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283667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Tip I (tek gövde) %51,9; Tip IIa %13,5; Tip IIb %23,1; Tip III (üç gövde) %11,5.</a:t>
            </a:r>
          </a:p>
          <a:p>
            <a:pPr algn="l">
              <a:spcAft>
                <a:spcPts val="300"/>
              </a:spcAft>
            </a:pPr>
            <a:r>
              <a:rPr sz="1600" b="0" i="0">
                <a:solidFill>
                  <a:srgbClr val="1F2A44"/>
                </a:solidFill>
                <a:latin typeface="Calibri"/>
              </a:rPr>
              <a:t>• Şekil altyazısı ile özet arasında delen dalın adı tutarsızdır (n. rectalis inferior / n. gluteus inferior) – dikkatle alıntılanmalıdır.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Ranjan Rajiv, Chanda Camellia, Kushwaha Rajesh et al. Anatomical Study of the Variants of the Extrapelvic Part of the Pudendal Nerve. Cureus. 2022 Aug 22;14(8):e28281. doi: 10.7759/cureus.28281 PMCID: PMC9492552.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pudendus kökleri ve gövdeleri – sistematik derleme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Yang ve ark., Eur Urol Open Sci 2026</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gr3.jpg"/>
          <p:cNvPicPr>
            <a:picLocks noChangeAspect="1"/>
          </p:cNvPicPr>
          <p:nvPr/>
        </p:nvPicPr>
        <p:blipFill>
          <a:blip r:embed="rId2"/>
          <a:stretch>
            <a:fillRect/>
          </a:stretch>
        </p:blipFill>
        <p:spPr>
          <a:xfrm>
            <a:off x="274320" y="1234440"/>
            <a:ext cx="2910153" cy="2591797"/>
          </a:xfrm>
          <a:prstGeom prst="rect">
            <a:avLst/>
          </a:prstGeom>
        </p:spPr>
      </p:pic>
      <p:sp>
        <p:nvSpPr>
          <p:cNvPr id="8" name="TextBox 7"/>
          <p:cNvSpPr txBox="1"/>
          <p:nvPr/>
        </p:nvSpPr>
        <p:spPr>
          <a:xfrm>
            <a:off x="91440" y="3826237"/>
            <a:ext cx="3275913"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3 – Yang Junjie ve ark., 2026 (PMC12908042, CC BY)</a:t>
            </a:r>
          </a:p>
        </p:txBody>
      </p:sp>
      <p:pic>
        <p:nvPicPr>
          <p:cNvPr id="9" name="Picture 8" descr="gr4.jpg"/>
          <p:cNvPicPr>
            <a:picLocks noChangeAspect="1"/>
          </p:cNvPicPr>
          <p:nvPr/>
        </p:nvPicPr>
        <p:blipFill>
          <a:blip r:embed="rId3"/>
          <a:stretch>
            <a:fillRect/>
          </a:stretch>
        </p:blipFill>
        <p:spPr>
          <a:xfrm>
            <a:off x="3321633" y="1234440"/>
            <a:ext cx="3216326" cy="2591797"/>
          </a:xfrm>
          <a:prstGeom prst="rect">
            <a:avLst/>
          </a:prstGeom>
        </p:spPr>
      </p:pic>
      <p:sp>
        <p:nvSpPr>
          <p:cNvPr id="10" name="TextBox 9"/>
          <p:cNvSpPr txBox="1"/>
          <p:nvPr/>
        </p:nvSpPr>
        <p:spPr>
          <a:xfrm>
            <a:off x="3138753" y="3826237"/>
            <a:ext cx="3582086"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4 – Yang Junjie ve ark., 2026 (PMC12908042,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391920"/>
          </a:xfrm>
          <a:prstGeom prst="rect">
            <a:avLst/>
          </a:prstGeom>
          <a:noFill/>
        </p:spPr>
        <p:txBody>
          <a:bodyPr wrap="square">
            <a:spAutoFit/>
          </a:bodyPr>
          <a:lstStyle/>
          <a:p>
            <a:pPr algn="l">
              <a:spcAft>
                <a:spcPts val="300"/>
              </a:spcAft>
            </a:pPr>
            <a:r>
              <a:rPr sz="1600" b="0" i="0">
                <a:solidFill>
                  <a:srgbClr val="1F2A44"/>
                </a:solidFill>
                <a:latin typeface="Calibri"/>
              </a:rPr>
              <a:t>• Sol: kök kombinasyonları ve yüzdeleri (S2–S4 %54,62; S2–S3 %33,60; S3–S4 %8,84 …)</a:t>
            </a:r>
          </a:p>
          <a:p>
            <a:pPr algn="l">
              <a:spcAft>
                <a:spcPts val="300"/>
              </a:spcAft>
            </a:pPr>
            <a:r>
              <a:rPr sz="1600" b="0" i="0">
                <a:solidFill>
                  <a:srgbClr val="1F2A44"/>
                </a:solidFill>
                <a:latin typeface="Calibri"/>
              </a:rPr>
              <a:t>• Sağ: spina ischiadica yakınında tek/çift/üçlü/dörtlü gövde şemaları; Sacrotuberous / Sacrospinous ligament</a:t>
            </a:r>
          </a:p>
        </p:txBody>
      </p:sp>
      <p:sp>
        <p:nvSpPr>
          <p:cNvPr id="13" name="TextBox 12"/>
          <p:cNvSpPr txBox="1"/>
          <p:nvPr/>
        </p:nvSpPr>
        <p:spPr>
          <a:xfrm>
            <a:off x="6720840" y="3019552"/>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367024"/>
            <a:ext cx="5257800" cy="912367"/>
          </a:xfrm>
          <a:prstGeom prst="rect">
            <a:avLst/>
          </a:prstGeom>
          <a:noFill/>
        </p:spPr>
        <p:txBody>
          <a:bodyPr wrap="square">
            <a:spAutoFit/>
          </a:bodyPr>
          <a:lstStyle/>
          <a:p>
            <a:pPr algn="l">
              <a:spcAft>
                <a:spcPts val="300"/>
              </a:spcAft>
            </a:pPr>
            <a:r>
              <a:rPr sz="1600" b="0" i="0">
                <a:solidFill>
                  <a:srgbClr val="1F2A44"/>
                </a:solidFill>
                <a:latin typeface="Calibri"/>
              </a:rPr>
              <a:t>• 509 örnekte S2–S4 kökeni %54,62.</a:t>
            </a:r>
          </a:p>
          <a:p>
            <a:pPr algn="l">
              <a:spcAft>
                <a:spcPts val="300"/>
              </a:spcAft>
            </a:pPr>
            <a:r>
              <a:rPr sz="1600" b="0" i="0">
                <a:solidFill>
                  <a:srgbClr val="1F2A44"/>
                </a:solidFill>
                <a:latin typeface="Calibri"/>
              </a:rPr>
              <a:t>• 645 örnekte tek gövde %47,60, çoklu gövde %52,40; çoklu gövdelerin %38,93'ü çift, %12,76'sı üçlü.</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Yang Junjie, Webb Katie E., Carrington Emma V. et al. Anatomical Variation of the Pudendal Nerve and Related Structures. Eur Urol Open Sci. 2026 Feb 9;85:71–81. doi: 10.1016/j.euros.2026.01.015 PMCID: PMC12908042.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pudendus'un S3–S4'ten oluşumu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Suganya ve ark., Anat Cell Biol 2025 – 10 kadavra</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acb-58-3-388-f2.jpg"/>
          <p:cNvPicPr>
            <a:picLocks noChangeAspect="1"/>
          </p:cNvPicPr>
          <p:nvPr/>
        </p:nvPicPr>
        <p:blipFill>
          <a:blip r:embed="rId2"/>
          <a:stretch>
            <a:fillRect/>
          </a:stretch>
        </p:blipFill>
        <p:spPr>
          <a:xfrm>
            <a:off x="274320" y="1709882"/>
            <a:ext cx="6263640" cy="3849715"/>
          </a:xfrm>
          <a:prstGeom prst="rect">
            <a:avLst/>
          </a:prstGeom>
        </p:spPr>
      </p:pic>
      <p:sp>
        <p:nvSpPr>
          <p:cNvPr id="8" name="TextBox 7"/>
          <p:cNvSpPr txBox="1"/>
          <p:nvPr/>
        </p:nvSpPr>
        <p:spPr>
          <a:xfrm>
            <a:off x="91439" y="5559597"/>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 2 – Suganya Grace ve ark., 2025 (PMC12519013, CC BY-NC)</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861568"/>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PN</a:t>
            </a:r>
            <a:r>
              <a:rPr sz="1600" b="0" i="0">
                <a:solidFill>
                  <a:srgbClr val="1F2A44"/>
                </a:solidFill>
                <a:latin typeface="Calibri"/>
              </a:rPr>
              <a:t> n. pudendus (yeşil); </a:t>
            </a:r>
            <a:r>
              <a:rPr sz="1600" b="0" i="0">
                <a:solidFill>
                  <a:srgbClr val="1F2A44"/>
                </a:solidFill>
                <a:latin typeface="Calibri"/>
              </a:rPr>
              <a:t>LST</a:t>
            </a:r>
            <a:r>
              <a:rPr sz="1600" b="0" i="0">
                <a:solidFill>
                  <a:srgbClr val="1F2A44"/>
                </a:solidFill>
                <a:latin typeface="Calibri"/>
              </a:rPr>
              <a:t> truncus lumbosacralis; S1–S4 kökler; 1–4 gövdeler; (A) S3–S4 oluşumu, (B–D) 2, 3 ve 4 gövdeli varyantlar</a:t>
            </a:r>
          </a:p>
        </p:txBody>
      </p:sp>
      <p:sp>
        <p:nvSpPr>
          <p:cNvPr id="11" name="TextBox 10"/>
          <p:cNvSpPr txBox="1"/>
          <p:nvPr/>
        </p:nvSpPr>
        <p:spPr>
          <a:xfrm>
            <a:off x="6720840" y="248920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2836672"/>
            <a:ext cx="5257800" cy="912367"/>
          </a:xfrm>
          <a:prstGeom prst="rect">
            <a:avLst/>
          </a:prstGeom>
          <a:noFill/>
        </p:spPr>
        <p:txBody>
          <a:bodyPr wrap="square">
            <a:spAutoFit/>
          </a:bodyPr>
          <a:lstStyle/>
          <a:p>
            <a:pPr algn="l">
              <a:spcAft>
                <a:spcPts val="300"/>
              </a:spcAft>
            </a:pPr>
            <a:r>
              <a:rPr sz="1600" b="0" i="0">
                <a:solidFill>
                  <a:srgbClr val="1F2A44"/>
                </a:solidFill>
                <a:latin typeface="Calibri"/>
              </a:rPr>
              <a:t>• Kesit alanı m. piriformis düzeyinde 4,04 mm², Alcock kanalında 0,35 mm².</a:t>
            </a:r>
          </a:p>
          <a:p>
            <a:pPr algn="l">
              <a:spcAft>
                <a:spcPts val="300"/>
              </a:spcAft>
            </a:pPr>
            <a:r>
              <a:rPr sz="1600" b="0" i="0">
                <a:solidFill>
                  <a:srgbClr val="1F2A44"/>
                </a:solidFill>
                <a:latin typeface="Calibri"/>
              </a:rPr>
              <a:t>• Cinsiyet ve taraf farkı anlamlı değil.</a:t>
            </a:r>
          </a:p>
        </p:txBody>
      </p:sp>
      <p:sp>
        <p:nvSpPr>
          <p:cNvPr id="13" name="TextBox 12"/>
          <p:cNvSpPr txBox="1"/>
          <p:nvPr/>
        </p:nvSpPr>
        <p:spPr>
          <a:xfrm>
            <a:off x="6720840" y="6035040"/>
            <a:ext cx="5257800" cy="292608"/>
          </a:xfrm>
          <a:prstGeom prst="rect">
            <a:avLst/>
          </a:prstGeom>
          <a:noFill/>
        </p:spPr>
        <p:txBody>
          <a:bodyPr wrap="square" anchor="t" lIns="45720" rIns="45720" tIns="18288" bIns="18288">
            <a:spAutoFit/>
          </a:bodyPr>
          <a:lstStyle/>
          <a:p>
            <a:pPr algn="l"/>
            <a:r>
              <a:rPr sz="10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Suganya Grace, Ray Biswabina, Bharadwaj Yashu Morphology and morphometry of pudendal nerve in East Indian population with surgical implications: a cadaveric study. Anat Cell Biol. 2025 Jun 2;58(3):388–94. doi: 10.5115/acb.25.012 PMCID: PMC12519013.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pudenda interna ve a. rectalis media ortak gövdesi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Badagabettu ve ark., J Vasc Bras 2025 – 80 erkek hemipelvis</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jvb-24-e20240075-g06.jpg"/>
          <p:cNvPicPr>
            <a:picLocks noChangeAspect="1"/>
          </p:cNvPicPr>
          <p:nvPr/>
        </p:nvPicPr>
        <p:blipFill>
          <a:blip r:embed="rId2"/>
          <a:stretch>
            <a:fillRect/>
          </a:stretch>
        </p:blipFill>
        <p:spPr>
          <a:xfrm>
            <a:off x="274320" y="1283373"/>
            <a:ext cx="6263640" cy="4702732"/>
          </a:xfrm>
          <a:prstGeom prst="rect">
            <a:avLst/>
          </a:prstGeom>
        </p:spPr>
      </p:pic>
      <p:sp>
        <p:nvSpPr>
          <p:cNvPr id="8" name="TextBox 7"/>
          <p:cNvSpPr txBox="1"/>
          <p:nvPr/>
        </p:nvSpPr>
        <p:spPr>
          <a:xfrm>
            <a:off x="91439" y="5986106"/>
            <a:ext cx="662940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6 – Badagabettu Satheesha Nayak ve ark., 2025 (PMC11961128, CC BY)</a:t>
            </a:r>
          </a:p>
        </p:txBody>
      </p:sp>
      <p:sp>
        <p:nvSpPr>
          <p:cNvPr id="9" name="TextBox 8"/>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0" name="TextBox 9"/>
          <p:cNvSpPr txBox="1"/>
          <p:nvPr/>
        </p:nvSpPr>
        <p:spPr>
          <a:xfrm>
            <a:off x="6720840" y="1581912"/>
            <a:ext cx="5257800" cy="1580896"/>
          </a:xfrm>
          <a:prstGeom prst="rect">
            <a:avLst/>
          </a:prstGeom>
          <a:noFill/>
        </p:spPr>
        <p:txBody>
          <a:bodyPr wrap="square">
            <a:spAutoFit/>
          </a:bodyPr>
          <a:lstStyle/>
          <a:p>
            <a:pPr algn="l">
              <a:spcAft>
                <a:spcPts val="300"/>
              </a:spcAft>
            </a:pPr>
            <a:r>
              <a:rPr sz="1600" b="0" i="0">
                <a:solidFill>
                  <a:srgbClr val="1F2A44"/>
                </a:solidFill>
                <a:latin typeface="Calibri"/>
              </a:rPr>
              <a:t>• </a:t>
            </a:r>
            <a:r>
              <a:rPr sz="1600" b="0" i="0">
                <a:solidFill>
                  <a:srgbClr val="1F2A44"/>
                </a:solidFill>
                <a:latin typeface="Calibri"/>
              </a:rPr>
              <a:t>IIA</a:t>
            </a:r>
            <a:r>
              <a:rPr sz="1600" b="0" i="0">
                <a:solidFill>
                  <a:srgbClr val="1F2A44"/>
                </a:solidFill>
                <a:latin typeface="Calibri"/>
              </a:rPr>
              <a:t> a. iliaca interna ön divisiosu; </a:t>
            </a:r>
            <a:r>
              <a:rPr sz="1600" b="0" i="0">
                <a:solidFill>
                  <a:srgbClr val="1F2A44"/>
                </a:solidFill>
                <a:latin typeface="Calibri"/>
              </a:rPr>
              <a:t>IIV</a:t>
            </a:r>
            <a:r>
              <a:rPr sz="1600" b="0" i="0">
                <a:solidFill>
                  <a:srgbClr val="1F2A44"/>
                </a:solidFill>
                <a:latin typeface="Calibri"/>
              </a:rPr>
              <a:t> v. iliaca interna; </a:t>
            </a:r>
            <a:r>
              <a:rPr sz="1600" b="0" i="0">
                <a:solidFill>
                  <a:srgbClr val="1F2A44"/>
                </a:solidFill>
                <a:latin typeface="Calibri"/>
              </a:rPr>
              <a:t>MUL</a:t>
            </a:r>
            <a:r>
              <a:rPr sz="1600" b="0" i="0">
                <a:solidFill>
                  <a:srgbClr val="1F2A44"/>
                </a:solidFill>
                <a:latin typeface="Calibri"/>
              </a:rPr>
              <a:t> lig. umbilicale mediale; </a:t>
            </a:r>
            <a:r>
              <a:rPr sz="1600" b="0" i="0">
                <a:solidFill>
                  <a:srgbClr val="1F2A44"/>
                </a:solidFill>
                <a:latin typeface="Calibri"/>
              </a:rPr>
              <a:t>EIV</a:t>
            </a:r>
            <a:r>
              <a:rPr sz="1600" b="0" i="0">
                <a:solidFill>
                  <a:srgbClr val="1F2A44"/>
                </a:solidFill>
                <a:latin typeface="Calibri"/>
              </a:rPr>
              <a:t> v. iliaca externa; </a:t>
            </a:r>
            <a:r>
              <a:rPr sz="1600" b="0" i="0">
                <a:solidFill>
                  <a:srgbClr val="1F2A44"/>
                </a:solidFill>
                <a:latin typeface="Calibri"/>
              </a:rPr>
              <a:t>SVA/IVA</a:t>
            </a:r>
            <a:r>
              <a:rPr sz="1600" b="0" i="0">
                <a:solidFill>
                  <a:srgbClr val="1F2A44"/>
                </a:solidFill>
                <a:latin typeface="Calibri"/>
              </a:rPr>
              <a:t> a. vesicalis superior/inferior; </a:t>
            </a:r>
            <a:r>
              <a:rPr sz="1600" b="0" i="0">
                <a:solidFill>
                  <a:srgbClr val="1F2A44"/>
                </a:solidFill>
                <a:latin typeface="Calibri"/>
              </a:rPr>
              <a:t>CT</a:t>
            </a:r>
            <a:r>
              <a:rPr sz="1600" b="0" i="0">
                <a:solidFill>
                  <a:srgbClr val="1F2A44"/>
                </a:solidFill>
                <a:latin typeface="Calibri"/>
              </a:rPr>
              <a:t> ortak gövde; </a:t>
            </a:r>
            <a:r>
              <a:rPr sz="1600" b="0" i="0">
                <a:solidFill>
                  <a:srgbClr val="1F2A44"/>
                </a:solidFill>
                <a:latin typeface="Calibri"/>
              </a:rPr>
              <a:t>MRA</a:t>
            </a:r>
            <a:r>
              <a:rPr sz="1600" b="0" i="0">
                <a:solidFill>
                  <a:srgbClr val="1F2A44"/>
                </a:solidFill>
                <a:latin typeface="Calibri"/>
              </a:rPr>
              <a:t> a. rectalis media; </a:t>
            </a:r>
            <a:r>
              <a:rPr sz="1600" b="0" i="0">
                <a:solidFill>
                  <a:srgbClr val="1F2A44"/>
                </a:solidFill>
                <a:latin typeface="Calibri"/>
              </a:rPr>
              <a:t>IGA</a:t>
            </a:r>
            <a:r>
              <a:rPr sz="1600" b="0" i="0">
                <a:solidFill>
                  <a:srgbClr val="1F2A44"/>
                </a:solidFill>
                <a:latin typeface="Calibri"/>
              </a:rPr>
              <a:t> a. glutea inferior; </a:t>
            </a:r>
            <a:r>
              <a:rPr sz="1600" b="0" i="0">
                <a:solidFill>
                  <a:srgbClr val="1F2A44"/>
                </a:solidFill>
                <a:latin typeface="Calibri"/>
              </a:rPr>
              <a:t>IPA</a:t>
            </a:r>
            <a:r>
              <a:rPr sz="1600" b="0" i="0">
                <a:solidFill>
                  <a:srgbClr val="1F2A44"/>
                </a:solidFill>
                <a:latin typeface="Calibri"/>
              </a:rPr>
              <a:t> a. pudenda interna; </a:t>
            </a:r>
            <a:r>
              <a:rPr sz="1600" b="0" i="0">
                <a:solidFill>
                  <a:srgbClr val="1F2A44"/>
                </a:solidFill>
                <a:latin typeface="Calibri"/>
              </a:rPr>
              <a:t>UB</a:t>
            </a:r>
            <a:r>
              <a:rPr sz="1600" b="0" i="0">
                <a:solidFill>
                  <a:srgbClr val="1F2A44"/>
                </a:solidFill>
                <a:latin typeface="Calibri"/>
              </a:rPr>
              <a:t> mesane; </a:t>
            </a:r>
            <a:r>
              <a:rPr sz="1600" b="0" i="0">
                <a:solidFill>
                  <a:srgbClr val="1F2A44"/>
                </a:solidFill>
                <a:latin typeface="Calibri"/>
              </a:rPr>
              <a:t>R</a:t>
            </a:r>
            <a:r>
              <a:rPr sz="1600" b="0" i="0">
                <a:solidFill>
                  <a:srgbClr val="1F2A44"/>
                </a:solidFill>
                <a:latin typeface="Calibri"/>
              </a:rPr>
              <a:t> rektum</a:t>
            </a:r>
          </a:p>
        </p:txBody>
      </p:sp>
      <p:sp>
        <p:nvSpPr>
          <p:cNvPr id="11" name="TextBox 10"/>
          <p:cNvSpPr txBox="1"/>
          <p:nvPr/>
        </p:nvSpPr>
        <p:spPr>
          <a:xfrm>
            <a:off x="6720840" y="32085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2" name="TextBox 11"/>
          <p:cNvSpPr txBox="1"/>
          <p:nvPr/>
        </p:nvSpPr>
        <p:spPr>
          <a:xfrm>
            <a:off x="6720840" y="3556000"/>
            <a:ext cx="5257800" cy="912367"/>
          </a:xfrm>
          <a:prstGeom prst="rect">
            <a:avLst/>
          </a:prstGeom>
          <a:noFill/>
        </p:spPr>
        <p:txBody>
          <a:bodyPr wrap="square">
            <a:spAutoFit/>
          </a:bodyPr>
          <a:lstStyle/>
          <a:p>
            <a:pPr algn="l">
              <a:spcAft>
                <a:spcPts val="300"/>
              </a:spcAft>
            </a:pPr>
            <a:r>
              <a:rPr sz="1600" b="0" i="0">
                <a:solidFill>
                  <a:srgbClr val="1F2A44"/>
                </a:solidFill>
                <a:latin typeface="Calibri"/>
              </a:rPr>
              <a:t>• Dallanma varyasyonu hemipelvislerin %61'inde.</a:t>
            </a:r>
          </a:p>
          <a:p>
            <a:pPr algn="l">
              <a:spcAft>
                <a:spcPts val="300"/>
              </a:spcAft>
            </a:pPr>
            <a:r>
              <a:rPr sz="1600" b="0" i="0">
                <a:solidFill>
                  <a:srgbClr val="1F2A44"/>
                </a:solidFill>
                <a:latin typeface="Calibri"/>
              </a:rPr>
              <a:t>• A. pudenda interna + a. rectalis media ortak gövdesi %24; a. glutea inferior varyasyonu %18.</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Badagabettu Satheesha Nayak, Padur Ashwini Aithal, Shetty Surekha Devadasa Variations in the branching pattern of the internal iliac artery and its implications in trauma and surgery – a South Indian cadaveric study. J Vasc Bras. 2025 Mar 31;24:e20240075. doi: 10.1590/1677-5449.202400752 PMCID: PMC11961128.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 hasar: Levator ani avülsiyonu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Yan ve ark., Sci Rep 2017 – 80 doğum sonrası kadın</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41598_2017_8201_Fig1_HTML.jpg"/>
          <p:cNvPicPr>
            <a:picLocks noChangeAspect="1"/>
          </p:cNvPicPr>
          <p:nvPr/>
        </p:nvPicPr>
        <p:blipFill>
          <a:blip r:embed="rId2"/>
          <a:stretch>
            <a:fillRect/>
          </a:stretch>
        </p:blipFill>
        <p:spPr>
          <a:xfrm>
            <a:off x="274320" y="1234440"/>
            <a:ext cx="4003359" cy="3006967"/>
          </a:xfrm>
          <a:prstGeom prst="rect">
            <a:avLst/>
          </a:prstGeom>
        </p:spPr>
      </p:pic>
      <p:sp>
        <p:nvSpPr>
          <p:cNvPr id="8" name="TextBox 7"/>
          <p:cNvSpPr txBox="1"/>
          <p:nvPr/>
        </p:nvSpPr>
        <p:spPr>
          <a:xfrm>
            <a:off x="91439" y="4241407"/>
            <a:ext cx="4369119"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1 – Yan Yulin ve ark., 2017 (PMC5593956, CC BY)</a:t>
            </a:r>
          </a:p>
        </p:txBody>
      </p:sp>
      <p:pic>
        <p:nvPicPr>
          <p:cNvPr id="9" name="Picture 8" descr="41598_2017_8201_Fig3_HTML.jpg"/>
          <p:cNvPicPr>
            <a:picLocks noChangeAspect="1"/>
          </p:cNvPicPr>
          <p:nvPr/>
        </p:nvPicPr>
        <p:blipFill>
          <a:blip r:embed="rId3"/>
          <a:stretch>
            <a:fillRect/>
          </a:stretch>
        </p:blipFill>
        <p:spPr>
          <a:xfrm>
            <a:off x="4414839" y="1234440"/>
            <a:ext cx="2123120" cy="3006967"/>
          </a:xfrm>
          <a:prstGeom prst="rect">
            <a:avLst/>
          </a:prstGeom>
        </p:spPr>
      </p:pic>
      <p:sp>
        <p:nvSpPr>
          <p:cNvPr id="10" name="TextBox 9"/>
          <p:cNvSpPr txBox="1"/>
          <p:nvPr/>
        </p:nvSpPr>
        <p:spPr>
          <a:xfrm>
            <a:off x="4231959" y="4241407"/>
            <a:ext cx="2488880"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Yan Yulin ve ark., 2017 (PMC5593956,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Tomografik US: PUBIS; </a:t>
            </a:r>
            <a:r>
              <a:rPr sz="1600" b="0" i="0">
                <a:solidFill>
                  <a:srgbClr val="1F2A44"/>
                </a:solidFill>
                <a:latin typeface="Calibri"/>
              </a:rPr>
              <a:t>PR</a:t>
            </a:r>
            <a:r>
              <a:rPr sz="1600" b="0" i="0">
                <a:solidFill>
                  <a:srgbClr val="1F2A44"/>
                </a:solidFill>
                <a:latin typeface="Calibri"/>
              </a:rPr>
              <a:t> m. puborectalis; </a:t>
            </a:r>
            <a:r>
              <a:rPr sz="1600" b="0" i="0">
                <a:solidFill>
                  <a:srgbClr val="1F2A44"/>
                </a:solidFill>
                <a:latin typeface="Calibri"/>
              </a:rPr>
              <a:t>LUG</a:t>
            </a:r>
            <a:r>
              <a:rPr sz="1600" b="0" i="0">
                <a:solidFill>
                  <a:srgbClr val="1F2A44"/>
                </a:solidFill>
                <a:latin typeface="Calibri"/>
              </a:rPr>
              <a:t> levator–üretra aralığı; 2,5 mm aralıklı kesitler</a:t>
            </a:r>
          </a:p>
          <a:p>
            <a:pPr algn="l">
              <a:spcAft>
                <a:spcPts val="300"/>
              </a:spcAft>
            </a:pPr>
            <a:r>
              <a:rPr sz="1600" b="0" i="0">
                <a:solidFill>
                  <a:srgbClr val="1F2A44"/>
                </a:solidFill>
                <a:latin typeface="Calibri"/>
              </a:rPr>
              <a:t>• </a:t>
            </a:r>
            <a:r>
              <a:rPr sz="1600" b="0" i="0">
                <a:solidFill>
                  <a:srgbClr val="1F2A44"/>
                </a:solidFill>
                <a:latin typeface="Calibri"/>
              </a:rPr>
              <a:t>U</a:t>
            </a:r>
            <a:r>
              <a:rPr sz="1600" b="0" i="0">
                <a:solidFill>
                  <a:srgbClr val="1F2A44"/>
                </a:solidFill>
                <a:latin typeface="Calibri"/>
              </a:rPr>
              <a:t> urethra; </a:t>
            </a:r>
            <a:r>
              <a:rPr sz="1600" b="0" i="0">
                <a:solidFill>
                  <a:srgbClr val="1F2A44"/>
                </a:solidFill>
                <a:latin typeface="Calibri"/>
              </a:rPr>
              <a:t>V</a:t>
            </a:r>
            <a:r>
              <a:rPr sz="1600" b="0" i="0">
                <a:solidFill>
                  <a:srgbClr val="1F2A44"/>
                </a:solidFill>
                <a:latin typeface="Calibri"/>
              </a:rPr>
              <a:t> vagina; </a:t>
            </a:r>
            <a:r>
              <a:rPr sz="1600" b="0" i="0">
                <a:solidFill>
                  <a:srgbClr val="1F2A44"/>
                </a:solidFill>
                <a:latin typeface="Calibri"/>
              </a:rPr>
              <a:t>R</a:t>
            </a:r>
            <a:r>
              <a:rPr sz="1600" b="0" i="0">
                <a:solidFill>
                  <a:srgbClr val="1F2A44"/>
                </a:solidFill>
                <a:latin typeface="Calibri"/>
              </a:rPr>
              <a:t> rektum; </a:t>
            </a:r>
            <a:r>
              <a:rPr sz="1600" b="0" i="0">
                <a:solidFill>
                  <a:srgbClr val="1F2A44"/>
                </a:solidFill>
                <a:latin typeface="Calibri"/>
              </a:rPr>
              <a:t>OB</a:t>
            </a:r>
            <a:r>
              <a:rPr sz="1600" b="0" i="0">
                <a:solidFill>
                  <a:srgbClr val="1F2A44"/>
                </a:solidFill>
                <a:latin typeface="Calibri"/>
              </a:rPr>
              <a:t> m. obturatorius; </a:t>
            </a:r>
            <a:r>
              <a:rPr sz="1600" b="0" i="0">
                <a:solidFill>
                  <a:srgbClr val="1F2A44"/>
                </a:solidFill>
                <a:latin typeface="Calibri"/>
              </a:rPr>
              <a:t>IC</a:t>
            </a:r>
            <a:r>
              <a:rPr sz="1600" b="0" i="0">
                <a:solidFill>
                  <a:srgbClr val="1F2A44"/>
                </a:solidFill>
                <a:latin typeface="Calibri"/>
              </a:rPr>
              <a:t> m. iliococcygeus</a:t>
            </a:r>
          </a:p>
        </p:txBody>
      </p:sp>
      <p:sp>
        <p:nvSpPr>
          <p:cNvPr id="13" name="TextBox 12"/>
          <p:cNvSpPr txBox="1"/>
          <p:nvPr/>
        </p:nvSpPr>
        <p:spPr>
          <a:xfrm>
            <a:off x="6720840" y="2779776"/>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127248"/>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Vajinal doğumdan 45–60 gün sonra puborektal avülsiyon %13,75.</a:t>
            </a:r>
          </a:p>
          <a:p>
            <a:pPr algn="l">
              <a:spcAft>
                <a:spcPts val="300"/>
              </a:spcAft>
            </a:pPr>
            <a:r>
              <a:rPr sz="1600" b="0" i="0">
                <a:solidFill>
                  <a:srgbClr val="1F2A44"/>
                </a:solidFill>
                <a:latin typeface="Calibri"/>
              </a:rPr>
              <a:t>• İliokoksigeal hasar US ile zor saptanır ve çoğunlukla ağır puborektal hasarla birliktedir.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Yan Yulin, Dou Chaoran, Wang Xia et al. Combination of tomographic ultrasound imaging and three-dimensional magnetic resonance imaging-based model to diagnose postpartum levator avulsion. Sci Rep. 2017 Sep 11;7:11235. doi: 10.1038/s41598-017-08201-9 PMCID: PMC5593956.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Klinik: Translevator perineal herni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Coalter ve ark., BJR Case Rep 2022</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pic>
        <p:nvPicPr>
          <p:cNvPr id="7" name="Picture 6" descr="bjrcr.20220009.g004.jpg"/>
          <p:cNvPicPr>
            <a:picLocks noChangeAspect="1"/>
          </p:cNvPicPr>
          <p:nvPr/>
        </p:nvPicPr>
        <p:blipFill>
          <a:blip r:embed="rId2"/>
          <a:stretch>
            <a:fillRect/>
          </a:stretch>
        </p:blipFill>
        <p:spPr>
          <a:xfrm>
            <a:off x="274320" y="1234440"/>
            <a:ext cx="4000477" cy="4169749"/>
          </a:xfrm>
          <a:prstGeom prst="rect">
            <a:avLst/>
          </a:prstGeom>
        </p:spPr>
      </p:pic>
      <p:sp>
        <p:nvSpPr>
          <p:cNvPr id="8" name="TextBox 7"/>
          <p:cNvSpPr txBox="1"/>
          <p:nvPr/>
        </p:nvSpPr>
        <p:spPr>
          <a:xfrm>
            <a:off x="91439" y="5404189"/>
            <a:ext cx="4366237"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4. – Coalter Wendy S ve ark., 2022 (PMC9668258, CC BY)</a:t>
            </a:r>
          </a:p>
        </p:txBody>
      </p:sp>
      <p:pic>
        <p:nvPicPr>
          <p:cNvPr id="9" name="Picture 8" descr="bjrcr.20220009.g003.jpg"/>
          <p:cNvPicPr>
            <a:picLocks noChangeAspect="1"/>
          </p:cNvPicPr>
          <p:nvPr/>
        </p:nvPicPr>
        <p:blipFill>
          <a:blip r:embed="rId3"/>
          <a:stretch>
            <a:fillRect/>
          </a:stretch>
        </p:blipFill>
        <p:spPr>
          <a:xfrm>
            <a:off x="4411957" y="1234440"/>
            <a:ext cx="2126002" cy="4169749"/>
          </a:xfrm>
          <a:prstGeom prst="rect">
            <a:avLst/>
          </a:prstGeom>
        </p:spPr>
      </p:pic>
      <p:sp>
        <p:nvSpPr>
          <p:cNvPr id="10" name="TextBox 9"/>
          <p:cNvSpPr txBox="1"/>
          <p:nvPr/>
        </p:nvSpPr>
        <p:spPr>
          <a:xfrm>
            <a:off x="4229077" y="5404189"/>
            <a:ext cx="2491762" cy="274320"/>
          </a:xfrm>
          <a:prstGeom prst="rect">
            <a:avLst/>
          </a:prstGeom>
          <a:noFill/>
        </p:spPr>
        <p:txBody>
          <a:bodyPr wrap="square" anchor="t" lIns="45720" rIns="45720" tIns="18288" bIns="18288">
            <a:spAutoFit/>
          </a:bodyPr>
          <a:lstStyle/>
          <a:p>
            <a:pPr algn="ctr"/>
            <a:r>
              <a:rPr sz="950" b="0" i="1">
                <a:solidFill>
                  <a:srgbClr val="555B66"/>
                </a:solidFill>
                <a:latin typeface="Calibri"/>
              </a:rPr>
              <a:t>Figure 3. – Coalter Wendy S ve ark., 2022 (PMC9668258, CC BY)</a:t>
            </a:r>
          </a:p>
        </p:txBody>
      </p:sp>
      <p:sp>
        <p:nvSpPr>
          <p:cNvPr id="11" name="TextBox 10"/>
          <p:cNvSpPr txBox="1"/>
          <p:nvPr/>
        </p:nvSpPr>
        <p:spPr>
          <a:xfrm>
            <a:off x="6720840" y="1234440"/>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Şekildeki etiketler</a:t>
            </a:r>
          </a:p>
        </p:txBody>
      </p:sp>
      <p:sp>
        <p:nvSpPr>
          <p:cNvPr id="12" name="TextBox 11"/>
          <p:cNvSpPr txBox="1"/>
          <p:nvPr/>
        </p:nvSpPr>
        <p:spPr>
          <a:xfrm>
            <a:off x="6720840" y="1581912"/>
            <a:ext cx="5257800" cy="1631696"/>
          </a:xfrm>
          <a:prstGeom prst="rect">
            <a:avLst/>
          </a:prstGeom>
          <a:noFill/>
        </p:spPr>
        <p:txBody>
          <a:bodyPr wrap="square">
            <a:spAutoFit/>
          </a:bodyPr>
          <a:lstStyle/>
          <a:p>
            <a:pPr algn="l">
              <a:spcAft>
                <a:spcPts val="300"/>
              </a:spcAft>
            </a:pPr>
            <a:r>
              <a:rPr sz="1600" b="0" i="0">
                <a:solidFill>
                  <a:srgbClr val="1F2A44"/>
                </a:solidFill>
                <a:latin typeface="Calibri"/>
              </a:rPr>
              <a:t>• Şema: Bulbospongiosus; Ischiocavernosus; Superficial &amp; deep perinei; Levator ani; External anal sphincter; </a:t>
            </a:r>
            <a:r>
              <a:rPr sz="1600" b="0" i="0">
                <a:solidFill>
                  <a:srgbClr val="1F2A44"/>
                </a:solidFill>
                <a:latin typeface="Calibri"/>
              </a:rPr>
              <a:t>A</a:t>
            </a:r>
            <a:r>
              <a:rPr sz="1600" b="0" i="0">
                <a:solidFill>
                  <a:srgbClr val="1F2A44"/>
                </a:solidFill>
                <a:latin typeface="Calibri"/>
              </a:rPr>
              <a:t> ön, </a:t>
            </a:r>
            <a:r>
              <a:rPr sz="1600" b="0" i="0">
                <a:solidFill>
                  <a:srgbClr val="1F2A44"/>
                </a:solidFill>
                <a:latin typeface="Calibri"/>
              </a:rPr>
              <a:t>P</a:t>
            </a:r>
            <a:r>
              <a:rPr sz="1600" b="0" i="0">
                <a:solidFill>
                  <a:srgbClr val="1F2A44"/>
                </a:solidFill>
                <a:latin typeface="Calibri"/>
              </a:rPr>
              <a:t> arka perineal herni</a:t>
            </a:r>
          </a:p>
          <a:p>
            <a:pPr algn="l">
              <a:spcAft>
                <a:spcPts val="300"/>
              </a:spcAft>
            </a:pPr>
            <a:r>
              <a:rPr sz="1600" b="0" i="0">
                <a:solidFill>
                  <a:srgbClr val="1F2A44"/>
                </a:solidFill>
                <a:latin typeface="Calibri"/>
              </a:rPr>
              <a:t>• MR: kırmızı ok sol lateral rektum duvarının Richter tipi hernisi; sarı ok levator ani'de 22 mm defekt</a:t>
            </a:r>
          </a:p>
        </p:txBody>
      </p:sp>
      <p:sp>
        <p:nvSpPr>
          <p:cNvPr id="13" name="TextBox 12"/>
          <p:cNvSpPr txBox="1"/>
          <p:nvPr/>
        </p:nvSpPr>
        <p:spPr>
          <a:xfrm>
            <a:off x="6720840" y="3259328"/>
            <a:ext cx="5257800" cy="329184"/>
          </a:xfrm>
          <a:prstGeom prst="rect">
            <a:avLst/>
          </a:prstGeom>
          <a:noFill/>
        </p:spPr>
        <p:txBody>
          <a:bodyPr wrap="square" anchor="t" lIns="45720" rIns="45720" tIns="18288" bIns="18288">
            <a:spAutoFit/>
          </a:bodyPr>
          <a:lstStyle/>
          <a:p>
            <a:pPr algn="l"/>
            <a:r>
              <a:rPr sz="1400" b="1" i="0">
                <a:solidFill>
                  <a:srgbClr val="C0392B"/>
                </a:solidFill>
                <a:latin typeface="Calibri"/>
              </a:rPr>
              <a:t>Önemli noktalar</a:t>
            </a:r>
          </a:p>
        </p:txBody>
      </p:sp>
      <p:sp>
        <p:nvSpPr>
          <p:cNvPr id="14" name="TextBox 13"/>
          <p:cNvSpPr txBox="1"/>
          <p:nvPr/>
        </p:nvSpPr>
        <p:spPr>
          <a:xfrm>
            <a:off x="6720840" y="3606800"/>
            <a:ext cx="5257800" cy="1152144"/>
          </a:xfrm>
          <a:prstGeom prst="rect">
            <a:avLst/>
          </a:prstGeom>
          <a:noFill/>
        </p:spPr>
        <p:txBody>
          <a:bodyPr wrap="square">
            <a:spAutoFit/>
          </a:bodyPr>
          <a:lstStyle/>
          <a:p>
            <a:pPr algn="l">
              <a:spcAft>
                <a:spcPts val="300"/>
              </a:spcAft>
            </a:pPr>
            <a:r>
              <a:rPr sz="1600" b="0" i="0">
                <a:solidFill>
                  <a:srgbClr val="1F2A44"/>
                </a:solidFill>
                <a:latin typeface="Calibri"/>
              </a:rPr>
              <a:t>• Perineal herniler m. transversus perinei'ye göre ön ve arka olarak sınıflanır.</a:t>
            </a:r>
          </a:p>
          <a:p>
            <a:pPr algn="l">
              <a:spcAft>
                <a:spcPts val="300"/>
              </a:spcAft>
            </a:pPr>
            <a:r>
              <a:rPr sz="1600" b="0" i="0">
                <a:solidFill>
                  <a:srgbClr val="1F2A44"/>
                </a:solidFill>
                <a:latin typeface="Calibri"/>
              </a:rPr>
              <a:t>• Literatürde yaklaşık 100 arka perineal herni olgusu bildirilmiştir.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Coalter Wendy S, Siddiqui Salman A Translevator perineal hernia; an incidental rare imaging presentation. BJR Case Rep. 2022 Jun 8;8(4):20220009. doi: 10.1259/bjrcr.20220009 PMCID: PMC9668258.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Perine – klinik bağlantılar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Topografinin klinik karşılıkları</a:t>
            </a:r>
          </a:p>
        </p:txBody>
      </p:sp>
      <p:sp>
        <p:nvSpPr>
          <p:cNvPr id="5" name="TextBox 4"/>
          <p:cNvSpPr txBox="1"/>
          <p:nvPr/>
        </p:nvSpPr>
        <p:spPr>
          <a:xfrm>
            <a:off x="274320" y="822960"/>
            <a:ext cx="5486400" cy="292608"/>
          </a:xfrm>
          <a:prstGeom prst="rect">
            <a:avLst/>
          </a:prstGeom>
          <a:noFill/>
        </p:spPr>
        <p:txBody>
          <a:bodyPr wrap="square" anchor="t" lIns="45720" rIns="45720" tIns="18288" bIns="18288">
            <a:spAutoFit/>
          </a:bodyPr>
          <a:lstStyle/>
          <a:p>
            <a:pPr algn="l"/>
            <a:r>
              <a:rPr sz="1100" b="1" i="0">
                <a:solidFill>
                  <a:srgbClr val="555B66"/>
                </a:solidFill>
                <a:latin typeface="Calibri"/>
              </a:rPr>
              <a:t>BÖLÜM 5 · KESİT + VARYASYON</a:t>
            </a:r>
          </a:p>
        </p:txBody>
      </p:sp>
      <p:sp>
        <p:nvSpPr>
          <p:cNvPr id="6" name="TextBox 5"/>
          <p:cNvSpPr txBox="1"/>
          <p:nvPr/>
        </p:nvSpPr>
        <p:spPr>
          <a:xfrm>
            <a:off x="9646920" y="822960"/>
            <a:ext cx="2331720" cy="292608"/>
          </a:xfrm>
          <a:prstGeom prst="rect">
            <a:avLst/>
          </a:prstGeom>
          <a:solidFill>
            <a:srgbClr val="C26A00"/>
          </a:solidFill>
        </p:spPr>
        <p:txBody>
          <a:bodyPr wrap="square" anchor="ctr" lIns="45720" rIns="45720" tIns="18288" bIns="18288">
            <a:spAutoFit/>
          </a:bodyPr>
          <a:lstStyle/>
          <a:p>
            <a:pPr algn="ctr"/>
            <a:r>
              <a:rPr sz="1100" b="1" i="0">
                <a:solidFill>
                  <a:srgbClr val="FFFFFF"/>
                </a:solidFill>
                <a:latin typeface="Calibri"/>
              </a:rPr>
              <a:t>KLİNİK BAĞLANTI</a:t>
            </a:r>
          </a:p>
        </p:txBody>
      </p:sp>
      <p:sp>
        <p:nvSpPr>
          <p:cNvPr id="7" name="TextBox 6"/>
          <p:cNvSpPr txBox="1"/>
          <p:nvPr/>
        </p:nvSpPr>
        <p:spPr>
          <a:xfrm>
            <a:off x="411480" y="1234440"/>
            <a:ext cx="11338560" cy="5074920"/>
          </a:xfrm>
          <a:prstGeom prst="rect">
            <a:avLst/>
          </a:prstGeom>
          <a:noFill/>
        </p:spPr>
        <p:txBody>
          <a:bodyPr wrap="square">
            <a:spAutoFit/>
          </a:bodyPr>
          <a:lstStyle/>
          <a:p>
            <a:pPr algn="l">
              <a:spcAft>
                <a:spcPts val="300"/>
              </a:spcAft>
            </a:pPr>
            <a:r>
              <a:rPr sz="2200" b="0" i="0">
                <a:solidFill>
                  <a:srgbClr val="1F2A44"/>
                </a:solidFill>
                <a:latin typeface="Calibri"/>
              </a:rPr>
              <a:t>• </a:t>
            </a:r>
            <a:r>
              <a:rPr sz="2200" b="0" i="0">
                <a:solidFill>
                  <a:srgbClr val="1F2A44"/>
                </a:solidFill>
                <a:latin typeface="Calibri"/>
              </a:rPr>
              <a:t>Epizyotomi:</a:t>
            </a:r>
            <a:r>
              <a:rPr sz="2200" b="0" i="0">
                <a:solidFill>
                  <a:srgbClr val="1F2A44"/>
                </a:solidFill>
                <a:latin typeface="Calibri"/>
              </a:rPr>
              <a:t> orta hat insizyonu perine cismini keser ve 3.–4. derece yırtığa uzayabilir; mediolateral insizyon sfinkterden uzaklaşır ama bulbus vestibuli ve perineal sinir dallarına yaklaşır.</a:t>
            </a:r>
          </a:p>
          <a:p>
            <a:pPr algn="l">
              <a:spcAft>
                <a:spcPts val="300"/>
              </a:spcAft>
            </a:pPr>
            <a:r>
              <a:rPr sz="2200" b="0" i="0">
                <a:solidFill>
                  <a:srgbClr val="1F2A44"/>
                </a:solidFill>
                <a:latin typeface="Calibri"/>
              </a:rPr>
              <a:t>• </a:t>
            </a:r>
            <a:r>
              <a:rPr sz="2200" b="0" i="0">
                <a:solidFill>
                  <a:srgbClr val="1F2A44"/>
                </a:solidFill>
                <a:latin typeface="Calibri"/>
              </a:rPr>
              <a:t>Pudendal blok ve pudendal nevralji:</a:t>
            </a:r>
            <a:r>
              <a:rPr sz="2200" b="0" i="0">
                <a:solidFill>
                  <a:srgbClr val="1F2A44"/>
                </a:solidFill>
                <a:latin typeface="Calibri"/>
              </a:rPr>
              <a:t> spina ischiadica / lig. sacrospinale ve Alcock kanalı ana referans ve sıkışma noktalarıdır.</a:t>
            </a:r>
          </a:p>
          <a:p>
            <a:pPr algn="l">
              <a:spcAft>
                <a:spcPts val="300"/>
              </a:spcAft>
            </a:pPr>
            <a:r>
              <a:rPr sz="2200" b="0" i="0">
                <a:solidFill>
                  <a:srgbClr val="1F2A44"/>
                </a:solidFill>
                <a:latin typeface="Calibri"/>
              </a:rPr>
              <a:t>• </a:t>
            </a:r>
            <a:r>
              <a:rPr sz="2200" b="0" i="0">
                <a:solidFill>
                  <a:srgbClr val="1F2A44"/>
                </a:solidFill>
                <a:latin typeface="Calibri"/>
              </a:rPr>
              <a:t>Anal fistül ve apse:</a:t>
            </a:r>
            <a:r>
              <a:rPr sz="2200" b="0" i="0">
                <a:solidFill>
                  <a:srgbClr val="1F2A44"/>
                </a:solidFill>
                <a:latin typeface="Calibri"/>
              </a:rPr>
              <a:t> sınıflama sfinkter katmanlarına göre yapılır; fossa ischioanalis'te at nalı yayılım.</a:t>
            </a:r>
          </a:p>
          <a:p>
            <a:pPr algn="l">
              <a:spcAft>
                <a:spcPts val="300"/>
              </a:spcAft>
            </a:pPr>
            <a:r>
              <a:rPr sz="2200" b="0" i="0">
                <a:solidFill>
                  <a:srgbClr val="1F2A44"/>
                </a:solidFill>
                <a:latin typeface="Calibri"/>
              </a:rPr>
              <a:t>• </a:t>
            </a:r>
            <a:r>
              <a:rPr sz="2200" b="0" i="0">
                <a:solidFill>
                  <a:srgbClr val="1F2A44"/>
                </a:solidFill>
                <a:latin typeface="Calibri"/>
              </a:rPr>
              <a:t>Pelvis tabanı yetmezliği:</a:t>
            </a:r>
            <a:r>
              <a:rPr sz="2200" b="0" i="0">
                <a:solidFill>
                  <a:srgbClr val="1F2A44"/>
                </a:solidFill>
                <a:latin typeface="Calibri"/>
              </a:rPr>
              <a:t> levator avülsiyonu, genişlemiş hiatus → prolapsus ve inkontinans.</a:t>
            </a:r>
          </a:p>
          <a:p>
            <a:pPr algn="l">
              <a:spcAft>
                <a:spcPts val="300"/>
              </a:spcAft>
            </a:pPr>
            <a:r>
              <a:rPr sz="2200" b="0" i="0">
                <a:solidFill>
                  <a:srgbClr val="1F2A44"/>
                </a:solidFill>
                <a:latin typeface="Calibri"/>
              </a:rPr>
              <a:t>• </a:t>
            </a:r>
            <a:r>
              <a:rPr sz="2200" b="0" i="0">
                <a:solidFill>
                  <a:srgbClr val="1F2A44"/>
                </a:solidFill>
                <a:latin typeface="Calibri"/>
              </a:rPr>
              <a:t>Fasyal yayılım:</a:t>
            </a:r>
            <a:r>
              <a:rPr sz="2200" b="0" i="0">
                <a:solidFill>
                  <a:srgbClr val="1F2A44"/>
                </a:solidFill>
                <a:latin typeface="Calibri"/>
              </a:rPr>
              <a:t> idrar ekstravazasyonu ve Fournier gangreni Colles–Scarpa planını izler.</a:t>
            </a:r>
          </a:p>
          <a:p>
            <a:pPr algn="l">
              <a:spcAft>
                <a:spcPts val="300"/>
              </a:spcAft>
            </a:pPr>
            <a:r>
              <a:rPr sz="2200" b="0" i="0">
                <a:solidFill>
                  <a:srgbClr val="1F2A44"/>
                </a:solidFill>
                <a:latin typeface="Calibri"/>
              </a:rPr>
              <a:t>• </a:t>
            </a:r>
            <a:r>
              <a:rPr sz="2200" b="0" i="0">
                <a:solidFill>
                  <a:srgbClr val="1F2A44"/>
                </a:solidFill>
                <a:latin typeface="Calibri"/>
              </a:rPr>
              <a:t>Rektum kanseri cerrahisi:</a:t>
            </a:r>
            <a:r>
              <a:rPr sz="2200" b="0" i="0">
                <a:solidFill>
                  <a:srgbClr val="1F2A44"/>
                </a:solidFill>
                <a:latin typeface="Calibri"/>
              </a:rPr>
              <a:t> mezorektal fasya ve Denonvilliers fasyası doğru düzlemi; kavernöz sinirler ereksiyonun korunmasını belirler.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Sınırlılıklar</a:t>
            </a:r>
          </a:p>
        </p:txBody>
      </p:sp>
      <p:sp>
        <p:nvSpPr>
          <p:cNvPr id="4" name="TextBox 3"/>
          <p:cNvSpPr txBox="1"/>
          <p:nvPr/>
        </p:nvSpPr>
        <p:spPr>
          <a:xfrm>
            <a:off x="411480" y="1188720"/>
            <a:ext cx="11338560" cy="5029200"/>
          </a:xfrm>
          <a:prstGeom prst="rect">
            <a:avLst/>
          </a:prstGeom>
          <a:noFill/>
        </p:spPr>
        <p:txBody>
          <a:bodyPr wrap="square">
            <a:spAutoFit/>
          </a:bodyPr>
          <a:lstStyle/>
          <a:p>
            <a:pPr algn="l">
              <a:spcAft>
                <a:spcPts val="300"/>
              </a:spcAft>
            </a:pPr>
            <a:r>
              <a:rPr sz="1700" b="0" i="0">
                <a:solidFill>
                  <a:srgbClr val="1F2A44"/>
                </a:solidFill>
                <a:latin typeface="Calibri"/>
              </a:rPr>
              <a:t>• Colles, Scarpa, dartos ve Buck fasyasını doğrudan gösteren açık lisanslı kadavra fotoğrafı veya histoloji bulunamadı; bu fasyalar katman şeması, BT (Fournier) ve MR (penis) üzerinden anlatıldı.</a:t>
            </a:r>
          </a:p>
          <a:p>
            <a:pPr algn="l">
              <a:spcAft>
                <a:spcPts val="300"/>
              </a:spcAft>
            </a:pPr>
            <a:r>
              <a:rPr sz="1700" b="0" i="0">
                <a:solidFill>
                  <a:srgbClr val="1F2A44"/>
                </a:solidFill>
                <a:latin typeface="Calibri"/>
              </a:rPr>
              <a:t>• Alcock kanalının açılmış diseksiyon fotoğrafı ve pudendal blok ultrason anatomisi için açık lisanslı görsel bulunamadı.</a:t>
            </a:r>
          </a:p>
          <a:p>
            <a:pPr algn="l">
              <a:spcAft>
                <a:spcPts val="300"/>
              </a:spcAft>
            </a:pPr>
            <a:r>
              <a:rPr sz="1700" b="0" i="0">
                <a:solidFill>
                  <a:srgbClr val="1F2A44"/>
                </a:solidFill>
                <a:latin typeface="Calibri"/>
              </a:rPr>
              <a:t>• Bazı görseller CC BY-NC lisanslıdır (slaytlarda işaretli) – yalnızca ticari olmayan eğitim amaçlı.</a:t>
            </a:r>
          </a:p>
          <a:p>
            <a:pPr algn="l">
              <a:spcAft>
                <a:spcPts val="300"/>
              </a:spcAft>
            </a:pPr>
            <a:r>
              <a:rPr sz="1700" b="0" i="0">
                <a:solidFill>
                  <a:srgbClr val="1F2A44"/>
                </a:solidFill>
                <a:latin typeface="Calibri"/>
              </a:rPr>
              <a:t>• VHP kesitlerindeki etiketler gözle tanımlanmıştır; kesit eğikliği ve kadavra değişiklikleri nedeniyle bir anatomi öğretim üyesince gözden geçirilmelidir.</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(1)</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Chin Hung-Yen, Peng Chih-Wei, Wu Ming-Ping et al. Attachment of the levator ani muscle extends to the superior ramus of the pubic bone through electrophysiological and anatomical examinations. </a:t>
            </a:r>
            <a:r>
              <a:rPr sz="1300" b="0" i="0">
                <a:solidFill>
                  <a:srgbClr val="1F2A44"/>
                </a:solidFill>
                <a:latin typeface="Calibri"/>
              </a:rPr>
              <a:t>Scientific Reports</a:t>
            </a:r>
            <a:r>
              <a:rPr sz="1300" b="0" i="0">
                <a:solidFill>
                  <a:srgbClr val="1F2A44"/>
                </a:solidFill>
                <a:latin typeface="Calibri"/>
              </a:rPr>
              <a:t> 2021. doi:10.1038/s41598-021-89041-6 – PMC8096964 – </a:t>
            </a:r>
            <a:r>
              <a:rPr sz="1300" b="0" i="0">
                <a:solidFill>
                  <a:srgbClr val="1F2A44"/>
                </a:solidFill>
                <a:latin typeface="Calibri"/>
              </a:rPr>
              <a:t>CC BY</a:t>
            </a:r>
          </a:p>
          <a:p>
            <a:pPr algn="l">
              <a:spcAft>
                <a:spcPts val="300"/>
              </a:spcAft>
            </a:pPr>
            <a:r>
              <a:rPr sz="1300" b="0" i="0">
                <a:solidFill>
                  <a:srgbClr val="1F2A44"/>
                </a:solidFill>
                <a:latin typeface="Calibri"/>
              </a:rPr>
              <a:t>• Suriyut Janyaruk, Muro Satoru, Baramee Phichaya et al. Various significant connections of the male pelvic floor muscles with special reference to the anal and urethral sphincter muscles. </a:t>
            </a:r>
            <a:r>
              <a:rPr sz="1300" b="0" i="0">
                <a:solidFill>
                  <a:srgbClr val="1F2A44"/>
                </a:solidFill>
                <a:latin typeface="Calibri"/>
              </a:rPr>
              <a:t>Anatomical Science International</a:t>
            </a:r>
            <a:r>
              <a:rPr sz="1300" b="0" i="0">
                <a:solidFill>
                  <a:srgbClr val="1F2A44"/>
                </a:solidFill>
                <a:latin typeface="Calibri"/>
              </a:rPr>
              <a:t> 2019. doi:10.1007/s12565-019-00521-2 – PMC7182620 – </a:t>
            </a:r>
            <a:r>
              <a:rPr sz="1300" b="0" i="0">
                <a:solidFill>
                  <a:srgbClr val="1F2A44"/>
                </a:solidFill>
                <a:latin typeface="Calibri"/>
              </a:rPr>
              <a:t>CC BY</a:t>
            </a:r>
          </a:p>
          <a:p>
            <a:pPr algn="l">
              <a:spcAft>
                <a:spcPts val="300"/>
              </a:spcAft>
            </a:pPr>
            <a:r>
              <a:rPr sz="1300" b="0" i="0">
                <a:solidFill>
                  <a:srgbClr val="1F2A44"/>
                </a:solidFill>
                <a:latin typeface="Calibri"/>
              </a:rPr>
              <a:t>• Baramee Phichaya, Muro Satoru, Suriyut Janyaruk et al. Three muscle slings of the pelvic floor in women: an anatomic study. </a:t>
            </a:r>
            <a:r>
              <a:rPr sz="1300" b="0" i="0">
                <a:solidFill>
                  <a:srgbClr val="1F2A44"/>
                </a:solidFill>
                <a:latin typeface="Calibri"/>
              </a:rPr>
              <a:t>Anatomical Science International</a:t>
            </a:r>
            <a:r>
              <a:rPr sz="1300" b="0" i="0">
                <a:solidFill>
                  <a:srgbClr val="1F2A44"/>
                </a:solidFill>
                <a:latin typeface="Calibri"/>
              </a:rPr>
              <a:t> 2019. doi:10.1007/s12565-019-00492-4 – PMC6942605 – </a:t>
            </a:r>
            <a:r>
              <a:rPr sz="1300" b="0" i="0">
                <a:solidFill>
                  <a:srgbClr val="1F2A44"/>
                </a:solidFill>
                <a:latin typeface="Calibri"/>
              </a:rPr>
              <a:t>CC BY</a:t>
            </a:r>
          </a:p>
          <a:p>
            <a:pPr algn="l">
              <a:spcAft>
                <a:spcPts val="300"/>
              </a:spcAft>
            </a:pPr>
            <a:r>
              <a:rPr sz="1300" b="0" i="0">
                <a:solidFill>
                  <a:srgbClr val="1F2A44"/>
                </a:solidFill>
                <a:latin typeface="Calibri"/>
              </a:rPr>
              <a:t>• Wu Yi, Dabhoiwala Noshir F., Hagoort Jaco et al. 3D Topography of the Young Adult Anal Sphincter Complex Reconstructed from Undeformed Serial Anatomical Sections. </a:t>
            </a:r>
            <a:r>
              <a:rPr sz="1300" b="0" i="0">
                <a:solidFill>
                  <a:srgbClr val="1F2A44"/>
                </a:solidFill>
                <a:latin typeface="Calibri"/>
              </a:rPr>
              <a:t>PLoS ONE</a:t>
            </a:r>
            <a:r>
              <a:rPr sz="1300" b="0" i="0">
                <a:solidFill>
                  <a:srgbClr val="1F2A44"/>
                </a:solidFill>
                <a:latin typeface="Calibri"/>
              </a:rPr>
              <a:t> 2015. doi:10.1371/journal.pone.0132226 – PMC4549266 – </a:t>
            </a:r>
            <a:r>
              <a:rPr sz="1300" b="0" i="0">
                <a:solidFill>
                  <a:srgbClr val="1F2A44"/>
                </a:solidFill>
                <a:latin typeface="Calibri"/>
              </a:rPr>
              <a:t>CC BY</a:t>
            </a:r>
          </a:p>
          <a:p>
            <a:pPr algn="l">
              <a:spcAft>
                <a:spcPts val="300"/>
              </a:spcAft>
            </a:pPr>
            <a:r>
              <a:rPr sz="1300" b="0" i="0">
                <a:solidFill>
                  <a:srgbClr val="1F2A44"/>
                </a:solidFill>
                <a:latin typeface="Calibri"/>
              </a:rPr>
              <a:t>• Manzini Claudia, van den Noort Frieda, Grob Anique T. M. et al. Appearance of the levator ani muscle subdivisions on 3D transperineal ultrasound. </a:t>
            </a:r>
            <a:r>
              <a:rPr sz="1300" b="0" i="0">
                <a:solidFill>
                  <a:srgbClr val="1F2A44"/>
                </a:solidFill>
                <a:latin typeface="Calibri"/>
              </a:rPr>
              <a:t>Insights into Imaging</a:t>
            </a:r>
            <a:r>
              <a:rPr sz="1300" b="0" i="0">
                <a:solidFill>
                  <a:srgbClr val="1F2A44"/>
                </a:solidFill>
                <a:latin typeface="Calibri"/>
              </a:rPr>
              <a:t> 2021. doi:10.1186/s13244-021-01037-y – PMC8253870 – </a:t>
            </a:r>
            <a:r>
              <a:rPr sz="1300" b="0" i="0">
                <a:solidFill>
                  <a:srgbClr val="1F2A44"/>
                </a:solidFill>
                <a:latin typeface="Calibri"/>
              </a:rPr>
              <a:t>CC BY</a:t>
            </a:r>
          </a:p>
          <a:p>
            <a:pPr algn="l">
              <a:spcAft>
                <a:spcPts val="300"/>
              </a:spcAft>
            </a:pPr>
            <a:r>
              <a:rPr sz="1300" b="0" i="0">
                <a:solidFill>
                  <a:srgbClr val="1F2A44"/>
                </a:solidFill>
                <a:latin typeface="Calibri"/>
              </a:rPr>
              <a:t>• Kampelmann Morten, Grindley Carina, Mühlfeld Christian et al. Macroscopical and histological characterization of the perineal membrane and deep perineal pouch. </a:t>
            </a:r>
            <a:r>
              <a:rPr sz="1300" b="0" i="0">
                <a:solidFill>
                  <a:srgbClr val="1F2A44"/>
                </a:solidFill>
                <a:latin typeface="Calibri"/>
              </a:rPr>
              <a:t>Journal of Anatomy</a:t>
            </a:r>
            <a:r>
              <a:rPr sz="1300" b="0" i="0">
                <a:solidFill>
                  <a:srgbClr val="1F2A44"/>
                </a:solidFill>
                <a:latin typeface="Calibri"/>
              </a:rPr>
              <a:t> 2025. doi:10.1111/joa.70057 – PMC13069139 – </a:t>
            </a:r>
            <a:r>
              <a:rPr sz="1300" b="0" i="0">
                <a:solidFill>
                  <a:srgbClr val="1F2A44"/>
                </a:solidFill>
                <a:latin typeface="Calibri"/>
              </a:rPr>
              <a:t>CC BY</a:t>
            </a:r>
          </a:p>
          <a:p>
            <a:pPr algn="l">
              <a:spcAft>
                <a:spcPts val="300"/>
              </a:spcAft>
            </a:pPr>
            <a:r>
              <a:rPr sz="1300" b="0" i="0">
                <a:solidFill>
                  <a:srgbClr val="1F2A44"/>
                </a:solidFill>
                <a:latin typeface="Calibri"/>
              </a:rPr>
              <a:t>• Muro Satoru, Chang Liu, Tharnmanularp Suthasinee et al. Presence of smooth muscle continuous with the rectal and vaginal walls in the deep perineal space prompts reconsideration of the deep transverse perineal muscle. </a:t>
            </a:r>
            <a:r>
              <a:rPr sz="1300" b="0" i="0">
                <a:solidFill>
                  <a:srgbClr val="1F2A44"/>
                </a:solidFill>
                <a:latin typeface="Calibri"/>
              </a:rPr>
              <a:t>Scientific Reports</a:t>
            </a:r>
            <a:r>
              <a:rPr sz="1300" b="0" i="0">
                <a:solidFill>
                  <a:srgbClr val="1F2A44"/>
                </a:solidFill>
                <a:latin typeface="Calibri"/>
              </a:rPr>
              <a:t> 2025. doi:10.1038/s41598-025-09585-9 – PMC12229694 – </a:t>
            </a:r>
            <a:r>
              <a:rPr sz="1300" b="0" i="0">
                <a:solidFill>
                  <a:srgbClr val="1F2A44"/>
                </a:solidFill>
                <a:latin typeface="Calibri"/>
              </a:rPr>
              <a:t>CC BY</a:t>
            </a:r>
          </a:p>
          <a:p>
            <a:pPr algn="l">
              <a:spcAft>
                <a:spcPts val="300"/>
              </a:spcAft>
            </a:pPr>
            <a:r>
              <a:rPr sz="1300" b="0" i="0">
                <a:solidFill>
                  <a:srgbClr val="1F2A44"/>
                </a:solidFill>
                <a:latin typeface="Calibri"/>
              </a:rPr>
              <a:t>• Hinata Nobuyuki, Murakami Gen The Urethral Rhabdosphincter, Levator Ani Muscle, and Perineal Membrane: A Review. </a:t>
            </a:r>
            <a:r>
              <a:rPr sz="1300" b="0" i="0">
                <a:solidFill>
                  <a:srgbClr val="1F2A44"/>
                </a:solidFill>
                <a:latin typeface="Calibri"/>
              </a:rPr>
              <a:t>BioMed Research International</a:t>
            </a:r>
            <a:r>
              <a:rPr sz="1300" b="0" i="0">
                <a:solidFill>
                  <a:srgbClr val="1F2A44"/>
                </a:solidFill>
                <a:latin typeface="Calibri"/>
              </a:rPr>
              <a:t> 2014. doi:10.1155/2014/906921 – PMC4022307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(2)</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Li Yi, Zhao Ya-Min, Ma Yan-Bing et al. The “Y”-shaped Denonvilliers’ fascia and its adjacent relationship with the urogenital fascia based on a male cadaveric anatomical study. </a:t>
            </a:r>
            <a:r>
              <a:rPr sz="1300" b="0" i="0">
                <a:solidFill>
                  <a:srgbClr val="1F2A44"/>
                </a:solidFill>
                <a:latin typeface="Calibri"/>
              </a:rPr>
              <a:t>BMC Surgery</a:t>
            </a:r>
            <a:r>
              <a:rPr sz="1300" b="0" i="0">
                <a:solidFill>
                  <a:srgbClr val="1F2A44"/>
                </a:solidFill>
                <a:latin typeface="Calibri"/>
              </a:rPr>
              <a:t> 2023. doi:10.1186/s12893-023-01913-y – PMC9843937 – </a:t>
            </a:r>
            <a:r>
              <a:rPr sz="1300" b="0" i="0">
                <a:solidFill>
                  <a:srgbClr val="1F2A44"/>
                </a:solidFill>
                <a:latin typeface="Calibri"/>
              </a:rPr>
              <a:t>CC BY</a:t>
            </a:r>
          </a:p>
          <a:p>
            <a:pPr algn="l">
              <a:spcAft>
                <a:spcPts val="300"/>
              </a:spcAft>
            </a:pPr>
            <a:r>
              <a:rPr sz="1300" b="0" i="0">
                <a:solidFill>
                  <a:srgbClr val="1F2A44"/>
                </a:solidFill>
                <a:latin typeface="Calibri"/>
              </a:rPr>
              <a:t>• Muraoka Kuniyasu, Hinata Nobuyuki, Morizane Shuichi et al. Site-dependent and interindividual variations in Denonvilliers’ fascia: a histological study using donated elderly male cadavers. </a:t>
            </a:r>
            <a:r>
              <a:rPr sz="1300" b="0" i="0">
                <a:solidFill>
                  <a:srgbClr val="1F2A44"/>
                </a:solidFill>
                <a:latin typeface="Calibri"/>
              </a:rPr>
              <a:t>BMC Urology</a:t>
            </a:r>
            <a:r>
              <a:rPr sz="1300" b="0" i="0">
                <a:solidFill>
                  <a:srgbClr val="1F2A44"/>
                </a:solidFill>
                <a:latin typeface="Calibri"/>
              </a:rPr>
              <a:t> 2015. doi:10.1186/s12894-015-0034-5 – PMC4433060 – </a:t>
            </a:r>
            <a:r>
              <a:rPr sz="1300" b="0" i="0">
                <a:solidFill>
                  <a:srgbClr val="1F2A44"/>
                </a:solidFill>
                <a:latin typeface="Calibri"/>
              </a:rPr>
              <a:t>CC BY</a:t>
            </a:r>
          </a:p>
          <a:p>
            <a:pPr algn="l">
              <a:spcAft>
                <a:spcPts val="300"/>
              </a:spcAft>
            </a:pPr>
            <a:r>
              <a:rPr sz="1300" b="0" i="0">
                <a:solidFill>
                  <a:srgbClr val="1F2A44"/>
                </a:solidFill>
                <a:latin typeface="Calibri"/>
              </a:rPr>
              <a:t>• Yang Seung Yoon, Kim Ho Seung, Cho Min Soo et al. Three-dimensional anatomy of the Denonvilliers’ fascia after micro-CT reconstruction. </a:t>
            </a:r>
            <a:r>
              <a:rPr sz="1300" b="0" i="0">
                <a:solidFill>
                  <a:srgbClr val="1F2A44"/>
                </a:solidFill>
                <a:latin typeface="Calibri"/>
              </a:rPr>
              <a:t>Scientific Reports</a:t>
            </a:r>
            <a:r>
              <a:rPr sz="1300" b="0" i="0">
                <a:solidFill>
                  <a:srgbClr val="1F2A44"/>
                </a:solidFill>
                <a:latin typeface="Calibri"/>
              </a:rPr>
              <a:t> 2021. doi:10.1038/s41598-021-01106-8 – PMC8571354 – </a:t>
            </a:r>
            <a:r>
              <a:rPr sz="1300" b="0" i="0">
                <a:solidFill>
                  <a:srgbClr val="1F2A44"/>
                </a:solidFill>
                <a:latin typeface="Calibri"/>
              </a:rPr>
              <a:t>CC BY</a:t>
            </a:r>
          </a:p>
          <a:p>
            <a:pPr algn="l">
              <a:spcAft>
                <a:spcPts val="300"/>
              </a:spcAft>
            </a:pPr>
            <a:r>
              <a:rPr sz="1300" b="0" i="0">
                <a:solidFill>
                  <a:srgbClr val="1F2A44"/>
                </a:solidFill>
                <a:latin typeface="Calibri"/>
              </a:rPr>
              <a:t>• García-Gausí María, García-Armengol Juan, Pellino Gianluca et al. Navigating surgical anatomy of the Denonvilliers’ fascia and dissection planes of the anterior mesorectum with a cadaveric simulation model. </a:t>
            </a:r>
            <a:r>
              <a:rPr sz="1300" b="0" i="0">
                <a:solidFill>
                  <a:srgbClr val="1F2A44"/>
                </a:solidFill>
                <a:latin typeface="Calibri"/>
              </a:rPr>
              <a:t>Updates in Surgery</a:t>
            </a:r>
            <a:r>
              <a:rPr sz="1300" b="0" i="0">
                <a:solidFill>
                  <a:srgbClr val="1F2A44"/>
                </a:solidFill>
                <a:latin typeface="Calibri"/>
              </a:rPr>
              <a:t> 2022. doi:10.1007/s13304-022-01252-2 – PMC8995278 – </a:t>
            </a:r>
            <a:r>
              <a:rPr sz="1300" b="0" i="0">
                <a:solidFill>
                  <a:srgbClr val="1F2A44"/>
                </a:solidFill>
                <a:latin typeface="Calibri"/>
              </a:rPr>
              <a:t>CC BY</a:t>
            </a:r>
          </a:p>
          <a:p>
            <a:pPr algn="l">
              <a:spcAft>
                <a:spcPts val="300"/>
              </a:spcAft>
            </a:pPr>
            <a:r>
              <a:rPr sz="1300" b="0" i="0">
                <a:solidFill>
                  <a:srgbClr val="1F2A44"/>
                </a:solidFill>
                <a:latin typeface="Calibri"/>
              </a:rPr>
              <a:t>• Kim Nam Kyu Anatomic Basis of Sharp Pelvic Dissection for Curative Resection of Rectal Cancer. </a:t>
            </a:r>
            <a:r>
              <a:rPr sz="1300" b="0" i="0">
                <a:solidFill>
                  <a:srgbClr val="1F2A44"/>
                </a:solidFill>
                <a:latin typeface="Calibri"/>
              </a:rPr>
              <a:t>Yonsei Medical Journal</a:t>
            </a:r>
            <a:r>
              <a:rPr sz="1300" b="0" i="0">
                <a:solidFill>
                  <a:srgbClr val="1F2A44"/>
                </a:solidFill>
                <a:latin typeface="Calibri"/>
              </a:rPr>
              <a:t> 2005. doi:10.3349/ymj.2005.46.6.737 – PMC2810586 – </a:t>
            </a:r>
            <a:r>
              <a:rPr sz="1300" b="0" i="0">
                <a:solidFill>
                  <a:srgbClr val="1F2A44"/>
                </a:solidFill>
                <a:latin typeface="Calibri"/>
              </a:rPr>
              <a:t>CC BY-NC</a:t>
            </a:r>
          </a:p>
          <a:p>
            <a:pPr algn="l">
              <a:spcAft>
                <a:spcPts val="300"/>
              </a:spcAft>
            </a:pPr>
            <a:r>
              <a:rPr sz="1300" b="0" i="0">
                <a:solidFill>
                  <a:srgbClr val="1F2A44"/>
                </a:solidFill>
                <a:latin typeface="Calibri"/>
              </a:rPr>
              <a:t>• Sears Shalondria J, Menendez Katherine, Cobo Dominguez Beatriz et al. Fournier’s Gangrene in an Elderly Male: A Case Report. </a:t>
            </a:r>
            <a:r>
              <a:rPr sz="1300" b="0" i="0">
                <a:solidFill>
                  <a:srgbClr val="1F2A44"/>
                </a:solidFill>
                <a:latin typeface="Calibri"/>
              </a:rPr>
              <a:t>Cureus</a:t>
            </a:r>
            <a:r>
              <a:rPr sz="1300" b="0" i="0">
                <a:solidFill>
                  <a:srgbClr val="1F2A44"/>
                </a:solidFill>
                <a:latin typeface="Calibri"/>
              </a:rPr>
              <a:t> 2024. doi:10.7759/cureus.64019 – PMC11304407 – </a:t>
            </a:r>
            <a:r>
              <a:rPr sz="1300" b="0" i="0">
                <a:solidFill>
                  <a:srgbClr val="1F2A44"/>
                </a:solidFill>
                <a:latin typeface="Calibri"/>
              </a:rPr>
              <a:t>CC BY</a:t>
            </a:r>
          </a:p>
          <a:p>
            <a:pPr algn="l">
              <a:spcAft>
                <a:spcPts val="300"/>
              </a:spcAft>
            </a:pPr>
            <a:r>
              <a:rPr sz="1300" b="0" i="0">
                <a:solidFill>
                  <a:srgbClr val="1F2A44"/>
                </a:solidFill>
                <a:latin typeface="Calibri"/>
              </a:rPr>
              <a:t>• Garner Danielle K., Patel Akash B., Hung Jun et al. Midline and Mediolateral Episiotomy: Risk Assessment Based on Clinical Anatomy. </a:t>
            </a:r>
            <a:r>
              <a:rPr sz="1300" b="0" i="0">
                <a:solidFill>
                  <a:srgbClr val="1F2A44"/>
                </a:solidFill>
                <a:latin typeface="Calibri"/>
              </a:rPr>
              <a:t>Diagnostics</a:t>
            </a:r>
            <a:r>
              <a:rPr sz="1300" b="0" i="0">
                <a:solidFill>
                  <a:srgbClr val="1F2A44"/>
                </a:solidFill>
                <a:latin typeface="Calibri"/>
              </a:rPr>
              <a:t> 2021. doi:10.3390/diagnostics11020221 – PMC7913006 – </a:t>
            </a:r>
            <a:r>
              <a:rPr sz="1300" b="0" i="0">
                <a:solidFill>
                  <a:srgbClr val="1F2A44"/>
                </a:solidFill>
                <a:latin typeface="Calibri"/>
              </a:rPr>
              <a:t>CC BY</a:t>
            </a:r>
          </a:p>
          <a:p>
            <a:pPr algn="l">
              <a:spcAft>
                <a:spcPts val="300"/>
              </a:spcAft>
            </a:pPr>
            <a:r>
              <a:rPr sz="1300" b="0" i="0">
                <a:solidFill>
                  <a:srgbClr val="1F2A44"/>
                </a:solidFill>
                <a:latin typeface="Calibri"/>
              </a:rPr>
              <a:t>• Golden Edwarda, Cooke Siobhan, Butler Elise et al. Under the hood: vulvar anatomy and pathology with a focus on MRI. </a:t>
            </a:r>
            <a:r>
              <a:rPr sz="1300" b="0" i="0">
                <a:solidFill>
                  <a:srgbClr val="1F2A44"/>
                </a:solidFill>
                <a:latin typeface="Calibri"/>
              </a:rPr>
              <a:t>Abdominal Radiology (New York)</a:t>
            </a:r>
            <a:r>
              <a:rPr sz="1300" b="0" i="0">
                <a:solidFill>
                  <a:srgbClr val="1F2A44"/>
                </a:solidFill>
                <a:latin typeface="Calibri"/>
              </a:rPr>
              <a:t> 2025. doi:10.1007/s00261-025-05179-1 – PMC13013239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(3)</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Regent Bartosz, Nowak Karolina, Skrobisz Katarzyna et al. MRI of the Scrotum and Penis: Current Applications and Clinical Relevance. </a:t>
            </a:r>
            <a:r>
              <a:rPr sz="1300" b="0" i="0">
                <a:solidFill>
                  <a:srgbClr val="1F2A44"/>
                </a:solidFill>
                <a:latin typeface="Calibri"/>
              </a:rPr>
              <a:t>Diagnostics</a:t>
            </a:r>
            <a:r>
              <a:rPr sz="1300" b="0" i="0">
                <a:solidFill>
                  <a:srgbClr val="1F2A44"/>
                </a:solidFill>
                <a:latin typeface="Calibri"/>
              </a:rPr>
              <a:t> 2025. doi:10.3390/diagnostics15243134 – PMC12732017 – </a:t>
            </a:r>
            <a:r>
              <a:rPr sz="1300" b="0" i="0">
                <a:solidFill>
                  <a:srgbClr val="1F2A44"/>
                </a:solidFill>
                <a:latin typeface="Calibri"/>
              </a:rPr>
              <a:t>CC BY</a:t>
            </a:r>
          </a:p>
          <a:p>
            <a:pPr algn="l">
              <a:spcAft>
                <a:spcPts val="300"/>
              </a:spcAft>
            </a:pPr>
            <a:r>
              <a:rPr sz="1300" b="0" i="0">
                <a:solidFill>
                  <a:srgbClr val="1F2A44"/>
                </a:solidFill>
                <a:latin typeface="Calibri"/>
              </a:rPr>
              <a:t>• Alshoabi Sultan Abdulwadoud, Binnuhaid Abdulkhaleq Ayedh, Magram Abdullatif O. et al. Perianal Fistulae Medical Imaging Maps: A Pictorial Diagnostic Review. </a:t>
            </a:r>
            <a:r>
              <a:rPr sz="1300" b="0" i="0">
                <a:solidFill>
                  <a:srgbClr val="1F2A44"/>
                </a:solidFill>
                <a:latin typeface="Calibri"/>
              </a:rPr>
              <a:t>Diagnostics</a:t>
            </a:r>
            <a:r>
              <a:rPr sz="1300" b="0" i="0">
                <a:solidFill>
                  <a:srgbClr val="1F2A44"/>
                </a:solidFill>
                <a:latin typeface="Calibri"/>
              </a:rPr>
              <a:t> 2026. doi:10.3390/diagnostics16162584 – PMC13512459 – </a:t>
            </a:r>
            <a:r>
              <a:rPr sz="1300" b="0" i="0">
                <a:solidFill>
                  <a:srgbClr val="1F2A44"/>
                </a:solidFill>
                <a:latin typeface="Calibri"/>
              </a:rPr>
              <a:t>CC BY</a:t>
            </a:r>
          </a:p>
          <a:p>
            <a:pPr algn="l">
              <a:spcAft>
                <a:spcPts val="300"/>
              </a:spcAft>
            </a:pPr>
            <a:r>
              <a:rPr sz="1300" b="0" i="0">
                <a:solidFill>
                  <a:srgbClr val="1F2A44"/>
                </a:solidFill>
                <a:latin typeface="Calibri"/>
              </a:rPr>
              <a:t>• Carter Dan, Ram Edward, Engel Tal Combined 3D Endoanal Ultrasound and Transperineal Ultrasound Improves the Detection of Anal Sphincter Defects †. </a:t>
            </a:r>
            <a:r>
              <a:rPr sz="1300" b="0" i="0">
                <a:solidFill>
                  <a:srgbClr val="1F2A44"/>
                </a:solidFill>
                <a:latin typeface="Calibri"/>
              </a:rPr>
              <a:t>Diagnostics</a:t>
            </a:r>
            <a:r>
              <a:rPr sz="1300" b="0" i="0">
                <a:solidFill>
                  <a:srgbClr val="1F2A44"/>
                </a:solidFill>
                <a:latin typeface="Calibri"/>
              </a:rPr>
              <a:t> 2023. doi:10.3390/diagnostics13040682 – PMC9955566 – </a:t>
            </a:r>
            <a:r>
              <a:rPr sz="1300" b="0" i="0">
                <a:solidFill>
                  <a:srgbClr val="1F2A44"/>
                </a:solidFill>
                <a:latin typeface="Calibri"/>
              </a:rPr>
              <a:t>CC BY</a:t>
            </a:r>
          </a:p>
          <a:p>
            <a:pPr algn="l">
              <a:spcAft>
                <a:spcPts val="300"/>
              </a:spcAft>
            </a:pPr>
            <a:r>
              <a:rPr sz="1300" b="0" i="0">
                <a:solidFill>
                  <a:srgbClr val="1F2A44"/>
                </a:solidFill>
                <a:latin typeface="Calibri"/>
              </a:rPr>
              <a:t>• Gaeta Michele, Turturici Sofia, Galletta Karol et al. MRI in Chronic Pudendal Neuralgia: Diagnostic Criteria and Associated Pathologies. </a:t>
            </a:r>
            <a:r>
              <a:rPr sz="1300" b="0" i="0">
                <a:solidFill>
                  <a:srgbClr val="1F2A44"/>
                </a:solidFill>
                <a:latin typeface="Calibri"/>
              </a:rPr>
              <a:t>Diagnostics</a:t>
            </a:r>
            <a:r>
              <a:rPr sz="1300" b="0" i="0">
                <a:solidFill>
                  <a:srgbClr val="1F2A44"/>
                </a:solidFill>
                <a:latin typeface="Calibri"/>
              </a:rPr>
              <a:t> 2026. doi:10.3390/diagnostics16020326 – PMC12840153 – </a:t>
            </a:r>
            <a:r>
              <a:rPr sz="1300" b="0" i="0">
                <a:solidFill>
                  <a:srgbClr val="1F2A44"/>
                </a:solidFill>
                <a:latin typeface="Calibri"/>
              </a:rPr>
              <a:t>CC BY</a:t>
            </a:r>
          </a:p>
          <a:p>
            <a:pPr algn="l">
              <a:spcAft>
                <a:spcPts val="300"/>
              </a:spcAft>
            </a:pPr>
            <a:r>
              <a:rPr sz="1300" b="0" i="0">
                <a:solidFill>
                  <a:srgbClr val="1F2A44"/>
                </a:solidFill>
                <a:latin typeface="Calibri"/>
              </a:rPr>
              <a:t>• Rotstein Emilia, Rose Nina, Starck Marianne et al. Three‐dimensional endoanal ultrasound measurements for the assessment of perineal body size in a cohort of Swedish nulligravidae. </a:t>
            </a:r>
            <a:r>
              <a:rPr sz="1300" b="0" i="0">
                <a:solidFill>
                  <a:srgbClr val="1F2A44"/>
                </a:solidFill>
                <a:latin typeface="Calibri"/>
              </a:rPr>
              <a:t>Acta Obstetricia et Gynecologica Scandinavica</a:t>
            </a:r>
            <a:r>
              <a:rPr sz="1300" b="0" i="0">
                <a:solidFill>
                  <a:srgbClr val="1F2A44"/>
                </a:solidFill>
                <a:latin typeface="Calibri"/>
              </a:rPr>
              <a:t> 2026. doi:10.1111/aogs.70227 – PMC13308972 – </a:t>
            </a:r>
            <a:r>
              <a:rPr sz="1300" b="0" i="0">
                <a:solidFill>
                  <a:srgbClr val="1F2A44"/>
                </a:solidFill>
                <a:latin typeface="Calibri"/>
              </a:rPr>
              <a:t>CC BY</a:t>
            </a:r>
          </a:p>
          <a:p>
            <a:pPr algn="l">
              <a:spcAft>
                <a:spcPts val="300"/>
              </a:spcAft>
            </a:pPr>
            <a:r>
              <a:rPr sz="1300" b="0" i="0">
                <a:solidFill>
                  <a:srgbClr val="1F2A44"/>
                </a:solidFill>
                <a:latin typeface="Calibri"/>
              </a:rPr>
              <a:t>• Ranjan Rajiv, Chanda Camellia, Kushwaha Rajesh et al. Anatomical Study of the Variants of the Extrapelvic Part of the Pudendal Nerve. </a:t>
            </a:r>
            <a:r>
              <a:rPr sz="1300" b="0" i="0">
                <a:solidFill>
                  <a:srgbClr val="1F2A44"/>
                </a:solidFill>
                <a:latin typeface="Calibri"/>
              </a:rPr>
              <a:t>Cureus</a:t>
            </a:r>
            <a:r>
              <a:rPr sz="1300" b="0" i="0">
                <a:solidFill>
                  <a:srgbClr val="1F2A44"/>
                </a:solidFill>
                <a:latin typeface="Calibri"/>
              </a:rPr>
              <a:t> 2022. doi:10.7759/cureus.28281 – PMC9492552 – </a:t>
            </a:r>
            <a:r>
              <a:rPr sz="1300" b="0" i="0">
                <a:solidFill>
                  <a:srgbClr val="1F2A44"/>
                </a:solidFill>
                <a:latin typeface="Calibri"/>
              </a:rPr>
              <a:t>CC BY</a:t>
            </a:r>
          </a:p>
          <a:p>
            <a:pPr algn="l">
              <a:spcAft>
                <a:spcPts val="300"/>
              </a:spcAft>
            </a:pPr>
            <a:r>
              <a:rPr sz="1300" b="0" i="0">
                <a:solidFill>
                  <a:srgbClr val="1F2A44"/>
                </a:solidFill>
                <a:latin typeface="Calibri"/>
              </a:rPr>
              <a:t>• Yang Junjie, Webb Katie E., Carrington Emma V. et al. Anatomical Variation of the Pudendal Nerve and Related Structures. </a:t>
            </a:r>
            <a:r>
              <a:rPr sz="1300" b="0" i="0">
                <a:solidFill>
                  <a:srgbClr val="1F2A44"/>
                </a:solidFill>
                <a:latin typeface="Calibri"/>
              </a:rPr>
              <a:t>European Urology Open Science</a:t>
            </a:r>
            <a:r>
              <a:rPr sz="1300" b="0" i="0">
                <a:solidFill>
                  <a:srgbClr val="1F2A44"/>
                </a:solidFill>
                <a:latin typeface="Calibri"/>
              </a:rPr>
              <a:t> 2026. doi:10.1016/j.euros.2026.01.015 – PMC12908042 – </a:t>
            </a:r>
            <a:r>
              <a:rPr sz="1300" b="0" i="0">
                <a:solidFill>
                  <a:srgbClr val="1F2A44"/>
                </a:solidFill>
                <a:latin typeface="Calibri"/>
              </a:rPr>
              <a:t>CC BY</a:t>
            </a:r>
          </a:p>
          <a:p>
            <a:pPr algn="l">
              <a:spcAft>
                <a:spcPts val="300"/>
              </a:spcAft>
            </a:pPr>
            <a:r>
              <a:rPr sz="1300" b="0" i="0">
                <a:solidFill>
                  <a:srgbClr val="1F2A44"/>
                </a:solidFill>
                <a:latin typeface="Calibri"/>
              </a:rPr>
              <a:t>• Suganya Grace, Ray Biswabina, Bharadwaj Yashu Morphology and morphometry of pudendal nerve in East Indian population with surgical implications: a cadaveric study. </a:t>
            </a:r>
            <a:r>
              <a:rPr sz="1300" b="0" i="0">
                <a:solidFill>
                  <a:srgbClr val="1F2A44"/>
                </a:solidFill>
                <a:latin typeface="Calibri"/>
              </a:rPr>
              <a:t>Anatomy &amp; Cell Biology</a:t>
            </a:r>
            <a:r>
              <a:rPr sz="1300" b="0" i="0">
                <a:solidFill>
                  <a:srgbClr val="1F2A44"/>
                </a:solidFill>
                <a:latin typeface="Calibri"/>
              </a:rPr>
              <a:t> 2025. doi:10.5115/acb.25.012 – PMC12519013 – </a:t>
            </a:r>
            <a:r>
              <a:rPr sz="1300" b="0" i="0">
                <a:solidFill>
                  <a:srgbClr val="1F2A44"/>
                </a:solidFill>
                <a:latin typeface="Calibri"/>
              </a:rPr>
              <a:t>CC BY-NC</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(4)</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1300" b="0" i="0">
                <a:solidFill>
                  <a:srgbClr val="1F2A44"/>
                </a:solidFill>
                <a:latin typeface="Calibri"/>
              </a:rPr>
              <a:t>• Badagabettu Satheesha Nayak, Padur Ashwini Aithal, Shetty Surekha Devadasa Variations in the branching pattern of the internal iliac artery and its implications in trauma and surgery – a South Indian cadaveric study. </a:t>
            </a:r>
            <a:r>
              <a:rPr sz="1300" b="0" i="0">
                <a:solidFill>
                  <a:srgbClr val="1F2A44"/>
                </a:solidFill>
                <a:latin typeface="Calibri"/>
              </a:rPr>
              <a:t>Jornal Vascular Brasileiro</a:t>
            </a:r>
            <a:r>
              <a:rPr sz="1300" b="0" i="0">
                <a:solidFill>
                  <a:srgbClr val="1F2A44"/>
                </a:solidFill>
                <a:latin typeface="Calibri"/>
              </a:rPr>
              <a:t> 2025. doi:10.1590/1677-5449.202400752 – PMC11961128 – </a:t>
            </a:r>
            <a:r>
              <a:rPr sz="1300" b="0" i="0">
                <a:solidFill>
                  <a:srgbClr val="1F2A44"/>
                </a:solidFill>
                <a:latin typeface="Calibri"/>
              </a:rPr>
              <a:t>CC BY</a:t>
            </a:r>
          </a:p>
          <a:p>
            <a:pPr algn="l">
              <a:spcAft>
                <a:spcPts val="300"/>
              </a:spcAft>
            </a:pPr>
            <a:r>
              <a:rPr sz="1300" b="0" i="0">
                <a:solidFill>
                  <a:srgbClr val="1F2A44"/>
                </a:solidFill>
                <a:latin typeface="Calibri"/>
              </a:rPr>
              <a:t>• Yan Yulin, Dou Chaoran, Wang Xia et al. Combination of tomographic ultrasound imaging and three-dimensional magnetic resonance imaging-based model to diagnose postpartum levator avulsion. </a:t>
            </a:r>
            <a:r>
              <a:rPr sz="1300" b="0" i="0">
                <a:solidFill>
                  <a:srgbClr val="1F2A44"/>
                </a:solidFill>
                <a:latin typeface="Calibri"/>
              </a:rPr>
              <a:t>Scientific Reports</a:t>
            </a:r>
            <a:r>
              <a:rPr sz="1300" b="0" i="0">
                <a:solidFill>
                  <a:srgbClr val="1F2A44"/>
                </a:solidFill>
                <a:latin typeface="Calibri"/>
              </a:rPr>
              <a:t> 2017. doi:10.1038/s41598-017-08201-9 – PMC5593956 – </a:t>
            </a:r>
            <a:r>
              <a:rPr sz="1300" b="0" i="0">
                <a:solidFill>
                  <a:srgbClr val="1F2A44"/>
                </a:solidFill>
                <a:latin typeface="Calibri"/>
              </a:rPr>
              <a:t>CC BY</a:t>
            </a:r>
          </a:p>
          <a:p>
            <a:pPr algn="l">
              <a:spcAft>
                <a:spcPts val="300"/>
              </a:spcAft>
            </a:pPr>
            <a:r>
              <a:rPr sz="1300" b="0" i="0">
                <a:solidFill>
                  <a:srgbClr val="1F2A44"/>
                </a:solidFill>
                <a:latin typeface="Calibri"/>
              </a:rPr>
              <a:t>• Coalter Wendy S, Siddiqui Salman A Translevator perineal hernia; an incidental rare imaging presentation. </a:t>
            </a:r>
            <a:r>
              <a:rPr sz="1300" b="0" i="0">
                <a:solidFill>
                  <a:srgbClr val="1F2A44"/>
                </a:solidFill>
                <a:latin typeface="Calibri"/>
              </a:rPr>
              <a:t>BJR | Case Reports</a:t>
            </a:r>
            <a:r>
              <a:rPr sz="1300" b="0" i="0">
                <a:solidFill>
                  <a:srgbClr val="1F2A44"/>
                </a:solidFill>
                <a:latin typeface="Calibri"/>
              </a:rPr>
              <a:t> 2022. doi:10.1259/bjrcr.20220009 – PMC9668258 – </a:t>
            </a:r>
            <a:r>
              <a:rPr sz="130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90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