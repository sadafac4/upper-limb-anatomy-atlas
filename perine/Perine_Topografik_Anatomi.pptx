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Şekil altyazısı (özgün, FIGURE 1): Superficial perineal region including the columnar structure. (a) Inferior aspect of the male pelvis after removal of the perineal subcutaneous tissue. The EAS, STP, Bs, and Ic are observed. A portion of the muscle bundles of the EAS extends anteriorly and continues to the Bs in the midline (arrow heads). (b) Magnified view of the rectangular area of (a) after removal of the muscle bundles in the midline. The EAS and STP share muscle bundles and are continuous (arrow heads). (c) Image taken after removal of the Bs and the connecting muscle bundles between the EAS and STP. The columnar structure (indicated by the circle) is observed in the median region anterior to the EAS and has vertically aligned fibers (craniocaudal direction). The muscle bundles of the STP extend to both the ventral and dorsal sides of this structure. Circle, the columnar structure; Bs, bulbospongiosus; Co, coccyx; CSP, corpus spongiosum penis; EAS, external anal sphincter; Ic, ischiocavernosus; IPR, ischiopubic ramus; IT, ischial tuberosity; n, nerve; STP, superficial transverse perineal muscle [Color figure can be viewed at wileyonlinelibrary.com]</a:t>
            </a:r>
          </a:p>
          <a:p>
            <a:r>
              <a:t>Görüntüdeki özgün etiketler: (a) Inferior aspect, Bs, IPR, Ic, IT, STP, EAS, Anus, Co, arrowheads, R/L/Anterior; (b) IPR, Ic, Bs, IT, n, STP, EAS; (c) IPR, Ic, CSP, IT, STP, EAS, circle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Önce ortak kasları gösterin (m. ischiocavernosus, m. bulbospongiosus, m. transversus perinei superficialis), sonra regio analis'teki m. sphincter ani externus ve m. levator ani.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Şekil altyazısı (özgün, Figure 4): Female perineum dissected to reveal all perineal structures accessed by continuing a mediolateral episiotomy incision. The neurovascular bundles contain branches of the superficial (S) and deep (D) perineal nerves and the internal pudendal artery. *Bulb of the vestibule overlain by the bulbospongiosus muscle.</a:t>
            </a:r>
          </a:p>
          <a:p>
            <a:r>
              <a:t>Görüntüdeki özgün etiketler: Suspensory ligament of the clitoris; Body of the clitoris; Crus of the clitoris (2 arrows); Glans clitoridis; Neurovascular bundles; S; D; *; Labum majus [sic]; Superficial transverse perineal 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Şekil altyazısı (özgün, Fig. 2): Whole pelvis dissection, inferior aspect. The muscle bundle of the BS fuses with the lateral surface of the EAS. The superficial transverse perineal muscle crosses the BS superiorly. STP Superficial transverse perineal muscle</a:t>
            </a:r>
          </a:p>
          <a:p>
            <a:r>
              <a:t>Görüntüdeki özgün etiketler: IC, BS, STP, EAS; Anterior / Medial orientation arrows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Şekil altyazısı (özgün, Figure 3): Representative anatomy of the perineum based on our dissections. Most commonly, the perineal body was not a major site of muscle attachment. The bulbospongiosus muscle was continuous with the superficial portion of the external anal sphincter (EAS), both innervated by branches of the perineal nerves. The inferior rectal nerve innervated the subcutaneous EAS and skin around the anus. The bulb of the vestibule extended to the posterior fourchette, with the greater vestibular gland anchored to its posterior margin.</a:t>
            </a:r>
          </a:p>
          <a:p>
            <a:r>
              <a:t>Görüntüdeki özgün etiketler: Body of the clitoris, Bulbospongiosus m., Crus, Posterior labia nn., Deep perineal n., Bulb of the vestibule, Superficial perineal n., Greater vestibular gland, Inferior rectal n., Superficial EAS, Pudendal n., Subcutaneous EAS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Şekil altyazısı (özgün, Figure 1): Internal view of the pelvic wall. The red dotted line marks the internal pudendal artery and its branches; the green arrows mark the internal pudendal nerve and its branches: Dorsal nerve of clitoris, perineal, inferior rectal nerves; S1-S4, anterior branches of the sacral plexus. 1, Internal iliac artery; 2, superior gluteal artery; 3, inferior gluteal artery; 4, obturator nerve; 5, internal obturator muscle; 6, levator ani muscle (reflected); 7, levator ani muscle (cut); 8, piriformis muscle; 9, sacrospinous ligament; 10, coccygeus muscle; 11, anococcygeal ligament; 12, coccyx bone 13, rectum. 14, pubic bone; 15, sympathetic trunk.</a:t>
            </a:r>
          </a:p>
          <a:p>
            <a:r>
              <a:t>Görüntüdeki özgün etiketler: numbers 1-15, LST, S1-S4; red dotted line (internal pudendal artery); green arrows (pudendal nerve and branches)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Cevaplar: 1) İki tuber ischiadicum. 2) Cowper (bulbourethralis) derin, Bartholin (vestibularis major) yüzeyel aralıkta. 3) Colles fasyası uylukta fascia lata'ya, arkada membrana perinei'ye yapışır. 4) Foramen ischiadicum minus; canalis pudendalis (Alcock). 5) Medial: m. levator ani + m. sphincter ani externus; lateral: m. obturatorius internus + fasyası. 6) M. bulbospongiosus, m. transversus perinei superf./prof., m. sphincter ani externus, m. levator ani lifleri.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914400"/>
            <a:ext cx="6675120" cy="1463040"/>
          </a:xfrm>
          <a:prstGeom prst="rect">
            <a:avLst/>
          </a:prstGeom>
          <a:noFill/>
        </p:spPr>
        <p:txBody>
          <a:bodyPr wrap="square" anchor="t" lIns="45720" rIns="45720" tIns="18288" bIns="18288">
            <a:spAutoFit/>
          </a:bodyPr>
          <a:lstStyle/>
          <a:p>
            <a:pPr algn="l"/>
            <a:r>
              <a:rPr sz="4200" b="1" i="0">
                <a:solidFill>
                  <a:srgbClr val="FFFFFF"/>
                </a:solidFill>
                <a:latin typeface="Calibri"/>
              </a:rPr>
              <a:t>Perine Anatomisi</a:t>
            </a:r>
          </a:p>
        </p:txBody>
      </p:sp>
      <p:sp>
        <p:nvSpPr>
          <p:cNvPr id="4" name="TextBox 3"/>
          <p:cNvSpPr txBox="1"/>
          <p:nvPr/>
        </p:nvSpPr>
        <p:spPr>
          <a:xfrm>
            <a:off x="640080" y="2514600"/>
            <a:ext cx="6675120" cy="1005840"/>
          </a:xfrm>
          <a:prstGeom prst="rect">
            <a:avLst/>
          </a:prstGeom>
          <a:noFill/>
        </p:spPr>
        <p:txBody>
          <a:bodyPr wrap="square" anchor="t" lIns="45720" rIns="45720" tIns="18288" bIns="18288">
            <a:spAutoFit/>
          </a:bodyPr>
          <a:lstStyle/>
          <a:p>
            <a:pPr algn="l"/>
            <a:r>
              <a:rPr sz="2000" b="0" i="0">
                <a:solidFill>
                  <a:srgbClr val="C8D1E6"/>
                </a:solidFill>
                <a:latin typeface="Calibri"/>
              </a:rPr>
              <a:t>Pelvise kısa giriş ve perinenin topografik anatomisi – tıp öğrencileri için</a:t>
            </a:r>
          </a:p>
        </p:txBody>
      </p:sp>
      <p:sp>
        <p:nvSpPr>
          <p:cNvPr id="5" name="TextBox 4"/>
          <p:cNvSpPr txBox="1"/>
          <p:nvPr/>
        </p:nvSpPr>
        <p:spPr>
          <a:xfrm>
            <a:off x="640080" y="3657600"/>
            <a:ext cx="6675120" cy="2377440"/>
          </a:xfrm>
          <a:prstGeom prst="rect">
            <a:avLst/>
          </a:prstGeom>
          <a:noFill/>
        </p:spPr>
        <p:txBody>
          <a:bodyPr wrap="square">
            <a:spAutoFit/>
          </a:bodyPr>
          <a:lstStyle/>
          <a:p>
            <a:pPr>
              <a:spcAft>
                <a:spcPts val="600"/>
              </a:spcAft>
            </a:pPr>
            <a:r>
              <a:rPr sz="1600">
                <a:solidFill>
                  <a:srgbClr val="FFFFFF"/>
                </a:solidFill>
                <a:latin typeface="Calibri"/>
              </a:rPr>
              <a:t>• Latince etiketli atlas çizimleri ve seçilmiş kadavra görüntüleri</a:t>
            </a:r>
          </a:p>
          <a:p>
            <a:pPr>
              <a:spcAft>
                <a:spcPts val="600"/>
              </a:spcAft>
            </a:pPr>
            <a:r>
              <a:rPr sz="1600">
                <a:solidFill>
                  <a:srgbClr val="FFFFFF"/>
                </a:solidFill>
                <a:latin typeface="Calibri"/>
              </a:rPr>
              <a:t>• Perine fasyaları, aralıklar, kaslar, damar ve sinirler</a:t>
            </a:r>
          </a:p>
          <a:p>
            <a:pPr>
              <a:spcAft>
                <a:spcPts val="600"/>
              </a:spcAft>
            </a:pPr>
            <a:r>
              <a:rPr sz="1600">
                <a:solidFill>
                  <a:srgbClr val="FFFFFF"/>
                </a:solidFill>
                <a:latin typeface="Calibri"/>
              </a:rPr>
              <a:t>• Klinik bağlantılar ve kendini değerlendirme soruları</a:t>
            </a:r>
          </a:p>
        </p:txBody>
      </p:sp>
      <p:pic>
        <p:nvPicPr>
          <p:cNvPr id="6" name="Picture 5" descr="perine_kaslari.jpg"/>
          <p:cNvPicPr>
            <a:picLocks noChangeAspect="1"/>
          </p:cNvPicPr>
          <p:nvPr/>
        </p:nvPicPr>
        <p:blipFill>
          <a:blip r:embed="rId2"/>
          <a:stretch>
            <a:fillRect/>
          </a:stretch>
        </p:blipFill>
        <p:spPr>
          <a:xfrm>
            <a:off x="7680960" y="624408"/>
            <a:ext cx="4206240" cy="2591663"/>
          </a:xfrm>
          <a:prstGeom prst="rect">
            <a:avLst/>
          </a:prstGeom>
        </p:spPr>
      </p:pic>
      <p:pic>
        <p:nvPicPr>
          <p:cNvPr id="7" name="Picture 6" descr="CA-34-272-g001.jpg"/>
          <p:cNvPicPr>
            <a:picLocks noChangeAspect="1"/>
          </p:cNvPicPr>
          <p:nvPr/>
        </p:nvPicPr>
        <p:blipFill>
          <a:blip r:embed="rId3"/>
          <a:stretch>
            <a:fillRect/>
          </a:stretch>
        </p:blipFill>
        <p:spPr>
          <a:xfrm>
            <a:off x="7680960" y="3581636"/>
            <a:ext cx="4206240" cy="2895127"/>
          </a:xfrm>
          <a:prstGeom prst="rect">
            <a:avLst/>
          </a:prstGeom>
        </p:spPr>
      </p:pic>
      <p:sp>
        <p:nvSpPr>
          <p:cNvPr id="8" name="TextBox 7"/>
          <p:cNvSpPr txBox="1"/>
          <p:nvPr/>
        </p:nvSpPr>
        <p:spPr>
          <a:xfrm>
            <a:off x="640080" y="6217920"/>
            <a:ext cx="6949440" cy="365760"/>
          </a:xfrm>
          <a:prstGeom prst="rect">
            <a:avLst/>
          </a:prstGeom>
          <a:noFill/>
        </p:spPr>
        <p:txBody>
          <a:bodyPr wrap="square" anchor="t" lIns="45720" rIns="45720" tIns="18288" bIns="18288">
            <a:spAutoFit/>
          </a:bodyPr>
          <a:lstStyle/>
          <a:p>
            <a:pPr algn="l"/>
            <a:r>
              <a:rPr sz="1300" b="0" i="1">
                <a:solidFill>
                  <a:srgbClr val="C8D1E6"/>
                </a:solidFill>
                <a:latin typeface="Calibri"/>
              </a:rPr>
              <a:t>Türkçe anlatım · Latince terminoloji (Terminologia Anatomica, TA2 2019)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Öğrenim hedefleri</a:t>
            </a:r>
          </a:p>
        </p:txBody>
      </p:sp>
      <p:sp>
        <p:nvSpPr>
          <p:cNvPr id="4" name="TextBox 3"/>
          <p:cNvSpPr txBox="1"/>
          <p:nvPr/>
        </p:nvSpPr>
        <p:spPr>
          <a:xfrm>
            <a:off x="9921240" y="109728"/>
            <a:ext cx="2057400" cy="310896"/>
          </a:xfrm>
          <a:prstGeom prst="rect">
            <a:avLst/>
          </a:prstGeom>
          <a:solidFill>
            <a:srgbClr val="1F2A44"/>
          </a:solidFill>
        </p:spPr>
        <p:txBody>
          <a:bodyPr wrap="square" anchor="ctr" lIns="45720" rIns="45720" tIns="18288" bIns="18288">
            <a:spAutoFit/>
          </a:bodyPr>
          <a:lstStyle/>
          <a:p>
            <a:pPr algn="ctr"/>
            <a:r>
              <a:rPr sz="1100" b="1" i="0">
                <a:solidFill>
                  <a:srgbClr val="FFFFFF"/>
                </a:solidFill>
                <a:latin typeface="Calibri"/>
              </a:rPr>
              <a:t>ÖZET</a:t>
            </a:r>
          </a:p>
        </p:txBody>
      </p:sp>
      <p:sp>
        <p:nvSpPr>
          <p:cNvPr id="5" name="TextBox 4"/>
          <p:cNvSpPr txBox="1"/>
          <p:nvPr/>
        </p:nvSpPr>
        <p:spPr>
          <a:xfrm>
            <a:off x="411480" y="1188720"/>
            <a:ext cx="11338560" cy="5120640"/>
          </a:xfrm>
          <a:prstGeom prst="rect">
            <a:avLst/>
          </a:prstGeom>
          <a:noFill/>
        </p:spPr>
        <p:txBody>
          <a:bodyPr wrap="square">
            <a:spAutoFit/>
          </a:bodyPr>
          <a:lstStyle/>
          <a:p>
            <a:pPr>
              <a:spcAft>
                <a:spcPts val="600"/>
              </a:spcAft>
            </a:pPr>
            <a:r>
              <a:rPr sz="2000">
                <a:solidFill>
                  <a:srgbClr val="1F2A44"/>
                </a:solidFill>
                <a:latin typeface="Calibri"/>
              </a:rPr>
              <a:t>• Pelvisi oluşturan kemikleri ve </a:t>
            </a:r>
            <a:r>
              <a:rPr sz="2000">
                <a:solidFill>
                  <a:srgbClr val="1F2A44"/>
                </a:solidFill>
                <a:latin typeface="Calibri"/>
              </a:rPr>
              <a:t>apertura pelvis superior / inferior</a:t>
            </a:r>
            <a:r>
              <a:rPr sz="2000">
                <a:solidFill>
                  <a:srgbClr val="1F2A44"/>
                </a:solidFill>
                <a:latin typeface="Calibri"/>
              </a:rPr>
              <a:t> sınırlarını sayabilmek</a:t>
            </a:r>
          </a:p>
          <a:p>
            <a:pPr>
              <a:spcAft>
                <a:spcPts val="600"/>
              </a:spcAft>
            </a:pPr>
            <a:r>
              <a:rPr sz="2000">
                <a:solidFill>
                  <a:srgbClr val="1F2A44"/>
                </a:solidFill>
                <a:latin typeface="Calibri"/>
              </a:rPr>
              <a:t>• </a:t>
            </a:r>
            <a:r>
              <a:rPr sz="2000">
                <a:solidFill>
                  <a:srgbClr val="1F2A44"/>
                </a:solidFill>
                <a:latin typeface="Calibri"/>
              </a:rPr>
              <a:t>Diaphragma pelvis</a:t>
            </a:r>
            <a:r>
              <a:rPr sz="2000">
                <a:solidFill>
                  <a:srgbClr val="1F2A44"/>
                </a:solidFill>
                <a:latin typeface="Calibri"/>
              </a:rPr>
              <a:t>'i (m. levator ani, m. coccygeus) tanımlayabilmek</a:t>
            </a:r>
          </a:p>
          <a:p>
            <a:pPr>
              <a:spcAft>
                <a:spcPts val="600"/>
              </a:spcAft>
            </a:pPr>
            <a:r>
              <a:rPr sz="2000">
                <a:solidFill>
                  <a:srgbClr val="1F2A44"/>
                </a:solidFill>
                <a:latin typeface="Calibri"/>
              </a:rPr>
              <a:t>• Perinenin sınırlarını ve </a:t>
            </a:r>
            <a:r>
              <a:rPr sz="2000">
                <a:solidFill>
                  <a:srgbClr val="1F2A44"/>
                </a:solidFill>
                <a:latin typeface="Calibri"/>
              </a:rPr>
              <a:t>regio urogenitalis – regio analis</a:t>
            </a:r>
            <a:r>
              <a:rPr sz="2000">
                <a:solidFill>
                  <a:srgbClr val="1F2A44"/>
                </a:solidFill>
                <a:latin typeface="Calibri"/>
              </a:rPr>
              <a:t> ayrımını açıklayabilmek</a:t>
            </a:r>
          </a:p>
          <a:p>
            <a:pPr>
              <a:spcAft>
                <a:spcPts val="600"/>
              </a:spcAft>
            </a:pPr>
            <a:r>
              <a:rPr sz="2000">
                <a:solidFill>
                  <a:srgbClr val="1F2A44"/>
                </a:solidFill>
                <a:latin typeface="Calibri"/>
              </a:rPr>
              <a:t>• </a:t>
            </a:r>
            <a:r>
              <a:rPr sz="2000">
                <a:solidFill>
                  <a:srgbClr val="1F2A44"/>
                </a:solidFill>
                <a:latin typeface="Calibri"/>
              </a:rPr>
              <a:t>Perine fasyalarını</a:t>
            </a:r>
            <a:r>
              <a:rPr sz="2000">
                <a:solidFill>
                  <a:srgbClr val="1F2A44"/>
                </a:solidFill>
                <a:latin typeface="Calibri"/>
              </a:rPr>
              <a:t> (Colles fasyası, fascia perinei, membrana perinei) ve aralıkları (spatium perinei superficiale / profundum) sıralayabilmek</a:t>
            </a:r>
          </a:p>
          <a:p>
            <a:pPr>
              <a:spcAft>
                <a:spcPts val="600"/>
              </a:spcAft>
            </a:pPr>
            <a:r>
              <a:rPr sz="2000">
                <a:solidFill>
                  <a:srgbClr val="1F2A44"/>
                </a:solidFill>
                <a:latin typeface="Calibri"/>
              </a:rPr>
              <a:t>• Perine kaslarını, </a:t>
            </a:r>
            <a:r>
              <a:rPr sz="2000">
                <a:solidFill>
                  <a:srgbClr val="1F2A44"/>
                </a:solidFill>
                <a:latin typeface="Calibri"/>
              </a:rPr>
              <a:t>corpus perineale</a:t>
            </a:r>
            <a:r>
              <a:rPr sz="2000">
                <a:solidFill>
                  <a:srgbClr val="1F2A44"/>
                </a:solidFill>
                <a:latin typeface="Calibri"/>
              </a:rPr>
              <a:t>'yi ve </a:t>
            </a:r>
            <a:r>
              <a:rPr sz="2000">
                <a:solidFill>
                  <a:srgbClr val="1F2A44"/>
                </a:solidFill>
                <a:latin typeface="Calibri"/>
              </a:rPr>
              <a:t>fossa ischioanalis</a:t>
            </a:r>
            <a:r>
              <a:rPr sz="2000">
                <a:solidFill>
                  <a:srgbClr val="1F2A44"/>
                </a:solidFill>
                <a:latin typeface="Calibri"/>
              </a:rPr>
              <a:t>'i tanımlayabilmek</a:t>
            </a:r>
          </a:p>
          <a:p>
            <a:pPr>
              <a:spcAft>
                <a:spcPts val="600"/>
              </a:spcAft>
            </a:pPr>
            <a:r>
              <a:rPr sz="2000">
                <a:solidFill>
                  <a:srgbClr val="1F2A44"/>
                </a:solidFill>
                <a:latin typeface="Calibri"/>
              </a:rPr>
              <a:t>• </a:t>
            </a:r>
            <a:r>
              <a:rPr sz="2000">
                <a:solidFill>
                  <a:srgbClr val="1F2A44"/>
                </a:solidFill>
                <a:latin typeface="Calibri"/>
              </a:rPr>
              <a:t>N. pudendus</a:t>
            </a:r>
            <a:r>
              <a:rPr sz="2000">
                <a:solidFill>
                  <a:srgbClr val="1F2A44"/>
                </a:solidFill>
                <a:latin typeface="Calibri"/>
              </a:rPr>
              <a:t> ve </a:t>
            </a:r>
            <a:r>
              <a:rPr sz="2000">
                <a:solidFill>
                  <a:srgbClr val="1F2A44"/>
                </a:solidFill>
                <a:latin typeface="Calibri"/>
              </a:rPr>
              <a:t>a. pudenda interna</a:t>
            </a:r>
            <a:r>
              <a:rPr sz="2000">
                <a:solidFill>
                  <a:srgbClr val="1F2A44"/>
                </a:solidFill>
                <a:latin typeface="Calibri"/>
              </a:rPr>
              <a:t>'nın seyrini ve dallarını bilmek; temel klinik bağlantıları kurabilmek</a:t>
            </a:r>
          </a:p>
        </p:txBody>
      </p:sp>
      <p:cxnSp>
        <p:nvCxnSpPr>
          <p:cNvPr id="6" name="Connector 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486400" cy="457200"/>
          </a:xfrm>
          <a:prstGeom prst="rect">
            <a:avLst/>
          </a:prstGeom>
          <a:noFill/>
        </p:spPr>
        <p:txBody>
          <a:bodyPr wrap="square" anchor="t" lIns="45720" rIns="45720" tIns="18288" bIns="18288">
            <a:spAutoFit/>
          </a:bodyPr>
          <a:lstStyle/>
          <a:p>
            <a:pPr algn="l"/>
            <a:r>
              <a:rPr sz="2000" b="1" i="0">
                <a:solidFill>
                  <a:srgbClr val="C8D1E6"/>
                </a:solidFill>
                <a:latin typeface="Calibri"/>
              </a:rPr>
              <a:t>BÖLÜM 1</a:t>
            </a:r>
          </a:p>
        </p:txBody>
      </p:sp>
      <p:sp>
        <p:nvSpPr>
          <p:cNvPr id="4" name="TextBox 3"/>
          <p:cNvSpPr txBox="1"/>
          <p:nvPr/>
        </p:nvSpPr>
        <p:spPr>
          <a:xfrm>
            <a:off x="548640" y="1234440"/>
            <a:ext cx="5669280" cy="1371600"/>
          </a:xfrm>
          <a:prstGeom prst="rect">
            <a:avLst/>
          </a:prstGeom>
          <a:noFill/>
        </p:spPr>
        <p:txBody>
          <a:bodyPr wrap="square" anchor="t" lIns="45720" rIns="45720" tIns="18288" bIns="18288">
            <a:spAutoFit/>
          </a:bodyPr>
          <a:lstStyle/>
          <a:p>
            <a:pPr algn="l"/>
            <a:r>
              <a:rPr sz="4000" b="1" i="0">
                <a:solidFill>
                  <a:srgbClr val="FFFFFF"/>
                </a:solidFill>
                <a:latin typeface="Calibri"/>
              </a:rPr>
              <a:t>Pelvis</a:t>
            </a:r>
          </a:p>
        </p:txBody>
      </p:sp>
      <p:sp>
        <p:nvSpPr>
          <p:cNvPr id="5" name="TextBox 4"/>
          <p:cNvSpPr txBox="1"/>
          <p:nvPr/>
        </p:nvSpPr>
        <p:spPr>
          <a:xfrm>
            <a:off x="548640" y="2697480"/>
            <a:ext cx="5486400" cy="640080"/>
          </a:xfrm>
          <a:prstGeom prst="rect">
            <a:avLst/>
          </a:prstGeom>
          <a:noFill/>
        </p:spPr>
        <p:txBody>
          <a:bodyPr wrap="square" anchor="t" lIns="45720" rIns="45720" tIns="18288" bIns="18288">
            <a:spAutoFit/>
          </a:bodyPr>
          <a:lstStyle/>
          <a:p>
            <a:pPr algn="l"/>
            <a:r>
              <a:rPr sz="1700" b="0" i="1">
                <a:solidFill>
                  <a:srgbClr val="C8D1E6"/>
                </a:solidFill>
                <a:latin typeface="Calibri"/>
              </a:rPr>
              <a:t>Kısa giriş – perinenin kemik çerçevesi ve tabanı</a:t>
            </a:r>
          </a:p>
        </p:txBody>
      </p:sp>
      <p:sp>
        <p:nvSpPr>
          <p:cNvPr id="6" name="TextBox 5"/>
          <p:cNvSpPr txBox="1"/>
          <p:nvPr/>
        </p:nvSpPr>
        <p:spPr>
          <a:xfrm>
            <a:off x="548640" y="3429000"/>
            <a:ext cx="5577840" cy="2926080"/>
          </a:xfrm>
          <a:prstGeom prst="rect">
            <a:avLst/>
          </a:prstGeom>
          <a:noFill/>
        </p:spPr>
        <p:txBody>
          <a:bodyPr wrap="square">
            <a:spAutoFit/>
          </a:bodyPr>
          <a:lstStyle/>
          <a:p>
            <a:pPr>
              <a:spcAft>
                <a:spcPts val="600"/>
              </a:spcAft>
            </a:pPr>
            <a:r>
              <a:rPr sz="1700">
                <a:solidFill>
                  <a:srgbClr val="FFFFFF"/>
                </a:solidFill>
                <a:latin typeface="Calibri"/>
              </a:rPr>
              <a:t>• Pelvis kemikleri</a:t>
            </a:r>
          </a:p>
          <a:p>
            <a:pPr>
              <a:spcAft>
                <a:spcPts val="600"/>
              </a:spcAft>
            </a:pPr>
            <a:r>
              <a:rPr sz="1700">
                <a:solidFill>
                  <a:srgbClr val="FFFFFF"/>
                </a:solidFill>
                <a:latin typeface="Calibri"/>
              </a:rPr>
              <a:t>• Pelvis major / minor</a:t>
            </a:r>
          </a:p>
          <a:p>
            <a:pPr>
              <a:spcAft>
                <a:spcPts val="600"/>
              </a:spcAft>
            </a:pPr>
            <a:r>
              <a:rPr sz="1700">
                <a:solidFill>
                  <a:srgbClr val="FFFFFF"/>
                </a:solidFill>
                <a:latin typeface="Calibri"/>
              </a:rPr>
              <a:t>• Kadın – erkek pelvisi</a:t>
            </a:r>
          </a:p>
          <a:p>
            <a:pPr>
              <a:spcAft>
                <a:spcPts val="600"/>
              </a:spcAft>
            </a:pPr>
            <a:r>
              <a:rPr sz="1700">
                <a:solidFill>
                  <a:srgbClr val="FFFFFF"/>
                </a:solidFill>
                <a:latin typeface="Calibri"/>
              </a:rPr>
              <a:t>• Bağlar, diaphragma pelvis</a:t>
            </a:r>
          </a:p>
        </p:txBody>
      </p:sp>
      <p:pic>
        <p:nvPicPr>
          <p:cNvPr id="7" name="Picture 6" descr="pelvis.jpg"/>
          <p:cNvPicPr>
            <a:picLocks noChangeAspect="1"/>
          </p:cNvPicPr>
          <p:nvPr/>
        </p:nvPicPr>
        <p:blipFill>
          <a:blip r:embed="rId2"/>
          <a:stretch>
            <a:fillRect/>
          </a:stretch>
        </p:blipFill>
        <p:spPr>
          <a:xfrm>
            <a:off x="6675120" y="1998440"/>
            <a:ext cx="5257800" cy="2495359"/>
          </a:xfrm>
          <a:prstGeom prst="rect">
            <a:avLst/>
          </a:prstGeom>
        </p:spPr>
      </p:pic>
      <p:sp>
        <p:nvSpPr>
          <p:cNvPr id="8" name="TextBox 7"/>
          <p:cNvSpPr txBox="1"/>
          <p:nvPr/>
        </p:nvSpPr>
        <p:spPr>
          <a:xfrm>
            <a:off x="6675120" y="6080760"/>
            <a:ext cx="5257800" cy="274320"/>
          </a:xfrm>
          <a:prstGeom prst="rect">
            <a:avLst/>
          </a:prstGeom>
          <a:noFill/>
        </p:spPr>
        <p:txBody>
          <a:bodyPr wrap="square" anchor="t" lIns="45720" rIns="45720" tIns="18288" bIns="18288">
            <a:spAutoFit/>
          </a:bodyPr>
          <a:lstStyle/>
          <a:p>
            <a:pPr algn="ctr"/>
            <a:r>
              <a:rPr sz="900" b="0" i="1">
                <a:solidFill>
                  <a:srgbClr val="555B66"/>
                </a:solidFill>
                <a:latin typeface="Calibri"/>
              </a:rPr>
              <a:t>OpenStax A&amp;P, Şekil 8.12 'Pelvis' (CC BY; etiketler Latinceleştirildi)</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Pelvis: kemikler ve eklemler</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Pelvis = iki os coxae + os sacrum + os coccygis</a:t>
            </a:r>
          </a:p>
        </p:txBody>
      </p:sp>
      <p:sp>
        <p:nvSpPr>
          <p:cNvPr id="5" name="TextBox 4"/>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PELVİS</a:t>
            </a:r>
          </a:p>
        </p:txBody>
      </p:sp>
      <p:pic>
        <p:nvPicPr>
          <p:cNvPr id="7" name="Picture 6" descr="pelvis.jpg"/>
          <p:cNvPicPr>
            <a:picLocks noChangeAspect="1"/>
          </p:cNvPicPr>
          <p:nvPr/>
        </p:nvPicPr>
        <p:blipFill>
          <a:blip r:embed="rId2"/>
          <a:stretch>
            <a:fillRect/>
          </a:stretch>
        </p:blipFill>
        <p:spPr>
          <a:xfrm>
            <a:off x="228600" y="1701226"/>
            <a:ext cx="7955279" cy="3775587"/>
          </a:xfrm>
          <a:prstGeom prst="rect">
            <a:avLst/>
          </a:prstGeom>
        </p:spPr>
      </p:pic>
      <p:sp>
        <p:nvSpPr>
          <p:cNvPr id="8" name="Rectangle 7"/>
          <p:cNvSpPr/>
          <p:nvPr/>
        </p:nvSpPr>
        <p:spPr>
          <a:xfrm>
            <a:off x="8366760" y="1097280"/>
            <a:ext cx="3593592" cy="5120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1170432"/>
            <a:ext cx="3429000" cy="4983480"/>
          </a:xfrm>
          <a:prstGeom prst="rect">
            <a:avLst/>
          </a:prstGeom>
          <a:noFill/>
        </p:spPr>
        <p:txBody>
          <a:bodyPr wrap="square">
            <a:spAutoFit/>
          </a:bodyPr>
          <a:lstStyle/>
          <a:p>
            <a:pPr>
              <a:spcAft>
                <a:spcPts val="600"/>
              </a:spcAft>
            </a:pPr>
            <a:r>
              <a:rPr sz="1600">
                <a:solidFill>
                  <a:srgbClr val="1F2A44"/>
                </a:solidFill>
                <a:latin typeface="Calibri"/>
              </a:rPr>
              <a:t>• </a:t>
            </a:r>
            <a:r>
              <a:rPr sz="1600">
                <a:solidFill>
                  <a:srgbClr val="1F2A44"/>
                </a:solidFill>
                <a:latin typeface="Calibri"/>
              </a:rPr>
              <a:t>Os coxae</a:t>
            </a:r>
            <a:r>
              <a:rPr sz="1600">
                <a:solidFill>
                  <a:srgbClr val="1F2A44"/>
                </a:solidFill>
                <a:latin typeface="Calibri"/>
              </a:rPr>
              <a:t> üç kemiğin kaynaşmasıdır: os ilium, os ischii, os pubis (acetabulum'da birleşirler).</a:t>
            </a:r>
          </a:p>
          <a:p>
            <a:pPr>
              <a:spcAft>
                <a:spcPts val="600"/>
              </a:spcAft>
            </a:pPr>
            <a:r>
              <a:rPr sz="1600">
                <a:solidFill>
                  <a:srgbClr val="1F2A44"/>
                </a:solidFill>
                <a:latin typeface="Calibri"/>
              </a:rPr>
              <a:t>• Eklemler: </a:t>
            </a:r>
            <a:r>
              <a:rPr sz="1600">
                <a:solidFill>
                  <a:srgbClr val="1F2A44"/>
                </a:solidFill>
                <a:latin typeface="Calibri"/>
              </a:rPr>
              <a:t>art. sacroiliaca</a:t>
            </a:r>
            <a:r>
              <a:rPr sz="1600">
                <a:solidFill>
                  <a:srgbClr val="1F2A44"/>
                </a:solidFill>
                <a:latin typeface="Calibri"/>
              </a:rPr>
              <a:t>, </a:t>
            </a:r>
            <a:r>
              <a:rPr sz="1600">
                <a:solidFill>
                  <a:srgbClr val="1F2A44"/>
                </a:solidFill>
                <a:latin typeface="Calibri"/>
              </a:rPr>
              <a:t>symphysis pubica</a:t>
            </a:r>
            <a:r>
              <a:rPr sz="1600">
                <a:solidFill>
                  <a:srgbClr val="1F2A44"/>
                </a:solidFill>
                <a:latin typeface="Calibri"/>
              </a:rPr>
              <a:t>, art. sacrococcygea.</a:t>
            </a:r>
          </a:p>
          <a:p>
            <a:pPr>
              <a:spcAft>
                <a:spcPts val="600"/>
              </a:spcAft>
            </a:pPr>
            <a:r>
              <a:rPr sz="1600">
                <a:solidFill>
                  <a:srgbClr val="1F2A44"/>
                </a:solidFill>
                <a:latin typeface="Calibri"/>
              </a:rPr>
              <a:t>• </a:t>
            </a:r>
            <a:r>
              <a:rPr sz="1600">
                <a:solidFill>
                  <a:srgbClr val="1F2A44"/>
                </a:solidFill>
                <a:latin typeface="Calibri"/>
              </a:rPr>
              <a:t>Linea terminalis</a:t>
            </a:r>
            <a:r>
              <a:rPr sz="1600">
                <a:solidFill>
                  <a:srgbClr val="1F2A44"/>
                </a:solidFill>
                <a:latin typeface="Calibri"/>
              </a:rPr>
              <a:t> (promontorium → linea arcuata → pecten ossis pubis → symphysis): pelvis major / minor sınırı.</a:t>
            </a:r>
          </a:p>
          <a:p>
            <a:pPr>
              <a:spcAft>
                <a:spcPts val="600"/>
              </a:spcAft>
            </a:pPr>
            <a:r>
              <a:rPr sz="1600">
                <a:solidFill>
                  <a:srgbClr val="1F2A44"/>
                </a:solidFill>
                <a:latin typeface="Calibri"/>
              </a:rPr>
              <a:t>• Perine açısından önemli noktalar: </a:t>
            </a:r>
            <a:r>
              <a:rPr sz="1600">
                <a:solidFill>
                  <a:srgbClr val="1F2A44"/>
                </a:solidFill>
                <a:latin typeface="Calibri"/>
              </a:rPr>
              <a:t>tuber ischiadicum</a:t>
            </a:r>
            <a:r>
              <a:rPr sz="1600">
                <a:solidFill>
                  <a:srgbClr val="1F2A44"/>
                </a:solidFill>
                <a:latin typeface="Calibri"/>
              </a:rPr>
              <a:t>, </a:t>
            </a:r>
            <a:r>
              <a:rPr sz="1600">
                <a:solidFill>
                  <a:srgbClr val="1F2A44"/>
                </a:solidFill>
                <a:latin typeface="Calibri"/>
              </a:rPr>
              <a:t>ramus ischiopubicus</a:t>
            </a:r>
            <a:r>
              <a:rPr sz="1600">
                <a:solidFill>
                  <a:srgbClr val="1F2A44"/>
                </a:solidFill>
                <a:latin typeface="Calibri"/>
              </a:rPr>
              <a:t>, </a:t>
            </a:r>
            <a:r>
              <a:rPr sz="1600">
                <a:solidFill>
                  <a:srgbClr val="1F2A44"/>
                </a:solidFill>
                <a:latin typeface="Calibri"/>
              </a:rPr>
              <a:t>os coccygis</a:t>
            </a:r>
            <a:r>
              <a:rPr sz="1600">
                <a:solidFill>
                  <a:srgbClr val="1F2A44"/>
                </a:solidFill>
                <a:latin typeface="Calibri"/>
              </a:rPr>
              <a:t>, symphysis pubica.</a:t>
            </a:r>
          </a:p>
        </p:txBody>
      </p:sp>
      <p:sp>
        <p:nvSpPr>
          <p:cNvPr id="10" name="TextBox 9"/>
          <p:cNvSpPr txBox="1"/>
          <p:nvPr/>
        </p:nvSpPr>
        <p:spPr>
          <a:xfrm>
            <a:off x="228600" y="5495101"/>
            <a:ext cx="7955279"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8.12 'Pelvis' (CC BY; etiketler Latinceleştirildi)</a:t>
            </a:r>
          </a:p>
        </p:txBody>
      </p:sp>
      <p:cxnSp>
        <p:nvCxnSpPr>
          <p:cNvPr id="11" name="Connector 10"/>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8.12 'Pelvis'. Lisans: CC BY (openstax.org/details/books/anatomy-and-physiology). Uyarlama: İngilizce etiketler Latinceye çevrildi.</a:t>
            </a:r>
          </a:p>
        </p:txBody>
      </p:sp>
      <p:sp>
        <p:nvSpPr>
          <p:cNvPr id="13" name="TextBox 12"/>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Pelvis major – pelvis minor ve pelvis açıklıkları</a:t>
            </a:r>
          </a:p>
        </p:txBody>
      </p:sp>
      <p:sp>
        <p:nvSpPr>
          <p:cNvPr id="4" name="TextBox 3"/>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PELVİS</a:t>
            </a:r>
          </a:p>
        </p:txBody>
      </p:sp>
      <p:graphicFrame>
        <p:nvGraphicFramePr>
          <p:cNvPr id="6" name="Table 5"/>
          <p:cNvGraphicFramePr>
            <a:graphicFrameLocks noGrp="1"/>
          </p:cNvGraphicFramePr>
          <p:nvPr/>
        </p:nvGraphicFramePr>
        <p:xfrm>
          <a:off x="274320" y="1143000"/>
          <a:ext cx="11640311" cy="4297680"/>
        </p:xfrm>
        <a:graphic>
          <a:graphicData uri="http://schemas.openxmlformats.org/drawingml/2006/table">
            <a:tbl>
              <a:tblPr firstRow="1" bandRow="1">
                <a:tableStyleId>{5C22544A-7EE6-4342-B048-85BDC9FD1C3A}</a:tableStyleId>
              </a:tblPr>
              <a:tblGrid>
                <a:gridCol w="2480722"/>
                <a:gridCol w="5343094"/>
                <a:gridCol w="3816495"/>
              </a:tblGrid>
              <a:tr h="859536">
                <a:tc>
                  <a:txBody>
                    <a:bodyPr/>
                    <a:lstStyle/>
                    <a:p/>
                  </a:txBody>
                  <a:tcPr>
                    <a:solidFill>
                      <a:srgbClr val="1F2A44"/>
                    </a:solidFill>
                  </a:tcPr>
                </a:tc>
                <a:tc>
                  <a:txBody>
                    <a:bodyPr/>
                    <a:lstStyle/>
                    <a:p>
                      <a:r>
                        <a:rPr sz="1500" b="1">
                          <a:solidFill>
                            <a:srgbClr val="FFFFFF"/>
                          </a:solidFill>
                          <a:latin typeface="Calibri"/>
                        </a:rPr>
                        <a:t>Sınırlar</a:t>
                      </a:r>
                    </a:p>
                  </a:txBody>
                  <a:tcPr>
                    <a:solidFill>
                      <a:srgbClr val="1F2A44"/>
                    </a:solidFill>
                  </a:tcPr>
                </a:tc>
                <a:tc>
                  <a:txBody>
                    <a:bodyPr/>
                    <a:lstStyle/>
                    <a:p>
                      <a:r>
                        <a:rPr sz="1500" b="1">
                          <a:solidFill>
                            <a:srgbClr val="FFFFFF"/>
                          </a:solidFill>
                          <a:latin typeface="Calibri"/>
                        </a:rPr>
                        <a:t>Önemi</a:t>
                      </a:r>
                    </a:p>
                  </a:txBody>
                  <a:tcPr>
                    <a:solidFill>
                      <a:srgbClr val="1F2A44"/>
                    </a:solidFill>
                  </a:tcPr>
                </a:tc>
              </a:tr>
              <a:tr h="859536">
                <a:tc>
                  <a:txBody>
                    <a:bodyPr/>
                    <a:lstStyle/>
                    <a:p>
                      <a:r>
                        <a:rPr sz="1600" b="1">
                          <a:solidFill>
                            <a:srgbClr val="1F2A44"/>
                          </a:solidFill>
                          <a:latin typeface="Calibri"/>
                        </a:rPr>
                        <a:t>Pelvis major</a:t>
                      </a:r>
                    </a:p>
                  </a:txBody>
                  <a:tcPr marT="27432" marB="27432">
                    <a:solidFill>
                      <a:srgbClr val="F3F4F6"/>
                    </a:solidFill>
                  </a:tcPr>
                </a:tc>
                <a:tc>
                  <a:txBody>
                    <a:bodyPr/>
                    <a:lstStyle/>
                    <a:p>
                      <a:r>
                        <a:rPr sz="1600">
                          <a:solidFill>
                            <a:srgbClr val="1F2A44"/>
                          </a:solidFill>
                          <a:latin typeface="Calibri"/>
                        </a:rPr>
                        <a:t>Linea terminalis'in </a:t>
                      </a:r>
                      <a:r>
                        <a:rPr sz="1600">
                          <a:solidFill>
                            <a:srgbClr val="1F2A44"/>
                          </a:solidFill>
                          <a:latin typeface="Calibri"/>
                        </a:rPr>
                        <a:t>üstü</a:t>
                      </a:r>
                      <a:r>
                        <a:rPr sz="1600">
                          <a:solidFill>
                            <a:srgbClr val="1F2A44"/>
                          </a:solidFill>
                          <a:latin typeface="Calibri"/>
                        </a:rPr>
                        <a:t>; iki ala ossis ilii arası</a:t>
                      </a:r>
                    </a:p>
                  </a:txBody>
                  <a:tcPr marT="27432" marB="27432">
                    <a:solidFill>
                      <a:srgbClr val="F3F4F6"/>
                    </a:solidFill>
                  </a:tcPr>
                </a:tc>
                <a:tc>
                  <a:txBody>
                    <a:bodyPr/>
                    <a:lstStyle/>
                    <a:p>
                      <a:r>
                        <a:rPr sz="1600">
                          <a:solidFill>
                            <a:srgbClr val="1F2A44"/>
                          </a:solidFill>
                          <a:latin typeface="Calibri"/>
                        </a:rPr>
                        <a:t>Karın boşluğunun alt kısmı (barsaklar)</a:t>
                      </a:r>
                    </a:p>
                  </a:txBody>
                  <a:tcPr marT="27432" marB="27432">
                    <a:solidFill>
                      <a:srgbClr val="F3F4F6"/>
                    </a:solidFill>
                  </a:tcPr>
                </a:tc>
              </a:tr>
              <a:tr h="859536">
                <a:tc>
                  <a:txBody>
                    <a:bodyPr/>
                    <a:lstStyle/>
                    <a:p>
                      <a:r>
                        <a:rPr sz="1600" b="1">
                          <a:solidFill>
                            <a:srgbClr val="1F2A44"/>
                          </a:solidFill>
                          <a:latin typeface="Calibri"/>
                        </a:rPr>
                        <a:t>Pelvis minor</a:t>
                      </a:r>
                    </a:p>
                  </a:txBody>
                  <a:tcPr marT="27432" marB="27432">
                    <a:solidFill>
                      <a:srgbClr val="FFFFFF"/>
                    </a:solidFill>
                  </a:tcPr>
                </a:tc>
                <a:tc>
                  <a:txBody>
                    <a:bodyPr/>
                    <a:lstStyle/>
                    <a:p>
                      <a:r>
                        <a:rPr sz="1600">
                          <a:solidFill>
                            <a:srgbClr val="1F2A44"/>
                          </a:solidFill>
                          <a:latin typeface="Calibri"/>
                        </a:rPr>
                        <a:t>Linea terminalis'in </a:t>
                      </a:r>
                      <a:r>
                        <a:rPr sz="1600">
                          <a:solidFill>
                            <a:srgbClr val="1F2A44"/>
                          </a:solidFill>
                          <a:latin typeface="Calibri"/>
                        </a:rPr>
                        <a:t>altı</a:t>
                      </a:r>
                    </a:p>
                  </a:txBody>
                  <a:tcPr marT="27432" marB="27432">
                    <a:solidFill>
                      <a:srgbClr val="FFFFFF"/>
                    </a:solidFill>
                  </a:tcPr>
                </a:tc>
                <a:tc>
                  <a:txBody>
                    <a:bodyPr/>
                    <a:lstStyle/>
                    <a:p>
                      <a:r>
                        <a:rPr sz="1600">
                          <a:solidFill>
                            <a:srgbClr val="1F2A44"/>
                          </a:solidFill>
                          <a:latin typeface="Calibri"/>
                        </a:rPr>
                        <a:t>Mesane, rektum, iç genital organlar; doğum kanalı</a:t>
                      </a:r>
                    </a:p>
                  </a:txBody>
                  <a:tcPr marT="27432" marB="27432">
                    <a:solidFill>
                      <a:srgbClr val="FFFFFF"/>
                    </a:solidFill>
                  </a:tcPr>
                </a:tc>
              </a:tr>
              <a:tr h="859536">
                <a:tc>
                  <a:txBody>
                    <a:bodyPr/>
                    <a:lstStyle/>
                    <a:p>
                      <a:r>
                        <a:rPr sz="1600" b="1">
                          <a:solidFill>
                            <a:srgbClr val="1F2A44"/>
                          </a:solidFill>
                          <a:latin typeface="Calibri"/>
                        </a:rPr>
                        <a:t>Apertura pelvis superior</a:t>
                      </a:r>
                    </a:p>
                  </a:txBody>
                  <a:tcPr marT="27432" marB="27432">
                    <a:solidFill>
                      <a:srgbClr val="F3F4F6"/>
                    </a:solidFill>
                  </a:tcPr>
                </a:tc>
                <a:tc>
                  <a:txBody>
                    <a:bodyPr/>
                    <a:lstStyle/>
                    <a:p>
                      <a:r>
                        <a:rPr sz="1600">
                          <a:solidFill>
                            <a:srgbClr val="1F2A44"/>
                          </a:solidFill>
                          <a:latin typeface="Calibri"/>
                        </a:rPr>
                        <a:t>Promontorium – linea arcuata – pecten ossis pubis – symphysis üst kenarı</a:t>
                      </a:r>
                    </a:p>
                  </a:txBody>
                  <a:tcPr marT="27432" marB="27432">
                    <a:solidFill>
                      <a:srgbClr val="F3F4F6"/>
                    </a:solidFill>
                  </a:tcPr>
                </a:tc>
                <a:tc>
                  <a:txBody>
                    <a:bodyPr/>
                    <a:lstStyle/>
                    <a:p>
                      <a:r>
                        <a:rPr sz="1600">
                          <a:solidFill>
                            <a:srgbClr val="1F2A44"/>
                          </a:solidFill>
                          <a:latin typeface="Calibri"/>
                        </a:rPr>
                        <a:t>Pelvis girişi</a:t>
                      </a:r>
                    </a:p>
                  </a:txBody>
                  <a:tcPr marT="27432" marB="27432">
                    <a:solidFill>
                      <a:srgbClr val="F3F4F6"/>
                    </a:solidFill>
                  </a:tcPr>
                </a:tc>
              </a:tr>
              <a:tr h="859536">
                <a:tc>
                  <a:txBody>
                    <a:bodyPr/>
                    <a:lstStyle/>
                    <a:p>
                      <a:r>
                        <a:rPr sz="1600" b="1">
                          <a:solidFill>
                            <a:srgbClr val="1F2A44"/>
                          </a:solidFill>
                          <a:latin typeface="Calibri"/>
                        </a:rPr>
                        <a:t>Apertura pelvis inferior</a:t>
                      </a:r>
                    </a:p>
                  </a:txBody>
                  <a:tcPr marT="27432" marB="27432">
                    <a:solidFill>
                      <a:srgbClr val="FFFFFF"/>
                    </a:solidFill>
                  </a:tcPr>
                </a:tc>
                <a:tc>
                  <a:txBody>
                    <a:bodyPr/>
                    <a:lstStyle/>
                    <a:p>
                      <a:r>
                        <a:rPr sz="1600">
                          <a:solidFill>
                            <a:srgbClr val="1F2A44"/>
                          </a:solidFill>
                          <a:latin typeface="Calibri"/>
                        </a:rPr>
                        <a:t>Symphysis alt kenarı – </a:t>
                      </a:r>
                      <a:r>
                        <a:rPr sz="1600">
                          <a:solidFill>
                            <a:srgbClr val="1F2A44"/>
                          </a:solidFill>
                          <a:latin typeface="Calibri"/>
                        </a:rPr>
                        <a:t>rami ischiopubici</a:t>
                      </a:r>
                      <a:r>
                        <a:rPr sz="1600">
                          <a:solidFill>
                            <a:srgbClr val="1F2A44"/>
                          </a:solidFill>
                          <a:latin typeface="Calibri"/>
                        </a:rPr>
                        <a:t> – </a:t>
                      </a:r>
                      <a:r>
                        <a:rPr sz="1600">
                          <a:solidFill>
                            <a:srgbClr val="1F2A44"/>
                          </a:solidFill>
                          <a:latin typeface="Calibri"/>
                        </a:rPr>
                        <a:t>tubera ischiadica</a:t>
                      </a:r>
                      <a:r>
                        <a:rPr sz="1600">
                          <a:solidFill>
                            <a:srgbClr val="1F2A44"/>
                          </a:solidFill>
                          <a:latin typeface="Calibri"/>
                        </a:rPr>
                        <a:t> – </a:t>
                      </a:r>
                      <a:r>
                        <a:rPr sz="1600">
                          <a:solidFill>
                            <a:srgbClr val="1F2A44"/>
                          </a:solidFill>
                          <a:latin typeface="Calibri"/>
                        </a:rPr>
                        <a:t>ligg. sacrotuberalia</a:t>
                      </a:r>
                      <a:r>
                        <a:rPr sz="1600">
                          <a:solidFill>
                            <a:srgbClr val="1F2A44"/>
                          </a:solidFill>
                          <a:latin typeface="Calibri"/>
                        </a:rPr>
                        <a:t> – </a:t>
                      </a:r>
                      <a:r>
                        <a:rPr sz="1600">
                          <a:solidFill>
                            <a:srgbClr val="1F2A44"/>
                          </a:solidFill>
                          <a:latin typeface="Calibri"/>
                        </a:rPr>
                        <a:t>os coccygis</a:t>
                      </a:r>
                    </a:p>
                  </a:txBody>
                  <a:tcPr marT="27432" marB="27432">
                    <a:solidFill>
                      <a:srgbClr val="FFFFFF"/>
                    </a:solidFill>
                  </a:tcPr>
                </a:tc>
                <a:tc>
                  <a:txBody>
                    <a:bodyPr/>
                    <a:lstStyle/>
                    <a:p>
                      <a:r>
                        <a:rPr sz="1600">
                          <a:solidFill>
                            <a:srgbClr val="1F2A44"/>
                          </a:solidFill>
                          <a:latin typeface="Calibri"/>
                        </a:rPr>
                        <a:t>Pelvis çıkışı = </a:t>
                      </a:r>
                      <a:r>
                        <a:rPr sz="1600">
                          <a:solidFill>
                            <a:srgbClr val="1F2A44"/>
                          </a:solidFill>
                          <a:latin typeface="Calibri"/>
                        </a:rPr>
                        <a:t>perinenin sınırları</a:t>
                      </a:r>
                    </a:p>
                  </a:txBody>
                  <a:tcPr marT="27432" marB="27432">
                    <a:solidFill>
                      <a:srgbClr val="FFFFFF"/>
                    </a:solidFill>
                  </a:tcPr>
                </a:tc>
              </a:tr>
            </a:tbl>
          </a:graphicData>
        </a:graphic>
      </p:graphicFrame>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Kadın ve erkek pelvisi</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Kadın pelvisi doğuma uyumludur</a:t>
            </a:r>
          </a:p>
        </p:txBody>
      </p:sp>
      <p:sp>
        <p:nvSpPr>
          <p:cNvPr id="5" name="TextBox 4"/>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PELVİS</a:t>
            </a:r>
          </a:p>
        </p:txBody>
      </p:sp>
      <p:pic>
        <p:nvPicPr>
          <p:cNvPr id="7" name="Picture 6" descr="pelvis_cinsiyet.jpg"/>
          <p:cNvPicPr>
            <a:picLocks noChangeAspect="1"/>
          </p:cNvPicPr>
          <p:nvPr/>
        </p:nvPicPr>
        <p:blipFill>
          <a:blip r:embed="rId2"/>
          <a:stretch>
            <a:fillRect/>
          </a:stretch>
        </p:blipFill>
        <p:spPr>
          <a:xfrm>
            <a:off x="228600" y="1691735"/>
            <a:ext cx="7955279" cy="3794568"/>
          </a:xfrm>
          <a:prstGeom prst="rect">
            <a:avLst/>
          </a:prstGeom>
        </p:spPr>
      </p:pic>
      <p:sp>
        <p:nvSpPr>
          <p:cNvPr id="8" name="Rectangle 7"/>
          <p:cNvSpPr/>
          <p:nvPr/>
        </p:nvSpPr>
        <p:spPr>
          <a:xfrm>
            <a:off x="8366760" y="1097280"/>
            <a:ext cx="3593592" cy="5120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1170432"/>
            <a:ext cx="3429000" cy="4983480"/>
          </a:xfrm>
          <a:prstGeom prst="rect">
            <a:avLst/>
          </a:prstGeom>
          <a:noFill/>
        </p:spPr>
        <p:txBody>
          <a:bodyPr wrap="square">
            <a:spAutoFit/>
          </a:bodyPr>
          <a:lstStyle/>
          <a:p>
            <a:pPr>
              <a:spcAft>
                <a:spcPts val="600"/>
              </a:spcAft>
            </a:pPr>
            <a:r>
              <a:rPr sz="1600">
                <a:solidFill>
                  <a:srgbClr val="1F2A44"/>
                </a:solidFill>
                <a:latin typeface="Calibri"/>
              </a:rPr>
              <a:t>• Kadında </a:t>
            </a:r>
            <a:r>
              <a:rPr sz="1600">
                <a:solidFill>
                  <a:srgbClr val="1F2A44"/>
                </a:solidFill>
                <a:latin typeface="Calibri"/>
              </a:rPr>
              <a:t>angulus subpubicus</a:t>
            </a:r>
            <a:r>
              <a:rPr sz="1600">
                <a:solidFill>
                  <a:srgbClr val="1F2A44"/>
                </a:solidFill>
                <a:latin typeface="Calibri"/>
              </a:rPr>
              <a:t> geniş (≈80–90°), erkekte dar (≈50–60°).</a:t>
            </a:r>
          </a:p>
          <a:p>
            <a:pPr>
              <a:spcAft>
                <a:spcPts val="600"/>
              </a:spcAft>
            </a:pPr>
            <a:r>
              <a:rPr sz="1600">
                <a:solidFill>
                  <a:srgbClr val="1F2A44"/>
                </a:solidFill>
                <a:latin typeface="Calibri"/>
              </a:rPr>
              <a:t>• Kadında apertura pelvis superior </a:t>
            </a:r>
            <a:r>
              <a:rPr sz="1600">
                <a:solidFill>
                  <a:srgbClr val="1F2A44"/>
                </a:solidFill>
                <a:latin typeface="Calibri"/>
              </a:rPr>
              <a:t>oval/yuvarlak</a:t>
            </a:r>
            <a:r>
              <a:rPr sz="1600">
                <a:solidFill>
                  <a:srgbClr val="1F2A44"/>
                </a:solidFill>
                <a:latin typeface="Calibri"/>
              </a:rPr>
              <a:t>, erkekte </a:t>
            </a:r>
            <a:r>
              <a:rPr sz="1600">
                <a:solidFill>
                  <a:srgbClr val="1F2A44"/>
                </a:solidFill>
                <a:latin typeface="Calibri"/>
              </a:rPr>
              <a:t>kalp biçimli</a:t>
            </a:r>
            <a:r>
              <a:rPr sz="1600">
                <a:solidFill>
                  <a:srgbClr val="1F2A44"/>
                </a:solidFill>
                <a:latin typeface="Calibri"/>
              </a:rPr>
              <a:t>.</a:t>
            </a:r>
          </a:p>
          <a:p>
            <a:pPr>
              <a:spcAft>
                <a:spcPts val="600"/>
              </a:spcAft>
            </a:pPr>
            <a:r>
              <a:rPr sz="1600">
                <a:solidFill>
                  <a:srgbClr val="1F2A44"/>
                </a:solidFill>
                <a:latin typeface="Calibri"/>
              </a:rPr>
              <a:t>• Kadın pelvisi daha geniş ve sığ; erkek pelvisi dar ve derin.</a:t>
            </a:r>
          </a:p>
          <a:p>
            <a:pPr>
              <a:spcAft>
                <a:spcPts val="600"/>
              </a:spcAft>
            </a:pPr>
            <a:r>
              <a:rPr sz="1600">
                <a:solidFill>
                  <a:srgbClr val="1F2A44"/>
                </a:solidFill>
                <a:latin typeface="Calibri"/>
              </a:rPr>
              <a:t>• Erkek kemikleri daha kalın, kas izleri belirgin.</a:t>
            </a:r>
          </a:p>
        </p:txBody>
      </p:sp>
      <p:sp>
        <p:nvSpPr>
          <p:cNvPr id="10" name="TextBox 9"/>
          <p:cNvSpPr txBox="1"/>
          <p:nvPr/>
        </p:nvSpPr>
        <p:spPr>
          <a:xfrm>
            <a:off x="228600" y="5504592"/>
            <a:ext cx="7955279"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8.13 'Kadın ve erkek pelvisi' (CC BY; etiketler Latinceleştirildi)</a:t>
            </a:r>
          </a:p>
        </p:txBody>
      </p:sp>
      <p:cxnSp>
        <p:nvCxnSpPr>
          <p:cNvPr id="11" name="Connector 10"/>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8.13 'Kadın ve erkek pelvisi'. Lisans: CC BY (openstax.org/details/books/anatomy-and-physiology). Uyarlama: İngilizce etiketler Latinceye çevrildi.</a:t>
            </a:r>
          </a:p>
        </p:txBody>
      </p:sp>
      <p:sp>
        <p:nvSpPr>
          <p:cNvPr id="13" name="TextBox 12"/>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Pelvis bağları ve foramina ischiadica</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Lig. sacrospinale ve lig. sacrotuberale</a:t>
            </a:r>
          </a:p>
        </p:txBody>
      </p:sp>
      <p:sp>
        <p:nvSpPr>
          <p:cNvPr id="5" name="TextBox 4"/>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PELVİS</a:t>
            </a:r>
          </a:p>
        </p:txBody>
      </p:sp>
      <p:pic>
        <p:nvPicPr>
          <p:cNvPr id="7" name="Picture 6" descr="pelvis_bag.jpg"/>
          <p:cNvPicPr>
            <a:picLocks noChangeAspect="1"/>
          </p:cNvPicPr>
          <p:nvPr/>
        </p:nvPicPr>
        <p:blipFill>
          <a:blip r:embed="rId2"/>
          <a:stretch>
            <a:fillRect/>
          </a:stretch>
        </p:blipFill>
        <p:spPr>
          <a:xfrm>
            <a:off x="228600" y="2239589"/>
            <a:ext cx="7955279" cy="2698860"/>
          </a:xfrm>
          <a:prstGeom prst="rect">
            <a:avLst/>
          </a:prstGeom>
        </p:spPr>
      </p:pic>
      <p:sp>
        <p:nvSpPr>
          <p:cNvPr id="8" name="Rectangle 7"/>
          <p:cNvSpPr/>
          <p:nvPr/>
        </p:nvSpPr>
        <p:spPr>
          <a:xfrm>
            <a:off x="8366760" y="1097280"/>
            <a:ext cx="3593592" cy="5120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1170432"/>
            <a:ext cx="3429000" cy="4983480"/>
          </a:xfrm>
          <a:prstGeom prst="rect">
            <a:avLst/>
          </a:prstGeom>
          <a:noFill/>
        </p:spPr>
        <p:txBody>
          <a:bodyPr wrap="square">
            <a:spAutoFit/>
          </a:bodyPr>
          <a:lstStyle/>
          <a:p>
            <a:pPr>
              <a:spcAft>
                <a:spcPts val="600"/>
              </a:spcAft>
            </a:pPr>
            <a:r>
              <a:rPr sz="1600">
                <a:solidFill>
                  <a:srgbClr val="1F2A44"/>
                </a:solidFill>
                <a:latin typeface="Calibri"/>
              </a:rPr>
              <a:t>• </a:t>
            </a:r>
            <a:r>
              <a:rPr sz="1600">
                <a:solidFill>
                  <a:srgbClr val="1F2A44"/>
                </a:solidFill>
                <a:latin typeface="Calibri"/>
              </a:rPr>
              <a:t>Lig. sacrospinale</a:t>
            </a:r>
            <a:r>
              <a:rPr sz="1600">
                <a:solidFill>
                  <a:srgbClr val="1F2A44"/>
                </a:solidFill>
                <a:latin typeface="Calibri"/>
              </a:rPr>
              <a:t>: os sacrum → spina ischiadica.</a:t>
            </a:r>
          </a:p>
          <a:p>
            <a:pPr>
              <a:spcAft>
                <a:spcPts val="600"/>
              </a:spcAft>
            </a:pPr>
            <a:r>
              <a:rPr sz="1600">
                <a:solidFill>
                  <a:srgbClr val="1F2A44"/>
                </a:solidFill>
                <a:latin typeface="Calibri"/>
              </a:rPr>
              <a:t>• </a:t>
            </a:r>
            <a:r>
              <a:rPr sz="1600">
                <a:solidFill>
                  <a:srgbClr val="1F2A44"/>
                </a:solidFill>
                <a:latin typeface="Calibri"/>
              </a:rPr>
              <a:t>Lig. sacrotuberale</a:t>
            </a:r>
            <a:r>
              <a:rPr sz="1600">
                <a:solidFill>
                  <a:srgbClr val="1F2A44"/>
                </a:solidFill>
                <a:latin typeface="Calibri"/>
              </a:rPr>
              <a:t>: os sacrum → tuber ischiadicum.</a:t>
            </a:r>
          </a:p>
          <a:p>
            <a:pPr>
              <a:spcAft>
                <a:spcPts val="600"/>
              </a:spcAft>
            </a:pPr>
            <a:r>
              <a:rPr sz="1600">
                <a:solidFill>
                  <a:srgbClr val="1F2A44"/>
                </a:solidFill>
                <a:latin typeface="Calibri"/>
              </a:rPr>
              <a:t>• Bu iki bağ incisura ischiadica'ları foramene çevirir: </a:t>
            </a:r>
            <a:r>
              <a:rPr sz="1600">
                <a:solidFill>
                  <a:srgbClr val="1F2A44"/>
                </a:solidFill>
                <a:latin typeface="Calibri"/>
              </a:rPr>
              <a:t>foramen ischiadicum majus</a:t>
            </a:r>
            <a:r>
              <a:rPr sz="1600">
                <a:solidFill>
                  <a:srgbClr val="1F2A44"/>
                </a:solidFill>
                <a:latin typeface="Calibri"/>
              </a:rPr>
              <a:t> ve </a:t>
            </a:r>
            <a:r>
              <a:rPr sz="1600">
                <a:solidFill>
                  <a:srgbClr val="1F2A44"/>
                </a:solidFill>
                <a:latin typeface="Calibri"/>
              </a:rPr>
              <a:t>minus</a:t>
            </a:r>
            <a:r>
              <a:rPr sz="1600">
                <a:solidFill>
                  <a:srgbClr val="1F2A44"/>
                </a:solidFill>
                <a:latin typeface="Calibri"/>
              </a:rPr>
              <a:t>.</a:t>
            </a:r>
          </a:p>
          <a:p>
            <a:pPr>
              <a:spcAft>
                <a:spcPts val="600"/>
              </a:spcAft>
            </a:pPr>
            <a:r>
              <a:rPr sz="1600">
                <a:solidFill>
                  <a:srgbClr val="1F2A44"/>
                </a:solidFill>
                <a:latin typeface="Calibri"/>
              </a:rPr>
              <a:t>• </a:t>
            </a:r>
            <a:r>
              <a:rPr sz="1600">
                <a:solidFill>
                  <a:srgbClr val="1F2A44"/>
                </a:solidFill>
                <a:latin typeface="Calibri"/>
              </a:rPr>
              <a:t>N. pudendus</a:t>
            </a:r>
            <a:r>
              <a:rPr sz="1600">
                <a:solidFill>
                  <a:srgbClr val="1F2A44"/>
                </a:solidFill>
                <a:latin typeface="Calibri"/>
              </a:rPr>
              <a:t> ve </a:t>
            </a:r>
            <a:r>
              <a:rPr sz="1600">
                <a:solidFill>
                  <a:srgbClr val="1F2A44"/>
                </a:solidFill>
                <a:latin typeface="Calibri"/>
              </a:rPr>
              <a:t>a. pudenda interna</a:t>
            </a:r>
            <a:r>
              <a:rPr sz="1600">
                <a:solidFill>
                  <a:srgbClr val="1F2A44"/>
                </a:solidFill>
                <a:latin typeface="Calibri"/>
              </a:rPr>
              <a:t>: majus'tan pelvisi terk eder, spina'nın arkasından dolanıp </a:t>
            </a:r>
            <a:r>
              <a:rPr sz="1600">
                <a:solidFill>
                  <a:srgbClr val="1F2A44"/>
                </a:solidFill>
                <a:latin typeface="Calibri"/>
              </a:rPr>
              <a:t>minus</a:t>
            </a:r>
            <a:r>
              <a:rPr sz="1600">
                <a:solidFill>
                  <a:srgbClr val="1F2A44"/>
                </a:solidFill>
                <a:latin typeface="Calibri"/>
              </a:rPr>
              <a:t>'tan perineye girer.</a:t>
            </a:r>
          </a:p>
        </p:txBody>
      </p:sp>
      <p:sp>
        <p:nvSpPr>
          <p:cNvPr id="10" name="TextBox 9"/>
          <p:cNvSpPr txBox="1"/>
          <p:nvPr/>
        </p:nvSpPr>
        <p:spPr>
          <a:xfrm>
            <a:off x="228600" y="4956738"/>
            <a:ext cx="7955279"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8.14 'Pelvis bağları' (CC BY; etiketler Latinceleştirildi)</a:t>
            </a:r>
          </a:p>
        </p:txBody>
      </p:sp>
      <p:cxnSp>
        <p:nvCxnSpPr>
          <p:cNvPr id="11" name="Connector 10"/>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8.14 'Pelvis bağları'. Lisans: CC BY (openstax.org/details/books/anatomy-and-physiology). Uyarlama: İngilizce etiketler Latinceye çevrildi.</a:t>
            </a:r>
          </a:p>
        </p:txBody>
      </p:sp>
      <p:sp>
        <p:nvSpPr>
          <p:cNvPr id="13" name="TextBox 12"/>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Diaphragma pelvis (pelvis tabanı)</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Perinenin tavanı</a:t>
            </a:r>
          </a:p>
        </p:txBody>
      </p:sp>
      <p:sp>
        <p:nvSpPr>
          <p:cNvPr id="5" name="TextBox 4"/>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PELVİS</a:t>
            </a:r>
          </a:p>
        </p:txBody>
      </p:sp>
      <p:pic>
        <p:nvPicPr>
          <p:cNvPr id="7" name="Picture 6" descr="diaphragma_pelvis.jpg"/>
          <p:cNvPicPr>
            <a:picLocks noChangeAspect="1"/>
          </p:cNvPicPr>
          <p:nvPr/>
        </p:nvPicPr>
        <p:blipFill>
          <a:blip r:embed="rId2"/>
          <a:stretch>
            <a:fillRect/>
          </a:stretch>
        </p:blipFill>
        <p:spPr>
          <a:xfrm>
            <a:off x="228600" y="1292119"/>
            <a:ext cx="7315200" cy="4593800"/>
          </a:xfrm>
          <a:prstGeom prst="rect">
            <a:avLst/>
          </a:prstGeom>
        </p:spPr>
      </p:pic>
      <p:sp>
        <p:nvSpPr>
          <p:cNvPr id="8" name="Rectangle 7"/>
          <p:cNvSpPr/>
          <p:nvPr/>
        </p:nvSpPr>
        <p:spPr>
          <a:xfrm>
            <a:off x="8366760" y="1097280"/>
            <a:ext cx="3593592" cy="5120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1170432"/>
            <a:ext cx="3429000" cy="4983480"/>
          </a:xfrm>
          <a:prstGeom prst="rect">
            <a:avLst/>
          </a:prstGeom>
          <a:noFill/>
        </p:spPr>
        <p:txBody>
          <a:bodyPr wrap="square">
            <a:spAutoFit/>
          </a:bodyPr>
          <a:lstStyle/>
          <a:p>
            <a:pPr>
              <a:spcAft>
                <a:spcPts val="600"/>
              </a:spcAft>
            </a:pPr>
            <a:r>
              <a:rPr sz="1600">
                <a:solidFill>
                  <a:srgbClr val="1F2A44"/>
                </a:solidFill>
                <a:latin typeface="Calibri"/>
              </a:rPr>
              <a:t>• </a:t>
            </a:r>
            <a:r>
              <a:rPr sz="1600">
                <a:solidFill>
                  <a:srgbClr val="1F2A44"/>
                </a:solidFill>
                <a:latin typeface="Calibri"/>
              </a:rPr>
              <a:t>M. levator ani</a:t>
            </a:r>
            <a:r>
              <a:rPr sz="1600">
                <a:solidFill>
                  <a:srgbClr val="1F2A44"/>
                </a:solidFill>
                <a:latin typeface="Calibri"/>
              </a:rPr>
              <a:t>: m. pubococcygeus (+ m. puborectalis) ve m. iliococcygeus.</a:t>
            </a:r>
          </a:p>
          <a:p>
            <a:pPr>
              <a:spcAft>
                <a:spcPts val="600"/>
              </a:spcAft>
            </a:pPr>
            <a:r>
              <a:rPr sz="1600">
                <a:solidFill>
                  <a:srgbClr val="1F2A44"/>
                </a:solidFill>
                <a:latin typeface="Calibri"/>
              </a:rPr>
              <a:t>• Arkada </a:t>
            </a:r>
            <a:r>
              <a:rPr sz="1600">
                <a:solidFill>
                  <a:srgbClr val="1F2A44"/>
                </a:solidFill>
                <a:latin typeface="Calibri"/>
              </a:rPr>
              <a:t>m. coccygeus</a:t>
            </a:r>
            <a:r>
              <a:rPr sz="1600">
                <a:solidFill>
                  <a:srgbClr val="1F2A44"/>
                </a:solidFill>
                <a:latin typeface="Calibri"/>
              </a:rPr>
              <a:t> tabanı tamamlar.</a:t>
            </a:r>
          </a:p>
          <a:p>
            <a:pPr>
              <a:spcAft>
                <a:spcPts val="600"/>
              </a:spcAft>
            </a:pPr>
            <a:r>
              <a:rPr sz="1600">
                <a:solidFill>
                  <a:srgbClr val="1F2A44"/>
                </a:solidFill>
                <a:latin typeface="Calibri"/>
              </a:rPr>
              <a:t>• Görevi: pelvis organlarını taşımak, karın içi basınca karşı koymak, kontinansa yardım.</a:t>
            </a:r>
          </a:p>
          <a:p>
            <a:pPr>
              <a:spcAft>
                <a:spcPts val="600"/>
              </a:spcAft>
            </a:pPr>
            <a:r>
              <a:rPr sz="1600">
                <a:solidFill>
                  <a:srgbClr val="1F2A44"/>
                </a:solidFill>
                <a:latin typeface="Calibri"/>
              </a:rPr>
              <a:t>• Ortada açıklık (</a:t>
            </a:r>
            <a:r>
              <a:rPr sz="1600">
                <a:solidFill>
                  <a:srgbClr val="1F2A44"/>
                </a:solidFill>
                <a:latin typeface="Calibri"/>
              </a:rPr>
              <a:t>hiatus urogenitalis</a:t>
            </a:r>
            <a:r>
              <a:rPr sz="1600">
                <a:solidFill>
                  <a:srgbClr val="1F2A44"/>
                </a:solidFill>
                <a:latin typeface="Calibri"/>
              </a:rPr>
              <a:t>): urethra (kadında + vagina) geçer.</a:t>
            </a:r>
          </a:p>
          <a:p>
            <a:pPr>
              <a:spcAft>
                <a:spcPts val="600"/>
              </a:spcAft>
            </a:pPr>
            <a:r>
              <a:rPr sz="1600">
                <a:solidFill>
                  <a:srgbClr val="1F2A44"/>
                </a:solidFill>
                <a:latin typeface="Calibri"/>
              </a:rPr>
              <a:t>• İnnervasyon: S3–S4 dalları (n. levatoris ani) ve n. pudendus.</a:t>
            </a:r>
          </a:p>
          <a:p>
            <a:pPr>
              <a:spcAft>
                <a:spcPts val="600"/>
              </a:spcAft>
            </a:pPr>
            <a:r>
              <a:rPr sz="1600">
                <a:solidFill>
                  <a:srgbClr val="1F2A44"/>
                </a:solidFill>
                <a:latin typeface="Calibri"/>
              </a:rPr>
              <a:t>• Diaphragma pelvis'in </a:t>
            </a:r>
            <a:r>
              <a:rPr sz="1600">
                <a:solidFill>
                  <a:srgbClr val="1F2A44"/>
                </a:solidFill>
                <a:latin typeface="Calibri"/>
              </a:rPr>
              <a:t>altında</a:t>
            </a:r>
            <a:r>
              <a:rPr sz="1600">
                <a:solidFill>
                  <a:srgbClr val="1F2A44"/>
                </a:solidFill>
                <a:latin typeface="Calibri"/>
              </a:rPr>
              <a:t> kalan bölge = </a:t>
            </a:r>
            <a:r>
              <a:rPr sz="1600">
                <a:solidFill>
                  <a:srgbClr val="1F2A44"/>
                </a:solidFill>
                <a:latin typeface="Calibri"/>
              </a:rPr>
              <a:t>perine</a:t>
            </a:r>
            <a:r>
              <a:rPr sz="1600">
                <a:solidFill>
                  <a:srgbClr val="1F2A44"/>
                </a:solidFill>
                <a:latin typeface="Calibri"/>
              </a:rPr>
              <a:t>.</a:t>
            </a:r>
          </a:p>
        </p:txBody>
      </p:sp>
      <p:sp>
        <p:nvSpPr>
          <p:cNvPr id="10" name="TextBox 9"/>
          <p:cNvSpPr txBox="1"/>
          <p:nvPr/>
        </p:nvSpPr>
        <p:spPr>
          <a:xfrm>
            <a:off x="228600" y="5904208"/>
            <a:ext cx="7315200"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11.12 'Pelvis tabanı kasları' (CC BY; etiketler Latinceleştirildi)</a:t>
            </a:r>
          </a:p>
        </p:txBody>
      </p:sp>
      <p:cxnSp>
        <p:nvCxnSpPr>
          <p:cNvPr id="11" name="Connector 10"/>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11.12 'Pelvis tabanı kasları'. Lisans: CC BY (openstax.org/details/books/anatomy-and-physiology). Uyarlama: İngilizce etiketler Latinceye çevrildi.</a:t>
            </a:r>
          </a:p>
        </p:txBody>
      </p:sp>
      <p:sp>
        <p:nvSpPr>
          <p:cNvPr id="13" name="TextBox 12"/>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486400" cy="457200"/>
          </a:xfrm>
          <a:prstGeom prst="rect">
            <a:avLst/>
          </a:prstGeom>
          <a:noFill/>
        </p:spPr>
        <p:txBody>
          <a:bodyPr wrap="square" anchor="t" lIns="45720" rIns="45720" tIns="18288" bIns="18288">
            <a:spAutoFit/>
          </a:bodyPr>
          <a:lstStyle/>
          <a:p>
            <a:pPr algn="l"/>
            <a:r>
              <a:rPr sz="2000" b="1" i="0">
                <a:solidFill>
                  <a:srgbClr val="C8D1E6"/>
                </a:solidFill>
                <a:latin typeface="Calibri"/>
              </a:rPr>
              <a:t>BÖLÜM 2</a:t>
            </a:r>
          </a:p>
        </p:txBody>
      </p:sp>
      <p:sp>
        <p:nvSpPr>
          <p:cNvPr id="4" name="TextBox 3"/>
          <p:cNvSpPr txBox="1"/>
          <p:nvPr/>
        </p:nvSpPr>
        <p:spPr>
          <a:xfrm>
            <a:off x="548640" y="1234440"/>
            <a:ext cx="5669280" cy="1371600"/>
          </a:xfrm>
          <a:prstGeom prst="rect">
            <a:avLst/>
          </a:prstGeom>
          <a:noFill/>
        </p:spPr>
        <p:txBody>
          <a:bodyPr wrap="square" anchor="t" lIns="45720" rIns="45720" tIns="18288" bIns="18288">
            <a:spAutoFit/>
          </a:bodyPr>
          <a:lstStyle/>
          <a:p>
            <a:pPr algn="l"/>
            <a:r>
              <a:rPr sz="4000" b="1" i="0">
                <a:solidFill>
                  <a:srgbClr val="FFFFFF"/>
                </a:solidFill>
                <a:latin typeface="Calibri"/>
              </a:rPr>
              <a:t>Perine – genel</a:t>
            </a:r>
          </a:p>
        </p:txBody>
      </p:sp>
      <p:sp>
        <p:nvSpPr>
          <p:cNvPr id="5" name="TextBox 4"/>
          <p:cNvSpPr txBox="1"/>
          <p:nvPr/>
        </p:nvSpPr>
        <p:spPr>
          <a:xfrm>
            <a:off x="548640" y="2697480"/>
            <a:ext cx="5486400" cy="640080"/>
          </a:xfrm>
          <a:prstGeom prst="rect">
            <a:avLst/>
          </a:prstGeom>
          <a:noFill/>
        </p:spPr>
        <p:txBody>
          <a:bodyPr wrap="square" anchor="t" lIns="45720" rIns="45720" tIns="18288" bIns="18288">
            <a:spAutoFit/>
          </a:bodyPr>
          <a:lstStyle/>
          <a:p>
            <a:pPr algn="l"/>
            <a:r>
              <a:rPr sz="1700" b="0" i="1">
                <a:solidFill>
                  <a:srgbClr val="C8D1E6"/>
                </a:solidFill>
                <a:latin typeface="Calibri"/>
              </a:rPr>
              <a:t>Tanım, sınırlar, üçgenler</a:t>
            </a:r>
          </a:p>
        </p:txBody>
      </p:sp>
      <p:sp>
        <p:nvSpPr>
          <p:cNvPr id="6" name="TextBox 5"/>
          <p:cNvSpPr txBox="1"/>
          <p:nvPr/>
        </p:nvSpPr>
        <p:spPr>
          <a:xfrm>
            <a:off x="548640" y="3429000"/>
            <a:ext cx="5577840" cy="2926080"/>
          </a:xfrm>
          <a:prstGeom prst="rect">
            <a:avLst/>
          </a:prstGeom>
          <a:noFill/>
        </p:spPr>
        <p:txBody>
          <a:bodyPr wrap="square">
            <a:spAutoFit/>
          </a:bodyPr>
          <a:lstStyle/>
          <a:p>
            <a:pPr>
              <a:spcAft>
                <a:spcPts val="600"/>
              </a:spcAft>
            </a:pPr>
            <a:r>
              <a:rPr sz="1700">
                <a:solidFill>
                  <a:srgbClr val="FFFFFF"/>
                </a:solidFill>
                <a:latin typeface="Calibri"/>
              </a:rPr>
              <a:t>• Sınırlar</a:t>
            </a:r>
          </a:p>
          <a:p>
            <a:pPr>
              <a:spcAft>
                <a:spcPts val="600"/>
              </a:spcAft>
            </a:pPr>
            <a:r>
              <a:rPr sz="1700">
                <a:solidFill>
                  <a:srgbClr val="FFFFFF"/>
                </a:solidFill>
                <a:latin typeface="Calibri"/>
              </a:rPr>
              <a:t>• Regio urogenitalis / regio analis</a:t>
            </a:r>
          </a:p>
          <a:p>
            <a:pPr>
              <a:spcAft>
                <a:spcPts val="600"/>
              </a:spcAft>
            </a:pPr>
            <a:r>
              <a:rPr sz="1700">
                <a:solidFill>
                  <a:srgbClr val="FFFFFF"/>
                </a:solidFill>
                <a:latin typeface="Calibri"/>
              </a:rPr>
              <a:t>• Corpus perineale</a:t>
            </a:r>
          </a:p>
        </p:txBody>
      </p:sp>
      <p:pic>
        <p:nvPicPr>
          <p:cNvPr id="7" name="Picture 6" descr="perine_kaslari.jpg"/>
          <p:cNvPicPr>
            <a:picLocks noChangeAspect="1"/>
          </p:cNvPicPr>
          <p:nvPr/>
        </p:nvPicPr>
        <p:blipFill>
          <a:blip r:embed="rId2"/>
          <a:stretch>
            <a:fillRect/>
          </a:stretch>
        </p:blipFill>
        <p:spPr>
          <a:xfrm>
            <a:off x="6675120" y="1626330"/>
            <a:ext cx="5257800" cy="3239579"/>
          </a:xfrm>
          <a:prstGeom prst="rect">
            <a:avLst/>
          </a:prstGeom>
        </p:spPr>
      </p:pic>
      <p:sp>
        <p:nvSpPr>
          <p:cNvPr id="8" name="TextBox 7"/>
          <p:cNvSpPr txBox="1"/>
          <p:nvPr/>
        </p:nvSpPr>
        <p:spPr>
          <a:xfrm>
            <a:off x="6675120" y="6080760"/>
            <a:ext cx="5257800" cy="274320"/>
          </a:xfrm>
          <a:prstGeom prst="rect">
            <a:avLst/>
          </a:prstGeom>
          <a:noFill/>
        </p:spPr>
        <p:txBody>
          <a:bodyPr wrap="square" anchor="t" lIns="45720" rIns="45720" tIns="18288" bIns="18288">
            <a:spAutoFit/>
          </a:bodyPr>
          <a:lstStyle/>
          <a:p>
            <a:pPr algn="ctr"/>
            <a:r>
              <a:rPr sz="900" b="0" i="1">
                <a:solidFill>
                  <a:srgbClr val="555B66"/>
                </a:solidFill>
                <a:latin typeface="Calibri"/>
              </a:rPr>
              <a:t>OpenStax A&amp;P, Şekil 11.13 'Perine kasları' (CC BY; etiketler Latinceleştirildi)</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Perine: tanım ve sınırlar</a:t>
            </a:r>
          </a:p>
        </p:txBody>
      </p:sp>
      <p:sp>
        <p:nvSpPr>
          <p:cNvPr id="4" name="TextBox 3"/>
          <p:cNvSpPr txBox="1"/>
          <p:nvPr/>
        </p:nvSpPr>
        <p:spPr>
          <a:xfrm>
            <a:off x="9921240" y="109728"/>
            <a:ext cx="2057400" cy="310896"/>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PERİNE – GENEL</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2000">
                <a:solidFill>
                  <a:srgbClr val="1F2A44"/>
                </a:solidFill>
                <a:latin typeface="Calibri"/>
              </a:rPr>
              <a:t>• </a:t>
            </a:r>
            <a:r>
              <a:rPr sz="2000">
                <a:solidFill>
                  <a:srgbClr val="1F2A44"/>
                </a:solidFill>
                <a:latin typeface="Calibri"/>
              </a:rPr>
              <a:t>Perineum</a:t>
            </a:r>
            <a:r>
              <a:rPr sz="2000">
                <a:solidFill>
                  <a:srgbClr val="1F2A44"/>
                </a:solidFill>
                <a:latin typeface="Calibri"/>
              </a:rPr>
              <a:t>: diaphragma pelvis'in altında, uyluklar arasındaki </a:t>
            </a:r>
            <a:r>
              <a:rPr sz="2000">
                <a:solidFill>
                  <a:srgbClr val="1F2A44"/>
                </a:solidFill>
                <a:latin typeface="Calibri"/>
              </a:rPr>
              <a:t>eşkenar dörtgen</a:t>
            </a:r>
            <a:r>
              <a:rPr sz="2000">
                <a:solidFill>
                  <a:srgbClr val="1F2A44"/>
                </a:solidFill>
                <a:latin typeface="Calibri"/>
              </a:rPr>
              <a:t> biçimli bölge.</a:t>
            </a:r>
          </a:p>
          <a:p>
            <a:pPr>
              <a:spcAft>
                <a:spcPts val="600"/>
              </a:spcAft>
            </a:pPr>
            <a:r>
              <a:rPr sz="2000">
                <a:solidFill>
                  <a:srgbClr val="1F2A44"/>
                </a:solidFill>
                <a:latin typeface="Calibri"/>
              </a:rPr>
              <a:t>• Önde: </a:t>
            </a:r>
            <a:r>
              <a:rPr sz="2000">
                <a:solidFill>
                  <a:srgbClr val="1F2A44"/>
                </a:solidFill>
                <a:latin typeface="Calibri"/>
              </a:rPr>
              <a:t>symphysis pubica</a:t>
            </a:r>
          </a:p>
          <a:p>
            <a:pPr>
              <a:spcAft>
                <a:spcPts val="600"/>
              </a:spcAft>
            </a:pPr>
            <a:r>
              <a:rPr sz="2000">
                <a:solidFill>
                  <a:srgbClr val="1F2A44"/>
                </a:solidFill>
                <a:latin typeface="Calibri"/>
              </a:rPr>
              <a:t>• Önde-yanda: </a:t>
            </a:r>
            <a:r>
              <a:rPr sz="2000">
                <a:solidFill>
                  <a:srgbClr val="1F2A44"/>
                </a:solidFill>
                <a:latin typeface="Calibri"/>
              </a:rPr>
              <a:t>rami ischiopubici</a:t>
            </a:r>
          </a:p>
          <a:p>
            <a:pPr>
              <a:spcAft>
                <a:spcPts val="600"/>
              </a:spcAft>
            </a:pPr>
            <a:r>
              <a:rPr sz="2000">
                <a:solidFill>
                  <a:srgbClr val="1F2A44"/>
                </a:solidFill>
                <a:latin typeface="Calibri"/>
              </a:rPr>
              <a:t>• Yanda: </a:t>
            </a:r>
            <a:r>
              <a:rPr sz="2000">
                <a:solidFill>
                  <a:srgbClr val="1F2A44"/>
                </a:solidFill>
                <a:latin typeface="Calibri"/>
              </a:rPr>
              <a:t>tubera ischiadica</a:t>
            </a:r>
          </a:p>
          <a:p>
            <a:pPr>
              <a:spcAft>
                <a:spcPts val="600"/>
              </a:spcAft>
            </a:pPr>
            <a:r>
              <a:rPr sz="2000">
                <a:solidFill>
                  <a:srgbClr val="1F2A44"/>
                </a:solidFill>
                <a:latin typeface="Calibri"/>
              </a:rPr>
              <a:t>• Arkada-yanda: </a:t>
            </a:r>
            <a:r>
              <a:rPr sz="2000">
                <a:solidFill>
                  <a:srgbClr val="1F2A44"/>
                </a:solidFill>
                <a:latin typeface="Calibri"/>
              </a:rPr>
              <a:t>ligg. sacrotuberalia</a:t>
            </a:r>
            <a:r>
              <a:rPr sz="2000">
                <a:solidFill>
                  <a:srgbClr val="1F2A44"/>
                </a:solidFill>
                <a:latin typeface="Calibri"/>
              </a:rPr>
              <a:t>;  arkada: </a:t>
            </a:r>
            <a:r>
              <a:rPr sz="2000">
                <a:solidFill>
                  <a:srgbClr val="1F2A44"/>
                </a:solidFill>
                <a:latin typeface="Calibri"/>
              </a:rPr>
              <a:t>os coccygis</a:t>
            </a:r>
          </a:p>
          <a:p>
            <a:pPr>
              <a:spcAft>
                <a:spcPts val="600"/>
              </a:spcAft>
            </a:pPr>
            <a:r>
              <a:rPr sz="2000">
                <a:solidFill>
                  <a:srgbClr val="1F2A44"/>
                </a:solidFill>
                <a:latin typeface="Calibri"/>
              </a:rPr>
              <a:t>• İki tuber ischiadicum'u birleştiren çizgi perineyi ikiye ayırır: önde </a:t>
            </a:r>
            <a:r>
              <a:rPr sz="2000">
                <a:solidFill>
                  <a:srgbClr val="1F2A44"/>
                </a:solidFill>
                <a:latin typeface="Calibri"/>
              </a:rPr>
              <a:t>regio urogenitalis</a:t>
            </a:r>
            <a:r>
              <a:rPr sz="2000">
                <a:solidFill>
                  <a:srgbClr val="1F2A44"/>
                </a:solidFill>
                <a:latin typeface="Calibri"/>
              </a:rPr>
              <a:t>, arkada </a:t>
            </a:r>
            <a:r>
              <a:rPr sz="2000">
                <a:solidFill>
                  <a:srgbClr val="1F2A44"/>
                </a:solidFill>
                <a:latin typeface="Calibri"/>
              </a:rPr>
              <a:t>regio analis</a:t>
            </a:r>
            <a:r>
              <a:rPr sz="2000">
                <a:solidFill>
                  <a:srgbClr val="1F2A44"/>
                </a:solidFill>
                <a:latin typeface="Calibri"/>
              </a:rPr>
              <a:t>.</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Perinenin iki üçgeni</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Litotomi pozisyonu – aşağıdan bakış</a:t>
            </a:r>
          </a:p>
        </p:txBody>
      </p:sp>
      <p:sp>
        <p:nvSpPr>
          <p:cNvPr id="5" name="TextBox 4"/>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ŞEMA</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PERİNE – GENEL</a:t>
            </a:r>
          </a:p>
        </p:txBody>
      </p:sp>
      <p:sp>
        <p:nvSpPr>
          <p:cNvPr id="7" name="Rectangle 6"/>
          <p:cNvSpPr/>
          <p:nvPr/>
        </p:nvSpPr>
        <p:spPr>
          <a:xfrm>
            <a:off x="274320" y="1097280"/>
            <a:ext cx="6583680" cy="5120640"/>
          </a:xfrm>
          <a:prstGeom prst="rect">
            <a:avLst/>
          </a:prstGeom>
          <a:solidFill>
            <a:srgbClr val="EE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1920240" y="1600200"/>
            <a:ext cx="3840480" cy="2194560"/>
          </a:xfrm>
          <a:custGeom>
            <a:avLst/>
            <a:gdLst/>
            <a:ahLst/>
            <a:cxnLst/>
            <a:rect l="l" t="t" r="r" b="b"/>
            <a:pathLst>
              <a:path w="3840480" h="2194560">
                <a:moveTo>
                  <a:pt x="1920240" y="0"/>
                </a:moveTo>
                <a:lnTo>
                  <a:pt x="3840480" y="2194560"/>
                </a:lnTo>
                <a:lnTo>
                  <a:pt x="0" y="2194560"/>
                </a:lnTo>
                <a:close/>
              </a:path>
            </a:pathLst>
          </a:custGeom>
          <a:solidFill>
            <a:srgbClr val="BBD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1920240" y="3794760"/>
            <a:ext cx="3840480" cy="2103120"/>
          </a:xfrm>
          <a:custGeom>
            <a:avLst/>
            <a:gdLst/>
            <a:ahLst/>
            <a:cxnLst/>
            <a:rect l="l" t="t" r="r" b="b"/>
            <a:pathLst>
              <a:path w="3840480" h="2103120">
                <a:moveTo>
                  <a:pt x="0" y="0"/>
                </a:moveTo>
                <a:lnTo>
                  <a:pt x="3840480" y="0"/>
                </a:lnTo>
                <a:lnTo>
                  <a:pt x="1920240" y="2103120"/>
                </a:lnTo>
                <a:close/>
              </a:path>
            </a:pathLst>
          </a:custGeom>
          <a:solidFill>
            <a:srgbClr val="F3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H="1">
            <a:off x="1920240" y="1600200"/>
            <a:ext cx="1920240" cy="2194560"/>
          </a:xfrm>
          <a:prstGeom prst="line">
            <a:avLst/>
          </a:prstGeom>
          <a:ln w="76200">
            <a:solidFill>
              <a:srgbClr val="D7C49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840480" y="1600200"/>
            <a:ext cx="1920240" cy="2194560"/>
          </a:xfrm>
          <a:prstGeom prst="line">
            <a:avLst/>
          </a:prstGeom>
          <a:ln w="76200">
            <a:solidFill>
              <a:srgbClr val="D7C49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20240" y="3794760"/>
            <a:ext cx="1920240" cy="2103120"/>
          </a:xfrm>
          <a:prstGeom prst="line">
            <a:avLst/>
          </a:prstGeom>
          <a:ln w="76200">
            <a:solidFill>
              <a:srgbClr val="8D6E63"/>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840480" y="3794760"/>
            <a:ext cx="1920240" cy="2103120"/>
          </a:xfrm>
          <a:prstGeom prst="line">
            <a:avLst/>
          </a:prstGeom>
          <a:ln w="76200">
            <a:solidFill>
              <a:srgbClr val="8D6E6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20240" y="3794760"/>
            <a:ext cx="3840480" cy="0"/>
          </a:xfrm>
          <a:prstGeom prst="line">
            <a:avLst/>
          </a:prstGeom>
          <a:ln w="28575">
            <a:solidFill>
              <a:srgbClr val="1F2A44"/>
            </a:solidFill>
            <a:prstDash val="dash"/>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2103120"/>
            <a:ext cx="2103120" cy="548640"/>
          </a:xfrm>
          <a:prstGeom prst="rect">
            <a:avLst/>
          </a:prstGeom>
          <a:noFill/>
        </p:spPr>
        <p:txBody>
          <a:bodyPr wrap="square" anchor="t" lIns="45720" rIns="45720" tIns="18288" bIns="18288">
            <a:spAutoFit/>
          </a:bodyPr>
          <a:lstStyle/>
          <a:p>
            <a:pPr algn="r"/>
            <a:r>
              <a:rPr sz="1300" b="1" i="0">
                <a:solidFill>
                  <a:srgbClr val="795548"/>
                </a:solidFill>
                <a:latin typeface="Calibri"/>
              </a:rPr>
              <a:t>Ramus ischiopubicus</a:t>
            </a:r>
          </a:p>
        </p:txBody>
      </p:sp>
      <p:sp>
        <p:nvSpPr>
          <p:cNvPr id="16" name="TextBox 15"/>
          <p:cNvSpPr txBox="1"/>
          <p:nvPr/>
        </p:nvSpPr>
        <p:spPr>
          <a:xfrm>
            <a:off x="320040" y="4754880"/>
            <a:ext cx="2011680" cy="548640"/>
          </a:xfrm>
          <a:prstGeom prst="rect">
            <a:avLst/>
          </a:prstGeom>
          <a:noFill/>
        </p:spPr>
        <p:txBody>
          <a:bodyPr wrap="square" anchor="t" lIns="45720" rIns="45720" tIns="18288" bIns="18288">
            <a:spAutoFit/>
          </a:bodyPr>
          <a:lstStyle/>
          <a:p>
            <a:pPr algn="r"/>
            <a:r>
              <a:rPr sz="1300" b="1" i="0">
                <a:solidFill>
                  <a:srgbClr val="795548"/>
                </a:solidFill>
                <a:latin typeface="Calibri"/>
              </a:rPr>
              <a:t>Lig. sacrotuberale</a:t>
            </a:r>
          </a:p>
        </p:txBody>
      </p:sp>
      <p:sp>
        <p:nvSpPr>
          <p:cNvPr id="17" name="Oval 16"/>
          <p:cNvSpPr/>
          <p:nvPr/>
        </p:nvSpPr>
        <p:spPr>
          <a:xfrm>
            <a:off x="3767328" y="1527048"/>
            <a:ext cx="146304" cy="146304"/>
          </a:xfrm>
          <a:prstGeom prst="ellipse">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77640" y="1188720"/>
            <a:ext cx="3108960" cy="365760"/>
          </a:xfrm>
          <a:prstGeom prst="rect">
            <a:avLst/>
          </a:prstGeom>
          <a:noFill/>
        </p:spPr>
        <p:txBody>
          <a:bodyPr wrap="square" anchor="t" lIns="45720" rIns="45720" tIns="18288" bIns="18288">
            <a:spAutoFit/>
          </a:bodyPr>
          <a:lstStyle/>
          <a:p>
            <a:pPr algn="l"/>
            <a:r>
              <a:rPr sz="1400" b="1" i="0">
                <a:solidFill>
                  <a:srgbClr val="1F2A44"/>
                </a:solidFill>
                <a:latin typeface="Calibri"/>
              </a:rPr>
              <a:t>Symphysis pubica (lig. pubicum inferius)</a:t>
            </a:r>
          </a:p>
        </p:txBody>
      </p:sp>
      <p:sp>
        <p:nvSpPr>
          <p:cNvPr id="19" name="Oval 18"/>
          <p:cNvSpPr/>
          <p:nvPr/>
        </p:nvSpPr>
        <p:spPr>
          <a:xfrm>
            <a:off x="1847088" y="3721608"/>
            <a:ext cx="146304" cy="146304"/>
          </a:xfrm>
          <a:prstGeom prst="ellipse">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8288" y="3840480"/>
            <a:ext cx="1828800" cy="365760"/>
          </a:xfrm>
          <a:prstGeom prst="rect">
            <a:avLst/>
          </a:prstGeom>
          <a:noFill/>
        </p:spPr>
        <p:txBody>
          <a:bodyPr wrap="square" anchor="t" lIns="45720" rIns="45720" tIns="18288" bIns="18288">
            <a:spAutoFit/>
          </a:bodyPr>
          <a:lstStyle/>
          <a:p>
            <a:pPr algn="r"/>
            <a:r>
              <a:rPr sz="1400" b="1" i="0">
                <a:solidFill>
                  <a:srgbClr val="1F2A44"/>
                </a:solidFill>
                <a:latin typeface="Calibri"/>
              </a:rPr>
              <a:t>Tuber ischiadicum</a:t>
            </a:r>
          </a:p>
        </p:txBody>
      </p:sp>
      <p:sp>
        <p:nvSpPr>
          <p:cNvPr id="21" name="Oval 20"/>
          <p:cNvSpPr/>
          <p:nvPr/>
        </p:nvSpPr>
        <p:spPr>
          <a:xfrm>
            <a:off x="5687568" y="3721608"/>
            <a:ext cx="146304" cy="146304"/>
          </a:xfrm>
          <a:prstGeom prst="ellipse">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70448" y="3840480"/>
            <a:ext cx="1828800" cy="365760"/>
          </a:xfrm>
          <a:prstGeom prst="rect">
            <a:avLst/>
          </a:prstGeom>
          <a:noFill/>
        </p:spPr>
        <p:txBody>
          <a:bodyPr wrap="square" anchor="t" lIns="45720" rIns="45720" tIns="18288" bIns="18288">
            <a:spAutoFit/>
          </a:bodyPr>
          <a:lstStyle/>
          <a:p>
            <a:pPr algn="l"/>
            <a:r>
              <a:rPr sz="1400" b="1" i="0">
                <a:solidFill>
                  <a:srgbClr val="1F2A44"/>
                </a:solidFill>
                <a:latin typeface="Calibri"/>
              </a:rPr>
              <a:t>Tuber ischiadicum</a:t>
            </a:r>
          </a:p>
        </p:txBody>
      </p:sp>
      <p:sp>
        <p:nvSpPr>
          <p:cNvPr id="23" name="Oval 22"/>
          <p:cNvSpPr/>
          <p:nvPr/>
        </p:nvSpPr>
        <p:spPr>
          <a:xfrm>
            <a:off x="3767328" y="5824728"/>
            <a:ext cx="146304" cy="146304"/>
          </a:xfrm>
          <a:prstGeom prst="ellipse">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77640" y="5715000"/>
            <a:ext cx="2194560" cy="365760"/>
          </a:xfrm>
          <a:prstGeom prst="rect">
            <a:avLst/>
          </a:prstGeom>
          <a:noFill/>
        </p:spPr>
        <p:txBody>
          <a:bodyPr wrap="square" anchor="t" lIns="45720" rIns="45720" tIns="18288" bIns="18288">
            <a:spAutoFit/>
          </a:bodyPr>
          <a:lstStyle/>
          <a:p>
            <a:pPr algn="l"/>
            <a:r>
              <a:rPr sz="1400" b="1" i="0">
                <a:solidFill>
                  <a:srgbClr val="1F2A44"/>
                </a:solidFill>
                <a:latin typeface="Calibri"/>
              </a:rPr>
              <a:t>Os coccygis (apex)</a:t>
            </a:r>
          </a:p>
        </p:txBody>
      </p:sp>
      <p:sp>
        <p:nvSpPr>
          <p:cNvPr id="25" name="TextBox 24"/>
          <p:cNvSpPr txBox="1"/>
          <p:nvPr/>
        </p:nvSpPr>
        <p:spPr>
          <a:xfrm>
            <a:off x="2651760" y="2971800"/>
            <a:ext cx="2377440" cy="640080"/>
          </a:xfrm>
          <a:prstGeom prst="rect">
            <a:avLst/>
          </a:prstGeom>
          <a:noFill/>
        </p:spPr>
        <p:txBody>
          <a:bodyPr wrap="square" anchor="t" lIns="45720" rIns="45720" tIns="18288" bIns="18288">
            <a:spAutoFit/>
          </a:bodyPr>
          <a:lstStyle/>
          <a:p>
            <a:pPr algn="ctr"/>
            <a:r>
              <a:rPr sz="1400" b="1" i="0">
                <a:solidFill>
                  <a:srgbClr val="1F5F9E"/>
                </a:solidFill>
                <a:latin typeface="Calibri"/>
              </a:rPr>
              <a:t>Regio urogenitalis</a:t>
            </a:r>
          </a:p>
          <a:p>
            <a:pPr algn="ctr"/>
            <a:r>
              <a:rPr sz="1400" b="1" i="0">
                <a:solidFill>
                  <a:srgbClr val="1F5F9E"/>
                </a:solidFill>
                <a:latin typeface="Calibri"/>
              </a:rPr>
              <a:t>(trigonum urogenitale)</a:t>
            </a:r>
          </a:p>
        </p:txBody>
      </p:sp>
      <p:sp>
        <p:nvSpPr>
          <p:cNvPr id="26" name="TextBox 25"/>
          <p:cNvSpPr txBox="1"/>
          <p:nvPr/>
        </p:nvSpPr>
        <p:spPr>
          <a:xfrm>
            <a:off x="2651760" y="4160520"/>
            <a:ext cx="2377440" cy="640080"/>
          </a:xfrm>
          <a:prstGeom prst="rect">
            <a:avLst/>
          </a:prstGeom>
          <a:noFill/>
        </p:spPr>
        <p:txBody>
          <a:bodyPr wrap="square" anchor="t" lIns="45720" rIns="45720" tIns="18288" bIns="18288">
            <a:spAutoFit/>
          </a:bodyPr>
          <a:lstStyle/>
          <a:p>
            <a:pPr algn="ctr"/>
            <a:r>
              <a:rPr sz="1400" b="1" i="0">
                <a:solidFill>
                  <a:srgbClr val="C0392B"/>
                </a:solidFill>
                <a:latin typeface="Calibri"/>
              </a:rPr>
              <a:t>Regio analis</a:t>
            </a:r>
          </a:p>
          <a:p>
            <a:pPr algn="ctr"/>
            <a:r>
              <a:rPr sz="1400" b="1" i="0">
                <a:solidFill>
                  <a:srgbClr val="C0392B"/>
                </a:solidFill>
                <a:latin typeface="Calibri"/>
              </a:rPr>
              <a:t>(trigonum anale)</a:t>
            </a:r>
          </a:p>
        </p:txBody>
      </p:sp>
      <p:sp>
        <p:nvSpPr>
          <p:cNvPr id="27" name="TextBox 26"/>
          <p:cNvSpPr txBox="1"/>
          <p:nvPr/>
        </p:nvSpPr>
        <p:spPr>
          <a:xfrm>
            <a:off x="4206240" y="3547872"/>
            <a:ext cx="2834640" cy="274320"/>
          </a:xfrm>
          <a:prstGeom prst="rect">
            <a:avLst/>
          </a:prstGeom>
          <a:noFill/>
        </p:spPr>
        <p:txBody>
          <a:bodyPr wrap="square" anchor="t" lIns="45720" rIns="45720" tIns="18288" bIns="18288">
            <a:spAutoFit/>
          </a:bodyPr>
          <a:lstStyle/>
          <a:p>
            <a:pPr algn="l"/>
            <a:r>
              <a:rPr sz="1200" b="0" i="1">
                <a:solidFill>
                  <a:srgbClr val="1F2A44"/>
                </a:solidFill>
                <a:latin typeface="Calibri"/>
              </a:rPr>
              <a:t>linea interischiadica</a:t>
            </a:r>
          </a:p>
        </p:txBody>
      </p:sp>
      <p:sp>
        <p:nvSpPr>
          <p:cNvPr id="28" name="Oval 27"/>
          <p:cNvSpPr/>
          <p:nvPr/>
        </p:nvSpPr>
        <p:spPr>
          <a:xfrm>
            <a:off x="3730752" y="4617720"/>
            <a:ext cx="219456" cy="219456"/>
          </a:xfrm>
          <a:prstGeom prst="ellipse">
            <a:avLst/>
          </a:prstGeom>
          <a:solidFill>
            <a:srgbClr val="8D6E63"/>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77639" y="4572000"/>
            <a:ext cx="1097280" cy="274320"/>
          </a:xfrm>
          <a:prstGeom prst="rect">
            <a:avLst/>
          </a:prstGeom>
          <a:noFill/>
        </p:spPr>
        <p:txBody>
          <a:bodyPr wrap="square" anchor="t" lIns="45720" rIns="45720" tIns="18288" bIns="18288">
            <a:spAutoFit/>
          </a:bodyPr>
          <a:lstStyle/>
          <a:p>
            <a:pPr algn="l"/>
            <a:r>
              <a:rPr sz="1200" b="0" i="1">
                <a:solidFill>
                  <a:srgbClr val="1F2A44"/>
                </a:solidFill>
                <a:latin typeface="Calibri"/>
              </a:rPr>
              <a:t>anus</a:t>
            </a:r>
          </a:p>
        </p:txBody>
      </p:sp>
      <p:sp>
        <p:nvSpPr>
          <p:cNvPr id="30" name="Oval 29"/>
          <p:cNvSpPr/>
          <p:nvPr/>
        </p:nvSpPr>
        <p:spPr>
          <a:xfrm>
            <a:off x="3767328" y="3721608"/>
            <a:ext cx="146304" cy="146304"/>
          </a:xfrm>
          <a:prstGeom prst="ellipse">
            <a:avLst/>
          </a:prstGeom>
          <a:solidFill>
            <a:srgbClr val="1F2A44"/>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00400" y="3840480"/>
            <a:ext cx="1463040" cy="274320"/>
          </a:xfrm>
          <a:prstGeom prst="rect">
            <a:avLst/>
          </a:prstGeom>
          <a:noFill/>
        </p:spPr>
        <p:txBody>
          <a:bodyPr wrap="square" anchor="t" lIns="45720" rIns="45720" tIns="18288" bIns="18288">
            <a:spAutoFit/>
          </a:bodyPr>
          <a:lstStyle/>
          <a:p>
            <a:pPr algn="ctr"/>
            <a:r>
              <a:rPr sz="1100" b="0" i="1">
                <a:solidFill>
                  <a:srgbClr val="1F2A44"/>
                </a:solidFill>
                <a:latin typeface="Calibri"/>
              </a:rPr>
              <a:t>corpus perineale</a:t>
            </a:r>
          </a:p>
        </p:txBody>
      </p:sp>
      <p:sp>
        <p:nvSpPr>
          <p:cNvPr id="32" name="TextBox 31"/>
          <p:cNvSpPr txBox="1"/>
          <p:nvPr/>
        </p:nvSpPr>
        <p:spPr>
          <a:xfrm>
            <a:off x="7132320" y="1188720"/>
            <a:ext cx="4800600" cy="5120640"/>
          </a:xfrm>
          <a:prstGeom prst="rect">
            <a:avLst/>
          </a:prstGeom>
          <a:noFill/>
        </p:spPr>
        <p:txBody>
          <a:bodyPr wrap="square">
            <a:spAutoFit/>
          </a:bodyPr>
          <a:lstStyle/>
          <a:p>
            <a:pPr>
              <a:spcAft>
                <a:spcPts val="600"/>
              </a:spcAft>
            </a:pPr>
            <a:r>
              <a:rPr sz="1600">
                <a:solidFill>
                  <a:srgbClr val="1F2A44"/>
                </a:solidFill>
                <a:latin typeface="Calibri"/>
              </a:rPr>
              <a:t>• </a:t>
            </a:r>
            <a:r>
              <a:rPr sz="1600">
                <a:solidFill>
                  <a:srgbClr val="1F2A44"/>
                </a:solidFill>
                <a:latin typeface="Calibri"/>
              </a:rPr>
              <a:t>Regio urogenitalis</a:t>
            </a:r>
            <a:r>
              <a:rPr sz="1600">
                <a:solidFill>
                  <a:srgbClr val="1F2A44"/>
                </a:solidFill>
                <a:latin typeface="Calibri"/>
              </a:rPr>
              <a:t> (ön üçgen): dış genital organlar, urethra (kadında + vagina).</a:t>
            </a:r>
          </a:p>
          <a:p>
            <a:pPr>
              <a:spcAft>
                <a:spcPts val="600"/>
              </a:spcAft>
            </a:pPr>
            <a:r>
              <a:rPr sz="1600">
                <a:solidFill>
                  <a:srgbClr val="1F2A44"/>
                </a:solidFill>
                <a:latin typeface="Calibri"/>
              </a:rPr>
              <a:t>• </a:t>
            </a:r>
            <a:r>
              <a:rPr sz="1600">
                <a:solidFill>
                  <a:srgbClr val="1F2A44"/>
                </a:solidFill>
                <a:latin typeface="Calibri"/>
              </a:rPr>
              <a:t>Regio analis</a:t>
            </a:r>
            <a:r>
              <a:rPr sz="1600">
                <a:solidFill>
                  <a:srgbClr val="1F2A44"/>
                </a:solidFill>
                <a:latin typeface="Calibri"/>
              </a:rPr>
              <a:t> (arka üçgen): canalis analis, m. sphincter ani externus, iki yanda fossa ischioanalis.</a:t>
            </a:r>
          </a:p>
          <a:p>
            <a:pPr>
              <a:spcAft>
                <a:spcPts val="600"/>
              </a:spcAft>
            </a:pPr>
            <a:r>
              <a:rPr sz="1600">
                <a:solidFill>
                  <a:srgbClr val="1F2A44"/>
                </a:solidFill>
                <a:latin typeface="Calibri"/>
              </a:rPr>
              <a:t>• Ortada </a:t>
            </a:r>
            <a:r>
              <a:rPr sz="1600">
                <a:solidFill>
                  <a:srgbClr val="1F2A44"/>
                </a:solidFill>
                <a:latin typeface="Calibri"/>
              </a:rPr>
              <a:t>corpus perineale</a:t>
            </a:r>
            <a:r>
              <a:rPr sz="1600">
                <a:solidFill>
                  <a:srgbClr val="1F2A44"/>
                </a:solidFill>
                <a:latin typeface="Calibri"/>
              </a:rPr>
              <a:t>: perine kaslarının birleştiği fibromusküler merkez.</a:t>
            </a:r>
          </a:p>
        </p:txBody>
      </p:sp>
      <p:cxnSp>
        <p:nvCxnSpPr>
          <p:cNvPr id="33" name="Connector 3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Şema: bu projede standart anatomi bilgisinden çizilmiştir (gerçek görüntü değildir).</a:t>
            </a:r>
          </a:p>
        </p:txBody>
      </p:sp>
      <p:sp>
        <p:nvSpPr>
          <p:cNvPr id="35" name="TextBox 34"/>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Perinenin sınırları – kadavrada</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Erkek perinesi, aşağıdan bakış (deri altı yağ kaldırılmış)</a:t>
            </a:r>
          </a:p>
        </p:txBody>
      </p:sp>
      <p:sp>
        <p:nvSpPr>
          <p:cNvPr id="5" name="TextBox 4"/>
          <p:cNvSpPr txBox="1"/>
          <p:nvPr/>
        </p:nvSpPr>
        <p:spPr>
          <a:xfrm>
            <a:off x="9921240" y="109728"/>
            <a:ext cx="2057400" cy="310896"/>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KADAVRA</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PERİNE – GENEL</a:t>
            </a:r>
          </a:p>
        </p:txBody>
      </p:sp>
      <p:pic>
        <p:nvPicPr>
          <p:cNvPr id="7" name="Picture 6" descr="CA-34-272-g001.jpg"/>
          <p:cNvPicPr>
            <a:picLocks noChangeAspect="1"/>
          </p:cNvPicPr>
          <p:nvPr/>
        </p:nvPicPr>
        <p:blipFill>
          <a:blip r:embed="rId2"/>
          <a:stretch>
            <a:fillRect/>
          </a:stretch>
        </p:blipFill>
        <p:spPr>
          <a:xfrm>
            <a:off x="3333338" y="1097280"/>
            <a:ext cx="5433578" cy="3739896"/>
          </a:xfrm>
          <a:prstGeom prst="rect">
            <a:avLst/>
          </a:prstGeom>
        </p:spPr>
      </p:pic>
      <p:sp>
        <p:nvSpPr>
          <p:cNvPr id="8" name="TextBox 7"/>
          <p:cNvSpPr txBox="1"/>
          <p:nvPr/>
        </p:nvSpPr>
        <p:spPr>
          <a:xfrm>
            <a:off x="274320" y="1570257"/>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bulbospongiosus</a:t>
            </a:r>
          </a:p>
        </p:txBody>
      </p:sp>
      <p:cxnSp>
        <p:nvCxnSpPr>
          <p:cNvPr id="9" name="Connector 8"/>
          <p:cNvCxnSpPr/>
          <p:nvPr/>
        </p:nvCxnSpPr>
        <p:spPr>
          <a:xfrm>
            <a:off x="3017520" y="1725705"/>
            <a:ext cx="1925199"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896999" y="167998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137372"/>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Ramus ischiopubicus</a:t>
            </a:r>
          </a:p>
        </p:txBody>
      </p:sp>
      <p:cxnSp>
        <p:nvCxnSpPr>
          <p:cNvPr id="12" name="Connector 11"/>
          <p:cNvCxnSpPr/>
          <p:nvPr/>
        </p:nvCxnSpPr>
        <p:spPr>
          <a:xfrm>
            <a:off x="3017520" y="2292820"/>
            <a:ext cx="974898"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946698" y="224710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521420"/>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ischiocavernosus</a:t>
            </a:r>
          </a:p>
        </p:txBody>
      </p:sp>
      <p:cxnSp>
        <p:nvCxnSpPr>
          <p:cNvPr id="15" name="Connector 14"/>
          <p:cNvCxnSpPr/>
          <p:nvPr/>
        </p:nvCxnSpPr>
        <p:spPr>
          <a:xfrm flipV="1">
            <a:off x="3017520" y="2392448"/>
            <a:ext cx="1319765" cy="28442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291565" y="234672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2905468"/>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transversus perinei superf.</a:t>
            </a:r>
          </a:p>
        </p:txBody>
      </p:sp>
      <p:cxnSp>
        <p:nvCxnSpPr>
          <p:cNvPr id="18" name="Connector 17"/>
          <p:cNvCxnSpPr/>
          <p:nvPr/>
        </p:nvCxnSpPr>
        <p:spPr>
          <a:xfrm flipV="1">
            <a:off x="3017520" y="2852272"/>
            <a:ext cx="1373411" cy="208644"/>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345211" y="2806552"/>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289516"/>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Tuber ischiadicum</a:t>
            </a:r>
          </a:p>
        </p:txBody>
      </p:sp>
      <p:cxnSp>
        <p:nvCxnSpPr>
          <p:cNvPr id="21" name="Connector 20"/>
          <p:cNvCxnSpPr/>
          <p:nvPr/>
        </p:nvCxnSpPr>
        <p:spPr>
          <a:xfrm flipV="1">
            <a:off x="3017520" y="2967228"/>
            <a:ext cx="530402" cy="477736"/>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3502202" y="292150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673564"/>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sphincter ani externus</a:t>
            </a:r>
          </a:p>
        </p:txBody>
      </p:sp>
      <p:cxnSp>
        <p:nvCxnSpPr>
          <p:cNvPr id="24" name="Connector 23"/>
          <p:cNvCxnSpPr/>
          <p:nvPr/>
        </p:nvCxnSpPr>
        <p:spPr>
          <a:xfrm flipV="1">
            <a:off x="3017520" y="3404060"/>
            <a:ext cx="1457712" cy="424952"/>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4429512" y="335834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4057612"/>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Anus</a:t>
            </a:r>
          </a:p>
        </p:txBody>
      </p:sp>
      <p:cxnSp>
        <p:nvCxnSpPr>
          <p:cNvPr id="27" name="Connector 26"/>
          <p:cNvCxnSpPr/>
          <p:nvPr/>
        </p:nvCxnSpPr>
        <p:spPr>
          <a:xfrm flipV="1">
            <a:off x="3017520" y="3925193"/>
            <a:ext cx="1810244" cy="287867"/>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4782044" y="3879473"/>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4444152"/>
            <a:ext cx="2743200" cy="310896"/>
          </a:xfrm>
          <a:prstGeom prst="rect">
            <a:avLst/>
          </a:prstGeom>
          <a:noFill/>
        </p:spPr>
        <p:txBody>
          <a:bodyPr wrap="square" anchor="ctr" lIns="45720" rIns="45720" tIns="18288" bIns="18288">
            <a:spAutoFit/>
          </a:bodyPr>
          <a:lstStyle/>
          <a:p>
            <a:pPr algn="r"/>
            <a:r>
              <a:rPr sz="1350" b="1" i="0">
                <a:solidFill>
                  <a:srgbClr val="1F2A44"/>
                </a:solidFill>
                <a:latin typeface="Calibri"/>
              </a:rPr>
              <a:t>Os coccygis</a:t>
            </a:r>
          </a:p>
        </p:txBody>
      </p:sp>
      <p:cxnSp>
        <p:nvCxnSpPr>
          <p:cNvPr id="30" name="Connector 29"/>
          <p:cNvCxnSpPr/>
          <p:nvPr/>
        </p:nvCxnSpPr>
        <p:spPr>
          <a:xfrm>
            <a:off x="3017520" y="4599600"/>
            <a:ext cx="1886881"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4858681" y="455388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6120" y="4855464"/>
            <a:ext cx="5608015" cy="256032"/>
          </a:xfrm>
          <a:prstGeom prst="rect">
            <a:avLst/>
          </a:prstGeom>
          <a:noFill/>
        </p:spPr>
        <p:txBody>
          <a:bodyPr wrap="square" anchor="t" lIns="45720" rIns="45720" tIns="18288" bIns="18288">
            <a:spAutoFit/>
          </a:bodyPr>
          <a:lstStyle/>
          <a:p>
            <a:pPr algn="ctr"/>
            <a:r>
              <a:rPr sz="1100" b="0" i="1">
                <a:solidFill>
                  <a:srgbClr val="555B66"/>
                </a:solidFill>
                <a:latin typeface="Calibri"/>
              </a:rPr>
              <a:t>FIGURE 1 – Muro S. ve ark., 2020 (PMC7898478, CC BY-NC-ND)</a:t>
            </a:r>
          </a:p>
        </p:txBody>
      </p:sp>
      <p:sp>
        <p:nvSpPr>
          <p:cNvPr id="33" name="Rectangle 32"/>
          <p:cNvSpPr/>
          <p:nvPr/>
        </p:nvSpPr>
        <p:spPr>
          <a:xfrm>
            <a:off x="274320" y="5138928"/>
            <a:ext cx="11643055" cy="960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5166360"/>
            <a:ext cx="11460175" cy="960120"/>
          </a:xfrm>
          <a:prstGeom prst="rect">
            <a:avLst/>
          </a:prstGeom>
          <a:noFill/>
        </p:spPr>
        <p:txBody>
          <a:bodyPr wrap="square">
            <a:spAutoFit/>
          </a:bodyPr>
          <a:lstStyle/>
          <a:p>
            <a:pPr>
              <a:spcAft>
                <a:spcPts val="200"/>
              </a:spcAft>
            </a:pPr>
            <a:r>
              <a:rPr sz="1600">
                <a:solidFill>
                  <a:srgbClr val="1F2A44"/>
                </a:solidFill>
                <a:latin typeface="Calibri"/>
              </a:rPr>
              <a:t>• Tuber ischiadicum, ramus ischiopubicus ve os coccygis perinenin kemik çerçevesini oluşturur.</a:t>
            </a:r>
          </a:p>
          <a:p>
            <a:pPr>
              <a:spcAft>
                <a:spcPts val="200"/>
              </a:spcAft>
            </a:pPr>
            <a:r>
              <a:rPr sz="1600">
                <a:solidFill>
                  <a:srgbClr val="1F2A44"/>
                </a:solidFill>
                <a:latin typeface="Calibri"/>
              </a:rPr>
              <a:t>• Önde ürogenital kaslar (m. bulbospongiosus, m. ischiocavernosus), arkada m. sphincter ani externus ve anüs.</a:t>
            </a:r>
          </a:p>
        </p:txBody>
      </p:sp>
      <p:sp>
        <p:nvSpPr>
          <p:cNvPr id="35" name="TextBox 34"/>
          <p:cNvSpPr txBox="1"/>
          <p:nvPr/>
        </p:nvSpPr>
        <p:spPr>
          <a:xfrm>
            <a:off x="274320" y="6108192"/>
            <a:ext cx="7315200" cy="274320"/>
          </a:xfrm>
          <a:prstGeom prst="rect">
            <a:avLst/>
          </a:prstGeom>
          <a:noFill/>
        </p:spPr>
        <p:txBody>
          <a:bodyPr wrap="square" anchor="t" lIns="45720" rIns="45720" tIns="18288" bIns="18288">
            <a:spAutoFit/>
          </a:bodyPr>
          <a:lstStyle/>
          <a:p>
            <a:pPr algn="l"/>
            <a:r>
              <a:rPr sz="900" b="0" i="1">
                <a:solidFill>
                  <a:srgbClr val="C0392B"/>
                </a:solidFill>
                <a:latin typeface="Calibri"/>
              </a:rPr>
              <a:t>Lisans: CC BY-NC-ND – yalnızca ticari olmayan eğitim amaçlı; görsel değiştirilmeden (kırpılmadan) kullanılmıştır.</a:t>
            </a:r>
          </a:p>
        </p:txBody>
      </p:sp>
      <p:cxnSp>
        <p:nvCxnSpPr>
          <p:cNvPr id="36" name="Connector 3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Muro S., Tsukada Y., Ito M. et al. The series of smooth muscle structures in the pelvic floors of men: Dynamic coordination of smooth and skeletal muscles. Clin Anat. 2020 Dec 30;34(2):272–82. doi: 10.1002/ca.23713 PMCID: PMC7898478. Lisans: CC BY-NC-ND.</a:t>
            </a:r>
          </a:p>
        </p:txBody>
      </p:sp>
      <p:sp>
        <p:nvSpPr>
          <p:cNvPr id="38" name="TextBox 3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Corpus perineale (centrum tendineum perinei)</a:t>
            </a:r>
          </a:p>
        </p:txBody>
      </p:sp>
      <p:sp>
        <p:nvSpPr>
          <p:cNvPr id="4" name="TextBox 3"/>
          <p:cNvSpPr txBox="1"/>
          <p:nvPr/>
        </p:nvSpPr>
        <p:spPr>
          <a:xfrm>
            <a:off x="9921240" y="109728"/>
            <a:ext cx="2057400" cy="310896"/>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PERİNE – GENEL</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1900">
                <a:solidFill>
                  <a:srgbClr val="1F2A44"/>
                </a:solidFill>
                <a:latin typeface="Calibri"/>
              </a:rPr>
              <a:t>• Erkekte bulbus penis ile anüs, kadında vagina ile anüs arasında yer alan fibromusküler düğüm.</a:t>
            </a:r>
          </a:p>
          <a:p>
            <a:pPr>
              <a:spcAft>
                <a:spcPts val="600"/>
              </a:spcAft>
            </a:pPr>
            <a:r>
              <a:rPr sz="1900">
                <a:solidFill>
                  <a:srgbClr val="1F2A44"/>
                </a:solidFill>
                <a:latin typeface="Calibri"/>
              </a:rPr>
              <a:t>• Buraya tutunan kaslar: </a:t>
            </a:r>
            <a:r>
              <a:rPr sz="1900">
                <a:solidFill>
                  <a:srgbClr val="1F2A44"/>
                </a:solidFill>
                <a:latin typeface="Calibri"/>
              </a:rPr>
              <a:t>m. bulbospongiosus</a:t>
            </a:r>
            <a:r>
              <a:rPr sz="1900">
                <a:solidFill>
                  <a:srgbClr val="1F2A44"/>
                </a:solidFill>
                <a:latin typeface="Calibri"/>
              </a:rPr>
              <a:t>, </a:t>
            </a:r>
            <a:r>
              <a:rPr sz="1900">
                <a:solidFill>
                  <a:srgbClr val="1F2A44"/>
                </a:solidFill>
                <a:latin typeface="Calibri"/>
              </a:rPr>
              <a:t>m. transversus perinei superficialis</a:t>
            </a:r>
            <a:r>
              <a:rPr sz="1900">
                <a:solidFill>
                  <a:srgbClr val="1F2A44"/>
                </a:solidFill>
                <a:latin typeface="Calibri"/>
              </a:rPr>
              <a:t> ve </a:t>
            </a:r>
            <a:r>
              <a:rPr sz="1900">
                <a:solidFill>
                  <a:srgbClr val="1F2A44"/>
                </a:solidFill>
                <a:latin typeface="Calibri"/>
              </a:rPr>
              <a:t>profundus</a:t>
            </a:r>
            <a:r>
              <a:rPr sz="1900">
                <a:solidFill>
                  <a:srgbClr val="1F2A44"/>
                </a:solidFill>
                <a:latin typeface="Calibri"/>
              </a:rPr>
              <a:t>, </a:t>
            </a:r>
            <a:r>
              <a:rPr sz="1900">
                <a:solidFill>
                  <a:srgbClr val="1F2A44"/>
                </a:solidFill>
                <a:latin typeface="Calibri"/>
              </a:rPr>
              <a:t>m. sphincter ani externus</a:t>
            </a:r>
            <a:r>
              <a:rPr sz="1900">
                <a:solidFill>
                  <a:srgbClr val="1F2A44"/>
                </a:solidFill>
                <a:latin typeface="Calibri"/>
              </a:rPr>
              <a:t>, m. levator ani lifleri.</a:t>
            </a:r>
          </a:p>
          <a:p>
            <a:pPr>
              <a:spcAft>
                <a:spcPts val="600"/>
              </a:spcAft>
            </a:pPr>
            <a:r>
              <a:rPr sz="1900">
                <a:solidFill>
                  <a:srgbClr val="1F2A44"/>
                </a:solidFill>
                <a:latin typeface="Calibri"/>
              </a:rPr>
              <a:t>• Kadında pelvis tabanının önemli destek noktasıdır.</a:t>
            </a:r>
          </a:p>
          <a:p>
            <a:pPr>
              <a:spcAft>
                <a:spcPts val="600"/>
              </a:spcAft>
            </a:pPr>
            <a:r>
              <a:rPr sz="1900">
                <a:solidFill>
                  <a:srgbClr val="1F2A44"/>
                </a:solidFill>
                <a:latin typeface="Calibri"/>
              </a:rPr>
              <a:t>• </a:t>
            </a:r>
            <a:r>
              <a:rPr sz="1900">
                <a:solidFill>
                  <a:srgbClr val="1F2A44"/>
                </a:solidFill>
                <a:latin typeface="Calibri"/>
              </a:rPr>
              <a:t>Klinik</a:t>
            </a:r>
            <a:r>
              <a:rPr sz="1900">
                <a:solidFill>
                  <a:srgbClr val="1F2A44"/>
                </a:solidFill>
                <a:latin typeface="Calibri"/>
              </a:rPr>
              <a:t>: doğumda </a:t>
            </a:r>
            <a:r>
              <a:rPr sz="1900">
                <a:solidFill>
                  <a:srgbClr val="1F2A44"/>
                </a:solidFill>
                <a:latin typeface="Calibri"/>
              </a:rPr>
              <a:t>perine yırtıkları</a:t>
            </a:r>
            <a:r>
              <a:rPr sz="1900">
                <a:solidFill>
                  <a:srgbClr val="1F2A44"/>
                </a:solidFill>
                <a:latin typeface="Calibri"/>
              </a:rPr>
              <a:t> (1.–4. derece) ve </a:t>
            </a:r>
            <a:r>
              <a:rPr sz="1900">
                <a:solidFill>
                  <a:srgbClr val="1F2A44"/>
                </a:solidFill>
                <a:latin typeface="Calibri"/>
              </a:rPr>
              <a:t>epizyotomi</a:t>
            </a:r>
            <a:r>
              <a:rPr sz="1900">
                <a:solidFill>
                  <a:srgbClr val="1F2A44"/>
                </a:solidFill>
                <a:latin typeface="Calibri"/>
              </a:rPr>
              <a:t>. Mediolateral epizyotomi anal sfinkteri korumak için tercih edilir.</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486400" cy="457200"/>
          </a:xfrm>
          <a:prstGeom prst="rect">
            <a:avLst/>
          </a:prstGeom>
          <a:noFill/>
        </p:spPr>
        <p:txBody>
          <a:bodyPr wrap="square" anchor="t" lIns="45720" rIns="45720" tIns="18288" bIns="18288">
            <a:spAutoFit/>
          </a:bodyPr>
          <a:lstStyle/>
          <a:p>
            <a:pPr algn="l"/>
            <a:r>
              <a:rPr sz="2000" b="1" i="0">
                <a:solidFill>
                  <a:srgbClr val="C8D1E6"/>
                </a:solidFill>
                <a:latin typeface="Calibri"/>
              </a:rPr>
              <a:t>BÖLÜM 3</a:t>
            </a:r>
          </a:p>
        </p:txBody>
      </p:sp>
      <p:sp>
        <p:nvSpPr>
          <p:cNvPr id="4" name="TextBox 3"/>
          <p:cNvSpPr txBox="1"/>
          <p:nvPr/>
        </p:nvSpPr>
        <p:spPr>
          <a:xfrm>
            <a:off x="548640" y="1234440"/>
            <a:ext cx="5669280" cy="1371600"/>
          </a:xfrm>
          <a:prstGeom prst="rect">
            <a:avLst/>
          </a:prstGeom>
          <a:noFill/>
        </p:spPr>
        <p:txBody>
          <a:bodyPr wrap="square" anchor="t" lIns="45720" rIns="45720" tIns="18288" bIns="18288">
            <a:spAutoFit/>
          </a:bodyPr>
          <a:lstStyle/>
          <a:p>
            <a:pPr algn="l"/>
            <a:r>
              <a:rPr sz="4000" b="1" i="0">
                <a:solidFill>
                  <a:srgbClr val="FFFFFF"/>
                </a:solidFill>
                <a:latin typeface="Calibri"/>
              </a:rPr>
              <a:t>Regio urogenitalis</a:t>
            </a:r>
          </a:p>
        </p:txBody>
      </p:sp>
      <p:sp>
        <p:nvSpPr>
          <p:cNvPr id="5" name="TextBox 4"/>
          <p:cNvSpPr txBox="1"/>
          <p:nvPr/>
        </p:nvSpPr>
        <p:spPr>
          <a:xfrm>
            <a:off x="548640" y="2697480"/>
            <a:ext cx="5486400" cy="640080"/>
          </a:xfrm>
          <a:prstGeom prst="rect">
            <a:avLst/>
          </a:prstGeom>
          <a:noFill/>
        </p:spPr>
        <p:txBody>
          <a:bodyPr wrap="square" anchor="t" lIns="45720" rIns="45720" tIns="18288" bIns="18288">
            <a:spAutoFit/>
          </a:bodyPr>
          <a:lstStyle/>
          <a:p>
            <a:pPr algn="l"/>
            <a:r>
              <a:rPr sz="1700" b="0" i="1">
                <a:solidFill>
                  <a:srgbClr val="C8D1E6"/>
                </a:solidFill>
                <a:latin typeface="Calibri"/>
              </a:rPr>
              <a:t>Fasyalar, aralıklar, kaslar, dış genital organlar</a:t>
            </a:r>
          </a:p>
        </p:txBody>
      </p:sp>
      <p:sp>
        <p:nvSpPr>
          <p:cNvPr id="6" name="TextBox 5"/>
          <p:cNvSpPr txBox="1"/>
          <p:nvPr/>
        </p:nvSpPr>
        <p:spPr>
          <a:xfrm>
            <a:off x="548640" y="3429000"/>
            <a:ext cx="5577840" cy="2926080"/>
          </a:xfrm>
          <a:prstGeom prst="rect">
            <a:avLst/>
          </a:prstGeom>
          <a:noFill/>
        </p:spPr>
        <p:txBody>
          <a:bodyPr wrap="square">
            <a:spAutoFit/>
          </a:bodyPr>
          <a:lstStyle/>
          <a:p>
            <a:pPr>
              <a:spcAft>
                <a:spcPts val="600"/>
              </a:spcAft>
            </a:pPr>
            <a:r>
              <a:rPr sz="1700">
                <a:solidFill>
                  <a:srgbClr val="FFFFFF"/>
                </a:solidFill>
                <a:latin typeface="Calibri"/>
              </a:rPr>
              <a:t>• Perine fasyaları</a:t>
            </a:r>
          </a:p>
          <a:p>
            <a:pPr>
              <a:spcAft>
                <a:spcPts val="600"/>
              </a:spcAft>
            </a:pPr>
            <a:r>
              <a:rPr sz="1700">
                <a:solidFill>
                  <a:srgbClr val="FFFFFF"/>
                </a:solidFill>
                <a:latin typeface="Calibri"/>
              </a:rPr>
              <a:t>• Yüzeyel ve derin aralık</a:t>
            </a:r>
          </a:p>
          <a:p>
            <a:pPr>
              <a:spcAft>
                <a:spcPts val="600"/>
              </a:spcAft>
            </a:pPr>
            <a:r>
              <a:rPr sz="1700">
                <a:solidFill>
                  <a:srgbClr val="FFFFFF"/>
                </a:solidFill>
                <a:latin typeface="Calibri"/>
              </a:rPr>
              <a:t>• Erkek ve kadın</a:t>
            </a:r>
          </a:p>
          <a:p>
            <a:pPr>
              <a:spcAft>
                <a:spcPts val="600"/>
              </a:spcAft>
            </a:pPr>
            <a:r>
              <a:rPr sz="1700">
                <a:solidFill>
                  <a:srgbClr val="FFFFFF"/>
                </a:solidFill>
                <a:latin typeface="Calibri"/>
              </a:rPr>
              <a:t>• Klinik</a:t>
            </a:r>
          </a:p>
        </p:txBody>
      </p:sp>
      <p:pic>
        <p:nvPicPr>
          <p:cNvPr id="7" name="Picture 6" descr="vulva.jpg"/>
          <p:cNvPicPr>
            <a:picLocks noChangeAspect="1"/>
          </p:cNvPicPr>
          <p:nvPr/>
        </p:nvPicPr>
        <p:blipFill>
          <a:blip r:embed="rId2"/>
          <a:stretch>
            <a:fillRect/>
          </a:stretch>
        </p:blipFill>
        <p:spPr>
          <a:xfrm>
            <a:off x="6675120" y="1882612"/>
            <a:ext cx="5257800" cy="2727014"/>
          </a:xfrm>
          <a:prstGeom prst="rect">
            <a:avLst/>
          </a:prstGeom>
        </p:spPr>
      </p:pic>
      <p:sp>
        <p:nvSpPr>
          <p:cNvPr id="8" name="TextBox 7"/>
          <p:cNvSpPr txBox="1"/>
          <p:nvPr/>
        </p:nvSpPr>
        <p:spPr>
          <a:xfrm>
            <a:off x="6675120" y="6080760"/>
            <a:ext cx="5257800" cy="274320"/>
          </a:xfrm>
          <a:prstGeom prst="rect">
            <a:avLst/>
          </a:prstGeom>
          <a:noFill/>
        </p:spPr>
        <p:txBody>
          <a:bodyPr wrap="square" anchor="t" lIns="45720" rIns="45720" tIns="18288" bIns="18288">
            <a:spAutoFit/>
          </a:bodyPr>
          <a:lstStyle/>
          <a:p>
            <a:pPr algn="ctr"/>
            <a:r>
              <a:rPr sz="900" b="0" i="1">
                <a:solidFill>
                  <a:srgbClr val="555B66"/>
                </a:solidFill>
                <a:latin typeface="Calibri"/>
              </a:rPr>
              <a:t>OpenStax A&amp;P, Şekil 27.11 'Vulva' (CC BY; etiketler Latinceleştirildi)</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Regio urogenitalis – yüzeyden derine katmanlar</a:t>
            </a:r>
          </a:p>
        </p:txBody>
      </p:sp>
      <p:sp>
        <p:nvSpPr>
          <p:cNvPr id="4" name="TextBox 3"/>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ŞEMA</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sp>
        <p:nvSpPr>
          <p:cNvPr id="6" name="TextBox 5"/>
          <p:cNvSpPr txBox="1"/>
          <p:nvPr/>
        </p:nvSpPr>
        <p:spPr>
          <a:xfrm>
            <a:off x="365760" y="1143000"/>
            <a:ext cx="6675120" cy="274320"/>
          </a:xfrm>
          <a:prstGeom prst="rect">
            <a:avLst/>
          </a:prstGeom>
          <a:noFill/>
        </p:spPr>
        <p:txBody>
          <a:bodyPr wrap="square" anchor="t" lIns="45720" rIns="45720" tIns="18288" bIns="18288">
            <a:spAutoFit/>
          </a:bodyPr>
          <a:lstStyle/>
          <a:p>
            <a:pPr algn="l"/>
            <a:r>
              <a:rPr sz="1200" b="0" i="1">
                <a:solidFill>
                  <a:srgbClr val="555B66"/>
                </a:solidFill>
                <a:latin typeface="Calibri"/>
              </a:rPr>
              <a:t>▲ kraniyal (derin) – cavitas pelvis</a:t>
            </a:r>
          </a:p>
        </p:txBody>
      </p:sp>
      <p:sp>
        <p:nvSpPr>
          <p:cNvPr id="7" name="Rectangle 6"/>
          <p:cNvSpPr/>
          <p:nvPr/>
        </p:nvSpPr>
        <p:spPr>
          <a:xfrm>
            <a:off x="365760" y="1444752"/>
            <a:ext cx="6675120" cy="201168"/>
          </a:xfrm>
          <a:prstGeom prst="rect">
            <a:avLst/>
          </a:prstGeom>
          <a:solidFill>
            <a:srgbClr val="8EA9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1">
                <a:solidFill>
                  <a:srgbClr val="1F2A44"/>
                </a:solidFill>
                <a:latin typeface="Calibri"/>
              </a:rPr>
              <a:t>Fascia superior diaphragmatis pelvis</a:t>
            </a:r>
          </a:p>
        </p:txBody>
      </p:sp>
      <p:sp>
        <p:nvSpPr>
          <p:cNvPr id="8" name="Rectangle 7"/>
          <p:cNvSpPr/>
          <p:nvPr/>
        </p:nvSpPr>
        <p:spPr>
          <a:xfrm>
            <a:off x="365760" y="1664208"/>
            <a:ext cx="6675120" cy="384048"/>
          </a:xfrm>
          <a:prstGeom prst="rect">
            <a:avLst/>
          </a:prstGeom>
          <a:solidFill>
            <a:srgbClr val="C65B4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1">
                <a:solidFill>
                  <a:srgbClr val="FFFFFF"/>
                </a:solidFill>
                <a:latin typeface="Calibri"/>
              </a:rPr>
              <a:t>M. levator ani (diaphragma pelvis)</a:t>
            </a:r>
          </a:p>
        </p:txBody>
      </p:sp>
      <p:sp>
        <p:nvSpPr>
          <p:cNvPr id="9" name="Rectangle 8"/>
          <p:cNvSpPr/>
          <p:nvPr/>
        </p:nvSpPr>
        <p:spPr>
          <a:xfrm>
            <a:off x="365760" y="2066544"/>
            <a:ext cx="6675120" cy="201168"/>
          </a:xfrm>
          <a:prstGeom prst="rect">
            <a:avLst/>
          </a:prstGeom>
          <a:solidFill>
            <a:srgbClr val="8EA9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1">
                <a:solidFill>
                  <a:srgbClr val="1F2A44"/>
                </a:solidFill>
                <a:latin typeface="Calibri"/>
              </a:rPr>
              <a:t>Fascia inferior diaphragmatis pelvis</a:t>
            </a:r>
          </a:p>
        </p:txBody>
      </p:sp>
      <p:sp>
        <p:nvSpPr>
          <p:cNvPr id="10" name="Rectangle 9"/>
          <p:cNvSpPr/>
          <p:nvPr/>
        </p:nvSpPr>
        <p:spPr>
          <a:xfrm>
            <a:off x="365760" y="2286000"/>
            <a:ext cx="6675120" cy="310896"/>
          </a:xfrm>
          <a:prstGeom prst="rect">
            <a:avLst/>
          </a:prstGeom>
          <a:solidFill>
            <a:srgbClr val="F6E38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0">
                <a:solidFill>
                  <a:srgbClr val="1F2A44"/>
                </a:solidFill>
                <a:latin typeface="Calibri"/>
              </a:rPr>
              <a:t>Recessus anterior fossae ischioanalis (yağ)</a:t>
            </a:r>
          </a:p>
        </p:txBody>
      </p:sp>
      <p:sp>
        <p:nvSpPr>
          <p:cNvPr id="11" name="Rectangle 10"/>
          <p:cNvSpPr/>
          <p:nvPr/>
        </p:nvSpPr>
        <p:spPr>
          <a:xfrm>
            <a:off x="365760" y="2615184"/>
            <a:ext cx="6675120" cy="566928"/>
          </a:xfrm>
          <a:prstGeom prst="rect">
            <a:avLst/>
          </a:prstGeom>
          <a:solidFill>
            <a:srgbClr val="EE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250" b="0">
                <a:solidFill>
                  <a:srgbClr val="1F2A44"/>
                </a:solidFill>
                <a:latin typeface="Calibri"/>
              </a:rPr>
              <a:t>SPATIUM PERINEI PROFUNDUM – m. sphincter urethrae externus, m. compressor urethrae, m. sphincter urethrovaginalis, m. transversus perinei profundus, gl. bulbourethralis</a:t>
            </a:r>
          </a:p>
        </p:txBody>
      </p:sp>
      <p:sp>
        <p:nvSpPr>
          <p:cNvPr id="12" name="Rectangle 11"/>
          <p:cNvSpPr/>
          <p:nvPr/>
        </p:nvSpPr>
        <p:spPr>
          <a:xfrm>
            <a:off x="365760" y="3200400"/>
            <a:ext cx="6675120" cy="219456"/>
          </a:xfrm>
          <a:prstGeom prst="rect">
            <a:avLst/>
          </a:prstGeom>
          <a:solidFill>
            <a:srgbClr val="455A6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1">
                <a:solidFill>
                  <a:srgbClr val="FFFFFF"/>
                </a:solidFill>
                <a:latin typeface="Calibri"/>
              </a:rPr>
              <a:t>Membrana perinei</a:t>
            </a:r>
          </a:p>
        </p:txBody>
      </p:sp>
      <p:sp>
        <p:nvSpPr>
          <p:cNvPr id="13" name="Rectangle 12"/>
          <p:cNvSpPr/>
          <p:nvPr/>
        </p:nvSpPr>
        <p:spPr>
          <a:xfrm>
            <a:off x="365760" y="3438144"/>
            <a:ext cx="6675120" cy="566928"/>
          </a:xfrm>
          <a:prstGeom prst="rect">
            <a:avLst/>
          </a:prstGeom>
          <a:solidFill>
            <a:srgbClr val="EE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250" b="0">
                <a:solidFill>
                  <a:srgbClr val="1F2A44"/>
                </a:solidFill>
                <a:latin typeface="Calibri"/>
              </a:rPr>
              <a:t>SPATIUM PERINEI SUPERFICIALE – crura &amp; bulbus (penis/clitoridis, vestibuli), m. ischiocavernosus, m. bulbospongiosus, m. transversus perinei superficialis, gl. vestibularis major</a:t>
            </a:r>
          </a:p>
        </p:txBody>
      </p:sp>
      <p:sp>
        <p:nvSpPr>
          <p:cNvPr id="14" name="Rectangle 13"/>
          <p:cNvSpPr/>
          <p:nvPr/>
        </p:nvSpPr>
        <p:spPr>
          <a:xfrm>
            <a:off x="365760" y="4023359"/>
            <a:ext cx="6675120" cy="201168"/>
          </a:xfrm>
          <a:prstGeom prst="rect">
            <a:avLst/>
          </a:prstGeom>
          <a:solidFill>
            <a:srgbClr val="8EA9C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1">
                <a:solidFill>
                  <a:srgbClr val="1F2A44"/>
                </a:solidFill>
                <a:latin typeface="Calibri"/>
              </a:rPr>
              <a:t>Fascia perinei (Gallaudet; kasları saran yatırım fasyası)</a:t>
            </a:r>
          </a:p>
        </p:txBody>
      </p:sp>
      <p:sp>
        <p:nvSpPr>
          <p:cNvPr id="15" name="Rectangle 14"/>
          <p:cNvSpPr/>
          <p:nvPr/>
        </p:nvSpPr>
        <p:spPr>
          <a:xfrm>
            <a:off x="365760" y="4242816"/>
            <a:ext cx="6675120" cy="237744"/>
          </a:xfrm>
          <a:prstGeom prst="rect">
            <a:avLst/>
          </a:prstGeom>
          <a:solidFill>
            <a:srgbClr val="5C7FA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1">
                <a:solidFill>
                  <a:srgbClr val="FFFFFF"/>
                </a:solidFill>
                <a:latin typeface="Calibri"/>
              </a:rPr>
              <a:t>Stratum membranosum telae subcutaneae perinei (Colles fasyası)</a:t>
            </a:r>
          </a:p>
        </p:txBody>
      </p:sp>
      <p:sp>
        <p:nvSpPr>
          <p:cNvPr id="16" name="Rectangle 15"/>
          <p:cNvSpPr/>
          <p:nvPr/>
        </p:nvSpPr>
        <p:spPr>
          <a:xfrm>
            <a:off x="365760" y="4498848"/>
            <a:ext cx="6675120" cy="310896"/>
          </a:xfrm>
          <a:prstGeom prst="rect">
            <a:avLst/>
          </a:prstGeom>
          <a:solidFill>
            <a:srgbClr val="F6E38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0">
                <a:solidFill>
                  <a:srgbClr val="1F2A44"/>
                </a:solidFill>
                <a:latin typeface="Calibri"/>
              </a:rPr>
              <a:t>Panniculus adiposus telae subcutaneae perinei</a:t>
            </a:r>
          </a:p>
        </p:txBody>
      </p:sp>
      <p:sp>
        <p:nvSpPr>
          <p:cNvPr id="17" name="Rectangle 16"/>
          <p:cNvSpPr/>
          <p:nvPr/>
        </p:nvSpPr>
        <p:spPr>
          <a:xfrm>
            <a:off x="365760" y="4828032"/>
            <a:ext cx="6675120" cy="219456"/>
          </a:xfrm>
          <a:prstGeom prst="rect">
            <a:avLst/>
          </a:prstGeom>
          <a:solidFill>
            <a:srgbClr val="E8B99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a:lstStyle/>
          <a:p>
            <a:r>
              <a:rPr sz="1300" b="0">
                <a:solidFill>
                  <a:srgbClr val="1F2A44"/>
                </a:solidFill>
                <a:latin typeface="Calibri"/>
              </a:rPr>
              <a:t>Cutis</a:t>
            </a:r>
          </a:p>
        </p:txBody>
      </p:sp>
      <p:sp>
        <p:nvSpPr>
          <p:cNvPr id="18" name="TextBox 17"/>
          <p:cNvSpPr txBox="1"/>
          <p:nvPr/>
        </p:nvSpPr>
        <p:spPr>
          <a:xfrm>
            <a:off x="365760" y="5065776"/>
            <a:ext cx="6675120" cy="274320"/>
          </a:xfrm>
          <a:prstGeom prst="rect">
            <a:avLst/>
          </a:prstGeom>
          <a:noFill/>
        </p:spPr>
        <p:txBody>
          <a:bodyPr wrap="square" anchor="t" lIns="45720" rIns="45720" tIns="18288" bIns="18288">
            <a:spAutoFit/>
          </a:bodyPr>
          <a:lstStyle/>
          <a:p>
            <a:pPr algn="l"/>
            <a:r>
              <a:rPr sz="1200" b="0" i="1">
                <a:solidFill>
                  <a:srgbClr val="555B66"/>
                </a:solidFill>
                <a:latin typeface="Calibri"/>
              </a:rPr>
              <a:t>▼ kaudal (yüzeyel) – deri</a:t>
            </a:r>
          </a:p>
        </p:txBody>
      </p:sp>
      <p:sp>
        <p:nvSpPr>
          <p:cNvPr id="19" name="TextBox 18"/>
          <p:cNvSpPr txBox="1"/>
          <p:nvPr/>
        </p:nvSpPr>
        <p:spPr>
          <a:xfrm>
            <a:off x="7315200" y="1188720"/>
            <a:ext cx="4617720" cy="5120640"/>
          </a:xfrm>
          <a:prstGeom prst="rect">
            <a:avLst/>
          </a:prstGeom>
          <a:noFill/>
        </p:spPr>
        <p:txBody>
          <a:bodyPr wrap="square">
            <a:spAutoFit/>
          </a:bodyPr>
          <a:lstStyle/>
          <a:p>
            <a:pPr>
              <a:spcAft>
                <a:spcPts val="600"/>
              </a:spcAft>
            </a:pPr>
            <a:r>
              <a:rPr sz="1500">
                <a:solidFill>
                  <a:srgbClr val="1F2A44"/>
                </a:solidFill>
                <a:latin typeface="Calibri"/>
              </a:rPr>
              <a:t>• </a:t>
            </a:r>
            <a:r>
              <a:rPr sz="1500">
                <a:solidFill>
                  <a:srgbClr val="1F2A44"/>
                </a:solidFill>
                <a:latin typeface="Calibri"/>
              </a:rPr>
              <a:t>1.</a:t>
            </a:r>
            <a:r>
              <a:rPr sz="1500">
                <a:solidFill>
                  <a:srgbClr val="1F2A44"/>
                </a:solidFill>
                <a:latin typeface="Calibri"/>
              </a:rPr>
              <a:t> Deri ve </a:t>
            </a:r>
            <a:r>
              <a:rPr sz="1500">
                <a:solidFill>
                  <a:srgbClr val="1F2A44"/>
                </a:solidFill>
                <a:latin typeface="Calibri"/>
              </a:rPr>
              <a:t>panniculus adiposus</a:t>
            </a:r>
            <a:r>
              <a:rPr sz="1500">
                <a:solidFill>
                  <a:srgbClr val="1F2A44"/>
                </a:solidFill>
                <a:latin typeface="Calibri"/>
              </a:rPr>
              <a:t> (yağlı tabaka)</a:t>
            </a:r>
          </a:p>
          <a:p>
            <a:pPr>
              <a:spcAft>
                <a:spcPts val="600"/>
              </a:spcAft>
            </a:pPr>
            <a:r>
              <a:rPr sz="1500">
                <a:solidFill>
                  <a:srgbClr val="1F2A44"/>
                </a:solidFill>
                <a:latin typeface="Calibri"/>
              </a:rPr>
              <a:t>• </a:t>
            </a:r>
            <a:r>
              <a:rPr sz="1500">
                <a:solidFill>
                  <a:srgbClr val="1F2A44"/>
                </a:solidFill>
                <a:latin typeface="Calibri"/>
              </a:rPr>
              <a:t>2.</a:t>
            </a:r>
            <a:r>
              <a:rPr sz="1500">
                <a:solidFill>
                  <a:srgbClr val="1F2A44"/>
                </a:solidFill>
                <a:latin typeface="Calibri"/>
              </a:rPr>
              <a:t> </a:t>
            </a:r>
            <a:r>
              <a:rPr sz="1500">
                <a:solidFill>
                  <a:srgbClr val="1F2A44"/>
                </a:solidFill>
                <a:latin typeface="Calibri"/>
              </a:rPr>
              <a:t>Colles fasyası</a:t>
            </a:r>
            <a:r>
              <a:rPr sz="1500">
                <a:solidFill>
                  <a:srgbClr val="1F2A44"/>
                </a:solidFill>
                <a:latin typeface="Calibri"/>
              </a:rPr>
              <a:t> (stratum membranosum) – karındaki Scarpa fasyasının devamı</a:t>
            </a:r>
          </a:p>
          <a:p>
            <a:pPr>
              <a:spcAft>
                <a:spcPts val="600"/>
              </a:spcAft>
            </a:pPr>
            <a:r>
              <a:rPr sz="1500">
                <a:solidFill>
                  <a:srgbClr val="1F2A44"/>
                </a:solidFill>
                <a:latin typeface="Calibri"/>
              </a:rPr>
              <a:t>• </a:t>
            </a:r>
            <a:r>
              <a:rPr sz="1500">
                <a:solidFill>
                  <a:srgbClr val="1F2A44"/>
                </a:solidFill>
                <a:latin typeface="Calibri"/>
              </a:rPr>
              <a:t>3.</a:t>
            </a:r>
            <a:r>
              <a:rPr sz="1500">
                <a:solidFill>
                  <a:srgbClr val="1F2A44"/>
                </a:solidFill>
                <a:latin typeface="Calibri"/>
              </a:rPr>
              <a:t> </a:t>
            </a:r>
            <a:r>
              <a:rPr sz="1500">
                <a:solidFill>
                  <a:srgbClr val="1F2A44"/>
                </a:solidFill>
                <a:latin typeface="Calibri"/>
              </a:rPr>
              <a:t>Spatium perinei superficiale</a:t>
            </a:r>
            <a:r>
              <a:rPr sz="1500">
                <a:solidFill>
                  <a:srgbClr val="1F2A44"/>
                </a:solidFill>
                <a:latin typeface="Calibri"/>
              </a:rPr>
              <a:t> – penis/clitoris kökü, yüzeyel kaslar</a:t>
            </a:r>
          </a:p>
          <a:p>
            <a:pPr>
              <a:spcAft>
                <a:spcPts val="600"/>
              </a:spcAft>
            </a:pPr>
            <a:r>
              <a:rPr sz="1500">
                <a:solidFill>
                  <a:srgbClr val="1F2A44"/>
                </a:solidFill>
                <a:latin typeface="Calibri"/>
              </a:rPr>
              <a:t>• </a:t>
            </a:r>
            <a:r>
              <a:rPr sz="1500">
                <a:solidFill>
                  <a:srgbClr val="1F2A44"/>
                </a:solidFill>
                <a:latin typeface="Calibri"/>
              </a:rPr>
              <a:t>4.</a:t>
            </a:r>
            <a:r>
              <a:rPr sz="1500">
                <a:solidFill>
                  <a:srgbClr val="1F2A44"/>
                </a:solidFill>
                <a:latin typeface="Calibri"/>
              </a:rPr>
              <a:t> </a:t>
            </a:r>
            <a:r>
              <a:rPr sz="1500">
                <a:solidFill>
                  <a:srgbClr val="1F2A44"/>
                </a:solidFill>
                <a:latin typeface="Calibri"/>
              </a:rPr>
              <a:t>Membrana perinei</a:t>
            </a:r>
          </a:p>
          <a:p>
            <a:pPr>
              <a:spcAft>
                <a:spcPts val="600"/>
              </a:spcAft>
            </a:pPr>
            <a:r>
              <a:rPr sz="1500">
                <a:solidFill>
                  <a:srgbClr val="1F2A44"/>
                </a:solidFill>
                <a:latin typeface="Calibri"/>
              </a:rPr>
              <a:t>• </a:t>
            </a:r>
            <a:r>
              <a:rPr sz="1500">
                <a:solidFill>
                  <a:srgbClr val="1F2A44"/>
                </a:solidFill>
                <a:latin typeface="Calibri"/>
              </a:rPr>
              <a:t>5.</a:t>
            </a:r>
            <a:r>
              <a:rPr sz="1500">
                <a:solidFill>
                  <a:srgbClr val="1F2A44"/>
                </a:solidFill>
                <a:latin typeface="Calibri"/>
              </a:rPr>
              <a:t> </a:t>
            </a:r>
            <a:r>
              <a:rPr sz="1500">
                <a:solidFill>
                  <a:srgbClr val="1F2A44"/>
                </a:solidFill>
                <a:latin typeface="Calibri"/>
              </a:rPr>
              <a:t>Spatium perinei profundum</a:t>
            </a:r>
            <a:r>
              <a:rPr sz="1500">
                <a:solidFill>
                  <a:srgbClr val="1F2A44"/>
                </a:solidFill>
                <a:latin typeface="Calibri"/>
              </a:rPr>
              <a:t> – m. sphincter urethrae externus</a:t>
            </a:r>
          </a:p>
          <a:p>
            <a:pPr>
              <a:spcAft>
                <a:spcPts val="600"/>
              </a:spcAft>
            </a:pPr>
            <a:r>
              <a:rPr sz="1500">
                <a:solidFill>
                  <a:srgbClr val="1F2A44"/>
                </a:solidFill>
                <a:latin typeface="Calibri"/>
              </a:rPr>
              <a:t>• </a:t>
            </a:r>
            <a:r>
              <a:rPr sz="1500">
                <a:solidFill>
                  <a:srgbClr val="1F2A44"/>
                </a:solidFill>
                <a:latin typeface="Calibri"/>
              </a:rPr>
              <a:t>6.</a:t>
            </a:r>
            <a:r>
              <a:rPr sz="1500">
                <a:solidFill>
                  <a:srgbClr val="1F2A44"/>
                </a:solidFill>
                <a:latin typeface="Calibri"/>
              </a:rPr>
              <a:t> Diaphragma pelvis (m. levator ani) – perinenin tavanı</a:t>
            </a:r>
          </a:p>
        </p:txBody>
      </p:sp>
      <p:cxnSp>
        <p:nvCxnSpPr>
          <p:cNvPr id="20" name="Connector 1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Şema: bu projede standart anatomi bilgisinden çizilmiştir (gerçek görüntü değildir). Kalınlıklar ölçekli değildir.</a:t>
            </a:r>
          </a:p>
        </p:txBody>
      </p:sp>
      <p:sp>
        <p:nvSpPr>
          <p:cNvPr id="22" name="TextBox 21"/>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Perine fasyaları</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Sınavda en çok sorulan yapılar</a:t>
            </a:r>
          </a:p>
        </p:txBody>
      </p:sp>
      <p:sp>
        <p:nvSpPr>
          <p:cNvPr id="5" name="TextBox 4"/>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graphicFrame>
        <p:nvGraphicFramePr>
          <p:cNvPr id="7" name="Table 6"/>
          <p:cNvGraphicFramePr>
            <a:graphicFrameLocks noGrp="1"/>
          </p:cNvGraphicFramePr>
          <p:nvPr/>
        </p:nvGraphicFramePr>
        <p:xfrm>
          <a:off x="274320" y="1143000"/>
          <a:ext cx="11640312" cy="3886200"/>
        </p:xfrm>
        <a:graphic>
          <a:graphicData uri="http://schemas.openxmlformats.org/drawingml/2006/table">
            <a:tbl>
              <a:tblPr firstRow="1" bandRow="1">
                <a:tableStyleId>{5C22544A-7EE6-4342-B048-85BDC9FD1C3A}</a:tableStyleId>
              </a:tblPr>
              <a:tblGrid>
                <a:gridCol w="2749680"/>
                <a:gridCol w="4949424"/>
                <a:gridCol w="3941208"/>
              </a:tblGrid>
              <a:tr h="971550">
                <a:tc>
                  <a:txBody>
                    <a:bodyPr/>
                    <a:lstStyle/>
                    <a:p>
                      <a:r>
                        <a:rPr sz="1500" b="1">
                          <a:solidFill>
                            <a:srgbClr val="FFFFFF"/>
                          </a:solidFill>
                          <a:latin typeface="Calibri"/>
                        </a:rPr>
                        <a:t>Fasya</a:t>
                      </a:r>
                    </a:p>
                  </a:txBody>
                  <a:tcPr>
                    <a:solidFill>
                      <a:srgbClr val="1F2A44"/>
                    </a:solidFill>
                  </a:tcPr>
                </a:tc>
                <a:tc>
                  <a:txBody>
                    <a:bodyPr/>
                    <a:lstStyle/>
                    <a:p>
                      <a:r>
                        <a:rPr sz="1500" b="1">
                          <a:solidFill>
                            <a:srgbClr val="FFFFFF"/>
                          </a:solidFill>
                          <a:latin typeface="Calibri"/>
                        </a:rPr>
                        <a:t>Nerede / neye devam eder?</a:t>
                      </a:r>
                    </a:p>
                  </a:txBody>
                  <a:tcPr>
                    <a:solidFill>
                      <a:srgbClr val="1F2A44"/>
                    </a:solidFill>
                  </a:tcPr>
                </a:tc>
                <a:tc>
                  <a:txBody>
                    <a:bodyPr/>
                    <a:lstStyle/>
                    <a:p>
                      <a:r>
                        <a:rPr sz="1500" b="1">
                          <a:solidFill>
                            <a:srgbClr val="FFFFFF"/>
                          </a:solidFill>
                          <a:latin typeface="Calibri"/>
                        </a:rPr>
                        <a:t>Önemi</a:t>
                      </a:r>
                    </a:p>
                  </a:txBody>
                  <a:tcPr>
                    <a:solidFill>
                      <a:srgbClr val="1F2A44"/>
                    </a:solidFill>
                  </a:tcPr>
                </a:tc>
              </a:tr>
              <a:tr h="971550">
                <a:tc>
                  <a:txBody>
                    <a:bodyPr/>
                    <a:lstStyle/>
                    <a:p>
                      <a:r>
                        <a:rPr sz="1500" b="1">
                          <a:solidFill>
                            <a:srgbClr val="1F2A44"/>
                          </a:solidFill>
                          <a:latin typeface="Calibri"/>
                        </a:rPr>
                        <a:t>Colles fasyası (fascia perinei superficialis, stratum membranosum)</a:t>
                      </a:r>
                    </a:p>
                  </a:txBody>
                  <a:tcPr marT="27432" marB="27432">
                    <a:solidFill>
                      <a:srgbClr val="F3F4F6"/>
                    </a:solidFill>
                  </a:tcPr>
                </a:tc>
                <a:tc>
                  <a:txBody>
                    <a:bodyPr/>
                    <a:lstStyle/>
                    <a:p>
                      <a:r>
                        <a:rPr sz="1500">
                          <a:solidFill>
                            <a:srgbClr val="1F2A44"/>
                          </a:solidFill>
                          <a:latin typeface="Calibri"/>
                        </a:rPr>
                        <a:t>Karında </a:t>
                      </a:r>
                      <a:r>
                        <a:rPr sz="1500">
                          <a:solidFill>
                            <a:srgbClr val="1F2A44"/>
                          </a:solidFill>
                          <a:latin typeface="Calibri"/>
                        </a:rPr>
                        <a:t>Scarpa</a:t>
                      </a:r>
                      <a:r>
                        <a:rPr sz="1500">
                          <a:solidFill>
                            <a:srgbClr val="1F2A44"/>
                          </a:solidFill>
                          <a:latin typeface="Calibri"/>
                        </a:rPr>
                        <a:t>, scrotum'da </a:t>
                      </a:r>
                      <a:r>
                        <a:rPr sz="1500">
                          <a:solidFill>
                            <a:srgbClr val="1F2A44"/>
                          </a:solidFill>
                          <a:latin typeface="Calibri"/>
                        </a:rPr>
                        <a:t>tunica dartos</a:t>
                      </a:r>
                      <a:r>
                        <a:rPr sz="1500">
                          <a:solidFill>
                            <a:srgbClr val="1F2A44"/>
                          </a:solidFill>
                          <a:latin typeface="Calibri"/>
                        </a:rPr>
                        <a:t> ile devamlı; yanda rami ischiopubici'ye, arkada membrana perinei'nin arka kenarına yapışır</a:t>
                      </a:r>
                    </a:p>
                  </a:txBody>
                  <a:tcPr marT="27432" marB="27432">
                    <a:solidFill>
                      <a:srgbClr val="F3F4F6"/>
                    </a:solidFill>
                  </a:tcPr>
                </a:tc>
                <a:tc>
                  <a:txBody>
                    <a:bodyPr/>
                    <a:lstStyle/>
                    <a:p>
                      <a:r>
                        <a:rPr sz="1500">
                          <a:solidFill>
                            <a:srgbClr val="1F2A44"/>
                          </a:solidFill>
                          <a:latin typeface="Calibri"/>
                        </a:rPr>
                        <a:t>Spatium perinei superficiale'nin alt sınırı; idrar ekstravazasyon yolu</a:t>
                      </a:r>
                    </a:p>
                  </a:txBody>
                  <a:tcPr marT="27432" marB="27432">
                    <a:solidFill>
                      <a:srgbClr val="F3F4F6"/>
                    </a:solidFill>
                  </a:tcPr>
                </a:tc>
              </a:tr>
              <a:tr h="971550">
                <a:tc>
                  <a:txBody>
                    <a:bodyPr/>
                    <a:lstStyle/>
                    <a:p>
                      <a:r>
                        <a:rPr sz="1500" b="1">
                          <a:solidFill>
                            <a:srgbClr val="1F2A44"/>
                          </a:solidFill>
                          <a:latin typeface="Calibri"/>
                        </a:rPr>
                        <a:t>Fascia perinei (Gallaudet fasyası)</a:t>
                      </a:r>
                    </a:p>
                  </a:txBody>
                  <a:tcPr marT="27432" marB="27432">
                    <a:solidFill>
                      <a:srgbClr val="FFFFFF"/>
                    </a:solidFill>
                  </a:tcPr>
                </a:tc>
                <a:tc>
                  <a:txBody>
                    <a:bodyPr/>
                    <a:lstStyle/>
                    <a:p>
                      <a:r>
                        <a:rPr sz="1500">
                          <a:solidFill>
                            <a:srgbClr val="1F2A44"/>
                          </a:solidFill>
                          <a:latin typeface="Calibri"/>
                        </a:rPr>
                        <a:t>Yüzeyel perine kaslarını (m. ischiocavernosus, m. bulbospongiosus, m. transversus perinei superf.) saran fasya; penisde </a:t>
                      </a:r>
                      <a:r>
                        <a:rPr sz="1500">
                          <a:solidFill>
                            <a:srgbClr val="1F2A44"/>
                          </a:solidFill>
                          <a:latin typeface="Calibri"/>
                        </a:rPr>
                        <a:t>Buck fasyası</a:t>
                      </a:r>
                      <a:r>
                        <a:rPr sz="1500">
                          <a:solidFill>
                            <a:srgbClr val="1F2A44"/>
                          </a:solidFill>
                          <a:latin typeface="Calibri"/>
                        </a:rPr>
                        <a:t> ile devam eder</a:t>
                      </a:r>
                    </a:p>
                  </a:txBody>
                  <a:tcPr marT="27432" marB="27432">
                    <a:solidFill>
                      <a:srgbClr val="FFFFFF"/>
                    </a:solidFill>
                  </a:tcPr>
                </a:tc>
                <a:tc>
                  <a:txBody>
                    <a:bodyPr/>
                    <a:lstStyle/>
                    <a:p>
                      <a:r>
                        <a:rPr sz="1500">
                          <a:solidFill>
                            <a:srgbClr val="1F2A44"/>
                          </a:solidFill>
                          <a:latin typeface="Calibri"/>
                        </a:rPr>
                        <a:t>Kasları sarar</a:t>
                      </a:r>
                    </a:p>
                  </a:txBody>
                  <a:tcPr marT="27432" marB="27432">
                    <a:solidFill>
                      <a:srgbClr val="FFFFFF"/>
                    </a:solidFill>
                  </a:tcPr>
                </a:tc>
              </a:tr>
              <a:tr h="971550">
                <a:tc>
                  <a:txBody>
                    <a:bodyPr/>
                    <a:lstStyle/>
                    <a:p>
                      <a:r>
                        <a:rPr sz="1500" b="1">
                          <a:solidFill>
                            <a:srgbClr val="1F2A44"/>
                          </a:solidFill>
                          <a:latin typeface="Calibri"/>
                        </a:rPr>
                        <a:t>Membrana perinei</a:t>
                      </a:r>
                    </a:p>
                  </a:txBody>
                  <a:tcPr marT="27432" marB="27432">
                    <a:solidFill>
                      <a:srgbClr val="F3F4F6"/>
                    </a:solidFill>
                  </a:tcPr>
                </a:tc>
                <a:tc>
                  <a:txBody>
                    <a:bodyPr/>
                    <a:lstStyle/>
                    <a:p>
                      <a:r>
                        <a:rPr sz="1500">
                          <a:solidFill>
                            <a:srgbClr val="1F2A44"/>
                          </a:solidFill>
                          <a:latin typeface="Calibri"/>
                        </a:rPr>
                        <a:t>Arcus pubicus'u kapatan üçgen fibröz levha; urethra (kadında + vagina) deler</a:t>
                      </a:r>
                    </a:p>
                  </a:txBody>
                  <a:tcPr marT="27432" marB="27432">
                    <a:solidFill>
                      <a:srgbClr val="F3F4F6"/>
                    </a:solidFill>
                  </a:tcPr>
                </a:tc>
                <a:tc>
                  <a:txBody>
                    <a:bodyPr/>
                    <a:lstStyle/>
                    <a:p>
                      <a:r>
                        <a:rPr sz="1500">
                          <a:solidFill>
                            <a:srgbClr val="1F2A44"/>
                          </a:solidFill>
                          <a:latin typeface="Calibri"/>
                        </a:rPr>
                        <a:t>Yüzeyel ve derin aralığı ayırır; penis/clitoris kökü buraya oturur</a:t>
                      </a:r>
                    </a:p>
                  </a:txBody>
                  <a:tcPr marT="27432" marB="27432">
                    <a:solidFill>
                      <a:srgbClr val="F3F4F6"/>
                    </a:solidFill>
                  </a:tcPr>
                </a:tc>
              </a:tr>
            </a:tbl>
          </a:graphicData>
        </a:graphic>
      </p:graphicFrame>
      <p:sp>
        <p:nvSpPr>
          <p:cNvPr id="8" name="TextBox 7"/>
          <p:cNvSpPr txBox="1"/>
          <p:nvPr/>
        </p:nvSpPr>
        <p:spPr>
          <a:xfrm>
            <a:off x="274320" y="6035040"/>
            <a:ext cx="11612880" cy="347472"/>
          </a:xfrm>
          <a:prstGeom prst="rect">
            <a:avLst/>
          </a:prstGeom>
          <a:noFill/>
        </p:spPr>
        <p:txBody>
          <a:bodyPr wrap="square" anchor="t" lIns="45720" rIns="45720" tIns="18288" bIns="18288">
            <a:spAutoFit/>
          </a:bodyPr>
          <a:lstStyle/>
          <a:p>
            <a:pPr algn="l"/>
            <a:r>
              <a:rPr sz="1200" b="0" i="1">
                <a:solidFill>
                  <a:srgbClr val="555B66"/>
                </a:solidFill>
                <a:latin typeface="Calibri"/>
              </a:rPr>
              <a:t>Eski kitaplardaki 'diaphragma urogenitale' terimi artık kullanılmıyor: yerine membrana perinei ve spatium perinei profundum denir.</a:t>
            </a:r>
          </a:p>
        </p:txBody>
      </p:sp>
      <p:cxnSp>
        <p:nvCxnSpPr>
          <p:cNvPr id="9" name="Connector 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Colles fasyasının devamlılığı – idrar ekstravazasyonu</a:t>
            </a:r>
          </a:p>
        </p:txBody>
      </p:sp>
      <p:sp>
        <p:nvSpPr>
          <p:cNvPr id="4" name="TextBox 3"/>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ŞEMA</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sp>
        <p:nvSpPr>
          <p:cNvPr id="6" name="Rounded Rectangle 5"/>
          <p:cNvSpPr/>
          <p:nvPr/>
        </p:nvSpPr>
        <p:spPr>
          <a:xfrm>
            <a:off x="457200" y="1280160"/>
            <a:ext cx="3291840" cy="868680"/>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rPr>
              <a:t>Stratum membranosum (Scarpa)</a:t>
            </a:r>
          </a:p>
          <a:p>
            <a:pPr algn="ctr"/>
            <a:r>
              <a:rPr sz="1300" b="0">
                <a:solidFill>
                  <a:srgbClr val="FFFFFF"/>
                </a:solidFill>
                <a:latin typeface="Calibri"/>
              </a:rPr>
              <a:t>paries abdominis anterior</a:t>
            </a:r>
          </a:p>
        </p:txBody>
      </p:sp>
      <p:sp>
        <p:nvSpPr>
          <p:cNvPr id="7" name="Rounded Rectangle 6"/>
          <p:cNvSpPr/>
          <p:nvPr/>
        </p:nvSpPr>
        <p:spPr>
          <a:xfrm>
            <a:off x="457200" y="2743200"/>
            <a:ext cx="3291840" cy="868680"/>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rPr>
              <a:t>Tunica dartos + fascia penis superficialis</a:t>
            </a:r>
          </a:p>
          <a:p>
            <a:pPr algn="ctr"/>
            <a:r>
              <a:rPr sz="1300" b="0">
                <a:solidFill>
                  <a:srgbClr val="FFFFFF"/>
                </a:solidFill>
                <a:latin typeface="Calibri"/>
              </a:rPr>
              <a:t>scrotum / penis</a:t>
            </a:r>
          </a:p>
        </p:txBody>
      </p:sp>
      <p:sp>
        <p:nvSpPr>
          <p:cNvPr id="8" name="Rounded Rectangle 7"/>
          <p:cNvSpPr/>
          <p:nvPr/>
        </p:nvSpPr>
        <p:spPr>
          <a:xfrm>
            <a:off x="457200" y="4206240"/>
            <a:ext cx="3291840" cy="868680"/>
          </a:xfrm>
          <a:prstGeom prst="roundRect">
            <a:avLst/>
          </a:prstGeom>
          <a:solidFill>
            <a:srgbClr val="1F5F9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500" b="1">
                <a:solidFill>
                  <a:srgbClr val="FFFFFF"/>
                </a:solidFill>
                <a:latin typeface="Calibri"/>
              </a:rPr>
              <a:t>Colles fasyası</a:t>
            </a:r>
          </a:p>
          <a:p>
            <a:pPr algn="ctr"/>
            <a:r>
              <a:rPr sz="1300" b="0">
                <a:solidFill>
                  <a:srgbClr val="FFFFFF"/>
                </a:solidFill>
                <a:latin typeface="Calibri"/>
              </a:rPr>
              <a:t>regio urogenitalis</a:t>
            </a:r>
          </a:p>
        </p:txBody>
      </p:sp>
      <p:cxnSp>
        <p:nvCxnSpPr>
          <p:cNvPr id="9" name="Connector 8"/>
          <p:cNvCxnSpPr/>
          <p:nvPr/>
        </p:nvCxnSpPr>
        <p:spPr>
          <a:xfrm>
            <a:off x="2103120" y="2148839"/>
            <a:ext cx="0" cy="594361"/>
          </a:xfrm>
          <a:prstGeom prst="line">
            <a:avLst/>
          </a:prstGeom>
          <a:ln w="50800">
            <a:solidFill>
              <a:srgbClr val="1F5F9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103120" y="3611880"/>
            <a:ext cx="0" cy="594360"/>
          </a:xfrm>
          <a:prstGeom prst="line">
            <a:avLst/>
          </a:prstGeom>
          <a:ln w="50800">
            <a:solidFill>
              <a:srgbClr val="1F5F9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06240" y="1280160"/>
            <a:ext cx="3017520" cy="868680"/>
          </a:xfrm>
          <a:prstGeom prst="roundRect">
            <a:avLst/>
          </a:prstGeom>
          <a:solidFill>
            <a:srgbClr val="555B6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rPr>
              <a:t>Fascia lata'ya tutunma</a:t>
            </a:r>
          </a:p>
          <a:p>
            <a:pPr algn="ctr"/>
            <a:r>
              <a:rPr sz="1200" b="0">
                <a:solidFill>
                  <a:srgbClr val="FFFFFF"/>
                </a:solidFill>
                <a:latin typeface="Calibri"/>
              </a:rPr>
              <a:t>lig. inguinale'nin ~1 parmak altı</a:t>
            </a:r>
          </a:p>
        </p:txBody>
      </p:sp>
      <p:sp>
        <p:nvSpPr>
          <p:cNvPr id="12" name="Rounded Rectangle 11"/>
          <p:cNvSpPr/>
          <p:nvPr/>
        </p:nvSpPr>
        <p:spPr>
          <a:xfrm>
            <a:off x="4206240" y="4206240"/>
            <a:ext cx="3017520" cy="868680"/>
          </a:xfrm>
          <a:prstGeom prst="roundRect">
            <a:avLst/>
          </a:prstGeom>
          <a:solidFill>
            <a:srgbClr val="555B6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rPr>
              <a:t>Arka sınır: membrana perinei</a:t>
            </a:r>
          </a:p>
          <a:p>
            <a:pPr algn="ctr"/>
            <a:r>
              <a:rPr sz="1100" b="0">
                <a:solidFill>
                  <a:srgbClr val="FFFFFF"/>
                </a:solidFill>
                <a:latin typeface="Calibri"/>
              </a:rPr>
              <a:t>arka kenarına kaynaşma (m. transversus perinei superf.)</a:t>
            </a:r>
          </a:p>
        </p:txBody>
      </p:sp>
      <p:sp>
        <p:nvSpPr>
          <p:cNvPr id="13" name="Rounded Rectangle 12"/>
          <p:cNvSpPr/>
          <p:nvPr/>
        </p:nvSpPr>
        <p:spPr>
          <a:xfrm>
            <a:off x="4206240" y="2743200"/>
            <a:ext cx="3017520" cy="868680"/>
          </a:xfrm>
          <a:prstGeom prst="roundRect">
            <a:avLst/>
          </a:prstGeom>
          <a:solidFill>
            <a:srgbClr val="555B6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rPr>
              <a:t>Lateral: rami ischiopubici</a:t>
            </a:r>
          </a:p>
          <a:p>
            <a:pPr algn="ctr"/>
            <a:r>
              <a:rPr sz="1200" b="0">
                <a:solidFill>
                  <a:srgbClr val="FFFFFF"/>
                </a:solidFill>
                <a:latin typeface="Calibri"/>
              </a:rPr>
              <a:t>(periost / crista)</a:t>
            </a:r>
          </a:p>
        </p:txBody>
      </p:sp>
      <p:cxnSp>
        <p:nvCxnSpPr>
          <p:cNvPr id="14" name="Connector 13"/>
          <p:cNvCxnSpPr/>
          <p:nvPr/>
        </p:nvCxnSpPr>
        <p:spPr>
          <a:xfrm>
            <a:off x="3749039" y="1709928"/>
            <a:ext cx="457201" cy="0"/>
          </a:xfrm>
          <a:prstGeom prst="line">
            <a:avLst/>
          </a:prstGeom>
          <a:ln w="2540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49039" y="3172968"/>
            <a:ext cx="457201" cy="0"/>
          </a:xfrm>
          <a:prstGeom prst="line">
            <a:avLst/>
          </a:prstGeom>
          <a:ln w="25400">
            <a:solidFill>
              <a:srgbClr val="555B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749039" y="4636007"/>
            <a:ext cx="457201" cy="0"/>
          </a:xfrm>
          <a:prstGeom prst="line">
            <a:avLst/>
          </a:prstGeom>
          <a:ln w="25400">
            <a:solidFill>
              <a:srgbClr val="555B66"/>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680960" y="4206240"/>
            <a:ext cx="4114800" cy="868680"/>
          </a:xfrm>
          <a:prstGeom prst="round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rPr>
              <a:t>Ruptura urethrae (pars spongiosa / bulbaris)</a:t>
            </a:r>
          </a:p>
          <a:p>
            <a:pPr algn="ctr"/>
            <a:r>
              <a:rPr sz="1200" b="0">
                <a:solidFill>
                  <a:srgbClr val="FFFFFF"/>
                </a:solidFill>
                <a:latin typeface="Calibri"/>
              </a:rPr>
              <a:t>straddle travması – fascia penis profunda (Buck) yırtık</a:t>
            </a:r>
          </a:p>
        </p:txBody>
      </p:sp>
      <p:cxnSp>
        <p:nvCxnSpPr>
          <p:cNvPr id="18" name="Connector 17"/>
          <p:cNvCxnSpPr/>
          <p:nvPr/>
        </p:nvCxnSpPr>
        <p:spPr>
          <a:xfrm flipV="1">
            <a:off x="9738360" y="3611880"/>
            <a:ext cx="0" cy="594360"/>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680960" y="2697480"/>
            <a:ext cx="4114800" cy="914400"/>
          </a:xfrm>
          <a:prstGeom prst="roundRect">
            <a:avLst/>
          </a:prstGeom>
          <a:solidFill>
            <a:srgbClr val="C26A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rPr>
              <a:t>İdrar spatium perinei superficiale'ye</a:t>
            </a:r>
          </a:p>
          <a:p>
            <a:pPr algn="ctr"/>
            <a:r>
              <a:rPr sz="1200" b="0">
                <a:solidFill>
                  <a:srgbClr val="FFFFFF"/>
                </a:solidFill>
                <a:latin typeface="Calibri"/>
              </a:rPr>
              <a:t>→ scrotum, penis, karın ön duvarı (Scarpa altı)</a:t>
            </a:r>
          </a:p>
        </p:txBody>
      </p:sp>
      <p:cxnSp>
        <p:nvCxnSpPr>
          <p:cNvPr id="20" name="Connector 19"/>
          <p:cNvCxnSpPr/>
          <p:nvPr/>
        </p:nvCxnSpPr>
        <p:spPr>
          <a:xfrm flipV="1">
            <a:off x="9738360" y="2148840"/>
            <a:ext cx="0" cy="548640"/>
          </a:xfrm>
          <a:prstGeom prst="line">
            <a:avLst/>
          </a:prstGeom>
          <a:ln w="38100">
            <a:solidFill>
              <a:srgbClr val="C0392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680960" y="1280160"/>
            <a:ext cx="4114800" cy="868680"/>
          </a:xfrm>
          <a:prstGeom prst="roundRect">
            <a:avLst/>
          </a:prstGeom>
          <a:solidFill>
            <a:srgbClr val="1F2A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latin typeface="Calibri"/>
              </a:rPr>
              <a:t>Uyluğa ve anal üçgene GEÇMEZ</a:t>
            </a:r>
          </a:p>
          <a:p>
            <a:pPr algn="ctr"/>
            <a:r>
              <a:rPr sz="1200" b="0">
                <a:solidFill>
                  <a:srgbClr val="FFFFFF"/>
                </a:solidFill>
                <a:latin typeface="Calibri"/>
              </a:rPr>
              <a:t>(fascia lata ve membrana perinei arka kenarı engeller)</a:t>
            </a:r>
          </a:p>
        </p:txBody>
      </p:sp>
      <p:sp>
        <p:nvSpPr>
          <p:cNvPr id="22" name="TextBox 21"/>
          <p:cNvSpPr txBox="1"/>
          <p:nvPr/>
        </p:nvSpPr>
        <p:spPr>
          <a:xfrm>
            <a:off x="457200" y="5257800"/>
            <a:ext cx="11338560" cy="1097280"/>
          </a:xfrm>
          <a:prstGeom prst="rect">
            <a:avLst/>
          </a:prstGeom>
          <a:noFill/>
        </p:spPr>
        <p:txBody>
          <a:bodyPr wrap="square">
            <a:spAutoFit/>
          </a:bodyPr>
          <a:lstStyle/>
          <a:p>
            <a:pPr>
              <a:spcAft>
                <a:spcPts val="200"/>
              </a:spcAft>
            </a:pPr>
            <a:r>
              <a:rPr sz="1600">
                <a:solidFill>
                  <a:srgbClr val="1F2A44"/>
                </a:solidFill>
                <a:latin typeface="Calibri"/>
              </a:rPr>
              <a:t>• Bulbar urethra yırtılırsa idrar Colles fasyası altında yayılır: perine, scrotum, penis ve karın ön duvarı şişer.</a:t>
            </a:r>
          </a:p>
          <a:p>
            <a:pPr>
              <a:spcAft>
                <a:spcPts val="200"/>
              </a:spcAft>
            </a:pPr>
            <a:r>
              <a:rPr sz="1600">
                <a:solidFill>
                  <a:srgbClr val="1F2A44"/>
                </a:solidFill>
                <a:latin typeface="Calibri"/>
              </a:rPr>
              <a:t>• Uyluğa ve anal bölgeye geçmez, çünkü Colles fasyası fascia lata'ya ve membrana perinei'nin arka kenarına yapışıktır.</a:t>
            </a:r>
          </a:p>
        </p:txBody>
      </p:sp>
      <p:cxnSp>
        <p:nvCxnSpPr>
          <p:cNvPr id="23" name="Connector 22"/>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Şema: bu projede standart anatomi bilgisinden çizilmiştir (gerçek görüntü değildir).</a:t>
            </a:r>
          </a:p>
        </p:txBody>
      </p:sp>
      <p:sp>
        <p:nvSpPr>
          <p:cNvPr id="25" name="TextBox 24"/>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Spatium perinei superficiale ve profundum</a:t>
            </a:r>
          </a:p>
        </p:txBody>
      </p:sp>
      <p:sp>
        <p:nvSpPr>
          <p:cNvPr id="4" name="TextBox 3"/>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graphicFrame>
        <p:nvGraphicFramePr>
          <p:cNvPr id="6" name="Table 5"/>
          <p:cNvGraphicFramePr>
            <a:graphicFrameLocks noGrp="1"/>
          </p:cNvGraphicFramePr>
          <p:nvPr/>
        </p:nvGraphicFramePr>
        <p:xfrm>
          <a:off x="274320" y="1143000"/>
          <a:ext cx="11640312" cy="4297679"/>
        </p:xfrm>
        <a:graphic>
          <a:graphicData uri="http://schemas.openxmlformats.org/drawingml/2006/table">
            <a:tbl>
              <a:tblPr firstRow="1" bandRow="1">
                <a:tableStyleId>{5C22544A-7EE6-4342-B048-85BDC9FD1C3A}</a:tableStyleId>
              </a:tblPr>
              <a:tblGrid>
                <a:gridCol w="2108088"/>
                <a:gridCol w="4766112"/>
                <a:gridCol w="4766112"/>
              </a:tblGrid>
              <a:tr h="1074419">
                <a:tc>
                  <a:txBody>
                    <a:bodyPr/>
                    <a:lstStyle/>
                    <a:p/>
                  </a:txBody>
                  <a:tcPr>
                    <a:solidFill>
                      <a:srgbClr val="1F2A44"/>
                    </a:solidFill>
                  </a:tcPr>
                </a:tc>
                <a:tc>
                  <a:txBody>
                    <a:bodyPr/>
                    <a:lstStyle/>
                    <a:p>
                      <a:r>
                        <a:rPr sz="1500" b="1">
                          <a:solidFill>
                            <a:srgbClr val="FFFFFF"/>
                          </a:solidFill>
                          <a:latin typeface="Calibri"/>
                        </a:rPr>
                        <a:t>Spatium perinei superficiale</a:t>
                      </a:r>
                    </a:p>
                  </a:txBody>
                  <a:tcPr>
                    <a:solidFill>
                      <a:srgbClr val="1F2A44"/>
                    </a:solidFill>
                  </a:tcPr>
                </a:tc>
                <a:tc>
                  <a:txBody>
                    <a:bodyPr/>
                    <a:lstStyle/>
                    <a:p>
                      <a:r>
                        <a:rPr sz="1500" b="1">
                          <a:solidFill>
                            <a:srgbClr val="FFFFFF"/>
                          </a:solidFill>
                          <a:latin typeface="Calibri"/>
                        </a:rPr>
                        <a:t>Spatium perinei profundum</a:t>
                      </a:r>
                    </a:p>
                  </a:txBody>
                  <a:tcPr>
                    <a:solidFill>
                      <a:srgbClr val="1F2A44"/>
                    </a:solidFill>
                  </a:tcPr>
                </a:tc>
              </a:tr>
              <a:tr h="1074419">
                <a:tc>
                  <a:txBody>
                    <a:bodyPr/>
                    <a:lstStyle/>
                    <a:p>
                      <a:r>
                        <a:rPr sz="1500" b="1">
                          <a:solidFill>
                            <a:srgbClr val="1F2A44"/>
                          </a:solidFill>
                          <a:latin typeface="Calibri"/>
                        </a:rPr>
                        <a:t>Sınırlar</a:t>
                      </a:r>
                    </a:p>
                  </a:txBody>
                  <a:tcPr marT="27432" marB="27432">
                    <a:solidFill>
                      <a:srgbClr val="F3F4F6"/>
                    </a:solidFill>
                  </a:tcPr>
                </a:tc>
                <a:tc>
                  <a:txBody>
                    <a:bodyPr/>
                    <a:lstStyle/>
                    <a:p>
                      <a:r>
                        <a:rPr sz="1500">
                          <a:solidFill>
                            <a:srgbClr val="1F2A44"/>
                          </a:solidFill>
                          <a:latin typeface="Calibri"/>
                        </a:rPr>
                        <a:t>Colles fasyası ile membrana perinei arası</a:t>
                      </a:r>
                    </a:p>
                  </a:txBody>
                  <a:tcPr marT="27432" marB="27432">
                    <a:solidFill>
                      <a:srgbClr val="F3F4F6"/>
                    </a:solidFill>
                  </a:tcPr>
                </a:tc>
                <a:tc>
                  <a:txBody>
                    <a:bodyPr/>
                    <a:lstStyle/>
                    <a:p>
                      <a:r>
                        <a:rPr sz="1500">
                          <a:solidFill>
                            <a:srgbClr val="1F2A44"/>
                          </a:solidFill>
                          <a:latin typeface="Calibri"/>
                        </a:rPr>
                        <a:t>Membrana perinei'nin üstü (diaphragma pelvis'e kadar)</a:t>
                      </a:r>
                    </a:p>
                  </a:txBody>
                  <a:tcPr marT="27432" marB="27432">
                    <a:solidFill>
                      <a:srgbClr val="F3F4F6"/>
                    </a:solidFill>
                  </a:tcPr>
                </a:tc>
              </a:tr>
              <a:tr h="1074419">
                <a:tc>
                  <a:txBody>
                    <a:bodyPr/>
                    <a:lstStyle/>
                    <a:p>
                      <a:r>
                        <a:rPr sz="1500" b="1">
                          <a:solidFill>
                            <a:srgbClr val="1F2A44"/>
                          </a:solidFill>
                          <a:latin typeface="Calibri"/>
                        </a:rPr>
                        <a:t>Erkek</a:t>
                      </a:r>
                    </a:p>
                  </a:txBody>
                  <a:tcPr marT="27432" marB="27432">
                    <a:solidFill>
                      <a:srgbClr val="FFFFFF"/>
                    </a:solidFill>
                  </a:tcPr>
                </a:tc>
                <a:tc>
                  <a:txBody>
                    <a:bodyPr/>
                    <a:lstStyle/>
                    <a:p>
                      <a:r>
                        <a:rPr sz="1500">
                          <a:solidFill>
                            <a:srgbClr val="1F2A44"/>
                          </a:solidFill>
                          <a:latin typeface="Calibri"/>
                        </a:rPr>
                        <a:t>Crura penis, </a:t>
                      </a:r>
                      <a:r>
                        <a:rPr sz="1500">
                          <a:solidFill>
                            <a:srgbClr val="1F2A44"/>
                          </a:solidFill>
                          <a:latin typeface="Calibri"/>
                        </a:rPr>
                        <a:t>bulbus penis</a:t>
                      </a:r>
                      <a:r>
                        <a:rPr sz="1500">
                          <a:solidFill>
                            <a:srgbClr val="1F2A44"/>
                          </a:solidFill>
                          <a:latin typeface="Calibri"/>
                        </a:rPr>
                        <a:t>; m. ischiocavernosus, m. bulbospongiosus, m. transversus perinei superf.</a:t>
                      </a:r>
                    </a:p>
                  </a:txBody>
                  <a:tcPr marT="27432" marB="27432">
                    <a:solidFill>
                      <a:srgbClr val="FFFFFF"/>
                    </a:solidFill>
                  </a:tcPr>
                </a:tc>
                <a:tc>
                  <a:txBody>
                    <a:bodyPr/>
                    <a:lstStyle/>
                    <a:p>
                      <a:r>
                        <a:rPr sz="1500">
                          <a:solidFill>
                            <a:srgbClr val="1F2A44"/>
                          </a:solidFill>
                          <a:latin typeface="Calibri"/>
                        </a:rPr>
                        <a:t>Pars membranacea urethrae; </a:t>
                      </a:r>
                      <a:r>
                        <a:rPr sz="1500">
                          <a:solidFill>
                            <a:srgbClr val="1F2A44"/>
                          </a:solidFill>
                          <a:latin typeface="Calibri"/>
                        </a:rPr>
                        <a:t>m. sphincter urethrae externus</a:t>
                      </a:r>
                      <a:r>
                        <a:rPr sz="1500">
                          <a:solidFill>
                            <a:srgbClr val="1F2A44"/>
                          </a:solidFill>
                          <a:latin typeface="Calibri"/>
                        </a:rPr>
                        <a:t>; m. transversus perinei prof.; </a:t>
                      </a:r>
                      <a:r>
                        <a:rPr sz="1500">
                          <a:solidFill>
                            <a:srgbClr val="1F2A44"/>
                          </a:solidFill>
                          <a:latin typeface="Calibri"/>
                        </a:rPr>
                        <a:t>gl. bulbourethralis (Cowper)</a:t>
                      </a:r>
                    </a:p>
                  </a:txBody>
                  <a:tcPr marT="27432" marB="27432">
                    <a:solidFill>
                      <a:srgbClr val="FFFFFF"/>
                    </a:solidFill>
                  </a:tcPr>
                </a:tc>
              </a:tr>
              <a:tr h="1074422">
                <a:tc>
                  <a:txBody>
                    <a:bodyPr/>
                    <a:lstStyle/>
                    <a:p>
                      <a:r>
                        <a:rPr sz="1500" b="1">
                          <a:solidFill>
                            <a:srgbClr val="1F2A44"/>
                          </a:solidFill>
                          <a:latin typeface="Calibri"/>
                        </a:rPr>
                        <a:t>Kadın</a:t>
                      </a:r>
                    </a:p>
                  </a:txBody>
                  <a:tcPr marT="27432" marB="27432">
                    <a:solidFill>
                      <a:srgbClr val="F3F4F6"/>
                    </a:solidFill>
                  </a:tcPr>
                </a:tc>
                <a:tc>
                  <a:txBody>
                    <a:bodyPr/>
                    <a:lstStyle/>
                    <a:p>
                      <a:r>
                        <a:rPr sz="1500">
                          <a:solidFill>
                            <a:srgbClr val="1F2A44"/>
                          </a:solidFill>
                          <a:latin typeface="Calibri"/>
                        </a:rPr>
                        <a:t>Crura clitoridis, </a:t>
                      </a:r>
                      <a:r>
                        <a:rPr sz="1500">
                          <a:solidFill>
                            <a:srgbClr val="1F2A44"/>
                          </a:solidFill>
                          <a:latin typeface="Calibri"/>
                        </a:rPr>
                        <a:t>bulbi vestibuli</a:t>
                      </a:r>
                      <a:r>
                        <a:rPr sz="1500">
                          <a:solidFill>
                            <a:srgbClr val="1F2A44"/>
                          </a:solidFill>
                          <a:latin typeface="Calibri"/>
                        </a:rPr>
                        <a:t>, </a:t>
                      </a:r>
                      <a:r>
                        <a:rPr sz="1500">
                          <a:solidFill>
                            <a:srgbClr val="1F2A44"/>
                          </a:solidFill>
                          <a:latin typeface="Calibri"/>
                        </a:rPr>
                        <a:t>gl. vestibularis major (Bartholin)</a:t>
                      </a:r>
                      <a:r>
                        <a:rPr sz="1500">
                          <a:solidFill>
                            <a:srgbClr val="1F2A44"/>
                          </a:solidFill>
                          <a:latin typeface="Calibri"/>
                        </a:rPr>
                        <a:t>; aynı üç kas</a:t>
                      </a:r>
                    </a:p>
                  </a:txBody>
                  <a:tcPr marT="27432" marB="27432">
                    <a:solidFill>
                      <a:srgbClr val="F3F4F6"/>
                    </a:solidFill>
                  </a:tcPr>
                </a:tc>
                <a:tc>
                  <a:txBody>
                    <a:bodyPr/>
                    <a:lstStyle/>
                    <a:p>
                      <a:r>
                        <a:rPr sz="1500">
                          <a:solidFill>
                            <a:srgbClr val="1F2A44"/>
                          </a:solidFill>
                          <a:latin typeface="Calibri"/>
                        </a:rPr>
                        <a:t>Urethra, vaginanın alt kısmı; m. sphincter urethrae externus, m. compressor urethrae, m. sphincter urethrovaginalis</a:t>
                      </a:r>
                    </a:p>
                  </a:txBody>
                  <a:tcPr marT="27432" marB="27432">
                    <a:solidFill>
                      <a:srgbClr val="F3F4F6"/>
                    </a:solidFill>
                  </a:tcPr>
                </a:tc>
              </a:tr>
            </a:tbl>
          </a:graphicData>
        </a:graphic>
      </p:graphicFrame>
      <p:sp>
        <p:nvSpPr>
          <p:cNvPr id="7" name="TextBox 6"/>
          <p:cNvSpPr txBox="1"/>
          <p:nvPr/>
        </p:nvSpPr>
        <p:spPr>
          <a:xfrm>
            <a:off x="274320" y="6035040"/>
            <a:ext cx="11612880" cy="347472"/>
          </a:xfrm>
          <a:prstGeom prst="rect">
            <a:avLst/>
          </a:prstGeom>
          <a:noFill/>
        </p:spPr>
        <p:txBody>
          <a:bodyPr wrap="square" anchor="t" lIns="45720" rIns="45720" tIns="18288" bIns="18288">
            <a:spAutoFit/>
          </a:bodyPr>
          <a:lstStyle/>
          <a:p>
            <a:pPr algn="l"/>
            <a:r>
              <a:rPr sz="1200" b="0" i="1">
                <a:solidFill>
                  <a:srgbClr val="555B66"/>
                </a:solidFill>
                <a:latin typeface="Calibri"/>
              </a:rPr>
              <a:t>Akılda tut: Cowper bezi DERİN aralıkta, Bartholin bezi YÜZEYEL aralıktadır.</a:t>
            </a:r>
          </a:p>
        </p:txBody>
      </p:sp>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Perine kasları – erkek ve kadın</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Aşağıdan (litotomi) bakış</a:t>
            </a:r>
          </a:p>
        </p:txBody>
      </p:sp>
      <p:sp>
        <p:nvSpPr>
          <p:cNvPr id="5" name="TextBox 4"/>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pic>
        <p:nvPicPr>
          <p:cNvPr id="7" name="Picture 6" descr="perine_kaslari.jpg"/>
          <p:cNvPicPr>
            <a:picLocks noChangeAspect="1"/>
          </p:cNvPicPr>
          <p:nvPr/>
        </p:nvPicPr>
        <p:blipFill>
          <a:blip r:embed="rId2"/>
          <a:stretch>
            <a:fillRect/>
          </a:stretch>
        </p:blipFill>
        <p:spPr>
          <a:xfrm>
            <a:off x="2050410" y="1097280"/>
            <a:ext cx="8088130" cy="4983480"/>
          </a:xfrm>
          <a:prstGeom prst="rect">
            <a:avLst/>
          </a:prstGeom>
        </p:spPr>
      </p:pic>
      <p:sp>
        <p:nvSpPr>
          <p:cNvPr id="8" name="TextBox 7"/>
          <p:cNvSpPr txBox="1"/>
          <p:nvPr/>
        </p:nvSpPr>
        <p:spPr>
          <a:xfrm>
            <a:off x="2050410" y="6099048"/>
            <a:ext cx="8088130"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11.13 'Perine kasları' (CC BY; etiketler Latinceleştirildi)</a:t>
            </a:r>
          </a:p>
        </p:txBody>
      </p:sp>
      <p:cxnSp>
        <p:nvCxnSpPr>
          <p:cNvPr id="9" name="Connector 8"/>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11.13 'Perine kasları'. Lisans: CC BY (openstax.org/details/books/anatomy-and-physiology). Uyarlama: İngilizce etiketler Latinceye çevrildi.</a:t>
            </a:r>
          </a:p>
        </p:txBody>
      </p:sp>
      <p:sp>
        <p:nvSpPr>
          <p:cNvPr id="11" name="TextBox 10"/>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Perine kasları</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Hepsini n. pudendus (n. perinealis) innerve eder</a:t>
            </a:r>
          </a:p>
        </p:txBody>
      </p:sp>
      <p:sp>
        <p:nvSpPr>
          <p:cNvPr id="5" name="TextBox 4"/>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graphicFrame>
        <p:nvGraphicFramePr>
          <p:cNvPr id="7" name="Table 6"/>
          <p:cNvGraphicFramePr>
            <a:graphicFrameLocks noGrp="1"/>
          </p:cNvGraphicFramePr>
          <p:nvPr/>
        </p:nvGraphicFramePr>
        <p:xfrm>
          <a:off x="274320" y="1143000"/>
          <a:ext cx="11640312" cy="5074920"/>
        </p:xfrm>
        <a:graphic>
          <a:graphicData uri="http://schemas.openxmlformats.org/drawingml/2006/table">
            <a:tbl>
              <a:tblPr firstRow="1" bandRow="1">
                <a:tableStyleId>{5C22544A-7EE6-4342-B048-85BDC9FD1C3A}</a:tableStyleId>
              </a:tblPr>
              <a:tblGrid>
                <a:gridCol w="3299616"/>
                <a:gridCol w="4216176"/>
                <a:gridCol w="4124520"/>
              </a:tblGrid>
              <a:tr h="724988">
                <a:tc>
                  <a:txBody>
                    <a:bodyPr/>
                    <a:lstStyle/>
                    <a:p>
                      <a:r>
                        <a:rPr sz="1500" b="1">
                          <a:solidFill>
                            <a:srgbClr val="FFFFFF"/>
                          </a:solidFill>
                          <a:latin typeface="Calibri"/>
                        </a:rPr>
                        <a:t>Kas</a:t>
                      </a:r>
                    </a:p>
                  </a:txBody>
                  <a:tcPr>
                    <a:solidFill>
                      <a:srgbClr val="1F2A44"/>
                    </a:solidFill>
                  </a:tcPr>
                </a:tc>
                <a:tc>
                  <a:txBody>
                    <a:bodyPr/>
                    <a:lstStyle/>
                    <a:p>
                      <a:r>
                        <a:rPr sz="1500" b="1">
                          <a:solidFill>
                            <a:srgbClr val="FFFFFF"/>
                          </a:solidFill>
                          <a:latin typeface="Calibri"/>
                        </a:rPr>
                        <a:t>Yeri</a:t>
                      </a:r>
                    </a:p>
                  </a:txBody>
                  <a:tcPr>
                    <a:solidFill>
                      <a:srgbClr val="1F2A44"/>
                    </a:solidFill>
                  </a:tcPr>
                </a:tc>
                <a:tc>
                  <a:txBody>
                    <a:bodyPr/>
                    <a:lstStyle/>
                    <a:p>
                      <a:r>
                        <a:rPr sz="1500" b="1">
                          <a:solidFill>
                            <a:srgbClr val="FFFFFF"/>
                          </a:solidFill>
                          <a:latin typeface="Calibri"/>
                        </a:rPr>
                        <a:t>Görevi</a:t>
                      </a:r>
                    </a:p>
                  </a:txBody>
                  <a:tcPr>
                    <a:solidFill>
                      <a:srgbClr val="1F2A44"/>
                    </a:solidFill>
                  </a:tcPr>
                </a:tc>
              </a:tr>
              <a:tr h="724988">
                <a:tc>
                  <a:txBody>
                    <a:bodyPr/>
                    <a:lstStyle/>
                    <a:p>
                      <a:r>
                        <a:rPr sz="1500" b="1">
                          <a:solidFill>
                            <a:srgbClr val="1F2A44"/>
                          </a:solidFill>
                          <a:latin typeface="Calibri"/>
                        </a:rPr>
                        <a:t>M. ischiocavernosus</a:t>
                      </a:r>
                    </a:p>
                  </a:txBody>
                  <a:tcPr marT="27432" marB="27432">
                    <a:solidFill>
                      <a:srgbClr val="F3F4F6"/>
                    </a:solidFill>
                  </a:tcPr>
                </a:tc>
                <a:tc>
                  <a:txBody>
                    <a:bodyPr/>
                    <a:lstStyle/>
                    <a:p>
                      <a:r>
                        <a:rPr sz="1500">
                          <a:solidFill>
                            <a:srgbClr val="1F2A44"/>
                          </a:solidFill>
                          <a:latin typeface="Calibri"/>
                        </a:rPr>
                        <a:t>Crus penis / clitoridis üzerinde</a:t>
                      </a:r>
                    </a:p>
                  </a:txBody>
                  <a:tcPr marT="27432" marB="27432">
                    <a:solidFill>
                      <a:srgbClr val="F3F4F6"/>
                    </a:solidFill>
                  </a:tcPr>
                </a:tc>
                <a:tc>
                  <a:txBody>
                    <a:bodyPr/>
                    <a:lstStyle/>
                    <a:p>
                      <a:r>
                        <a:rPr sz="1500">
                          <a:solidFill>
                            <a:srgbClr val="1F2A44"/>
                          </a:solidFill>
                          <a:latin typeface="Calibri"/>
                        </a:rPr>
                        <a:t>Ereksiyonun sürdürülmesi</a:t>
                      </a:r>
                    </a:p>
                  </a:txBody>
                  <a:tcPr marT="27432" marB="27432">
                    <a:solidFill>
                      <a:srgbClr val="F3F4F6"/>
                    </a:solidFill>
                  </a:tcPr>
                </a:tc>
              </a:tr>
              <a:tr h="724988">
                <a:tc>
                  <a:txBody>
                    <a:bodyPr/>
                    <a:lstStyle/>
                    <a:p>
                      <a:r>
                        <a:rPr sz="1500" b="1">
                          <a:solidFill>
                            <a:srgbClr val="1F2A44"/>
                          </a:solidFill>
                          <a:latin typeface="Calibri"/>
                        </a:rPr>
                        <a:t>M. bulbospongiosus</a:t>
                      </a:r>
                    </a:p>
                  </a:txBody>
                  <a:tcPr marT="27432" marB="27432">
                    <a:solidFill>
                      <a:srgbClr val="FFFFFF"/>
                    </a:solidFill>
                  </a:tcPr>
                </a:tc>
                <a:tc>
                  <a:txBody>
                    <a:bodyPr/>
                    <a:lstStyle/>
                    <a:p>
                      <a:r>
                        <a:rPr sz="1500">
                          <a:solidFill>
                            <a:srgbClr val="1F2A44"/>
                          </a:solidFill>
                          <a:latin typeface="Calibri"/>
                        </a:rPr>
                        <a:t>Bulbus penis / bulbus vestibuli üzerinde</a:t>
                      </a:r>
                    </a:p>
                  </a:txBody>
                  <a:tcPr marT="27432" marB="27432">
                    <a:solidFill>
                      <a:srgbClr val="FFFFFF"/>
                    </a:solidFill>
                  </a:tcPr>
                </a:tc>
                <a:tc>
                  <a:txBody>
                    <a:bodyPr/>
                    <a:lstStyle/>
                    <a:p>
                      <a:r>
                        <a:rPr sz="1500">
                          <a:solidFill>
                            <a:srgbClr val="1F2A44"/>
                          </a:solidFill>
                          <a:latin typeface="Calibri"/>
                        </a:rPr>
                        <a:t>Erkekte ejakülasyon ve idrar boşaltma; kadında vestibulumu daraltır</a:t>
                      </a:r>
                    </a:p>
                  </a:txBody>
                  <a:tcPr marT="27432" marB="27432">
                    <a:solidFill>
                      <a:srgbClr val="FFFFFF"/>
                    </a:solidFill>
                  </a:tcPr>
                </a:tc>
              </a:tr>
              <a:tr h="724988">
                <a:tc>
                  <a:txBody>
                    <a:bodyPr/>
                    <a:lstStyle/>
                    <a:p>
                      <a:r>
                        <a:rPr sz="1500" b="1">
                          <a:solidFill>
                            <a:srgbClr val="1F2A44"/>
                          </a:solidFill>
                          <a:latin typeface="Calibri"/>
                        </a:rPr>
                        <a:t>M. transversus perinei superficialis</a:t>
                      </a:r>
                    </a:p>
                  </a:txBody>
                  <a:tcPr marT="27432" marB="27432">
                    <a:solidFill>
                      <a:srgbClr val="F3F4F6"/>
                    </a:solidFill>
                  </a:tcPr>
                </a:tc>
                <a:tc>
                  <a:txBody>
                    <a:bodyPr/>
                    <a:lstStyle/>
                    <a:p>
                      <a:r>
                        <a:rPr sz="1500">
                          <a:solidFill>
                            <a:srgbClr val="1F2A44"/>
                          </a:solidFill>
                          <a:latin typeface="Calibri"/>
                        </a:rPr>
                        <a:t>Tuber ischiadicum → corpus perineale</a:t>
                      </a:r>
                    </a:p>
                  </a:txBody>
                  <a:tcPr marT="27432" marB="27432">
                    <a:solidFill>
                      <a:srgbClr val="F3F4F6"/>
                    </a:solidFill>
                  </a:tcPr>
                </a:tc>
                <a:tc>
                  <a:txBody>
                    <a:bodyPr/>
                    <a:lstStyle/>
                    <a:p>
                      <a:r>
                        <a:rPr sz="1500">
                          <a:solidFill>
                            <a:srgbClr val="1F2A44"/>
                          </a:solidFill>
                          <a:latin typeface="Calibri"/>
                        </a:rPr>
                        <a:t>Corpus perineale'yi sabitler</a:t>
                      </a:r>
                    </a:p>
                  </a:txBody>
                  <a:tcPr marT="27432" marB="27432">
                    <a:solidFill>
                      <a:srgbClr val="F3F4F6"/>
                    </a:solidFill>
                  </a:tcPr>
                </a:tc>
              </a:tr>
              <a:tr h="724988">
                <a:tc>
                  <a:txBody>
                    <a:bodyPr/>
                    <a:lstStyle/>
                    <a:p>
                      <a:r>
                        <a:rPr sz="1500" b="1">
                          <a:solidFill>
                            <a:srgbClr val="1F2A44"/>
                          </a:solidFill>
                          <a:latin typeface="Calibri"/>
                        </a:rPr>
                        <a:t>M. transversus perinei profundus</a:t>
                      </a:r>
                    </a:p>
                  </a:txBody>
                  <a:tcPr marT="27432" marB="27432">
                    <a:solidFill>
                      <a:srgbClr val="FFFFFF"/>
                    </a:solidFill>
                  </a:tcPr>
                </a:tc>
                <a:tc>
                  <a:txBody>
                    <a:bodyPr/>
                    <a:lstStyle/>
                    <a:p>
                      <a:r>
                        <a:rPr sz="1500">
                          <a:solidFill>
                            <a:srgbClr val="1F2A44"/>
                          </a:solidFill>
                          <a:latin typeface="Calibri"/>
                        </a:rPr>
                        <a:t>Derin aralıkta</a:t>
                      </a:r>
                    </a:p>
                  </a:txBody>
                  <a:tcPr marT="27432" marB="27432">
                    <a:solidFill>
                      <a:srgbClr val="FFFFFF"/>
                    </a:solidFill>
                  </a:tcPr>
                </a:tc>
                <a:tc>
                  <a:txBody>
                    <a:bodyPr/>
                    <a:lstStyle/>
                    <a:p>
                      <a:r>
                        <a:rPr sz="1500">
                          <a:solidFill>
                            <a:srgbClr val="1F2A44"/>
                          </a:solidFill>
                          <a:latin typeface="Calibri"/>
                        </a:rPr>
                        <a:t>Corpus perineale'yi sabitler</a:t>
                      </a:r>
                    </a:p>
                  </a:txBody>
                  <a:tcPr marT="27432" marB="27432">
                    <a:solidFill>
                      <a:srgbClr val="FFFFFF"/>
                    </a:solidFill>
                  </a:tcPr>
                </a:tc>
              </a:tr>
              <a:tr h="724988">
                <a:tc>
                  <a:txBody>
                    <a:bodyPr/>
                    <a:lstStyle/>
                    <a:p>
                      <a:r>
                        <a:rPr sz="1500" b="1">
                          <a:solidFill>
                            <a:srgbClr val="1F2A44"/>
                          </a:solidFill>
                          <a:latin typeface="Calibri"/>
                        </a:rPr>
                        <a:t>M. sphincter urethrae externus</a:t>
                      </a:r>
                    </a:p>
                  </a:txBody>
                  <a:tcPr marT="27432" marB="27432">
                    <a:solidFill>
                      <a:srgbClr val="F3F4F6"/>
                    </a:solidFill>
                  </a:tcPr>
                </a:tc>
                <a:tc>
                  <a:txBody>
                    <a:bodyPr/>
                    <a:lstStyle/>
                    <a:p>
                      <a:r>
                        <a:rPr sz="1500">
                          <a:solidFill>
                            <a:srgbClr val="1F2A44"/>
                          </a:solidFill>
                          <a:latin typeface="Calibri"/>
                        </a:rPr>
                        <a:t>Urethra çevresinde (derin aralık)</a:t>
                      </a:r>
                    </a:p>
                  </a:txBody>
                  <a:tcPr marT="27432" marB="27432">
                    <a:solidFill>
                      <a:srgbClr val="F3F4F6"/>
                    </a:solidFill>
                  </a:tcPr>
                </a:tc>
                <a:tc>
                  <a:txBody>
                    <a:bodyPr/>
                    <a:lstStyle/>
                    <a:p>
                      <a:r>
                        <a:rPr sz="1500">
                          <a:solidFill>
                            <a:srgbClr val="1F2A44"/>
                          </a:solidFill>
                          <a:latin typeface="Calibri"/>
                        </a:rPr>
                        <a:t>İstemli idrar tutma</a:t>
                      </a:r>
                    </a:p>
                  </a:txBody>
                  <a:tcPr marT="27432" marB="27432">
                    <a:solidFill>
                      <a:srgbClr val="F3F4F6"/>
                    </a:solidFill>
                  </a:tcPr>
                </a:tc>
              </a:tr>
              <a:tr h="724992">
                <a:tc>
                  <a:txBody>
                    <a:bodyPr/>
                    <a:lstStyle/>
                    <a:p>
                      <a:r>
                        <a:rPr sz="1500" b="1">
                          <a:solidFill>
                            <a:srgbClr val="1F2A44"/>
                          </a:solidFill>
                          <a:latin typeface="Calibri"/>
                        </a:rPr>
                        <a:t>M. sphincter ani externus</a:t>
                      </a:r>
                    </a:p>
                  </a:txBody>
                  <a:tcPr marT="27432" marB="27432">
                    <a:solidFill>
                      <a:srgbClr val="FFFFFF"/>
                    </a:solidFill>
                  </a:tcPr>
                </a:tc>
                <a:tc>
                  <a:txBody>
                    <a:bodyPr/>
                    <a:lstStyle/>
                    <a:p>
                      <a:r>
                        <a:rPr sz="1500">
                          <a:solidFill>
                            <a:srgbClr val="1F2A44"/>
                          </a:solidFill>
                          <a:latin typeface="Calibri"/>
                        </a:rPr>
                        <a:t>Anüs çevresinde (regio analis)</a:t>
                      </a:r>
                    </a:p>
                  </a:txBody>
                  <a:tcPr marT="27432" marB="27432">
                    <a:solidFill>
                      <a:srgbClr val="FFFFFF"/>
                    </a:solidFill>
                  </a:tcPr>
                </a:tc>
                <a:tc>
                  <a:txBody>
                    <a:bodyPr/>
                    <a:lstStyle/>
                    <a:p>
                      <a:r>
                        <a:rPr sz="1500">
                          <a:solidFill>
                            <a:srgbClr val="1F2A44"/>
                          </a:solidFill>
                          <a:latin typeface="Calibri"/>
                        </a:rPr>
                        <a:t>İstemli gaita tutma</a:t>
                      </a:r>
                    </a:p>
                  </a:txBody>
                  <a:tcPr marT="27432" marB="27432">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Erkek: urethra ve perine ilişkisi</a:t>
            </a:r>
          </a:p>
        </p:txBody>
      </p:sp>
      <p:sp>
        <p:nvSpPr>
          <p:cNvPr id="4" name="TextBox 3"/>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pic>
        <p:nvPicPr>
          <p:cNvPr id="6" name="Picture 5" descr="erkek_genital.jpg"/>
          <p:cNvPicPr>
            <a:picLocks noChangeAspect="1"/>
          </p:cNvPicPr>
          <p:nvPr/>
        </p:nvPicPr>
        <p:blipFill>
          <a:blip r:embed="rId2"/>
          <a:stretch>
            <a:fillRect/>
          </a:stretch>
        </p:blipFill>
        <p:spPr>
          <a:xfrm>
            <a:off x="1685303" y="1051560"/>
            <a:ext cx="8818345" cy="4206240"/>
          </a:xfrm>
          <a:prstGeom prst="rect">
            <a:avLst/>
          </a:prstGeom>
        </p:spPr>
      </p:pic>
      <p:sp>
        <p:nvSpPr>
          <p:cNvPr id="7" name="Rectangle 6"/>
          <p:cNvSpPr/>
          <p:nvPr/>
        </p:nvSpPr>
        <p:spPr>
          <a:xfrm>
            <a:off x="274320" y="5559552"/>
            <a:ext cx="11640312" cy="804672"/>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5577840"/>
            <a:ext cx="11430000" cy="777240"/>
          </a:xfrm>
          <a:prstGeom prst="rect">
            <a:avLst/>
          </a:prstGeom>
          <a:noFill/>
        </p:spPr>
        <p:txBody>
          <a:bodyPr wrap="square">
            <a:spAutoFit/>
          </a:bodyPr>
          <a:lstStyle/>
          <a:p>
            <a:pPr>
              <a:spcAft>
                <a:spcPts val="100"/>
              </a:spcAft>
            </a:pPr>
            <a:r>
              <a:rPr sz="1500">
                <a:solidFill>
                  <a:srgbClr val="1F2A44"/>
                </a:solidFill>
                <a:latin typeface="Calibri"/>
              </a:rPr>
              <a:t>• Urethra: </a:t>
            </a:r>
            <a:r>
              <a:rPr sz="1500">
                <a:solidFill>
                  <a:srgbClr val="1F2A44"/>
                </a:solidFill>
                <a:latin typeface="Calibri"/>
              </a:rPr>
              <a:t>pars prostatica</a:t>
            </a:r>
            <a:r>
              <a:rPr sz="1500">
                <a:solidFill>
                  <a:srgbClr val="1F2A44"/>
                </a:solidFill>
                <a:latin typeface="Calibri"/>
              </a:rPr>
              <a:t> → </a:t>
            </a:r>
            <a:r>
              <a:rPr sz="1500">
                <a:solidFill>
                  <a:srgbClr val="1F2A44"/>
                </a:solidFill>
                <a:latin typeface="Calibri"/>
              </a:rPr>
              <a:t>pars membranacea</a:t>
            </a:r>
            <a:r>
              <a:rPr sz="1500">
                <a:solidFill>
                  <a:srgbClr val="1F2A44"/>
                </a:solidFill>
                <a:latin typeface="Calibri"/>
              </a:rPr>
              <a:t> (derin aralık; m. sphincter urethrae externus; kateterde en dar ve en kolay yaralanan kısım) → </a:t>
            </a:r>
            <a:r>
              <a:rPr sz="1500">
                <a:solidFill>
                  <a:srgbClr val="1F2A44"/>
                </a:solidFill>
                <a:latin typeface="Calibri"/>
              </a:rPr>
              <a:t>pars spongiosa</a:t>
            </a:r>
            <a:r>
              <a:rPr sz="1500">
                <a:solidFill>
                  <a:srgbClr val="1F2A44"/>
                </a:solidFill>
                <a:latin typeface="Calibri"/>
              </a:rPr>
              <a:t> (bulbus ve corpus spongiosum içinde).</a:t>
            </a:r>
          </a:p>
          <a:p>
            <a:pPr>
              <a:spcAft>
                <a:spcPts val="100"/>
              </a:spcAft>
            </a:pPr>
            <a:r>
              <a:rPr sz="1500">
                <a:solidFill>
                  <a:srgbClr val="1F2A44"/>
                </a:solidFill>
                <a:latin typeface="Calibri"/>
              </a:rPr>
              <a:t>• </a:t>
            </a:r>
            <a:r>
              <a:rPr sz="1500">
                <a:solidFill>
                  <a:srgbClr val="1F2A44"/>
                </a:solidFill>
                <a:latin typeface="Calibri"/>
              </a:rPr>
              <a:t>Gl. bulbourethralis (Cowper)</a:t>
            </a:r>
            <a:r>
              <a:rPr sz="1500">
                <a:solidFill>
                  <a:srgbClr val="1F2A44"/>
                </a:solidFill>
                <a:latin typeface="Calibri"/>
              </a:rPr>
              <a:t> derin aralıkta pars membranacea'nın yanında; penis kökü (bulbus ve crura) yüzeyel aralıkta.</a:t>
            </a:r>
          </a:p>
        </p:txBody>
      </p:sp>
      <p:sp>
        <p:nvSpPr>
          <p:cNvPr id="9" name="TextBox 8"/>
          <p:cNvSpPr txBox="1"/>
          <p:nvPr/>
        </p:nvSpPr>
        <p:spPr>
          <a:xfrm>
            <a:off x="1685303" y="5276088"/>
            <a:ext cx="8818345"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27.2c 'Erkek üreme sistemi – lateral görünüm' (CC BY; etiketler Latinceleştirildi)</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27.2c 'Erkek üreme sistemi – lateral görünüm'. Lisans: CC BY (openstax.org/details/books/anatomy-and-physiology). Uyarlama: İngilizce etiketler Latinceye çevrildi.</a:t>
            </a:r>
          </a:p>
        </p:txBody>
      </p:sp>
      <p:sp>
        <p:nvSpPr>
          <p:cNvPr id="12" name="TextBox 11"/>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Kadın: pelvis organları ve perine</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Sagittal kesit çizimi</a:t>
            </a:r>
          </a:p>
        </p:txBody>
      </p:sp>
      <p:sp>
        <p:nvSpPr>
          <p:cNvPr id="5" name="TextBox 4"/>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pic>
        <p:nvPicPr>
          <p:cNvPr id="7" name="Picture 6" descr="sagittal_kadin.jpg"/>
          <p:cNvPicPr>
            <a:picLocks noChangeAspect="1"/>
          </p:cNvPicPr>
          <p:nvPr/>
        </p:nvPicPr>
        <p:blipFill>
          <a:blip r:embed="rId2"/>
          <a:stretch>
            <a:fillRect/>
          </a:stretch>
        </p:blipFill>
        <p:spPr>
          <a:xfrm>
            <a:off x="228600" y="1566491"/>
            <a:ext cx="7955279" cy="4045057"/>
          </a:xfrm>
          <a:prstGeom prst="rect">
            <a:avLst/>
          </a:prstGeom>
        </p:spPr>
      </p:pic>
      <p:sp>
        <p:nvSpPr>
          <p:cNvPr id="8" name="Rectangle 7"/>
          <p:cNvSpPr/>
          <p:nvPr/>
        </p:nvSpPr>
        <p:spPr>
          <a:xfrm>
            <a:off x="8366760" y="1097280"/>
            <a:ext cx="3593592" cy="5120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58200" y="1170432"/>
            <a:ext cx="3429000" cy="4983480"/>
          </a:xfrm>
          <a:prstGeom prst="rect">
            <a:avLst/>
          </a:prstGeom>
          <a:noFill/>
        </p:spPr>
        <p:txBody>
          <a:bodyPr wrap="square">
            <a:spAutoFit/>
          </a:bodyPr>
          <a:lstStyle/>
          <a:p>
            <a:pPr>
              <a:spcAft>
                <a:spcPts val="600"/>
              </a:spcAft>
            </a:pPr>
            <a:r>
              <a:rPr sz="1600">
                <a:solidFill>
                  <a:srgbClr val="1F2A44"/>
                </a:solidFill>
                <a:latin typeface="Calibri"/>
              </a:rPr>
              <a:t>• Önden arkaya: </a:t>
            </a:r>
            <a:r>
              <a:rPr sz="1600">
                <a:solidFill>
                  <a:srgbClr val="1F2A44"/>
                </a:solidFill>
                <a:latin typeface="Calibri"/>
              </a:rPr>
              <a:t>vesica urinaria / urethra</a:t>
            </a:r>
            <a:r>
              <a:rPr sz="1600">
                <a:solidFill>
                  <a:srgbClr val="1F2A44"/>
                </a:solidFill>
                <a:latin typeface="Calibri"/>
              </a:rPr>
              <a:t> → </a:t>
            </a:r>
            <a:r>
              <a:rPr sz="1600">
                <a:solidFill>
                  <a:srgbClr val="1F2A44"/>
                </a:solidFill>
                <a:latin typeface="Calibri"/>
              </a:rPr>
              <a:t>vagina</a:t>
            </a:r>
            <a:r>
              <a:rPr sz="1600">
                <a:solidFill>
                  <a:srgbClr val="1F2A44"/>
                </a:solidFill>
                <a:latin typeface="Calibri"/>
              </a:rPr>
              <a:t> → </a:t>
            </a:r>
            <a:r>
              <a:rPr sz="1600">
                <a:solidFill>
                  <a:srgbClr val="1F2A44"/>
                </a:solidFill>
                <a:latin typeface="Calibri"/>
              </a:rPr>
              <a:t>rectum / canalis analis</a:t>
            </a:r>
            <a:r>
              <a:rPr sz="1600">
                <a:solidFill>
                  <a:srgbClr val="1F2A44"/>
                </a:solidFill>
                <a:latin typeface="Calibri"/>
              </a:rPr>
              <a:t>.</a:t>
            </a:r>
          </a:p>
          <a:p>
            <a:pPr>
              <a:spcAft>
                <a:spcPts val="600"/>
              </a:spcAft>
            </a:pPr>
            <a:r>
              <a:rPr sz="1600">
                <a:solidFill>
                  <a:srgbClr val="1F2A44"/>
                </a:solidFill>
                <a:latin typeface="Calibri"/>
              </a:rPr>
              <a:t>• Kadın urethrası kısadır (≈4 cm) → idrar yolu enfeksiyonu daha sık.</a:t>
            </a:r>
          </a:p>
          <a:p>
            <a:pPr>
              <a:spcAft>
                <a:spcPts val="600"/>
              </a:spcAft>
            </a:pPr>
            <a:r>
              <a:rPr sz="1600">
                <a:solidFill>
                  <a:srgbClr val="1F2A44"/>
                </a:solidFill>
                <a:latin typeface="Calibri"/>
              </a:rPr>
              <a:t>• Vagina ile anüs arasında </a:t>
            </a:r>
            <a:r>
              <a:rPr sz="1600">
                <a:solidFill>
                  <a:srgbClr val="1F2A44"/>
                </a:solidFill>
                <a:latin typeface="Calibri"/>
              </a:rPr>
              <a:t>corpus perineale</a:t>
            </a:r>
            <a:r>
              <a:rPr sz="1600">
                <a:solidFill>
                  <a:srgbClr val="1F2A44"/>
                </a:solidFill>
                <a:latin typeface="Calibri"/>
              </a:rPr>
              <a:t>.</a:t>
            </a:r>
          </a:p>
        </p:txBody>
      </p:sp>
      <p:sp>
        <p:nvSpPr>
          <p:cNvPr id="10" name="TextBox 9"/>
          <p:cNvSpPr txBox="1"/>
          <p:nvPr/>
        </p:nvSpPr>
        <p:spPr>
          <a:xfrm>
            <a:off x="228600" y="5629836"/>
            <a:ext cx="7955279"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25.17a 'Kadın üretrası' (CC BY; etiketler Latinceleştirildi)</a:t>
            </a:r>
          </a:p>
        </p:txBody>
      </p:sp>
      <p:cxnSp>
        <p:nvCxnSpPr>
          <p:cNvPr id="11" name="Connector 10"/>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25.17a 'Kadın üretrası'. Lisans: CC BY (openstax.org/details/books/anatomy-and-physiology). Uyarlama: İngilizce etiketler Latinceye çevrildi.</a:t>
            </a:r>
          </a:p>
        </p:txBody>
      </p:sp>
      <p:sp>
        <p:nvSpPr>
          <p:cNvPr id="13" name="TextBox 12"/>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Vulva ve yüzeyel aralık</a:t>
            </a:r>
          </a:p>
        </p:txBody>
      </p:sp>
      <p:sp>
        <p:nvSpPr>
          <p:cNvPr id="4" name="TextBox 3"/>
          <p:cNvSpPr txBox="1"/>
          <p:nvPr/>
        </p:nvSpPr>
        <p:spPr>
          <a:xfrm>
            <a:off x="9921240" y="109728"/>
            <a:ext cx="2057400" cy="310896"/>
          </a:xfrm>
          <a:prstGeom prst="rect">
            <a:avLst/>
          </a:prstGeom>
          <a:solidFill>
            <a:srgbClr val="00697C"/>
          </a:solidFill>
        </p:spPr>
        <p:txBody>
          <a:bodyPr wrap="square" anchor="ctr" lIns="45720" rIns="45720" tIns="18288" bIns="18288">
            <a:spAutoFit/>
          </a:bodyPr>
          <a:lstStyle/>
          <a:p>
            <a:pPr algn="ctr"/>
            <a:r>
              <a:rPr sz="1100" b="1" i="0">
                <a:solidFill>
                  <a:srgbClr val="FFFFFF"/>
                </a:solidFill>
                <a:latin typeface="Calibri"/>
              </a:rPr>
              <a:t>ATLAS</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pic>
        <p:nvPicPr>
          <p:cNvPr id="6" name="Picture 5" descr="vulva.jpg"/>
          <p:cNvPicPr>
            <a:picLocks noChangeAspect="1"/>
          </p:cNvPicPr>
          <p:nvPr/>
        </p:nvPicPr>
        <p:blipFill>
          <a:blip r:embed="rId2"/>
          <a:stretch>
            <a:fillRect/>
          </a:stretch>
        </p:blipFill>
        <p:spPr>
          <a:xfrm>
            <a:off x="228600" y="1525974"/>
            <a:ext cx="7955279" cy="4126091"/>
          </a:xfrm>
          <a:prstGeom prst="rect">
            <a:avLst/>
          </a:prstGeom>
        </p:spPr>
      </p:pic>
      <p:sp>
        <p:nvSpPr>
          <p:cNvPr id="7" name="Rectangle 6"/>
          <p:cNvSpPr/>
          <p:nvPr/>
        </p:nvSpPr>
        <p:spPr>
          <a:xfrm>
            <a:off x="8366760" y="1097280"/>
            <a:ext cx="3593592" cy="512064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58200" y="1170432"/>
            <a:ext cx="3429000" cy="4983480"/>
          </a:xfrm>
          <a:prstGeom prst="rect">
            <a:avLst/>
          </a:prstGeom>
          <a:noFill/>
        </p:spPr>
        <p:txBody>
          <a:bodyPr wrap="square">
            <a:spAutoFit/>
          </a:bodyPr>
          <a:lstStyle/>
          <a:p>
            <a:pPr>
              <a:spcAft>
                <a:spcPts val="600"/>
              </a:spcAft>
            </a:pPr>
            <a:r>
              <a:rPr sz="1500">
                <a:solidFill>
                  <a:srgbClr val="1F2A44"/>
                </a:solidFill>
                <a:latin typeface="Calibri"/>
              </a:rPr>
              <a:t>• </a:t>
            </a:r>
            <a:r>
              <a:rPr sz="1500">
                <a:solidFill>
                  <a:srgbClr val="1F2A44"/>
                </a:solidFill>
                <a:latin typeface="Calibri"/>
              </a:rPr>
              <a:t>Glans, corpus ve crura clitoridis</a:t>
            </a:r>
            <a:r>
              <a:rPr sz="1500">
                <a:solidFill>
                  <a:srgbClr val="1F2A44"/>
                </a:solidFill>
                <a:latin typeface="Calibri"/>
              </a:rPr>
              <a:t>; crura m. ischiocavernosus ile örtülüdür.</a:t>
            </a:r>
          </a:p>
          <a:p>
            <a:pPr>
              <a:spcAft>
                <a:spcPts val="600"/>
              </a:spcAft>
            </a:pPr>
            <a:r>
              <a:rPr sz="1500">
                <a:solidFill>
                  <a:srgbClr val="1F2A44"/>
                </a:solidFill>
                <a:latin typeface="Calibri"/>
              </a:rPr>
              <a:t>• </a:t>
            </a:r>
            <a:r>
              <a:rPr sz="1500">
                <a:solidFill>
                  <a:srgbClr val="1F2A44"/>
                </a:solidFill>
                <a:latin typeface="Calibri"/>
              </a:rPr>
              <a:t>Bulbus vestibuli</a:t>
            </a:r>
            <a:r>
              <a:rPr sz="1500">
                <a:solidFill>
                  <a:srgbClr val="1F2A44"/>
                </a:solidFill>
                <a:latin typeface="Calibri"/>
              </a:rPr>
              <a:t> ostium vaginae'nin iki yanında, m. bulbospongiosus altında.</a:t>
            </a:r>
          </a:p>
          <a:p>
            <a:pPr>
              <a:spcAft>
                <a:spcPts val="600"/>
              </a:spcAft>
            </a:pPr>
            <a:r>
              <a:rPr sz="1500">
                <a:solidFill>
                  <a:srgbClr val="1F2A44"/>
                </a:solidFill>
                <a:latin typeface="Calibri"/>
              </a:rPr>
              <a:t>• </a:t>
            </a:r>
            <a:r>
              <a:rPr sz="1500">
                <a:solidFill>
                  <a:srgbClr val="1F2A44"/>
                </a:solidFill>
                <a:latin typeface="Calibri"/>
              </a:rPr>
              <a:t>Gl. vestibularis major (Bartholin)</a:t>
            </a:r>
            <a:r>
              <a:rPr sz="1500">
                <a:solidFill>
                  <a:srgbClr val="1F2A44"/>
                </a:solidFill>
                <a:latin typeface="Calibri"/>
              </a:rPr>
              <a:t> bulbusun arka ucunda; kanalı ostium vaginae'nin arka-yanına açılır.</a:t>
            </a:r>
          </a:p>
        </p:txBody>
      </p:sp>
      <p:sp>
        <p:nvSpPr>
          <p:cNvPr id="9" name="TextBox 8"/>
          <p:cNvSpPr txBox="1"/>
          <p:nvPr/>
        </p:nvSpPr>
        <p:spPr>
          <a:xfrm>
            <a:off x="228600" y="5670353"/>
            <a:ext cx="7955279" cy="256032"/>
          </a:xfrm>
          <a:prstGeom prst="rect">
            <a:avLst/>
          </a:prstGeom>
          <a:noFill/>
        </p:spPr>
        <p:txBody>
          <a:bodyPr wrap="square" anchor="t" lIns="45720" rIns="45720" tIns="18288" bIns="18288">
            <a:spAutoFit/>
          </a:bodyPr>
          <a:lstStyle/>
          <a:p>
            <a:pPr algn="ctr"/>
            <a:r>
              <a:rPr sz="1050" b="0" i="1">
                <a:solidFill>
                  <a:srgbClr val="555B66"/>
                </a:solidFill>
                <a:latin typeface="Calibri"/>
              </a:rPr>
              <a:t>OpenStax A&amp;P, Şekil 27.11 'Vulva' (CC BY; etiketler Latinceleştirildi)</a:t>
            </a:r>
          </a:p>
        </p:txBody>
      </p:sp>
      <p:cxnSp>
        <p:nvCxnSpPr>
          <p:cNvPr id="10" name="Connector 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OpenStax College. Anatomy &amp; Physiology. OpenStax CNX, 2013 (1. baskı), Şekil 27.11 'Vulva'. Lisans: CC BY (openstax.org/details/books/anatomy-and-physiology). Uyarlama: İngilizce etiketler Latinceye çevrildi.</a:t>
            </a:r>
          </a:p>
        </p:txBody>
      </p:sp>
      <p:sp>
        <p:nvSpPr>
          <p:cNvPr id="12" name="TextBox 11"/>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Kadavrada erkek regio urogenitalis</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Sol: yüzeyel aralık kasları · Sağ: kaslar kaldırılınca membrana perinei</a:t>
            </a:r>
          </a:p>
        </p:txBody>
      </p:sp>
      <p:sp>
        <p:nvSpPr>
          <p:cNvPr id="5" name="TextBox 4"/>
          <p:cNvSpPr txBox="1"/>
          <p:nvPr/>
        </p:nvSpPr>
        <p:spPr>
          <a:xfrm>
            <a:off x="9921240" y="109728"/>
            <a:ext cx="2057400" cy="310896"/>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KADAVRA</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pic>
        <p:nvPicPr>
          <p:cNvPr id="7" name="Picture 6" descr="41598_2025_9585_Fig1_HTML_0_0_332_271.jpg"/>
          <p:cNvPicPr>
            <a:picLocks noChangeAspect="1"/>
          </p:cNvPicPr>
          <p:nvPr/>
        </p:nvPicPr>
        <p:blipFill>
          <a:blip r:embed="rId2"/>
          <a:stretch>
            <a:fillRect/>
          </a:stretch>
        </p:blipFill>
        <p:spPr>
          <a:xfrm>
            <a:off x="2377440" y="1506818"/>
            <a:ext cx="3611879" cy="2948251"/>
          </a:xfrm>
          <a:prstGeom prst="rect">
            <a:avLst/>
          </a:prstGeom>
        </p:spPr>
      </p:pic>
      <p:sp>
        <p:nvSpPr>
          <p:cNvPr id="8" name="TextBox 7"/>
          <p:cNvSpPr txBox="1"/>
          <p:nvPr/>
        </p:nvSpPr>
        <p:spPr>
          <a:xfrm>
            <a:off x="228600" y="1862690"/>
            <a:ext cx="2057400" cy="310896"/>
          </a:xfrm>
          <a:prstGeom prst="rect">
            <a:avLst/>
          </a:prstGeom>
          <a:noFill/>
        </p:spPr>
        <p:txBody>
          <a:bodyPr wrap="square" anchor="ctr" lIns="45720" rIns="45720" tIns="18288" bIns="18288">
            <a:spAutoFit/>
          </a:bodyPr>
          <a:lstStyle/>
          <a:p>
            <a:pPr algn="r"/>
            <a:r>
              <a:rPr sz="1250" b="1" i="0">
                <a:solidFill>
                  <a:srgbClr val="1F2A44"/>
                </a:solidFill>
                <a:latin typeface="Calibri"/>
              </a:rPr>
              <a:t>M. bulbospongiosus</a:t>
            </a:r>
          </a:p>
        </p:txBody>
      </p:sp>
      <p:cxnSp>
        <p:nvCxnSpPr>
          <p:cNvPr id="9" name="Connector 8"/>
          <p:cNvCxnSpPr/>
          <p:nvPr/>
        </p:nvCxnSpPr>
        <p:spPr>
          <a:xfrm>
            <a:off x="2286000" y="2018138"/>
            <a:ext cx="1832105"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4072385" y="197241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2246738"/>
            <a:ext cx="2057400" cy="310896"/>
          </a:xfrm>
          <a:prstGeom prst="rect">
            <a:avLst/>
          </a:prstGeom>
          <a:noFill/>
        </p:spPr>
        <p:txBody>
          <a:bodyPr wrap="square" anchor="ctr" lIns="45720" rIns="45720" tIns="18288" bIns="18288">
            <a:spAutoFit/>
          </a:bodyPr>
          <a:lstStyle/>
          <a:p>
            <a:pPr algn="r"/>
            <a:r>
              <a:rPr sz="1250" b="1" i="0">
                <a:solidFill>
                  <a:srgbClr val="1F2A44"/>
                </a:solidFill>
                <a:latin typeface="Calibri"/>
              </a:rPr>
              <a:t>M. ischiocavernosus</a:t>
            </a:r>
          </a:p>
        </p:txBody>
      </p:sp>
      <p:cxnSp>
        <p:nvCxnSpPr>
          <p:cNvPr id="12" name="Connector 11"/>
          <p:cNvCxnSpPr/>
          <p:nvPr/>
        </p:nvCxnSpPr>
        <p:spPr>
          <a:xfrm flipV="1">
            <a:off x="2286000" y="2181325"/>
            <a:ext cx="1483972" cy="220861"/>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724252" y="213560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2630786"/>
            <a:ext cx="2057400" cy="310896"/>
          </a:xfrm>
          <a:prstGeom prst="rect">
            <a:avLst/>
          </a:prstGeom>
          <a:noFill/>
        </p:spPr>
        <p:txBody>
          <a:bodyPr wrap="square" anchor="ctr" lIns="45720" rIns="45720" tIns="18288" bIns="18288">
            <a:spAutoFit/>
          </a:bodyPr>
          <a:lstStyle/>
          <a:p>
            <a:pPr algn="r"/>
            <a:r>
              <a:rPr sz="1250" b="1" i="0">
                <a:solidFill>
                  <a:srgbClr val="1F2A44"/>
                </a:solidFill>
                <a:latin typeface="Calibri"/>
              </a:rPr>
              <a:t>M. transversus perinei superf.</a:t>
            </a:r>
          </a:p>
        </p:txBody>
      </p:sp>
      <p:cxnSp>
        <p:nvCxnSpPr>
          <p:cNvPr id="15" name="Connector 14"/>
          <p:cNvCxnSpPr/>
          <p:nvPr/>
        </p:nvCxnSpPr>
        <p:spPr>
          <a:xfrm flipV="1">
            <a:off x="2286000" y="2779679"/>
            <a:ext cx="1581884" cy="6555"/>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3822164" y="273395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28600" y="3407530"/>
            <a:ext cx="2057400" cy="310896"/>
          </a:xfrm>
          <a:prstGeom prst="rect">
            <a:avLst/>
          </a:prstGeom>
          <a:noFill/>
        </p:spPr>
        <p:txBody>
          <a:bodyPr wrap="square" anchor="ctr" lIns="45720" rIns="45720" tIns="18288" bIns="18288">
            <a:spAutoFit/>
          </a:bodyPr>
          <a:lstStyle/>
          <a:p>
            <a:pPr algn="r"/>
            <a:r>
              <a:rPr sz="1250" b="1" i="0">
                <a:solidFill>
                  <a:srgbClr val="1F2A44"/>
                </a:solidFill>
                <a:latin typeface="Calibri"/>
              </a:rPr>
              <a:t>M. sphincter ani externus</a:t>
            </a:r>
          </a:p>
        </p:txBody>
      </p:sp>
      <p:cxnSp>
        <p:nvCxnSpPr>
          <p:cNvPr id="18" name="Connector 17"/>
          <p:cNvCxnSpPr/>
          <p:nvPr/>
        </p:nvCxnSpPr>
        <p:spPr>
          <a:xfrm>
            <a:off x="2286000" y="3562978"/>
            <a:ext cx="2201996"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442276" y="351725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377440" y="4473357"/>
            <a:ext cx="3611879" cy="256032"/>
          </a:xfrm>
          <a:prstGeom prst="rect">
            <a:avLst/>
          </a:prstGeom>
          <a:noFill/>
        </p:spPr>
        <p:txBody>
          <a:bodyPr wrap="square" anchor="t" lIns="45720" rIns="45720" tIns="18288" bIns="18288">
            <a:spAutoFit/>
          </a:bodyPr>
          <a:lstStyle/>
          <a:p>
            <a:pPr algn="ctr"/>
            <a:r>
              <a:rPr sz="1050" b="0" i="1">
                <a:solidFill>
                  <a:srgbClr val="555B66"/>
                </a:solidFill>
                <a:latin typeface="Calibri"/>
              </a:rPr>
              <a:t>Fig. 1 – Muro S. ve ark., 2025 (PMC12229694, CC BY)</a:t>
            </a:r>
          </a:p>
        </p:txBody>
      </p:sp>
      <p:pic>
        <p:nvPicPr>
          <p:cNvPr id="21" name="Picture 20" descr="41598_2025_9585_Fig1_HTML_0_277_332_549.jpg"/>
          <p:cNvPicPr>
            <a:picLocks noChangeAspect="1"/>
          </p:cNvPicPr>
          <p:nvPr/>
        </p:nvPicPr>
        <p:blipFill>
          <a:blip r:embed="rId3"/>
          <a:stretch>
            <a:fillRect/>
          </a:stretch>
        </p:blipFill>
        <p:spPr>
          <a:xfrm>
            <a:off x="6172200" y="1489017"/>
            <a:ext cx="3642055" cy="2983852"/>
          </a:xfrm>
          <a:prstGeom prst="rect">
            <a:avLst/>
          </a:prstGeom>
        </p:spPr>
      </p:pic>
      <p:sp>
        <p:nvSpPr>
          <p:cNvPr id="22" name="TextBox 21"/>
          <p:cNvSpPr txBox="1"/>
          <p:nvPr/>
        </p:nvSpPr>
        <p:spPr>
          <a:xfrm>
            <a:off x="9905695" y="1717521"/>
            <a:ext cx="2057400" cy="310896"/>
          </a:xfrm>
          <a:prstGeom prst="rect">
            <a:avLst/>
          </a:prstGeom>
          <a:noFill/>
        </p:spPr>
        <p:txBody>
          <a:bodyPr wrap="square" anchor="ctr" lIns="45720" rIns="45720" tIns="18288" bIns="18288">
            <a:spAutoFit/>
          </a:bodyPr>
          <a:lstStyle/>
          <a:p>
            <a:pPr algn="l"/>
            <a:r>
              <a:rPr sz="1250" b="1" i="0">
                <a:solidFill>
                  <a:srgbClr val="1F2A44"/>
                </a:solidFill>
                <a:latin typeface="Calibri"/>
              </a:rPr>
              <a:t>Bulbus penis</a:t>
            </a:r>
          </a:p>
        </p:txBody>
      </p:sp>
      <p:cxnSp>
        <p:nvCxnSpPr>
          <p:cNvPr id="23" name="Connector 22"/>
          <p:cNvCxnSpPr/>
          <p:nvPr/>
        </p:nvCxnSpPr>
        <p:spPr>
          <a:xfrm flipH="1">
            <a:off x="7938377" y="1872969"/>
            <a:ext cx="1967318"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7892657" y="182724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05695" y="2266023"/>
            <a:ext cx="2057400" cy="310896"/>
          </a:xfrm>
          <a:prstGeom prst="rect">
            <a:avLst/>
          </a:prstGeom>
          <a:noFill/>
        </p:spPr>
        <p:txBody>
          <a:bodyPr wrap="square" anchor="ctr" lIns="45720" rIns="45720" tIns="18288" bIns="18288">
            <a:spAutoFit/>
          </a:bodyPr>
          <a:lstStyle/>
          <a:p>
            <a:pPr algn="l"/>
            <a:r>
              <a:rPr sz="1250" b="1" i="0">
                <a:solidFill>
                  <a:srgbClr val="1F2A44"/>
                </a:solidFill>
                <a:latin typeface="Calibri"/>
              </a:rPr>
              <a:t>Ramus ischiopubicus</a:t>
            </a:r>
          </a:p>
        </p:txBody>
      </p:sp>
      <p:cxnSp>
        <p:nvCxnSpPr>
          <p:cNvPr id="26" name="Connector 25"/>
          <p:cNvCxnSpPr/>
          <p:nvPr/>
        </p:nvCxnSpPr>
        <p:spPr>
          <a:xfrm flipH="1">
            <a:off x="6709732" y="2421471"/>
            <a:ext cx="3195963"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6664012" y="2375751"/>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05695" y="2650071"/>
            <a:ext cx="2057400" cy="310896"/>
          </a:xfrm>
          <a:prstGeom prst="rect">
            <a:avLst/>
          </a:prstGeom>
          <a:noFill/>
        </p:spPr>
        <p:txBody>
          <a:bodyPr wrap="square" anchor="ctr" lIns="45720" rIns="45720" tIns="18288" bIns="18288">
            <a:spAutoFit/>
          </a:bodyPr>
          <a:lstStyle/>
          <a:p>
            <a:pPr algn="l"/>
            <a:r>
              <a:rPr sz="1250" b="1" i="0">
                <a:solidFill>
                  <a:srgbClr val="1F2A44"/>
                </a:solidFill>
                <a:latin typeface="Calibri"/>
              </a:rPr>
              <a:t>Membrana perinei</a:t>
            </a:r>
          </a:p>
        </p:txBody>
      </p:sp>
      <p:cxnSp>
        <p:nvCxnSpPr>
          <p:cNvPr id="29" name="Connector 28"/>
          <p:cNvCxnSpPr/>
          <p:nvPr/>
        </p:nvCxnSpPr>
        <p:spPr>
          <a:xfrm flipH="1" flipV="1">
            <a:off x="7400845" y="2695722"/>
            <a:ext cx="2504850" cy="109797"/>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7355125" y="2650002"/>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05695" y="3297207"/>
            <a:ext cx="2057400" cy="310896"/>
          </a:xfrm>
          <a:prstGeom prst="rect">
            <a:avLst/>
          </a:prstGeom>
          <a:noFill/>
        </p:spPr>
        <p:txBody>
          <a:bodyPr wrap="square" anchor="ctr" lIns="45720" rIns="45720" tIns="18288" bIns="18288">
            <a:spAutoFit/>
          </a:bodyPr>
          <a:lstStyle/>
          <a:p>
            <a:pPr algn="l"/>
            <a:r>
              <a:rPr sz="1250" b="1" i="0">
                <a:solidFill>
                  <a:srgbClr val="1F2A44"/>
                </a:solidFill>
                <a:latin typeface="Calibri"/>
              </a:rPr>
              <a:t>M. levator ani</a:t>
            </a:r>
          </a:p>
        </p:txBody>
      </p:sp>
      <p:cxnSp>
        <p:nvCxnSpPr>
          <p:cNvPr id="32" name="Connector 31"/>
          <p:cNvCxnSpPr/>
          <p:nvPr/>
        </p:nvCxnSpPr>
        <p:spPr>
          <a:xfrm flipH="1">
            <a:off x="7335024" y="3452655"/>
            <a:ext cx="2570671"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289304" y="340693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05695" y="4054141"/>
            <a:ext cx="2057400" cy="310896"/>
          </a:xfrm>
          <a:prstGeom prst="rect">
            <a:avLst/>
          </a:prstGeom>
          <a:noFill/>
        </p:spPr>
        <p:txBody>
          <a:bodyPr wrap="square" anchor="ctr" lIns="45720" rIns="45720" tIns="18288" bIns="18288">
            <a:spAutoFit/>
          </a:bodyPr>
          <a:lstStyle/>
          <a:p>
            <a:pPr algn="l"/>
            <a:r>
              <a:rPr sz="1250" b="1" i="0">
                <a:solidFill>
                  <a:srgbClr val="1F2A44"/>
                </a:solidFill>
                <a:latin typeface="Calibri"/>
              </a:rPr>
              <a:t>M. sphincter ani externus</a:t>
            </a:r>
          </a:p>
        </p:txBody>
      </p:sp>
      <p:cxnSp>
        <p:nvCxnSpPr>
          <p:cNvPr id="35" name="Connector 34"/>
          <p:cNvCxnSpPr/>
          <p:nvPr/>
        </p:nvCxnSpPr>
        <p:spPr>
          <a:xfrm flipH="1">
            <a:off x="8717250" y="4209589"/>
            <a:ext cx="1188445"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8671530" y="416386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72200" y="4491158"/>
            <a:ext cx="3642055" cy="256032"/>
          </a:xfrm>
          <a:prstGeom prst="rect">
            <a:avLst/>
          </a:prstGeom>
          <a:noFill/>
        </p:spPr>
        <p:txBody>
          <a:bodyPr wrap="square" anchor="t" lIns="45720" rIns="45720" tIns="18288" bIns="18288">
            <a:spAutoFit/>
          </a:bodyPr>
          <a:lstStyle/>
          <a:p>
            <a:pPr algn="ctr"/>
            <a:r>
              <a:rPr sz="1050" b="0" i="1">
                <a:solidFill>
                  <a:srgbClr val="555B66"/>
                </a:solidFill>
                <a:latin typeface="Calibri"/>
              </a:rPr>
              <a:t>Fig. 1 – Muro S. ve ark., 2025 (PMC12229694, CC BY)</a:t>
            </a:r>
          </a:p>
        </p:txBody>
      </p:sp>
      <p:sp>
        <p:nvSpPr>
          <p:cNvPr id="38" name="Rectangle 37"/>
          <p:cNvSpPr/>
          <p:nvPr/>
        </p:nvSpPr>
        <p:spPr>
          <a:xfrm>
            <a:off x="274320" y="5184648"/>
            <a:ext cx="11643055" cy="91440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212080"/>
            <a:ext cx="11460175" cy="914400"/>
          </a:xfrm>
          <a:prstGeom prst="rect">
            <a:avLst/>
          </a:prstGeom>
          <a:noFill/>
        </p:spPr>
        <p:txBody>
          <a:bodyPr wrap="square">
            <a:spAutoFit/>
          </a:bodyPr>
          <a:lstStyle/>
          <a:p>
            <a:pPr>
              <a:spcAft>
                <a:spcPts val="200"/>
              </a:spcAft>
            </a:pPr>
            <a:r>
              <a:rPr sz="1600">
                <a:solidFill>
                  <a:srgbClr val="1F2A44"/>
                </a:solidFill>
                <a:latin typeface="Calibri"/>
              </a:rPr>
              <a:t>• Atlas çiziminde gördüğünüz kaslar kadavrada: m. bulbospongiosus, m. ischiocavernosus, m. transversus perinei superficialis.</a:t>
            </a:r>
          </a:p>
          <a:p>
            <a:pPr>
              <a:spcAft>
                <a:spcPts val="200"/>
              </a:spcAft>
            </a:pPr>
            <a:r>
              <a:rPr sz="1600">
                <a:solidFill>
                  <a:srgbClr val="1F2A44"/>
                </a:solidFill>
                <a:latin typeface="Calibri"/>
              </a:rPr>
              <a:t>• Bu kaslar kaldırılınca membrana perinei görülür; bulbus penis bu levhanın alt yüzüne oturur.</a:t>
            </a:r>
          </a:p>
        </p:txBody>
      </p:sp>
      <p:cxnSp>
        <p:nvCxnSpPr>
          <p:cNvPr id="40" name="Connector 3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Muro S., Chang L., Tharnmanularp S. et al. Presence of smooth muscle continuous with the rectal and vaginal walls in the deep perineal space prompts reconsideration of the deep transverse perineal muscle. Sci Rep. 2025 Jul 3;15:23730. doi: 10.1038/s41598-025-09585-9 PMCID: PMC12229694. Lisans: CC BY.</a:t>
            </a:r>
          </a:p>
        </p:txBody>
      </p:sp>
      <p:sp>
        <p:nvSpPr>
          <p:cNvPr id="42" name="TextBox 41"/>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Kadavrada clitoris ve bulbus vestibuli</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Kadın perinesi, yüzeyel aralık açılmış</a:t>
            </a:r>
          </a:p>
        </p:txBody>
      </p:sp>
      <p:sp>
        <p:nvSpPr>
          <p:cNvPr id="5" name="TextBox 4"/>
          <p:cNvSpPr txBox="1"/>
          <p:nvPr/>
        </p:nvSpPr>
        <p:spPr>
          <a:xfrm>
            <a:off x="9921240" y="109728"/>
            <a:ext cx="2057400" cy="310896"/>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KADAVRA</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pic>
        <p:nvPicPr>
          <p:cNvPr id="7" name="Picture 6" descr="diagnostics-11-00221-g004.jpg"/>
          <p:cNvPicPr>
            <a:picLocks noChangeAspect="1"/>
          </p:cNvPicPr>
          <p:nvPr/>
        </p:nvPicPr>
        <p:blipFill>
          <a:blip r:embed="rId2"/>
          <a:stretch>
            <a:fillRect/>
          </a:stretch>
        </p:blipFill>
        <p:spPr>
          <a:xfrm>
            <a:off x="4046618" y="1097280"/>
            <a:ext cx="3549818" cy="3739896"/>
          </a:xfrm>
          <a:prstGeom prst="rect">
            <a:avLst/>
          </a:prstGeom>
        </p:spPr>
      </p:pic>
      <p:sp>
        <p:nvSpPr>
          <p:cNvPr id="8" name="TextBox 7"/>
          <p:cNvSpPr txBox="1"/>
          <p:nvPr/>
        </p:nvSpPr>
        <p:spPr>
          <a:xfrm>
            <a:off x="274320" y="1933315"/>
            <a:ext cx="2743200" cy="310896"/>
          </a:xfrm>
          <a:prstGeom prst="rect">
            <a:avLst/>
          </a:prstGeom>
          <a:noFill/>
        </p:spPr>
        <p:txBody>
          <a:bodyPr wrap="square" anchor="ctr" lIns="45720" rIns="45720" tIns="18288" bIns="18288">
            <a:spAutoFit/>
          </a:bodyPr>
          <a:lstStyle/>
          <a:p>
            <a:pPr algn="r"/>
            <a:r>
              <a:rPr sz="1300" b="1" i="0">
                <a:solidFill>
                  <a:srgbClr val="1F2A44"/>
                </a:solidFill>
                <a:latin typeface="Calibri"/>
              </a:rPr>
              <a:t>Corpus clitoridis</a:t>
            </a:r>
          </a:p>
        </p:txBody>
      </p:sp>
      <p:cxnSp>
        <p:nvCxnSpPr>
          <p:cNvPr id="9" name="Connector 8"/>
          <p:cNvCxnSpPr/>
          <p:nvPr/>
        </p:nvCxnSpPr>
        <p:spPr>
          <a:xfrm>
            <a:off x="3017520" y="2088763"/>
            <a:ext cx="2652459"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624259" y="2043043"/>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2585742"/>
            <a:ext cx="2743200" cy="310896"/>
          </a:xfrm>
          <a:prstGeom prst="rect">
            <a:avLst/>
          </a:prstGeom>
          <a:noFill/>
        </p:spPr>
        <p:txBody>
          <a:bodyPr wrap="square" anchor="ctr" lIns="45720" rIns="45720" tIns="18288" bIns="18288">
            <a:spAutoFit/>
          </a:bodyPr>
          <a:lstStyle/>
          <a:p>
            <a:pPr algn="r"/>
            <a:r>
              <a:rPr sz="1300" b="1" i="0">
                <a:solidFill>
                  <a:srgbClr val="1F2A44"/>
                </a:solidFill>
                <a:latin typeface="Calibri"/>
              </a:rPr>
              <a:t>Glans clitoridis</a:t>
            </a:r>
          </a:p>
        </p:txBody>
      </p:sp>
      <p:cxnSp>
        <p:nvCxnSpPr>
          <p:cNvPr id="12" name="Connector 11"/>
          <p:cNvCxnSpPr/>
          <p:nvPr/>
        </p:nvCxnSpPr>
        <p:spPr>
          <a:xfrm>
            <a:off x="3017520" y="2741190"/>
            <a:ext cx="2344226"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316026" y="269547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099464"/>
            <a:ext cx="2743200" cy="310896"/>
          </a:xfrm>
          <a:prstGeom prst="rect">
            <a:avLst/>
          </a:prstGeom>
          <a:noFill/>
        </p:spPr>
        <p:txBody>
          <a:bodyPr wrap="square" anchor="ctr" lIns="45720" rIns="45720" tIns="18288" bIns="18288">
            <a:spAutoFit/>
          </a:bodyPr>
          <a:lstStyle/>
          <a:p>
            <a:pPr algn="r"/>
            <a:r>
              <a:rPr sz="1300" b="1" i="0">
                <a:solidFill>
                  <a:srgbClr val="1F2A44"/>
                </a:solidFill>
                <a:latin typeface="Calibri"/>
              </a:rPr>
              <a:t>Labium majus pudendi</a:t>
            </a:r>
          </a:p>
        </p:txBody>
      </p:sp>
      <p:cxnSp>
        <p:nvCxnSpPr>
          <p:cNvPr id="15" name="Connector 14"/>
          <p:cNvCxnSpPr/>
          <p:nvPr/>
        </p:nvCxnSpPr>
        <p:spPr>
          <a:xfrm>
            <a:off x="3017520" y="3254912"/>
            <a:ext cx="2056542"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028342" y="3209192"/>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5535" y="1162732"/>
            <a:ext cx="3291840" cy="310896"/>
          </a:xfrm>
          <a:prstGeom prst="rect">
            <a:avLst/>
          </a:prstGeom>
          <a:noFill/>
        </p:spPr>
        <p:txBody>
          <a:bodyPr wrap="square" anchor="ctr" lIns="45720" rIns="45720" tIns="18288" bIns="18288">
            <a:spAutoFit/>
          </a:bodyPr>
          <a:lstStyle/>
          <a:p>
            <a:pPr algn="l"/>
            <a:r>
              <a:rPr sz="1300" b="1" i="0">
                <a:solidFill>
                  <a:srgbClr val="1F2A44"/>
                </a:solidFill>
                <a:latin typeface="Calibri"/>
              </a:rPr>
              <a:t>Lig. suspensorium clitoridis</a:t>
            </a:r>
          </a:p>
        </p:txBody>
      </p:sp>
      <p:cxnSp>
        <p:nvCxnSpPr>
          <p:cNvPr id="18" name="Connector 17"/>
          <p:cNvCxnSpPr/>
          <p:nvPr/>
        </p:nvCxnSpPr>
        <p:spPr>
          <a:xfrm flipH="1">
            <a:off x="5880605" y="1318180"/>
            <a:ext cx="2744930"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834885" y="127246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2118255"/>
            <a:ext cx="3291840" cy="310896"/>
          </a:xfrm>
          <a:prstGeom prst="rect">
            <a:avLst/>
          </a:prstGeom>
          <a:noFill/>
        </p:spPr>
        <p:txBody>
          <a:bodyPr wrap="square" anchor="ctr" lIns="45720" rIns="45720" tIns="18288" bIns="18288">
            <a:spAutoFit/>
          </a:bodyPr>
          <a:lstStyle/>
          <a:p>
            <a:pPr algn="l"/>
            <a:r>
              <a:rPr sz="1300" b="1" i="0">
                <a:solidFill>
                  <a:srgbClr val="1F2A44"/>
                </a:solidFill>
                <a:latin typeface="Calibri"/>
              </a:rPr>
              <a:t>Crus clitoridis</a:t>
            </a:r>
          </a:p>
        </p:txBody>
      </p:sp>
      <p:cxnSp>
        <p:nvCxnSpPr>
          <p:cNvPr id="21" name="Connector 20"/>
          <p:cNvCxnSpPr/>
          <p:nvPr/>
        </p:nvCxnSpPr>
        <p:spPr>
          <a:xfrm flipH="1">
            <a:off x="6034722" y="2273703"/>
            <a:ext cx="2590813"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5989002" y="2227983"/>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25535" y="2502303"/>
            <a:ext cx="3291840" cy="310896"/>
          </a:xfrm>
          <a:prstGeom prst="rect">
            <a:avLst/>
          </a:prstGeom>
          <a:noFill/>
        </p:spPr>
        <p:txBody>
          <a:bodyPr wrap="square" anchor="ctr" lIns="45720" rIns="45720" tIns="18288" bIns="18288">
            <a:spAutoFit/>
          </a:bodyPr>
          <a:lstStyle/>
          <a:p>
            <a:pPr algn="l"/>
            <a:r>
              <a:rPr sz="1300" b="1" i="0">
                <a:solidFill>
                  <a:srgbClr val="1F2A44"/>
                </a:solidFill>
                <a:latin typeface="Calibri"/>
              </a:rPr>
              <a:t>Crus clitoridis</a:t>
            </a:r>
          </a:p>
        </p:txBody>
      </p:sp>
      <p:cxnSp>
        <p:nvCxnSpPr>
          <p:cNvPr id="24" name="Connector 23"/>
          <p:cNvCxnSpPr/>
          <p:nvPr/>
        </p:nvCxnSpPr>
        <p:spPr>
          <a:xfrm flipH="1" flipV="1">
            <a:off x="6615228" y="2438094"/>
            <a:ext cx="2010307" cy="219657"/>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569508" y="2392374"/>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25535" y="2886351"/>
            <a:ext cx="3291840" cy="310896"/>
          </a:xfrm>
          <a:prstGeom prst="rect">
            <a:avLst/>
          </a:prstGeom>
          <a:noFill/>
        </p:spPr>
        <p:txBody>
          <a:bodyPr wrap="square" anchor="ctr" lIns="45720" rIns="45720" tIns="18288" bIns="18288">
            <a:spAutoFit/>
          </a:bodyPr>
          <a:lstStyle/>
          <a:p>
            <a:pPr algn="l"/>
            <a:r>
              <a:rPr sz="1300" b="1" i="0">
                <a:solidFill>
                  <a:srgbClr val="1F2A44"/>
                </a:solidFill>
                <a:latin typeface="Calibri"/>
              </a:rPr>
              <a:t>Bulbus vestibuli (m. bulbospongiosus altında)</a:t>
            </a:r>
          </a:p>
        </p:txBody>
      </p:sp>
      <p:cxnSp>
        <p:nvCxnSpPr>
          <p:cNvPr id="27" name="Connector 26"/>
          <p:cNvCxnSpPr/>
          <p:nvPr/>
        </p:nvCxnSpPr>
        <p:spPr>
          <a:xfrm flipH="1" flipV="1">
            <a:off x="6384053" y="2746327"/>
            <a:ext cx="2241482" cy="295472"/>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338333" y="2700607"/>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25535" y="3325501"/>
            <a:ext cx="3291840" cy="310896"/>
          </a:xfrm>
          <a:prstGeom prst="rect">
            <a:avLst/>
          </a:prstGeom>
          <a:noFill/>
        </p:spPr>
        <p:txBody>
          <a:bodyPr wrap="square" anchor="ctr" lIns="45720" rIns="45720" tIns="18288" bIns="18288">
            <a:spAutoFit/>
          </a:bodyPr>
          <a:lstStyle/>
          <a:p>
            <a:pPr algn="l"/>
            <a:r>
              <a:rPr sz="1300" b="1" i="0">
                <a:solidFill>
                  <a:srgbClr val="1F2A44"/>
                </a:solidFill>
                <a:latin typeface="Calibri"/>
              </a:rPr>
              <a:t>M. transversus perinei superf.</a:t>
            </a:r>
          </a:p>
        </p:txBody>
      </p:sp>
      <p:cxnSp>
        <p:nvCxnSpPr>
          <p:cNvPr id="30" name="Connector 29"/>
          <p:cNvCxnSpPr/>
          <p:nvPr/>
        </p:nvCxnSpPr>
        <p:spPr>
          <a:xfrm flipH="1">
            <a:off x="6877226" y="3480949"/>
            <a:ext cx="1748309"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6831506" y="343522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246120" y="4855464"/>
            <a:ext cx="5150815" cy="256032"/>
          </a:xfrm>
          <a:prstGeom prst="rect">
            <a:avLst/>
          </a:prstGeom>
          <a:noFill/>
        </p:spPr>
        <p:txBody>
          <a:bodyPr wrap="square" anchor="t" lIns="45720" rIns="45720" tIns="18288" bIns="18288">
            <a:spAutoFit/>
          </a:bodyPr>
          <a:lstStyle/>
          <a:p>
            <a:pPr algn="ctr"/>
            <a:r>
              <a:rPr sz="1100" b="0" i="1">
                <a:solidFill>
                  <a:srgbClr val="555B66"/>
                </a:solidFill>
                <a:latin typeface="Calibri"/>
              </a:rPr>
              <a:t>Figure 4 – Garner D. K. ve ark., 2021 (PMC7913006, CC BY)</a:t>
            </a:r>
          </a:p>
        </p:txBody>
      </p:sp>
      <p:sp>
        <p:nvSpPr>
          <p:cNvPr id="33" name="Rectangle 32"/>
          <p:cNvSpPr/>
          <p:nvPr/>
        </p:nvSpPr>
        <p:spPr>
          <a:xfrm>
            <a:off x="274320" y="5138928"/>
            <a:ext cx="11643055" cy="960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 y="5166360"/>
            <a:ext cx="11460175" cy="960120"/>
          </a:xfrm>
          <a:prstGeom prst="rect">
            <a:avLst/>
          </a:prstGeom>
          <a:noFill/>
        </p:spPr>
        <p:txBody>
          <a:bodyPr wrap="square">
            <a:spAutoFit/>
          </a:bodyPr>
          <a:lstStyle/>
          <a:p>
            <a:pPr>
              <a:spcAft>
                <a:spcPts val="200"/>
              </a:spcAft>
            </a:pPr>
            <a:r>
              <a:rPr sz="1600">
                <a:solidFill>
                  <a:srgbClr val="1F2A44"/>
                </a:solidFill>
                <a:latin typeface="Calibri"/>
              </a:rPr>
              <a:t>• Clitoris'in glans, corpus ve crura'sı; bulbus vestibuli m. bulbospongiosus'un altında.</a:t>
            </a:r>
          </a:p>
          <a:p>
            <a:pPr>
              <a:spcAft>
                <a:spcPts val="200"/>
              </a:spcAft>
            </a:pPr>
            <a:r>
              <a:rPr sz="1600">
                <a:solidFill>
                  <a:srgbClr val="1F2A44"/>
                </a:solidFill>
                <a:latin typeface="Calibri"/>
              </a:rPr>
              <a:t>• Arkada m. transversus perinei superficialis.</a:t>
            </a:r>
          </a:p>
        </p:txBody>
      </p:sp>
      <p:cxnSp>
        <p:nvCxnSpPr>
          <p:cNvPr id="35" name="Connector 3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Garner D. K., Patel A. B., Hung J. et al. Midline and Mediolateral Episiotomy: Risk Assessment Based on Clinical Anatomy. Diagnostics (Basel). 2021 Feb 2;11(2):221. doi: 10.3390/diagnostics11020221 PMCID: PMC7913006. Lisans: CC BY.</a:t>
            </a:r>
          </a:p>
        </p:txBody>
      </p:sp>
      <p:sp>
        <p:nvSpPr>
          <p:cNvPr id="37" name="TextBox 36"/>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Klinik bağlantılar – regio urogenitalis</a:t>
            </a:r>
          </a:p>
        </p:txBody>
      </p:sp>
      <p:sp>
        <p:nvSpPr>
          <p:cNvPr id="4" name="TextBox 3"/>
          <p:cNvSpPr txBox="1"/>
          <p:nvPr/>
        </p:nvSpPr>
        <p:spPr>
          <a:xfrm>
            <a:off x="9921240" y="109728"/>
            <a:ext cx="2057400" cy="310896"/>
          </a:xfrm>
          <a:prstGeom prst="rect">
            <a:avLst/>
          </a:prstGeom>
          <a:solidFill>
            <a:srgbClr val="C26A00"/>
          </a:solidFill>
        </p:spPr>
        <p:txBody>
          <a:bodyPr wrap="square" anchor="ctr" lIns="45720" rIns="45720" tIns="18288" bIns="18288">
            <a:spAutoFit/>
          </a:bodyPr>
          <a:lstStyle/>
          <a:p>
            <a:pPr algn="ctr"/>
            <a:r>
              <a:rPr sz="1100" b="1" i="0">
                <a:solidFill>
                  <a:srgbClr val="FFFFFF"/>
                </a:solidFill>
                <a:latin typeface="Calibri"/>
              </a:rPr>
              <a:t>KLİNİK BAĞLANTI</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UROGENITALIS</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1800">
                <a:solidFill>
                  <a:srgbClr val="1F2A44"/>
                </a:solidFill>
                <a:latin typeface="Calibri"/>
              </a:rPr>
              <a:t>• </a:t>
            </a:r>
            <a:r>
              <a:rPr sz="1800">
                <a:solidFill>
                  <a:srgbClr val="1F2A44"/>
                </a:solidFill>
                <a:latin typeface="Calibri"/>
              </a:rPr>
              <a:t>Urethra rüptürü (bulbar)</a:t>
            </a:r>
            <a:r>
              <a:rPr sz="1800">
                <a:solidFill>
                  <a:srgbClr val="1F2A44"/>
                </a:solidFill>
                <a:latin typeface="Calibri"/>
              </a:rPr>
              <a:t>: idrar Colles fasyası altında yayılır → perine, scrotum, penis ve karın ön duvarı şişer; </a:t>
            </a:r>
            <a:r>
              <a:rPr sz="1800">
                <a:solidFill>
                  <a:srgbClr val="1F2A44"/>
                </a:solidFill>
                <a:latin typeface="Calibri"/>
              </a:rPr>
              <a:t>uyluğa geçmez</a:t>
            </a:r>
            <a:r>
              <a:rPr sz="1800">
                <a:solidFill>
                  <a:srgbClr val="1F2A44"/>
                </a:solidFill>
                <a:latin typeface="Calibri"/>
              </a:rPr>
              <a:t>.</a:t>
            </a:r>
          </a:p>
          <a:p>
            <a:pPr>
              <a:spcAft>
                <a:spcPts val="600"/>
              </a:spcAft>
            </a:pPr>
            <a:r>
              <a:rPr sz="1800">
                <a:solidFill>
                  <a:srgbClr val="1F2A44"/>
                </a:solidFill>
                <a:latin typeface="Calibri"/>
              </a:rPr>
              <a:t>• </a:t>
            </a:r>
            <a:r>
              <a:rPr sz="1800">
                <a:solidFill>
                  <a:srgbClr val="1F2A44"/>
                </a:solidFill>
                <a:latin typeface="Calibri"/>
              </a:rPr>
              <a:t>Bartholin kisti / apsesi</a:t>
            </a:r>
            <a:r>
              <a:rPr sz="1800">
                <a:solidFill>
                  <a:srgbClr val="1F2A44"/>
                </a:solidFill>
                <a:latin typeface="Calibri"/>
              </a:rPr>
              <a:t>: gl. vestibularis major kanalının tıkanması; ostium vaginae'nin arka-yanında şişlik.</a:t>
            </a:r>
          </a:p>
          <a:p>
            <a:pPr>
              <a:spcAft>
                <a:spcPts val="600"/>
              </a:spcAft>
            </a:pPr>
            <a:r>
              <a:rPr sz="1800">
                <a:solidFill>
                  <a:srgbClr val="1F2A44"/>
                </a:solidFill>
                <a:latin typeface="Calibri"/>
              </a:rPr>
              <a:t>• </a:t>
            </a:r>
            <a:r>
              <a:rPr sz="1800">
                <a:solidFill>
                  <a:srgbClr val="1F2A44"/>
                </a:solidFill>
                <a:latin typeface="Calibri"/>
              </a:rPr>
              <a:t>Fournier gangreni</a:t>
            </a:r>
            <a:r>
              <a:rPr sz="1800">
                <a:solidFill>
                  <a:srgbClr val="1F2A44"/>
                </a:solidFill>
                <a:latin typeface="Calibri"/>
              </a:rPr>
              <a:t>: perine fasyaları boyunca hızla yayılan nekrotizan enfeksiyon.</a:t>
            </a:r>
          </a:p>
          <a:p>
            <a:pPr>
              <a:spcAft>
                <a:spcPts val="600"/>
              </a:spcAft>
            </a:pPr>
            <a:r>
              <a:rPr sz="1800">
                <a:solidFill>
                  <a:srgbClr val="1F2A44"/>
                </a:solidFill>
                <a:latin typeface="Calibri"/>
              </a:rPr>
              <a:t>• </a:t>
            </a:r>
            <a:r>
              <a:rPr sz="1800">
                <a:solidFill>
                  <a:srgbClr val="1F2A44"/>
                </a:solidFill>
                <a:latin typeface="Calibri"/>
              </a:rPr>
              <a:t>Epizyotomi</a:t>
            </a:r>
            <a:r>
              <a:rPr sz="1800">
                <a:solidFill>
                  <a:srgbClr val="1F2A44"/>
                </a:solidFill>
                <a:latin typeface="Calibri"/>
              </a:rPr>
              <a:t>: doğumda perinenin kontrollü kesisi; mediolateral kesi anal sfinkteri korur.</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486400" cy="457200"/>
          </a:xfrm>
          <a:prstGeom prst="rect">
            <a:avLst/>
          </a:prstGeom>
          <a:noFill/>
        </p:spPr>
        <p:txBody>
          <a:bodyPr wrap="square" anchor="t" lIns="45720" rIns="45720" tIns="18288" bIns="18288">
            <a:spAutoFit/>
          </a:bodyPr>
          <a:lstStyle/>
          <a:p>
            <a:pPr algn="l"/>
            <a:r>
              <a:rPr sz="2000" b="1" i="0">
                <a:solidFill>
                  <a:srgbClr val="C8D1E6"/>
                </a:solidFill>
                <a:latin typeface="Calibri"/>
              </a:rPr>
              <a:t>BÖLÜM 4</a:t>
            </a:r>
          </a:p>
        </p:txBody>
      </p:sp>
      <p:sp>
        <p:nvSpPr>
          <p:cNvPr id="4" name="TextBox 3"/>
          <p:cNvSpPr txBox="1"/>
          <p:nvPr/>
        </p:nvSpPr>
        <p:spPr>
          <a:xfrm>
            <a:off x="548640" y="1234440"/>
            <a:ext cx="5669280" cy="1371600"/>
          </a:xfrm>
          <a:prstGeom prst="rect">
            <a:avLst/>
          </a:prstGeom>
          <a:noFill/>
        </p:spPr>
        <p:txBody>
          <a:bodyPr wrap="square" anchor="t" lIns="45720" rIns="45720" tIns="18288" bIns="18288">
            <a:spAutoFit/>
          </a:bodyPr>
          <a:lstStyle/>
          <a:p>
            <a:pPr algn="l"/>
            <a:r>
              <a:rPr sz="4000" b="1" i="0">
                <a:solidFill>
                  <a:srgbClr val="FFFFFF"/>
                </a:solidFill>
                <a:latin typeface="Calibri"/>
              </a:rPr>
              <a:t>Regio analis</a:t>
            </a:r>
          </a:p>
        </p:txBody>
      </p:sp>
      <p:sp>
        <p:nvSpPr>
          <p:cNvPr id="5" name="TextBox 4"/>
          <p:cNvSpPr txBox="1"/>
          <p:nvPr/>
        </p:nvSpPr>
        <p:spPr>
          <a:xfrm>
            <a:off x="548640" y="2697480"/>
            <a:ext cx="5486400" cy="640080"/>
          </a:xfrm>
          <a:prstGeom prst="rect">
            <a:avLst/>
          </a:prstGeom>
          <a:noFill/>
        </p:spPr>
        <p:txBody>
          <a:bodyPr wrap="square" anchor="t" lIns="45720" rIns="45720" tIns="18288" bIns="18288">
            <a:spAutoFit/>
          </a:bodyPr>
          <a:lstStyle/>
          <a:p>
            <a:pPr algn="l"/>
            <a:r>
              <a:rPr sz="1700" b="0" i="1">
                <a:solidFill>
                  <a:srgbClr val="C8D1E6"/>
                </a:solidFill>
                <a:latin typeface="Calibri"/>
              </a:rPr>
              <a:t>Fossa ischioanalis ve anal sfinkterler</a:t>
            </a:r>
          </a:p>
        </p:txBody>
      </p:sp>
      <p:sp>
        <p:nvSpPr>
          <p:cNvPr id="6" name="TextBox 5"/>
          <p:cNvSpPr txBox="1"/>
          <p:nvPr/>
        </p:nvSpPr>
        <p:spPr>
          <a:xfrm>
            <a:off x="548640" y="3429000"/>
            <a:ext cx="5577840" cy="2926080"/>
          </a:xfrm>
          <a:prstGeom prst="rect">
            <a:avLst/>
          </a:prstGeom>
          <a:noFill/>
        </p:spPr>
        <p:txBody>
          <a:bodyPr wrap="square">
            <a:spAutoFit/>
          </a:bodyPr>
          <a:lstStyle/>
          <a:p>
            <a:pPr>
              <a:spcAft>
                <a:spcPts val="600"/>
              </a:spcAft>
            </a:pPr>
            <a:r>
              <a:rPr sz="1700">
                <a:solidFill>
                  <a:srgbClr val="FFFFFF"/>
                </a:solidFill>
                <a:latin typeface="Calibri"/>
              </a:rPr>
              <a:t>• Fossa ischioanalis</a:t>
            </a:r>
          </a:p>
          <a:p>
            <a:pPr>
              <a:spcAft>
                <a:spcPts val="600"/>
              </a:spcAft>
            </a:pPr>
            <a:r>
              <a:rPr sz="1700">
                <a:solidFill>
                  <a:srgbClr val="FFFFFF"/>
                </a:solidFill>
                <a:latin typeface="Calibri"/>
              </a:rPr>
              <a:t>• Canalis analis</a:t>
            </a:r>
          </a:p>
          <a:p>
            <a:pPr>
              <a:spcAft>
                <a:spcPts val="600"/>
              </a:spcAft>
            </a:pPr>
            <a:r>
              <a:rPr sz="1700">
                <a:solidFill>
                  <a:srgbClr val="FFFFFF"/>
                </a:solidFill>
                <a:latin typeface="Calibri"/>
              </a:rPr>
              <a:t>• M. sphincter ani externus</a:t>
            </a:r>
          </a:p>
        </p:txBody>
      </p:sp>
      <p:pic>
        <p:nvPicPr>
          <p:cNvPr id="7" name="Picture 6" descr="12565_2019_492_Fig2_HTML.jpg"/>
          <p:cNvPicPr>
            <a:picLocks noChangeAspect="1"/>
          </p:cNvPicPr>
          <p:nvPr/>
        </p:nvPicPr>
        <p:blipFill>
          <a:blip r:embed="rId2"/>
          <a:stretch>
            <a:fillRect/>
          </a:stretch>
        </p:blipFill>
        <p:spPr>
          <a:xfrm>
            <a:off x="7433306" y="457200"/>
            <a:ext cx="3741427" cy="5577840"/>
          </a:xfrm>
          <a:prstGeom prst="rect">
            <a:avLst/>
          </a:prstGeom>
        </p:spPr>
      </p:pic>
      <p:sp>
        <p:nvSpPr>
          <p:cNvPr id="8" name="TextBox 7"/>
          <p:cNvSpPr txBox="1"/>
          <p:nvPr/>
        </p:nvSpPr>
        <p:spPr>
          <a:xfrm>
            <a:off x="6675120" y="6080760"/>
            <a:ext cx="5257800" cy="274320"/>
          </a:xfrm>
          <a:prstGeom prst="rect">
            <a:avLst/>
          </a:prstGeom>
          <a:noFill/>
        </p:spPr>
        <p:txBody>
          <a:bodyPr wrap="square" anchor="t" lIns="45720" rIns="45720" tIns="18288" bIns="18288">
            <a:spAutoFit/>
          </a:bodyPr>
          <a:lstStyle/>
          <a:p>
            <a:pPr algn="ctr"/>
            <a:r>
              <a:rPr sz="900" b="0" i="1">
                <a:solidFill>
                  <a:srgbClr val="555B66"/>
                </a:solidFill>
                <a:latin typeface="Calibri"/>
              </a:rPr>
              <a:t>Baramee P. ve ark., 2019 (PMC6942605, CC BY)</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Fossa ischioanalis</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Anüsün iki yanında, yağ dolu kama biçimli boşluk</a:t>
            </a:r>
          </a:p>
        </p:txBody>
      </p:sp>
      <p:sp>
        <p:nvSpPr>
          <p:cNvPr id="5" name="TextBox 4"/>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TABLO</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ANALIS</a:t>
            </a:r>
          </a:p>
        </p:txBody>
      </p:sp>
      <p:graphicFrame>
        <p:nvGraphicFramePr>
          <p:cNvPr id="7" name="Table 6"/>
          <p:cNvGraphicFramePr>
            <a:graphicFrameLocks noGrp="1"/>
          </p:cNvGraphicFramePr>
          <p:nvPr/>
        </p:nvGraphicFramePr>
        <p:xfrm>
          <a:off x="274320" y="1143000"/>
          <a:ext cx="11640312" cy="4846320"/>
        </p:xfrm>
        <a:graphic>
          <a:graphicData uri="http://schemas.openxmlformats.org/drawingml/2006/table">
            <a:tbl>
              <a:tblPr firstRow="1" bandRow="1">
                <a:tableStyleId>{5C22544A-7EE6-4342-B048-85BDC9FD1C3A}</a:tableStyleId>
              </a:tblPr>
              <a:tblGrid>
                <a:gridCol w="2383056"/>
                <a:gridCol w="9257256"/>
              </a:tblGrid>
              <a:tr h="692331">
                <a:tc>
                  <a:txBody>
                    <a:bodyPr/>
                    <a:lstStyle/>
                    <a:p/>
                  </a:txBody>
                  <a:tcPr>
                    <a:solidFill>
                      <a:srgbClr val="1F2A44"/>
                    </a:solidFill>
                  </a:tcPr>
                </a:tc>
                <a:tc>
                  <a:txBody>
                    <a:bodyPr/>
                    <a:lstStyle/>
                    <a:p>
                      <a:r>
                        <a:rPr sz="1500" b="1">
                          <a:solidFill>
                            <a:srgbClr val="FFFFFF"/>
                          </a:solidFill>
                          <a:latin typeface="Calibri"/>
                        </a:rPr>
                        <a:t>Yapı</a:t>
                      </a:r>
                    </a:p>
                  </a:txBody>
                  <a:tcPr>
                    <a:solidFill>
                      <a:srgbClr val="1F2A44"/>
                    </a:solidFill>
                  </a:tcPr>
                </a:tc>
              </a:tr>
              <a:tr h="692331">
                <a:tc>
                  <a:txBody>
                    <a:bodyPr/>
                    <a:lstStyle/>
                    <a:p>
                      <a:r>
                        <a:rPr sz="1600" b="1">
                          <a:solidFill>
                            <a:srgbClr val="1F2A44"/>
                          </a:solidFill>
                          <a:latin typeface="Calibri"/>
                        </a:rPr>
                        <a:t>Lateral duvar</a:t>
                      </a:r>
                    </a:p>
                  </a:txBody>
                  <a:tcPr marT="27432" marB="27432">
                    <a:solidFill>
                      <a:srgbClr val="F3F4F6"/>
                    </a:solidFill>
                  </a:tcPr>
                </a:tc>
                <a:tc>
                  <a:txBody>
                    <a:bodyPr/>
                    <a:lstStyle/>
                    <a:p>
                      <a:r>
                        <a:rPr sz="1600">
                          <a:solidFill>
                            <a:srgbClr val="1F2A44"/>
                          </a:solidFill>
                          <a:latin typeface="Calibri"/>
                        </a:rPr>
                        <a:t>M. obturatorius internus ve fasyası (</a:t>
                      </a:r>
                      <a:r>
                        <a:rPr sz="1600">
                          <a:solidFill>
                            <a:srgbClr val="1F2A44"/>
                          </a:solidFill>
                          <a:latin typeface="Calibri"/>
                        </a:rPr>
                        <a:t>canalis pudendalis</a:t>
                      </a:r>
                      <a:r>
                        <a:rPr sz="1600">
                          <a:solidFill>
                            <a:srgbClr val="1F2A44"/>
                          </a:solidFill>
                          <a:latin typeface="Calibri"/>
                        </a:rPr>
                        <a:t> burada)</a:t>
                      </a:r>
                    </a:p>
                  </a:txBody>
                  <a:tcPr marT="27432" marB="27432">
                    <a:solidFill>
                      <a:srgbClr val="F3F4F6"/>
                    </a:solidFill>
                  </a:tcPr>
                </a:tc>
              </a:tr>
              <a:tr h="692331">
                <a:tc>
                  <a:txBody>
                    <a:bodyPr/>
                    <a:lstStyle/>
                    <a:p>
                      <a:r>
                        <a:rPr sz="1600" b="1">
                          <a:solidFill>
                            <a:srgbClr val="1F2A44"/>
                          </a:solidFill>
                          <a:latin typeface="Calibri"/>
                        </a:rPr>
                        <a:t>Medial duvar</a:t>
                      </a:r>
                    </a:p>
                  </a:txBody>
                  <a:tcPr marT="27432" marB="27432">
                    <a:solidFill>
                      <a:srgbClr val="FFFFFF"/>
                    </a:solidFill>
                  </a:tcPr>
                </a:tc>
                <a:tc>
                  <a:txBody>
                    <a:bodyPr/>
                    <a:lstStyle/>
                    <a:p>
                      <a:r>
                        <a:rPr sz="1600">
                          <a:solidFill>
                            <a:srgbClr val="1F2A44"/>
                          </a:solidFill>
                          <a:latin typeface="Calibri"/>
                        </a:rPr>
                        <a:t>M. levator ani ve m. sphincter ani externus</a:t>
                      </a:r>
                    </a:p>
                  </a:txBody>
                  <a:tcPr marT="27432" marB="27432">
                    <a:solidFill>
                      <a:srgbClr val="FFFFFF"/>
                    </a:solidFill>
                  </a:tcPr>
                </a:tc>
              </a:tr>
              <a:tr h="692331">
                <a:tc>
                  <a:txBody>
                    <a:bodyPr/>
                    <a:lstStyle/>
                    <a:p>
                      <a:r>
                        <a:rPr sz="1600" b="1">
                          <a:solidFill>
                            <a:srgbClr val="1F2A44"/>
                          </a:solidFill>
                          <a:latin typeface="Calibri"/>
                        </a:rPr>
                        <a:t>Arka</a:t>
                      </a:r>
                    </a:p>
                  </a:txBody>
                  <a:tcPr marT="27432" marB="27432">
                    <a:solidFill>
                      <a:srgbClr val="F3F4F6"/>
                    </a:solidFill>
                  </a:tcPr>
                </a:tc>
                <a:tc>
                  <a:txBody>
                    <a:bodyPr/>
                    <a:lstStyle/>
                    <a:p>
                      <a:r>
                        <a:rPr sz="1600">
                          <a:solidFill>
                            <a:srgbClr val="1F2A44"/>
                          </a:solidFill>
                          <a:latin typeface="Calibri"/>
                        </a:rPr>
                        <a:t>Lig. sacrotuberale ve m. gluteus maximus</a:t>
                      </a:r>
                    </a:p>
                  </a:txBody>
                  <a:tcPr marT="27432" marB="27432">
                    <a:solidFill>
                      <a:srgbClr val="F3F4F6"/>
                    </a:solidFill>
                  </a:tcPr>
                </a:tc>
              </a:tr>
              <a:tr h="692331">
                <a:tc>
                  <a:txBody>
                    <a:bodyPr/>
                    <a:lstStyle/>
                    <a:p>
                      <a:r>
                        <a:rPr sz="1600" b="1">
                          <a:solidFill>
                            <a:srgbClr val="1F2A44"/>
                          </a:solidFill>
                          <a:latin typeface="Calibri"/>
                        </a:rPr>
                        <a:t>Ön</a:t>
                      </a:r>
                    </a:p>
                  </a:txBody>
                  <a:tcPr marT="27432" marB="27432">
                    <a:solidFill>
                      <a:srgbClr val="FFFFFF"/>
                    </a:solidFill>
                  </a:tcPr>
                </a:tc>
                <a:tc>
                  <a:txBody>
                    <a:bodyPr/>
                    <a:lstStyle/>
                    <a:p>
                      <a:r>
                        <a:rPr sz="1600">
                          <a:solidFill>
                            <a:srgbClr val="1F2A44"/>
                          </a:solidFill>
                          <a:latin typeface="Calibri"/>
                        </a:rPr>
                        <a:t>Membrana perinei'nin arka kenarı (üstünden </a:t>
                      </a:r>
                      <a:r>
                        <a:rPr sz="1600">
                          <a:solidFill>
                            <a:srgbClr val="1F2A44"/>
                          </a:solidFill>
                          <a:latin typeface="Calibri"/>
                        </a:rPr>
                        <a:t>recessus anterior</a:t>
                      </a:r>
                      <a:r>
                        <a:rPr sz="1600">
                          <a:solidFill>
                            <a:srgbClr val="1F2A44"/>
                          </a:solidFill>
                          <a:latin typeface="Calibri"/>
                        </a:rPr>
                        <a:t> öne uzanır)</a:t>
                      </a:r>
                    </a:p>
                  </a:txBody>
                  <a:tcPr marT="27432" marB="27432">
                    <a:solidFill>
                      <a:srgbClr val="FFFFFF"/>
                    </a:solidFill>
                  </a:tcPr>
                </a:tc>
              </a:tr>
              <a:tr h="692331">
                <a:tc>
                  <a:txBody>
                    <a:bodyPr/>
                    <a:lstStyle/>
                    <a:p>
                      <a:r>
                        <a:rPr sz="1600" b="1">
                          <a:solidFill>
                            <a:srgbClr val="1F2A44"/>
                          </a:solidFill>
                          <a:latin typeface="Calibri"/>
                        </a:rPr>
                        <a:t>İçerik</a:t>
                      </a:r>
                    </a:p>
                  </a:txBody>
                  <a:tcPr marT="27432" marB="27432">
                    <a:solidFill>
                      <a:srgbClr val="F3F4F6"/>
                    </a:solidFill>
                  </a:tcPr>
                </a:tc>
                <a:tc>
                  <a:txBody>
                    <a:bodyPr/>
                    <a:lstStyle/>
                    <a:p>
                      <a:r>
                        <a:rPr sz="1600">
                          <a:solidFill>
                            <a:srgbClr val="1F2A44"/>
                          </a:solidFill>
                          <a:latin typeface="Calibri"/>
                        </a:rPr>
                        <a:t>Yağ dokusu; n. / a. / v. rectalis inferior; canalis pudendalis içinde n. pudendus ve vasa pudenda interna</a:t>
                      </a:r>
                    </a:p>
                  </a:txBody>
                  <a:tcPr marT="27432" marB="27432">
                    <a:solidFill>
                      <a:srgbClr val="F3F4F6"/>
                    </a:solidFill>
                  </a:tcPr>
                </a:tc>
              </a:tr>
              <a:tr h="692334">
                <a:tc>
                  <a:txBody>
                    <a:bodyPr/>
                    <a:lstStyle/>
                    <a:p>
                      <a:r>
                        <a:rPr sz="1600" b="1">
                          <a:solidFill>
                            <a:srgbClr val="1F2A44"/>
                          </a:solidFill>
                          <a:latin typeface="Calibri"/>
                        </a:rPr>
                        <a:t>Klinik</a:t>
                      </a:r>
                    </a:p>
                  </a:txBody>
                  <a:tcPr marT="27432" marB="27432">
                    <a:solidFill>
                      <a:srgbClr val="FFFFFF"/>
                    </a:solidFill>
                  </a:tcPr>
                </a:tc>
                <a:tc>
                  <a:txBody>
                    <a:bodyPr/>
                    <a:lstStyle/>
                    <a:p>
                      <a:r>
                        <a:rPr sz="1600">
                          <a:solidFill>
                            <a:srgbClr val="1F2A44"/>
                          </a:solidFill>
                          <a:latin typeface="Calibri"/>
                        </a:rPr>
                        <a:t>İki taraf anüsün arkasından birbiriyle bağlantılı → </a:t>
                      </a:r>
                      <a:r>
                        <a:rPr sz="1600">
                          <a:solidFill>
                            <a:srgbClr val="1F2A44"/>
                          </a:solidFill>
                          <a:latin typeface="Calibri"/>
                        </a:rPr>
                        <a:t>at nalı apse</a:t>
                      </a:r>
                      <a:r>
                        <a:rPr sz="1600">
                          <a:solidFill>
                            <a:srgbClr val="1F2A44"/>
                          </a:solidFill>
                          <a:latin typeface="Calibri"/>
                        </a:rPr>
                        <a:t>; iskioanal apse</a:t>
                      </a:r>
                    </a:p>
                  </a:txBody>
                  <a:tcPr marT="27432" marB="27432">
                    <a:solidFill>
                      <a:srgbClr val="FFFFFF"/>
                    </a:solidFill>
                  </a:tcPr>
                </a:tc>
              </a:tr>
            </a:tbl>
          </a:graphicData>
        </a:graphic>
      </p:graphicFrame>
      <p:cxnSp>
        <p:nvCxnSpPr>
          <p:cNvPr id="8" name="Connector 7"/>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Kadavrada fossa ischioanalis</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Kadın perinesi, aşağıdan bakış</a:t>
            </a:r>
          </a:p>
        </p:txBody>
      </p:sp>
      <p:sp>
        <p:nvSpPr>
          <p:cNvPr id="5" name="TextBox 4"/>
          <p:cNvSpPr txBox="1"/>
          <p:nvPr/>
        </p:nvSpPr>
        <p:spPr>
          <a:xfrm>
            <a:off x="9921240" y="109728"/>
            <a:ext cx="2057400" cy="310896"/>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KADAVRA</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ANALIS</a:t>
            </a:r>
          </a:p>
        </p:txBody>
      </p:sp>
      <p:pic>
        <p:nvPicPr>
          <p:cNvPr id="7" name="Picture 6" descr="12565_2019_492_Fig2_HTML_0_280_709_1010.jpg"/>
          <p:cNvPicPr>
            <a:picLocks noChangeAspect="1"/>
          </p:cNvPicPr>
          <p:nvPr/>
        </p:nvPicPr>
        <p:blipFill>
          <a:blip r:embed="rId2"/>
          <a:stretch>
            <a:fillRect/>
          </a:stretch>
        </p:blipFill>
        <p:spPr>
          <a:xfrm>
            <a:off x="4279692" y="1097280"/>
            <a:ext cx="3632309" cy="3739896"/>
          </a:xfrm>
          <a:prstGeom prst="rect">
            <a:avLst/>
          </a:prstGeom>
        </p:spPr>
      </p:pic>
      <p:sp>
        <p:nvSpPr>
          <p:cNvPr id="8" name="TextBox 7"/>
          <p:cNvSpPr txBox="1"/>
          <p:nvPr/>
        </p:nvSpPr>
        <p:spPr>
          <a:xfrm>
            <a:off x="274320" y="1443900"/>
            <a:ext cx="329184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ischiocavernosus</a:t>
            </a:r>
          </a:p>
        </p:txBody>
      </p:sp>
      <p:cxnSp>
        <p:nvCxnSpPr>
          <p:cNvPr id="9" name="Connector 8"/>
          <p:cNvCxnSpPr/>
          <p:nvPr/>
        </p:nvCxnSpPr>
        <p:spPr>
          <a:xfrm>
            <a:off x="3566160" y="1599348"/>
            <a:ext cx="2393924"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914364" y="155362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827948"/>
            <a:ext cx="329184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bulbospongiosus</a:t>
            </a:r>
          </a:p>
        </p:txBody>
      </p:sp>
      <p:cxnSp>
        <p:nvCxnSpPr>
          <p:cNvPr id="12" name="Connector 11"/>
          <p:cNvCxnSpPr/>
          <p:nvPr/>
        </p:nvCxnSpPr>
        <p:spPr>
          <a:xfrm flipV="1">
            <a:off x="3566160" y="1855505"/>
            <a:ext cx="1866240" cy="127891"/>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386680" y="180978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118182"/>
            <a:ext cx="329184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sphincter ani externus</a:t>
            </a:r>
          </a:p>
        </p:txBody>
      </p:sp>
      <p:cxnSp>
        <p:nvCxnSpPr>
          <p:cNvPr id="15" name="Connector 14"/>
          <p:cNvCxnSpPr/>
          <p:nvPr/>
        </p:nvCxnSpPr>
        <p:spPr>
          <a:xfrm>
            <a:off x="3566160" y="4273630"/>
            <a:ext cx="1430772"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951212" y="422791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25535" y="2504391"/>
            <a:ext cx="3291840" cy="310896"/>
          </a:xfrm>
          <a:prstGeom prst="rect">
            <a:avLst/>
          </a:prstGeom>
          <a:noFill/>
        </p:spPr>
        <p:txBody>
          <a:bodyPr wrap="square" anchor="ctr" lIns="45720" rIns="45720" tIns="18288" bIns="18288">
            <a:spAutoFit/>
          </a:bodyPr>
          <a:lstStyle/>
          <a:p>
            <a:pPr algn="l"/>
            <a:r>
              <a:rPr sz="1350" b="1" i="0">
                <a:solidFill>
                  <a:srgbClr val="1F2A44"/>
                </a:solidFill>
                <a:latin typeface="Calibri"/>
              </a:rPr>
              <a:t>M. transversus perinei superf.</a:t>
            </a:r>
          </a:p>
        </p:txBody>
      </p:sp>
      <p:cxnSp>
        <p:nvCxnSpPr>
          <p:cNvPr id="18" name="Connector 17"/>
          <p:cNvCxnSpPr/>
          <p:nvPr/>
        </p:nvCxnSpPr>
        <p:spPr>
          <a:xfrm flipH="1">
            <a:off x="6124024" y="2659839"/>
            <a:ext cx="2501511"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078304" y="261411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5535" y="3349710"/>
            <a:ext cx="3291840" cy="310896"/>
          </a:xfrm>
          <a:prstGeom prst="rect">
            <a:avLst/>
          </a:prstGeom>
          <a:noFill/>
        </p:spPr>
        <p:txBody>
          <a:bodyPr wrap="square" anchor="ctr" lIns="45720" rIns="45720" tIns="18288" bIns="18288">
            <a:spAutoFit/>
          </a:bodyPr>
          <a:lstStyle/>
          <a:p>
            <a:pPr algn="l"/>
            <a:r>
              <a:rPr sz="1350" b="1" i="0">
                <a:solidFill>
                  <a:srgbClr val="1F2A44"/>
                </a:solidFill>
                <a:latin typeface="Calibri"/>
              </a:rPr>
              <a:t>Corpus adiposum fossae ischioanalis</a:t>
            </a:r>
          </a:p>
        </p:txBody>
      </p:sp>
      <p:cxnSp>
        <p:nvCxnSpPr>
          <p:cNvPr id="21" name="Connector 20"/>
          <p:cNvCxnSpPr/>
          <p:nvPr/>
        </p:nvCxnSpPr>
        <p:spPr>
          <a:xfrm flipH="1">
            <a:off x="6482645" y="3505158"/>
            <a:ext cx="2142890"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436925" y="345943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94760" y="4855464"/>
            <a:ext cx="4602175" cy="256032"/>
          </a:xfrm>
          <a:prstGeom prst="rect">
            <a:avLst/>
          </a:prstGeom>
          <a:noFill/>
        </p:spPr>
        <p:txBody>
          <a:bodyPr wrap="square" anchor="t" lIns="45720" rIns="45720" tIns="18288" bIns="18288">
            <a:spAutoFit/>
          </a:bodyPr>
          <a:lstStyle/>
          <a:p>
            <a:pPr algn="ctr"/>
            <a:r>
              <a:rPr sz="1100" b="0" i="1">
                <a:solidFill>
                  <a:srgbClr val="555B66"/>
                </a:solidFill>
                <a:latin typeface="Calibri"/>
              </a:rPr>
              <a:t>Fig. 2 – Baramee P. ve ark., 2019 (PMC6942605, CC BY)</a:t>
            </a:r>
          </a:p>
        </p:txBody>
      </p:sp>
      <p:sp>
        <p:nvSpPr>
          <p:cNvPr id="24" name="Rectangle 23"/>
          <p:cNvSpPr/>
          <p:nvPr/>
        </p:nvSpPr>
        <p:spPr>
          <a:xfrm>
            <a:off x="274320" y="5138928"/>
            <a:ext cx="11643055" cy="960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5166360"/>
            <a:ext cx="11460175" cy="960120"/>
          </a:xfrm>
          <a:prstGeom prst="rect">
            <a:avLst/>
          </a:prstGeom>
          <a:noFill/>
        </p:spPr>
        <p:txBody>
          <a:bodyPr wrap="square">
            <a:spAutoFit/>
          </a:bodyPr>
          <a:lstStyle/>
          <a:p>
            <a:pPr>
              <a:spcAft>
                <a:spcPts val="200"/>
              </a:spcAft>
            </a:pPr>
            <a:r>
              <a:rPr sz="1600">
                <a:solidFill>
                  <a:srgbClr val="1F2A44"/>
                </a:solidFill>
                <a:latin typeface="Calibri"/>
              </a:rPr>
              <a:t>• Anüsün yanındaki sarı yağ dokusu fossa ischioanalis'i doldurur; önünde ürogenital kaslar görülür.</a:t>
            </a:r>
          </a:p>
        </p:txBody>
      </p:sp>
      <p:cxnSp>
        <p:nvCxnSpPr>
          <p:cNvPr id="26" name="Connector 2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Baramee P., Muro S., Suriyut J. et al. Three muscle slings of the pelvic floor in women: an anatomic study. Anat Sci Int. 2019 Jun 4;95(1):47–53. doi: 10.1007/s12565-019-00492-4 PMCID: PMC6942605. Lisans: CC BY.</a:t>
            </a:r>
          </a:p>
        </p:txBody>
      </p:sp>
      <p:sp>
        <p:nvSpPr>
          <p:cNvPr id="28" name="TextBox 2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Canalis analis ve m. sphincter ani externus</a:t>
            </a:r>
          </a:p>
        </p:txBody>
      </p:sp>
      <p:sp>
        <p:nvSpPr>
          <p:cNvPr id="4" name="TextBox 3"/>
          <p:cNvSpPr txBox="1"/>
          <p:nvPr/>
        </p:nvSpPr>
        <p:spPr>
          <a:xfrm>
            <a:off x="9921240" y="109728"/>
            <a:ext cx="2057400" cy="310896"/>
          </a:xfrm>
          <a:prstGeom prst="rect">
            <a:avLst/>
          </a:prstGeom>
          <a:solidFill>
            <a:srgbClr val="1F5F9E"/>
          </a:solidFill>
        </p:spPr>
        <p:txBody>
          <a:bodyPr wrap="square" anchor="ctr" lIns="45720" rIns="45720" tIns="18288" bIns="18288">
            <a:spAutoFit/>
          </a:bodyPr>
          <a:lstStyle/>
          <a:p>
            <a:pPr algn="ctr"/>
            <a:r>
              <a:rPr sz="1100" b="1" i="0">
                <a:solidFill>
                  <a:srgbClr val="FFFFFF"/>
                </a:solidFill>
                <a:latin typeface="Calibri"/>
              </a:rPr>
              <a:t>KONU ANLATIMI</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REGIO ANALIS</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1800">
                <a:solidFill>
                  <a:srgbClr val="1F2A44"/>
                </a:solidFill>
                <a:latin typeface="Calibri"/>
              </a:rPr>
              <a:t>• </a:t>
            </a:r>
            <a:r>
              <a:rPr sz="1800">
                <a:solidFill>
                  <a:srgbClr val="1F2A44"/>
                </a:solidFill>
                <a:latin typeface="Calibri"/>
              </a:rPr>
              <a:t>M. sphincter ani externus</a:t>
            </a:r>
            <a:r>
              <a:rPr sz="1800">
                <a:solidFill>
                  <a:srgbClr val="1F2A44"/>
                </a:solidFill>
                <a:latin typeface="Calibri"/>
              </a:rPr>
              <a:t>: çizgili kas, istemli; pars subcutanea, superficialis, profunda. İnnervasyon: </a:t>
            </a:r>
            <a:r>
              <a:rPr sz="1800">
                <a:solidFill>
                  <a:srgbClr val="1F2A44"/>
                </a:solidFill>
                <a:latin typeface="Calibri"/>
              </a:rPr>
              <a:t>n. rectalis inferior</a:t>
            </a:r>
            <a:r>
              <a:rPr sz="1800">
                <a:solidFill>
                  <a:srgbClr val="1F2A44"/>
                </a:solidFill>
                <a:latin typeface="Calibri"/>
              </a:rPr>
              <a:t> (n. pudendus).</a:t>
            </a:r>
          </a:p>
          <a:p>
            <a:pPr>
              <a:spcAft>
                <a:spcPts val="600"/>
              </a:spcAft>
            </a:pPr>
            <a:r>
              <a:rPr sz="1800">
                <a:solidFill>
                  <a:srgbClr val="1F2A44"/>
                </a:solidFill>
                <a:latin typeface="Calibri"/>
              </a:rPr>
              <a:t>• </a:t>
            </a:r>
            <a:r>
              <a:rPr sz="1800">
                <a:solidFill>
                  <a:srgbClr val="1F2A44"/>
                </a:solidFill>
                <a:latin typeface="Calibri"/>
              </a:rPr>
              <a:t>M. sphincter ani internus</a:t>
            </a:r>
            <a:r>
              <a:rPr sz="1800">
                <a:solidFill>
                  <a:srgbClr val="1F2A44"/>
                </a:solidFill>
                <a:latin typeface="Calibri"/>
              </a:rPr>
              <a:t>: düz kas, istemsiz (otonom).</a:t>
            </a:r>
          </a:p>
          <a:p>
            <a:pPr>
              <a:spcAft>
                <a:spcPts val="600"/>
              </a:spcAft>
            </a:pPr>
            <a:r>
              <a:rPr sz="1800">
                <a:solidFill>
                  <a:srgbClr val="1F2A44"/>
                </a:solidFill>
                <a:latin typeface="Calibri"/>
              </a:rPr>
              <a:t>• </a:t>
            </a:r>
            <a:r>
              <a:rPr sz="1800">
                <a:solidFill>
                  <a:srgbClr val="1F2A44"/>
                </a:solidFill>
                <a:latin typeface="Calibri"/>
              </a:rPr>
              <a:t>M. puborectalis</a:t>
            </a:r>
            <a:r>
              <a:rPr sz="1800">
                <a:solidFill>
                  <a:srgbClr val="1F2A44"/>
                </a:solidFill>
                <a:latin typeface="Calibri"/>
              </a:rPr>
              <a:t> anorektal bileşkeyi öne çeker → </a:t>
            </a:r>
            <a:r>
              <a:rPr sz="1800">
                <a:solidFill>
                  <a:srgbClr val="1F2A44"/>
                </a:solidFill>
                <a:latin typeface="Calibri"/>
              </a:rPr>
              <a:t>angulus anorectalis</a:t>
            </a:r>
            <a:r>
              <a:rPr sz="1800">
                <a:solidFill>
                  <a:srgbClr val="1F2A44"/>
                </a:solidFill>
                <a:latin typeface="Calibri"/>
              </a:rPr>
              <a:t> (kontinans).</a:t>
            </a:r>
          </a:p>
          <a:p>
            <a:pPr>
              <a:spcAft>
                <a:spcPts val="600"/>
              </a:spcAft>
            </a:pPr>
            <a:r>
              <a:rPr sz="1800">
                <a:solidFill>
                  <a:srgbClr val="1F2A44"/>
                </a:solidFill>
                <a:latin typeface="Calibri"/>
              </a:rPr>
              <a:t>• </a:t>
            </a:r>
            <a:r>
              <a:rPr sz="1800">
                <a:solidFill>
                  <a:srgbClr val="1F2A44"/>
                </a:solidFill>
                <a:latin typeface="Calibri"/>
              </a:rPr>
              <a:t>Lig. anococcygeum</a:t>
            </a:r>
            <a:r>
              <a:rPr sz="1800">
                <a:solidFill>
                  <a:srgbClr val="1F2A44"/>
                </a:solidFill>
                <a:latin typeface="Calibri"/>
              </a:rPr>
              <a:t>: anüs ile os coccygis arasında.</a:t>
            </a:r>
          </a:p>
          <a:p>
            <a:pPr>
              <a:spcAft>
                <a:spcPts val="600"/>
              </a:spcAft>
            </a:pPr>
            <a:r>
              <a:rPr sz="1800">
                <a:solidFill>
                  <a:srgbClr val="1F2A44"/>
                </a:solidFill>
                <a:latin typeface="Calibri"/>
              </a:rPr>
              <a:t>• </a:t>
            </a:r>
            <a:r>
              <a:rPr sz="1800">
                <a:solidFill>
                  <a:srgbClr val="1F2A44"/>
                </a:solidFill>
                <a:latin typeface="Calibri"/>
              </a:rPr>
              <a:t>Linea pectinata</a:t>
            </a:r>
            <a:r>
              <a:rPr sz="1800">
                <a:solidFill>
                  <a:srgbClr val="1F2A44"/>
                </a:solidFill>
                <a:latin typeface="Calibri"/>
              </a:rPr>
              <a:t>: üstü visseral (ağrısız; iç hemoroid), altı somatik (ağrılı; dış hemoroid).</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486400" cy="457200"/>
          </a:xfrm>
          <a:prstGeom prst="rect">
            <a:avLst/>
          </a:prstGeom>
          <a:noFill/>
        </p:spPr>
        <p:txBody>
          <a:bodyPr wrap="square" anchor="t" lIns="45720" rIns="45720" tIns="18288" bIns="18288">
            <a:spAutoFit/>
          </a:bodyPr>
          <a:lstStyle/>
          <a:p>
            <a:pPr algn="l"/>
            <a:r>
              <a:rPr sz="2000" b="1" i="0">
                <a:solidFill>
                  <a:srgbClr val="C8D1E6"/>
                </a:solidFill>
                <a:latin typeface="Calibri"/>
              </a:rPr>
              <a:t>BÖLÜM 5</a:t>
            </a:r>
          </a:p>
        </p:txBody>
      </p:sp>
      <p:sp>
        <p:nvSpPr>
          <p:cNvPr id="4" name="TextBox 3"/>
          <p:cNvSpPr txBox="1"/>
          <p:nvPr/>
        </p:nvSpPr>
        <p:spPr>
          <a:xfrm>
            <a:off x="548640" y="1234440"/>
            <a:ext cx="5669280" cy="1371600"/>
          </a:xfrm>
          <a:prstGeom prst="rect">
            <a:avLst/>
          </a:prstGeom>
          <a:noFill/>
        </p:spPr>
        <p:txBody>
          <a:bodyPr wrap="square" anchor="t" lIns="45720" rIns="45720" tIns="18288" bIns="18288">
            <a:spAutoFit/>
          </a:bodyPr>
          <a:lstStyle/>
          <a:p>
            <a:pPr algn="l"/>
            <a:r>
              <a:rPr sz="4000" b="1" i="0">
                <a:solidFill>
                  <a:srgbClr val="FFFFFF"/>
                </a:solidFill>
                <a:latin typeface="Calibri"/>
              </a:rPr>
              <a:t>Damar – sinir</a:t>
            </a:r>
          </a:p>
        </p:txBody>
      </p:sp>
      <p:sp>
        <p:nvSpPr>
          <p:cNvPr id="5" name="TextBox 4"/>
          <p:cNvSpPr txBox="1"/>
          <p:nvPr/>
        </p:nvSpPr>
        <p:spPr>
          <a:xfrm>
            <a:off x="548640" y="2697480"/>
            <a:ext cx="5486400" cy="640080"/>
          </a:xfrm>
          <a:prstGeom prst="rect">
            <a:avLst/>
          </a:prstGeom>
          <a:noFill/>
        </p:spPr>
        <p:txBody>
          <a:bodyPr wrap="square" anchor="t" lIns="45720" rIns="45720" tIns="18288" bIns="18288">
            <a:spAutoFit/>
          </a:bodyPr>
          <a:lstStyle/>
          <a:p>
            <a:pPr algn="l"/>
            <a:r>
              <a:rPr sz="1700" b="0" i="1">
                <a:solidFill>
                  <a:srgbClr val="C8D1E6"/>
                </a:solidFill>
                <a:latin typeface="Calibri"/>
              </a:rPr>
              <a:t>N. pudendus, a. pudenda interna, lenfatik drenaj</a:t>
            </a:r>
          </a:p>
        </p:txBody>
      </p:sp>
      <p:sp>
        <p:nvSpPr>
          <p:cNvPr id="6" name="TextBox 5"/>
          <p:cNvSpPr txBox="1"/>
          <p:nvPr/>
        </p:nvSpPr>
        <p:spPr>
          <a:xfrm>
            <a:off x="548640" y="3429000"/>
            <a:ext cx="5577840" cy="2926080"/>
          </a:xfrm>
          <a:prstGeom prst="rect">
            <a:avLst/>
          </a:prstGeom>
          <a:noFill/>
        </p:spPr>
        <p:txBody>
          <a:bodyPr wrap="square">
            <a:spAutoFit/>
          </a:bodyPr>
          <a:lstStyle/>
          <a:p>
            <a:pPr>
              <a:spcAft>
                <a:spcPts val="600"/>
              </a:spcAft>
            </a:pPr>
            <a:r>
              <a:rPr sz="1700">
                <a:solidFill>
                  <a:srgbClr val="FFFFFF"/>
                </a:solidFill>
                <a:latin typeface="Calibri"/>
              </a:rPr>
              <a:t>• Seyir ve dallar</a:t>
            </a:r>
          </a:p>
          <a:p>
            <a:pPr>
              <a:spcAft>
                <a:spcPts val="600"/>
              </a:spcAft>
            </a:pPr>
            <a:r>
              <a:rPr sz="1700">
                <a:solidFill>
                  <a:srgbClr val="FFFFFF"/>
                </a:solidFill>
                <a:latin typeface="Calibri"/>
              </a:rPr>
              <a:t>• Pudendal blok</a:t>
            </a:r>
          </a:p>
          <a:p>
            <a:pPr>
              <a:spcAft>
                <a:spcPts val="600"/>
              </a:spcAft>
            </a:pPr>
            <a:r>
              <a:rPr sz="1700">
                <a:solidFill>
                  <a:srgbClr val="FFFFFF"/>
                </a:solidFill>
                <a:latin typeface="Calibri"/>
              </a:rPr>
              <a:t>• Lenfatik drenaj</a:t>
            </a:r>
          </a:p>
        </p:txBody>
      </p:sp>
      <p:pic>
        <p:nvPicPr>
          <p:cNvPr id="7" name="Picture 6" descr="pelvis_bag.jpg"/>
          <p:cNvPicPr>
            <a:picLocks noChangeAspect="1"/>
          </p:cNvPicPr>
          <p:nvPr/>
        </p:nvPicPr>
        <p:blipFill>
          <a:blip r:embed="rId2"/>
          <a:stretch>
            <a:fillRect/>
          </a:stretch>
        </p:blipFill>
        <p:spPr>
          <a:xfrm>
            <a:off x="6675120" y="2354255"/>
            <a:ext cx="5257800" cy="1783729"/>
          </a:xfrm>
          <a:prstGeom prst="rect">
            <a:avLst/>
          </a:prstGeom>
        </p:spPr>
      </p:pic>
      <p:sp>
        <p:nvSpPr>
          <p:cNvPr id="8" name="TextBox 7"/>
          <p:cNvSpPr txBox="1"/>
          <p:nvPr/>
        </p:nvSpPr>
        <p:spPr>
          <a:xfrm>
            <a:off x="6675120" y="6080760"/>
            <a:ext cx="5257800" cy="274320"/>
          </a:xfrm>
          <a:prstGeom prst="rect">
            <a:avLst/>
          </a:prstGeom>
          <a:noFill/>
        </p:spPr>
        <p:txBody>
          <a:bodyPr wrap="square" anchor="t" lIns="45720" rIns="45720" tIns="18288" bIns="18288">
            <a:spAutoFit/>
          </a:bodyPr>
          <a:lstStyle/>
          <a:p>
            <a:pPr algn="ctr"/>
            <a:r>
              <a:rPr sz="900" b="0" i="1">
                <a:solidFill>
                  <a:srgbClr val="555B66"/>
                </a:solidFill>
                <a:latin typeface="Calibri"/>
              </a:rPr>
              <a:t>OpenStax A&amp;P, Şekil 8.14 'Pelvis bağları' (CC BY; etiketler Latinceleştirildi)</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N. pudendus ve a. pudenda interna</a:t>
            </a:r>
          </a:p>
        </p:txBody>
      </p:sp>
      <p:sp>
        <p:nvSpPr>
          <p:cNvPr id="4" name="TextBox 3"/>
          <p:cNvSpPr txBox="1"/>
          <p:nvPr/>
        </p:nvSpPr>
        <p:spPr>
          <a:xfrm>
            <a:off x="9921240" y="109728"/>
            <a:ext cx="2057400" cy="310896"/>
          </a:xfrm>
          <a:prstGeom prst="rect">
            <a:avLst/>
          </a:prstGeom>
          <a:solidFill>
            <a:srgbClr val="455A64"/>
          </a:solidFill>
        </p:spPr>
        <p:txBody>
          <a:bodyPr wrap="square" anchor="ctr" lIns="45720" rIns="45720" tIns="18288" bIns="18288">
            <a:spAutoFit/>
          </a:bodyPr>
          <a:lstStyle/>
          <a:p>
            <a:pPr algn="ctr"/>
            <a:r>
              <a:rPr sz="1100" b="1" i="0">
                <a:solidFill>
                  <a:srgbClr val="FFFFFF"/>
                </a:solidFill>
                <a:latin typeface="Calibri"/>
              </a:rPr>
              <a:t>ŞEMA</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DAMAR – SİNİR</a:t>
            </a:r>
          </a:p>
        </p:txBody>
      </p:sp>
      <p:sp>
        <p:nvSpPr>
          <p:cNvPr id="6" name="Rounded Rectangle 5"/>
          <p:cNvSpPr/>
          <p:nvPr/>
        </p:nvSpPr>
        <p:spPr>
          <a:xfrm>
            <a:off x="365760" y="1188720"/>
            <a:ext cx="3840480" cy="685800"/>
          </a:xfrm>
          <a:prstGeom prst="roundRect">
            <a:avLst/>
          </a:prstGeom>
          <a:solidFill>
            <a:srgbClr val="1F2A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FFFFFF"/>
                </a:solidFill>
                <a:latin typeface="Calibri"/>
              </a:rPr>
              <a:t>Plexus sacralis (S2–S4, ramus anterior)</a:t>
            </a:r>
          </a:p>
        </p:txBody>
      </p:sp>
      <p:sp>
        <p:nvSpPr>
          <p:cNvPr id="7" name="Rounded Rectangle 6"/>
          <p:cNvSpPr/>
          <p:nvPr/>
        </p:nvSpPr>
        <p:spPr>
          <a:xfrm>
            <a:off x="365760" y="2011680"/>
            <a:ext cx="3840480" cy="685800"/>
          </a:xfrm>
          <a:prstGeom prst="roundRect">
            <a:avLst/>
          </a:prstGeom>
          <a:solidFill>
            <a:srgbClr val="1F2A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FFFFFF"/>
                </a:solidFill>
                <a:latin typeface="Calibri"/>
              </a:rPr>
              <a:t>Foramen ischiadicum majus</a:t>
            </a:r>
          </a:p>
          <a:p>
            <a:pPr algn="ctr"/>
            <a:r>
              <a:rPr sz="1150" b="0">
                <a:solidFill>
                  <a:srgbClr val="FFFFFF"/>
                </a:solidFill>
                <a:latin typeface="Calibri"/>
              </a:rPr>
              <a:t>(infrapiriforme)</a:t>
            </a:r>
          </a:p>
        </p:txBody>
      </p:sp>
      <p:sp>
        <p:nvSpPr>
          <p:cNvPr id="8" name="Rounded Rectangle 7"/>
          <p:cNvSpPr/>
          <p:nvPr/>
        </p:nvSpPr>
        <p:spPr>
          <a:xfrm>
            <a:off x="365760" y="2834640"/>
            <a:ext cx="3840480" cy="685800"/>
          </a:xfrm>
          <a:prstGeom prst="roundRect">
            <a:avLst/>
          </a:prstGeom>
          <a:solidFill>
            <a:srgbClr val="1F2A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FFFFFF"/>
                </a:solidFill>
                <a:latin typeface="Calibri"/>
              </a:rPr>
              <a:t>Lig. sacrospinale / spina ischiadica</a:t>
            </a:r>
          </a:p>
          <a:p>
            <a:pPr algn="ctr"/>
            <a:r>
              <a:rPr sz="1150" b="0">
                <a:solidFill>
                  <a:srgbClr val="FFFFFF"/>
                </a:solidFill>
                <a:latin typeface="Calibri"/>
              </a:rPr>
              <a:t>(n. pudendus arterin medialinde)</a:t>
            </a:r>
          </a:p>
        </p:txBody>
      </p:sp>
      <p:sp>
        <p:nvSpPr>
          <p:cNvPr id="9" name="Rounded Rectangle 8"/>
          <p:cNvSpPr/>
          <p:nvPr/>
        </p:nvSpPr>
        <p:spPr>
          <a:xfrm>
            <a:off x="365760" y="3657600"/>
            <a:ext cx="3840480" cy="685800"/>
          </a:xfrm>
          <a:prstGeom prst="roundRect">
            <a:avLst/>
          </a:prstGeom>
          <a:solidFill>
            <a:srgbClr val="1F2A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FFFFFF"/>
                </a:solidFill>
                <a:latin typeface="Calibri"/>
              </a:rPr>
              <a:t>Foramen ischiadicum minus</a:t>
            </a:r>
          </a:p>
        </p:txBody>
      </p:sp>
      <p:sp>
        <p:nvSpPr>
          <p:cNvPr id="10" name="Rounded Rectangle 9"/>
          <p:cNvSpPr/>
          <p:nvPr/>
        </p:nvSpPr>
        <p:spPr>
          <a:xfrm>
            <a:off x="365760" y="4480560"/>
            <a:ext cx="3840480" cy="685800"/>
          </a:xfrm>
          <a:prstGeom prst="roundRect">
            <a:avLst/>
          </a:prstGeom>
          <a:solidFill>
            <a:srgbClr val="1F2A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FFFFFF"/>
                </a:solidFill>
                <a:latin typeface="Calibri"/>
              </a:rPr>
              <a:t>Canalis pudendalis (Alcock)</a:t>
            </a:r>
          </a:p>
          <a:p>
            <a:pPr algn="ctr"/>
            <a:r>
              <a:rPr sz="1150" b="0">
                <a:solidFill>
                  <a:srgbClr val="FFFFFF"/>
                </a:solidFill>
                <a:latin typeface="Calibri"/>
              </a:rPr>
              <a:t>fascia obturatoria duplikatürü</a:t>
            </a:r>
          </a:p>
        </p:txBody>
      </p:sp>
      <p:cxnSp>
        <p:nvCxnSpPr>
          <p:cNvPr id="11" name="Connector 10"/>
          <p:cNvCxnSpPr/>
          <p:nvPr/>
        </p:nvCxnSpPr>
        <p:spPr>
          <a:xfrm>
            <a:off x="2286000" y="1874519"/>
            <a:ext cx="0" cy="137161"/>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286000" y="2697480"/>
            <a:ext cx="0" cy="13716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286000" y="3520440"/>
            <a:ext cx="0" cy="13716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286000" y="4343400"/>
            <a:ext cx="0" cy="137160"/>
          </a:xfrm>
          <a:prstGeom prst="line">
            <a:avLst/>
          </a:prstGeom>
          <a:ln w="31750">
            <a:solidFill>
              <a:srgbClr val="1F2A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846320" y="1234440"/>
            <a:ext cx="3291840" cy="731520"/>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1F2A44"/>
                </a:solidFill>
                <a:latin typeface="Calibri"/>
              </a:rPr>
              <a:t>N. rectalis inferior (nn. anales inf.)</a:t>
            </a:r>
          </a:p>
          <a:p>
            <a:pPr algn="ctr"/>
            <a:r>
              <a:rPr sz="1150" b="0">
                <a:solidFill>
                  <a:srgbClr val="1F2A44"/>
                </a:solidFill>
                <a:latin typeface="Calibri"/>
              </a:rPr>
              <a:t>m. sphincter ani ext., perianal deri</a:t>
            </a:r>
          </a:p>
        </p:txBody>
      </p:sp>
      <p:cxnSp>
        <p:nvCxnSpPr>
          <p:cNvPr id="16" name="Connector 15"/>
          <p:cNvCxnSpPr/>
          <p:nvPr/>
        </p:nvCxnSpPr>
        <p:spPr>
          <a:xfrm flipV="1">
            <a:off x="4206240" y="1600200"/>
            <a:ext cx="640080" cy="3218688"/>
          </a:xfrm>
          <a:prstGeom prst="line">
            <a:avLst/>
          </a:prstGeom>
          <a:ln w="25400">
            <a:solidFill>
              <a:srgbClr val="E0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846320" y="2103120"/>
            <a:ext cx="3291840" cy="731520"/>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1F2A44"/>
                </a:solidFill>
                <a:latin typeface="Calibri"/>
              </a:rPr>
              <a:t>N. perinealis – r. superficialis</a:t>
            </a:r>
          </a:p>
          <a:p>
            <a:pPr algn="ctr"/>
            <a:r>
              <a:rPr sz="1150" b="0">
                <a:solidFill>
                  <a:srgbClr val="1F2A44"/>
                </a:solidFill>
                <a:latin typeface="Calibri"/>
              </a:rPr>
              <a:t>nn. scrotales / labiales posteriores</a:t>
            </a:r>
          </a:p>
        </p:txBody>
      </p:sp>
      <p:cxnSp>
        <p:nvCxnSpPr>
          <p:cNvPr id="18" name="Connector 17"/>
          <p:cNvCxnSpPr/>
          <p:nvPr/>
        </p:nvCxnSpPr>
        <p:spPr>
          <a:xfrm flipV="1">
            <a:off x="4206240" y="2468879"/>
            <a:ext cx="640080" cy="2350009"/>
          </a:xfrm>
          <a:prstGeom prst="line">
            <a:avLst/>
          </a:prstGeom>
          <a:ln w="25400">
            <a:solidFill>
              <a:srgbClr val="E0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846320" y="2971800"/>
            <a:ext cx="3291840" cy="731520"/>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1F2A44"/>
                </a:solidFill>
                <a:latin typeface="Calibri"/>
              </a:rPr>
              <a:t>N. perinealis – r. profundus</a:t>
            </a:r>
          </a:p>
          <a:p>
            <a:pPr algn="ctr"/>
            <a:r>
              <a:rPr sz="1150" b="0">
                <a:solidFill>
                  <a:srgbClr val="1F2A44"/>
                </a:solidFill>
                <a:latin typeface="Calibri"/>
              </a:rPr>
              <a:t>bulbospongiosus, ischiocavernosus, transversi, sphincter urethrae ext.</a:t>
            </a:r>
          </a:p>
        </p:txBody>
      </p:sp>
      <p:cxnSp>
        <p:nvCxnSpPr>
          <p:cNvPr id="20" name="Connector 19"/>
          <p:cNvCxnSpPr/>
          <p:nvPr/>
        </p:nvCxnSpPr>
        <p:spPr>
          <a:xfrm flipV="1">
            <a:off x="4206240" y="3337560"/>
            <a:ext cx="640080" cy="1481328"/>
          </a:xfrm>
          <a:prstGeom prst="line">
            <a:avLst/>
          </a:prstGeom>
          <a:ln w="25400">
            <a:solidFill>
              <a:srgbClr val="E0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846320" y="3840480"/>
            <a:ext cx="3291840" cy="731520"/>
          </a:xfrm>
          <a:prstGeom prst="roundRect">
            <a:avLst/>
          </a:prstGeom>
          <a:solidFill>
            <a:srgbClr val="E0A1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50" b="1">
                <a:solidFill>
                  <a:srgbClr val="1F2A44"/>
                </a:solidFill>
                <a:latin typeface="Calibri"/>
              </a:rPr>
              <a:t>N. dorsalis penis / clitoridis</a:t>
            </a:r>
          </a:p>
          <a:p>
            <a:pPr algn="ctr"/>
            <a:r>
              <a:rPr sz="1150" b="0">
                <a:solidFill>
                  <a:srgbClr val="1F2A44"/>
                </a:solidFill>
                <a:latin typeface="Calibri"/>
              </a:rPr>
              <a:t>membrana perinei üstünden, lig. suspensorium altından → glans</a:t>
            </a:r>
          </a:p>
        </p:txBody>
      </p:sp>
      <p:cxnSp>
        <p:nvCxnSpPr>
          <p:cNvPr id="22" name="Connector 21"/>
          <p:cNvCxnSpPr/>
          <p:nvPr/>
        </p:nvCxnSpPr>
        <p:spPr>
          <a:xfrm flipV="1">
            <a:off x="4206240" y="4206240"/>
            <a:ext cx="640080" cy="612648"/>
          </a:xfrm>
          <a:prstGeom prst="line">
            <a:avLst/>
          </a:prstGeom>
          <a:ln w="25400">
            <a:solidFill>
              <a:srgbClr val="E0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503920" y="960120"/>
            <a:ext cx="3474720" cy="274320"/>
          </a:xfrm>
          <a:prstGeom prst="rect">
            <a:avLst/>
          </a:prstGeom>
          <a:noFill/>
        </p:spPr>
        <p:txBody>
          <a:bodyPr wrap="square" anchor="t" lIns="45720" rIns="45720" tIns="18288" bIns="18288">
            <a:spAutoFit/>
          </a:bodyPr>
          <a:lstStyle/>
          <a:p>
            <a:pPr algn="l"/>
            <a:r>
              <a:rPr sz="1200" b="1" i="0">
                <a:solidFill>
                  <a:srgbClr val="B71C1C"/>
                </a:solidFill>
                <a:latin typeface="Calibri"/>
              </a:rPr>
              <a:t>A. pudenda interna (truncus anterior a. iliacae int.)</a:t>
            </a:r>
          </a:p>
        </p:txBody>
      </p:sp>
      <p:sp>
        <p:nvSpPr>
          <p:cNvPr id="24" name="Rounded Rectangle 23"/>
          <p:cNvSpPr/>
          <p:nvPr/>
        </p:nvSpPr>
        <p:spPr>
          <a:xfrm>
            <a:off x="8503920" y="1234440"/>
            <a:ext cx="3429000" cy="603504"/>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rPr>
              <a:t>A. rectalis inferior</a:t>
            </a:r>
          </a:p>
        </p:txBody>
      </p:sp>
      <p:sp>
        <p:nvSpPr>
          <p:cNvPr id="25" name="Rounded Rectangle 24"/>
          <p:cNvSpPr/>
          <p:nvPr/>
        </p:nvSpPr>
        <p:spPr>
          <a:xfrm>
            <a:off x="8503920" y="1965960"/>
            <a:ext cx="3429000" cy="603504"/>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rPr>
              <a:t>A. perinealis → aa. scrotales/labiales post.</a:t>
            </a:r>
          </a:p>
        </p:txBody>
      </p:sp>
      <p:sp>
        <p:nvSpPr>
          <p:cNvPr id="26" name="Rounded Rectangle 25"/>
          <p:cNvSpPr/>
          <p:nvPr/>
        </p:nvSpPr>
        <p:spPr>
          <a:xfrm>
            <a:off x="8503920" y="2697480"/>
            <a:ext cx="3429000" cy="603504"/>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rPr>
              <a:t>A. bulbi penis / vestibuli; a. urethralis</a:t>
            </a:r>
          </a:p>
        </p:txBody>
      </p:sp>
      <p:sp>
        <p:nvSpPr>
          <p:cNvPr id="27" name="Rounded Rectangle 26"/>
          <p:cNvSpPr/>
          <p:nvPr/>
        </p:nvSpPr>
        <p:spPr>
          <a:xfrm>
            <a:off x="8503920" y="3429000"/>
            <a:ext cx="3429000" cy="603504"/>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rPr>
              <a:t>A. profunda penis / clitoridis (crus)</a:t>
            </a:r>
          </a:p>
        </p:txBody>
      </p:sp>
      <p:sp>
        <p:nvSpPr>
          <p:cNvPr id="28" name="Rounded Rectangle 27"/>
          <p:cNvSpPr/>
          <p:nvPr/>
        </p:nvSpPr>
        <p:spPr>
          <a:xfrm>
            <a:off x="8503920" y="4160520"/>
            <a:ext cx="3429000" cy="603504"/>
          </a:xfrm>
          <a:prstGeom prst="roundRect">
            <a:avLst/>
          </a:prstGeom>
          <a:solidFill>
            <a:srgbClr val="B71C1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300" b="1">
                <a:solidFill>
                  <a:srgbClr val="FFFFFF"/>
                </a:solidFill>
                <a:latin typeface="Calibri"/>
              </a:rPr>
              <a:t>A. dorsalis penis / clitoridis</a:t>
            </a:r>
          </a:p>
        </p:txBody>
      </p:sp>
      <p:sp>
        <p:nvSpPr>
          <p:cNvPr id="29" name="TextBox 28"/>
          <p:cNvSpPr txBox="1"/>
          <p:nvPr/>
        </p:nvSpPr>
        <p:spPr>
          <a:xfrm>
            <a:off x="365760" y="5349240"/>
            <a:ext cx="11521440" cy="1005840"/>
          </a:xfrm>
          <a:prstGeom prst="rect">
            <a:avLst/>
          </a:prstGeom>
          <a:noFill/>
        </p:spPr>
        <p:txBody>
          <a:bodyPr wrap="square">
            <a:spAutoFit/>
          </a:bodyPr>
          <a:lstStyle/>
          <a:p>
            <a:pPr>
              <a:spcAft>
                <a:spcPts val="200"/>
              </a:spcAft>
            </a:pPr>
            <a:r>
              <a:rPr sz="1450">
                <a:solidFill>
                  <a:srgbClr val="1F2A44"/>
                </a:solidFill>
                <a:latin typeface="Calibri"/>
              </a:rPr>
              <a:t>• Yol: pelvis → foramen ischiadicum majus → spina ischiadica / lig. sacrospinale arkası → foramen ischiadicum minus → </a:t>
            </a:r>
            <a:r>
              <a:rPr sz="1450">
                <a:solidFill>
                  <a:srgbClr val="1F2A44"/>
                </a:solidFill>
                <a:latin typeface="Calibri"/>
              </a:rPr>
              <a:t>canalis pudendalis (Alcock)</a:t>
            </a:r>
            <a:r>
              <a:rPr sz="1450">
                <a:solidFill>
                  <a:srgbClr val="1F2A44"/>
                </a:solidFill>
                <a:latin typeface="Calibri"/>
              </a:rPr>
              <a:t> → perine.</a:t>
            </a:r>
          </a:p>
          <a:p>
            <a:pPr>
              <a:spcAft>
                <a:spcPts val="200"/>
              </a:spcAft>
            </a:pPr>
            <a:r>
              <a:rPr sz="1450">
                <a:solidFill>
                  <a:srgbClr val="1F2A44"/>
                </a:solidFill>
                <a:latin typeface="Calibri"/>
              </a:rPr>
              <a:t>• Venler arterlere eşlik eder; v. dorsalis penis profunda ise pelvis içindeki venöz pleksusa açılır.</a:t>
            </a:r>
          </a:p>
        </p:txBody>
      </p:sp>
      <p:cxnSp>
        <p:nvCxnSpPr>
          <p:cNvPr id="30" name="Connector 29"/>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Şema: bu projede standart anatomi bilgisinden çizilmiştir (gerçek görüntü değildir).</a:t>
            </a:r>
          </a:p>
        </p:txBody>
      </p:sp>
      <p:sp>
        <p:nvSpPr>
          <p:cNvPr id="32" name="TextBox 31"/>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N. pudendus dallarının perinedeki dağılımı</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Kadın perinesi, litotomi görünümü (yazar çizimi)</a:t>
            </a:r>
          </a:p>
        </p:txBody>
      </p:sp>
      <p:sp>
        <p:nvSpPr>
          <p:cNvPr id="5" name="TextBox 4"/>
          <p:cNvSpPr txBox="1"/>
          <p:nvPr/>
        </p:nvSpPr>
        <p:spPr>
          <a:xfrm>
            <a:off x="9921240" y="109728"/>
            <a:ext cx="2057400" cy="310896"/>
          </a:xfrm>
          <a:prstGeom prst="rect">
            <a:avLst/>
          </a:prstGeom>
          <a:solidFill>
            <a:srgbClr val="5E35B1"/>
          </a:solidFill>
        </p:spPr>
        <p:txBody>
          <a:bodyPr wrap="square" anchor="ctr" lIns="45720" rIns="45720" tIns="18288" bIns="18288">
            <a:spAutoFit/>
          </a:bodyPr>
          <a:lstStyle/>
          <a:p>
            <a:pPr algn="ctr"/>
            <a:r>
              <a:rPr sz="1100" b="1" i="0">
                <a:solidFill>
                  <a:srgbClr val="FFFFFF"/>
                </a:solidFill>
                <a:latin typeface="Calibri"/>
              </a:rPr>
              <a:t>İLLÜSTRASYON</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DAMAR – SİNİR</a:t>
            </a:r>
          </a:p>
        </p:txBody>
      </p:sp>
      <p:pic>
        <p:nvPicPr>
          <p:cNvPr id="7" name="Picture 6" descr="diagnostics-11-00221-g003_230_60_560_440.jpg"/>
          <p:cNvPicPr>
            <a:picLocks noChangeAspect="1"/>
          </p:cNvPicPr>
          <p:nvPr/>
        </p:nvPicPr>
        <p:blipFill>
          <a:blip r:embed="rId2"/>
          <a:stretch>
            <a:fillRect/>
          </a:stretch>
        </p:blipFill>
        <p:spPr>
          <a:xfrm>
            <a:off x="4471945" y="1097280"/>
            <a:ext cx="3247804" cy="3739896"/>
          </a:xfrm>
          <a:prstGeom prst="rect">
            <a:avLst/>
          </a:prstGeom>
        </p:spPr>
      </p:pic>
      <p:sp>
        <p:nvSpPr>
          <p:cNvPr id="8" name="TextBox 7"/>
          <p:cNvSpPr txBox="1"/>
          <p:nvPr/>
        </p:nvSpPr>
        <p:spPr>
          <a:xfrm>
            <a:off x="274320" y="2349213"/>
            <a:ext cx="3108960" cy="310896"/>
          </a:xfrm>
          <a:prstGeom prst="rect">
            <a:avLst/>
          </a:prstGeom>
          <a:noFill/>
        </p:spPr>
        <p:txBody>
          <a:bodyPr wrap="square" anchor="ctr" lIns="45720" rIns="45720" tIns="18288" bIns="18288">
            <a:spAutoFit/>
          </a:bodyPr>
          <a:lstStyle/>
          <a:p>
            <a:pPr algn="r"/>
            <a:r>
              <a:rPr sz="1350" b="1" i="0">
                <a:solidFill>
                  <a:srgbClr val="1F2A44"/>
                </a:solidFill>
                <a:latin typeface="Calibri"/>
              </a:rPr>
              <a:t>Nn. labiales posteriores</a:t>
            </a:r>
          </a:p>
        </p:txBody>
      </p:sp>
      <p:cxnSp>
        <p:nvCxnSpPr>
          <p:cNvPr id="9" name="Connector 8"/>
          <p:cNvCxnSpPr/>
          <p:nvPr/>
        </p:nvCxnSpPr>
        <p:spPr>
          <a:xfrm>
            <a:off x="3383279" y="2504661"/>
            <a:ext cx="2564941"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902500" y="2458941"/>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3727070"/>
            <a:ext cx="310896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sphincter ani externus - pars superficialis</a:t>
            </a:r>
          </a:p>
        </p:txBody>
      </p:sp>
      <p:cxnSp>
        <p:nvCxnSpPr>
          <p:cNvPr id="12" name="Connector 11"/>
          <p:cNvCxnSpPr/>
          <p:nvPr/>
        </p:nvCxnSpPr>
        <p:spPr>
          <a:xfrm>
            <a:off x="3383279" y="3882518"/>
            <a:ext cx="2053165"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390724" y="383679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219161"/>
            <a:ext cx="3108960" cy="310896"/>
          </a:xfrm>
          <a:prstGeom prst="rect">
            <a:avLst/>
          </a:prstGeom>
          <a:noFill/>
        </p:spPr>
        <p:txBody>
          <a:bodyPr wrap="square" anchor="ctr" lIns="45720" rIns="45720" tIns="18288" bIns="18288">
            <a:spAutoFit/>
          </a:bodyPr>
          <a:lstStyle/>
          <a:p>
            <a:pPr algn="r"/>
            <a:r>
              <a:rPr sz="1350" b="1" i="0">
                <a:solidFill>
                  <a:srgbClr val="1F2A44"/>
                </a:solidFill>
                <a:latin typeface="Calibri"/>
              </a:rPr>
              <a:t>M. sphincter ani externus - pars subcutanea</a:t>
            </a:r>
          </a:p>
        </p:txBody>
      </p:sp>
      <p:cxnSp>
        <p:nvCxnSpPr>
          <p:cNvPr id="15" name="Connector 14"/>
          <p:cNvCxnSpPr/>
          <p:nvPr/>
        </p:nvCxnSpPr>
        <p:spPr>
          <a:xfrm>
            <a:off x="3383279" y="4374609"/>
            <a:ext cx="2318895"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656454" y="432888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8415" y="2605101"/>
            <a:ext cx="3108960" cy="310896"/>
          </a:xfrm>
          <a:prstGeom prst="rect">
            <a:avLst/>
          </a:prstGeom>
          <a:noFill/>
        </p:spPr>
        <p:txBody>
          <a:bodyPr wrap="square" anchor="ctr" lIns="45720" rIns="45720" tIns="18288" bIns="18288">
            <a:spAutoFit/>
          </a:bodyPr>
          <a:lstStyle/>
          <a:p>
            <a:pPr algn="l"/>
            <a:r>
              <a:rPr sz="1350" b="1" i="0">
                <a:solidFill>
                  <a:srgbClr val="1F2A44"/>
                </a:solidFill>
                <a:latin typeface="Calibri"/>
              </a:rPr>
              <a:t>N. perinealis - ramus profundus</a:t>
            </a:r>
          </a:p>
        </p:txBody>
      </p:sp>
      <p:cxnSp>
        <p:nvCxnSpPr>
          <p:cNvPr id="18" name="Connector 17"/>
          <p:cNvCxnSpPr/>
          <p:nvPr/>
        </p:nvCxnSpPr>
        <p:spPr>
          <a:xfrm flipH="1">
            <a:off x="6282842" y="2760549"/>
            <a:ext cx="2525573"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237122" y="2714829"/>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08415" y="3323555"/>
            <a:ext cx="3108960" cy="310896"/>
          </a:xfrm>
          <a:prstGeom prst="rect">
            <a:avLst/>
          </a:prstGeom>
          <a:noFill/>
        </p:spPr>
        <p:txBody>
          <a:bodyPr wrap="square" anchor="ctr" lIns="45720" rIns="45720" tIns="18288" bIns="18288">
            <a:spAutoFit/>
          </a:bodyPr>
          <a:lstStyle/>
          <a:p>
            <a:pPr algn="l"/>
            <a:r>
              <a:rPr sz="1350" b="1" i="0">
                <a:solidFill>
                  <a:srgbClr val="1F2A44"/>
                </a:solidFill>
                <a:latin typeface="Calibri"/>
              </a:rPr>
              <a:t>N. perinealis - ramus superficialis</a:t>
            </a:r>
          </a:p>
        </p:txBody>
      </p:sp>
      <p:cxnSp>
        <p:nvCxnSpPr>
          <p:cNvPr id="21" name="Connector 20"/>
          <p:cNvCxnSpPr/>
          <p:nvPr/>
        </p:nvCxnSpPr>
        <p:spPr>
          <a:xfrm flipH="1">
            <a:off x="6213949" y="3479003"/>
            <a:ext cx="2594466"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168229" y="3433283"/>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08415" y="3943590"/>
            <a:ext cx="3108960" cy="310896"/>
          </a:xfrm>
          <a:prstGeom prst="rect">
            <a:avLst/>
          </a:prstGeom>
          <a:noFill/>
        </p:spPr>
        <p:txBody>
          <a:bodyPr wrap="square" anchor="ctr" lIns="45720" rIns="45720" tIns="18288" bIns="18288">
            <a:spAutoFit/>
          </a:bodyPr>
          <a:lstStyle/>
          <a:p>
            <a:pPr algn="l"/>
            <a:r>
              <a:rPr sz="1350" b="1" i="0">
                <a:solidFill>
                  <a:srgbClr val="1F2A44"/>
                </a:solidFill>
                <a:latin typeface="Calibri"/>
              </a:rPr>
              <a:t>N. pudendus</a:t>
            </a:r>
          </a:p>
        </p:txBody>
      </p:sp>
      <p:cxnSp>
        <p:nvCxnSpPr>
          <p:cNvPr id="24" name="Connector 23"/>
          <p:cNvCxnSpPr/>
          <p:nvPr/>
        </p:nvCxnSpPr>
        <p:spPr>
          <a:xfrm flipH="1">
            <a:off x="6666673" y="4099038"/>
            <a:ext cx="2141742"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20953" y="405331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08415" y="4327638"/>
            <a:ext cx="3108960" cy="310896"/>
          </a:xfrm>
          <a:prstGeom prst="rect">
            <a:avLst/>
          </a:prstGeom>
          <a:noFill/>
        </p:spPr>
        <p:txBody>
          <a:bodyPr wrap="square" anchor="ctr" lIns="45720" rIns="45720" tIns="18288" bIns="18288">
            <a:spAutoFit/>
          </a:bodyPr>
          <a:lstStyle/>
          <a:p>
            <a:pPr algn="l"/>
            <a:r>
              <a:rPr sz="1350" b="1" i="0">
                <a:solidFill>
                  <a:srgbClr val="1F2A44"/>
                </a:solidFill>
                <a:latin typeface="Calibri"/>
              </a:rPr>
              <a:t>Nn. anales (rectales) inferiores</a:t>
            </a:r>
          </a:p>
        </p:txBody>
      </p:sp>
      <p:cxnSp>
        <p:nvCxnSpPr>
          <p:cNvPr id="27" name="Connector 26"/>
          <p:cNvCxnSpPr/>
          <p:nvPr/>
        </p:nvCxnSpPr>
        <p:spPr>
          <a:xfrm flipH="1" flipV="1">
            <a:off x="6263158" y="4167931"/>
            <a:ext cx="2545257" cy="315155"/>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217438" y="4122211"/>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11879" y="4855464"/>
            <a:ext cx="4967935" cy="256032"/>
          </a:xfrm>
          <a:prstGeom prst="rect">
            <a:avLst/>
          </a:prstGeom>
          <a:noFill/>
        </p:spPr>
        <p:txBody>
          <a:bodyPr wrap="square" anchor="t" lIns="45720" rIns="45720" tIns="18288" bIns="18288">
            <a:spAutoFit/>
          </a:bodyPr>
          <a:lstStyle/>
          <a:p>
            <a:pPr algn="ctr"/>
            <a:r>
              <a:rPr sz="1100" b="0" i="1">
                <a:solidFill>
                  <a:srgbClr val="555B66"/>
                </a:solidFill>
                <a:latin typeface="Calibri"/>
              </a:rPr>
              <a:t>Figure 3 – Garner D. K. ve ark., 2021 (PMC7913006, CC BY)</a:t>
            </a:r>
          </a:p>
        </p:txBody>
      </p:sp>
      <p:sp>
        <p:nvSpPr>
          <p:cNvPr id="30" name="Rectangle 29"/>
          <p:cNvSpPr/>
          <p:nvPr/>
        </p:nvSpPr>
        <p:spPr>
          <a:xfrm>
            <a:off x="274320" y="5138928"/>
            <a:ext cx="11643055" cy="960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5166360"/>
            <a:ext cx="11460175" cy="960120"/>
          </a:xfrm>
          <a:prstGeom prst="rect">
            <a:avLst/>
          </a:prstGeom>
          <a:noFill/>
        </p:spPr>
        <p:txBody>
          <a:bodyPr wrap="square">
            <a:spAutoFit/>
          </a:bodyPr>
          <a:lstStyle/>
          <a:p>
            <a:pPr>
              <a:spcAft>
                <a:spcPts val="200"/>
              </a:spcAft>
            </a:pPr>
            <a:r>
              <a:rPr sz="1600">
                <a:solidFill>
                  <a:srgbClr val="1F2A44"/>
                </a:solidFill>
                <a:latin typeface="Calibri"/>
              </a:rPr>
              <a:t>• </a:t>
            </a:r>
            <a:r>
              <a:rPr sz="1600">
                <a:solidFill>
                  <a:srgbClr val="1F2A44"/>
                </a:solidFill>
                <a:latin typeface="Calibri"/>
              </a:rPr>
              <a:t>N. rectalis inferior</a:t>
            </a:r>
            <a:r>
              <a:rPr sz="1600">
                <a:solidFill>
                  <a:srgbClr val="1F2A44"/>
                </a:solidFill>
                <a:latin typeface="Calibri"/>
              </a:rPr>
              <a:t> → m. sphincter ani externus ve anüs çevresi derisi.</a:t>
            </a:r>
          </a:p>
          <a:p>
            <a:pPr>
              <a:spcAft>
                <a:spcPts val="200"/>
              </a:spcAft>
            </a:pPr>
            <a:r>
              <a:rPr sz="1600">
                <a:solidFill>
                  <a:srgbClr val="1F2A44"/>
                </a:solidFill>
                <a:latin typeface="Calibri"/>
              </a:rPr>
              <a:t>• </a:t>
            </a:r>
            <a:r>
              <a:rPr sz="1600">
                <a:solidFill>
                  <a:srgbClr val="1F2A44"/>
                </a:solidFill>
                <a:latin typeface="Calibri"/>
              </a:rPr>
              <a:t>N. perinealis</a:t>
            </a:r>
            <a:r>
              <a:rPr sz="1600">
                <a:solidFill>
                  <a:srgbClr val="1F2A44"/>
                </a:solidFill>
                <a:latin typeface="Calibri"/>
              </a:rPr>
              <a:t> → perine kasları ve labia/scrotum derisi; </a:t>
            </a:r>
            <a:r>
              <a:rPr sz="1600">
                <a:solidFill>
                  <a:srgbClr val="1F2A44"/>
                </a:solidFill>
                <a:latin typeface="Calibri"/>
              </a:rPr>
              <a:t>n. dorsalis clitoridis/penis</a:t>
            </a:r>
            <a:r>
              <a:rPr sz="1600">
                <a:solidFill>
                  <a:srgbClr val="1F2A44"/>
                </a:solidFill>
                <a:latin typeface="Calibri"/>
              </a:rPr>
              <a:t> → clitoris/penis duyusu.</a:t>
            </a:r>
          </a:p>
        </p:txBody>
      </p:sp>
      <p:cxnSp>
        <p:nvCxnSpPr>
          <p:cNvPr id="32" name="Connector 31"/>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Garner D. K., Patel A. B., Hung J. et al. Midline and Mediolateral Episiotomy: Risk Assessment Based on Clinical Anatomy. Diagnostics (Basel). 2021 Feb 2;11(2):221. doi: 10.3390/diagnostics11020221 PMCID: PMC7913006. Lisans: CC BY.</a:t>
            </a:r>
          </a:p>
        </p:txBody>
      </p:sp>
      <p:sp>
        <p:nvSpPr>
          <p:cNvPr id="34" name="TextBox 33"/>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Kadavrada n. pudendus ve a. pudenda interna</a:t>
            </a:r>
          </a:p>
        </p:txBody>
      </p:sp>
      <p:sp>
        <p:nvSpPr>
          <p:cNvPr id="4" name="TextBox 3"/>
          <p:cNvSpPr txBox="1"/>
          <p:nvPr/>
        </p:nvSpPr>
        <p:spPr>
          <a:xfrm>
            <a:off x="320040" y="548640"/>
            <a:ext cx="9509760" cy="329184"/>
          </a:xfrm>
          <a:prstGeom prst="rect">
            <a:avLst/>
          </a:prstGeom>
          <a:noFill/>
        </p:spPr>
        <p:txBody>
          <a:bodyPr wrap="square" anchor="t" lIns="45720" rIns="45720" tIns="18288" bIns="18288">
            <a:spAutoFit/>
          </a:bodyPr>
          <a:lstStyle/>
          <a:p>
            <a:pPr algn="l"/>
            <a:r>
              <a:rPr sz="1500" b="0" i="1">
                <a:solidFill>
                  <a:srgbClr val="C8D1E6"/>
                </a:solidFill>
                <a:latin typeface="Calibri"/>
              </a:rPr>
              <a:t>Pelvis içinden medial bakış</a:t>
            </a:r>
          </a:p>
        </p:txBody>
      </p:sp>
      <p:sp>
        <p:nvSpPr>
          <p:cNvPr id="5" name="TextBox 4"/>
          <p:cNvSpPr txBox="1"/>
          <p:nvPr/>
        </p:nvSpPr>
        <p:spPr>
          <a:xfrm>
            <a:off x="9921240" y="109728"/>
            <a:ext cx="2057400" cy="310896"/>
          </a:xfrm>
          <a:prstGeom prst="rect">
            <a:avLst/>
          </a:prstGeom>
          <a:solidFill>
            <a:srgbClr val="2E7D32"/>
          </a:solidFill>
        </p:spPr>
        <p:txBody>
          <a:bodyPr wrap="square" anchor="ctr" lIns="45720" rIns="45720" tIns="18288" bIns="18288">
            <a:spAutoFit/>
          </a:bodyPr>
          <a:lstStyle/>
          <a:p>
            <a:pPr algn="ctr"/>
            <a:r>
              <a:rPr sz="1100" b="1" i="0">
                <a:solidFill>
                  <a:srgbClr val="FFFFFF"/>
                </a:solidFill>
                <a:latin typeface="Calibri"/>
              </a:rPr>
              <a:t>KADAVRA</a:t>
            </a:r>
          </a:p>
        </p:txBody>
      </p:sp>
      <p:sp>
        <p:nvSpPr>
          <p:cNvPr id="6" name="TextBox 5"/>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DAMAR – SİNİR</a:t>
            </a:r>
          </a:p>
        </p:txBody>
      </p:sp>
      <p:pic>
        <p:nvPicPr>
          <p:cNvPr id="7" name="Picture 6" descr="etm-23-02-11036-g00.jpg"/>
          <p:cNvPicPr>
            <a:picLocks noChangeAspect="1"/>
          </p:cNvPicPr>
          <p:nvPr/>
        </p:nvPicPr>
        <p:blipFill>
          <a:blip r:embed="rId2"/>
          <a:stretch>
            <a:fillRect/>
          </a:stretch>
        </p:blipFill>
        <p:spPr>
          <a:xfrm>
            <a:off x="4079907" y="1097280"/>
            <a:ext cx="3666119" cy="3739896"/>
          </a:xfrm>
          <a:prstGeom prst="rect">
            <a:avLst/>
          </a:prstGeom>
        </p:spPr>
      </p:pic>
      <p:sp>
        <p:nvSpPr>
          <p:cNvPr id="8" name="TextBox 7"/>
          <p:cNvSpPr txBox="1"/>
          <p:nvPr/>
        </p:nvSpPr>
        <p:spPr>
          <a:xfrm>
            <a:off x="274320" y="2814617"/>
            <a:ext cx="2743200" cy="310896"/>
          </a:xfrm>
          <a:prstGeom prst="rect">
            <a:avLst/>
          </a:prstGeom>
          <a:noFill/>
        </p:spPr>
        <p:txBody>
          <a:bodyPr wrap="square" anchor="ctr" lIns="45720" rIns="45720" tIns="18288" bIns="18288">
            <a:spAutoFit/>
          </a:bodyPr>
          <a:lstStyle/>
          <a:p>
            <a:pPr algn="r"/>
            <a:r>
              <a:rPr sz="1300" b="1" i="0">
                <a:solidFill>
                  <a:srgbClr val="1F2A44"/>
                </a:solidFill>
                <a:latin typeface="Calibri"/>
              </a:rPr>
              <a:t>A. pudenda interna</a:t>
            </a:r>
          </a:p>
        </p:txBody>
      </p:sp>
      <p:cxnSp>
        <p:nvCxnSpPr>
          <p:cNvPr id="9" name="Connector 8"/>
          <p:cNvCxnSpPr/>
          <p:nvPr/>
        </p:nvCxnSpPr>
        <p:spPr>
          <a:xfrm>
            <a:off x="3017520" y="2970065"/>
            <a:ext cx="2083907"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5055707" y="292434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3198665"/>
            <a:ext cx="2743200" cy="310896"/>
          </a:xfrm>
          <a:prstGeom prst="rect">
            <a:avLst/>
          </a:prstGeom>
          <a:noFill/>
        </p:spPr>
        <p:txBody>
          <a:bodyPr wrap="square" anchor="ctr" lIns="45720" rIns="45720" tIns="18288" bIns="18288">
            <a:spAutoFit/>
          </a:bodyPr>
          <a:lstStyle/>
          <a:p>
            <a:pPr algn="r"/>
            <a:r>
              <a:rPr sz="1300" b="1" i="0">
                <a:solidFill>
                  <a:srgbClr val="1F2A44"/>
                </a:solidFill>
                <a:latin typeface="Calibri"/>
              </a:rPr>
              <a:t>N. pudendus</a:t>
            </a:r>
          </a:p>
        </p:txBody>
      </p:sp>
      <p:cxnSp>
        <p:nvCxnSpPr>
          <p:cNvPr id="12" name="Connector 11"/>
          <p:cNvCxnSpPr/>
          <p:nvPr/>
        </p:nvCxnSpPr>
        <p:spPr>
          <a:xfrm flipV="1">
            <a:off x="3017520" y="3242470"/>
            <a:ext cx="2271185" cy="111643"/>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5242985" y="3196750"/>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631833"/>
            <a:ext cx="2743200" cy="310896"/>
          </a:xfrm>
          <a:prstGeom prst="rect">
            <a:avLst/>
          </a:prstGeom>
          <a:noFill/>
        </p:spPr>
        <p:txBody>
          <a:bodyPr wrap="square" anchor="ctr" lIns="45720" rIns="45720" tIns="18288" bIns="18288">
            <a:spAutoFit/>
          </a:bodyPr>
          <a:lstStyle/>
          <a:p>
            <a:pPr algn="r"/>
            <a:r>
              <a:rPr sz="1300" b="1" i="0">
                <a:solidFill>
                  <a:srgbClr val="1F2A44"/>
                </a:solidFill>
                <a:latin typeface="Calibri"/>
              </a:rPr>
              <a:t>Lig. sacrospinale</a:t>
            </a:r>
          </a:p>
        </p:txBody>
      </p:sp>
      <p:cxnSp>
        <p:nvCxnSpPr>
          <p:cNvPr id="15" name="Connector 14"/>
          <p:cNvCxnSpPr/>
          <p:nvPr/>
        </p:nvCxnSpPr>
        <p:spPr>
          <a:xfrm>
            <a:off x="3017520" y="3787281"/>
            <a:ext cx="2379012" cy="0"/>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5350812" y="3741561"/>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08415" y="1837944"/>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M. obturatorius internus</a:t>
            </a:r>
          </a:p>
        </p:txBody>
      </p:sp>
      <p:cxnSp>
        <p:nvCxnSpPr>
          <p:cNvPr id="18" name="Connector 17"/>
          <p:cNvCxnSpPr/>
          <p:nvPr/>
        </p:nvCxnSpPr>
        <p:spPr>
          <a:xfrm flipH="1">
            <a:off x="6009444" y="1993392"/>
            <a:ext cx="2798971" cy="624816"/>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5963724" y="2572488"/>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08415" y="2221992"/>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Rami n. pudendi</a:t>
            </a:r>
          </a:p>
        </p:txBody>
      </p:sp>
      <p:cxnSp>
        <p:nvCxnSpPr>
          <p:cNvPr id="21" name="Connector 20"/>
          <p:cNvCxnSpPr/>
          <p:nvPr/>
        </p:nvCxnSpPr>
        <p:spPr>
          <a:xfrm flipH="1">
            <a:off x="6747208" y="2377440"/>
            <a:ext cx="2061207" cy="592625"/>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6701488" y="292434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08415" y="2606040"/>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Rami n. pudendi</a:t>
            </a:r>
          </a:p>
        </p:txBody>
      </p:sp>
      <p:cxnSp>
        <p:nvCxnSpPr>
          <p:cNvPr id="24" name="Connector 23"/>
          <p:cNvCxnSpPr/>
          <p:nvPr/>
        </p:nvCxnSpPr>
        <p:spPr>
          <a:xfrm flipH="1">
            <a:off x="6735858" y="2761488"/>
            <a:ext cx="2072557" cy="577459"/>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6690138" y="3293227"/>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808415" y="2990088"/>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Rami n. pudendi</a:t>
            </a:r>
          </a:p>
        </p:txBody>
      </p:sp>
      <p:cxnSp>
        <p:nvCxnSpPr>
          <p:cNvPr id="27" name="Connector 26"/>
          <p:cNvCxnSpPr/>
          <p:nvPr/>
        </p:nvCxnSpPr>
        <p:spPr>
          <a:xfrm flipH="1">
            <a:off x="6298874" y="3145536"/>
            <a:ext cx="2509541" cy="460141"/>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6253154" y="3559957"/>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08415" y="3374136"/>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Rectum</a:t>
            </a:r>
          </a:p>
        </p:txBody>
      </p:sp>
      <p:cxnSp>
        <p:nvCxnSpPr>
          <p:cNvPr id="30" name="Connector 29"/>
          <p:cNvCxnSpPr/>
          <p:nvPr/>
        </p:nvCxnSpPr>
        <p:spPr>
          <a:xfrm flipH="1">
            <a:off x="7484972" y="3529584"/>
            <a:ext cx="1323443" cy="348498"/>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439252" y="3832362"/>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08415" y="3758184"/>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M. coccygeus</a:t>
            </a:r>
          </a:p>
        </p:txBody>
      </p:sp>
      <p:cxnSp>
        <p:nvCxnSpPr>
          <p:cNvPr id="33" name="Connector 32"/>
          <p:cNvCxnSpPr/>
          <p:nvPr/>
        </p:nvCxnSpPr>
        <p:spPr>
          <a:xfrm flipH="1">
            <a:off x="6009444" y="3913632"/>
            <a:ext cx="2798971" cy="89303"/>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5963724" y="3957215"/>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08415" y="4142232"/>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Lig. anococcygeum</a:t>
            </a:r>
          </a:p>
        </p:txBody>
      </p:sp>
      <p:cxnSp>
        <p:nvCxnSpPr>
          <p:cNvPr id="36" name="Connector 35"/>
          <p:cNvCxnSpPr/>
          <p:nvPr/>
        </p:nvCxnSpPr>
        <p:spPr>
          <a:xfrm flipH="1">
            <a:off x="6361301" y="4297680"/>
            <a:ext cx="2447114" cy="62786"/>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315581" y="4314746"/>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08415" y="4526280"/>
            <a:ext cx="3108960" cy="310896"/>
          </a:xfrm>
          <a:prstGeom prst="rect">
            <a:avLst/>
          </a:prstGeom>
          <a:noFill/>
        </p:spPr>
        <p:txBody>
          <a:bodyPr wrap="square" anchor="ctr" lIns="45720" rIns="45720" tIns="18288" bIns="18288">
            <a:spAutoFit/>
          </a:bodyPr>
          <a:lstStyle/>
          <a:p>
            <a:pPr algn="l"/>
            <a:r>
              <a:rPr sz="1300" b="1" i="0">
                <a:solidFill>
                  <a:srgbClr val="1F2A44"/>
                </a:solidFill>
                <a:latin typeface="Calibri"/>
              </a:rPr>
              <a:t>Os coccygis</a:t>
            </a:r>
          </a:p>
        </p:txBody>
      </p:sp>
      <p:cxnSp>
        <p:nvCxnSpPr>
          <p:cNvPr id="39" name="Connector 38"/>
          <p:cNvCxnSpPr/>
          <p:nvPr/>
        </p:nvCxnSpPr>
        <p:spPr>
          <a:xfrm flipH="1" flipV="1">
            <a:off x="6122946" y="4587471"/>
            <a:ext cx="2685469" cy="94257"/>
          </a:xfrm>
          <a:prstGeom prst="line">
            <a:avLst/>
          </a:prstGeom>
          <a:ln w="22225">
            <a:solidFill>
              <a:srgbClr val="FFD200"/>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6077226" y="4541751"/>
            <a:ext cx="91440" cy="91440"/>
          </a:xfrm>
          <a:prstGeom prst="ellipse">
            <a:avLst/>
          </a:prstGeom>
          <a:solidFill>
            <a:srgbClr val="FFD200"/>
          </a:solidFill>
          <a:ln w="9525">
            <a:solidFill>
              <a:srgbClr val="1F2A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46120" y="4855464"/>
            <a:ext cx="5333695" cy="256032"/>
          </a:xfrm>
          <a:prstGeom prst="rect">
            <a:avLst/>
          </a:prstGeom>
          <a:noFill/>
        </p:spPr>
        <p:txBody>
          <a:bodyPr wrap="square" anchor="t" lIns="45720" rIns="45720" tIns="18288" bIns="18288">
            <a:spAutoFit/>
          </a:bodyPr>
          <a:lstStyle/>
          <a:p>
            <a:pPr algn="ctr"/>
            <a:r>
              <a:rPr sz="1100" b="0" i="1">
                <a:solidFill>
                  <a:srgbClr val="555B66"/>
                </a:solidFill>
                <a:latin typeface="Calibri"/>
              </a:rPr>
              <a:t>Figure 1 – Goidescu O. C. ve ark., 2021 (PMC8713160, CC BY-NC-ND)</a:t>
            </a:r>
          </a:p>
        </p:txBody>
      </p:sp>
      <p:sp>
        <p:nvSpPr>
          <p:cNvPr id="42" name="Rectangle 41"/>
          <p:cNvSpPr/>
          <p:nvPr/>
        </p:nvSpPr>
        <p:spPr>
          <a:xfrm>
            <a:off x="274320" y="5138928"/>
            <a:ext cx="11643055" cy="960120"/>
          </a:xfrm>
          <a:prstGeom prst="rect">
            <a:avLst/>
          </a:prstGeom>
          <a:solidFill>
            <a:srgbClr val="F3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5166360"/>
            <a:ext cx="11460175" cy="960120"/>
          </a:xfrm>
          <a:prstGeom prst="rect">
            <a:avLst/>
          </a:prstGeom>
          <a:noFill/>
        </p:spPr>
        <p:txBody>
          <a:bodyPr wrap="square">
            <a:spAutoFit/>
          </a:bodyPr>
          <a:lstStyle/>
          <a:p>
            <a:pPr>
              <a:spcAft>
                <a:spcPts val="200"/>
              </a:spcAft>
            </a:pPr>
            <a:r>
              <a:rPr sz="1600">
                <a:solidFill>
                  <a:srgbClr val="1F2A44"/>
                </a:solidFill>
                <a:latin typeface="Calibri"/>
              </a:rPr>
              <a:t>• N. pudendus lig. sacrospinale hizasında a. pudenda interna'nın medialinde seyreder (pudendal blokta bu ilişki kullanılır).</a:t>
            </a:r>
          </a:p>
        </p:txBody>
      </p:sp>
      <p:sp>
        <p:nvSpPr>
          <p:cNvPr id="44" name="TextBox 43"/>
          <p:cNvSpPr txBox="1"/>
          <p:nvPr/>
        </p:nvSpPr>
        <p:spPr>
          <a:xfrm>
            <a:off x="274320" y="6108192"/>
            <a:ext cx="7315200" cy="274320"/>
          </a:xfrm>
          <a:prstGeom prst="rect">
            <a:avLst/>
          </a:prstGeom>
          <a:noFill/>
        </p:spPr>
        <p:txBody>
          <a:bodyPr wrap="square" anchor="t" lIns="45720" rIns="45720" tIns="18288" bIns="18288">
            <a:spAutoFit/>
          </a:bodyPr>
          <a:lstStyle/>
          <a:p>
            <a:pPr algn="l"/>
            <a:r>
              <a:rPr sz="900" b="0" i="1">
                <a:solidFill>
                  <a:srgbClr val="C0392B"/>
                </a:solidFill>
                <a:latin typeface="Calibri"/>
              </a:rPr>
              <a:t>Lisans: CC BY-NC-ND – yalnızca ticari olmayan eğitim amaçlı; görsel değiştirilmeden (kırpılmadan) kullanılmıştır.</a:t>
            </a:r>
          </a:p>
        </p:txBody>
      </p:sp>
      <p:cxnSp>
        <p:nvCxnSpPr>
          <p:cNvPr id="45" name="Connector 44"/>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Goidescu O. C., Enyedi M., Tulin A. D. et al. Overview of the anatomical basis of the piriformis syndrome-dissection with magnetic resonance correlation. Exp Ther Med. 2021 Dec 3;23(2):113. doi: 10.3892/etm.2021.11036 PMCID: PMC8713160. Lisans: CC BY-NC-ND.</a:t>
            </a:r>
          </a:p>
        </p:txBody>
      </p:sp>
      <p:sp>
        <p:nvSpPr>
          <p:cNvPr id="47" name="TextBox 46"/>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Klinik: pudendal blok ve lenfatik drenaj</a:t>
            </a:r>
          </a:p>
        </p:txBody>
      </p:sp>
      <p:sp>
        <p:nvSpPr>
          <p:cNvPr id="4" name="TextBox 3"/>
          <p:cNvSpPr txBox="1"/>
          <p:nvPr/>
        </p:nvSpPr>
        <p:spPr>
          <a:xfrm>
            <a:off x="9921240" y="109728"/>
            <a:ext cx="2057400" cy="310896"/>
          </a:xfrm>
          <a:prstGeom prst="rect">
            <a:avLst/>
          </a:prstGeom>
          <a:solidFill>
            <a:srgbClr val="C26A00"/>
          </a:solidFill>
        </p:spPr>
        <p:txBody>
          <a:bodyPr wrap="square" anchor="ctr" lIns="45720" rIns="45720" tIns="18288" bIns="18288">
            <a:spAutoFit/>
          </a:bodyPr>
          <a:lstStyle/>
          <a:p>
            <a:pPr algn="ctr"/>
            <a:r>
              <a:rPr sz="1100" b="1" i="0">
                <a:solidFill>
                  <a:srgbClr val="FFFFFF"/>
                </a:solidFill>
                <a:latin typeface="Calibri"/>
              </a:rPr>
              <a:t>KLİNİK BAĞLANTI</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DAMAR – SİNİR</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1800">
                <a:solidFill>
                  <a:srgbClr val="1F2A44"/>
                </a:solidFill>
                <a:latin typeface="Calibri"/>
              </a:rPr>
              <a:t>• </a:t>
            </a:r>
            <a:r>
              <a:rPr sz="1800">
                <a:solidFill>
                  <a:srgbClr val="1F2A44"/>
                </a:solidFill>
                <a:latin typeface="Calibri"/>
              </a:rPr>
              <a:t>Pudendal blok</a:t>
            </a:r>
            <a:r>
              <a:rPr sz="1800">
                <a:solidFill>
                  <a:srgbClr val="1F2A44"/>
                </a:solidFill>
                <a:latin typeface="Calibri"/>
              </a:rPr>
              <a:t>: doğumda perine anestezisi; vajinal yoldan </a:t>
            </a:r>
            <a:r>
              <a:rPr sz="1800">
                <a:solidFill>
                  <a:srgbClr val="1F2A44"/>
                </a:solidFill>
                <a:latin typeface="Calibri"/>
              </a:rPr>
              <a:t>spina ischiadica</a:t>
            </a:r>
            <a:r>
              <a:rPr sz="1800">
                <a:solidFill>
                  <a:srgbClr val="1F2A44"/>
                </a:solidFill>
                <a:latin typeface="Calibri"/>
              </a:rPr>
              <a:t> palpe edilip hemen medial-arkasına enjeksiyon.</a:t>
            </a:r>
          </a:p>
          <a:p>
            <a:pPr>
              <a:spcAft>
                <a:spcPts val="600"/>
              </a:spcAft>
            </a:pPr>
            <a:r>
              <a:rPr sz="1800">
                <a:solidFill>
                  <a:srgbClr val="1F2A44"/>
                </a:solidFill>
                <a:latin typeface="Calibri"/>
              </a:rPr>
              <a:t>• </a:t>
            </a:r>
            <a:r>
              <a:rPr sz="1800">
                <a:solidFill>
                  <a:srgbClr val="1F2A44"/>
                </a:solidFill>
                <a:latin typeface="Calibri"/>
              </a:rPr>
              <a:t>Pudendal nöralji</a:t>
            </a:r>
            <a:r>
              <a:rPr sz="1800">
                <a:solidFill>
                  <a:srgbClr val="1F2A44"/>
                </a:solidFill>
                <a:latin typeface="Calibri"/>
              </a:rPr>
              <a:t>: uzun süre oturma, bisiklet; canalis pudendalis'te sıkışma → oturunca artan perine ağrısı.</a:t>
            </a:r>
          </a:p>
          <a:p>
            <a:pPr>
              <a:spcAft>
                <a:spcPts val="600"/>
              </a:spcAft>
            </a:pPr>
            <a:r>
              <a:rPr sz="1800">
                <a:solidFill>
                  <a:srgbClr val="1F2A44"/>
                </a:solidFill>
                <a:latin typeface="Calibri"/>
              </a:rPr>
              <a:t>• </a:t>
            </a:r>
            <a:r>
              <a:rPr sz="1800">
                <a:solidFill>
                  <a:srgbClr val="1F2A44"/>
                </a:solidFill>
                <a:latin typeface="Calibri"/>
              </a:rPr>
              <a:t>Lenfatik drenaj</a:t>
            </a:r>
            <a:r>
              <a:rPr sz="1800">
                <a:solidFill>
                  <a:srgbClr val="1F2A44"/>
                </a:solidFill>
                <a:latin typeface="Calibri"/>
              </a:rPr>
              <a:t>: perine derisi, scrotum / labia, anüsün alt kısmı → </a:t>
            </a:r>
            <a:r>
              <a:rPr sz="1800">
                <a:solidFill>
                  <a:srgbClr val="1F2A44"/>
                </a:solidFill>
                <a:latin typeface="Calibri"/>
              </a:rPr>
              <a:t>nodi inguinales superficiales</a:t>
            </a:r>
            <a:r>
              <a:rPr sz="1800">
                <a:solidFill>
                  <a:srgbClr val="1F2A44"/>
                </a:solidFill>
                <a:latin typeface="Calibri"/>
              </a:rPr>
              <a:t>.</a:t>
            </a:r>
          </a:p>
          <a:p>
            <a:pPr>
              <a:spcAft>
                <a:spcPts val="600"/>
              </a:spcAft>
            </a:pPr>
            <a:r>
              <a:rPr sz="1800">
                <a:solidFill>
                  <a:srgbClr val="1F2A44"/>
                </a:solidFill>
                <a:latin typeface="Calibri"/>
              </a:rPr>
              <a:t>• Derin yapılar (urethra, prostat, vagina üst kısmı) → </a:t>
            </a:r>
            <a:r>
              <a:rPr sz="1800">
                <a:solidFill>
                  <a:srgbClr val="1F2A44"/>
                </a:solidFill>
                <a:latin typeface="Calibri"/>
              </a:rPr>
              <a:t>nodi iliaci interni</a:t>
            </a:r>
            <a:r>
              <a:rPr sz="1800">
                <a:solidFill>
                  <a:srgbClr val="1F2A44"/>
                </a:solidFill>
                <a:latin typeface="Calibri"/>
              </a:rPr>
              <a:t>; testis → paraaortik (lomber) nodlar.</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00"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731520"/>
            <a:ext cx="5486400" cy="457200"/>
          </a:xfrm>
          <a:prstGeom prst="rect">
            <a:avLst/>
          </a:prstGeom>
          <a:noFill/>
        </p:spPr>
        <p:txBody>
          <a:bodyPr wrap="square" anchor="t" lIns="45720" rIns="45720" tIns="18288" bIns="18288">
            <a:spAutoFit/>
          </a:bodyPr>
          <a:lstStyle/>
          <a:p>
            <a:pPr algn="l"/>
            <a:r>
              <a:rPr sz="2000" b="1" i="0">
                <a:solidFill>
                  <a:srgbClr val="C8D1E6"/>
                </a:solidFill>
                <a:latin typeface="Calibri"/>
              </a:rPr>
              <a:t>BÖLÜM 6</a:t>
            </a:r>
          </a:p>
        </p:txBody>
      </p:sp>
      <p:sp>
        <p:nvSpPr>
          <p:cNvPr id="4" name="TextBox 3"/>
          <p:cNvSpPr txBox="1"/>
          <p:nvPr/>
        </p:nvSpPr>
        <p:spPr>
          <a:xfrm>
            <a:off x="548640" y="1234440"/>
            <a:ext cx="5669280" cy="1371600"/>
          </a:xfrm>
          <a:prstGeom prst="rect">
            <a:avLst/>
          </a:prstGeom>
          <a:noFill/>
        </p:spPr>
        <p:txBody>
          <a:bodyPr wrap="square" anchor="t" lIns="45720" rIns="45720" tIns="18288" bIns="18288">
            <a:spAutoFit/>
          </a:bodyPr>
          <a:lstStyle/>
          <a:p>
            <a:pPr algn="l"/>
            <a:r>
              <a:rPr sz="4000" b="1" i="0">
                <a:solidFill>
                  <a:srgbClr val="FFFFFF"/>
                </a:solidFill>
                <a:latin typeface="Calibri"/>
              </a:rPr>
              <a:t>Klinik – özet</a:t>
            </a:r>
          </a:p>
        </p:txBody>
      </p:sp>
      <p:sp>
        <p:nvSpPr>
          <p:cNvPr id="5" name="TextBox 4"/>
          <p:cNvSpPr txBox="1"/>
          <p:nvPr/>
        </p:nvSpPr>
        <p:spPr>
          <a:xfrm>
            <a:off x="548640" y="2697480"/>
            <a:ext cx="5486400" cy="640080"/>
          </a:xfrm>
          <a:prstGeom prst="rect">
            <a:avLst/>
          </a:prstGeom>
          <a:noFill/>
        </p:spPr>
        <p:txBody>
          <a:bodyPr wrap="square" anchor="t" lIns="45720" rIns="45720" tIns="18288" bIns="18288">
            <a:spAutoFit/>
          </a:bodyPr>
          <a:lstStyle/>
          <a:p>
            <a:pPr algn="l"/>
            <a:r>
              <a:rPr sz="1700" b="0" i="1">
                <a:solidFill>
                  <a:srgbClr val="C8D1E6"/>
                </a:solidFill>
                <a:latin typeface="Calibri"/>
              </a:rPr>
              <a:t>Varyasyonlar, özet, kendini değerlendir</a:t>
            </a:r>
          </a:p>
        </p:txBody>
      </p:sp>
      <p:sp>
        <p:nvSpPr>
          <p:cNvPr id="6" name="TextBox 5"/>
          <p:cNvSpPr txBox="1"/>
          <p:nvPr/>
        </p:nvSpPr>
        <p:spPr>
          <a:xfrm>
            <a:off x="548640" y="3429000"/>
            <a:ext cx="5577840" cy="2926080"/>
          </a:xfrm>
          <a:prstGeom prst="rect">
            <a:avLst/>
          </a:prstGeom>
          <a:noFill/>
        </p:spPr>
        <p:txBody>
          <a:bodyPr wrap="square">
            <a:spAutoFit/>
          </a:bodyPr>
          <a:lstStyle/>
          <a:p>
            <a:pPr>
              <a:spcAft>
                <a:spcPts val="600"/>
              </a:spcAft>
            </a:pPr>
            <a:r>
              <a:rPr sz="1700">
                <a:solidFill>
                  <a:srgbClr val="FFFFFF"/>
                </a:solidFill>
                <a:latin typeface="Calibri"/>
              </a:rPr>
              <a:t>• Sık varyasyonlar</a:t>
            </a:r>
          </a:p>
          <a:p>
            <a:pPr>
              <a:spcAft>
                <a:spcPts val="600"/>
              </a:spcAft>
            </a:pPr>
            <a:r>
              <a:rPr sz="1700">
                <a:solidFill>
                  <a:srgbClr val="FFFFFF"/>
                </a:solidFill>
                <a:latin typeface="Calibri"/>
              </a:rPr>
              <a:t>• Özet</a:t>
            </a:r>
          </a:p>
          <a:p>
            <a:pPr>
              <a:spcAft>
                <a:spcPts val="600"/>
              </a:spcAft>
            </a:pPr>
            <a:r>
              <a:rPr sz="1700">
                <a:solidFill>
                  <a:srgbClr val="FFFFFF"/>
                </a:solidFill>
                <a:latin typeface="Calibri"/>
              </a:rPr>
              <a:t>• Sorular</a:t>
            </a:r>
          </a:p>
        </p:txBody>
      </p:sp>
      <p:pic>
        <p:nvPicPr>
          <p:cNvPr id="7" name="Picture 6" descr="sagittal_kadin.jpg"/>
          <p:cNvPicPr>
            <a:picLocks noChangeAspect="1"/>
          </p:cNvPicPr>
          <p:nvPr/>
        </p:nvPicPr>
        <p:blipFill>
          <a:blip r:embed="rId2"/>
          <a:stretch>
            <a:fillRect/>
          </a:stretch>
        </p:blipFill>
        <p:spPr>
          <a:xfrm>
            <a:off x="6675120" y="1909391"/>
            <a:ext cx="5257800" cy="2673457"/>
          </a:xfrm>
          <a:prstGeom prst="rect">
            <a:avLst/>
          </a:prstGeom>
        </p:spPr>
      </p:pic>
      <p:sp>
        <p:nvSpPr>
          <p:cNvPr id="8" name="TextBox 7"/>
          <p:cNvSpPr txBox="1"/>
          <p:nvPr/>
        </p:nvSpPr>
        <p:spPr>
          <a:xfrm>
            <a:off x="6675120" y="6080760"/>
            <a:ext cx="5257800" cy="274320"/>
          </a:xfrm>
          <a:prstGeom prst="rect">
            <a:avLst/>
          </a:prstGeom>
          <a:noFill/>
        </p:spPr>
        <p:txBody>
          <a:bodyPr wrap="square" anchor="t" lIns="45720" rIns="45720" tIns="18288" bIns="18288">
            <a:spAutoFit/>
          </a:bodyPr>
          <a:lstStyle/>
          <a:p>
            <a:pPr algn="ctr"/>
            <a:r>
              <a:rPr sz="900" b="0" i="1">
                <a:solidFill>
                  <a:srgbClr val="555B66"/>
                </a:solidFill>
                <a:latin typeface="Calibri"/>
              </a:rPr>
              <a:t>OpenStax A&amp;P, Şekil 25.17a 'Kadın üretrası' (CC BY; etiketler Latinceleştirildi)</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Sık görülen varyasyonlar (kısa)</a:t>
            </a:r>
          </a:p>
        </p:txBody>
      </p:sp>
      <p:sp>
        <p:nvSpPr>
          <p:cNvPr id="4" name="TextBox 3"/>
          <p:cNvSpPr txBox="1"/>
          <p:nvPr/>
        </p:nvSpPr>
        <p:spPr>
          <a:xfrm>
            <a:off x="9921240" y="109728"/>
            <a:ext cx="2057400" cy="310896"/>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VARYASYON</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KLİNİK – ÖZET</a:t>
            </a:r>
          </a:p>
        </p:txBody>
      </p:sp>
      <p:graphicFrame>
        <p:nvGraphicFramePr>
          <p:cNvPr id="6" name="Table 5"/>
          <p:cNvGraphicFramePr>
            <a:graphicFrameLocks noGrp="1"/>
          </p:cNvGraphicFramePr>
          <p:nvPr/>
        </p:nvGraphicFramePr>
        <p:xfrm>
          <a:off x="274320" y="1143000"/>
          <a:ext cx="11640312" cy="3611879"/>
        </p:xfrm>
        <a:graphic>
          <a:graphicData uri="http://schemas.openxmlformats.org/drawingml/2006/table">
            <a:tbl>
              <a:tblPr firstRow="1" bandRow="1">
                <a:tableStyleId>{5C22544A-7EE6-4342-B048-85BDC9FD1C3A}</a:tableStyleId>
              </a:tblPr>
              <a:tblGrid>
                <a:gridCol w="3666240"/>
                <a:gridCol w="4216176"/>
                <a:gridCol w="3757896"/>
              </a:tblGrid>
              <a:tr h="902969">
                <a:tc>
                  <a:txBody>
                    <a:bodyPr/>
                    <a:lstStyle/>
                    <a:p>
                      <a:r>
                        <a:rPr sz="1500" b="1">
                          <a:solidFill>
                            <a:srgbClr val="FFFFFF"/>
                          </a:solidFill>
                          <a:latin typeface="Calibri"/>
                        </a:rPr>
                        <a:t>Varyasyon</a:t>
                      </a:r>
                    </a:p>
                  </a:txBody>
                  <a:tcPr>
                    <a:solidFill>
                      <a:srgbClr val="1F2A44"/>
                    </a:solidFill>
                  </a:tcPr>
                </a:tc>
                <a:tc>
                  <a:txBody>
                    <a:bodyPr/>
                    <a:lstStyle/>
                    <a:p>
                      <a:r>
                        <a:rPr sz="1500" b="1">
                          <a:solidFill>
                            <a:srgbClr val="FFFFFF"/>
                          </a:solidFill>
                          <a:latin typeface="Calibri"/>
                        </a:rPr>
                        <a:t>Sıklık / bulgu</a:t>
                      </a:r>
                    </a:p>
                  </a:txBody>
                  <a:tcPr>
                    <a:solidFill>
                      <a:srgbClr val="1F2A44"/>
                    </a:solidFill>
                  </a:tcPr>
                </a:tc>
                <a:tc>
                  <a:txBody>
                    <a:bodyPr/>
                    <a:lstStyle/>
                    <a:p>
                      <a:r>
                        <a:rPr sz="1500" b="1">
                          <a:solidFill>
                            <a:srgbClr val="FFFFFF"/>
                          </a:solidFill>
                          <a:latin typeface="Calibri"/>
                        </a:rPr>
                        <a:t>Neden önemli?</a:t>
                      </a:r>
                    </a:p>
                  </a:txBody>
                  <a:tcPr>
                    <a:solidFill>
                      <a:srgbClr val="1F2A44"/>
                    </a:solidFill>
                  </a:tcPr>
                </a:tc>
              </a:tr>
              <a:tr h="902969">
                <a:tc>
                  <a:txBody>
                    <a:bodyPr/>
                    <a:lstStyle/>
                    <a:p>
                      <a:r>
                        <a:rPr sz="1500" b="1">
                          <a:solidFill>
                            <a:srgbClr val="1F2A44"/>
                          </a:solidFill>
                          <a:latin typeface="Calibri"/>
                        </a:rPr>
                        <a:t>N. pudendus'un birden fazla gövdeyle seyretmesi</a:t>
                      </a:r>
                    </a:p>
                  </a:txBody>
                  <a:tcPr marT="27432" marB="27432">
                    <a:solidFill>
                      <a:srgbClr val="F3F4F6"/>
                    </a:solidFill>
                  </a:tcPr>
                </a:tc>
                <a:tc>
                  <a:txBody>
                    <a:bodyPr/>
                    <a:lstStyle/>
                    <a:p>
                      <a:r>
                        <a:rPr sz="1500">
                          <a:solidFill>
                            <a:srgbClr val="1F2A44"/>
                          </a:solidFill>
                          <a:latin typeface="Calibri"/>
                        </a:rPr>
                        <a:t>52 hemipelviste tek gövde %51,9; iki veya üç gövde geri kalanında (Ranjan ve ark. 2022)</a:t>
                      </a:r>
                    </a:p>
                  </a:txBody>
                  <a:tcPr marT="27432" marB="27432">
                    <a:solidFill>
                      <a:srgbClr val="F3F4F6"/>
                    </a:solidFill>
                  </a:tcPr>
                </a:tc>
                <a:tc>
                  <a:txBody>
                    <a:bodyPr/>
                    <a:lstStyle/>
                    <a:p>
                      <a:r>
                        <a:rPr sz="1500">
                          <a:solidFill>
                            <a:srgbClr val="1F2A44"/>
                          </a:solidFill>
                          <a:latin typeface="Calibri"/>
                        </a:rPr>
                        <a:t>Pudendal blok eksik kalabilir</a:t>
                      </a:r>
                    </a:p>
                  </a:txBody>
                  <a:tcPr marT="27432" marB="27432">
                    <a:solidFill>
                      <a:srgbClr val="F3F4F6"/>
                    </a:solidFill>
                  </a:tcPr>
                </a:tc>
              </a:tr>
              <a:tr h="902969">
                <a:tc>
                  <a:txBody>
                    <a:bodyPr/>
                    <a:lstStyle/>
                    <a:p>
                      <a:r>
                        <a:rPr sz="1500" b="1">
                          <a:solidFill>
                            <a:srgbClr val="1F2A44"/>
                          </a:solidFill>
                          <a:latin typeface="Calibri"/>
                        </a:rPr>
                        <a:t>N. rectalis inferior'un doğrudan plexus sacralis'ten çıkması</a:t>
                      </a:r>
                    </a:p>
                  </a:txBody>
                  <a:tcPr marT="27432" marB="27432">
                    <a:solidFill>
                      <a:srgbClr val="FFFFFF"/>
                    </a:solidFill>
                  </a:tcPr>
                </a:tc>
                <a:tc>
                  <a:txBody>
                    <a:bodyPr/>
                    <a:lstStyle/>
                    <a:p>
                      <a:r>
                        <a:rPr sz="1500">
                          <a:solidFill>
                            <a:srgbClr val="1F2A44"/>
                          </a:solidFill>
                          <a:latin typeface="Calibri"/>
                        </a:rPr>
                        <a:t>Olgu sunumları (ör. S3'ten; Dupont ve ark. 2019)</a:t>
                      </a:r>
                    </a:p>
                  </a:txBody>
                  <a:tcPr marT="27432" marB="27432">
                    <a:solidFill>
                      <a:srgbClr val="FFFFFF"/>
                    </a:solidFill>
                  </a:tcPr>
                </a:tc>
                <a:tc>
                  <a:txBody>
                    <a:bodyPr/>
                    <a:lstStyle/>
                    <a:p>
                      <a:r>
                        <a:rPr sz="1500">
                          <a:solidFill>
                            <a:srgbClr val="1F2A44"/>
                          </a:solidFill>
                          <a:latin typeface="Calibri"/>
                        </a:rPr>
                        <a:t>Blokta anal bölge uyuşmayabilir</a:t>
                      </a:r>
                    </a:p>
                  </a:txBody>
                  <a:tcPr marT="27432" marB="27432">
                    <a:solidFill>
                      <a:srgbClr val="FFFFFF"/>
                    </a:solidFill>
                  </a:tcPr>
                </a:tc>
              </a:tr>
              <a:tr h="902972">
                <a:tc>
                  <a:txBody>
                    <a:bodyPr/>
                    <a:lstStyle/>
                    <a:p>
                      <a:r>
                        <a:rPr sz="1500" b="1">
                          <a:solidFill>
                            <a:srgbClr val="1F2A44"/>
                          </a:solidFill>
                          <a:latin typeface="Calibri"/>
                        </a:rPr>
                        <a:t>A. pudenda accessoria (pelvis içinden penise giden arter)</a:t>
                      </a:r>
                    </a:p>
                  </a:txBody>
                  <a:tcPr marT="27432" marB="27432">
                    <a:solidFill>
                      <a:srgbClr val="F3F4F6"/>
                    </a:solidFill>
                  </a:tcPr>
                </a:tc>
                <a:tc>
                  <a:txBody>
                    <a:bodyPr/>
                    <a:lstStyle/>
                    <a:p>
                      <a:r>
                        <a:rPr sz="1500">
                          <a:solidFill>
                            <a:srgbClr val="1F2A44"/>
                          </a:solidFill>
                          <a:latin typeface="Calibri"/>
                        </a:rPr>
                        <a:t>Olgu sunumları (Nayak ve ark. 2014)</a:t>
                      </a:r>
                    </a:p>
                  </a:txBody>
                  <a:tcPr marT="27432" marB="27432">
                    <a:solidFill>
                      <a:srgbClr val="F3F4F6"/>
                    </a:solidFill>
                  </a:tcPr>
                </a:tc>
                <a:tc>
                  <a:txBody>
                    <a:bodyPr/>
                    <a:lstStyle/>
                    <a:p>
                      <a:r>
                        <a:rPr sz="1500">
                          <a:solidFill>
                            <a:srgbClr val="1F2A44"/>
                          </a:solidFill>
                          <a:latin typeface="Calibri"/>
                        </a:rPr>
                        <a:t>Prostat cerrahisinde yaralanırsa erektil disfonksiyon</a:t>
                      </a:r>
                    </a:p>
                  </a:txBody>
                  <a:tcPr marT="27432" marB="27432">
                    <a:solidFill>
                      <a:srgbClr val="F3F4F6"/>
                    </a:solidFill>
                  </a:tcPr>
                </a:tc>
              </a:tr>
            </a:tbl>
          </a:graphicData>
        </a:graphic>
      </p:graphicFrame>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Kaynaklar kaynakçada (PMC açık erişim).</a:t>
            </a:r>
          </a:p>
        </p:txBody>
      </p:sp>
      <p:sp>
        <p:nvSpPr>
          <p:cNvPr id="9" name="TextBox 8"/>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Özet</a:t>
            </a:r>
          </a:p>
        </p:txBody>
      </p:sp>
      <p:sp>
        <p:nvSpPr>
          <p:cNvPr id="4" name="TextBox 3"/>
          <p:cNvSpPr txBox="1"/>
          <p:nvPr/>
        </p:nvSpPr>
        <p:spPr>
          <a:xfrm>
            <a:off x="9921240" y="109728"/>
            <a:ext cx="2057400" cy="310896"/>
          </a:xfrm>
          <a:prstGeom prst="rect">
            <a:avLst/>
          </a:prstGeom>
          <a:solidFill>
            <a:srgbClr val="1F2A44"/>
          </a:solidFill>
        </p:spPr>
        <p:txBody>
          <a:bodyPr wrap="square" anchor="ctr" lIns="45720" rIns="45720" tIns="18288" bIns="18288">
            <a:spAutoFit/>
          </a:bodyPr>
          <a:lstStyle/>
          <a:p>
            <a:pPr algn="ctr"/>
            <a:r>
              <a:rPr sz="1100" b="1" i="0">
                <a:solidFill>
                  <a:srgbClr val="FFFFFF"/>
                </a:solidFill>
                <a:latin typeface="Calibri"/>
              </a:rPr>
              <a:t>ÖZET</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KLİNİK – ÖZET</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1800">
                <a:solidFill>
                  <a:srgbClr val="1F2A44"/>
                </a:solidFill>
                <a:latin typeface="Calibri"/>
              </a:rPr>
              <a:t>• Perine = diaphragma pelvis'in altı; sınırı = apertura pelvis inferior.</a:t>
            </a:r>
          </a:p>
          <a:p>
            <a:pPr>
              <a:spcAft>
                <a:spcPts val="600"/>
              </a:spcAft>
            </a:pPr>
            <a:r>
              <a:rPr sz="1800">
                <a:solidFill>
                  <a:srgbClr val="1F2A44"/>
                </a:solidFill>
                <a:latin typeface="Calibri"/>
              </a:rPr>
              <a:t>• Tuber ischiadicum'lar arası çizgi → </a:t>
            </a:r>
            <a:r>
              <a:rPr sz="1800">
                <a:solidFill>
                  <a:srgbClr val="1F2A44"/>
                </a:solidFill>
                <a:latin typeface="Calibri"/>
              </a:rPr>
              <a:t>regio urogenitalis</a:t>
            </a:r>
            <a:r>
              <a:rPr sz="1800">
                <a:solidFill>
                  <a:srgbClr val="1F2A44"/>
                </a:solidFill>
                <a:latin typeface="Calibri"/>
              </a:rPr>
              <a:t> (önde) + </a:t>
            </a:r>
            <a:r>
              <a:rPr sz="1800">
                <a:solidFill>
                  <a:srgbClr val="1F2A44"/>
                </a:solidFill>
                <a:latin typeface="Calibri"/>
              </a:rPr>
              <a:t>regio analis</a:t>
            </a:r>
            <a:r>
              <a:rPr sz="1800">
                <a:solidFill>
                  <a:srgbClr val="1F2A44"/>
                </a:solidFill>
                <a:latin typeface="Calibri"/>
              </a:rPr>
              <a:t> (arkada).</a:t>
            </a:r>
          </a:p>
          <a:p>
            <a:pPr>
              <a:spcAft>
                <a:spcPts val="600"/>
              </a:spcAft>
            </a:pPr>
            <a:r>
              <a:rPr sz="1800">
                <a:solidFill>
                  <a:srgbClr val="1F2A44"/>
                </a:solidFill>
                <a:latin typeface="Calibri"/>
              </a:rPr>
              <a:t>• Fasyalar: </a:t>
            </a:r>
            <a:r>
              <a:rPr sz="1800">
                <a:solidFill>
                  <a:srgbClr val="1F2A44"/>
                </a:solidFill>
                <a:latin typeface="Calibri"/>
              </a:rPr>
              <a:t>Colles</a:t>
            </a:r>
            <a:r>
              <a:rPr sz="1800">
                <a:solidFill>
                  <a:srgbClr val="1F2A44"/>
                </a:solidFill>
                <a:latin typeface="Calibri"/>
              </a:rPr>
              <a:t> (Scarpa ve dartos ile devamlı) → </a:t>
            </a:r>
            <a:r>
              <a:rPr sz="1800">
                <a:solidFill>
                  <a:srgbClr val="1F2A44"/>
                </a:solidFill>
                <a:latin typeface="Calibri"/>
              </a:rPr>
              <a:t>fascia perinei</a:t>
            </a:r>
            <a:r>
              <a:rPr sz="1800">
                <a:solidFill>
                  <a:srgbClr val="1F2A44"/>
                </a:solidFill>
                <a:latin typeface="Calibri"/>
              </a:rPr>
              <a:t> → </a:t>
            </a:r>
            <a:r>
              <a:rPr sz="1800">
                <a:solidFill>
                  <a:srgbClr val="1F2A44"/>
                </a:solidFill>
                <a:latin typeface="Calibri"/>
              </a:rPr>
              <a:t>membrana perinei</a:t>
            </a:r>
            <a:r>
              <a:rPr sz="1800">
                <a:solidFill>
                  <a:srgbClr val="1F2A44"/>
                </a:solidFill>
                <a:latin typeface="Calibri"/>
              </a:rPr>
              <a:t>.</a:t>
            </a:r>
          </a:p>
          <a:p>
            <a:pPr>
              <a:spcAft>
                <a:spcPts val="600"/>
              </a:spcAft>
            </a:pPr>
            <a:r>
              <a:rPr sz="1800">
                <a:solidFill>
                  <a:srgbClr val="1F2A44"/>
                </a:solidFill>
                <a:latin typeface="Calibri"/>
              </a:rPr>
              <a:t>• Yüzeyel aralık: penis/clitoris kökü, bulbus, </a:t>
            </a:r>
            <a:r>
              <a:rPr sz="1800">
                <a:solidFill>
                  <a:srgbClr val="1F2A44"/>
                </a:solidFill>
                <a:latin typeface="Calibri"/>
              </a:rPr>
              <a:t>Bartholin</a:t>
            </a:r>
            <a:r>
              <a:rPr sz="1800">
                <a:solidFill>
                  <a:srgbClr val="1F2A44"/>
                </a:solidFill>
                <a:latin typeface="Calibri"/>
              </a:rPr>
              <a:t>; derin aralık: m. sphincter urethrae externus, </a:t>
            </a:r>
            <a:r>
              <a:rPr sz="1800">
                <a:solidFill>
                  <a:srgbClr val="1F2A44"/>
                </a:solidFill>
                <a:latin typeface="Calibri"/>
              </a:rPr>
              <a:t>Cowper</a:t>
            </a:r>
            <a:r>
              <a:rPr sz="1800">
                <a:solidFill>
                  <a:srgbClr val="1F2A44"/>
                </a:solidFill>
                <a:latin typeface="Calibri"/>
              </a:rPr>
              <a:t>.</a:t>
            </a:r>
          </a:p>
          <a:p>
            <a:pPr>
              <a:spcAft>
                <a:spcPts val="600"/>
              </a:spcAft>
            </a:pPr>
            <a:r>
              <a:rPr sz="1800">
                <a:solidFill>
                  <a:srgbClr val="1F2A44"/>
                </a:solidFill>
                <a:latin typeface="Calibri"/>
              </a:rPr>
              <a:t>• Bulbar urethra rüptüründe idrar Colles altında karın duvarına yayılır, uyluğa geçmez.</a:t>
            </a:r>
          </a:p>
          <a:p>
            <a:pPr>
              <a:spcAft>
                <a:spcPts val="600"/>
              </a:spcAft>
            </a:pPr>
            <a:r>
              <a:rPr sz="1800">
                <a:solidFill>
                  <a:srgbClr val="1F2A44"/>
                </a:solidFill>
                <a:latin typeface="Calibri"/>
              </a:rPr>
              <a:t>• </a:t>
            </a:r>
            <a:r>
              <a:rPr sz="1800">
                <a:solidFill>
                  <a:srgbClr val="1F2A44"/>
                </a:solidFill>
                <a:latin typeface="Calibri"/>
              </a:rPr>
              <a:t>N. pudendus</a:t>
            </a:r>
            <a:r>
              <a:rPr sz="1800">
                <a:solidFill>
                  <a:srgbClr val="1F2A44"/>
                </a:solidFill>
                <a:latin typeface="Calibri"/>
              </a:rPr>
              <a:t> (S2–S4): foramen ischiadicum majus → minus → Alcock kanalı; dalları: n. rectalis inferior, n. perinealis, n. dorsalis penis/clitoridis.</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Kendini değerlendir</a:t>
            </a:r>
          </a:p>
        </p:txBody>
      </p:sp>
      <p:sp>
        <p:nvSpPr>
          <p:cNvPr id="4" name="TextBox 3"/>
          <p:cNvSpPr txBox="1"/>
          <p:nvPr/>
        </p:nvSpPr>
        <p:spPr>
          <a:xfrm>
            <a:off x="9921240" y="109728"/>
            <a:ext cx="2057400" cy="310896"/>
          </a:xfrm>
          <a:prstGeom prst="rect">
            <a:avLst/>
          </a:prstGeom>
          <a:solidFill>
            <a:srgbClr val="C26A00"/>
          </a:solidFill>
        </p:spPr>
        <p:txBody>
          <a:bodyPr wrap="square" anchor="ctr" lIns="45720" rIns="45720" tIns="18288" bIns="18288">
            <a:spAutoFit/>
          </a:bodyPr>
          <a:lstStyle/>
          <a:p>
            <a:pPr algn="ctr"/>
            <a:r>
              <a:rPr sz="1100" b="1" i="0">
                <a:solidFill>
                  <a:srgbClr val="FFFFFF"/>
                </a:solidFill>
                <a:latin typeface="Calibri"/>
              </a:rPr>
              <a:t>SORU</a:t>
            </a:r>
          </a:p>
        </p:txBody>
      </p:sp>
      <p:sp>
        <p:nvSpPr>
          <p:cNvPr id="5" name="TextBox 4"/>
          <p:cNvSpPr txBox="1"/>
          <p:nvPr/>
        </p:nvSpPr>
        <p:spPr>
          <a:xfrm>
            <a:off x="9921240" y="475488"/>
            <a:ext cx="2057400" cy="329184"/>
          </a:xfrm>
          <a:prstGeom prst="rect">
            <a:avLst/>
          </a:prstGeom>
          <a:noFill/>
        </p:spPr>
        <p:txBody>
          <a:bodyPr wrap="square" anchor="t" lIns="45720" rIns="45720" tIns="18288" bIns="18288">
            <a:spAutoFit/>
          </a:bodyPr>
          <a:lstStyle/>
          <a:p>
            <a:pPr algn="ctr"/>
            <a:r>
              <a:rPr sz="1000" b="1" i="0">
                <a:solidFill>
                  <a:srgbClr val="C8D1E6"/>
                </a:solidFill>
                <a:latin typeface="Calibri"/>
              </a:rPr>
              <a:t>KLİNİK – ÖZET</a:t>
            </a:r>
          </a:p>
        </p:txBody>
      </p:sp>
      <p:sp>
        <p:nvSpPr>
          <p:cNvPr id="6" name="TextBox 5"/>
          <p:cNvSpPr txBox="1"/>
          <p:nvPr/>
        </p:nvSpPr>
        <p:spPr>
          <a:xfrm>
            <a:off x="411480" y="1188720"/>
            <a:ext cx="11338560" cy="5120640"/>
          </a:xfrm>
          <a:prstGeom prst="rect">
            <a:avLst/>
          </a:prstGeom>
          <a:noFill/>
        </p:spPr>
        <p:txBody>
          <a:bodyPr wrap="square">
            <a:spAutoFit/>
          </a:bodyPr>
          <a:lstStyle/>
          <a:p>
            <a:pPr>
              <a:spcAft>
                <a:spcPts val="600"/>
              </a:spcAft>
            </a:pPr>
            <a:r>
              <a:rPr sz="1800">
                <a:solidFill>
                  <a:srgbClr val="1F2A44"/>
                </a:solidFill>
                <a:latin typeface="Calibri"/>
              </a:rPr>
              <a:t>• 1. Perineyi ön ve arka üçgene ayıran çizgi hangi iki noktayı birleştirir?</a:t>
            </a:r>
          </a:p>
          <a:p>
            <a:pPr>
              <a:spcAft>
                <a:spcPts val="600"/>
              </a:spcAft>
            </a:pPr>
            <a:r>
              <a:rPr sz="1800">
                <a:solidFill>
                  <a:srgbClr val="1F2A44"/>
                </a:solidFill>
                <a:latin typeface="Calibri"/>
              </a:rPr>
              <a:t>• 2. Gl. bulbourethralis ve gl. vestibularis major hangi aralıklarda bulunur?</a:t>
            </a:r>
          </a:p>
          <a:p>
            <a:pPr>
              <a:spcAft>
                <a:spcPts val="600"/>
              </a:spcAft>
            </a:pPr>
            <a:r>
              <a:rPr sz="1800">
                <a:solidFill>
                  <a:srgbClr val="1F2A44"/>
                </a:solidFill>
                <a:latin typeface="Calibri"/>
              </a:rPr>
              <a:t>• 3. Bulbar urethra rüptüründe idrar neden uyluğa yayılmaz?</a:t>
            </a:r>
          </a:p>
          <a:p>
            <a:pPr>
              <a:spcAft>
                <a:spcPts val="600"/>
              </a:spcAft>
            </a:pPr>
            <a:r>
              <a:rPr sz="1800">
                <a:solidFill>
                  <a:srgbClr val="1F2A44"/>
                </a:solidFill>
                <a:latin typeface="Calibri"/>
              </a:rPr>
              <a:t>• 4. N. pudendus perineye hangi açıklıktan girer ve hangi kanalda seyreder?</a:t>
            </a:r>
          </a:p>
          <a:p>
            <a:pPr>
              <a:spcAft>
                <a:spcPts val="600"/>
              </a:spcAft>
            </a:pPr>
            <a:r>
              <a:rPr sz="1800">
                <a:solidFill>
                  <a:srgbClr val="1F2A44"/>
                </a:solidFill>
                <a:latin typeface="Calibri"/>
              </a:rPr>
              <a:t>• 5. Fossa ischioanalis'in medial ve lateral duvarlarını sayınız.</a:t>
            </a:r>
          </a:p>
          <a:p>
            <a:pPr>
              <a:spcAft>
                <a:spcPts val="600"/>
              </a:spcAft>
            </a:pPr>
            <a:r>
              <a:rPr sz="1800">
                <a:solidFill>
                  <a:srgbClr val="1F2A44"/>
                </a:solidFill>
                <a:latin typeface="Calibri"/>
              </a:rPr>
              <a:t>• 6. Corpus perineale'ye tutunan kaslardan üçünü sayınız.</a:t>
            </a:r>
          </a:p>
        </p:txBody>
      </p:sp>
      <p:cxnSp>
        <p:nvCxnSpPr>
          <p:cNvPr id="7" name="Connector 6"/>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Kaynakça ve görsel lisansları (1)</a:t>
            </a:r>
          </a:p>
        </p:txBody>
      </p:sp>
      <p:sp>
        <p:nvSpPr>
          <p:cNvPr id="4" name="TextBox 3"/>
          <p:cNvSpPr txBox="1"/>
          <p:nvPr/>
        </p:nvSpPr>
        <p:spPr>
          <a:xfrm>
            <a:off x="9921240" y="109728"/>
            <a:ext cx="2057400" cy="310896"/>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a:t>
            </a:r>
          </a:p>
        </p:txBody>
      </p:sp>
      <p:sp>
        <p:nvSpPr>
          <p:cNvPr id="5" name="TextBox 4"/>
          <p:cNvSpPr txBox="1"/>
          <p:nvPr/>
        </p:nvSpPr>
        <p:spPr>
          <a:xfrm>
            <a:off x="320040" y="1097280"/>
            <a:ext cx="11521440" cy="5257800"/>
          </a:xfrm>
          <a:prstGeom prst="rect">
            <a:avLst/>
          </a:prstGeom>
          <a:noFill/>
        </p:spPr>
        <p:txBody>
          <a:bodyPr wrap="square">
            <a:spAutoFit/>
          </a:bodyPr>
          <a:lstStyle/>
          <a:p>
            <a:pPr>
              <a:spcAft>
                <a:spcPts val="500"/>
              </a:spcAft>
            </a:pPr>
            <a:r>
              <a:rPr sz="1300">
                <a:solidFill>
                  <a:srgbClr val="1F2A44"/>
                </a:solidFill>
                <a:latin typeface="Calibri"/>
              </a:rPr>
              <a:t>• OpenStax College. </a:t>
            </a:r>
            <a:r>
              <a:rPr sz="1300">
                <a:solidFill>
                  <a:srgbClr val="1F2A44"/>
                </a:solidFill>
                <a:latin typeface="Calibri"/>
              </a:rPr>
              <a:t>Anatomy &amp; Physiology</a:t>
            </a:r>
            <a:r>
              <a:rPr sz="1300">
                <a:solidFill>
                  <a:srgbClr val="1F2A44"/>
                </a:solidFill>
                <a:latin typeface="Calibri"/>
              </a:rPr>
              <a:t>. OpenStax CNX 2013 (1. baskı), </a:t>
            </a:r>
            <a:r>
              <a:rPr sz="1300">
                <a:solidFill>
                  <a:srgbClr val="1F2A44"/>
                </a:solidFill>
                <a:latin typeface="Calibri"/>
              </a:rPr>
              <a:t>CC BY</a:t>
            </a:r>
            <a:r>
              <a:rPr sz="1300">
                <a:solidFill>
                  <a:srgbClr val="1F2A44"/>
                </a:solidFill>
                <a:latin typeface="Calibri"/>
              </a:rPr>
              <a:t> – atlas çizimleri: Şekil 8.12 'Pelvis'; Şekil 8.13 'Kadın ve erkek pelvisi'; Şekil 8.14 'Pelvis bağları'; Şekil 11.12 'Pelvis tabanı kasları'; Şekil 11.13 'Perine kasları'; Şekil 27.2c 'Erkek üreme sistemi – lateral görünüm'; Şekil 25.17a 'Kadın üretrası'; Şekil 27.11 'Vulva'. İngilizce etiketler bu projede Latince (TA) karşılıklarıyla değiştirildi.</a:t>
            </a:r>
          </a:p>
          <a:p>
            <a:pPr>
              <a:spcAft>
                <a:spcPts val="500"/>
              </a:spcAft>
            </a:pPr>
            <a:r>
              <a:rPr sz="1300">
                <a:solidFill>
                  <a:srgbClr val="1F2A44"/>
                </a:solidFill>
                <a:latin typeface="Calibri"/>
              </a:rPr>
              <a:t>• Muro S., Tsukada Y., Ito M. et al. The series of smooth muscle structures in the pelvic floors of men: Dynamic coordination of smooth and skeletal muscles. </a:t>
            </a:r>
            <a:r>
              <a:rPr sz="1300">
                <a:solidFill>
                  <a:srgbClr val="1F2A44"/>
                </a:solidFill>
                <a:latin typeface="Calibri"/>
              </a:rPr>
              <a:t>Clinical Anatomy (New York, N.y.)</a:t>
            </a:r>
            <a:r>
              <a:rPr sz="1300">
                <a:solidFill>
                  <a:srgbClr val="1F2A44"/>
                </a:solidFill>
                <a:latin typeface="Calibri"/>
              </a:rPr>
              <a:t> 2020. doi:10.1002/ca.23713 – PMC7898478 – </a:t>
            </a:r>
            <a:r>
              <a:rPr sz="1300">
                <a:solidFill>
                  <a:srgbClr val="1F2A44"/>
                </a:solidFill>
                <a:latin typeface="Calibri"/>
              </a:rPr>
              <a:t>CC BY-NC-ND</a:t>
            </a:r>
          </a:p>
          <a:p>
            <a:pPr>
              <a:spcAft>
                <a:spcPts val="500"/>
              </a:spcAft>
            </a:pPr>
            <a:r>
              <a:rPr sz="1300">
                <a:solidFill>
                  <a:srgbClr val="1F2A44"/>
                </a:solidFill>
                <a:latin typeface="Calibri"/>
              </a:rPr>
              <a:t>• Muro S., Chang L., Tharnmanularp S. et al. Presence of smooth muscle continuous with the rectal and vaginal walls in the deep perineal space prompts reconsideration of the deep transverse perineal muscle. </a:t>
            </a:r>
            <a:r>
              <a:rPr sz="1300">
                <a:solidFill>
                  <a:srgbClr val="1F2A44"/>
                </a:solidFill>
                <a:latin typeface="Calibri"/>
              </a:rPr>
              <a:t>Scientific Reports</a:t>
            </a:r>
            <a:r>
              <a:rPr sz="1300">
                <a:solidFill>
                  <a:srgbClr val="1F2A44"/>
                </a:solidFill>
                <a:latin typeface="Calibri"/>
              </a:rPr>
              <a:t> 2025. doi:10.1038/s41598-025-09585-9 – PMC12229694 – </a:t>
            </a:r>
            <a:r>
              <a:rPr sz="1300">
                <a:solidFill>
                  <a:srgbClr val="1F2A44"/>
                </a:solidFill>
                <a:latin typeface="Calibri"/>
              </a:rPr>
              <a:t>CC BY</a:t>
            </a:r>
          </a:p>
          <a:p>
            <a:pPr>
              <a:spcAft>
                <a:spcPts val="500"/>
              </a:spcAft>
            </a:pPr>
            <a:r>
              <a:rPr sz="1300">
                <a:solidFill>
                  <a:srgbClr val="1F2A44"/>
                </a:solidFill>
                <a:latin typeface="Calibri"/>
              </a:rPr>
              <a:t>• Garner D. K., Patel A. B., Hung J. et al. Midline and Mediolateral Episiotomy: Risk Assessment Based on Clinical Anatomy. </a:t>
            </a:r>
            <a:r>
              <a:rPr sz="1300">
                <a:solidFill>
                  <a:srgbClr val="1F2A44"/>
                </a:solidFill>
                <a:latin typeface="Calibri"/>
              </a:rPr>
              <a:t>Diagnostics</a:t>
            </a:r>
            <a:r>
              <a:rPr sz="1300">
                <a:solidFill>
                  <a:srgbClr val="1F2A44"/>
                </a:solidFill>
                <a:latin typeface="Calibri"/>
              </a:rPr>
              <a:t> 2021. doi:10.3390/diagnostics11020221 – PMC7913006 – </a:t>
            </a:r>
            <a:r>
              <a:rPr sz="1300">
                <a:solidFill>
                  <a:srgbClr val="1F2A44"/>
                </a:solidFill>
                <a:latin typeface="Calibri"/>
              </a:rPr>
              <a:t>CC BY</a:t>
            </a:r>
          </a:p>
          <a:p>
            <a:pPr>
              <a:spcAft>
                <a:spcPts val="500"/>
              </a:spcAft>
            </a:pPr>
            <a:r>
              <a:rPr sz="1300">
                <a:solidFill>
                  <a:srgbClr val="1F2A44"/>
                </a:solidFill>
                <a:latin typeface="Calibri"/>
              </a:rPr>
              <a:t>• Baramee P., Muro S., Suriyut J. et al. Three muscle slings of the pelvic floor in women: an anatomic study. </a:t>
            </a:r>
            <a:r>
              <a:rPr sz="1300">
                <a:solidFill>
                  <a:srgbClr val="1F2A44"/>
                </a:solidFill>
                <a:latin typeface="Calibri"/>
              </a:rPr>
              <a:t>Anatomical Science International</a:t>
            </a:r>
            <a:r>
              <a:rPr sz="1300">
                <a:solidFill>
                  <a:srgbClr val="1F2A44"/>
                </a:solidFill>
                <a:latin typeface="Calibri"/>
              </a:rPr>
              <a:t> 2019. doi:10.1007/s12565-019-00492-4 – PMC6942605 – </a:t>
            </a:r>
            <a:r>
              <a:rPr sz="1300">
                <a:solidFill>
                  <a:srgbClr val="1F2A44"/>
                </a:solidFill>
                <a:latin typeface="Calibri"/>
              </a:rPr>
              <a:t>CC BY</a:t>
            </a:r>
          </a:p>
          <a:p>
            <a:pPr>
              <a:spcAft>
                <a:spcPts val="500"/>
              </a:spcAft>
            </a:pPr>
            <a:r>
              <a:rPr sz="1300">
                <a:solidFill>
                  <a:srgbClr val="1F2A44"/>
                </a:solidFill>
                <a:latin typeface="Calibri"/>
              </a:rPr>
              <a:t>• Goidescu O. C., Enyedi M., Tulin A. D. et al. Overview of the anatomical basis of the piriformis syndrome-dissection with magnetic resonance correlation. </a:t>
            </a:r>
            <a:r>
              <a:rPr sz="1300">
                <a:solidFill>
                  <a:srgbClr val="1F2A44"/>
                </a:solidFill>
                <a:latin typeface="Calibri"/>
              </a:rPr>
              <a:t>Experimental and Therapeutic Medicine</a:t>
            </a:r>
            <a:r>
              <a:rPr sz="1300">
                <a:solidFill>
                  <a:srgbClr val="1F2A44"/>
                </a:solidFill>
                <a:latin typeface="Calibri"/>
              </a:rPr>
              <a:t> 2021. doi:10.3892/etm.2021.11036 – PMC8713160 – </a:t>
            </a:r>
            <a:r>
              <a:rPr sz="1300">
                <a:solidFill>
                  <a:srgbClr val="1F2A44"/>
                </a:solidFill>
                <a:latin typeface="Calibri"/>
              </a:rPr>
              <a:t>CC BY-NC-ND</a:t>
            </a:r>
          </a:p>
          <a:p>
            <a:pPr>
              <a:spcAft>
                <a:spcPts val="500"/>
              </a:spcAft>
            </a:pPr>
            <a:r>
              <a:rPr sz="1300">
                <a:solidFill>
                  <a:srgbClr val="1F2A44"/>
                </a:solidFill>
                <a:latin typeface="Calibri"/>
              </a:rPr>
              <a:t>• Ranjan R., Chanda C., Kushwaha R. et al. Anatomical Study of the Variants of the Extrapelvic Part of the Pudendal Nerve. </a:t>
            </a:r>
            <a:r>
              <a:rPr sz="1300">
                <a:solidFill>
                  <a:srgbClr val="1F2A44"/>
                </a:solidFill>
                <a:latin typeface="Calibri"/>
              </a:rPr>
              <a:t>Cureus</a:t>
            </a:r>
            <a:r>
              <a:rPr sz="1300">
                <a:solidFill>
                  <a:srgbClr val="1F2A44"/>
                </a:solidFill>
                <a:latin typeface="Calibri"/>
              </a:rPr>
              <a:t> 2022. doi:10.7759/cureus.28281 – PMC9492552 – </a:t>
            </a:r>
            <a:r>
              <a:rPr sz="1300">
                <a:solidFill>
                  <a:srgbClr val="1F2A44"/>
                </a:solidFill>
                <a:latin typeface="Calibri"/>
              </a:rPr>
              <a:t>CC BY</a:t>
            </a:r>
          </a:p>
          <a:p>
            <a:pPr>
              <a:spcAft>
                <a:spcPts val="500"/>
              </a:spcAft>
            </a:pPr>
            <a:r>
              <a:rPr sz="1300">
                <a:solidFill>
                  <a:srgbClr val="1F2A44"/>
                </a:solidFill>
                <a:latin typeface="Calibri"/>
              </a:rPr>
              <a:t>• Dupont G., Iwanaga J., Oskouian R. J. et al. Report of an inferior rectal nerve variant arising from the S3 ventral ramus. </a:t>
            </a:r>
            <a:r>
              <a:rPr sz="1300">
                <a:solidFill>
                  <a:srgbClr val="1F2A44"/>
                </a:solidFill>
                <a:latin typeface="Calibri"/>
              </a:rPr>
              <a:t>Anatomy &amp; Cell Biology</a:t>
            </a:r>
            <a:r>
              <a:rPr sz="1300">
                <a:solidFill>
                  <a:srgbClr val="1F2A44"/>
                </a:solidFill>
                <a:latin typeface="Calibri"/>
              </a:rPr>
              <a:t> 2019. doi:10.5115/acb.2019.52.1.100 – PMC6449584 – </a:t>
            </a:r>
            <a:r>
              <a:rPr sz="1300">
                <a:solidFill>
                  <a:srgbClr val="1F2A44"/>
                </a:solidFill>
                <a:latin typeface="Calibri"/>
              </a:rPr>
              <a:t>CC BY-NC</a:t>
            </a:r>
          </a:p>
          <a:p>
            <a:pPr>
              <a:spcAft>
                <a:spcPts val="500"/>
              </a:spcAft>
            </a:pPr>
            <a:r>
              <a:rPr sz="1300">
                <a:solidFill>
                  <a:srgbClr val="1F2A44"/>
                </a:solidFill>
                <a:latin typeface="Calibri"/>
              </a:rPr>
              <a:t>• Nayak S. B., Kumar N., Patil J. et al. A Rare Variation in the Origin and Course of the Artery of Penis. </a:t>
            </a:r>
            <a:r>
              <a:rPr sz="1300">
                <a:solidFill>
                  <a:srgbClr val="1F2A44"/>
                </a:solidFill>
                <a:latin typeface="Calibri"/>
              </a:rPr>
              <a:t>Case Reports in Vascular Medicine</a:t>
            </a:r>
            <a:r>
              <a:rPr sz="1300">
                <a:solidFill>
                  <a:srgbClr val="1F2A44"/>
                </a:solidFill>
                <a:latin typeface="Calibri"/>
              </a:rPr>
              <a:t> 2014. doi:10.1155/2014/193194 – PMC3971847 – </a:t>
            </a:r>
            <a:r>
              <a:rPr sz="1300">
                <a:solidFill>
                  <a:srgbClr val="1F2A44"/>
                </a:solidFill>
                <a:latin typeface="Calibri"/>
              </a:rPr>
              <a:t>CC BY</a:t>
            </a:r>
          </a:p>
        </p:txBody>
      </p:sp>
      <p:cxnSp>
        <p:nvCxnSpPr>
          <p:cNvPr id="6" name="Connector 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PMC görselleri AWS PMC Open Access deposundan (pmc-oa-opendata) indirilmiştir; lisans, md5 ve özgün altyazılar sources/perine_*.json içinde.</a:t>
            </a:r>
          </a:p>
        </p:txBody>
      </p: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64008"/>
            <a:ext cx="9326880" cy="502920"/>
          </a:xfrm>
          <a:prstGeom prst="rect">
            <a:avLst/>
          </a:prstGeom>
          <a:noFill/>
        </p:spPr>
        <p:txBody>
          <a:bodyPr wrap="square" anchor="t" lIns="45720" rIns="45720" tIns="18288" bIns="18288">
            <a:spAutoFit/>
          </a:bodyPr>
          <a:lstStyle/>
          <a:p>
            <a:pPr algn="l"/>
            <a:r>
              <a:rPr sz="2800" b="1" i="0">
                <a:solidFill>
                  <a:srgbClr val="FFFFFF"/>
                </a:solidFill>
                <a:latin typeface="Calibri"/>
              </a:rPr>
              <a:t>Kaynakça ve görsel lisansları (2)</a:t>
            </a:r>
          </a:p>
        </p:txBody>
      </p:sp>
      <p:sp>
        <p:nvSpPr>
          <p:cNvPr id="4" name="TextBox 3"/>
          <p:cNvSpPr txBox="1"/>
          <p:nvPr/>
        </p:nvSpPr>
        <p:spPr>
          <a:xfrm>
            <a:off x="9921240" y="109728"/>
            <a:ext cx="2057400" cy="310896"/>
          </a:xfrm>
          <a:prstGeom prst="rect">
            <a:avLst/>
          </a:prstGeom>
          <a:solidFill>
            <a:srgbClr val="C0392B"/>
          </a:solidFill>
        </p:spPr>
        <p:txBody>
          <a:bodyPr wrap="square" anchor="ctr" lIns="45720" rIns="45720" tIns="18288" bIns="18288">
            <a:spAutoFit/>
          </a:bodyPr>
          <a:lstStyle/>
          <a:p>
            <a:pPr algn="ctr"/>
            <a:r>
              <a:rPr sz="1100" b="1" i="0">
                <a:solidFill>
                  <a:srgbClr val="FFFFFF"/>
                </a:solidFill>
                <a:latin typeface="Calibri"/>
              </a:rPr>
              <a:t>LİTERATÜR</a:t>
            </a:r>
          </a:p>
        </p:txBody>
      </p:sp>
      <p:sp>
        <p:nvSpPr>
          <p:cNvPr id="5" name="TextBox 4"/>
          <p:cNvSpPr txBox="1"/>
          <p:nvPr/>
        </p:nvSpPr>
        <p:spPr>
          <a:xfrm>
            <a:off x="320040" y="1097280"/>
            <a:ext cx="11521440" cy="5257800"/>
          </a:xfrm>
          <a:prstGeom prst="rect">
            <a:avLst/>
          </a:prstGeom>
          <a:noFill/>
        </p:spPr>
        <p:txBody>
          <a:bodyPr wrap="square">
            <a:spAutoFit/>
          </a:bodyPr>
          <a:lstStyle/>
          <a:p>
            <a:pPr>
              <a:spcAft>
                <a:spcPts val="500"/>
              </a:spcAft>
            </a:pPr>
            <a:r>
              <a:rPr sz="1300">
                <a:solidFill>
                  <a:srgbClr val="1F2A44"/>
                </a:solidFill>
                <a:latin typeface="Calibri"/>
              </a:rPr>
              <a:t>• Moore KL, Dalley AF, Agur AMR. </a:t>
            </a:r>
            <a:r>
              <a:rPr sz="1300">
                <a:solidFill>
                  <a:srgbClr val="1F2A44"/>
                </a:solidFill>
                <a:latin typeface="Calibri"/>
              </a:rPr>
              <a:t>Clinically Oriented Anatomy</a:t>
            </a:r>
            <a:r>
              <a:rPr sz="1300">
                <a:solidFill>
                  <a:srgbClr val="1F2A44"/>
                </a:solidFill>
                <a:latin typeface="Calibri"/>
              </a:rPr>
              <a:t>, 9. baskı. Wolters Kluwer 2023 – Pelvis ve Perine.</a:t>
            </a:r>
          </a:p>
          <a:p>
            <a:pPr>
              <a:spcAft>
                <a:spcPts val="500"/>
              </a:spcAft>
            </a:pPr>
            <a:r>
              <a:rPr sz="1300">
                <a:solidFill>
                  <a:srgbClr val="1F2A44"/>
                </a:solidFill>
                <a:latin typeface="Calibri"/>
              </a:rPr>
              <a:t>• Standring S (ed.). </a:t>
            </a:r>
            <a:r>
              <a:rPr sz="1300">
                <a:solidFill>
                  <a:srgbClr val="1F2A44"/>
                </a:solidFill>
                <a:latin typeface="Calibri"/>
              </a:rPr>
              <a:t>Gray's Anatomy</a:t>
            </a:r>
            <a:r>
              <a:rPr sz="1300">
                <a:solidFill>
                  <a:srgbClr val="1F2A44"/>
                </a:solidFill>
                <a:latin typeface="Calibri"/>
              </a:rPr>
              <a:t>, 42. baskı. Elsevier 2021 – Perineum.</a:t>
            </a:r>
          </a:p>
          <a:p>
            <a:pPr>
              <a:spcAft>
                <a:spcPts val="500"/>
              </a:spcAft>
            </a:pPr>
            <a:r>
              <a:rPr sz="1300">
                <a:solidFill>
                  <a:srgbClr val="1F2A44"/>
                </a:solidFill>
                <a:latin typeface="Calibri"/>
              </a:rPr>
              <a:t>• Federative International Programme for Anatomical Terminology (FIPAT). </a:t>
            </a:r>
            <a:r>
              <a:rPr sz="1300">
                <a:solidFill>
                  <a:srgbClr val="1F2A44"/>
                </a:solidFill>
                <a:latin typeface="Calibri"/>
              </a:rPr>
              <a:t>Terminologia Anatomica</a:t>
            </a:r>
            <a:r>
              <a:rPr sz="1300">
                <a:solidFill>
                  <a:srgbClr val="1F2A44"/>
                </a:solidFill>
                <a:latin typeface="Calibri"/>
              </a:rPr>
              <a:t>, 2. baskı, 2019.</a:t>
            </a:r>
          </a:p>
          <a:p>
            <a:pPr>
              <a:spcAft>
                <a:spcPts val="500"/>
              </a:spcAft>
            </a:pPr>
            <a:r>
              <a:rPr sz="1300">
                <a:solidFill>
                  <a:srgbClr val="1F2A44"/>
                </a:solidFill>
                <a:latin typeface="Calibri"/>
              </a:rPr>
              <a:t>• Mirilas P, Skandalakis JE. Urogenital diaphragm: an erroneous concept. </a:t>
            </a:r>
            <a:r>
              <a:rPr sz="1300">
                <a:solidFill>
                  <a:srgbClr val="1F2A44"/>
                </a:solidFill>
                <a:latin typeface="Calibri"/>
              </a:rPr>
              <a:t>J Am Coll Surg</a:t>
            </a:r>
            <a:r>
              <a:rPr sz="1300">
                <a:solidFill>
                  <a:srgbClr val="1F2A44"/>
                </a:solidFill>
                <a:latin typeface="Calibri"/>
              </a:rPr>
              <a:t> 2004;198:279–290.</a:t>
            </a:r>
          </a:p>
        </p:txBody>
      </p:sp>
      <p:cxnSp>
        <p:nvCxnSpPr>
          <p:cNvPr id="6" name="Connector 5"/>
          <p:cNvCxnSpPr/>
          <p:nvPr/>
        </p:nvCxnSpPr>
        <p:spPr>
          <a:xfrm>
            <a:off x="274320" y="6400800"/>
            <a:ext cx="11640312"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274320" y="6419088"/>
            <a:ext cx="10881360" cy="411480"/>
          </a:xfrm>
          <a:prstGeom prst="rect">
            <a:avLst/>
          </a:prstGeom>
          <a:noFill/>
        </p:spPr>
        <p:txBody>
          <a:bodyPr wrap="square" anchor="t" lIns="45720" rIns="45720" tIns="18288" bIns="18288">
            <a:spAutoFit/>
          </a:bodyPr>
          <a:lstStyle/>
          <a:p>
            <a:pPr algn="l"/>
            <a:r>
              <a:rPr sz="900" b="0" i="0">
                <a:solidFill>
                  <a:srgbClr val="555B66"/>
                </a:solidFill>
                <a:latin typeface="Calibri"/>
              </a:rPr>
              <a:t>PMC görselleri AWS PMC Open Access deposundan (pmc-oa-opendata) indirilmiştir; lisans, md5 ve özgün altyazılar sources/perine_*.json içinde.</a:t>
            </a:r>
          </a:p>
        </p:txBody>
      </p:sp>
      <p:sp>
        <p:nvSpPr>
          <p:cNvPr id="8" name="TextBox 7"/>
          <p:cNvSpPr txBox="1"/>
          <p:nvPr/>
        </p:nvSpPr>
        <p:spPr>
          <a:xfrm>
            <a:off x="11247120" y="6455664"/>
            <a:ext cx="685800" cy="274320"/>
          </a:xfrm>
          <a:prstGeom prst="rect">
            <a:avLst/>
          </a:prstGeom>
          <a:noFill/>
        </p:spPr>
        <p:txBody>
          <a:bodyPr wrap="square" anchor="t" lIns="45720" rIns="45720" tIns="18288" bIns="18288">
            <a:spAutoFit/>
          </a:bodyPr>
          <a:lstStyle/>
          <a:p>
            <a:pPr algn="r"/>
            <a:r>
              <a:rPr sz="1100" b="0" i="0">
                <a:solidFill>
                  <a:srgbClr val="555B66"/>
                </a:solidFill>
                <a:latin typeface="Calibri"/>
              </a:rP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