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Derse pelvisle başlıyoruz çünkü perine, pelvis minor'ün çıkışını kapatan yumuşak doku bölgesidir. Linea terminalis'i kemik üzerinde baştan sona gösterin.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1): 3D reformatted computed tomography images: 1, transverse diameter of inlet; 2, transverse diameter of midplane 1 (biacetabular diameter); 3, transverse diameter of midplane 2 (bispinous diameter); 4, transverse diameter of outlet (bituberous diameter); 5, subpubic angle.</a:t>
            </a:r>
          </a:p>
          <a:p>
            <a:r>
              <a:t>Görüntüdeki özgün etiketler: numbers 1, 2, 3, 4, 5; white measurement lines; dotted black lines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2): 3D reformatted computed tomography images: 6, sagittal diameter of inlet; 7, sagittal diameter of midplane 1; 8, sagittal diameter of midplane 2; 9, sagittal diameter of outlet; 10, sacral slope; 11, pelvic inclination.</a:t>
            </a:r>
          </a:p>
          <a:p>
            <a:r>
              <a:t>Görüntüdeki özgün etiketler: numbers 6, 7, 8, 9, 10, 11; white measurement 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2): A male and female example of a trait that performed reliably is the pubic angle on dry bone (a) and on two virtual 3D models; the in-house research software package (b) and MeshLab (c). The pubic angle is indicated by the lines in a</a:t>
            </a:r>
          </a:p>
          <a:p>
            <a:r>
              <a:t>Görüntüdeki özgün etiketler: 'Male', 'Female', a, b, c; black angle lines on row 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2): Dissection of the deep gluteal region (posterior view). 1, Piriformis muscle; 2, internal obturator muscle; 3, ischial tuberosity (posterior view); 4, levator ani muscle (superior-medial border of the ischiorectal fossa); 5, anococcygeal ligament; 6, sacrum; 7, gluteus medius muscle; 8, gluteus minimus muscle; 9, sciatic nerve; 10, ischial spine; 11, internal pudendal neurovascular bundle; 12, gluteus maximus muscle; 13, superior gluteal artery and vein; 14, external anal sphincter; 15, pelvic subperitoneal tissue visible after removing the coccygeus muscle; 16, sacrotuberous attachment points (cut); 17, sacrospinous ligament.</a:t>
            </a:r>
          </a:p>
          <a:p>
            <a:r>
              <a:t>Görüntüdeki özgün etiketler: numbers only: 1-17 (black/orange digits printed on structures)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Diaphragma pelvis'in altındaki her şey perinedir. Fossa ischioanalis'in medial duvarı levator ani'nin perineal yüzüdür; bunu bir sonraki bölümde göreceğiz.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1): Superficial perineal region including the columnar structure. (a) Inferior aspect of the male pelvis after removal of the perineal subcutaneous tissue. The EAS, STP, Bs, and Ic are observed. A portion of the muscle bundles of the EAS extends anteriorly and continues to the Bs in the midline (arrow heads). (b) Magnified view of the rectangular area of (a) after removal of the muscle bundles in the midline. The EAS and STP share muscle bundles and are continuous (arrow heads). (c) Image taken after removal of the Bs and the connecting muscle bundles between the EAS and STP. The columnar structure (indicated by the circle) is observed in the median region anterior to the EAS and has vertically aligned fibers (craniocaudal direction). The muscle bundles of the STP extend to both the ventral and dorsal sides of this structure. Circle, the columnar structure; Bs, bulbospongiosus; Co, coccyx; CSP, corpus spongiosum penis; EAS, external anal sphincter; Ic, ischiocavernosus; IPR, ischiopubic ramus; IT, ischial tuberosity; n, nerve; STP, superficial transverse perineal muscle [Color figure can be viewed at wileyonlinelibrary.com]</a:t>
            </a:r>
          </a:p>
          <a:p>
            <a:r>
              <a:t>Görüntüdeki özgün etiketler: (a) Inferior aspect, Bs, IPR, Ic, IT, STP, EAS, Anus, Co, arrowheads, R/L/Anterior; (b) IPR, Ic, Bs, IT, n, STP, EAS; (c) IPR, Ic, CSP, IT, STP, EAS, circle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2): Female perineum with a midline episiotomy incision and a low-angle mediolateral incision. Midline episiotomies endanger the perineal body and many mediolateral incisions endanger the bulb of the vestibule and associated neurovasculature, as depicted here.</a:t>
            </a:r>
          </a:p>
          <a:p>
            <a:r>
              <a:t>Görüntüdeki özgün etiketler: Labum majus [sic]; Vaginal orifice; Mediolateral episiotomy incision; Midline episiotomy incision; Perineal body; Posterior edge of the bulb of the vestubule [sic]; Anal orifice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Klasik 'diaphragma urogenitale' (iki fasya arasında sandviç kas) modeli artık kabul görmüyor; bir sonraki slaytlarda nedenini tartışacağız.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7): Schematic view of the pelvic region, seen from an oblique inferior angle. (A) Male pelvic structures. (B) Female pelvic structures. (C) Enlarged view of the male perineum, illustrating the arrangement from superficial to deep layers: the STP, followed by the PM, and then the smooth muscle structure in the deep perineal space, a triangular, plate-like shaped smooth muscle continuous with the rectal wall. (D) Enlarged view of the female perineum, showing the arrangement from superficial to deep layers: the STP, followed by the PM, and then the smooth muscle structure in the deep perineal space, a triangular, plate-like shaped smooth muscle continuous with both the rectal wall and the vaginal wall. Bl, bladder; Bs, bulbospongiosus; EAS, external anal sphincter; EUS, external urethral sphincter; Ic, ischiocavernosus; LM, longitudinal muscle of rectum; PM, perineal membrane; R, rectum; SM, smooth muscle; STP, superficial transverse perineal muscle; Ur, urethra; Va, vagina.</a:t>
            </a:r>
          </a:p>
          <a:p>
            <a:r>
              <a:t>Görüntüdeki özgün etiketler: C: Ur, Bs, Ic, PM, STP, SM, LM, R, EAS; D: Bl, Ur, Va, SM, LM, R, Bs, PM, Ic, STP, EAS; A, B, C, 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9): Suspensory ligament components. 1. Suspensory ligament. 2,3. Lateral bundles of the suspensory ligament. 4. Median bundle of the suspensory ligament. 5. Body of the penis. 6. Right fascicle of the fundiform ligament. 7. Left fascicle of the fundiform ligament. 8. Right spermatic cord. 9. Left spermatic cord</a:t>
            </a:r>
          </a:p>
          <a:p>
            <a:r>
              <a:t>Görüntüdeki özgün etiketler: 1-9 (black digits)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4): Excised whole tissue plate including the perineal membrane. (a–c) female; (d–f) male. (a) and (d) inner view; (b) and (e) outer views. The surrounding area of the urethral openings of the urogenital sphincter complex are visible. For histological studies only, the free part of the perineal membrane was used (limiting lines). (c, f) Frontal views of the whole plate.</a:t>
            </a:r>
          </a:p>
          <a:p>
            <a:r>
              <a:t>Görüntüdeki özgün etiketler: (a)-(f), ventral, dorsal, cranial, caudal, blue lines; no anatomical text labels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1): The central region of the male perineum where the perineal muscles gather. (A) The inferior aspect of the perineum, including the Bs, Ic, STP, and EAS muscles. (B) The magnified view of the rectangular space in (A). The STP was medially divided into two bundles, the STPs and STPi. (C) The inferolateral aspect, in which the pelvis was slightly tilted. The Bs and EAS were observed to be continuous. The Bs, EAS, and STP were concentrated in the central region of the perineum. Bs bulbospongiosus, EAS external anal sphincter, Ic ischiocavernosus, IPR ischiopubic ramus, IT ischial tuberosity, STP superficial transverse perineal muscle, STPi inferior bundle of STP, STPs superior bundle of STP.</a:t>
            </a:r>
          </a:p>
          <a:p>
            <a:r>
              <a:t>Görüntüdeki özgün etiketler: A: Bs, IPR, Ic, STP, IT, EAS, Anus, 20 mm, Anterior/R/L, Inferior aspect; B: Ic, STPs, STPi, 10 mm; C: Bs, Ic, IPR, STPs, STPi, IT, EAS, 20 mm, Inferolateral aspect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1): Pelvic floor muscle. a Pelvic floor muscle on the lateral aspect, which is composed of the IC, BS, STP, EAS, and LA. The star represents the lateral tendon of the STP; white and black arrows, the connection among the STP, BS, and EAS; black asterisk, the connection between the BS and EAS. b After the lateral reflections of the STP, the white and black arrowheads represent the anterior and posterior muscle bundle of the LA, respectively; white asterisk, the connection between the LA and BS; black triangle, the connection between the STP and LA; circle, the blending point between the LA and EAS. ACL anococcygeal ligament, BS bulbospongiosus, EAS external anal sphincter, IC ischiocavernosus, LA levator ani muscle, STP superficial transverse perineal; yellow arrow, anal opening</a:t>
            </a:r>
          </a:p>
          <a:p>
            <a:r>
              <a:t>Görüntüdeki özgün etiketler: A: pubis bone, tendinous arch, LA, IC, BS, STP, star, white/black arrows, black asterisk, EAS, ACL, coccyx, yellow arrow, Sup./Ant./Post., Lateral aspect; B: LA, STP, BS, white asterisk, white/black arrowheads, black triangle, circle, black asterisk, EAS, ACL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4): Female perineum dissected to reveal all perineal structures accessed by continuing a mediolateral episiotomy incision. The neurovascular bundles contain branches of the superficial (S) and deep (D) perineal nerves and the internal pudendal artery. *Bulb of the vestibule overlain by the bulbospongiosus muscle.</a:t>
            </a:r>
          </a:p>
          <a:p>
            <a:r>
              <a:t>Görüntüdeki özgün etiketler: Suspensory ligament of the clitoris; Body of the clitoris; Crus of the clitoris (2 arrows); Glans clitoridis; Neurovascular bundles; S; D; *; Labum majus [sic]; Superficial transverse perineal 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3): Lateral aspect of pelvic dissection, right side (mirror image). A few muscle bundles occupy the region between the BS and the STP (star). The STP extends posteriorly along the external anal sphincter (asterisk). The medial part of the STP courses medially along the inner surface of the EAS (hash symbol)</a:t>
            </a:r>
          </a:p>
          <a:p>
            <a:r>
              <a:t>Görüntüdeki özgün etiketler: IC, BS, STP, EAS, white star, white asterisk, #, Superior/Anterior arrows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2): Whole pelvis dissection, inferior aspect. The muscle bundle of the BS fuses with the lateral surface of the EAS. The superficial transverse perineal muscle crosses the BS superiorly. STP Superficial transverse perineal muscle</a:t>
            </a:r>
          </a:p>
          <a:p>
            <a:r>
              <a:t>Görüntüdeki özgün etiketler: IC, BS, STP, EAS; Anterior / Medial orientation arrows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 1): Skeletal muscles of the pelvic outlet in women. The skeletal muscles of the pelvic outlet share muscle bundles and are continuous, forming a continuous skeletal muscle sheet. A The pelvic outlet muscles in women from the medial aspect. The LA surrounds the anal canal both anteriorly and posteriorly; the anterior sling and posterior sling of the LA go around the anterior and posterior to the anal canal, respectively. Bs does not run toward the midline but goes laterally. The STP crosses the midline and continues as the same muscle to the contralateral side, forming a component of the anal canal anterior wall. B The inferior aspect of the pelvic outlet muscles in women. Bs adjoins the lateral surface of the EAS to form a lateral connection between Bs and EAS. The anterior sling of LA, muscle bundle of STP, and posterior sling of LA cross the midline and then merge with the contralateral side to form three muscle slings that pass anterior and posterior to the anal canal: anterior, middle, and posterior. AC anal canal, ACL anococcygeal ligament, Bs bulbospongiosus, EAS external anal sphincter, Ic ischiocavernosus, LA levator ani, STP superficial transverse perineal muscle, V vagina.(Modified from: Baramee et al. 2020)</a:t>
            </a:r>
          </a:p>
          <a:p>
            <a:r>
              <a:t>Görüntüdeki özgün etiketler: A: Pubis, LA, Coccyx, ACL, Bs, Ic, Anterior sling, LA, STP (Middle sling), EAS, Posterior sling, Anus; B: Anterior sling, Posterior sling, ACL, Coccyx, V, AC, Pubis, Bs, Ic, LA, EAS, STP (Middle sling), Inferior aspect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1): Internal view of the pelvic wall. The red dotted line marks the internal pudendal artery and its branches; the green arrows mark the internal pudendal nerve and its branches: Dorsal nerve of clitoris, perineal, inferior rectal nerves; S1-S4, anterior branches of the sacral plexus. 1, Internal iliac artery; 2, superior gluteal artery; 3, inferior gluteal artery; 4, obturator nerve; 5, internal obturator muscle; 6, levator ani muscle (reflected); 7, levator ani muscle (cut); 8, piriformis muscle; 9, sacrospinous ligament; 10, coccygeus muscle; 11, anococcygeal ligament; 12, coccyx bone 13, rectum. 14, pubic bone; 15, sympathetic trunk.</a:t>
            </a:r>
          </a:p>
          <a:p>
            <a:r>
              <a:t>Görüntüdeki özgün etiketler: numbers 1-15, LST, S1-S4; red dotted line (internal pudendal artery); green arrows (pudendal nerve and branches)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Figure 3): Representative anatomy of the perineum based on our dissections. Most commonly, the perineal body was not a major site of muscle attachment. The bulbospongiosus muscle was continuous with the superficial portion of the external anal sphincter (EAS), both innervated by branches of the perineal nerves. The inferior rectal nerve innervated the subcutaneous EAS and skin around the anus. The bulb of the vestibule extended to the posterior fourchette, with the greater vestibular gland anchored to its posterior margin.</a:t>
            </a:r>
          </a:p>
          <a:p>
            <a:r>
              <a:t>Görüntüdeki özgün etiketler: Body of the clitoris, Bulbospongiosus m., Crus, Posterior labia nn., Deep perineal n., Bulb of the vestibule, Superficial perineal n., Greater vestibular gland, Inferior rectal n., Superficial EAS, Pudendal n., Subcutaneous EAS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Showing type IIa, double trunked with inferior rectal nerve piercing the sacrospinous ligament. PN(IIa): Bifurcated Pudendal nerve with inferior rectal nerve piercing the sacrospinous ligament.IPV: Internal Pudendal Vessels SSL: SSL: Sacrospinous ligament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The formation and trunking variations in pudendal nerve. (A) Formation variation of pudendal nerve from S3 and S4 root. (B) The trunking variations in pudendal nerve 2 trunks. (C) The trunking variations in pudendal nerve 3 trunks. (D) The trunking variations in pudendal nerve 4 trunks. PN, pudendal nerve; LST, lumbosacral trunk; S, superior; I, inferior; M, medial; L, lateral; Rt, right; Lt, left; yellow arrow, communication with sciatic nerve.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A variant of the inferior rectal nerve. Note the S3 ventral ramus giving off pelvic splanchnics and then continuing as the inferior rectal nerve. The inferior rectal nerve also gives off a branch to communicate with the pudendal nerve.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Dissection of the left gluteal region showing variant branches of the internal iliac artery. CT2: Common Trunk 2; MB: Muscular Branches; IGA: Inferior Gluteal Artery; STL: Sacrotuberous Ligament; SN: Sciatic Nerve; IPA: Internal Pudendal Artery.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Sagittal section of the pelvis showing the sectional views of rectum, canal, urinary bladder, prostate, and the pubis. (AOP: artery of penis, BP: bulb of penis, DEP: deep artery of the penis, DOA: dorsal artery of the penis, and RCP: right crus of the penis.)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The architecture of the levator ani muscle.Panel G shows the positions of the transverse sections in panels A-D and that of obliquely sectioned panel E (calculated from reconstruction). The sections show the bilayered make-up of the pubovisceral muscle (A-C) and its attachment to the rectococcygeal muscle (A,B), the extension of the pubovisceral and deep layer of the puborectal muscles to the pubic bone (B,C), the external anal sphincter, the superficial layer of the puborectal muscle, and the conjoint longitudinal muscle of the rectum (C-E), and the rectoperineal muscle (D). Panel E visualizes the successive layers of the anal-sphincter complex, while panel F, a calculated midsagittal section of this specimen, shows the muscles surrounding the anal canal. Panels G and H show reconstructions of the levator and sphincter ani muscles as seen from the left (G) and anterosuperior (H). The color code of the (outlined) structures is shown in S2 Fig and sections without outlines S5 Fig. Abbreviations: AL, anococcygeal ligament; Ant, anterior; B, bladder; Co, coccygeal muscle; EAS, external anal sphincter; GM, gluteus maximus muscle; Post, posterior; PR-D, puborectal muscle, deep portion; PR-S, puborectal muscle, superficial portion; PV, pubovisceral muscle with deep (purple) and superficial (orange) layers; RC, rectococcygeal muscle; U, urethra; R, rectum; V, vagina.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a Medial aspect of pelvic dissection, left side. The anterior bundle (square) and the posterior bundle (circle) of the anterior part of LA are seen superior to the EAS. The inferior border of the anterior bundle of the anterior part of the LA (dashed line) and the posterior bundle of the anterior part of the LA (solid line) and the superior border of the EAS (curved line ) form a triangular space. The STP passes through this triangular space and courses along the inner surface of the EAS. b Lateral aspect of the same specimen, left side. The STP extends superomedial to the posterior part of the BS, along the inner surface of the EAS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Şekil altyazısı (özgün): a) Image of a normal perineal body from a healthy volunteer. The perineal body is shown with red arrows. b) Perineal body(PB) measurements are outlined (Length, Height and Perimeter). c) Perineal body measurements in a healthy volunteer. d) Perineal body scan measurements in a prolapse patient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image" Target="../media/image2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image" Target="../media/image29.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image" Target="../media/image3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image" Target="../media/image3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2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2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40.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2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2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2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2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2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2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14400"/>
            <a:ext cx="6675120" cy="1463040"/>
          </a:xfrm>
          <a:prstGeom prst="rect">
            <a:avLst/>
          </a:prstGeom>
          <a:noFill/>
        </p:spPr>
        <p:txBody>
          <a:bodyPr wrap="square" anchor="t" lIns="45720" rIns="45720" tIns="18288" bIns="18288">
            <a:spAutoFit/>
          </a:bodyPr>
          <a:lstStyle/>
          <a:p>
            <a:pPr algn="l"/>
            <a:r>
              <a:rPr sz="4200" b="1" i="0">
                <a:solidFill>
                  <a:srgbClr val="FFFFFF"/>
                </a:solidFill>
                <a:latin typeface="Calibri"/>
              </a:rPr>
              <a:t>Perineum – Topografik Anatomi</a:t>
            </a:r>
          </a:p>
        </p:txBody>
      </p:sp>
      <p:sp>
        <p:nvSpPr>
          <p:cNvPr id="4" name="TextBox 3"/>
          <p:cNvSpPr txBox="1"/>
          <p:nvPr/>
        </p:nvSpPr>
        <p:spPr>
          <a:xfrm>
            <a:off x="640080" y="2514600"/>
            <a:ext cx="6675120" cy="1005840"/>
          </a:xfrm>
          <a:prstGeom prst="rect">
            <a:avLst/>
          </a:prstGeom>
          <a:noFill/>
        </p:spPr>
        <p:txBody>
          <a:bodyPr wrap="square" anchor="t" lIns="45720" rIns="45720" tIns="18288" bIns="18288">
            <a:spAutoFit/>
          </a:bodyPr>
          <a:lstStyle/>
          <a:p>
            <a:pPr algn="l"/>
            <a:r>
              <a:rPr sz="2000" b="0" i="0">
                <a:solidFill>
                  <a:srgbClr val="C8D1E6"/>
                </a:solidFill>
                <a:latin typeface="Calibri"/>
              </a:rPr>
              <a:t>Pelvise kısa giriş ve perinenin ayrıntılı anatomisi: sınırlar, fasyalar, aralıklar, damar ve sinirler</a:t>
            </a:r>
          </a:p>
        </p:txBody>
      </p:sp>
      <p:sp>
        <p:nvSpPr>
          <p:cNvPr id="5" name="TextBox 4"/>
          <p:cNvSpPr txBox="1"/>
          <p:nvPr/>
        </p:nvSpPr>
        <p:spPr>
          <a:xfrm>
            <a:off x="640080" y="3657600"/>
            <a:ext cx="6675120" cy="2377440"/>
          </a:xfrm>
          <a:prstGeom prst="rect">
            <a:avLst/>
          </a:prstGeom>
          <a:noFill/>
        </p:spPr>
        <p:txBody>
          <a:bodyPr wrap="square">
            <a:spAutoFit/>
          </a:bodyPr>
          <a:lstStyle/>
          <a:p>
            <a:pPr>
              <a:spcAft>
                <a:spcPts val="600"/>
              </a:spcAft>
            </a:pPr>
            <a:r>
              <a:rPr sz="1600">
                <a:solidFill>
                  <a:srgbClr val="FFFFFF"/>
                </a:solidFill>
                <a:latin typeface="Calibri"/>
              </a:rPr>
              <a:t>• Gerçek kadavra diseksiyonları üzerinde Latince etiketli yapılar</a:t>
            </a:r>
          </a:p>
          <a:p>
            <a:pPr>
              <a:spcAft>
                <a:spcPts val="600"/>
              </a:spcAft>
            </a:pPr>
            <a:r>
              <a:rPr sz="1600">
                <a:solidFill>
                  <a:srgbClr val="FFFFFF"/>
                </a:solidFill>
                <a:latin typeface="Calibri"/>
              </a:rPr>
              <a:t>• Perine fasyaları: Colles, Gallaudet, membrana perinei – güncel kavramlar</a:t>
            </a:r>
          </a:p>
          <a:p>
            <a:pPr>
              <a:spcAft>
                <a:spcPts val="600"/>
              </a:spcAft>
            </a:pPr>
            <a:r>
              <a:rPr sz="1600">
                <a:solidFill>
                  <a:srgbClr val="FFFFFF"/>
                </a:solidFill>
                <a:latin typeface="Calibri"/>
              </a:rPr>
              <a:t>• Klinik bağlantılar ve varyasyon literatürü (PMC açık erişim)</a:t>
            </a:r>
          </a:p>
        </p:txBody>
      </p:sp>
      <p:pic>
        <p:nvPicPr>
          <p:cNvPr id="6" name="Picture 5" descr="CA-34-272-g001.jpg"/>
          <p:cNvPicPr>
            <a:picLocks noChangeAspect="1"/>
          </p:cNvPicPr>
          <p:nvPr/>
        </p:nvPicPr>
        <p:blipFill>
          <a:blip r:embed="rId2"/>
          <a:stretch>
            <a:fillRect/>
          </a:stretch>
        </p:blipFill>
        <p:spPr>
          <a:xfrm>
            <a:off x="7680960" y="472676"/>
            <a:ext cx="4206240" cy="2895127"/>
          </a:xfrm>
          <a:prstGeom prst="rect">
            <a:avLst/>
          </a:prstGeom>
        </p:spPr>
      </p:pic>
      <p:pic>
        <p:nvPicPr>
          <p:cNvPr id="7" name="Picture 6" descr="41598_2025_9585_Fig2_HTML.jpg"/>
          <p:cNvPicPr>
            <a:picLocks noChangeAspect="1"/>
          </p:cNvPicPr>
          <p:nvPr/>
        </p:nvPicPr>
        <p:blipFill>
          <a:blip r:embed="rId3"/>
          <a:stretch>
            <a:fillRect/>
          </a:stretch>
        </p:blipFill>
        <p:spPr>
          <a:xfrm>
            <a:off x="8001249" y="3566160"/>
            <a:ext cx="3565660" cy="2926080"/>
          </a:xfrm>
          <a:prstGeom prst="rect">
            <a:avLst/>
          </a:prstGeom>
        </p:spPr>
      </p:pic>
      <p:sp>
        <p:nvSpPr>
          <p:cNvPr id="8" name="TextBox 7"/>
          <p:cNvSpPr txBox="1"/>
          <p:nvPr/>
        </p:nvSpPr>
        <p:spPr>
          <a:xfrm>
            <a:off x="640080" y="6217920"/>
            <a:ext cx="6949440" cy="365760"/>
          </a:xfrm>
          <a:prstGeom prst="rect">
            <a:avLst/>
          </a:prstGeom>
          <a:noFill/>
        </p:spPr>
        <p:txBody>
          <a:bodyPr wrap="square" anchor="t" lIns="45720" rIns="45720" tIns="18288" bIns="18288">
            <a:spAutoFit/>
          </a:bodyPr>
          <a:lstStyle/>
          <a:p>
            <a:pPr algn="l"/>
            <a:r>
              <a:rPr sz="1300" b="0" i="1">
                <a:solidFill>
                  <a:srgbClr val="C8D1E6"/>
                </a:solidFill>
                <a:latin typeface="Calibri"/>
              </a:rPr>
              <a:t>Türkçe anlatım · Latince terminoloji (Terminologia Anatomica, TA2 2019)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Ders akışı</a:t>
            </a:r>
          </a:p>
        </p:txBody>
      </p:sp>
      <p:sp>
        <p:nvSpPr>
          <p:cNvPr id="4" name="TextBox 3"/>
          <p:cNvSpPr txBox="1"/>
          <p:nvPr/>
        </p:nvSpPr>
        <p:spPr>
          <a:xfrm>
            <a:off x="9921240" y="109728"/>
            <a:ext cx="2057400" cy="310896"/>
          </a:xfrm>
          <a:prstGeom prst="rect">
            <a:avLst/>
          </a:prstGeom>
          <a:solidFill>
            <a:srgbClr val="1F2A44"/>
          </a:solidFill>
        </p:spPr>
        <p:txBody>
          <a:bodyPr wrap="square" anchor="ctr" lIns="45720" rIns="45720" tIns="18288" bIns="18288">
            <a:spAutoFit/>
          </a:bodyPr>
          <a:lstStyle/>
          <a:p>
            <a:pPr algn="ctr"/>
            <a:r>
              <a:rPr sz="1100" b="1" i="0">
                <a:solidFill>
                  <a:srgbClr val="FFFFFF"/>
                </a:solidFill>
                <a:latin typeface="Calibri"/>
              </a:rPr>
              <a:t>ÖZET</a:t>
            </a:r>
          </a:p>
        </p:txBody>
      </p:sp>
      <p:sp>
        <p:nvSpPr>
          <p:cNvPr id="5" name="TextBox 4"/>
          <p:cNvSpPr txBox="1"/>
          <p:nvPr/>
        </p:nvSpPr>
        <p:spPr>
          <a:xfrm>
            <a:off x="411480" y="1188720"/>
            <a:ext cx="11338560" cy="5120640"/>
          </a:xfrm>
          <a:prstGeom prst="rect">
            <a:avLst/>
          </a:prstGeom>
          <a:noFill/>
        </p:spPr>
        <p:txBody>
          <a:bodyPr wrap="square">
            <a:spAutoFit/>
          </a:bodyPr>
          <a:lstStyle/>
          <a:p>
            <a:pPr>
              <a:spcAft>
                <a:spcPts val="600"/>
              </a:spcAft>
            </a:pPr>
            <a:r>
              <a:rPr sz="2000">
                <a:solidFill>
                  <a:srgbClr val="1F2A44"/>
                </a:solidFill>
                <a:latin typeface="Calibri"/>
              </a:rPr>
              <a:t>• </a:t>
            </a:r>
            <a:r>
              <a:rPr sz="2000">
                <a:solidFill>
                  <a:srgbClr val="1F2A44"/>
                </a:solidFill>
                <a:latin typeface="Calibri"/>
              </a:rPr>
              <a:t>1. Pelvis</a:t>
            </a:r>
            <a:r>
              <a:rPr sz="2000">
                <a:solidFill>
                  <a:srgbClr val="1F2A44"/>
                </a:solidFill>
                <a:latin typeface="Calibri"/>
              </a:rPr>
              <a:t> – kısa giriş: pelvis major/minor, apertura pelvis superior/inferior, bağlar, diaphragma pelvis, fascia pelvis</a:t>
            </a:r>
          </a:p>
          <a:p>
            <a:pPr>
              <a:spcAft>
                <a:spcPts val="600"/>
              </a:spcAft>
            </a:pPr>
            <a:r>
              <a:rPr sz="2000">
                <a:solidFill>
                  <a:srgbClr val="1F2A44"/>
                </a:solidFill>
                <a:latin typeface="Calibri"/>
              </a:rPr>
              <a:t>• </a:t>
            </a:r>
            <a:r>
              <a:rPr sz="2000">
                <a:solidFill>
                  <a:srgbClr val="1F2A44"/>
                </a:solidFill>
                <a:latin typeface="Calibri"/>
              </a:rPr>
              <a:t>2. Perine – genel</a:t>
            </a:r>
            <a:r>
              <a:rPr sz="2000">
                <a:solidFill>
                  <a:srgbClr val="1F2A44"/>
                </a:solidFill>
                <a:latin typeface="Calibri"/>
              </a:rPr>
              <a:t>: tanım, sınırlar, regio urogenitalis ve regio analis, corpus perineale</a:t>
            </a:r>
          </a:p>
          <a:p>
            <a:pPr>
              <a:spcAft>
                <a:spcPts val="600"/>
              </a:spcAft>
            </a:pPr>
            <a:r>
              <a:rPr sz="2000">
                <a:solidFill>
                  <a:srgbClr val="1F2A44"/>
                </a:solidFill>
                <a:latin typeface="Calibri"/>
              </a:rPr>
              <a:t>• </a:t>
            </a:r>
            <a:r>
              <a:rPr sz="2000">
                <a:solidFill>
                  <a:srgbClr val="1F2A44"/>
                </a:solidFill>
                <a:latin typeface="Calibri"/>
              </a:rPr>
              <a:t>3. Regio urogenitalis</a:t>
            </a:r>
            <a:r>
              <a:rPr sz="2000">
                <a:solidFill>
                  <a:srgbClr val="1F2A44"/>
                </a:solidFill>
                <a:latin typeface="Calibri"/>
              </a:rPr>
              <a:t>: katmanlar ve </a:t>
            </a:r>
            <a:r>
              <a:rPr sz="2000">
                <a:solidFill>
                  <a:srgbClr val="1F2A44"/>
                </a:solidFill>
                <a:latin typeface="Calibri"/>
              </a:rPr>
              <a:t>perine fasyaları</a:t>
            </a:r>
            <a:r>
              <a:rPr sz="2000">
                <a:solidFill>
                  <a:srgbClr val="1F2A44"/>
                </a:solidFill>
                <a:latin typeface="Calibri"/>
              </a:rPr>
              <a:t> (Colles, Gallaudet, membrana perinei), spatium perinei superficiale/profundum, ♂ ve ♀ dış genital kökleri, kaslar</a:t>
            </a:r>
          </a:p>
          <a:p>
            <a:pPr>
              <a:spcAft>
                <a:spcPts val="600"/>
              </a:spcAft>
            </a:pPr>
            <a:r>
              <a:rPr sz="2000">
                <a:solidFill>
                  <a:srgbClr val="1F2A44"/>
                </a:solidFill>
                <a:latin typeface="Calibri"/>
              </a:rPr>
              <a:t>• </a:t>
            </a:r>
            <a:r>
              <a:rPr sz="2000">
                <a:solidFill>
                  <a:srgbClr val="1F2A44"/>
                </a:solidFill>
                <a:latin typeface="Calibri"/>
              </a:rPr>
              <a:t>4. Regio analis</a:t>
            </a:r>
            <a:r>
              <a:rPr sz="2000">
                <a:solidFill>
                  <a:srgbClr val="1F2A44"/>
                </a:solidFill>
                <a:latin typeface="Calibri"/>
              </a:rPr>
              <a:t>: fossa ischioanalis, canalis analis ve sfinkterler, corpus anococcygeum</a:t>
            </a:r>
          </a:p>
          <a:p>
            <a:pPr>
              <a:spcAft>
                <a:spcPts val="600"/>
              </a:spcAft>
            </a:pPr>
            <a:r>
              <a:rPr sz="2000">
                <a:solidFill>
                  <a:srgbClr val="1F2A44"/>
                </a:solidFill>
                <a:latin typeface="Calibri"/>
              </a:rPr>
              <a:t>• </a:t>
            </a:r>
            <a:r>
              <a:rPr sz="2000">
                <a:solidFill>
                  <a:srgbClr val="1F2A44"/>
                </a:solidFill>
                <a:latin typeface="Calibri"/>
              </a:rPr>
              <a:t>5. Damar–sinir</a:t>
            </a:r>
            <a:r>
              <a:rPr sz="2000">
                <a:solidFill>
                  <a:srgbClr val="1F2A44"/>
                </a:solidFill>
                <a:latin typeface="Calibri"/>
              </a:rPr>
              <a:t>: n. pudendus, a. pudenda interna, canalis pudendalis; lenfatik drenaj; klinik</a:t>
            </a:r>
          </a:p>
          <a:p>
            <a:pPr>
              <a:spcAft>
                <a:spcPts val="600"/>
              </a:spcAft>
            </a:pPr>
            <a:r>
              <a:rPr sz="2000">
                <a:solidFill>
                  <a:srgbClr val="1F2A44"/>
                </a:solidFill>
                <a:latin typeface="Calibri"/>
              </a:rPr>
              <a:t>• </a:t>
            </a:r>
            <a:r>
              <a:rPr sz="2000">
                <a:solidFill>
                  <a:srgbClr val="1F2A44"/>
                </a:solidFill>
                <a:latin typeface="Calibri"/>
              </a:rPr>
              <a:t>6. Varyasyonlar</a:t>
            </a:r>
            <a:r>
              <a:rPr sz="2000">
                <a:solidFill>
                  <a:srgbClr val="1F2A44"/>
                </a:solidFill>
                <a:latin typeface="Calibri"/>
              </a:rPr>
              <a:t>: seçilmiş kadavra çalışmaları ve özgün görselleri</a:t>
            </a:r>
          </a:p>
        </p:txBody>
      </p:sp>
      <p:cxnSp>
        <p:nvCxnSpPr>
          <p:cNvPr id="6" name="Connector 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486400" cy="457200"/>
          </a:xfrm>
          <a:prstGeom prst="rect">
            <a:avLst/>
          </a:prstGeom>
          <a:noFill/>
        </p:spPr>
        <p:txBody>
          <a:bodyPr wrap="square" anchor="t" lIns="45720" rIns="45720" tIns="18288" bIns="18288">
            <a:spAutoFit/>
          </a:bodyPr>
          <a:lstStyle/>
          <a:p>
            <a:pPr algn="l"/>
            <a:r>
              <a:rPr sz="2000" b="1" i="0">
                <a:solidFill>
                  <a:srgbClr val="C8D1E6"/>
                </a:solidFill>
                <a:latin typeface="Calibri"/>
              </a:rPr>
              <a:t>BÖLÜM 1</a:t>
            </a:r>
          </a:p>
        </p:txBody>
      </p:sp>
      <p:sp>
        <p:nvSpPr>
          <p:cNvPr id="4" name="TextBox 3"/>
          <p:cNvSpPr txBox="1"/>
          <p:nvPr/>
        </p:nvSpPr>
        <p:spPr>
          <a:xfrm>
            <a:off x="548640" y="1234440"/>
            <a:ext cx="5669280" cy="1371600"/>
          </a:xfrm>
          <a:prstGeom prst="rect">
            <a:avLst/>
          </a:prstGeom>
          <a:noFill/>
        </p:spPr>
        <p:txBody>
          <a:bodyPr wrap="square" anchor="t" lIns="45720" rIns="45720" tIns="18288" bIns="18288">
            <a:spAutoFit/>
          </a:bodyPr>
          <a:lstStyle/>
          <a:p>
            <a:pPr algn="l"/>
            <a:r>
              <a:rPr sz="4000" b="1" i="0">
                <a:solidFill>
                  <a:srgbClr val="FFFFFF"/>
                </a:solidFill>
                <a:latin typeface="Calibri"/>
              </a:rPr>
              <a:t>Pelvis</a:t>
            </a:r>
          </a:p>
        </p:txBody>
      </p:sp>
      <p:sp>
        <p:nvSpPr>
          <p:cNvPr id="5" name="TextBox 4"/>
          <p:cNvSpPr txBox="1"/>
          <p:nvPr/>
        </p:nvSpPr>
        <p:spPr>
          <a:xfrm>
            <a:off x="548640" y="2697480"/>
            <a:ext cx="5486400" cy="640080"/>
          </a:xfrm>
          <a:prstGeom prst="rect">
            <a:avLst/>
          </a:prstGeom>
          <a:noFill/>
        </p:spPr>
        <p:txBody>
          <a:bodyPr wrap="square" anchor="t" lIns="45720" rIns="45720" tIns="18288" bIns="18288">
            <a:spAutoFit/>
          </a:bodyPr>
          <a:lstStyle/>
          <a:p>
            <a:pPr algn="l"/>
            <a:r>
              <a:rPr sz="1700" b="0" i="1">
                <a:solidFill>
                  <a:srgbClr val="C8D1E6"/>
                </a:solidFill>
                <a:latin typeface="Calibri"/>
              </a:rPr>
              <a:t>Kısa giriş – perinenin kemik-fibröz çerçevesi ve tavanı</a:t>
            </a:r>
          </a:p>
        </p:txBody>
      </p:sp>
      <p:sp>
        <p:nvSpPr>
          <p:cNvPr id="6" name="TextBox 5"/>
          <p:cNvSpPr txBox="1"/>
          <p:nvPr/>
        </p:nvSpPr>
        <p:spPr>
          <a:xfrm>
            <a:off x="548640" y="3429000"/>
            <a:ext cx="5577840" cy="2926080"/>
          </a:xfrm>
          <a:prstGeom prst="rect">
            <a:avLst/>
          </a:prstGeom>
          <a:noFill/>
        </p:spPr>
        <p:txBody>
          <a:bodyPr wrap="square">
            <a:spAutoFit/>
          </a:bodyPr>
          <a:lstStyle/>
          <a:p>
            <a:pPr>
              <a:spcAft>
                <a:spcPts val="600"/>
              </a:spcAft>
            </a:pPr>
            <a:r>
              <a:rPr sz="1700">
                <a:solidFill>
                  <a:srgbClr val="FFFFFF"/>
                </a:solidFill>
                <a:latin typeface="Calibri"/>
              </a:rPr>
              <a:t>• Pelvis major / minor, linea terminalis</a:t>
            </a:r>
          </a:p>
          <a:p>
            <a:pPr>
              <a:spcAft>
                <a:spcPts val="600"/>
              </a:spcAft>
            </a:pPr>
            <a:r>
              <a:rPr sz="1700">
                <a:solidFill>
                  <a:srgbClr val="FFFFFF"/>
                </a:solidFill>
                <a:latin typeface="Calibri"/>
              </a:rPr>
              <a:t>• Apertura pelvis superior / inferior</a:t>
            </a:r>
          </a:p>
          <a:p>
            <a:pPr>
              <a:spcAft>
                <a:spcPts val="600"/>
              </a:spcAft>
            </a:pPr>
            <a:r>
              <a:rPr sz="1700">
                <a:solidFill>
                  <a:srgbClr val="FFFFFF"/>
                </a:solidFill>
                <a:latin typeface="Calibri"/>
              </a:rPr>
              <a:t>• Ligg. sacrospinale &amp; sacrotuberale</a:t>
            </a:r>
          </a:p>
          <a:p>
            <a:pPr>
              <a:spcAft>
                <a:spcPts val="600"/>
              </a:spcAft>
            </a:pPr>
            <a:r>
              <a:rPr sz="1700">
                <a:solidFill>
                  <a:srgbClr val="FFFFFF"/>
                </a:solidFill>
                <a:latin typeface="Calibri"/>
              </a:rPr>
              <a:t>• Diaphragma pelvis ve fascia pelvis</a:t>
            </a:r>
          </a:p>
        </p:txBody>
      </p:sp>
      <p:pic>
        <p:nvPicPr>
          <p:cNvPr id="7" name="Picture 6" descr="41598_2021_89041_Fig4_HTML.jpg"/>
          <p:cNvPicPr>
            <a:picLocks noChangeAspect="1"/>
          </p:cNvPicPr>
          <p:nvPr/>
        </p:nvPicPr>
        <p:blipFill>
          <a:blip r:embed="rId2"/>
          <a:stretch>
            <a:fillRect/>
          </a:stretch>
        </p:blipFill>
        <p:spPr>
          <a:xfrm>
            <a:off x="7196555" y="457200"/>
            <a:ext cx="4214928" cy="5577840"/>
          </a:xfrm>
          <a:prstGeom prst="rect">
            <a:avLst/>
          </a:prstGeom>
        </p:spPr>
      </p:pic>
      <p:sp>
        <p:nvSpPr>
          <p:cNvPr id="8" name="TextBox 7"/>
          <p:cNvSpPr txBox="1"/>
          <p:nvPr/>
        </p:nvSpPr>
        <p:spPr>
          <a:xfrm>
            <a:off x="6675120" y="6080760"/>
            <a:ext cx="5257800" cy="274320"/>
          </a:xfrm>
          <a:prstGeom prst="rect">
            <a:avLst/>
          </a:prstGeom>
          <a:noFill/>
        </p:spPr>
        <p:txBody>
          <a:bodyPr wrap="square" anchor="t" lIns="45720" rIns="45720" tIns="18288" bIns="18288">
            <a:spAutoFit/>
          </a:bodyPr>
          <a:lstStyle/>
          <a:p>
            <a:pPr algn="ctr"/>
            <a:r>
              <a:rPr sz="900" b="0" i="1">
                <a:solidFill>
                  <a:srgbClr val="555B66"/>
                </a:solidFill>
                <a:latin typeface="Calibri"/>
              </a:rPr>
              <a:t>Chin H. Y. ve ark., 2021 (PMC8096964, CC BY)</a:t>
            </a:r>
          </a:p>
        </p:txBody>
      </p: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Pelvis: tanım ve bölümleri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Pelvis major – pelvis minor – apertura pelvis superior / inferior</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Pelvis</a:t>
            </a:r>
            <a:r>
              <a:rPr sz="1900">
                <a:solidFill>
                  <a:srgbClr val="1F2A44"/>
                </a:solidFill>
                <a:latin typeface="Calibri"/>
              </a:rPr>
              <a:t> = cingulum pelvicum (iki os coxae) + os sacrum + os coccygis; eklemleri: art. sacroiliaca, symphysis pubica, art. sacrococcygea.</a:t>
            </a:r>
          </a:p>
          <a:p>
            <a:pPr>
              <a:spcAft>
                <a:spcPts val="600"/>
              </a:spcAft>
            </a:pPr>
            <a:r>
              <a:rPr sz="1900">
                <a:solidFill>
                  <a:srgbClr val="1F2A44"/>
                </a:solidFill>
                <a:latin typeface="Calibri"/>
              </a:rPr>
              <a:t>• </a:t>
            </a:r>
            <a:r>
              <a:rPr sz="1900">
                <a:solidFill>
                  <a:srgbClr val="1F2A44"/>
                </a:solidFill>
                <a:latin typeface="Calibri"/>
              </a:rPr>
              <a:t>Linea terminalis</a:t>
            </a:r>
            <a:r>
              <a:rPr sz="1900">
                <a:solidFill>
                  <a:srgbClr val="1F2A44"/>
                </a:solidFill>
                <a:latin typeface="Calibri"/>
              </a:rPr>
              <a:t> (promontorium → ala ossis sacri kenarı → linea arcuata → pecten ossis pubis → crista pubica → symphysis'in üst kenarı) pelvisi ikiye ayırır:</a:t>
            </a:r>
          </a:p>
          <a:p>
            <a:pPr lvl="1">
              <a:spcAft>
                <a:spcPts val="600"/>
              </a:spcAft>
            </a:pPr>
            <a:r>
              <a:rPr sz="1700">
                <a:solidFill>
                  <a:srgbClr val="1F2A44"/>
                </a:solidFill>
                <a:latin typeface="Calibri"/>
              </a:rPr>
              <a:t>– </a:t>
            </a:r>
            <a:r>
              <a:rPr sz="1700">
                <a:solidFill>
                  <a:srgbClr val="1F2A44"/>
                </a:solidFill>
                <a:latin typeface="Calibri"/>
              </a:rPr>
              <a:t>Pelvis major</a:t>
            </a:r>
            <a:r>
              <a:rPr sz="1700">
                <a:solidFill>
                  <a:srgbClr val="1F2A44"/>
                </a:solidFill>
                <a:latin typeface="Calibri"/>
              </a:rPr>
              <a:t> (pelvis falsa): linea terminalis'in üstü; cavitas abdominis'in parçası, iliak fossalar.</a:t>
            </a:r>
          </a:p>
          <a:p>
            <a:pPr lvl="1">
              <a:spcAft>
                <a:spcPts val="600"/>
              </a:spcAft>
            </a:pPr>
            <a:r>
              <a:rPr sz="1700">
                <a:solidFill>
                  <a:srgbClr val="1F2A44"/>
                </a:solidFill>
                <a:latin typeface="Calibri"/>
              </a:rPr>
              <a:t>– </a:t>
            </a:r>
            <a:r>
              <a:rPr sz="1700">
                <a:solidFill>
                  <a:srgbClr val="1F2A44"/>
                </a:solidFill>
                <a:latin typeface="Calibri"/>
              </a:rPr>
              <a:t>Pelvis minor</a:t>
            </a:r>
            <a:r>
              <a:rPr sz="1700">
                <a:solidFill>
                  <a:srgbClr val="1F2A44"/>
                </a:solidFill>
                <a:latin typeface="Calibri"/>
              </a:rPr>
              <a:t> (pelvis vera): linea terminalis'in altı; cavitas pelvis – obstetrik doğum kanalı.</a:t>
            </a:r>
          </a:p>
          <a:p>
            <a:pPr>
              <a:spcAft>
                <a:spcPts val="600"/>
              </a:spcAft>
            </a:pPr>
            <a:r>
              <a:rPr sz="1900">
                <a:solidFill>
                  <a:srgbClr val="1F2A44"/>
                </a:solidFill>
                <a:latin typeface="Calibri"/>
              </a:rPr>
              <a:t>• </a:t>
            </a:r>
            <a:r>
              <a:rPr sz="1900">
                <a:solidFill>
                  <a:srgbClr val="1F2A44"/>
                </a:solidFill>
                <a:latin typeface="Calibri"/>
              </a:rPr>
              <a:t>Apertura pelvis superior</a:t>
            </a:r>
            <a:r>
              <a:rPr sz="1900">
                <a:solidFill>
                  <a:srgbClr val="1F2A44"/>
                </a:solidFill>
                <a:latin typeface="Calibri"/>
              </a:rPr>
              <a:t> (inlet) = linea terminalis'in çevrelediği açıklık; </a:t>
            </a:r>
            <a:r>
              <a:rPr sz="1900">
                <a:solidFill>
                  <a:srgbClr val="1F2A44"/>
                </a:solidFill>
                <a:latin typeface="Calibri"/>
              </a:rPr>
              <a:t>apertura pelvis inferior</a:t>
            </a:r>
            <a:r>
              <a:rPr sz="1900">
                <a:solidFill>
                  <a:srgbClr val="1F2A44"/>
                </a:solidFill>
                <a:latin typeface="Calibri"/>
              </a:rPr>
              <a:t> (outlet) = perinenin osteofibröz çerçevesi.</a:t>
            </a:r>
          </a:p>
          <a:p>
            <a:pPr>
              <a:spcAft>
                <a:spcPts val="600"/>
              </a:spcAft>
            </a:pPr>
            <a:r>
              <a:rPr sz="1900">
                <a:solidFill>
                  <a:srgbClr val="1F2A44"/>
                </a:solidFill>
                <a:latin typeface="Calibri"/>
              </a:rPr>
              <a:t>• Pelvis eğimi (inclinatio pelvis): ayakta apertura superior horizontale ≈50–60°; spina iliaca anterior superior ve tuberculum pubicum aynı koronal düzlemde.</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Apertura pelvis superior ve inferior – sınırlar</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Perinenin sınırlarını apertura pelvis inferior belirler</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graphicFrame>
        <p:nvGraphicFramePr>
          <p:cNvPr id="7" name="Table 6"/>
          <p:cNvGraphicFramePr>
            <a:graphicFrameLocks noGrp="1"/>
          </p:cNvGraphicFramePr>
          <p:nvPr/>
        </p:nvGraphicFramePr>
        <p:xfrm>
          <a:off x="274320" y="1143000"/>
          <a:ext cx="11640311" cy="3931920"/>
        </p:xfrm>
        <a:graphic>
          <a:graphicData uri="http://schemas.openxmlformats.org/drawingml/2006/table">
            <a:tbl>
              <a:tblPr firstRow="1" bandRow="1">
                <a:tableStyleId>{5C22544A-7EE6-4342-B048-85BDC9FD1C3A}</a:tableStyleId>
              </a:tblPr>
              <a:tblGrid>
                <a:gridCol w="1552041"/>
                <a:gridCol w="5044135"/>
                <a:gridCol w="5044135"/>
              </a:tblGrid>
              <a:tr h="786384">
                <a:tc>
                  <a:txBody>
                    <a:bodyPr/>
                    <a:lstStyle/>
                    <a:p/>
                  </a:txBody>
                  <a:tcPr>
                    <a:solidFill>
                      <a:srgbClr val="1F2A44"/>
                    </a:solidFill>
                  </a:tcPr>
                </a:tc>
                <a:tc>
                  <a:txBody>
                    <a:bodyPr/>
                    <a:lstStyle/>
                    <a:p>
                      <a:r>
                        <a:rPr sz="1500" b="1">
                          <a:solidFill>
                            <a:srgbClr val="FFFFFF"/>
                          </a:solidFill>
                          <a:latin typeface="Calibri"/>
                        </a:rPr>
                        <a:t>Apertura pelvis superior (inlet)</a:t>
                      </a:r>
                    </a:p>
                  </a:txBody>
                  <a:tcPr>
                    <a:solidFill>
                      <a:srgbClr val="1F2A44"/>
                    </a:solidFill>
                  </a:tcPr>
                </a:tc>
                <a:tc>
                  <a:txBody>
                    <a:bodyPr/>
                    <a:lstStyle/>
                    <a:p>
                      <a:r>
                        <a:rPr sz="1500" b="1">
                          <a:solidFill>
                            <a:srgbClr val="FFFFFF"/>
                          </a:solidFill>
                          <a:latin typeface="Calibri"/>
                        </a:rPr>
                        <a:t>Apertura pelvis inferior (outlet)</a:t>
                      </a:r>
                    </a:p>
                  </a:txBody>
                  <a:tcPr>
                    <a:solidFill>
                      <a:srgbClr val="1F2A44"/>
                    </a:solidFill>
                  </a:tcPr>
                </a:tc>
              </a:tr>
              <a:tr h="786384">
                <a:tc>
                  <a:txBody>
                    <a:bodyPr/>
                    <a:lstStyle/>
                    <a:p>
                      <a:r>
                        <a:rPr sz="1500" b="1">
                          <a:solidFill>
                            <a:srgbClr val="1F2A44"/>
                          </a:solidFill>
                          <a:latin typeface="Calibri"/>
                        </a:rPr>
                        <a:t>Ön</a:t>
                      </a:r>
                    </a:p>
                  </a:txBody>
                  <a:tcPr marT="27432" marB="27432">
                    <a:solidFill>
                      <a:srgbClr val="F3F4F6"/>
                    </a:solidFill>
                  </a:tcPr>
                </a:tc>
                <a:tc>
                  <a:txBody>
                    <a:bodyPr/>
                    <a:lstStyle/>
                    <a:p>
                      <a:r>
                        <a:rPr sz="1500">
                          <a:solidFill>
                            <a:srgbClr val="1F2A44"/>
                          </a:solidFill>
                          <a:latin typeface="Calibri"/>
                        </a:rPr>
                        <a:t>Symphysis pubica'nın üst kenarı, crista pubica</a:t>
                      </a:r>
                    </a:p>
                  </a:txBody>
                  <a:tcPr marT="27432" marB="27432">
                    <a:solidFill>
                      <a:srgbClr val="F3F4F6"/>
                    </a:solidFill>
                  </a:tcPr>
                </a:tc>
                <a:tc>
                  <a:txBody>
                    <a:bodyPr/>
                    <a:lstStyle/>
                    <a:p>
                      <a:r>
                        <a:rPr sz="1500">
                          <a:solidFill>
                            <a:srgbClr val="1F2A44"/>
                          </a:solidFill>
                          <a:latin typeface="Calibri"/>
                        </a:rPr>
                        <a:t>Symphysis pubica'nın alt kenarı (</a:t>
                      </a:r>
                      <a:r>
                        <a:rPr sz="1500">
                          <a:solidFill>
                            <a:srgbClr val="1F2A44"/>
                          </a:solidFill>
                          <a:latin typeface="Calibri"/>
                        </a:rPr>
                        <a:t>lig. pubicum inferius</a:t>
                      </a:r>
                      <a:r>
                        <a:rPr sz="1500">
                          <a:solidFill>
                            <a:srgbClr val="1F2A44"/>
                          </a:solidFill>
                          <a:latin typeface="Calibri"/>
                        </a:rPr>
                        <a:t>), arcus pubicus</a:t>
                      </a:r>
                    </a:p>
                  </a:txBody>
                  <a:tcPr marT="27432" marB="27432">
                    <a:solidFill>
                      <a:srgbClr val="F3F4F6"/>
                    </a:solidFill>
                  </a:tcPr>
                </a:tc>
              </a:tr>
              <a:tr h="786384">
                <a:tc>
                  <a:txBody>
                    <a:bodyPr/>
                    <a:lstStyle/>
                    <a:p>
                      <a:r>
                        <a:rPr sz="1500" b="1">
                          <a:solidFill>
                            <a:srgbClr val="1F2A44"/>
                          </a:solidFill>
                          <a:latin typeface="Calibri"/>
                        </a:rPr>
                        <a:t>Yan</a:t>
                      </a:r>
                    </a:p>
                  </a:txBody>
                  <a:tcPr marT="27432" marB="27432">
                    <a:solidFill>
                      <a:srgbClr val="FFFFFF"/>
                    </a:solidFill>
                  </a:tcPr>
                </a:tc>
                <a:tc>
                  <a:txBody>
                    <a:bodyPr/>
                    <a:lstStyle/>
                    <a:p>
                      <a:r>
                        <a:rPr sz="1500">
                          <a:solidFill>
                            <a:srgbClr val="1F2A44"/>
                          </a:solidFill>
                          <a:latin typeface="Calibri"/>
                        </a:rPr>
                        <a:t>Pecten ossis pubis, linea arcuata (os ilium)</a:t>
                      </a:r>
                    </a:p>
                  </a:txBody>
                  <a:tcPr marT="27432" marB="27432">
                    <a:solidFill>
                      <a:srgbClr val="FFFFFF"/>
                    </a:solidFill>
                  </a:tcPr>
                </a:tc>
                <a:tc>
                  <a:txBody>
                    <a:bodyPr/>
                    <a:lstStyle/>
                    <a:p>
                      <a:r>
                        <a:rPr sz="1500">
                          <a:solidFill>
                            <a:srgbClr val="1F2A44"/>
                          </a:solidFill>
                          <a:latin typeface="Calibri"/>
                        </a:rPr>
                        <a:t>Rami ischiopubici</a:t>
                      </a:r>
                      <a:r>
                        <a:rPr sz="1500">
                          <a:solidFill>
                            <a:srgbClr val="1F2A44"/>
                          </a:solidFill>
                          <a:latin typeface="Calibri"/>
                        </a:rPr>
                        <a:t>, </a:t>
                      </a:r>
                      <a:r>
                        <a:rPr sz="1500">
                          <a:solidFill>
                            <a:srgbClr val="1F2A44"/>
                          </a:solidFill>
                          <a:latin typeface="Calibri"/>
                        </a:rPr>
                        <a:t>tubera ischiadica</a:t>
                      </a:r>
                      <a:r>
                        <a:rPr sz="1500">
                          <a:solidFill>
                            <a:srgbClr val="1F2A44"/>
                          </a:solidFill>
                          <a:latin typeface="Calibri"/>
                        </a:rPr>
                        <a:t>, </a:t>
                      </a:r>
                      <a:r>
                        <a:rPr sz="1500">
                          <a:solidFill>
                            <a:srgbClr val="1F2A44"/>
                          </a:solidFill>
                          <a:latin typeface="Calibri"/>
                        </a:rPr>
                        <a:t>ligg. sacrotuberalia</a:t>
                      </a:r>
                    </a:p>
                  </a:txBody>
                  <a:tcPr marT="27432" marB="27432">
                    <a:solidFill>
                      <a:srgbClr val="FFFFFF"/>
                    </a:solidFill>
                  </a:tcPr>
                </a:tc>
              </a:tr>
              <a:tr h="786384">
                <a:tc>
                  <a:txBody>
                    <a:bodyPr/>
                    <a:lstStyle/>
                    <a:p>
                      <a:r>
                        <a:rPr sz="1500" b="1">
                          <a:solidFill>
                            <a:srgbClr val="1F2A44"/>
                          </a:solidFill>
                          <a:latin typeface="Calibri"/>
                        </a:rPr>
                        <a:t>Arka</a:t>
                      </a:r>
                    </a:p>
                  </a:txBody>
                  <a:tcPr marT="27432" marB="27432">
                    <a:solidFill>
                      <a:srgbClr val="F3F4F6"/>
                    </a:solidFill>
                  </a:tcPr>
                </a:tc>
                <a:tc>
                  <a:txBody>
                    <a:bodyPr/>
                    <a:lstStyle/>
                    <a:p>
                      <a:r>
                        <a:rPr sz="1500">
                          <a:solidFill>
                            <a:srgbClr val="1F2A44"/>
                          </a:solidFill>
                          <a:latin typeface="Calibri"/>
                        </a:rPr>
                        <a:t>Promontorium ve ala ossis sacri'nin ön kenarı</a:t>
                      </a:r>
                    </a:p>
                  </a:txBody>
                  <a:tcPr marT="27432" marB="27432">
                    <a:solidFill>
                      <a:srgbClr val="F3F4F6"/>
                    </a:solidFill>
                  </a:tcPr>
                </a:tc>
                <a:tc>
                  <a:txBody>
                    <a:bodyPr/>
                    <a:lstStyle/>
                    <a:p>
                      <a:r>
                        <a:rPr sz="1500">
                          <a:solidFill>
                            <a:srgbClr val="1F2A44"/>
                          </a:solidFill>
                          <a:latin typeface="Calibri"/>
                        </a:rPr>
                        <a:t>Os coccygis</a:t>
                      </a:r>
                      <a:r>
                        <a:rPr sz="1500">
                          <a:solidFill>
                            <a:srgbClr val="1F2A44"/>
                          </a:solidFill>
                          <a:latin typeface="Calibri"/>
                        </a:rPr>
                        <a:t>'in ucu (apex)</a:t>
                      </a:r>
                    </a:p>
                  </a:txBody>
                  <a:tcPr marT="27432" marB="27432">
                    <a:solidFill>
                      <a:srgbClr val="F3F4F6"/>
                    </a:solidFill>
                  </a:tcPr>
                </a:tc>
              </a:tr>
              <a:tr h="786384">
                <a:tc>
                  <a:txBody>
                    <a:bodyPr/>
                    <a:lstStyle/>
                    <a:p>
                      <a:r>
                        <a:rPr sz="1500" b="1">
                          <a:solidFill>
                            <a:srgbClr val="1F2A44"/>
                          </a:solidFill>
                          <a:latin typeface="Calibri"/>
                        </a:rPr>
                        <a:t>Klinik çap</a:t>
                      </a:r>
                    </a:p>
                  </a:txBody>
                  <a:tcPr marT="27432" marB="27432">
                    <a:solidFill>
                      <a:srgbClr val="FFFFFF"/>
                    </a:solidFill>
                  </a:tcPr>
                </a:tc>
                <a:tc>
                  <a:txBody>
                    <a:bodyPr/>
                    <a:lstStyle/>
                    <a:p>
                      <a:r>
                        <a:rPr sz="1500">
                          <a:solidFill>
                            <a:srgbClr val="1F2A44"/>
                          </a:solidFill>
                          <a:latin typeface="Calibri"/>
                        </a:rPr>
                        <a:t>Diameter vera (conjugata anatomica ≈11 cm); conjugata obstetrica (en kısa ön-arka çap ≈ 10,5–11 cm); diameter transversa ≈13 cm</a:t>
                      </a:r>
                    </a:p>
                  </a:txBody>
                  <a:tcPr marT="27432" marB="27432">
                    <a:solidFill>
                      <a:srgbClr val="FFFFFF"/>
                    </a:solidFill>
                  </a:tcPr>
                </a:tc>
                <a:tc>
                  <a:txBody>
                    <a:bodyPr/>
                    <a:lstStyle/>
                    <a:p>
                      <a:r>
                        <a:rPr sz="1500">
                          <a:solidFill>
                            <a:srgbClr val="1F2A44"/>
                          </a:solidFill>
                          <a:latin typeface="Calibri"/>
                        </a:rPr>
                        <a:t>Diameter transversa (bituberal / intertuberal) ≈11 cm; ön-arka çap (alt symphysis – coccyx ucu) ≈9,5 cm, coccyx geriye esneyince ≈11,5 cm</a:t>
                      </a:r>
                    </a:p>
                  </a:txBody>
                  <a:tcPr marT="27432" marB="27432">
                    <a:solidFill>
                      <a:srgbClr val="FFFFFF"/>
                    </a:solidFill>
                  </a:tcPr>
                </a:tc>
              </a:tr>
            </a:tbl>
          </a:graphicData>
        </a:graphic>
      </p:graphicFrame>
      <p:sp>
        <p:nvSpPr>
          <p:cNvPr id="8" name="TextBox 7"/>
          <p:cNvSpPr txBox="1"/>
          <p:nvPr/>
        </p:nvSpPr>
        <p:spPr>
          <a:xfrm>
            <a:off x="274320" y="6035040"/>
            <a:ext cx="11612880" cy="347472"/>
          </a:xfrm>
          <a:prstGeom prst="rect">
            <a:avLst/>
          </a:prstGeom>
          <a:noFill/>
        </p:spPr>
        <p:txBody>
          <a:bodyPr wrap="square" anchor="t" lIns="45720" rIns="45720" tIns="18288" bIns="18288">
            <a:spAutoFit/>
          </a:bodyPr>
          <a:lstStyle/>
          <a:p>
            <a:pPr algn="l"/>
            <a:r>
              <a:rPr sz="1200" b="0" i="1">
                <a:solidFill>
                  <a:srgbClr val="555B66"/>
                </a:solidFill>
                <a:latin typeface="Calibri"/>
              </a:rPr>
              <a:t>Apertura inferior elmas (eşkenar dörtgen) biçimlidir; tubera ischiadica arası çizgi onu ön (regio urogenitalis) ve arka (regio analis) üçgenlere ayırır.</a:t>
            </a:r>
          </a:p>
        </p:txBody>
      </p:sp>
      <p:cxnSp>
        <p:nvCxnSpPr>
          <p:cNvPr id="9" name="Connector 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Standart anatomi bilgisi; çaplar yaklaşık ortalama değerlerdir (kadın pelvisi).</a:t>
            </a:r>
          </a:p>
        </p:txBody>
      </p:sp>
      <p:sp>
        <p:nvSpPr>
          <p:cNvPr id="11" name="TextBox 10"/>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Apertura pelvis superior ve inferior – pelvimetri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3B-BT rekonstrüksiyonu (canlı bireyler): giriş ve çıkış çapları</a:t>
            </a:r>
          </a:p>
        </p:txBody>
      </p:sp>
      <p:sp>
        <p:nvSpPr>
          <p:cNvPr id="5" name="TextBox 4"/>
          <p:cNvSpPr txBox="1"/>
          <p:nvPr/>
        </p:nvSpPr>
        <p:spPr>
          <a:xfrm>
            <a:off x="9921240" y="109728"/>
            <a:ext cx="2057400" cy="310896"/>
          </a:xfrm>
          <a:prstGeom prst="rect">
            <a:avLst/>
          </a:prstGeom>
          <a:solidFill>
            <a:srgbClr val="5E35B1"/>
          </a:solidFill>
        </p:spPr>
        <p:txBody>
          <a:bodyPr wrap="square" anchor="ctr" lIns="45720" rIns="45720" tIns="18288" bIns="18288">
            <a:spAutoFit/>
          </a:bodyPr>
          <a:lstStyle/>
          <a:p>
            <a:pPr algn="ctr"/>
            <a:r>
              <a:rPr sz="1100" b="1" i="0">
                <a:solidFill>
                  <a:srgbClr val="FFFFFF"/>
                </a:solidFill>
                <a:latin typeface="Calibri"/>
              </a:rPr>
              <a:t>GÖRÜNTÜLEME</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pic>
        <p:nvPicPr>
          <p:cNvPr id="7" name="Picture 6" descr="acb-50-265-g001.jpg"/>
          <p:cNvPicPr>
            <a:picLocks noChangeAspect="1"/>
          </p:cNvPicPr>
          <p:nvPr/>
        </p:nvPicPr>
        <p:blipFill>
          <a:blip r:embed="rId2"/>
          <a:stretch>
            <a:fillRect/>
          </a:stretch>
        </p:blipFill>
        <p:spPr>
          <a:xfrm>
            <a:off x="3154679" y="1842781"/>
            <a:ext cx="5882335" cy="2248892"/>
          </a:xfrm>
          <a:prstGeom prst="rect">
            <a:avLst/>
          </a:prstGeom>
        </p:spPr>
      </p:pic>
      <p:sp>
        <p:nvSpPr>
          <p:cNvPr id="8" name="TextBox 7"/>
          <p:cNvSpPr txBox="1"/>
          <p:nvPr/>
        </p:nvSpPr>
        <p:spPr>
          <a:xfrm>
            <a:off x="274320" y="2783768"/>
            <a:ext cx="26517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Diameter transversa aperturae pelvis superioris</a:t>
            </a:r>
          </a:p>
        </p:txBody>
      </p:sp>
      <p:cxnSp>
        <p:nvCxnSpPr>
          <p:cNvPr id="9" name="Connector 8"/>
          <p:cNvCxnSpPr/>
          <p:nvPr/>
        </p:nvCxnSpPr>
        <p:spPr>
          <a:xfrm>
            <a:off x="2926079" y="2939216"/>
            <a:ext cx="166917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549531" y="289349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3167816"/>
            <a:ext cx="26517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Linea terminalis</a:t>
            </a:r>
          </a:p>
        </p:txBody>
      </p:sp>
      <p:cxnSp>
        <p:nvCxnSpPr>
          <p:cNvPr id="12" name="Connector 11"/>
          <p:cNvCxnSpPr/>
          <p:nvPr/>
        </p:nvCxnSpPr>
        <p:spPr>
          <a:xfrm flipV="1">
            <a:off x="2926079" y="2939216"/>
            <a:ext cx="1084940" cy="38404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965299" y="289349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65615" y="2990088"/>
            <a:ext cx="26517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Spina ischiadica</a:t>
            </a:r>
          </a:p>
        </p:txBody>
      </p:sp>
      <p:cxnSp>
        <p:nvCxnSpPr>
          <p:cNvPr id="15" name="Connector 14"/>
          <p:cNvCxnSpPr/>
          <p:nvPr/>
        </p:nvCxnSpPr>
        <p:spPr>
          <a:xfrm flipH="1">
            <a:off x="7140262" y="3145536"/>
            <a:ext cx="2125353" cy="16182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094542" y="326164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5615" y="3374136"/>
            <a:ext cx="26517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Spina ischiadica</a:t>
            </a:r>
          </a:p>
        </p:txBody>
      </p:sp>
      <p:cxnSp>
        <p:nvCxnSpPr>
          <p:cNvPr id="18" name="Connector 17"/>
          <p:cNvCxnSpPr/>
          <p:nvPr/>
        </p:nvCxnSpPr>
        <p:spPr>
          <a:xfrm flipH="1" flipV="1">
            <a:off x="8020611" y="3307363"/>
            <a:ext cx="1245004" cy="22222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974891" y="326164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65615" y="3758184"/>
            <a:ext cx="26517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Tuber ischiadicum</a:t>
            </a:r>
          </a:p>
        </p:txBody>
      </p:sp>
      <p:cxnSp>
        <p:nvCxnSpPr>
          <p:cNvPr id="21" name="Connector 20"/>
          <p:cNvCxnSpPr/>
          <p:nvPr/>
        </p:nvCxnSpPr>
        <p:spPr>
          <a:xfrm flipH="1" flipV="1">
            <a:off x="7012211" y="3603480"/>
            <a:ext cx="2253404" cy="31015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966491" y="355776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65615" y="4142232"/>
            <a:ext cx="26517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Tuber ischiadicum</a:t>
            </a:r>
          </a:p>
        </p:txBody>
      </p:sp>
      <p:cxnSp>
        <p:nvCxnSpPr>
          <p:cNvPr id="24" name="Connector 23"/>
          <p:cNvCxnSpPr/>
          <p:nvPr/>
        </p:nvCxnSpPr>
        <p:spPr>
          <a:xfrm flipH="1" flipV="1">
            <a:off x="8156665" y="3603480"/>
            <a:ext cx="1108950" cy="69420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110945" y="355776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65615" y="4526280"/>
            <a:ext cx="26517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Angulus subpubicus</a:t>
            </a:r>
          </a:p>
        </p:txBody>
      </p:sp>
      <p:cxnSp>
        <p:nvCxnSpPr>
          <p:cNvPr id="27" name="Connector 26"/>
          <p:cNvCxnSpPr/>
          <p:nvPr/>
        </p:nvCxnSpPr>
        <p:spPr>
          <a:xfrm flipH="1" flipV="1">
            <a:off x="7580436" y="3771547"/>
            <a:ext cx="1685179" cy="91018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7534716" y="372582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54679" y="4109962"/>
            <a:ext cx="588233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1 – Kolesova O. ve ark., 2017 (PMC5768563, CC BY-NC)</a:t>
            </a:r>
          </a:p>
        </p:txBody>
      </p:sp>
      <p:sp>
        <p:nvSpPr>
          <p:cNvPr id="30" name="Rectangle 29"/>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Sol: apertura superior transvers çapı linea terminalis'in en geniş noktaları arasında; sağ: interspinöz (spinae ischiadicae) ve intertuberöz çaplar, angulus subpubicus.</a:t>
            </a:r>
          </a:p>
          <a:p>
            <a:pPr>
              <a:spcAft>
                <a:spcPts val="200"/>
              </a:spcAft>
            </a:pPr>
            <a:r>
              <a:rPr sz="1500">
                <a:solidFill>
                  <a:srgbClr val="1F2A44"/>
                </a:solidFill>
                <a:latin typeface="Calibri"/>
              </a:rPr>
              <a:t>• Interspinöz çap pelvis minor'ün en dar transvers çapıdır (≈10 cm) – fetal başın iniş düzlemi.</a:t>
            </a:r>
          </a:p>
        </p:txBody>
      </p:sp>
      <p:sp>
        <p:nvSpPr>
          <p:cNvPr id="32" name="TextBox 31"/>
          <p:cNvSpPr txBox="1"/>
          <p:nvPr/>
        </p:nvSpPr>
        <p:spPr>
          <a:xfrm>
            <a:off x="274320" y="6108192"/>
            <a:ext cx="7315200" cy="274320"/>
          </a:xfrm>
          <a:prstGeom prst="rect">
            <a:avLst/>
          </a:prstGeom>
          <a:noFill/>
        </p:spPr>
        <p:txBody>
          <a:bodyPr wrap="square" anchor="t" lIns="45720" rIns="45720" tIns="18288" bIns="18288">
            <a:spAutoFit/>
          </a:bodyPr>
          <a:lstStyle/>
          <a:p>
            <a:pPr algn="l"/>
            <a:r>
              <a:rPr sz="900" b="0" i="1">
                <a:solidFill>
                  <a:srgbClr val="C0392B"/>
                </a:solidFill>
                <a:latin typeface="Calibri"/>
              </a:rPr>
              <a:t>Lisans: CC BY-NC – yalnızca ticari olmayan eğitim amaçlı; uyarlama: yalnızca kırpma, aynı lisansla.</a:t>
            </a:r>
          </a:p>
        </p:txBody>
      </p:sp>
      <p:cxnSp>
        <p:nvCxnSpPr>
          <p:cNvPr id="33" name="Connector 3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Kolesova O., Kolesovs A., Vetra J. Age-related trends of lesser pelvic architecture in females and males: a computed tomography pelvimetry study. Anat Cell Biol. 2017 Dec 29;50(4):265–74. doi: 10.5115/acb.2017.50.4.265 PMCID: PMC5768563. Lisans: CC BY-NC.</a:t>
            </a:r>
          </a:p>
        </p:txBody>
      </p:sp>
      <p:sp>
        <p:nvSpPr>
          <p:cNvPr id="35" name="TextBox 34"/>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Pelvisin sagittal çapları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Promontorium – symphysis – os coccygis (3B-BT)</a:t>
            </a:r>
          </a:p>
        </p:txBody>
      </p:sp>
      <p:sp>
        <p:nvSpPr>
          <p:cNvPr id="5" name="TextBox 4"/>
          <p:cNvSpPr txBox="1"/>
          <p:nvPr/>
        </p:nvSpPr>
        <p:spPr>
          <a:xfrm>
            <a:off x="9921240" y="109728"/>
            <a:ext cx="2057400" cy="310896"/>
          </a:xfrm>
          <a:prstGeom prst="rect">
            <a:avLst/>
          </a:prstGeom>
          <a:solidFill>
            <a:srgbClr val="5E35B1"/>
          </a:solidFill>
        </p:spPr>
        <p:txBody>
          <a:bodyPr wrap="square" anchor="ctr" lIns="45720" rIns="45720" tIns="18288" bIns="18288">
            <a:spAutoFit/>
          </a:bodyPr>
          <a:lstStyle/>
          <a:p>
            <a:pPr algn="ctr"/>
            <a:r>
              <a:rPr sz="1100" b="1" i="0">
                <a:solidFill>
                  <a:srgbClr val="FFFFFF"/>
                </a:solidFill>
                <a:latin typeface="Calibri"/>
              </a:rPr>
              <a:t>GÖRÜNTÜLEME</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pic>
        <p:nvPicPr>
          <p:cNvPr id="7" name="Picture 6" descr="acb-50-265-g002.jpg"/>
          <p:cNvPicPr>
            <a:picLocks noChangeAspect="1"/>
          </p:cNvPicPr>
          <p:nvPr/>
        </p:nvPicPr>
        <p:blipFill>
          <a:blip r:embed="rId2"/>
          <a:stretch>
            <a:fillRect/>
          </a:stretch>
        </p:blipFill>
        <p:spPr>
          <a:xfrm>
            <a:off x="3611879" y="1422614"/>
            <a:ext cx="5882335" cy="3089226"/>
          </a:xfrm>
          <a:prstGeom prst="rect">
            <a:avLst/>
          </a:prstGeom>
        </p:spPr>
      </p:pic>
      <p:sp>
        <p:nvSpPr>
          <p:cNvPr id="8" name="TextBox 7"/>
          <p:cNvSpPr txBox="1"/>
          <p:nvPr/>
        </p:nvSpPr>
        <p:spPr>
          <a:xfrm>
            <a:off x="274320" y="2171525"/>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Promontorium</a:t>
            </a:r>
          </a:p>
        </p:txBody>
      </p:sp>
      <p:cxnSp>
        <p:nvCxnSpPr>
          <p:cNvPr id="9" name="Connector 8"/>
          <p:cNvCxnSpPr/>
          <p:nvPr/>
        </p:nvCxnSpPr>
        <p:spPr>
          <a:xfrm>
            <a:off x="3383279" y="2326973"/>
            <a:ext cx="141307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750630" y="228125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555573"/>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Diameter sagittalis aperturae superioris (conjugata)</a:t>
            </a:r>
          </a:p>
        </p:txBody>
      </p:sp>
      <p:cxnSp>
        <p:nvCxnSpPr>
          <p:cNvPr id="12" name="Connector 11"/>
          <p:cNvCxnSpPr/>
          <p:nvPr/>
        </p:nvCxnSpPr>
        <p:spPr>
          <a:xfrm flipV="1">
            <a:off x="3383279" y="2687116"/>
            <a:ext cx="1172975" cy="2390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510534" y="264139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452034"/>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Os coccygis (apex)</a:t>
            </a:r>
          </a:p>
        </p:txBody>
      </p:sp>
      <p:cxnSp>
        <p:nvCxnSpPr>
          <p:cNvPr id="15" name="Connector 14"/>
          <p:cNvCxnSpPr/>
          <p:nvPr/>
        </p:nvCxnSpPr>
        <p:spPr>
          <a:xfrm>
            <a:off x="3383279" y="3607482"/>
            <a:ext cx="2429474"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767033" y="35617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3836082"/>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Symphysis pubica</a:t>
            </a:r>
          </a:p>
        </p:txBody>
      </p:sp>
      <p:cxnSp>
        <p:nvCxnSpPr>
          <p:cNvPr id="18" name="Connector 17"/>
          <p:cNvCxnSpPr/>
          <p:nvPr/>
        </p:nvCxnSpPr>
        <p:spPr>
          <a:xfrm flipV="1">
            <a:off x="3383279" y="3823567"/>
            <a:ext cx="916874" cy="16796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54433" y="377784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4220130"/>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Diameter sagittalis aperturae inferioris</a:t>
            </a:r>
          </a:p>
        </p:txBody>
      </p:sp>
      <p:cxnSp>
        <p:nvCxnSpPr>
          <p:cNvPr id="21" name="Connector 20"/>
          <p:cNvCxnSpPr/>
          <p:nvPr/>
        </p:nvCxnSpPr>
        <p:spPr>
          <a:xfrm flipV="1">
            <a:off x="3383279" y="3887593"/>
            <a:ext cx="1893261" cy="48798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230820" y="384187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11879" y="4530129"/>
            <a:ext cx="588233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2 – Kolesova O. ve ark., 2017 (PMC5768563, CC BY-NC)</a:t>
            </a:r>
          </a:p>
        </p:txBody>
      </p:sp>
      <p:sp>
        <p:nvSpPr>
          <p:cNvPr id="24" name="Rectangle 23"/>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Conjugata (promontorium – symphysis) giriş çapı; çıkışta symphysis alt kenarı – coccyx ucu arası çap coccyx'in geriye hareketiyle doğumda ≈2 cm artar.</a:t>
            </a:r>
          </a:p>
        </p:txBody>
      </p:sp>
      <p:sp>
        <p:nvSpPr>
          <p:cNvPr id="26" name="TextBox 25"/>
          <p:cNvSpPr txBox="1"/>
          <p:nvPr/>
        </p:nvSpPr>
        <p:spPr>
          <a:xfrm>
            <a:off x="274320" y="6108192"/>
            <a:ext cx="7315200" cy="274320"/>
          </a:xfrm>
          <a:prstGeom prst="rect">
            <a:avLst/>
          </a:prstGeom>
          <a:noFill/>
        </p:spPr>
        <p:txBody>
          <a:bodyPr wrap="square" anchor="t" lIns="45720" rIns="45720" tIns="18288" bIns="18288">
            <a:spAutoFit/>
          </a:bodyPr>
          <a:lstStyle/>
          <a:p>
            <a:pPr algn="l"/>
            <a:r>
              <a:rPr sz="900" b="0" i="1">
                <a:solidFill>
                  <a:srgbClr val="C0392B"/>
                </a:solidFill>
                <a:latin typeface="Calibri"/>
              </a:rPr>
              <a:t>Lisans: CC BY-NC – yalnızca ticari olmayan eğitim amaçlı; uyarlama: yalnızca kırpma, aynı lisansla.</a:t>
            </a:r>
          </a:p>
        </p:txBody>
      </p:sp>
      <p:cxnSp>
        <p:nvCxnSpPr>
          <p:cNvPr id="27" name="Connector 2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Kolesova O., Kolesovs A., Vetra J. Age-related trends of lesser pelvic architecture in females and males: a computed tomography pelvimetry study. Anat Cell Biol. 2017 Dec 29;50(4):265–74. doi: 10.5115/acb.2017.50.4.265 PMCID: PMC5768563. Lisans: CC BY-NC.</a:t>
            </a:r>
          </a:p>
        </p:txBody>
      </p:sp>
      <p:sp>
        <p:nvSpPr>
          <p:cNvPr id="29" name="TextBox 2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Kadın ve erkek pelvisi – karşılaştırma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Seksüel dimorfizm (adli antropoloji ve obstetri açısından)</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graphicFrame>
        <p:nvGraphicFramePr>
          <p:cNvPr id="7" name="Table 6"/>
          <p:cNvGraphicFramePr>
            <a:graphicFrameLocks noGrp="1"/>
          </p:cNvGraphicFramePr>
          <p:nvPr/>
        </p:nvGraphicFramePr>
        <p:xfrm>
          <a:off x="274320" y="1143000"/>
          <a:ext cx="11640311" cy="4992624"/>
        </p:xfrm>
        <a:graphic>
          <a:graphicData uri="http://schemas.openxmlformats.org/drawingml/2006/table">
            <a:tbl>
              <a:tblPr firstRow="1" bandRow="1">
                <a:tableStyleId>{5C22544A-7EE6-4342-B048-85BDC9FD1C3A}</a:tableStyleId>
              </a:tblPr>
              <a:tblGrid>
                <a:gridCol w="2522067"/>
                <a:gridCol w="4559122"/>
                <a:gridCol w="4559122"/>
              </a:tblGrid>
              <a:tr h="554736">
                <a:tc>
                  <a:txBody>
                    <a:bodyPr/>
                    <a:lstStyle/>
                    <a:p>
                      <a:r>
                        <a:rPr sz="1500" b="1">
                          <a:solidFill>
                            <a:srgbClr val="FFFFFF"/>
                          </a:solidFill>
                          <a:latin typeface="Calibri"/>
                        </a:rPr>
                        <a:t>Özellik</a:t>
                      </a:r>
                    </a:p>
                  </a:txBody>
                  <a:tcPr>
                    <a:solidFill>
                      <a:srgbClr val="1F2A44"/>
                    </a:solidFill>
                  </a:tcPr>
                </a:tc>
                <a:tc>
                  <a:txBody>
                    <a:bodyPr/>
                    <a:lstStyle/>
                    <a:p>
                      <a:r>
                        <a:rPr sz="1500" b="1">
                          <a:solidFill>
                            <a:srgbClr val="FFFFFF"/>
                          </a:solidFill>
                          <a:latin typeface="Calibri"/>
                        </a:rPr>
                        <a:t>Kadın (pelvis gynecoides tipik)</a:t>
                      </a:r>
                    </a:p>
                  </a:txBody>
                  <a:tcPr>
                    <a:solidFill>
                      <a:srgbClr val="1F2A44"/>
                    </a:solidFill>
                  </a:tcPr>
                </a:tc>
                <a:tc>
                  <a:txBody>
                    <a:bodyPr/>
                    <a:lstStyle/>
                    <a:p>
                      <a:r>
                        <a:rPr sz="1500" b="1">
                          <a:solidFill>
                            <a:srgbClr val="FFFFFF"/>
                          </a:solidFill>
                          <a:latin typeface="Calibri"/>
                        </a:rPr>
                        <a:t>Erkek (pelvis androides tipik)</a:t>
                      </a:r>
                    </a:p>
                  </a:txBody>
                  <a:tcPr>
                    <a:solidFill>
                      <a:srgbClr val="1F2A44"/>
                    </a:solidFill>
                  </a:tcPr>
                </a:tc>
              </a:tr>
              <a:tr h="554736">
                <a:tc>
                  <a:txBody>
                    <a:bodyPr/>
                    <a:lstStyle/>
                    <a:p>
                      <a:r>
                        <a:rPr sz="1450" b="1">
                          <a:solidFill>
                            <a:srgbClr val="1F2A44"/>
                          </a:solidFill>
                          <a:latin typeface="Calibri"/>
                        </a:rPr>
                        <a:t>Genel yapı</a:t>
                      </a:r>
                    </a:p>
                  </a:txBody>
                  <a:tcPr marT="27432" marB="27432">
                    <a:solidFill>
                      <a:srgbClr val="F3F4F6"/>
                    </a:solidFill>
                  </a:tcPr>
                </a:tc>
                <a:tc>
                  <a:txBody>
                    <a:bodyPr/>
                    <a:lstStyle/>
                    <a:p>
                      <a:r>
                        <a:rPr sz="1450">
                          <a:solidFill>
                            <a:srgbClr val="1F2A44"/>
                          </a:solidFill>
                          <a:latin typeface="Calibri"/>
                        </a:rPr>
                        <a:t>İnce, hafif; kas izleri silik</a:t>
                      </a:r>
                    </a:p>
                  </a:txBody>
                  <a:tcPr marT="27432" marB="27432">
                    <a:solidFill>
                      <a:srgbClr val="F3F4F6"/>
                    </a:solidFill>
                  </a:tcPr>
                </a:tc>
                <a:tc>
                  <a:txBody>
                    <a:bodyPr/>
                    <a:lstStyle/>
                    <a:p>
                      <a:r>
                        <a:rPr sz="1450">
                          <a:solidFill>
                            <a:srgbClr val="1F2A44"/>
                          </a:solidFill>
                          <a:latin typeface="Calibri"/>
                        </a:rPr>
                        <a:t>Kalın, ağır; kas izleri belirgin</a:t>
                      </a:r>
                    </a:p>
                  </a:txBody>
                  <a:tcPr marT="27432" marB="27432">
                    <a:solidFill>
                      <a:srgbClr val="F3F4F6"/>
                    </a:solidFill>
                  </a:tcPr>
                </a:tc>
              </a:tr>
              <a:tr h="554736">
                <a:tc>
                  <a:txBody>
                    <a:bodyPr/>
                    <a:lstStyle/>
                    <a:p>
                      <a:r>
                        <a:rPr sz="1450" b="1">
                          <a:solidFill>
                            <a:srgbClr val="1F2A44"/>
                          </a:solidFill>
                          <a:latin typeface="Calibri"/>
                        </a:rPr>
                        <a:t>Apertura superior</a:t>
                      </a:r>
                    </a:p>
                  </a:txBody>
                  <a:tcPr marT="27432" marB="27432">
                    <a:solidFill>
                      <a:srgbClr val="FFFFFF"/>
                    </a:solidFill>
                  </a:tcPr>
                </a:tc>
                <a:tc>
                  <a:txBody>
                    <a:bodyPr/>
                    <a:lstStyle/>
                    <a:p>
                      <a:r>
                        <a:rPr sz="1450">
                          <a:solidFill>
                            <a:srgbClr val="1F2A44"/>
                          </a:solidFill>
                          <a:latin typeface="Calibri"/>
                        </a:rPr>
                        <a:t>Oval / yuvarlak, transvers çap geniş</a:t>
                      </a:r>
                    </a:p>
                  </a:txBody>
                  <a:tcPr marT="27432" marB="27432">
                    <a:solidFill>
                      <a:srgbClr val="FFFFFF"/>
                    </a:solidFill>
                  </a:tcPr>
                </a:tc>
                <a:tc>
                  <a:txBody>
                    <a:bodyPr/>
                    <a:lstStyle/>
                    <a:p>
                      <a:r>
                        <a:rPr sz="1450">
                          <a:solidFill>
                            <a:srgbClr val="1F2A44"/>
                          </a:solidFill>
                          <a:latin typeface="Calibri"/>
                        </a:rPr>
                        <a:t>Kalp biçimli (promontorium çıkıntılı)</a:t>
                      </a:r>
                    </a:p>
                  </a:txBody>
                  <a:tcPr marT="27432" marB="27432">
                    <a:solidFill>
                      <a:srgbClr val="FFFFFF"/>
                    </a:solidFill>
                  </a:tcPr>
                </a:tc>
              </a:tr>
              <a:tr h="554736">
                <a:tc>
                  <a:txBody>
                    <a:bodyPr/>
                    <a:lstStyle/>
                    <a:p>
                      <a:r>
                        <a:rPr sz="1450" b="1">
                          <a:solidFill>
                            <a:srgbClr val="1F2A44"/>
                          </a:solidFill>
                          <a:latin typeface="Calibri"/>
                        </a:rPr>
                        <a:t>Arcus pubicus (angulus subpubicus)</a:t>
                      </a:r>
                    </a:p>
                  </a:txBody>
                  <a:tcPr marT="27432" marB="27432">
                    <a:solidFill>
                      <a:srgbClr val="F3F4F6"/>
                    </a:solidFill>
                  </a:tcPr>
                </a:tc>
                <a:tc>
                  <a:txBody>
                    <a:bodyPr/>
                    <a:lstStyle/>
                    <a:p>
                      <a:r>
                        <a:rPr sz="1450">
                          <a:solidFill>
                            <a:srgbClr val="1F2A44"/>
                          </a:solidFill>
                          <a:latin typeface="Calibri"/>
                        </a:rPr>
                        <a:t>Geniş, ≈80–85° (U-biçimli)</a:t>
                      </a:r>
                    </a:p>
                  </a:txBody>
                  <a:tcPr marT="27432" marB="27432">
                    <a:solidFill>
                      <a:srgbClr val="F3F4F6"/>
                    </a:solidFill>
                  </a:tcPr>
                </a:tc>
                <a:tc>
                  <a:txBody>
                    <a:bodyPr/>
                    <a:lstStyle/>
                    <a:p>
                      <a:r>
                        <a:rPr sz="1450">
                          <a:solidFill>
                            <a:srgbClr val="1F2A44"/>
                          </a:solidFill>
                          <a:latin typeface="Calibri"/>
                        </a:rPr>
                        <a:t>Dar, ≈50–60° (V-biçimli)</a:t>
                      </a:r>
                    </a:p>
                  </a:txBody>
                  <a:tcPr marT="27432" marB="27432">
                    <a:solidFill>
                      <a:srgbClr val="F3F4F6"/>
                    </a:solidFill>
                  </a:tcPr>
                </a:tc>
              </a:tr>
              <a:tr h="554736">
                <a:tc>
                  <a:txBody>
                    <a:bodyPr/>
                    <a:lstStyle/>
                    <a:p>
                      <a:r>
                        <a:rPr sz="1450" b="1">
                          <a:solidFill>
                            <a:srgbClr val="1F2A44"/>
                          </a:solidFill>
                          <a:latin typeface="Calibri"/>
                        </a:rPr>
                        <a:t>Pelvis minor</a:t>
                      </a:r>
                    </a:p>
                  </a:txBody>
                  <a:tcPr marT="27432" marB="27432">
                    <a:solidFill>
                      <a:srgbClr val="FFFFFF"/>
                    </a:solidFill>
                  </a:tcPr>
                </a:tc>
                <a:tc>
                  <a:txBody>
                    <a:bodyPr/>
                    <a:lstStyle/>
                    <a:p>
                      <a:r>
                        <a:rPr sz="1450">
                          <a:solidFill>
                            <a:srgbClr val="1F2A44"/>
                          </a:solidFill>
                          <a:latin typeface="Calibri"/>
                        </a:rPr>
                        <a:t>Geniş ve sığ; duvarlar paralele yakın</a:t>
                      </a:r>
                    </a:p>
                  </a:txBody>
                  <a:tcPr marT="27432" marB="27432">
                    <a:solidFill>
                      <a:srgbClr val="FFFFFF"/>
                    </a:solidFill>
                  </a:tcPr>
                </a:tc>
                <a:tc>
                  <a:txBody>
                    <a:bodyPr/>
                    <a:lstStyle/>
                    <a:p>
                      <a:r>
                        <a:rPr sz="1450">
                          <a:solidFill>
                            <a:srgbClr val="1F2A44"/>
                          </a:solidFill>
                          <a:latin typeface="Calibri"/>
                        </a:rPr>
                        <a:t>Dar ve derin; huni biçimli</a:t>
                      </a:r>
                    </a:p>
                  </a:txBody>
                  <a:tcPr marT="27432" marB="27432">
                    <a:solidFill>
                      <a:srgbClr val="FFFFFF"/>
                    </a:solidFill>
                  </a:tcPr>
                </a:tc>
              </a:tr>
              <a:tr h="554736">
                <a:tc>
                  <a:txBody>
                    <a:bodyPr/>
                    <a:lstStyle/>
                    <a:p>
                      <a:r>
                        <a:rPr sz="1450" b="1">
                          <a:solidFill>
                            <a:srgbClr val="1F2A44"/>
                          </a:solidFill>
                          <a:latin typeface="Calibri"/>
                        </a:rPr>
                        <a:t>Incisura ischiadica major</a:t>
                      </a:r>
                    </a:p>
                  </a:txBody>
                  <a:tcPr marT="27432" marB="27432">
                    <a:solidFill>
                      <a:srgbClr val="F3F4F6"/>
                    </a:solidFill>
                  </a:tcPr>
                </a:tc>
                <a:tc>
                  <a:txBody>
                    <a:bodyPr/>
                    <a:lstStyle/>
                    <a:p>
                      <a:r>
                        <a:rPr sz="1450">
                          <a:solidFill>
                            <a:srgbClr val="1F2A44"/>
                          </a:solidFill>
                          <a:latin typeface="Calibri"/>
                        </a:rPr>
                        <a:t>Geniş (≈90°)</a:t>
                      </a:r>
                    </a:p>
                  </a:txBody>
                  <a:tcPr marT="27432" marB="27432">
                    <a:solidFill>
                      <a:srgbClr val="F3F4F6"/>
                    </a:solidFill>
                  </a:tcPr>
                </a:tc>
                <a:tc>
                  <a:txBody>
                    <a:bodyPr/>
                    <a:lstStyle/>
                    <a:p>
                      <a:r>
                        <a:rPr sz="1450">
                          <a:solidFill>
                            <a:srgbClr val="1F2A44"/>
                          </a:solidFill>
                          <a:latin typeface="Calibri"/>
                        </a:rPr>
                        <a:t>Dar (≈70°)</a:t>
                      </a:r>
                    </a:p>
                  </a:txBody>
                  <a:tcPr marT="27432" marB="27432">
                    <a:solidFill>
                      <a:srgbClr val="F3F4F6"/>
                    </a:solidFill>
                  </a:tcPr>
                </a:tc>
              </a:tr>
              <a:tr h="554736">
                <a:tc>
                  <a:txBody>
                    <a:bodyPr/>
                    <a:lstStyle/>
                    <a:p>
                      <a:r>
                        <a:rPr sz="1450" b="1">
                          <a:solidFill>
                            <a:srgbClr val="1F2A44"/>
                          </a:solidFill>
                          <a:latin typeface="Calibri"/>
                        </a:rPr>
                        <a:t>Tubera ischiadica / spinae</a:t>
                      </a:r>
                    </a:p>
                  </a:txBody>
                  <a:tcPr marT="27432" marB="27432">
                    <a:solidFill>
                      <a:srgbClr val="FFFFFF"/>
                    </a:solidFill>
                  </a:tcPr>
                </a:tc>
                <a:tc>
                  <a:txBody>
                    <a:bodyPr/>
                    <a:lstStyle/>
                    <a:p>
                      <a:r>
                        <a:rPr sz="1450">
                          <a:solidFill>
                            <a:srgbClr val="1F2A44"/>
                          </a:solidFill>
                          <a:latin typeface="Calibri"/>
                        </a:rPr>
                        <a:t>Dışa açılı; spinae ischiadicae daha az içe çıkıntılı</a:t>
                      </a:r>
                    </a:p>
                  </a:txBody>
                  <a:tcPr marT="27432" marB="27432">
                    <a:solidFill>
                      <a:srgbClr val="FFFFFF"/>
                    </a:solidFill>
                  </a:tcPr>
                </a:tc>
                <a:tc>
                  <a:txBody>
                    <a:bodyPr/>
                    <a:lstStyle/>
                    <a:p>
                      <a:r>
                        <a:rPr sz="1450">
                          <a:solidFill>
                            <a:srgbClr val="1F2A44"/>
                          </a:solidFill>
                          <a:latin typeface="Calibri"/>
                        </a:rPr>
                        <a:t>İçe dönük; spinae ischiadicae belirgin</a:t>
                      </a:r>
                    </a:p>
                  </a:txBody>
                  <a:tcPr marT="27432" marB="27432">
                    <a:solidFill>
                      <a:srgbClr val="FFFFFF"/>
                    </a:solidFill>
                  </a:tcPr>
                </a:tc>
              </a:tr>
              <a:tr h="554736">
                <a:tc>
                  <a:txBody>
                    <a:bodyPr/>
                    <a:lstStyle/>
                    <a:p>
                      <a:r>
                        <a:rPr sz="1450" b="1">
                          <a:solidFill>
                            <a:srgbClr val="1F2A44"/>
                          </a:solidFill>
                          <a:latin typeface="Calibri"/>
                        </a:rPr>
                        <a:t>Foramen obturatum</a:t>
                      </a:r>
                    </a:p>
                  </a:txBody>
                  <a:tcPr marT="27432" marB="27432">
                    <a:solidFill>
                      <a:srgbClr val="F3F4F6"/>
                    </a:solidFill>
                  </a:tcPr>
                </a:tc>
                <a:tc>
                  <a:txBody>
                    <a:bodyPr/>
                    <a:lstStyle/>
                    <a:p>
                      <a:r>
                        <a:rPr sz="1450">
                          <a:solidFill>
                            <a:srgbClr val="1F2A44"/>
                          </a:solidFill>
                          <a:latin typeface="Calibri"/>
                        </a:rPr>
                        <a:t>Oval / üçgenimsi</a:t>
                      </a:r>
                    </a:p>
                  </a:txBody>
                  <a:tcPr marT="27432" marB="27432">
                    <a:solidFill>
                      <a:srgbClr val="F3F4F6"/>
                    </a:solidFill>
                  </a:tcPr>
                </a:tc>
                <a:tc>
                  <a:txBody>
                    <a:bodyPr/>
                    <a:lstStyle/>
                    <a:p>
                      <a:r>
                        <a:rPr sz="1450">
                          <a:solidFill>
                            <a:srgbClr val="1F2A44"/>
                          </a:solidFill>
                          <a:latin typeface="Calibri"/>
                        </a:rPr>
                        <a:t>Yuvarlak / oval</a:t>
                      </a:r>
                    </a:p>
                  </a:txBody>
                  <a:tcPr marT="27432" marB="27432">
                    <a:solidFill>
                      <a:srgbClr val="F3F4F6"/>
                    </a:solidFill>
                  </a:tcPr>
                </a:tc>
              </a:tr>
              <a:tr h="554736">
                <a:tc>
                  <a:txBody>
                    <a:bodyPr/>
                    <a:lstStyle/>
                    <a:p>
                      <a:r>
                        <a:rPr sz="1450" b="1">
                          <a:solidFill>
                            <a:srgbClr val="1F2A44"/>
                          </a:solidFill>
                          <a:latin typeface="Calibri"/>
                        </a:rPr>
                        <a:t>Acetabulum</a:t>
                      </a:r>
                    </a:p>
                  </a:txBody>
                  <a:tcPr marT="27432" marB="27432">
                    <a:solidFill>
                      <a:srgbClr val="FFFFFF"/>
                    </a:solidFill>
                  </a:tcPr>
                </a:tc>
                <a:tc>
                  <a:txBody>
                    <a:bodyPr/>
                    <a:lstStyle/>
                    <a:p>
                      <a:r>
                        <a:rPr sz="1450">
                          <a:solidFill>
                            <a:srgbClr val="1F2A44"/>
                          </a:solidFill>
                          <a:latin typeface="Calibri"/>
                        </a:rPr>
                        <a:t>Küçük, ön-yan yönelimli</a:t>
                      </a:r>
                    </a:p>
                  </a:txBody>
                  <a:tcPr marT="27432" marB="27432">
                    <a:solidFill>
                      <a:srgbClr val="FFFFFF"/>
                    </a:solidFill>
                  </a:tcPr>
                </a:tc>
                <a:tc>
                  <a:txBody>
                    <a:bodyPr/>
                    <a:lstStyle/>
                    <a:p>
                      <a:r>
                        <a:rPr sz="1450">
                          <a:solidFill>
                            <a:srgbClr val="1F2A44"/>
                          </a:solidFill>
                          <a:latin typeface="Calibri"/>
                        </a:rPr>
                        <a:t>Büyük, lateral yönelimli</a:t>
                      </a:r>
                    </a:p>
                  </a:txBody>
                  <a:tcPr marT="27432" marB="27432">
                    <a:solidFill>
                      <a:srgbClr val="FFFFFF"/>
                    </a:solidFill>
                  </a:tcPr>
                </a:tc>
              </a:tr>
            </a:tbl>
          </a:graphicData>
        </a:graphic>
      </p:graphicFrame>
      <p:sp>
        <p:nvSpPr>
          <p:cNvPr id="8" name="TextBox 7"/>
          <p:cNvSpPr txBox="1"/>
          <p:nvPr/>
        </p:nvSpPr>
        <p:spPr>
          <a:xfrm>
            <a:off x="274320" y="6035040"/>
            <a:ext cx="11612880" cy="347472"/>
          </a:xfrm>
          <a:prstGeom prst="rect">
            <a:avLst/>
          </a:prstGeom>
          <a:noFill/>
        </p:spPr>
        <p:txBody>
          <a:bodyPr wrap="square" anchor="t" lIns="45720" rIns="45720" tIns="18288" bIns="18288">
            <a:spAutoFit/>
          </a:bodyPr>
          <a:lstStyle/>
          <a:p>
            <a:pPr algn="l"/>
            <a:r>
              <a:rPr sz="1200" b="0" i="1">
                <a:solidFill>
                  <a:srgbClr val="555B66"/>
                </a:solidFill>
                <a:latin typeface="Calibri"/>
              </a:rPr>
              <a:t>Caldwell–Moloy sınıflaması: gynecoides, androides, anthropoides, platypelloides tipleri (obstetrik prognozda kullanılır).</a:t>
            </a:r>
          </a:p>
        </p:txBody>
      </p:sp>
      <p:cxnSp>
        <p:nvCxnSpPr>
          <p:cNvPr id="9" name="Connector 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Standart anatomi bilgisi; açılar yaklaşık değerlerdir.</a:t>
            </a:r>
          </a:p>
        </p:txBody>
      </p:sp>
      <p:sp>
        <p:nvSpPr>
          <p:cNvPr id="11" name="TextBox 10"/>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Kadın ve erkek pelvisi: arcus pubicus</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Gerçek kemik (os coxae, kurutulmuş): solda erkek, sağda kadın – Colman ve ark. 2019</a:t>
            </a:r>
          </a:p>
        </p:txBody>
      </p:sp>
      <p:sp>
        <p:nvSpPr>
          <p:cNvPr id="5" name="TextBox 4"/>
          <p:cNvSpPr txBox="1"/>
          <p:nvPr/>
        </p:nvSpPr>
        <p:spPr>
          <a:xfrm>
            <a:off x="9921240" y="109728"/>
            <a:ext cx="2057400" cy="310896"/>
          </a:xfrm>
          <a:prstGeom prst="rect">
            <a:avLst/>
          </a:prstGeom>
          <a:solidFill>
            <a:srgbClr val="795548"/>
          </a:solidFill>
        </p:spPr>
        <p:txBody>
          <a:bodyPr wrap="square" anchor="ctr" lIns="45720" rIns="45720" tIns="18288" bIns="18288">
            <a:spAutoFit/>
          </a:bodyPr>
          <a:lstStyle/>
          <a:p>
            <a:pPr algn="ctr"/>
            <a:r>
              <a:rPr sz="1100" b="1" i="0">
                <a:solidFill>
                  <a:srgbClr val="FFFFFF"/>
                </a:solidFill>
                <a:latin typeface="Calibri"/>
              </a:rPr>
              <a:t>KEMİK</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pic>
        <p:nvPicPr>
          <p:cNvPr id="7" name="Picture 6" descr="414_2019_2002_Fig2_HTML_0_0_649_345.jpg"/>
          <p:cNvPicPr>
            <a:picLocks noChangeAspect="1"/>
          </p:cNvPicPr>
          <p:nvPr/>
        </p:nvPicPr>
        <p:blipFill>
          <a:blip r:embed="rId2"/>
          <a:stretch>
            <a:fillRect/>
          </a:stretch>
        </p:blipFill>
        <p:spPr>
          <a:xfrm>
            <a:off x="3246120" y="1452349"/>
            <a:ext cx="5699455" cy="3029756"/>
          </a:xfrm>
          <a:prstGeom prst="rect">
            <a:avLst/>
          </a:prstGeom>
        </p:spPr>
      </p:pic>
      <p:sp>
        <p:nvSpPr>
          <p:cNvPr id="8" name="TextBox 7"/>
          <p:cNvSpPr txBox="1"/>
          <p:nvPr/>
        </p:nvSpPr>
        <p:spPr>
          <a:xfrm>
            <a:off x="274320" y="2745915"/>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Acetabulum ♂</a:t>
            </a:r>
          </a:p>
        </p:txBody>
      </p:sp>
      <p:cxnSp>
        <p:nvCxnSpPr>
          <p:cNvPr id="9" name="Connector 8"/>
          <p:cNvCxnSpPr/>
          <p:nvPr/>
        </p:nvCxnSpPr>
        <p:spPr>
          <a:xfrm>
            <a:off x="3017520" y="2901363"/>
            <a:ext cx="242407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395875" y="285564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3129963"/>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Foramen obturatum ♂</a:t>
            </a:r>
          </a:p>
        </p:txBody>
      </p:sp>
      <p:cxnSp>
        <p:nvCxnSpPr>
          <p:cNvPr id="12" name="Connector 11"/>
          <p:cNvCxnSpPr/>
          <p:nvPr/>
        </p:nvCxnSpPr>
        <p:spPr>
          <a:xfrm flipV="1">
            <a:off x="3017520" y="3208730"/>
            <a:ext cx="1633704" cy="7668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605504" y="316301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514011"/>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Angulus subpubicus ♂</a:t>
            </a:r>
          </a:p>
        </p:txBody>
      </p:sp>
      <p:cxnSp>
        <p:nvCxnSpPr>
          <p:cNvPr id="15" name="Connector 14"/>
          <p:cNvCxnSpPr/>
          <p:nvPr/>
        </p:nvCxnSpPr>
        <p:spPr>
          <a:xfrm flipV="1">
            <a:off x="3017520" y="3472187"/>
            <a:ext cx="579876" cy="19727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551676" y="342646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74175" y="2702006"/>
            <a:ext cx="2743200" cy="310896"/>
          </a:xfrm>
          <a:prstGeom prst="rect">
            <a:avLst/>
          </a:prstGeom>
          <a:noFill/>
        </p:spPr>
        <p:txBody>
          <a:bodyPr wrap="square" anchor="ctr" lIns="45720" rIns="45720" tIns="18288" bIns="18288">
            <a:spAutoFit/>
          </a:bodyPr>
          <a:lstStyle/>
          <a:p>
            <a:pPr algn="l"/>
            <a:r>
              <a:rPr sz="1350" b="1" i="0">
                <a:solidFill>
                  <a:srgbClr val="1F2A44"/>
                </a:solidFill>
                <a:latin typeface="Calibri"/>
              </a:rPr>
              <a:t>Acetabulum ♀</a:t>
            </a:r>
          </a:p>
        </p:txBody>
      </p:sp>
      <p:cxnSp>
        <p:nvCxnSpPr>
          <p:cNvPr id="18" name="Connector 17"/>
          <p:cNvCxnSpPr/>
          <p:nvPr/>
        </p:nvCxnSpPr>
        <p:spPr>
          <a:xfrm flipH="1">
            <a:off x="8120076" y="2857454"/>
            <a:ext cx="1054099"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074356" y="281173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74175" y="3272829"/>
            <a:ext cx="2743200" cy="310896"/>
          </a:xfrm>
          <a:prstGeom prst="rect">
            <a:avLst/>
          </a:prstGeom>
          <a:noFill/>
        </p:spPr>
        <p:txBody>
          <a:bodyPr wrap="square" anchor="ctr" lIns="45720" rIns="45720" tIns="18288" bIns="18288">
            <a:spAutoFit/>
          </a:bodyPr>
          <a:lstStyle/>
          <a:p>
            <a:pPr algn="l"/>
            <a:r>
              <a:rPr sz="1350" b="1" i="0">
                <a:solidFill>
                  <a:srgbClr val="1F2A44"/>
                </a:solidFill>
                <a:latin typeface="Calibri"/>
              </a:rPr>
              <a:t>Foramen obturatum ♀</a:t>
            </a:r>
          </a:p>
        </p:txBody>
      </p:sp>
      <p:cxnSp>
        <p:nvCxnSpPr>
          <p:cNvPr id="21" name="Connector 20"/>
          <p:cNvCxnSpPr/>
          <p:nvPr/>
        </p:nvCxnSpPr>
        <p:spPr>
          <a:xfrm flipH="1">
            <a:off x="7461433" y="3428277"/>
            <a:ext cx="171274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415713" y="338255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74175" y="3656877"/>
            <a:ext cx="2743200" cy="310896"/>
          </a:xfrm>
          <a:prstGeom prst="rect">
            <a:avLst/>
          </a:prstGeom>
          <a:noFill/>
        </p:spPr>
        <p:txBody>
          <a:bodyPr wrap="square" anchor="ctr" lIns="45720" rIns="45720" tIns="18288" bIns="18288">
            <a:spAutoFit/>
          </a:bodyPr>
          <a:lstStyle/>
          <a:p>
            <a:pPr algn="l"/>
            <a:r>
              <a:rPr sz="1350" b="1" i="0">
                <a:solidFill>
                  <a:srgbClr val="1F2A44"/>
                </a:solidFill>
                <a:latin typeface="Calibri"/>
              </a:rPr>
              <a:t>Angulus subpubicus ♀</a:t>
            </a:r>
          </a:p>
        </p:txBody>
      </p:sp>
      <p:cxnSp>
        <p:nvCxnSpPr>
          <p:cNvPr id="24" name="Connector 23"/>
          <p:cNvCxnSpPr/>
          <p:nvPr/>
        </p:nvCxnSpPr>
        <p:spPr>
          <a:xfrm flipH="1" flipV="1">
            <a:off x="6372477" y="3542442"/>
            <a:ext cx="2801698" cy="26988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326757" y="349672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46120" y="4500394"/>
            <a:ext cx="569945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2 – Colman K. L. ve ark., 2019 (PMC6811666, CC BY)</a:t>
            </a:r>
          </a:p>
        </p:txBody>
      </p:sp>
      <p:sp>
        <p:nvSpPr>
          <p:cNvPr id="27" name="Rectangle 26"/>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Angulus subpubicus kadında geniş ('U'), erkekte dar ('V'); 3B-BT ölçümünde ♂ 68,6° – ♀ 87,4° (Mohd Ali ve ark. 2020).</a:t>
            </a:r>
          </a:p>
          <a:p>
            <a:pPr>
              <a:spcAft>
                <a:spcPts val="200"/>
              </a:spcAft>
            </a:pPr>
            <a:r>
              <a:rPr sz="1500">
                <a:solidFill>
                  <a:srgbClr val="1F2A44"/>
                </a:solidFill>
                <a:latin typeface="Calibri"/>
              </a:rPr>
              <a:t>• Phenice/Klales ölçütleri: arcus ventralis, concavitas subpubica, ramus ischiopubicus'un medial yüzü (adli cinsiyet tayini).</a:t>
            </a:r>
          </a:p>
        </p:txBody>
      </p:sp>
      <p:cxnSp>
        <p:nvCxnSpPr>
          <p:cNvPr id="29" name="Connector 2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Colman K. L., van der Merwe A. E., Stull K. E. et al. The accuracy of 3D virtual bone models of the pelvis for morphological sex estimation. Int J Legal Med. 2019 Jan 24;133(6):1853–60. doi: 10.1007/s00414-019-02002-7 PMCID: PMC6811666. Lisans: CC BY.</a:t>
            </a:r>
          </a:p>
        </p:txBody>
      </p:sp>
      <p:sp>
        <p:nvSpPr>
          <p:cNvPr id="31" name="TextBox 30"/>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Ligg. sacrospinale &amp; sacrotuberale – foramina ischiadica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Perineye giden damar-sinir demeti gluteal bölgeden foramen ischiadicum minus ile geçer</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graphicFrame>
        <p:nvGraphicFramePr>
          <p:cNvPr id="7" name="Table 6"/>
          <p:cNvGraphicFramePr>
            <a:graphicFrameLocks noGrp="1"/>
          </p:cNvGraphicFramePr>
          <p:nvPr/>
        </p:nvGraphicFramePr>
        <p:xfrm>
          <a:off x="274320" y="1143000"/>
          <a:ext cx="11640311" cy="4846320"/>
        </p:xfrm>
        <a:graphic>
          <a:graphicData uri="http://schemas.openxmlformats.org/drawingml/2006/table">
            <a:tbl>
              <a:tblPr firstRow="1" bandRow="1">
                <a:tableStyleId>{5C22544A-7EE6-4342-B048-85BDC9FD1C3A}</a:tableStyleId>
              </a:tblPr>
              <a:tblGrid>
                <a:gridCol w="2401969"/>
                <a:gridCol w="4064870"/>
                <a:gridCol w="5173472"/>
              </a:tblGrid>
              <a:tr h="969264">
                <a:tc>
                  <a:txBody>
                    <a:bodyPr/>
                    <a:lstStyle/>
                    <a:p>
                      <a:r>
                        <a:rPr sz="1500" b="1">
                          <a:solidFill>
                            <a:srgbClr val="FFFFFF"/>
                          </a:solidFill>
                          <a:latin typeface="Calibri"/>
                        </a:rPr>
                        <a:t>Yapı</a:t>
                      </a:r>
                    </a:p>
                  </a:txBody>
                  <a:tcPr>
                    <a:solidFill>
                      <a:srgbClr val="1F2A44"/>
                    </a:solidFill>
                  </a:tcPr>
                </a:tc>
                <a:tc>
                  <a:txBody>
                    <a:bodyPr/>
                    <a:lstStyle/>
                    <a:p>
                      <a:r>
                        <a:rPr sz="1500" b="1">
                          <a:solidFill>
                            <a:srgbClr val="FFFFFF"/>
                          </a:solidFill>
                          <a:latin typeface="Calibri"/>
                        </a:rPr>
                        <a:t>Sınırlar</a:t>
                      </a:r>
                    </a:p>
                  </a:txBody>
                  <a:tcPr>
                    <a:solidFill>
                      <a:srgbClr val="1F2A44"/>
                    </a:solidFill>
                  </a:tcPr>
                </a:tc>
                <a:tc>
                  <a:txBody>
                    <a:bodyPr/>
                    <a:lstStyle/>
                    <a:p>
                      <a:r>
                        <a:rPr sz="1500" b="1">
                          <a:solidFill>
                            <a:srgbClr val="FFFFFF"/>
                          </a:solidFill>
                          <a:latin typeface="Calibri"/>
                        </a:rPr>
                        <a:t>Geçen yapılar</a:t>
                      </a:r>
                    </a:p>
                  </a:txBody>
                  <a:tcPr>
                    <a:solidFill>
                      <a:srgbClr val="1F2A44"/>
                    </a:solidFill>
                  </a:tcPr>
                </a:tc>
              </a:tr>
              <a:tr h="969264">
                <a:tc>
                  <a:txBody>
                    <a:bodyPr/>
                    <a:lstStyle/>
                    <a:p>
                      <a:r>
                        <a:rPr sz="1400" b="1">
                          <a:solidFill>
                            <a:srgbClr val="1F2A44"/>
                          </a:solidFill>
                          <a:latin typeface="Calibri"/>
                        </a:rPr>
                        <a:t>Foramen ischiadicum majus</a:t>
                      </a:r>
                    </a:p>
                  </a:txBody>
                  <a:tcPr marT="27432" marB="27432">
                    <a:solidFill>
                      <a:srgbClr val="F3F4F6"/>
                    </a:solidFill>
                  </a:tcPr>
                </a:tc>
                <a:tc>
                  <a:txBody>
                    <a:bodyPr/>
                    <a:lstStyle/>
                    <a:p>
                      <a:r>
                        <a:rPr sz="1400">
                          <a:solidFill>
                            <a:srgbClr val="1F2A44"/>
                          </a:solidFill>
                          <a:latin typeface="Calibri"/>
                        </a:rPr>
                        <a:t>Incisura ischiadica major + lig. sacrospinale + lig. sacrotuberale</a:t>
                      </a:r>
                    </a:p>
                  </a:txBody>
                  <a:tcPr marT="27432" marB="27432">
                    <a:solidFill>
                      <a:srgbClr val="F3F4F6"/>
                    </a:solidFill>
                  </a:tcPr>
                </a:tc>
                <a:tc>
                  <a:txBody>
                    <a:bodyPr/>
                    <a:lstStyle/>
                    <a:p>
                      <a:r>
                        <a:rPr sz="1400">
                          <a:solidFill>
                            <a:srgbClr val="1F2A44"/>
                          </a:solidFill>
                          <a:latin typeface="Calibri"/>
                        </a:rPr>
                        <a:t>M. piriformis; </a:t>
                      </a:r>
                      <a:r>
                        <a:rPr sz="1400">
                          <a:solidFill>
                            <a:srgbClr val="1F2A44"/>
                          </a:solidFill>
                          <a:latin typeface="Calibri"/>
                        </a:rPr>
                        <a:t>suprapiriforme</a:t>
                      </a:r>
                      <a:r>
                        <a:rPr sz="1400">
                          <a:solidFill>
                            <a:srgbClr val="1F2A44"/>
                          </a:solidFill>
                          <a:latin typeface="Calibri"/>
                        </a:rPr>
                        <a:t>: a./v./n. gluteus superior; </a:t>
                      </a:r>
                      <a:r>
                        <a:rPr sz="1400">
                          <a:solidFill>
                            <a:srgbClr val="1F2A44"/>
                          </a:solidFill>
                          <a:latin typeface="Calibri"/>
                        </a:rPr>
                        <a:t>infrapiriforme</a:t>
                      </a:r>
                      <a:r>
                        <a:rPr sz="1400">
                          <a:solidFill>
                            <a:srgbClr val="1F2A44"/>
                          </a:solidFill>
                          <a:latin typeface="Calibri"/>
                        </a:rPr>
                        <a:t>: n. ischiadicus, n. cutaneus femoris post., a./v./n. gluteus inferior, </a:t>
                      </a:r>
                      <a:r>
                        <a:rPr sz="1400">
                          <a:solidFill>
                            <a:srgbClr val="1F2A44"/>
                          </a:solidFill>
                          <a:latin typeface="Calibri"/>
                        </a:rPr>
                        <a:t>a./v. pudenda interna, n. pudendus</a:t>
                      </a:r>
                      <a:r>
                        <a:rPr sz="1400">
                          <a:solidFill>
                            <a:srgbClr val="1F2A44"/>
                          </a:solidFill>
                          <a:latin typeface="Calibri"/>
                        </a:rPr>
                        <a:t>, n. musculi obturatorii interni, n. musculi quadrati femoris</a:t>
                      </a:r>
                    </a:p>
                  </a:txBody>
                  <a:tcPr marT="27432" marB="27432">
                    <a:solidFill>
                      <a:srgbClr val="F3F4F6"/>
                    </a:solidFill>
                  </a:tcPr>
                </a:tc>
              </a:tr>
              <a:tr h="969264">
                <a:tc>
                  <a:txBody>
                    <a:bodyPr/>
                    <a:lstStyle/>
                    <a:p>
                      <a:r>
                        <a:rPr sz="1400" b="1">
                          <a:solidFill>
                            <a:srgbClr val="1F2A44"/>
                          </a:solidFill>
                          <a:latin typeface="Calibri"/>
                        </a:rPr>
                        <a:t>Foramen ischiadicum minus</a:t>
                      </a:r>
                    </a:p>
                  </a:txBody>
                  <a:tcPr marT="27432" marB="27432">
                    <a:solidFill>
                      <a:srgbClr val="FFFFFF"/>
                    </a:solidFill>
                  </a:tcPr>
                </a:tc>
                <a:tc>
                  <a:txBody>
                    <a:bodyPr/>
                    <a:lstStyle/>
                    <a:p>
                      <a:r>
                        <a:rPr sz="1400">
                          <a:solidFill>
                            <a:srgbClr val="1F2A44"/>
                          </a:solidFill>
                          <a:latin typeface="Calibri"/>
                        </a:rPr>
                        <a:t>Incisura ischiadica minor + lig. sacrospinale + lig. sacrotuberale</a:t>
                      </a:r>
                    </a:p>
                  </a:txBody>
                  <a:tcPr marT="27432" marB="27432">
                    <a:solidFill>
                      <a:srgbClr val="FFFFFF"/>
                    </a:solidFill>
                  </a:tcPr>
                </a:tc>
                <a:tc>
                  <a:txBody>
                    <a:bodyPr/>
                    <a:lstStyle/>
                    <a:p>
                      <a:r>
                        <a:rPr sz="1400">
                          <a:solidFill>
                            <a:srgbClr val="1F2A44"/>
                          </a:solidFill>
                          <a:latin typeface="Calibri"/>
                        </a:rPr>
                        <a:t>Tendo m. obturatorii interni; </a:t>
                      </a:r>
                      <a:r>
                        <a:rPr sz="1400">
                          <a:solidFill>
                            <a:srgbClr val="1F2A44"/>
                          </a:solidFill>
                          <a:latin typeface="Calibri"/>
                        </a:rPr>
                        <a:t>a./v. pudenda interna ve n. pudendus</a:t>
                      </a:r>
                      <a:r>
                        <a:rPr sz="1400">
                          <a:solidFill>
                            <a:srgbClr val="1F2A44"/>
                          </a:solidFill>
                          <a:latin typeface="Calibri"/>
                        </a:rPr>
                        <a:t> (perineye giriş), n. musculi obturatorii interni</a:t>
                      </a:r>
                    </a:p>
                  </a:txBody>
                  <a:tcPr marT="27432" marB="27432">
                    <a:solidFill>
                      <a:srgbClr val="FFFFFF"/>
                    </a:solidFill>
                  </a:tcPr>
                </a:tc>
              </a:tr>
              <a:tr h="969264">
                <a:tc>
                  <a:txBody>
                    <a:bodyPr/>
                    <a:lstStyle/>
                    <a:p>
                      <a:r>
                        <a:rPr sz="1400" b="1">
                          <a:solidFill>
                            <a:srgbClr val="1F2A44"/>
                          </a:solidFill>
                          <a:latin typeface="Calibri"/>
                        </a:rPr>
                        <a:t>Lig. sacrotuberale</a:t>
                      </a:r>
                    </a:p>
                  </a:txBody>
                  <a:tcPr marT="27432" marB="27432">
                    <a:solidFill>
                      <a:srgbClr val="F3F4F6"/>
                    </a:solidFill>
                  </a:tcPr>
                </a:tc>
                <a:tc>
                  <a:txBody>
                    <a:bodyPr/>
                    <a:lstStyle/>
                    <a:p>
                      <a:r>
                        <a:rPr sz="1400">
                          <a:solidFill>
                            <a:srgbClr val="1F2A44"/>
                          </a:solidFill>
                          <a:latin typeface="Calibri"/>
                        </a:rPr>
                        <a:t>Spina iliaca post., os sacrum–coccyx kenarı → tuber ischiadicum; </a:t>
                      </a:r>
                      <a:r>
                        <a:rPr sz="1400">
                          <a:solidFill>
                            <a:srgbClr val="1F2A44"/>
                          </a:solidFill>
                          <a:latin typeface="Calibri"/>
                        </a:rPr>
                        <a:t>processus falciformis</a:t>
                      </a:r>
                      <a:r>
                        <a:rPr sz="1400">
                          <a:solidFill>
                            <a:srgbClr val="1F2A44"/>
                          </a:solidFill>
                          <a:latin typeface="Calibri"/>
                        </a:rPr>
                        <a:t> ile ramus ossis ischii'ye uzanır</a:t>
                      </a:r>
                    </a:p>
                  </a:txBody>
                  <a:tcPr marT="27432" marB="27432">
                    <a:solidFill>
                      <a:srgbClr val="F3F4F6"/>
                    </a:solidFill>
                  </a:tcPr>
                </a:tc>
                <a:tc>
                  <a:txBody>
                    <a:bodyPr/>
                    <a:lstStyle/>
                    <a:p>
                      <a:r>
                        <a:rPr sz="1400">
                          <a:solidFill>
                            <a:srgbClr val="1F2A44"/>
                          </a:solidFill>
                          <a:latin typeface="Calibri"/>
                        </a:rPr>
                        <a:t>Fossa ischioanalis'in posterolateral sınırı; processus falciformis canalis pudendalis'e komşu (pudendal sıkışma)</a:t>
                      </a:r>
                    </a:p>
                  </a:txBody>
                  <a:tcPr marT="27432" marB="27432">
                    <a:solidFill>
                      <a:srgbClr val="F3F4F6"/>
                    </a:solidFill>
                  </a:tcPr>
                </a:tc>
              </a:tr>
              <a:tr h="969264">
                <a:tc>
                  <a:txBody>
                    <a:bodyPr/>
                    <a:lstStyle/>
                    <a:p>
                      <a:r>
                        <a:rPr sz="1400" b="1">
                          <a:solidFill>
                            <a:srgbClr val="1F2A44"/>
                          </a:solidFill>
                          <a:latin typeface="Calibri"/>
                        </a:rPr>
                        <a:t>Lig. sacrospinale</a:t>
                      </a:r>
                    </a:p>
                  </a:txBody>
                  <a:tcPr marT="27432" marB="27432">
                    <a:solidFill>
                      <a:srgbClr val="FFFFFF"/>
                    </a:solidFill>
                  </a:tcPr>
                </a:tc>
                <a:tc>
                  <a:txBody>
                    <a:bodyPr/>
                    <a:lstStyle/>
                    <a:p>
                      <a:r>
                        <a:rPr sz="1400">
                          <a:solidFill>
                            <a:srgbClr val="1F2A44"/>
                          </a:solidFill>
                          <a:latin typeface="Calibri"/>
                        </a:rPr>
                        <a:t>Os sacrum–coccyx yan kenarı → spina ischiadica; m. coccygeus'un dorsal (fibröz) parçası</a:t>
                      </a:r>
                    </a:p>
                  </a:txBody>
                  <a:tcPr marT="27432" marB="27432">
                    <a:solidFill>
                      <a:srgbClr val="FFFFFF"/>
                    </a:solidFill>
                  </a:tcPr>
                </a:tc>
                <a:tc>
                  <a:txBody>
                    <a:bodyPr/>
                    <a:lstStyle/>
                    <a:p>
                      <a:r>
                        <a:rPr sz="1400">
                          <a:solidFill>
                            <a:srgbClr val="1F2A44"/>
                          </a:solidFill>
                          <a:latin typeface="Calibri"/>
                        </a:rPr>
                        <a:t>N. pudendus spina'nın / bağın arkasından (a. pudenda interna'nın medialinden) geçer – pudendal blok için kılavuz</a:t>
                      </a:r>
                    </a:p>
                  </a:txBody>
                  <a:tcPr marT="27432" marB="27432">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Standart anatomi bilgisi (Terminologia Anatomica).</a:t>
            </a:r>
          </a:p>
        </p:txBody>
      </p:sp>
      <p:sp>
        <p:nvSpPr>
          <p:cNvPr id="10" name="TextBox 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Ligg. sacrospinale ve sacrotuberale – kadavra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Regio glutealis profunda, arkadan bakış (m. gluteus maximus kaldırılmış)</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pic>
        <p:nvPicPr>
          <p:cNvPr id="7" name="Picture 6" descr="etm-23-02-11036-g01.jpg"/>
          <p:cNvPicPr>
            <a:picLocks noChangeAspect="1"/>
          </p:cNvPicPr>
          <p:nvPr/>
        </p:nvPicPr>
        <p:blipFill>
          <a:blip r:embed="rId2"/>
          <a:stretch>
            <a:fillRect/>
          </a:stretch>
        </p:blipFill>
        <p:spPr>
          <a:xfrm>
            <a:off x="4457690" y="1097280"/>
            <a:ext cx="3093435" cy="3739896"/>
          </a:xfrm>
          <a:prstGeom prst="rect">
            <a:avLst/>
          </a:prstGeom>
        </p:spPr>
      </p:pic>
      <p:sp>
        <p:nvSpPr>
          <p:cNvPr id="8" name="TextBox 7"/>
          <p:cNvSpPr txBox="1"/>
          <p:nvPr/>
        </p:nvSpPr>
        <p:spPr>
          <a:xfrm>
            <a:off x="274320" y="1453896"/>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piriformis</a:t>
            </a:r>
          </a:p>
        </p:txBody>
      </p:sp>
      <p:cxnSp>
        <p:nvCxnSpPr>
          <p:cNvPr id="9" name="Connector 8"/>
          <p:cNvCxnSpPr/>
          <p:nvPr/>
        </p:nvCxnSpPr>
        <p:spPr>
          <a:xfrm>
            <a:off x="3017520" y="1609344"/>
            <a:ext cx="2924635" cy="67550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896435" y="223913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837944"/>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sacrospinale</a:t>
            </a:r>
          </a:p>
        </p:txBody>
      </p:sp>
      <p:cxnSp>
        <p:nvCxnSpPr>
          <p:cNvPr id="12" name="Connector 11"/>
          <p:cNvCxnSpPr/>
          <p:nvPr/>
        </p:nvCxnSpPr>
        <p:spPr>
          <a:xfrm>
            <a:off x="3017520" y="1993392"/>
            <a:ext cx="2517604" cy="40638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489404" y="235405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221992"/>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sacrotuberale (kesik)</a:t>
            </a:r>
          </a:p>
        </p:txBody>
      </p:sp>
      <p:cxnSp>
        <p:nvCxnSpPr>
          <p:cNvPr id="15" name="Connector 14"/>
          <p:cNvCxnSpPr/>
          <p:nvPr/>
        </p:nvCxnSpPr>
        <p:spPr>
          <a:xfrm>
            <a:off x="3017520" y="2377440"/>
            <a:ext cx="2148882" cy="5107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120682" y="238279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2606040"/>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Spina ischiadica</a:t>
            </a:r>
          </a:p>
        </p:txBody>
      </p:sp>
      <p:cxnSp>
        <p:nvCxnSpPr>
          <p:cNvPr id="18" name="Connector 17"/>
          <p:cNvCxnSpPr/>
          <p:nvPr/>
        </p:nvCxnSpPr>
        <p:spPr>
          <a:xfrm>
            <a:off x="3017520" y="2761488"/>
            <a:ext cx="2962944" cy="222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934744" y="271799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2990088"/>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Vasa pudenda interna + n. pudendus</a:t>
            </a:r>
          </a:p>
        </p:txBody>
      </p:sp>
      <p:cxnSp>
        <p:nvCxnSpPr>
          <p:cNvPr id="21" name="Connector 20"/>
          <p:cNvCxnSpPr/>
          <p:nvPr/>
        </p:nvCxnSpPr>
        <p:spPr>
          <a:xfrm>
            <a:off x="3017520" y="3145536"/>
            <a:ext cx="2675628" cy="2520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647428" y="312502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3374136"/>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levator ani</a:t>
            </a:r>
          </a:p>
        </p:txBody>
      </p:sp>
      <p:cxnSp>
        <p:nvCxnSpPr>
          <p:cNvPr id="24" name="Connector 23"/>
          <p:cNvCxnSpPr/>
          <p:nvPr/>
        </p:nvCxnSpPr>
        <p:spPr>
          <a:xfrm flipV="1">
            <a:off x="3017520" y="3453270"/>
            <a:ext cx="2086630" cy="7631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058430" y="340755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3758184"/>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anococcygeum</a:t>
            </a:r>
          </a:p>
        </p:txBody>
      </p:sp>
      <p:cxnSp>
        <p:nvCxnSpPr>
          <p:cNvPr id="27" name="Connector 26"/>
          <p:cNvCxnSpPr/>
          <p:nvPr/>
        </p:nvCxnSpPr>
        <p:spPr>
          <a:xfrm flipV="1">
            <a:off x="3017520" y="3539465"/>
            <a:ext cx="1612559" cy="37416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584359" y="349374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4142232"/>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sacrotuberale (kesik)</a:t>
            </a:r>
          </a:p>
        </p:txBody>
      </p:sp>
      <p:cxnSp>
        <p:nvCxnSpPr>
          <p:cNvPr id="30" name="Connector 29"/>
          <p:cNvCxnSpPr/>
          <p:nvPr/>
        </p:nvCxnSpPr>
        <p:spPr>
          <a:xfrm flipV="1">
            <a:off x="3017520" y="3572985"/>
            <a:ext cx="2857595" cy="72469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5829395" y="352726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526280"/>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sphincter ani externus</a:t>
            </a:r>
          </a:p>
        </p:txBody>
      </p:sp>
      <p:cxnSp>
        <p:nvCxnSpPr>
          <p:cNvPr id="33" name="Connector 32"/>
          <p:cNvCxnSpPr/>
          <p:nvPr/>
        </p:nvCxnSpPr>
        <p:spPr>
          <a:xfrm flipV="1">
            <a:off x="3017520" y="4257755"/>
            <a:ext cx="1775371" cy="42397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747171" y="421203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91295" y="1669699"/>
            <a:ext cx="292608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gluteus maximus</a:t>
            </a:r>
          </a:p>
        </p:txBody>
      </p:sp>
      <p:cxnSp>
        <p:nvCxnSpPr>
          <p:cNvPr id="36" name="Connector 35"/>
          <p:cNvCxnSpPr/>
          <p:nvPr/>
        </p:nvCxnSpPr>
        <p:spPr>
          <a:xfrm flipH="1">
            <a:off x="7235077" y="1825147"/>
            <a:ext cx="175621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7189357" y="177942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91295" y="2694459"/>
            <a:ext cx="292608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 ischiadicus</a:t>
            </a:r>
          </a:p>
        </p:txBody>
      </p:sp>
      <p:cxnSp>
        <p:nvCxnSpPr>
          <p:cNvPr id="39" name="Connector 38"/>
          <p:cNvCxnSpPr/>
          <p:nvPr/>
        </p:nvCxnSpPr>
        <p:spPr>
          <a:xfrm flipH="1">
            <a:off x="6315666" y="2849907"/>
            <a:ext cx="2675629"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269946" y="280418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91295" y="3078507"/>
            <a:ext cx="292608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obturatorius internus</a:t>
            </a:r>
          </a:p>
        </p:txBody>
      </p:sp>
      <p:cxnSp>
        <p:nvCxnSpPr>
          <p:cNvPr id="42" name="Connector 41"/>
          <p:cNvCxnSpPr/>
          <p:nvPr/>
        </p:nvCxnSpPr>
        <p:spPr>
          <a:xfrm flipH="1" flipV="1">
            <a:off x="6018773" y="3108491"/>
            <a:ext cx="2972522" cy="12546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5973053" y="306277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91295" y="3585138"/>
            <a:ext cx="2926080" cy="310896"/>
          </a:xfrm>
          <a:prstGeom prst="rect">
            <a:avLst/>
          </a:prstGeom>
          <a:noFill/>
        </p:spPr>
        <p:txBody>
          <a:bodyPr wrap="square" anchor="ctr" lIns="45720" rIns="45720" tIns="18288" bIns="18288">
            <a:spAutoFit/>
          </a:bodyPr>
          <a:lstStyle/>
          <a:p>
            <a:pPr algn="l"/>
            <a:r>
              <a:rPr sz="1250" b="1" i="0">
                <a:solidFill>
                  <a:srgbClr val="1F2A44"/>
                </a:solidFill>
                <a:latin typeface="Calibri"/>
              </a:rPr>
              <a:t>Tuber ischiadicum</a:t>
            </a:r>
          </a:p>
        </p:txBody>
      </p:sp>
      <p:cxnSp>
        <p:nvCxnSpPr>
          <p:cNvPr id="45" name="Connector 44"/>
          <p:cNvCxnSpPr/>
          <p:nvPr/>
        </p:nvCxnSpPr>
        <p:spPr>
          <a:xfrm flipH="1">
            <a:off x="6037927" y="3740586"/>
            <a:ext cx="295336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992207" y="369486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6120" y="4855464"/>
            <a:ext cx="551657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2 – Goidescu O. C. ve ark., 2021 (PMC8713160, CC BY-NC-ND)</a:t>
            </a:r>
          </a:p>
        </p:txBody>
      </p:sp>
      <p:sp>
        <p:nvSpPr>
          <p:cNvPr id="48" name="Rectangle 47"/>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Foramen ischiadicum majus (m. piriformis) ve minus'u ayıran lig. sacrospinale; pudendal demet spina ischiadica üzerinden dönerek foramen ischiadicum minus ile fossa ischioanalis'e girer.</a:t>
            </a:r>
          </a:p>
          <a:p>
            <a:pPr>
              <a:spcAft>
                <a:spcPts val="200"/>
              </a:spcAft>
            </a:pPr>
            <a:r>
              <a:rPr sz="1500">
                <a:solidFill>
                  <a:srgbClr val="1F2A44"/>
                </a:solidFill>
                <a:latin typeface="Calibri"/>
              </a:rPr>
              <a:t>• Lig. sacrotuberale perinenin posterolateral sınırıdır; fossa ischioanalis medial duvarında m. levator ani görülür.</a:t>
            </a:r>
          </a:p>
        </p:txBody>
      </p:sp>
      <p:sp>
        <p:nvSpPr>
          <p:cNvPr id="50" name="TextBox 49"/>
          <p:cNvSpPr txBox="1"/>
          <p:nvPr/>
        </p:nvSpPr>
        <p:spPr>
          <a:xfrm>
            <a:off x="274320" y="6108192"/>
            <a:ext cx="7315200" cy="274320"/>
          </a:xfrm>
          <a:prstGeom prst="rect">
            <a:avLst/>
          </a:prstGeom>
          <a:noFill/>
        </p:spPr>
        <p:txBody>
          <a:bodyPr wrap="square" anchor="t" lIns="45720" rIns="45720" tIns="18288" bIns="18288">
            <a:spAutoFit/>
          </a:bodyPr>
          <a:lstStyle/>
          <a:p>
            <a:pPr algn="l"/>
            <a:r>
              <a:rPr sz="900" b="0" i="1">
                <a:solidFill>
                  <a:srgbClr val="C0392B"/>
                </a:solidFill>
                <a:latin typeface="Calibri"/>
              </a:rPr>
              <a:t>Lisans: CC BY-NC-ND – yalnızca ticari olmayan eğitim amaçlı; görsel değiştirilmeden (kırpılmadan) kullanılmıştır.</a:t>
            </a:r>
          </a:p>
        </p:txBody>
      </p:sp>
      <p:cxnSp>
        <p:nvCxnSpPr>
          <p:cNvPr id="51" name="Connector 50"/>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Goidescu O. C., Enyedi M., Tulin A. D. et al. Overview of the anatomical basis of the piriformis syndrome-dissection with magnetic resonance correlation. Exp Ther Med. 2021 Dec 3;23(2):113. doi: 10.3892/etm.2021.11036 PMCID: PMC8713160. Lisans: CC BY-NC-ND.</a:t>
            </a:r>
          </a:p>
        </p:txBody>
      </p:sp>
      <p:sp>
        <p:nvSpPr>
          <p:cNvPr id="53" name="TextBox 52"/>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Diaphragma pelvis (pelvis tabanı)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M. levator ani + m. coccygeus; perinenin 'tavanı'</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M. levator ani</a:t>
            </a:r>
            <a:r>
              <a:rPr sz="1900">
                <a:solidFill>
                  <a:srgbClr val="1F2A44"/>
                </a:solidFill>
                <a:latin typeface="Calibri"/>
              </a:rPr>
              <a:t> – üç parça (TA): </a:t>
            </a:r>
            <a:r>
              <a:rPr sz="1900">
                <a:solidFill>
                  <a:srgbClr val="1F2A44"/>
                </a:solidFill>
                <a:latin typeface="Calibri"/>
              </a:rPr>
              <a:t>m. pubococcygeus</a:t>
            </a:r>
            <a:r>
              <a:rPr sz="1900">
                <a:solidFill>
                  <a:srgbClr val="1F2A44"/>
                </a:solidFill>
                <a:latin typeface="Calibri"/>
              </a:rPr>
              <a:t> (+ m. puboperinealis, m. pubovaginalis/puboprostaticus, m. puboanalis), </a:t>
            </a:r>
            <a:r>
              <a:rPr sz="1900">
                <a:solidFill>
                  <a:srgbClr val="1F2A44"/>
                </a:solidFill>
                <a:latin typeface="Calibri"/>
              </a:rPr>
              <a:t>m. puborectalis</a:t>
            </a:r>
            <a:r>
              <a:rPr sz="1900">
                <a:solidFill>
                  <a:srgbClr val="1F2A44"/>
                </a:solidFill>
                <a:latin typeface="Calibri"/>
              </a:rPr>
              <a:t>, </a:t>
            </a:r>
            <a:r>
              <a:rPr sz="1900">
                <a:solidFill>
                  <a:srgbClr val="1F2A44"/>
                </a:solidFill>
                <a:latin typeface="Calibri"/>
              </a:rPr>
              <a:t>m. iliococcygeus</a:t>
            </a:r>
            <a:r>
              <a:rPr sz="1900">
                <a:solidFill>
                  <a:srgbClr val="1F2A44"/>
                </a:solidFill>
                <a:latin typeface="Calibri"/>
              </a:rPr>
              <a:t>.</a:t>
            </a:r>
          </a:p>
          <a:p>
            <a:pPr>
              <a:spcAft>
                <a:spcPts val="600"/>
              </a:spcAft>
            </a:pPr>
            <a:r>
              <a:rPr sz="1900">
                <a:solidFill>
                  <a:srgbClr val="1F2A44"/>
                </a:solidFill>
                <a:latin typeface="Calibri"/>
              </a:rPr>
              <a:t>• Orijin: os pubis'in arka yüzü – </a:t>
            </a:r>
            <a:r>
              <a:rPr sz="1900">
                <a:solidFill>
                  <a:srgbClr val="1F2A44"/>
                </a:solidFill>
                <a:latin typeface="Calibri"/>
              </a:rPr>
              <a:t>arcus tendineus musculi levatoris ani</a:t>
            </a:r>
            <a:r>
              <a:rPr sz="1900">
                <a:solidFill>
                  <a:srgbClr val="1F2A44"/>
                </a:solidFill>
                <a:latin typeface="Calibri"/>
              </a:rPr>
              <a:t> (fascia obturatoria kalınlaşması) – spina ischiadica.</a:t>
            </a:r>
          </a:p>
          <a:p>
            <a:pPr>
              <a:spcAft>
                <a:spcPts val="600"/>
              </a:spcAft>
            </a:pPr>
            <a:r>
              <a:rPr sz="1900">
                <a:solidFill>
                  <a:srgbClr val="1F2A44"/>
                </a:solidFill>
                <a:latin typeface="Calibri"/>
              </a:rPr>
              <a:t>• Sonlanma: corpus perineale, corpus anococcygeum (lig. anococcygeum), os coccygis; m. puborectalis anorektal bileşkede U-askı → </a:t>
            </a:r>
            <a:r>
              <a:rPr sz="1900">
                <a:solidFill>
                  <a:srgbClr val="1F2A44"/>
                </a:solidFill>
                <a:latin typeface="Calibri"/>
              </a:rPr>
              <a:t>angulus anorectalis</a:t>
            </a:r>
            <a:r>
              <a:rPr sz="1900">
                <a:solidFill>
                  <a:srgbClr val="1F2A44"/>
                </a:solidFill>
                <a:latin typeface="Calibri"/>
              </a:rPr>
              <a:t> (≈90°).</a:t>
            </a:r>
          </a:p>
          <a:p>
            <a:pPr>
              <a:spcAft>
                <a:spcPts val="600"/>
              </a:spcAft>
            </a:pPr>
            <a:r>
              <a:rPr sz="1900">
                <a:solidFill>
                  <a:srgbClr val="1F2A44"/>
                </a:solidFill>
                <a:latin typeface="Calibri"/>
              </a:rPr>
              <a:t>• </a:t>
            </a:r>
            <a:r>
              <a:rPr sz="1900">
                <a:solidFill>
                  <a:srgbClr val="1F2A44"/>
                </a:solidFill>
                <a:latin typeface="Calibri"/>
              </a:rPr>
              <a:t>M. coccygeus</a:t>
            </a:r>
            <a:r>
              <a:rPr sz="1900">
                <a:solidFill>
                  <a:srgbClr val="1F2A44"/>
                </a:solidFill>
                <a:latin typeface="Calibri"/>
              </a:rPr>
              <a:t> (m. ischiococcygeus): spina ischiadica → os sacrum/coccyx yan kenarı; lig. sacrospinale ile kaynaşık.</a:t>
            </a:r>
          </a:p>
          <a:p>
            <a:pPr>
              <a:spcAft>
                <a:spcPts val="600"/>
              </a:spcAft>
            </a:pPr>
            <a:r>
              <a:rPr sz="1900">
                <a:solidFill>
                  <a:srgbClr val="1F2A44"/>
                </a:solidFill>
                <a:latin typeface="Calibri"/>
              </a:rPr>
              <a:t>• İnnervasyon: pelvik yüzden doğrudan </a:t>
            </a:r>
            <a:r>
              <a:rPr sz="1900">
                <a:solidFill>
                  <a:srgbClr val="1F2A44"/>
                </a:solidFill>
                <a:latin typeface="Calibri"/>
              </a:rPr>
              <a:t>S3–S4</a:t>
            </a:r>
            <a:r>
              <a:rPr sz="1900">
                <a:solidFill>
                  <a:srgbClr val="1F2A44"/>
                </a:solidFill>
                <a:latin typeface="Calibri"/>
              </a:rPr>
              <a:t> (n. levatoris ani); perineal yüzden n. pudendus dalları (n. rectalis inferior) – katkı tartışmalıdır.</a:t>
            </a:r>
          </a:p>
          <a:p>
            <a:pPr>
              <a:spcAft>
                <a:spcPts val="600"/>
              </a:spcAft>
            </a:pPr>
            <a:r>
              <a:rPr sz="1900">
                <a:solidFill>
                  <a:srgbClr val="1F2A44"/>
                </a:solidFill>
                <a:latin typeface="Calibri"/>
              </a:rPr>
              <a:t>• </a:t>
            </a:r>
            <a:r>
              <a:rPr sz="1900">
                <a:solidFill>
                  <a:srgbClr val="1F2A44"/>
                </a:solidFill>
                <a:latin typeface="Calibri"/>
              </a:rPr>
              <a:t>Hiatus urogenitalis</a:t>
            </a:r>
            <a:r>
              <a:rPr sz="1900">
                <a:solidFill>
                  <a:srgbClr val="1F2A44"/>
                </a:solidFill>
                <a:latin typeface="Calibri"/>
              </a:rPr>
              <a:t>: puborectalis kolları arasında; urethra (♀ vagina) geçer. Doğum travması → levator avulsiyonu, prolapsus.</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Pelvis yan duvarı: fascia obturatoria ve arcus tendineus'lar</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Kadavra, pelvis içinden medial bakış</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pic>
        <p:nvPicPr>
          <p:cNvPr id="7" name="Picture 6" descr="41598_2021_89041_Fig2_HTML_0_0_350_268.jpg"/>
          <p:cNvPicPr>
            <a:picLocks noChangeAspect="1"/>
          </p:cNvPicPr>
          <p:nvPr/>
        </p:nvPicPr>
        <p:blipFill>
          <a:blip r:embed="rId2"/>
          <a:stretch>
            <a:fillRect/>
          </a:stretch>
        </p:blipFill>
        <p:spPr>
          <a:xfrm>
            <a:off x="2377440" y="1598109"/>
            <a:ext cx="3611879" cy="2765668"/>
          </a:xfrm>
          <a:prstGeom prst="rect">
            <a:avLst/>
          </a:prstGeom>
        </p:spPr>
      </p:pic>
      <p:sp>
        <p:nvSpPr>
          <p:cNvPr id="8" name="TextBox 7"/>
          <p:cNvSpPr txBox="1"/>
          <p:nvPr/>
        </p:nvSpPr>
        <p:spPr>
          <a:xfrm>
            <a:off x="228600" y="208248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Canalis obturatorius</a:t>
            </a:r>
          </a:p>
        </p:txBody>
      </p:sp>
      <p:cxnSp>
        <p:nvCxnSpPr>
          <p:cNvPr id="9" name="Connector 8"/>
          <p:cNvCxnSpPr/>
          <p:nvPr/>
        </p:nvCxnSpPr>
        <p:spPr>
          <a:xfrm>
            <a:off x="2286000" y="2237928"/>
            <a:ext cx="241336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653642" y="219220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577824"/>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Symphysis pubica</a:t>
            </a:r>
          </a:p>
        </p:txBody>
      </p:sp>
      <p:cxnSp>
        <p:nvCxnSpPr>
          <p:cNvPr id="12" name="Connector 11"/>
          <p:cNvCxnSpPr/>
          <p:nvPr/>
        </p:nvCxnSpPr>
        <p:spPr>
          <a:xfrm>
            <a:off x="2286000" y="2733272"/>
            <a:ext cx="34943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589711" y="268755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2961872"/>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Arcus tendineus musculi levatoris ani</a:t>
            </a:r>
          </a:p>
        </p:txBody>
      </p:sp>
      <p:cxnSp>
        <p:nvCxnSpPr>
          <p:cNvPr id="15" name="Connector 14"/>
          <p:cNvCxnSpPr/>
          <p:nvPr/>
        </p:nvCxnSpPr>
        <p:spPr>
          <a:xfrm flipV="1">
            <a:off x="2286000" y="2991263"/>
            <a:ext cx="1948978" cy="12605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189258" y="294554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66138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Arcus tendineus fasciae pelvis</a:t>
            </a:r>
          </a:p>
        </p:txBody>
      </p:sp>
      <p:cxnSp>
        <p:nvCxnSpPr>
          <p:cNvPr id="18" name="Connector 17"/>
          <p:cNvCxnSpPr/>
          <p:nvPr/>
        </p:nvCxnSpPr>
        <p:spPr>
          <a:xfrm>
            <a:off x="2286000" y="3816836"/>
            <a:ext cx="179418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034463" y="377111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77440" y="4382066"/>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2 – Chin H. Y. ve ark., 2021 (PMC8096964, CC BY)</a:t>
            </a:r>
          </a:p>
        </p:txBody>
      </p:sp>
      <p:pic>
        <p:nvPicPr>
          <p:cNvPr id="21" name="Picture 20" descr="41598_2021_89041_Fig4_HTML_0_0_668_436.jpg"/>
          <p:cNvPicPr>
            <a:picLocks noChangeAspect="1"/>
          </p:cNvPicPr>
          <p:nvPr/>
        </p:nvPicPr>
        <p:blipFill>
          <a:blip r:embed="rId3"/>
          <a:stretch>
            <a:fillRect/>
          </a:stretch>
        </p:blipFill>
        <p:spPr>
          <a:xfrm>
            <a:off x="6172200" y="1792369"/>
            <a:ext cx="3642055" cy="2377149"/>
          </a:xfrm>
          <a:prstGeom prst="rect">
            <a:avLst/>
          </a:prstGeom>
        </p:spPr>
      </p:pic>
      <p:sp>
        <p:nvSpPr>
          <p:cNvPr id="22" name="TextBox 21"/>
          <p:cNvSpPr txBox="1"/>
          <p:nvPr/>
        </p:nvSpPr>
        <p:spPr>
          <a:xfrm>
            <a:off x="9905695" y="2454747"/>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Canalis obturatorius</a:t>
            </a:r>
          </a:p>
        </p:txBody>
      </p:sp>
      <p:cxnSp>
        <p:nvCxnSpPr>
          <p:cNvPr id="23" name="Connector 22"/>
          <p:cNvCxnSpPr/>
          <p:nvPr/>
        </p:nvCxnSpPr>
        <p:spPr>
          <a:xfrm flipH="1">
            <a:off x="9034593" y="2610195"/>
            <a:ext cx="87110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8988873" y="256447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05695" y="2838795"/>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obturatorius internus</a:t>
            </a:r>
          </a:p>
        </p:txBody>
      </p:sp>
      <p:cxnSp>
        <p:nvCxnSpPr>
          <p:cNvPr id="26" name="Connector 25"/>
          <p:cNvCxnSpPr/>
          <p:nvPr/>
        </p:nvCxnSpPr>
        <p:spPr>
          <a:xfrm flipH="1" flipV="1">
            <a:off x="7480722" y="2773761"/>
            <a:ext cx="2424973" cy="22048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435002" y="272804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05695" y="3222843"/>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puborectalis</a:t>
            </a:r>
          </a:p>
        </p:txBody>
      </p:sp>
      <p:cxnSp>
        <p:nvCxnSpPr>
          <p:cNvPr id="29" name="Connector 28"/>
          <p:cNvCxnSpPr/>
          <p:nvPr/>
        </p:nvCxnSpPr>
        <p:spPr>
          <a:xfrm flipH="1" flipV="1">
            <a:off x="6690156" y="3237196"/>
            <a:ext cx="3215539" cy="14109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6644436" y="319147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05695" y="360689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Arcus tendineus musculi levatoris ani</a:t>
            </a:r>
          </a:p>
        </p:txBody>
      </p:sp>
      <p:cxnSp>
        <p:nvCxnSpPr>
          <p:cNvPr id="32" name="Connector 31"/>
          <p:cNvCxnSpPr/>
          <p:nvPr/>
        </p:nvCxnSpPr>
        <p:spPr>
          <a:xfrm flipH="1" flipV="1">
            <a:off x="7971418" y="3591587"/>
            <a:ext cx="1934277" cy="17075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925698" y="354586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72200" y="4187806"/>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4 – Chin H. Y. ve ark., 2021 (PMC8096964, CC BY)</a:t>
            </a:r>
          </a:p>
        </p:txBody>
      </p:sp>
      <p:sp>
        <p:nvSpPr>
          <p:cNvPr id="35" name="Rectangle 34"/>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Arcus tendineus musculi levatoris ani (ATLA) fascia obturatoria'nın kalınlaşmasıdır; altında arcus tendineus fasciae pelvis (ATFP; os pubis → spina ischiadica).</a:t>
            </a:r>
          </a:p>
          <a:p>
            <a:pPr>
              <a:spcAft>
                <a:spcPts val="200"/>
              </a:spcAft>
            </a:pPr>
            <a:r>
              <a:rPr sz="1500">
                <a:solidFill>
                  <a:srgbClr val="1F2A44"/>
                </a:solidFill>
                <a:latin typeface="Calibri"/>
              </a:rPr>
              <a:t>• Chin ve ark. 2021: fascia obturatoria ♂ 0,167 ± 0,031 mm – ♀ 0,228 ± 0,036 mm; levator ani aponevrozu ATLA'nın üstüne, ramus superior ossis pubis'e dek uzanabilir.</a:t>
            </a:r>
          </a:p>
        </p:txBody>
      </p:sp>
      <p:cxnSp>
        <p:nvCxnSpPr>
          <p:cNvPr id="37" name="Connector 3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Chin H. Y., Peng C. W., Wu M. P. et al. Attachment of the levator ani muscle extends to the superior ramus of the pubic bone through electrophysiological and anatomical examinations. Sci Rep. 2021 May 4;11:9483. doi: 10.1038/s41598-021-89041-6 PMCID: PMC8096964. Lisans: CC BY.</a:t>
            </a:r>
          </a:p>
        </p:txBody>
      </p:sp>
      <p:sp>
        <p:nvSpPr>
          <p:cNvPr id="39" name="TextBox 3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Fascia pelvis ve perineye geçiş</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Parietal – visseral fasya; arcus tendineus</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Fascia pelvis parietalis</a:t>
            </a:r>
            <a:r>
              <a:rPr sz="1900">
                <a:solidFill>
                  <a:srgbClr val="1F2A44"/>
                </a:solidFill>
                <a:latin typeface="Calibri"/>
              </a:rPr>
              <a:t> (endopelvik olmayan, kasları örten): fascia obturatoria, fascia musculi piriformis, </a:t>
            </a:r>
            <a:r>
              <a:rPr sz="1900">
                <a:solidFill>
                  <a:srgbClr val="1F2A44"/>
                </a:solidFill>
                <a:latin typeface="Calibri"/>
              </a:rPr>
              <a:t>fascia superior diaphragmatis pelvis</a:t>
            </a:r>
            <a:r>
              <a:rPr sz="1900">
                <a:solidFill>
                  <a:srgbClr val="1F2A44"/>
                </a:solidFill>
                <a:latin typeface="Calibri"/>
              </a:rPr>
              <a:t>.</a:t>
            </a:r>
          </a:p>
          <a:p>
            <a:pPr>
              <a:spcAft>
                <a:spcPts val="600"/>
              </a:spcAft>
            </a:pPr>
            <a:r>
              <a:rPr sz="1900">
                <a:solidFill>
                  <a:srgbClr val="1F2A44"/>
                </a:solidFill>
                <a:latin typeface="Calibri"/>
              </a:rPr>
              <a:t>• </a:t>
            </a:r>
            <a:r>
              <a:rPr sz="1900">
                <a:solidFill>
                  <a:srgbClr val="1F2A44"/>
                </a:solidFill>
                <a:latin typeface="Calibri"/>
              </a:rPr>
              <a:t>Fascia pelvis visceralis</a:t>
            </a:r>
            <a:r>
              <a:rPr sz="1900">
                <a:solidFill>
                  <a:srgbClr val="1F2A44"/>
                </a:solidFill>
                <a:latin typeface="Calibri"/>
              </a:rPr>
              <a:t> (endopelvik fasya): organ kapsülleri ve aralarındaki gevşek bağ dokusu; yoğunlaşmalar: lig. puboprostaticum/pubovesicale, lig. cardinale (lig. transversum cervicis), lig. uterosacrale.</a:t>
            </a:r>
          </a:p>
          <a:p>
            <a:pPr>
              <a:spcAft>
                <a:spcPts val="600"/>
              </a:spcAft>
            </a:pPr>
            <a:r>
              <a:rPr sz="1900">
                <a:solidFill>
                  <a:srgbClr val="1F2A44"/>
                </a:solidFill>
                <a:latin typeface="Calibri"/>
              </a:rPr>
              <a:t>• </a:t>
            </a:r>
            <a:r>
              <a:rPr sz="1900">
                <a:solidFill>
                  <a:srgbClr val="1F2A44"/>
                </a:solidFill>
                <a:latin typeface="Calibri"/>
              </a:rPr>
              <a:t>Arcus tendineus fasciae pelvis</a:t>
            </a:r>
            <a:r>
              <a:rPr sz="1900">
                <a:solidFill>
                  <a:srgbClr val="1F2A44"/>
                </a:solidFill>
                <a:latin typeface="Calibri"/>
              </a:rPr>
              <a:t> (beyaz çizgi): os pubis → spina ischiadica; vaginanın lateral askısı (DeLancey seviye II).</a:t>
            </a:r>
          </a:p>
          <a:p>
            <a:pPr>
              <a:spcAft>
                <a:spcPts val="600"/>
              </a:spcAft>
            </a:pPr>
            <a:r>
              <a:rPr sz="1900">
                <a:solidFill>
                  <a:srgbClr val="1F2A44"/>
                </a:solidFill>
                <a:latin typeface="Calibri"/>
              </a:rPr>
              <a:t>• </a:t>
            </a:r>
            <a:r>
              <a:rPr sz="1900">
                <a:solidFill>
                  <a:srgbClr val="1F2A44"/>
                </a:solidFill>
                <a:latin typeface="Calibri"/>
              </a:rPr>
              <a:t>Fascia inferior diaphragmatis pelvis</a:t>
            </a:r>
            <a:r>
              <a:rPr sz="1900">
                <a:solidFill>
                  <a:srgbClr val="1F2A44"/>
                </a:solidFill>
                <a:latin typeface="Calibri"/>
              </a:rPr>
              <a:t>: levator ani'nin perineal yüzü = fossa ischioanalis'in medial-üst duvarı.</a:t>
            </a:r>
          </a:p>
          <a:p>
            <a:pPr>
              <a:spcAft>
                <a:spcPts val="600"/>
              </a:spcAft>
            </a:pPr>
            <a:r>
              <a:rPr sz="1900">
                <a:solidFill>
                  <a:srgbClr val="1F2A44"/>
                </a:solidFill>
                <a:latin typeface="Calibri"/>
              </a:rPr>
              <a:t>• Fascia obturatoria'nın alt kısmı ikiye ayrılarak </a:t>
            </a:r>
            <a:r>
              <a:rPr sz="1900">
                <a:solidFill>
                  <a:srgbClr val="1F2A44"/>
                </a:solidFill>
                <a:latin typeface="Calibri"/>
              </a:rPr>
              <a:t>canalis pudendalis</a:t>
            </a:r>
            <a:r>
              <a:rPr sz="1900">
                <a:solidFill>
                  <a:srgbClr val="1F2A44"/>
                </a:solidFill>
                <a:latin typeface="Calibri"/>
              </a:rPr>
              <a:t>'i (Alcock) oluşturur → pelvis–perine sınırında damar-sinir yolu.</a:t>
            </a:r>
          </a:p>
          <a:p>
            <a:pPr>
              <a:spcAft>
                <a:spcPts val="600"/>
              </a:spcAft>
            </a:pPr>
            <a:r>
              <a:rPr sz="1900">
                <a:solidFill>
                  <a:srgbClr val="1F2A44"/>
                </a:solidFill>
                <a:latin typeface="Calibri"/>
              </a:rPr>
              <a:t>• Sonuç: </a:t>
            </a:r>
            <a:r>
              <a:rPr sz="1900">
                <a:solidFill>
                  <a:srgbClr val="1F2A44"/>
                </a:solidFill>
                <a:latin typeface="Calibri"/>
              </a:rPr>
              <a:t>perine</a:t>
            </a:r>
            <a:r>
              <a:rPr sz="1900">
                <a:solidFill>
                  <a:srgbClr val="1F2A44"/>
                </a:solidFill>
                <a:latin typeface="Calibri"/>
              </a:rPr>
              <a:t>, diaphragma pelvis'in altında, apertura pelvis inferior ile deri arasında kalan bölgedir.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Diaphragma pelvis ve fascia superior diaphragmatis pelvis</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Sagittal ikiye bölünmüş erkek pelvisi (kadavra) – medial bakış</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PELVİS</a:t>
            </a:r>
          </a:p>
        </p:txBody>
      </p:sp>
      <p:pic>
        <p:nvPicPr>
          <p:cNvPr id="7" name="Picture 6" descr="PROS-85-1440-g001_0_0_228_250.jpg"/>
          <p:cNvPicPr>
            <a:picLocks noChangeAspect="1"/>
          </p:cNvPicPr>
          <p:nvPr/>
        </p:nvPicPr>
        <p:blipFill>
          <a:blip r:embed="rId2"/>
          <a:stretch>
            <a:fillRect/>
          </a:stretch>
        </p:blipFill>
        <p:spPr>
          <a:xfrm>
            <a:off x="2465478" y="1097280"/>
            <a:ext cx="3435803" cy="3767328"/>
          </a:xfrm>
          <a:prstGeom prst="rect">
            <a:avLst/>
          </a:prstGeom>
        </p:spPr>
      </p:pic>
      <p:sp>
        <p:nvSpPr>
          <p:cNvPr id="8" name="TextBox 7"/>
          <p:cNvSpPr txBox="1"/>
          <p:nvPr/>
        </p:nvSpPr>
        <p:spPr>
          <a:xfrm>
            <a:off x="228600" y="1865376"/>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Canalis obturatorius</a:t>
            </a:r>
          </a:p>
        </p:txBody>
      </p:sp>
      <p:cxnSp>
        <p:nvCxnSpPr>
          <p:cNvPr id="9" name="Connector 8"/>
          <p:cNvCxnSpPr/>
          <p:nvPr/>
        </p:nvCxnSpPr>
        <p:spPr>
          <a:xfrm>
            <a:off x="2286000" y="2020824"/>
            <a:ext cx="1174053" cy="44776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414333" y="242286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249424"/>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Fascia diaphragmatis pelvis superior (fascia pelvis parietalis)</a:t>
            </a:r>
          </a:p>
        </p:txBody>
      </p:sp>
      <p:cxnSp>
        <p:nvCxnSpPr>
          <p:cNvPr id="12" name="Connector 11"/>
          <p:cNvCxnSpPr/>
          <p:nvPr/>
        </p:nvCxnSpPr>
        <p:spPr>
          <a:xfrm>
            <a:off x="2286000" y="2404872"/>
            <a:ext cx="1475439" cy="28975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715719" y="264890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2633472"/>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Urethra</a:t>
            </a:r>
          </a:p>
        </p:txBody>
      </p:sp>
      <p:cxnSp>
        <p:nvCxnSpPr>
          <p:cNvPr id="15" name="Connector 14"/>
          <p:cNvCxnSpPr/>
          <p:nvPr/>
        </p:nvCxnSpPr>
        <p:spPr>
          <a:xfrm>
            <a:off x="2286000" y="2788920"/>
            <a:ext cx="1912449" cy="17695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152729" y="292015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01752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Os coccygis</a:t>
            </a:r>
          </a:p>
        </p:txBody>
      </p:sp>
      <p:cxnSp>
        <p:nvCxnSpPr>
          <p:cNvPr id="18" name="Connector 17"/>
          <p:cNvCxnSpPr/>
          <p:nvPr/>
        </p:nvCxnSpPr>
        <p:spPr>
          <a:xfrm flipV="1">
            <a:off x="2286000" y="2980944"/>
            <a:ext cx="3072786" cy="19202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313066" y="29352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340156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Prostata</a:t>
            </a:r>
          </a:p>
        </p:txBody>
      </p:sp>
      <p:cxnSp>
        <p:nvCxnSpPr>
          <p:cNvPr id="21" name="Connector 20"/>
          <p:cNvCxnSpPr/>
          <p:nvPr/>
        </p:nvCxnSpPr>
        <p:spPr>
          <a:xfrm flipV="1">
            <a:off x="2286000" y="3011082"/>
            <a:ext cx="1641201" cy="54593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881481" y="29653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3785616"/>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Os pubis / symphysis pubica</a:t>
            </a:r>
          </a:p>
        </p:txBody>
      </p:sp>
      <p:cxnSp>
        <p:nvCxnSpPr>
          <p:cNvPr id="24" name="Connector 23"/>
          <p:cNvCxnSpPr/>
          <p:nvPr/>
        </p:nvCxnSpPr>
        <p:spPr>
          <a:xfrm flipV="1">
            <a:off x="2286000" y="3086429"/>
            <a:ext cx="706904" cy="85463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2947184" y="304070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8600" y="4169664"/>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Rectum</a:t>
            </a:r>
          </a:p>
        </p:txBody>
      </p:sp>
      <p:cxnSp>
        <p:nvCxnSpPr>
          <p:cNvPr id="27" name="Connector 26"/>
          <p:cNvCxnSpPr/>
          <p:nvPr/>
        </p:nvCxnSpPr>
        <p:spPr>
          <a:xfrm flipV="1">
            <a:off x="2286000" y="3689201"/>
            <a:ext cx="2183696" cy="63591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423976" y="364348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4553712"/>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Corpus spongiosum penis</a:t>
            </a:r>
          </a:p>
        </p:txBody>
      </p:sp>
      <p:cxnSp>
        <p:nvCxnSpPr>
          <p:cNvPr id="30" name="Connector 29"/>
          <p:cNvCxnSpPr/>
          <p:nvPr/>
        </p:nvCxnSpPr>
        <p:spPr>
          <a:xfrm flipV="1">
            <a:off x="2286000" y="4111142"/>
            <a:ext cx="1189122" cy="59801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429402" y="406542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77440" y="4882896"/>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1 – Muro S. ve ark., 2025 (PMC12452807, CC BY-NC)</a:t>
            </a:r>
          </a:p>
        </p:txBody>
      </p:sp>
      <p:pic>
        <p:nvPicPr>
          <p:cNvPr id="33" name="Picture 32" descr="PROS-85-1440-g001_467_0_702_250.jpg"/>
          <p:cNvPicPr>
            <a:picLocks noChangeAspect="1"/>
          </p:cNvPicPr>
          <p:nvPr/>
        </p:nvPicPr>
        <p:blipFill>
          <a:blip r:embed="rId3"/>
          <a:stretch>
            <a:fillRect/>
          </a:stretch>
        </p:blipFill>
        <p:spPr>
          <a:xfrm>
            <a:off x="6222583" y="1097280"/>
            <a:ext cx="3541288" cy="3767328"/>
          </a:xfrm>
          <a:prstGeom prst="rect">
            <a:avLst/>
          </a:prstGeom>
        </p:spPr>
      </p:pic>
      <p:sp>
        <p:nvSpPr>
          <p:cNvPr id="34" name="TextBox 33"/>
          <p:cNvSpPr txBox="1"/>
          <p:nvPr/>
        </p:nvSpPr>
        <p:spPr>
          <a:xfrm>
            <a:off x="9905695" y="2855634"/>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Arcus tendineus fasciae pelvis</a:t>
            </a:r>
          </a:p>
        </p:txBody>
      </p:sp>
      <p:cxnSp>
        <p:nvCxnSpPr>
          <p:cNvPr id="35" name="Connector 34"/>
          <p:cNvCxnSpPr/>
          <p:nvPr/>
        </p:nvCxnSpPr>
        <p:spPr>
          <a:xfrm flipH="1">
            <a:off x="7834999" y="3011082"/>
            <a:ext cx="207069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789279" y="29653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05695" y="3239682"/>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levator ani</a:t>
            </a:r>
          </a:p>
        </p:txBody>
      </p:sp>
      <p:cxnSp>
        <p:nvCxnSpPr>
          <p:cNvPr id="38" name="Connector 37"/>
          <p:cNvCxnSpPr/>
          <p:nvPr/>
        </p:nvCxnSpPr>
        <p:spPr>
          <a:xfrm flipH="1" flipV="1">
            <a:off x="8437772" y="3026151"/>
            <a:ext cx="1467923" cy="36897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8392052" y="298043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72200" y="4882896"/>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1 – Muro S. ve ark., 2025 (PMC12452807, CC BY-NC)</a:t>
            </a:r>
          </a:p>
        </p:txBody>
      </p:sp>
      <p:sp>
        <p:nvSpPr>
          <p:cNvPr id="41" name="Rectangle 40"/>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Sol: pelvis organları yerinde; sağ: fasya kaldırılmış – m. levator ani ve arcus tendineus fasciae pelvis.</a:t>
            </a:r>
          </a:p>
          <a:p>
            <a:pPr>
              <a:spcAft>
                <a:spcPts val="200"/>
              </a:spcAft>
            </a:pPr>
            <a:r>
              <a:rPr sz="1500">
                <a:solidFill>
                  <a:srgbClr val="1F2A44"/>
                </a:solidFill>
                <a:latin typeface="Calibri"/>
              </a:rPr>
              <a:t>• Fascia superior diaphragmatis pelvis = fascia pelvis parietalis'in taban kısmı; altındaki her şey perinedir.</a:t>
            </a:r>
          </a:p>
        </p:txBody>
      </p:sp>
      <p:cxnSp>
        <p:nvCxnSpPr>
          <p:cNvPr id="43" name="Connector 4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Shoji S., Aoki M. et al. Novel Anatomical Findings in Robot‐Assisted Prostatectomy and Optimal Dissection Layer Selection for Preserving Urethral Support Structures. Prostate. 2025 Aug 7;85(15):1440–8. doi: 10.1002/pros.70030 PMCID: PMC12452807. Lisans: CC BY-NC.</a:t>
            </a:r>
          </a:p>
        </p:txBody>
      </p:sp>
      <p:sp>
        <p:nvSpPr>
          <p:cNvPr id="45" name="TextBox 44"/>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486400" cy="457200"/>
          </a:xfrm>
          <a:prstGeom prst="rect">
            <a:avLst/>
          </a:prstGeom>
          <a:noFill/>
        </p:spPr>
        <p:txBody>
          <a:bodyPr wrap="square" anchor="t" lIns="45720" rIns="45720" tIns="18288" bIns="18288">
            <a:spAutoFit/>
          </a:bodyPr>
          <a:lstStyle/>
          <a:p>
            <a:pPr algn="l"/>
            <a:r>
              <a:rPr sz="2000" b="1" i="0">
                <a:solidFill>
                  <a:srgbClr val="C8D1E6"/>
                </a:solidFill>
                <a:latin typeface="Calibri"/>
              </a:rPr>
              <a:t>BÖLÜM 2</a:t>
            </a:r>
          </a:p>
        </p:txBody>
      </p:sp>
      <p:sp>
        <p:nvSpPr>
          <p:cNvPr id="4" name="TextBox 3"/>
          <p:cNvSpPr txBox="1"/>
          <p:nvPr/>
        </p:nvSpPr>
        <p:spPr>
          <a:xfrm>
            <a:off x="548640" y="1234440"/>
            <a:ext cx="5669280" cy="1371600"/>
          </a:xfrm>
          <a:prstGeom prst="rect">
            <a:avLst/>
          </a:prstGeom>
          <a:noFill/>
        </p:spPr>
        <p:txBody>
          <a:bodyPr wrap="square" anchor="t" lIns="45720" rIns="45720" tIns="18288" bIns="18288">
            <a:spAutoFit/>
          </a:bodyPr>
          <a:lstStyle/>
          <a:p>
            <a:pPr algn="l"/>
            <a:r>
              <a:rPr sz="4000" b="1" i="0">
                <a:solidFill>
                  <a:srgbClr val="FFFFFF"/>
                </a:solidFill>
                <a:latin typeface="Calibri"/>
              </a:rPr>
              <a:t>Perine – genel</a:t>
            </a:r>
          </a:p>
        </p:txBody>
      </p:sp>
      <p:sp>
        <p:nvSpPr>
          <p:cNvPr id="5" name="TextBox 4"/>
          <p:cNvSpPr txBox="1"/>
          <p:nvPr/>
        </p:nvSpPr>
        <p:spPr>
          <a:xfrm>
            <a:off x="548640" y="2697480"/>
            <a:ext cx="5486400" cy="640080"/>
          </a:xfrm>
          <a:prstGeom prst="rect">
            <a:avLst/>
          </a:prstGeom>
          <a:noFill/>
        </p:spPr>
        <p:txBody>
          <a:bodyPr wrap="square" anchor="t" lIns="45720" rIns="45720" tIns="18288" bIns="18288">
            <a:spAutoFit/>
          </a:bodyPr>
          <a:lstStyle/>
          <a:p>
            <a:pPr algn="l"/>
            <a:r>
              <a:rPr sz="1700" b="0" i="1">
                <a:solidFill>
                  <a:srgbClr val="C8D1E6"/>
                </a:solidFill>
                <a:latin typeface="Calibri"/>
              </a:rPr>
              <a:t>Tanım, sınırlar, üçgenler, corpus perineale</a:t>
            </a:r>
          </a:p>
        </p:txBody>
      </p:sp>
      <p:sp>
        <p:nvSpPr>
          <p:cNvPr id="6" name="TextBox 5"/>
          <p:cNvSpPr txBox="1"/>
          <p:nvPr/>
        </p:nvSpPr>
        <p:spPr>
          <a:xfrm>
            <a:off x="548640" y="3429000"/>
            <a:ext cx="5577840" cy="2926080"/>
          </a:xfrm>
          <a:prstGeom prst="rect">
            <a:avLst/>
          </a:prstGeom>
          <a:noFill/>
        </p:spPr>
        <p:txBody>
          <a:bodyPr wrap="square">
            <a:spAutoFit/>
          </a:bodyPr>
          <a:lstStyle/>
          <a:p>
            <a:pPr>
              <a:spcAft>
                <a:spcPts val="600"/>
              </a:spcAft>
            </a:pPr>
            <a:r>
              <a:rPr sz="1700">
                <a:solidFill>
                  <a:srgbClr val="FFFFFF"/>
                </a:solidFill>
                <a:latin typeface="Calibri"/>
              </a:rPr>
              <a:t>• Derin ve yüzeyel sınırlar</a:t>
            </a:r>
          </a:p>
          <a:p>
            <a:pPr>
              <a:spcAft>
                <a:spcPts val="600"/>
              </a:spcAft>
            </a:pPr>
            <a:r>
              <a:rPr sz="1700">
                <a:solidFill>
                  <a:srgbClr val="FFFFFF"/>
                </a:solidFill>
                <a:latin typeface="Calibri"/>
              </a:rPr>
              <a:t>• Regio urogenitalis / regio analis</a:t>
            </a:r>
          </a:p>
          <a:p>
            <a:pPr>
              <a:spcAft>
                <a:spcPts val="600"/>
              </a:spcAft>
            </a:pPr>
            <a:r>
              <a:rPr sz="1700">
                <a:solidFill>
                  <a:srgbClr val="FFFFFF"/>
                </a:solidFill>
                <a:latin typeface="Calibri"/>
              </a:rPr>
              <a:t>• Corpus perineale</a:t>
            </a:r>
          </a:p>
        </p:txBody>
      </p:sp>
      <p:pic>
        <p:nvPicPr>
          <p:cNvPr id="7" name="Picture 6" descr="CA-34-272-g001.jpg"/>
          <p:cNvPicPr>
            <a:picLocks noChangeAspect="1"/>
          </p:cNvPicPr>
          <p:nvPr/>
        </p:nvPicPr>
        <p:blipFill>
          <a:blip r:embed="rId2"/>
          <a:stretch>
            <a:fillRect/>
          </a:stretch>
        </p:blipFill>
        <p:spPr>
          <a:xfrm>
            <a:off x="6675120" y="1436665"/>
            <a:ext cx="5257800" cy="3618908"/>
          </a:xfrm>
          <a:prstGeom prst="rect">
            <a:avLst/>
          </a:prstGeom>
        </p:spPr>
      </p:pic>
      <p:sp>
        <p:nvSpPr>
          <p:cNvPr id="8" name="TextBox 7"/>
          <p:cNvSpPr txBox="1"/>
          <p:nvPr/>
        </p:nvSpPr>
        <p:spPr>
          <a:xfrm>
            <a:off x="6675120" y="6080760"/>
            <a:ext cx="5257800" cy="274320"/>
          </a:xfrm>
          <a:prstGeom prst="rect">
            <a:avLst/>
          </a:prstGeom>
          <a:noFill/>
        </p:spPr>
        <p:txBody>
          <a:bodyPr wrap="square" anchor="t" lIns="45720" rIns="45720" tIns="18288" bIns="18288">
            <a:spAutoFit/>
          </a:bodyPr>
          <a:lstStyle/>
          <a:p>
            <a:pPr algn="ctr"/>
            <a:r>
              <a:rPr sz="900" b="0" i="1">
                <a:solidFill>
                  <a:srgbClr val="555B66"/>
                </a:solidFill>
                <a:latin typeface="Calibri"/>
              </a:rPr>
              <a:t>Muro S. ve ark., 2020 (PMC7898478, CC BY-NC-ND)</a:t>
            </a:r>
          </a:p>
        </p:txBody>
      </p: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Perineum: tanım ve sınırlar</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Anatomik (derin) ve yüzeyel (topografik) perine</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PERİNE – GENEL</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Perineum (regio perinealis)</a:t>
            </a:r>
            <a:r>
              <a:rPr sz="1900">
                <a:solidFill>
                  <a:srgbClr val="1F2A44"/>
                </a:solidFill>
                <a:latin typeface="Calibri"/>
              </a:rPr>
              <a:t>: pelvis minor çıkışında, diaphragma pelvis ile deri arasında kalan bölge; litotomi pozisyonunda uylukların arasında eşkenar dörtgen alan.</a:t>
            </a:r>
          </a:p>
          <a:p>
            <a:pPr>
              <a:spcAft>
                <a:spcPts val="600"/>
              </a:spcAft>
            </a:pPr>
            <a:r>
              <a:rPr sz="1900">
                <a:solidFill>
                  <a:srgbClr val="1F2A44"/>
                </a:solidFill>
                <a:latin typeface="Calibri"/>
              </a:rPr>
              <a:t>• </a:t>
            </a:r>
            <a:r>
              <a:rPr sz="1900">
                <a:solidFill>
                  <a:srgbClr val="1F2A44"/>
                </a:solidFill>
                <a:latin typeface="Calibri"/>
              </a:rPr>
              <a:t>Derin sınırlar</a:t>
            </a:r>
            <a:r>
              <a:rPr sz="1900">
                <a:solidFill>
                  <a:srgbClr val="1F2A44"/>
                </a:solidFill>
                <a:latin typeface="Calibri"/>
              </a:rPr>
              <a:t> = apertura pelvis inferior: önde symphysis pubica (lig. pubicum inferius), anterolateralde rami ischiopubici, lateralde tubera ischiadica, posterolateralde ligg. sacrotuberalia, arkada os coccygis.</a:t>
            </a:r>
          </a:p>
          <a:p>
            <a:pPr>
              <a:spcAft>
                <a:spcPts val="600"/>
              </a:spcAft>
            </a:pPr>
            <a:r>
              <a:rPr sz="1900">
                <a:solidFill>
                  <a:srgbClr val="1F2A44"/>
                </a:solidFill>
                <a:latin typeface="Calibri"/>
              </a:rPr>
              <a:t>• </a:t>
            </a:r>
            <a:r>
              <a:rPr sz="1900">
                <a:solidFill>
                  <a:srgbClr val="1F2A44"/>
                </a:solidFill>
                <a:latin typeface="Calibri"/>
              </a:rPr>
              <a:t>Yüzeyel sınırlar</a:t>
            </a:r>
            <a:r>
              <a:rPr sz="1900">
                <a:solidFill>
                  <a:srgbClr val="1F2A44"/>
                </a:solidFill>
                <a:latin typeface="Calibri"/>
              </a:rPr>
              <a:t>: önde mons pubis, lateralde uyluk iç yüzü (sulcus genitofemoralis), arkada nates arası yarık (crena analis) üst ucu.</a:t>
            </a:r>
          </a:p>
          <a:p>
            <a:pPr>
              <a:spcAft>
                <a:spcPts val="600"/>
              </a:spcAft>
            </a:pPr>
            <a:r>
              <a:rPr sz="1900">
                <a:solidFill>
                  <a:srgbClr val="1F2A44"/>
                </a:solidFill>
                <a:latin typeface="Calibri"/>
              </a:rPr>
              <a:t>• </a:t>
            </a:r>
            <a:r>
              <a:rPr sz="1900">
                <a:solidFill>
                  <a:srgbClr val="1F2A44"/>
                </a:solidFill>
                <a:latin typeface="Calibri"/>
              </a:rPr>
              <a:t>Tavan</a:t>
            </a:r>
            <a:r>
              <a:rPr sz="1900">
                <a:solidFill>
                  <a:srgbClr val="1F2A44"/>
                </a:solidFill>
                <a:latin typeface="Calibri"/>
              </a:rPr>
              <a:t>: diaphragma pelvis (m. levator ani + m. coccygeus).  </a:t>
            </a:r>
            <a:r>
              <a:rPr sz="1900">
                <a:solidFill>
                  <a:srgbClr val="1F2A44"/>
                </a:solidFill>
                <a:latin typeface="Calibri"/>
              </a:rPr>
              <a:t>Taban</a:t>
            </a:r>
            <a:r>
              <a:rPr sz="1900">
                <a:solidFill>
                  <a:srgbClr val="1F2A44"/>
                </a:solidFill>
                <a:latin typeface="Calibri"/>
              </a:rPr>
              <a:t>: deri ve fascia perinei superficialis.</a:t>
            </a:r>
          </a:p>
          <a:p>
            <a:pPr>
              <a:spcAft>
                <a:spcPts val="600"/>
              </a:spcAft>
            </a:pPr>
            <a:r>
              <a:rPr sz="1900">
                <a:solidFill>
                  <a:srgbClr val="1F2A44"/>
                </a:solidFill>
                <a:latin typeface="Calibri"/>
              </a:rPr>
              <a:t>• Tubera ischiadica'nın ön uçlarını birleştiren çizgi (corpus perineale'den geçer) → </a:t>
            </a:r>
            <a:r>
              <a:rPr sz="1900">
                <a:solidFill>
                  <a:srgbClr val="1F2A44"/>
                </a:solidFill>
                <a:latin typeface="Calibri"/>
              </a:rPr>
              <a:t>regio urogenitalis</a:t>
            </a:r>
            <a:r>
              <a:rPr sz="1900">
                <a:solidFill>
                  <a:srgbClr val="1F2A44"/>
                </a:solidFill>
                <a:latin typeface="Calibri"/>
              </a:rPr>
              <a:t> (önde) ve </a:t>
            </a:r>
            <a:r>
              <a:rPr sz="1900">
                <a:solidFill>
                  <a:srgbClr val="1F2A44"/>
                </a:solidFill>
                <a:latin typeface="Calibri"/>
              </a:rPr>
              <a:t>regio analis</a:t>
            </a:r>
            <a:r>
              <a:rPr sz="1900">
                <a:solidFill>
                  <a:srgbClr val="1F2A44"/>
                </a:solidFill>
                <a:latin typeface="Calibri"/>
              </a:rPr>
              <a:t> (arkada).</a:t>
            </a:r>
          </a:p>
          <a:p>
            <a:pPr>
              <a:spcAft>
                <a:spcPts val="600"/>
              </a:spcAft>
            </a:pPr>
            <a:r>
              <a:rPr sz="1900">
                <a:solidFill>
                  <a:srgbClr val="1F2A44"/>
                </a:solidFill>
                <a:latin typeface="Calibri"/>
              </a:rPr>
              <a:t>• Klinik 'perine' (obstetride): vagina ile anüs arasındaki yumuşak doku = corpus perineale bölgesi.</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Perinenin topografik bölümlenmesi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Litotomi pozisyonu – kaudalden bakış</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PERİNE – GENEL</a:t>
            </a:r>
          </a:p>
        </p:txBody>
      </p:sp>
      <p:sp>
        <p:nvSpPr>
          <p:cNvPr id="7" name="Rectangle 6"/>
          <p:cNvSpPr/>
          <p:nvPr/>
        </p:nvSpPr>
        <p:spPr>
          <a:xfrm>
            <a:off x="274320" y="1097280"/>
            <a:ext cx="6583680" cy="5120640"/>
          </a:xfrm>
          <a:prstGeom prst="rect">
            <a:avLst/>
          </a:prstGeom>
          <a:solidFill>
            <a:srgbClr val="EE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920240" y="1600200"/>
            <a:ext cx="3840480" cy="2194560"/>
          </a:xfrm>
          <a:custGeom>
            <a:avLst/>
            <a:gdLst/>
            <a:ahLst/>
            <a:cxnLst/>
            <a:rect l="l" t="t" r="r" b="b"/>
            <a:pathLst>
              <a:path w="3840480" h="2194560">
                <a:moveTo>
                  <a:pt x="1920240" y="0"/>
                </a:moveTo>
                <a:lnTo>
                  <a:pt x="3840480" y="2194560"/>
                </a:lnTo>
                <a:lnTo>
                  <a:pt x="0" y="2194560"/>
                </a:lnTo>
                <a:close/>
              </a:path>
            </a:pathLst>
          </a:custGeom>
          <a:solidFill>
            <a:srgbClr val="BBD6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1920240" y="3794760"/>
            <a:ext cx="3840480" cy="2103120"/>
          </a:xfrm>
          <a:custGeom>
            <a:avLst/>
            <a:gdLst/>
            <a:ahLst/>
            <a:cxnLst/>
            <a:rect l="l" t="t" r="r" b="b"/>
            <a:pathLst>
              <a:path w="3840480" h="2103120">
                <a:moveTo>
                  <a:pt x="0" y="0"/>
                </a:moveTo>
                <a:lnTo>
                  <a:pt x="3840480" y="0"/>
                </a:lnTo>
                <a:lnTo>
                  <a:pt x="1920240" y="2103120"/>
                </a:lnTo>
                <a:close/>
              </a:path>
            </a:pathLst>
          </a:custGeom>
          <a:solidFill>
            <a:srgbClr val="F3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H="1">
            <a:off x="1920240" y="1600200"/>
            <a:ext cx="1920240" cy="2194560"/>
          </a:xfrm>
          <a:prstGeom prst="line">
            <a:avLst/>
          </a:prstGeom>
          <a:ln w="76200">
            <a:solidFill>
              <a:srgbClr val="D7C49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600200"/>
            <a:ext cx="1920240" cy="2194560"/>
          </a:xfrm>
          <a:prstGeom prst="line">
            <a:avLst/>
          </a:prstGeom>
          <a:ln w="76200">
            <a:solidFill>
              <a:srgbClr val="D7C49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920240" y="3794760"/>
            <a:ext cx="1920240" cy="2103120"/>
          </a:xfrm>
          <a:prstGeom prst="line">
            <a:avLst/>
          </a:prstGeom>
          <a:ln w="76200">
            <a:solidFill>
              <a:srgbClr val="8D6E6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840480" y="3794760"/>
            <a:ext cx="1920240" cy="2103120"/>
          </a:xfrm>
          <a:prstGeom prst="line">
            <a:avLst/>
          </a:prstGeom>
          <a:ln w="76200">
            <a:solidFill>
              <a:srgbClr val="8D6E6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920240" y="3794760"/>
            <a:ext cx="3840480" cy="0"/>
          </a:xfrm>
          <a:prstGeom prst="line">
            <a:avLst/>
          </a:prstGeom>
          <a:ln w="28575">
            <a:solidFill>
              <a:srgbClr val="1F2A44"/>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2103120"/>
            <a:ext cx="2103120" cy="548640"/>
          </a:xfrm>
          <a:prstGeom prst="rect">
            <a:avLst/>
          </a:prstGeom>
          <a:noFill/>
        </p:spPr>
        <p:txBody>
          <a:bodyPr wrap="square" anchor="t" lIns="45720" rIns="45720" tIns="18288" bIns="18288">
            <a:spAutoFit/>
          </a:bodyPr>
          <a:lstStyle/>
          <a:p>
            <a:pPr algn="r"/>
            <a:r>
              <a:rPr sz="1300" b="1" i="0">
                <a:solidFill>
                  <a:srgbClr val="795548"/>
                </a:solidFill>
                <a:latin typeface="Calibri"/>
              </a:rPr>
              <a:t>Ramus ischiopubicus</a:t>
            </a:r>
          </a:p>
        </p:txBody>
      </p:sp>
      <p:sp>
        <p:nvSpPr>
          <p:cNvPr id="16" name="TextBox 15"/>
          <p:cNvSpPr txBox="1"/>
          <p:nvPr/>
        </p:nvSpPr>
        <p:spPr>
          <a:xfrm>
            <a:off x="320040" y="4754880"/>
            <a:ext cx="2011680" cy="548640"/>
          </a:xfrm>
          <a:prstGeom prst="rect">
            <a:avLst/>
          </a:prstGeom>
          <a:noFill/>
        </p:spPr>
        <p:txBody>
          <a:bodyPr wrap="square" anchor="t" lIns="45720" rIns="45720" tIns="18288" bIns="18288">
            <a:spAutoFit/>
          </a:bodyPr>
          <a:lstStyle/>
          <a:p>
            <a:pPr algn="r"/>
            <a:r>
              <a:rPr sz="1300" b="1" i="0">
                <a:solidFill>
                  <a:srgbClr val="795548"/>
                </a:solidFill>
                <a:latin typeface="Calibri"/>
              </a:rPr>
              <a:t>Lig. sacrotuberale</a:t>
            </a:r>
          </a:p>
        </p:txBody>
      </p:sp>
      <p:sp>
        <p:nvSpPr>
          <p:cNvPr id="17" name="Oval 16"/>
          <p:cNvSpPr/>
          <p:nvPr/>
        </p:nvSpPr>
        <p:spPr>
          <a:xfrm>
            <a:off x="3767328" y="1527048"/>
            <a:ext cx="146304" cy="146304"/>
          </a:xfrm>
          <a:prstGeom prst="ellipse">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77640" y="1188720"/>
            <a:ext cx="3108960" cy="365760"/>
          </a:xfrm>
          <a:prstGeom prst="rect">
            <a:avLst/>
          </a:prstGeom>
          <a:noFill/>
        </p:spPr>
        <p:txBody>
          <a:bodyPr wrap="square" anchor="t" lIns="45720" rIns="45720" tIns="18288" bIns="18288">
            <a:spAutoFit/>
          </a:bodyPr>
          <a:lstStyle/>
          <a:p>
            <a:pPr algn="l"/>
            <a:r>
              <a:rPr sz="1400" b="1" i="0">
                <a:solidFill>
                  <a:srgbClr val="1F2A44"/>
                </a:solidFill>
                <a:latin typeface="Calibri"/>
              </a:rPr>
              <a:t>Symphysis pubica (lig. pubicum inferius)</a:t>
            </a:r>
          </a:p>
        </p:txBody>
      </p:sp>
      <p:sp>
        <p:nvSpPr>
          <p:cNvPr id="19" name="Oval 18"/>
          <p:cNvSpPr/>
          <p:nvPr/>
        </p:nvSpPr>
        <p:spPr>
          <a:xfrm>
            <a:off x="1847088" y="3721608"/>
            <a:ext cx="146304" cy="146304"/>
          </a:xfrm>
          <a:prstGeom prst="ellipse">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8" y="3840480"/>
            <a:ext cx="1828800" cy="365760"/>
          </a:xfrm>
          <a:prstGeom prst="rect">
            <a:avLst/>
          </a:prstGeom>
          <a:noFill/>
        </p:spPr>
        <p:txBody>
          <a:bodyPr wrap="square" anchor="t" lIns="45720" rIns="45720" tIns="18288" bIns="18288">
            <a:spAutoFit/>
          </a:bodyPr>
          <a:lstStyle/>
          <a:p>
            <a:pPr algn="r"/>
            <a:r>
              <a:rPr sz="1400" b="1" i="0">
                <a:solidFill>
                  <a:srgbClr val="1F2A44"/>
                </a:solidFill>
                <a:latin typeface="Calibri"/>
              </a:rPr>
              <a:t>Tuber ischiadicum</a:t>
            </a:r>
          </a:p>
        </p:txBody>
      </p:sp>
      <p:sp>
        <p:nvSpPr>
          <p:cNvPr id="21" name="Oval 20"/>
          <p:cNvSpPr/>
          <p:nvPr/>
        </p:nvSpPr>
        <p:spPr>
          <a:xfrm>
            <a:off x="5687568" y="3721608"/>
            <a:ext cx="146304" cy="146304"/>
          </a:xfrm>
          <a:prstGeom prst="ellipse">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70448" y="3840480"/>
            <a:ext cx="1828800" cy="365760"/>
          </a:xfrm>
          <a:prstGeom prst="rect">
            <a:avLst/>
          </a:prstGeom>
          <a:noFill/>
        </p:spPr>
        <p:txBody>
          <a:bodyPr wrap="square" anchor="t" lIns="45720" rIns="45720" tIns="18288" bIns="18288">
            <a:spAutoFit/>
          </a:bodyPr>
          <a:lstStyle/>
          <a:p>
            <a:pPr algn="l"/>
            <a:r>
              <a:rPr sz="1400" b="1" i="0">
                <a:solidFill>
                  <a:srgbClr val="1F2A44"/>
                </a:solidFill>
                <a:latin typeface="Calibri"/>
              </a:rPr>
              <a:t>Tuber ischiadicum</a:t>
            </a:r>
          </a:p>
        </p:txBody>
      </p:sp>
      <p:sp>
        <p:nvSpPr>
          <p:cNvPr id="23" name="Oval 22"/>
          <p:cNvSpPr/>
          <p:nvPr/>
        </p:nvSpPr>
        <p:spPr>
          <a:xfrm>
            <a:off x="3767328" y="5824728"/>
            <a:ext cx="146304" cy="146304"/>
          </a:xfrm>
          <a:prstGeom prst="ellipse">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77640" y="5715000"/>
            <a:ext cx="2194560" cy="365760"/>
          </a:xfrm>
          <a:prstGeom prst="rect">
            <a:avLst/>
          </a:prstGeom>
          <a:noFill/>
        </p:spPr>
        <p:txBody>
          <a:bodyPr wrap="square" anchor="t" lIns="45720" rIns="45720" tIns="18288" bIns="18288">
            <a:spAutoFit/>
          </a:bodyPr>
          <a:lstStyle/>
          <a:p>
            <a:pPr algn="l"/>
            <a:r>
              <a:rPr sz="1400" b="1" i="0">
                <a:solidFill>
                  <a:srgbClr val="1F2A44"/>
                </a:solidFill>
                <a:latin typeface="Calibri"/>
              </a:rPr>
              <a:t>Os coccygis (apex)</a:t>
            </a:r>
          </a:p>
        </p:txBody>
      </p:sp>
      <p:sp>
        <p:nvSpPr>
          <p:cNvPr id="25" name="TextBox 24"/>
          <p:cNvSpPr txBox="1"/>
          <p:nvPr/>
        </p:nvSpPr>
        <p:spPr>
          <a:xfrm>
            <a:off x="2651760" y="2971800"/>
            <a:ext cx="2377440" cy="640080"/>
          </a:xfrm>
          <a:prstGeom prst="rect">
            <a:avLst/>
          </a:prstGeom>
          <a:noFill/>
        </p:spPr>
        <p:txBody>
          <a:bodyPr wrap="square" anchor="t" lIns="45720" rIns="45720" tIns="18288" bIns="18288">
            <a:spAutoFit/>
          </a:bodyPr>
          <a:lstStyle/>
          <a:p>
            <a:pPr algn="ctr"/>
            <a:r>
              <a:rPr sz="1400" b="1" i="0">
                <a:solidFill>
                  <a:srgbClr val="1F5F9E"/>
                </a:solidFill>
                <a:latin typeface="Calibri"/>
              </a:rPr>
              <a:t>Regio urogenitalis</a:t>
            </a:r>
          </a:p>
          <a:p>
            <a:pPr algn="ctr"/>
            <a:r>
              <a:rPr sz="1400" b="1" i="0">
                <a:solidFill>
                  <a:srgbClr val="1F5F9E"/>
                </a:solidFill>
                <a:latin typeface="Calibri"/>
              </a:rPr>
              <a:t>(trigonum urogenitale)</a:t>
            </a:r>
          </a:p>
        </p:txBody>
      </p:sp>
      <p:sp>
        <p:nvSpPr>
          <p:cNvPr id="26" name="TextBox 25"/>
          <p:cNvSpPr txBox="1"/>
          <p:nvPr/>
        </p:nvSpPr>
        <p:spPr>
          <a:xfrm>
            <a:off x="2651760" y="4160520"/>
            <a:ext cx="2377440" cy="640080"/>
          </a:xfrm>
          <a:prstGeom prst="rect">
            <a:avLst/>
          </a:prstGeom>
          <a:noFill/>
        </p:spPr>
        <p:txBody>
          <a:bodyPr wrap="square" anchor="t" lIns="45720" rIns="45720" tIns="18288" bIns="18288">
            <a:spAutoFit/>
          </a:bodyPr>
          <a:lstStyle/>
          <a:p>
            <a:pPr algn="ctr"/>
            <a:r>
              <a:rPr sz="1400" b="1" i="0">
                <a:solidFill>
                  <a:srgbClr val="C0392B"/>
                </a:solidFill>
                <a:latin typeface="Calibri"/>
              </a:rPr>
              <a:t>Regio analis</a:t>
            </a:r>
          </a:p>
          <a:p>
            <a:pPr algn="ctr"/>
            <a:r>
              <a:rPr sz="1400" b="1" i="0">
                <a:solidFill>
                  <a:srgbClr val="C0392B"/>
                </a:solidFill>
                <a:latin typeface="Calibri"/>
              </a:rPr>
              <a:t>(trigonum anale)</a:t>
            </a:r>
          </a:p>
        </p:txBody>
      </p:sp>
      <p:sp>
        <p:nvSpPr>
          <p:cNvPr id="27" name="TextBox 26"/>
          <p:cNvSpPr txBox="1"/>
          <p:nvPr/>
        </p:nvSpPr>
        <p:spPr>
          <a:xfrm>
            <a:off x="4206240" y="3547872"/>
            <a:ext cx="2834640" cy="274320"/>
          </a:xfrm>
          <a:prstGeom prst="rect">
            <a:avLst/>
          </a:prstGeom>
          <a:noFill/>
        </p:spPr>
        <p:txBody>
          <a:bodyPr wrap="square" anchor="t" lIns="45720" rIns="45720" tIns="18288" bIns="18288">
            <a:spAutoFit/>
          </a:bodyPr>
          <a:lstStyle/>
          <a:p>
            <a:pPr algn="l"/>
            <a:r>
              <a:rPr sz="1200" b="0" i="1">
                <a:solidFill>
                  <a:srgbClr val="1F2A44"/>
                </a:solidFill>
                <a:latin typeface="Calibri"/>
              </a:rPr>
              <a:t>linea interischiadica</a:t>
            </a:r>
          </a:p>
        </p:txBody>
      </p:sp>
      <p:sp>
        <p:nvSpPr>
          <p:cNvPr id="28" name="Oval 27"/>
          <p:cNvSpPr/>
          <p:nvPr/>
        </p:nvSpPr>
        <p:spPr>
          <a:xfrm>
            <a:off x="3730752" y="4617720"/>
            <a:ext cx="219456" cy="219456"/>
          </a:xfrm>
          <a:prstGeom prst="ellipse">
            <a:avLst/>
          </a:prstGeom>
          <a:solidFill>
            <a:srgbClr val="8D6E63"/>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4572000"/>
            <a:ext cx="1097280" cy="274320"/>
          </a:xfrm>
          <a:prstGeom prst="rect">
            <a:avLst/>
          </a:prstGeom>
          <a:noFill/>
        </p:spPr>
        <p:txBody>
          <a:bodyPr wrap="square" anchor="t" lIns="45720" rIns="45720" tIns="18288" bIns="18288">
            <a:spAutoFit/>
          </a:bodyPr>
          <a:lstStyle/>
          <a:p>
            <a:pPr algn="l"/>
            <a:r>
              <a:rPr sz="1200" b="0" i="1">
                <a:solidFill>
                  <a:srgbClr val="1F2A44"/>
                </a:solidFill>
                <a:latin typeface="Calibri"/>
              </a:rPr>
              <a:t>anus</a:t>
            </a:r>
          </a:p>
        </p:txBody>
      </p:sp>
      <p:sp>
        <p:nvSpPr>
          <p:cNvPr id="30" name="Oval 29"/>
          <p:cNvSpPr/>
          <p:nvPr/>
        </p:nvSpPr>
        <p:spPr>
          <a:xfrm>
            <a:off x="3767328" y="3721608"/>
            <a:ext cx="146304" cy="146304"/>
          </a:xfrm>
          <a:prstGeom prst="ellipse">
            <a:avLst/>
          </a:prstGeom>
          <a:solidFill>
            <a:srgbClr val="1F2A4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0" y="3840480"/>
            <a:ext cx="1463040" cy="274320"/>
          </a:xfrm>
          <a:prstGeom prst="rect">
            <a:avLst/>
          </a:prstGeom>
          <a:noFill/>
        </p:spPr>
        <p:txBody>
          <a:bodyPr wrap="square" anchor="t" lIns="45720" rIns="45720" tIns="18288" bIns="18288">
            <a:spAutoFit/>
          </a:bodyPr>
          <a:lstStyle/>
          <a:p>
            <a:pPr algn="ctr"/>
            <a:r>
              <a:rPr sz="1100" b="0" i="1">
                <a:solidFill>
                  <a:srgbClr val="1F2A44"/>
                </a:solidFill>
                <a:latin typeface="Calibri"/>
              </a:rPr>
              <a:t>corpus perineale</a:t>
            </a:r>
          </a:p>
        </p:txBody>
      </p:sp>
      <p:sp>
        <p:nvSpPr>
          <p:cNvPr id="32" name="TextBox 31"/>
          <p:cNvSpPr txBox="1"/>
          <p:nvPr/>
        </p:nvSpPr>
        <p:spPr>
          <a:xfrm>
            <a:off x="7132320" y="1188720"/>
            <a:ext cx="4800600" cy="5120640"/>
          </a:xfrm>
          <a:prstGeom prst="rect">
            <a:avLst/>
          </a:prstGeom>
          <a:noFill/>
        </p:spPr>
        <p:txBody>
          <a:bodyPr wrap="square">
            <a:spAutoFit/>
          </a:bodyPr>
          <a:lstStyle/>
          <a:p>
            <a:pPr>
              <a:spcAft>
                <a:spcPts val="600"/>
              </a:spcAft>
            </a:pPr>
            <a:r>
              <a:rPr sz="1600">
                <a:solidFill>
                  <a:srgbClr val="1F2A44"/>
                </a:solidFill>
                <a:latin typeface="Calibri"/>
              </a:rPr>
              <a:t>• İki üçgen aynı düzlemde değildir: </a:t>
            </a:r>
            <a:r>
              <a:rPr sz="1600">
                <a:solidFill>
                  <a:srgbClr val="1F2A44"/>
                </a:solidFill>
                <a:latin typeface="Calibri"/>
              </a:rPr>
              <a:t>regio urogenitalis</a:t>
            </a:r>
            <a:r>
              <a:rPr sz="1600">
                <a:solidFill>
                  <a:srgbClr val="1F2A44"/>
                </a:solidFill>
                <a:latin typeface="Calibri"/>
              </a:rPr>
              <a:t> ≈horizontal, </a:t>
            </a:r>
            <a:r>
              <a:rPr sz="1600">
                <a:solidFill>
                  <a:srgbClr val="1F2A44"/>
                </a:solidFill>
                <a:latin typeface="Calibri"/>
              </a:rPr>
              <a:t>regio analis</a:t>
            </a:r>
            <a:r>
              <a:rPr sz="1600">
                <a:solidFill>
                  <a:srgbClr val="1F2A44"/>
                </a:solidFill>
                <a:latin typeface="Calibri"/>
              </a:rPr>
              <a:t> öne-aşağı eğik; aralarındaki açı ≈ 'çatı' biçimi.</a:t>
            </a:r>
          </a:p>
          <a:p>
            <a:pPr>
              <a:spcAft>
                <a:spcPts val="600"/>
              </a:spcAft>
            </a:pPr>
            <a:r>
              <a:rPr sz="1600">
                <a:solidFill>
                  <a:srgbClr val="1F2A44"/>
                </a:solidFill>
                <a:latin typeface="Calibri"/>
              </a:rPr>
              <a:t>• </a:t>
            </a:r>
            <a:r>
              <a:rPr sz="1600">
                <a:solidFill>
                  <a:srgbClr val="1F2A44"/>
                </a:solidFill>
                <a:latin typeface="Calibri"/>
              </a:rPr>
              <a:t>Regio urogenitalis</a:t>
            </a:r>
            <a:r>
              <a:rPr sz="1600">
                <a:solidFill>
                  <a:srgbClr val="1F2A44"/>
                </a:solidFill>
                <a:latin typeface="Calibri"/>
              </a:rPr>
              <a:t>: membrana perinei ile örtülü; urethra (♀ + vagina) delip geçer; dış genital organların kökü.</a:t>
            </a:r>
          </a:p>
          <a:p>
            <a:pPr>
              <a:spcAft>
                <a:spcPts val="600"/>
              </a:spcAft>
            </a:pPr>
            <a:r>
              <a:rPr sz="1600">
                <a:solidFill>
                  <a:srgbClr val="1F2A44"/>
                </a:solidFill>
                <a:latin typeface="Calibri"/>
              </a:rPr>
              <a:t>• </a:t>
            </a:r>
            <a:r>
              <a:rPr sz="1600">
                <a:solidFill>
                  <a:srgbClr val="1F2A44"/>
                </a:solidFill>
                <a:latin typeface="Calibri"/>
              </a:rPr>
              <a:t>Regio analis</a:t>
            </a:r>
            <a:r>
              <a:rPr sz="1600">
                <a:solidFill>
                  <a:srgbClr val="1F2A44"/>
                </a:solidFill>
                <a:latin typeface="Calibri"/>
              </a:rPr>
              <a:t>: canalis analis + m. sphincter ani externus ve iki yanda </a:t>
            </a:r>
            <a:r>
              <a:rPr sz="1600">
                <a:solidFill>
                  <a:srgbClr val="1F2A44"/>
                </a:solidFill>
                <a:latin typeface="Calibri"/>
              </a:rPr>
              <a:t>fossa ischioanalis</a:t>
            </a:r>
            <a:r>
              <a:rPr sz="1600">
                <a:solidFill>
                  <a:srgbClr val="1F2A44"/>
                </a:solidFill>
                <a:latin typeface="Calibri"/>
              </a:rPr>
              <a:t>.</a:t>
            </a:r>
          </a:p>
          <a:p>
            <a:pPr>
              <a:spcAft>
                <a:spcPts val="600"/>
              </a:spcAft>
            </a:pPr>
            <a:r>
              <a:rPr sz="1600">
                <a:solidFill>
                  <a:srgbClr val="1F2A44"/>
                </a:solidFill>
                <a:latin typeface="Calibri"/>
              </a:rPr>
              <a:t>• Merkezde </a:t>
            </a:r>
            <a:r>
              <a:rPr sz="1600">
                <a:solidFill>
                  <a:srgbClr val="1F2A44"/>
                </a:solidFill>
                <a:latin typeface="Calibri"/>
              </a:rPr>
              <a:t>corpus perineale</a:t>
            </a:r>
            <a:r>
              <a:rPr sz="1600">
                <a:solidFill>
                  <a:srgbClr val="1F2A44"/>
                </a:solidFill>
                <a:latin typeface="Calibri"/>
              </a:rPr>
              <a:t> (centrum tendineum perinei): iki üçgenin ve kas sistemlerinin birleşme noktası.</a:t>
            </a:r>
          </a:p>
          <a:p>
            <a:pPr>
              <a:spcAft>
                <a:spcPts val="600"/>
              </a:spcAft>
            </a:pPr>
            <a:r>
              <a:rPr sz="1600">
                <a:solidFill>
                  <a:srgbClr val="1F2A44"/>
                </a:solidFill>
                <a:latin typeface="Calibri"/>
              </a:rPr>
              <a:t>• Yüzey işaretleri: raphe perinei (♂ raphe scroti ve raphe penis ile devam eder), frenulum labiorum pudendi / commissura labiorum posterior (♀).</a:t>
            </a:r>
          </a:p>
        </p:txBody>
      </p:sp>
      <p:cxnSp>
        <p:nvCxnSpPr>
          <p:cNvPr id="33" name="Connector 3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Şema: bu projede standart anatomi bilgisinden çizilmiştir (gerçek görüntü değildir).</a:t>
            </a:r>
          </a:p>
        </p:txBody>
      </p:sp>
      <p:sp>
        <p:nvSpPr>
          <p:cNvPr id="35" name="TextBox 34"/>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Perinenin sınırları – kadavrada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Erkek perinesi, kaudalden (litotomiye benzer) bakış; tela subcutanea kaldırılmış</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PERİNE – GENEL</a:t>
            </a:r>
          </a:p>
        </p:txBody>
      </p:sp>
      <p:pic>
        <p:nvPicPr>
          <p:cNvPr id="7" name="Picture 6" descr="CA-34-272-g001.jpg"/>
          <p:cNvPicPr>
            <a:picLocks noChangeAspect="1"/>
          </p:cNvPicPr>
          <p:nvPr/>
        </p:nvPicPr>
        <p:blipFill>
          <a:blip r:embed="rId2"/>
          <a:stretch>
            <a:fillRect/>
          </a:stretch>
        </p:blipFill>
        <p:spPr>
          <a:xfrm>
            <a:off x="3333338" y="1097280"/>
            <a:ext cx="5433578" cy="3739896"/>
          </a:xfrm>
          <a:prstGeom prst="rect">
            <a:avLst/>
          </a:prstGeom>
        </p:spPr>
      </p:pic>
      <p:sp>
        <p:nvSpPr>
          <p:cNvPr id="8" name="TextBox 7"/>
          <p:cNvSpPr txBox="1"/>
          <p:nvPr/>
        </p:nvSpPr>
        <p:spPr>
          <a:xfrm>
            <a:off x="274320" y="1570257"/>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bulbospongiosus</a:t>
            </a:r>
          </a:p>
        </p:txBody>
      </p:sp>
      <p:cxnSp>
        <p:nvCxnSpPr>
          <p:cNvPr id="9" name="Connector 8"/>
          <p:cNvCxnSpPr/>
          <p:nvPr/>
        </p:nvCxnSpPr>
        <p:spPr>
          <a:xfrm>
            <a:off x="3017520" y="1725705"/>
            <a:ext cx="1925199"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96999" y="167998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137372"/>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Ramus ischiopubicus</a:t>
            </a:r>
          </a:p>
        </p:txBody>
      </p:sp>
      <p:cxnSp>
        <p:nvCxnSpPr>
          <p:cNvPr id="12" name="Connector 11"/>
          <p:cNvCxnSpPr/>
          <p:nvPr/>
        </p:nvCxnSpPr>
        <p:spPr>
          <a:xfrm>
            <a:off x="3017520" y="2292820"/>
            <a:ext cx="97489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946698" y="224710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521420"/>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ischiocavernosus</a:t>
            </a:r>
          </a:p>
        </p:txBody>
      </p:sp>
      <p:cxnSp>
        <p:nvCxnSpPr>
          <p:cNvPr id="15" name="Connector 14"/>
          <p:cNvCxnSpPr/>
          <p:nvPr/>
        </p:nvCxnSpPr>
        <p:spPr>
          <a:xfrm flipV="1">
            <a:off x="3017520" y="2392448"/>
            <a:ext cx="1319765" cy="28442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291565" y="234672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2905468"/>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transversus perinei superf.</a:t>
            </a:r>
          </a:p>
        </p:txBody>
      </p:sp>
      <p:cxnSp>
        <p:nvCxnSpPr>
          <p:cNvPr id="18" name="Connector 17"/>
          <p:cNvCxnSpPr/>
          <p:nvPr/>
        </p:nvCxnSpPr>
        <p:spPr>
          <a:xfrm flipV="1">
            <a:off x="3017520" y="2852272"/>
            <a:ext cx="1373411" cy="20864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345211" y="280655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3289516"/>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Tuber ischiadicum</a:t>
            </a:r>
          </a:p>
        </p:txBody>
      </p:sp>
      <p:cxnSp>
        <p:nvCxnSpPr>
          <p:cNvPr id="21" name="Connector 20"/>
          <p:cNvCxnSpPr/>
          <p:nvPr/>
        </p:nvCxnSpPr>
        <p:spPr>
          <a:xfrm flipV="1">
            <a:off x="3017520" y="2967228"/>
            <a:ext cx="530402" cy="47773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502202" y="292150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3673564"/>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sphincter ani externus</a:t>
            </a:r>
          </a:p>
        </p:txBody>
      </p:sp>
      <p:cxnSp>
        <p:nvCxnSpPr>
          <p:cNvPr id="24" name="Connector 23"/>
          <p:cNvCxnSpPr/>
          <p:nvPr/>
        </p:nvCxnSpPr>
        <p:spPr>
          <a:xfrm flipV="1">
            <a:off x="3017520" y="3404060"/>
            <a:ext cx="1457712" cy="42495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429512" y="335834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4057612"/>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Anus</a:t>
            </a:r>
          </a:p>
        </p:txBody>
      </p:sp>
      <p:cxnSp>
        <p:nvCxnSpPr>
          <p:cNvPr id="27" name="Connector 26"/>
          <p:cNvCxnSpPr/>
          <p:nvPr/>
        </p:nvCxnSpPr>
        <p:spPr>
          <a:xfrm flipV="1">
            <a:off x="3017520" y="3925193"/>
            <a:ext cx="1810244" cy="28786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782044" y="387947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4444152"/>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Os coccygis</a:t>
            </a:r>
          </a:p>
        </p:txBody>
      </p:sp>
      <p:cxnSp>
        <p:nvCxnSpPr>
          <p:cNvPr id="30" name="Connector 29"/>
          <p:cNvCxnSpPr/>
          <p:nvPr/>
        </p:nvCxnSpPr>
        <p:spPr>
          <a:xfrm>
            <a:off x="3017520" y="4599600"/>
            <a:ext cx="188688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858681" y="455388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6120" y="4855464"/>
            <a:ext cx="560801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1 – Muro S. ve ark., 2020 (PMC7898478, CC BY-NC-ND)</a:t>
            </a:r>
          </a:p>
        </p:txBody>
      </p:sp>
      <p:sp>
        <p:nvSpPr>
          <p:cNvPr id="33" name="Rectangle 32"/>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Kemik-bağ çerçeve: symphysis – rami ischiopubici – tubera ischiadica – (ligg. sacrotuberalia) – os coccygis; tubera arası çizgi m. transversus perinei superficialis hizasından geçer.</a:t>
            </a:r>
          </a:p>
          <a:p>
            <a:pPr>
              <a:spcAft>
                <a:spcPts val="200"/>
              </a:spcAft>
            </a:pPr>
            <a:r>
              <a:rPr sz="1500">
                <a:solidFill>
                  <a:srgbClr val="1F2A44"/>
                </a:solidFill>
                <a:latin typeface="Calibri"/>
              </a:rPr>
              <a:t>• Önde regio urogenitalis (m. bulbospongiosus, m. ischiocavernosus), arkada regio analis (m. sphincter ani externus, anus).</a:t>
            </a:r>
          </a:p>
        </p:txBody>
      </p:sp>
      <p:sp>
        <p:nvSpPr>
          <p:cNvPr id="35" name="TextBox 34"/>
          <p:cNvSpPr txBox="1"/>
          <p:nvPr/>
        </p:nvSpPr>
        <p:spPr>
          <a:xfrm>
            <a:off x="274320" y="6108192"/>
            <a:ext cx="7315200" cy="274320"/>
          </a:xfrm>
          <a:prstGeom prst="rect">
            <a:avLst/>
          </a:prstGeom>
          <a:noFill/>
        </p:spPr>
        <p:txBody>
          <a:bodyPr wrap="square" anchor="t" lIns="45720" rIns="45720" tIns="18288" bIns="18288">
            <a:spAutoFit/>
          </a:bodyPr>
          <a:lstStyle/>
          <a:p>
            <a:pPr algn="l"/>
            <a:r>
              <a:rPr sz="900" b="0" i="1">
                <a:solidFill>
                  <a:srgbClr val="C0392B"/>
                </a:solidFill>
                <a:latin typeface="Calibri"/>
              </a:rPr>
              <a:t>Lisans: CC BY-NC-ND – yalnızca ticari olmayan eğitim amaçlı; görsel değiştirilmeden (kırpılmadan) kullanılmıştır.</a:t>
            </a:r>
          </a:p>
        </p:txBody>
      </p:sp>
      <p:cxnSp>
        <p:nvCxnSpPr>
          <p:cNvPr id="36" name="Connector 3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Tsukada Y., Ito M. et al. The series of smooth muscle structures in the pelvic floors of men: Dynamic coordination of smooth and skeletal muscles. Clin Anat. 2020 Dec 30;34(2):272–82. doi: 10.1002/ca.23713 PMCID: PMC7898478. Lisans: CC BY-NC-ND.</a:t>
            </a:r>
          </a:p>
        </p:txBody>
      </p:sp>
      <p:sp>
        <p:nvSpPr>
          <p:cNvPr id="38" name="TextBox 3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Corpus perineale (centrum tendineum perinei)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Fibromusküler düğüm noktası – obstetrik ve kolorektal cerrahinin merkezi</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PERİNE – GENEL</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Konum: ♂ bulbus penis ile canalis analis arasında; ♀ vestibulum vaginae arka kenarı (fourchette) ile anüs arasında, ≈2–4 cm piramidal kitle.</a:t>
            </a:r>
          </a:p>
          <a:p>
            <a:pPr>
              <a:spcAft>
                <a:spcPts val="600"/>
              </a:spcAft>
            </a:pPr>
            <a:r>
              <a:rPr sz="1900">
                <a:solidFill>
                  <a:srgbClr val="1F2A44"/>
                </a:solidFill>
                <a:latin typeface="Calibri"/>
              </a:rPr>
              <a:t>• Bağlanan yapılar: </a:t>
            </a:r>
            <a:r>
              <a:rPr sz="1900">
                <a:solidFill>
                  <a:srgbClr val="1F2A44"/>
                </a:solidFill>
                <a:latin typeface="Calibri"/>
              </a:rPr>
              <a:t>m. bulbospongiosus</a:t>
            </a:r>
            <a:r>
              <a:rPr sz="1900">
                <a:solidFill>
                  <a:srgbClr val="1F2A44"/>
                </a:solidFill>
                <a:latin typeface="Calibri"/>
              </a:rPr>
              <a:t>, </a:t>
            </a:r>
            <a:r>
              <a:rPr sz="1900">
                <a:solidFill>
                  <a:srgbClr val="1F2A44"/>
                </a:solidFill>
                <a:latin typeface="Calibri"/>
              </a:rPr>
              <a:t>mm. transversi perinei superficialis et profundus</a:t>
            </a:r>
            <a:r>
              <a:rPr sz="1900">
                <a:solidFill>
                  <a:srgbClr val="1F2A44"/>
                </a:solidFill>
                <a:latin typeface="Calibri"/>
              </a:rPr>
              <a:t>, </a:t>
            </a:r>
            <a:r>
              <a:rPr sz="1900">
                <a:solidFill>
                  <a:srgbClr val="1F2A44"/>
                </a:solidFill>
                <a:latin typeface="Calibri"/>
              </a:rPr>
              <a:t>m. sphincter ani externus</a:t>
            </a:r>
            <a:r>
              <a:rPr sz="1900">
                <a:solidFill>
                  <a:srgbClr val="1F2A44"/>
                </a:solidFill>
                <a:latin typeface="Calibri"/>
              </a:rPr>
              <a:t> (yüzeyel parça), m. puboperinealis (levator ani), m. sphincter urethrovaginalis, </a:t>
            </a:r>
            <a:r>
              <a:rPr sz="1900">
                <a:solidFill>
                  <a:srgbClr val="1F2A44"/>
                </a:solidFill>
                <a:latin typeface="Calibri"/>
              </a:rPr>
              <a:t>membrana perinei</a:t>
            </a:r>
            <a:r>
              <a:rPr sz="1900">
                <a:solidFill>
                  <a:srgbClr val="1F2A44"/>
                </a:solidFill>
                <a:latin typeface="Calibri"/>
              </a:rPr>
              <a:t> arka kenarı ve Colles fasyası; düz kas lifleri (m. rectourethralis ♂).</a:t>
            </a:r>
          </a:p>
          <a:p>
            <a:pPr>
              <a:spcAft>
                <a:spcPts val="600"/>
              </a:spcAft>
            </a:pPr>
            <a:r>
              <a:rPr sz="1900">
                <a:solidFill>
                  <a:srgbClr val="1F2A44"/>
                </a:solidFill>
                <a:latin typeface="Calibri"/>
              </a:rPr>
              <a:t>• Kadında üç katlı bir yapı olarak tanımlanır (yüzeyel kaslar – membrana perinei – derin levator bağlantıları) ve vaginanın distal desteğidir (</a:t>
            </a:r>
            <a:r>
              <a:rPr sz="1900">
                <a:solidFill>
                  <a:srgbClr val="1F2A44"/>
                </a:solidFill>
                <a:latin typeface="Calibri"/>
              </a:rPr>
              <a:t>DeLancey seviye III</a:t>
            </a:r>
            <a:r>
              <a:rPr sz="1900">
                <a:solidFill>
                  <a:srgbClr val="1F2A44"/>
                </a:solidFill>
                <a:latin typeface="Calibri"/>
              </a:rPr>
              <a:t>).</a:t>
            </a:r>
          </a:p>
          <a:p>
            <a:pPr>
              <a:spcAft>
                <a:spcPts val="600"/>
              </a:spcAft>
            </a:pPr>
            <a:r>
              <a:rPr sz="1900">
                <a:solidFill>
                  <a:srgbClr val="1F2A44"/>
                </a:solidFill>
                <a:latin typeface="Calibri"/>
              </a:rPr>
              <a:t>• Erkekte m. rectourethralis ve corpus perineale, radikal perineal prostatektomi ve abdominoperineal rezeksiyonda kritik disseksiyon düzlemidir.</a:t>
            </a:r>
          </a:p>
          <a:p>
            <a:pPr>
              <a:spcAft>
                <a:spcPts val="600"/>
              </a:spcAft>
            </a:pPr>
            <a:r>
              <a:rPr sz="1900">
                <a:solidFill>
                  <a:srgbClr val="1F2A44"/>
                </a:solidFill>
                <a:latin typeface="Calibri"/>
              </a:rPr>
              <a:t>• </a:t>
            </a:r>
            <a:r>
              <a:rPr sz="1900">
                <a:solidFill>
                  <a:srgbClr val="1F2A44"/>
                </a:solidFill>
                <a:latin typeface="Calibri"/>
              </a:rPr>
              <a:t>Klinik</a:t>
            </a:r>
            <a:r>
              <a:rPr sz="1900">
                <a:solidFill>
                  <a:srgbClr val="1F2A44"/>
                </a:solidFill>
                <a:latin typeface="Calibri"/>
              </a:rPr>
              <a:t>: obstetrik perine yırtıkları (1.–4. derece; 3a/3b/3c sphincter ani externus/internus tutulumuna göre), </a:t>
            </a:r>
            <a:r>
              <a:rPr sz="1900">
                <a:solidFill>
                  <a:srgbClr val="1F2A44"/>
                </a:solidFill>
                <a:latin typeface="Calibri"/>
              </a:rPr>
              <a:t>episiotomi</a:t>
            </a:r>
            <a:r>
              <a:rPr sz="1900">
                <a:solidFill>
                  <a:srgbClr val="1F2A44"/>
                </a:solidFill>
                <a:latin typeface="Calibri"/>
              </a:rPr>
              <a:t> (mediolateral – sphincter yaralanmasını azaltır; median – corpus perineale'yi keser), perineal hipermobilite → rektosel.</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Woodman PJ, Graney DO. Clin Anat 2002;15:321–334 • RCOG Green-top Guideline No.29 (2015) – yırtık sınıflaması.</a:t>
            </a:r>
          </a:p>
        </p:txBody>
      </p:sp>
      <p:sp>
        <p:nvSpPr>
          <p:cNvPr id="10" name="TextBox 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Corpus perineale ve episiotomi anatomisi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Kadın kadavrası, dıştan görünüm (Garner ve ark. 2021)</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PERİNE – GENEL</a:t>
            </a:r>
          </a:p>
        </p:txBody>
      </p:sp>
      <p:pic>
        <p:nvPicPr>
          <p:cNvPr id="7" name="Picture 6" descr="diagnostics-11-00221-g002_60_540_772_1192.jpg"/>
          <p:cNvPicPr>
            <a:picLocks noChangeAspect="1"/>
          </p:cNvPicPr>
          <p:nvPr/>
        </p:nvPicPr>
        <p:blipFill>
          <a:blip r:embed="rId2"/>
          <a:stretch>
            <a:fillRect/>
          </a:stretch>
        </p:blipFill>
        <p:spPr>
          <a:xfrm>
            <a:off x="4053818" y="1097280"/>
            <a:ext cx="4084058" cy="3739896"/>
          </a:xfrm>
          <a:prstGeom prst="rect">
            <a:avLst/>
          </a:prstGeom>
        </p:spPr>
      </p:pic>
      <p:sp>
        <p:nvSpPr>
          <p:cNvPr id="8" name="TextBox 7"/>
          <p:cNvSpPr txBox="1"/>
          <p:nvPr/>
        </p:nvSpPr>
        <p:spPr>
          <a:xfrm>
            <a:off x="274320" y="1676044"/>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Ostium vaginae</a:t>
            </a:r>
          </a:p>
        </p:txBody>
      </p:sp>
      <p:cxnSp>
        <p:nvCxnSpPr>
          <p:cNvPr id="9" name="Connector 8"/>
          <p:cNvCxnSpPr/>
          <p:nvPr/>
        </p:nvCxnSpPr>
        <p:spPr>
          <a:xfrm>
            <a:off x="3200400" y="1831492"/>
            <a:ext cx="243082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585508" y="178577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3379647"/>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Bulbus vestibuli (margo posterior)</a:t>
            </a:r>
          </a:p>
        </p:txBody>
      </p:sp>
      <p:cxnSp>
        <p:nvCxnSpPr>
          <p:cNvPr id="12" name="Connector 11"/>
          <p:cNvCxnSpPr/>
          <p:nvPr/>
        </p:nvCxnSpPr>
        <p:spPr>
          <a:xfrm>
            <a:off x="3200400" y="3535095"/>
            <a:ext cx="1799864"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954544" y="348937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763695"/>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Corpus perineale</a:t>
            </a:r>
          </a:p>
        </p:txBody>
      </p:sp>
      <p:cxnSp>
        <p:nvCxnSpPr>
          <p:cNvPr id="15" name="Connector 14"/>
          <p:cNvCxnSpPr/>
          <p:nvPr/>
        </p:nvCxnSpPr>
        <p:spPr>
          <a:xfrm flipV="1">
            <a:off x="3200400" y="3764537"/>
            <a:ext cx="2889711" cy="15460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044391" y="371881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228581"/>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Anus</a:t>
            </a:r>
          </a:p>
        </p:txBody>
      </p:sp>
      <p:cxnSp>
        <p:nvCxnSpPr>
          <p:cNvPr id="18" name="Connector 17"/>
          <p:cNvCxnSpPr/>
          <p:nvPr/>
        </p:nvCxnSpPr>
        <p:spPr>
          <a:xfrm>
            <a:off x="3200400" y="4384029"/>
            <a:ext cx="274631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900990" y="433830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29000" y="4855464"/>
            <a:ext cx="533369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2 – Garner D. K. ve ark., 2021 (PMC7913006, CC BY)</a:t>
            </a:r>
          </a:p>
        </p:txBody>
      </p:sp>
      <p:sp>
        <p:nvSpPr>
          <p:cNvPr id="21" name="Rectangle 20"/>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Median insizyon 47 kadavranın %100'ünde corpus perineale'yi kesti; %14,3'ünde m. sphincter ani externus'un pars subcutanea'sına ulaştı.</a:t>
            </a:r>
          </a:p>
          <a:p>
            <a:pPr>
              <a:spcAft>
                <a:spcPts val="200"/>
              </a:spcAft>
            </a:pPr>
            <a:r>
              <a:rPr sz="1500">
                <a:solidFill>
                  <a:srgbClr val="1F2A44"/>
                </a:solidFill>
                <a:latin typeface="Calibri"/>
              </a:rPr>
              <a:t>• Düşük açılı mediolateral insizyonda %75 m. bulbospongiosus, gl. vestibularis major ve nn. labiales posteriores insizyon düzlemindeydi.</a:t>
            </a:r>
          </a:p>
        </p:txBody>
      </p:sp>
      <p:cxnSp>
        <p:nvCxnSpPr>
          <p:cNvPr id="23" name="Connector 2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Garner D. K., Patel A. B., Hung J. et al. Midline and Mediolateral Episiotomy: Risk Assessment Based on Clinical Anatomy. Diagnostics (Basel). 2021 Feb 2;11(2):221. doi: 10.3390/diagnostics11020221 PMCID: PMC7913006. Lisans: CC BY.</a:t>
            </a:r>
          </a:p>
        </p:txBody>
      </p:sp>
      <p:sp>
        <p:nvSpPr>
          <p:cNvPr id="25" name="TextBox 24"/>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486400" cy="457200"/>
          </a:xfrm>
          <a:prstGeom prst="rect">
            <a:avLst/>
          </a:prstGeom>
          <a:noFill/>
        </p:spPr>
        <p:txBody>
          <a:bodyPr wrap="square" anchor="t" lIns="45720" rIns="45720" tIns="18288" bIns="18288">
            <a:spAutoFit/>
          </a:bodyPr>
          <a:lstStyle/>
          <a:p>
            <a:pPr algn="l"/>
            <a:r>
              <a:rPr sz="2000" b="1" i="0">
                <a:solidFill>
                  <a:srgbClr val="C8D1E6"/>
                </a:solidFill>
                <a:latin typeface="Calibri"/>
              </a:rPr>
              <a:t>BÖLÜM 3</a:t>
            </a:r>
          </a:p>
        </p:txBody>
      </p:sp>
      <p:sp>
        <p:nvSpPr>
          <p:cNvPr id="4" name="TextBox 3"/>
          <p:cNvSpPr txBox="1"/>
          <p:nvPr/>
        </p:nvSpPr>
        <p:spPr>
          <a:xfrm>
            <a:off x="548640" y="1234440"/>
            <a:ext cx="5669280" cy="1371600"/>
          </a:xfrm>
          <a:prstGeom prst="rect">
            <a:avLst/>
          </a:prstGeom>
          <a:noFill/>
        </p:spPr>
        <p:txBody>
          <a:bodyPr wrap="square" anchor="t" lIns="45720" rIns="45720" tIns="18288" bIns="18288">
            <a:spAutoFit/>
          </a:bodyPr>
          <a:lstStyle/>
          <a:p>
            <a:pPr algn="l"/>
            <a:r>
              <a:rPr sz="4000" b="1" i="0">
                <a:solidFill>
                  <a:srgbClr val="FFFFFF"/>
                </a:solidFill>
                <a:latin typeface="Calibri"/>
              </a:rPr>
              <a:t>Regio urogenitalis</a:t>
            </a:r>
          </a:p>
        </p:txBody>
      </p:sp>
      <p:sp>
        <p:nvSpPr>
          <p:cNvPr id="5" name="TextBox 4"/>
          <p:cNvSpPr txBox="1"/>
          <p:nvPr/>
        </p:nvSpPr>
        <p:spPr>
          <a:xfrm>
            <a:off x="548640" y="2697480"/>
            <a:ext cx="5486400" cy="640080"/>
          </a:xfrm>
          <a:prstGeom prst="rect">
            <a:avLst/>
          </a:prstGeom>
          <a:noFill/>
        </p:spPr>
        <p:txBody>
          <a:bodyPr wrap="square" anchor="t" lIns="45720" rIns="45720" tIns="18288" bIns="18288">
            <a:spAutoFit/>
          </a:bodyPr>
          <a:lstStyle/>
          <a:p>
            <a:pPr algn="l"/>
            <a:r>
              <a:rPr sz="1700" b="0" i="1">
                <a:solidFill>
                  <a:srgbClr val="C8D1E6"/>
                </a:solidFill>
                <a:latin typeface="Calibri"/>
              </a:rPr>
              <a:t>Perine fasyaları, aralıklar, dış genital organ kökleri</a:t>
            </a:r>
          </a:p>
        </p:txBody>
      </p:sp>
      <p:sp>
        <p:nvSpPr>
          <p:cNvPr id="6" name="TextBox 5"/>
          <p:cNvSpPr txBox="1"/>
          <p:nvPr/>
        </p:nvSpPr>
        <p:spPr>
          <a:xfrm>
            <a:off x="548640" y="3429000"/>
            <a:ext cx="5577840" cy="2926080"/>
          </a:xfrm>
          <a:prstGeom prst="rect">
            <a:avLst/>
          </a:prstGeom>
          <a:noFill/>
        </p:spPr>
        <p:txBody>
          <a:bodyPr wrap="square">
            <a:spAutoFit/>
          </a:bodyPr>
          <a:lstStyle/>
          <a:p>
            <a:pPr>
              <a:spcAft>
                <a:spcPts val="600"/>
              </a:spcAft>
            </a:pPr>
            <a:r>
              <a:rPr sz="1700">
                <a:solidFill>
                  <a:srgbClr val="FFFFFF"/>
                </a:solidFill>
                <a:latin typeface="Calibri"/>
              </a:rPr>
              <a:t>• Katmanlar: Colles – Gallaudet – membrana perinei</a:t>
            </a:r>
          </a:p>
          <a:p>
            <a:pPr>
              <a:spcAft>
                <a:spcPts val="600"/>
              </a:spcAft>
            </a:pPr>
            <a:r>
              <a:rPr sz="1700">
                <a:solidFill>
                  <a:srgbClr val="FFFFFF"/>
                </a:solidFill>
                <a:latin typeface="Calibri"/>
              </a:rPr>
              <a:t>• Spatium perinei superficiale / profundum</a:t>
            </a:r>
          </a:p>
          <a:p>
            <a:pPr>
              <a:spcAft>
                <a:spcPts val="600"/>
              </a:spcAft>
            </a:pPr>
            <a:r>
              <a:rPr sz="1700">
                <a:solidFill>
                  <a:srgbClr val="FFFFFF"/>
                </a:solidFill>
                <a:latin typeface="Calibri"/>
              </a:rPr>
              <a:t>• ♂ radix penis, ♀ clitoris ve bulbi vestibuli</a:t>
            </a:r>
          </a:p>
          <a:p>
            <a:pPr>
              <a:spcAft>
                <a:spcPts val="600"/>
              </a:spcAft>
            </a:pPr>
            <a:r>
              <a:rPr sz="1700">
                <a:solidFill>
                  <a:srgbClr val="FFFFFF"/>
                </a:solidFill>
                <a:latin typeface="Calibri"/>
              </a:rPr>
              <a:t>• Kaslar, klinik</a:t>
            </a:r>
          </a:p>
        </p:txBody>
      </p:sp>
      <p:pic>
        <p:nvPicPr>
          <p:cNvPr id="7" name="Picture 6" descr="41598_2025_9585_Fig1_HTML.jpg"/>
          <p:cNvPicPr>
            <a:picLocks noChangeAspect="1"/>
          </p:cNvPicPr>
          <p:nvPr/>
        </p:nvPicPr>
        <p:blipFill>
          <a:blip r:embed="rId2"/>
          <a:stretch>
            <a:fillRect/>
          </a:stretch>
        </p:blipFill>
        <p:spPr>
          <a:xfrm>
            <a:off x="6675120" y="1088771"/>
            <a:ext cx="5257800" cy="4314696"/>
          </a:xfrm>
          <a:prstGeom prst="rect">
            <a:avLst/>
          </a:prstGeom>
        </p:spPr>
      </p:pic>
      <p:sp>
        <p:nvSpPr>
          <p:cNvPr id="8" name="TextBox 7"/>
          <p:cNvSpPr txBox="1"/>
          <p:nvPr/>
        </p:nvSpPr>
        <p:spPr>
          <a:xfrm>
            <a:off x="6675120" y="6080760"/>
            <a:ext cx="5257800" cy="274320"/>
          </a:xfrm>
          <a:prstGeom prst="rect">
            <a:avLst/>
          </a:prstGeom>
          <a:noFill/>
        </p:spPr>
        <p:txBody>
          <a:bodyPr wrap="square" anchor="t" lIns="45720" rIns="45720" tIns="18288" bIns="18288">
            <a:spAutoFit/>
          </a:bodyPr>
          <a:lstStyle/>
          <a:p>
            <a:pPr algn="ctr"/>
            <a:r>
              <a:rPr sz="900" b="0" i="1">
                <a:solidFill>
                  <a:srgbClr val="555B66"/>
                </a:solidFill>
                <a:latin typeface="Calibri"/>
              </a:rPr>
              <a:t>Muro S. ve ark., 2025 (PMC12229694, CC BY)</a:t>
            </a:r>
          </a:p>
        </p:txBody>
      </p: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Regio urogenitalis – yüzeyden derine katmanlar</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Fasyalar ve aralıklar (spatia)</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sp>
        <p:nvSpPr>
          <p:cNvPr id="7" name="TextBox 6"/>
          <p:cNvSpPr txBox="1"/>
          <p:nvPr/>
        </p:nvSpPr>
        <p:spPr>
          <a:xfrm>
            <a:off x="365760" y="1143000"/>
            <a:ext cx="6675120" cy="274320"/>
          </a:xfrm>
          <a:prstGeom prst="rect">
            <a:avLst/>
          </a:prstGeom>
          <a:noFill/>
        </p:spPr>
        <p:txBody>
          <a:bodyPr wrap="square" anchor="t" lIns="45720" rIns="45720" tIns="18288" bIns="18288">
            <a:spAutoFit/>
          </a:bodyPr>
          <a:lstStyle/>
          <a:p>
            <a:pPr algn="l"/>
            <a:r>
              <a:rPr sz="1200" b="0" i="1">
                <a:solidFill>
                  <a:srgbClr val="555B66"/>
                </a:solidFill>
                <a:latin typeface="Calibri"/>
              </a:rPr>
              <a:t>▲ kraniyal (derin) – cavitas pelvis</a:t>
            </a:r>
          </a:p>
        </p:txBody>
      </p:sp>
      <p:sp>
        <p:nvSpPr>
          <p:cNvPr id="8" name="Rectangle 7"/>
          <p:cNvSpPr/>
          <p:nvPr/>
        </p:nvSpPr>
        <p:spPr>
          <a:xfrm>
            <a:off x="365760" y="1444752"/>
            <a:ext cx="6675120" cy="201168"/>
          </a:xfrm>
          <a:prstGeom prst="rect">
            <a:avLst/>
          </a:prstGeom>
          <a:solidFill>
            <a:srgbClr val="8EA9C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1">
                <a:solidFill>
                  <a:srgbClr val="1F2A44"/>
                </a:solidFill>
                <a:latin typeface="Calibri"/>
              </a:rPr>
              <a:t>Fascia superior diaphragmatis pelvis</a:t>
            </a:r>
          </a:p>
        </p:txBody>
      </p:sp>
      <p:sp>
        <p:nvSpPr>
          <p:cNvPr id="9" name="Rectangle 8"/>
          <p:cNvSpPr/>
          <p:nvPr/>
        </p:nvSpPr>
        <p:spPr>
          <a:xfrm>
            <a:off x="365760" y="1664208"/>
            <a:ext cx="6675120" cy="384048"/>
          </a:xfrm>
          <a:prstGeom prst="rect">
            <a:avLst/>
          </a:prstGeom>
          <a:solidFill>
            <a:srgbClr val="C65B4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1">
                <a:solidFill>
                  <a:srgbClr val="FFFFFF"/>
                </a:solidFill>
                <a:latin typeface="Calibri"/>
              </a:rPr>
              <a:t>M. levator ani (diaphragma pelvis)</a:t>
            </a:r>
          </a:p>
        </p:txBody>
      </p:sp>
      <p:sp>
        <p:nvSpPr>
          <p:cNvPr id="10" name="Rectangle 9"/>
          <p:cNvSpPr/>
          <p:nvPr/>
        </p:nvSpPr>
        <p:spPr>
          <a:xfrm>
            <a:off x="365760" y="2066544"/>
            <a:ext cx="6675120" cy="201168"/>
          </a:xfrm>
          <a:prstGeom prst="rect">
            <a:avLst/>
          </a:prstGeom>
          <a:solidFill>
            <a:srgbClr val="8EA9C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1">
                <a:solidFill>
                  <a:srgbClr val="1F2A44"/>
                </a:solidFill>
                <a:latin typeface="Calibri"/>
              </a:rPr>
              <a:t>Fascia inferior diaphragmatis pelvis</a:t>
            </a:r>
          </a:p>
        </p:txBody>
      </p:sp>
      <p:sp>
        <p:nvSpPr>
          <p:cNvPr id="11" name="Rectangle 10"/>
          <p:cNvSpPr/>
          <p:nvPr/>
        </p:nvSpPr>
        <p:spPr>
          <a:xfrm>
            <a:off x="365760" y="2286000"/>
            <a:ext cx="6675120" cy="310896"/>
          </a:xfrm>
          <a:prstGeom prst="rect">
            <a:avLst/>
          </a:prstGeom>
          <a:solidFill>
            <a:srgbClr val="F6E38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0">
                <a:solidFill>
                  <a:srgbClr val="1F2A44"/>
                </a:solidFill>
                <a:latin typeface="Calibri"/>
              </a:rPr>
              <a:t>Recessus anterior fossae ischioanalis (yağ)</a:t>
            </a:r>
          </a:p>
        </p:txBody>
      </p:sp>
      <p:sp>
        <p:nvSpPr>
          <p:cNvPr id="12" name="Rectangle 11"/>
          <p:cNvSpPr/>
          <p:nvPr/>
        </p:nvSpPr>
        <p:spPr>
          <a:xfrm>
            <a:off x="365760" y="2615184"/>
            <a:ext cx="6675120" cy="566928"/>
          </a:xfrm>
          <a:prstGeom prst="rect">
            <a:avLst/>
          </a:prstGeom>
          <a:solidFill>
            <a:srgbClr val="EE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250" b="0">
                <a:solidFill>
                  <a:srgbClr val="1F2A44"/>
                </a:solidFill>
                <a:latin typeface="Calibri"/>
              </a:rPr>
              <a:t>SPATIUM PERINEI PROFUNDUM – m. sphincter urethrae externus, m. compressor urethrae, m. sphincter urethrovaginalis, m. transversus perinei profundus, gl. bulbourethralis</a:t>
            </a:r>
          </a:p>
        </p:txBody>
      </p:sp>
      <p:sp>
        <p:nvSpPr>
          <p:cNvPr id="13" name="Rectangle 12"/>
          <p:cNvSpPr/>
          <p:nvPr/>
        </p:nvSpPr>
        <p:spPr>
          <a:xfrm>
            <a:off x="365760" y="3200400"/>
            <a:ext cx="6675120" cy="219456"/>
          </a:xfrm>
          <a:prstGeom prst="rect">
            <a:avLst/>
          </a:prstGeom>
          <a:solidFill>
            <a:srgbClr val="455A6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1">
                <a:solidFill>
                  <a:srgbClr val="FFFFFF"/>
                </a:solidFill>
                <a:latin typeface="Calibri"/>
              </a:rPr>
              <a:t>Membrana perinei</a:t>
            </a:r>
          </a:p>
        </p:txBody>
      </p:sp>
      <p:sp>
        <p:nvSpPr>
          <p:cNvPr id="14" name="Rectangle 13"/>
          <p:cNvSpPr/>
          <p:nvPr/>
        </p:nvSpPr>
        <p:spPr>
          <a:xfrm>
            <a:off x="365760" y="3438144"/>
            <a:ext cx="6675120" cy="566928"/>
          </a:xfrm>
          <a:prstGeom prst="rect">
            <a:avLst/>
          </a:prstGeom>
          <a:solidFill>
            <a:srgbClr val="EE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250" b="0">
                <a:solidFill>
                  <a:srgbClr val="1F2A44"/>
                </a:solidFill>
                <a:latin typeface="Calibri"/>
              </a:rPr>
              <a:t>SPATIUM PERINEI SUPERFICIALE – crura &amp; bulbus (penis/clitoridis, vestibuli), m. ischiocavernosus, m. bulbospongiosus, m. transversus perinei superficialis, gl. vestibularis major</a:t>
            </a:r>
          </a:p>
        </p:txBody>
      </p:sp>
      <p:sp>
        <p:nvSpPr>
          <p:cNvPr id="15" name="Rectangle 14"/>
          <p:cNvSpPr/>
          <p:nvPr/>
        </p:nvSpPr>
        <p:spPr>
          <a:xfrm>
            <a:off x="365760" y="4023359"/>
            <a:ext cx="6675120" cy="201168"/>
          </a:xfrm>
          <a:prstGeom prst="rect">
            <a:avLst/>
          </a:prstGeom>
          <a:solidFill>
            <a:srgbClr val="8EA9C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1">
                <a:solidFill>
                  <a:srgbClr val="1F2A44"/>
                </a:solidFill>
                <a:latin typeface="Calibri"/>
              </a:rPr>
              <a:t>Fascia perinei (Gallaudet; kasları saran yatırım fasyası)</a:t>
            </a:r>
          </a:p>
        </p:txBody>
      </p:sp>
      <p:sp>
        <p:nvSpPr>
          <p:cNvPr id="16" name="Rectangle 15"/>
          <p:cNvSpPr/>
          <p:nvPr/>
        </p:nvSpPr>
        <p:spPr>
          <a:xfrm>
            <a:off x="365760" y="4242816"/>
            <a:ext cx="6675120" cy="237744"/>
          </a:xfrm>
          <a:prstGeom prst="rect">
            <a:avLst/>
          </a:prstGeom>
          <a:solidFill>
            <a:srgbClr val="5C7FA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1">
                <a:solidFill>
                  <a:srgbClr val="FFFFFF"/>
                </a:solidFill>
                <a:latin typeface="Calibri"/>
              </a:rPr>
              <a:t>Stratum membranosum telae subcutaneae perinei (Colles fasyası)</a:t>
            </a:r>
          </a:p>
        </p:txBody>
      </p:sp>
      <p:sp>
        <p:nvSpPr>
          <p:cNvPr id="17" name="Rectangle 16"/>
          <p:cNvSpPr/>
          <p:nvPr/>
        </p:nvSpPr>
        <p:spPr>
          <a:xfrm>
            <a:off x="365760" y="4498848"/>
            <a:ext cx="6675120" cy="310896"/>
          </a:xfrm>
          <a:prstGeom prst="rect">
            <a:avLst/>
          </a:prstGeom>
          <a:solidFill>
            <a:srgbClr val="F6E38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0">
                <a:solidFill>
                  <a:srgbClr val="1F2A44"/>
                </a:solidFill>
                <a:latin typeface="Calibri"/>
              </a:rPr>
              <a:t>Panniculus adiposus telae subcutaneae perinei</a:t>
            </a:r>
          </a:p>
        </p:txBody>
      </p:sp>
      <p:sp>
        <p:nvSpPr>
          <p:cNvPr id="18" name="Rectangle 17"/>
          <p:cNvSpPr/>
          <p:nvPr/>
        </p:nvSpPr>
        <p:spPr>
          <a:xfrm>
            <a:off x="365760" y="4828032"/>
            <a:ext cx="6675120" cy="219456"/>
          </a:xfrm>
          <a:prstGeom prst="rect">
            <a:avLst/>
          </a:prstGeom>
          <a:solidFill>
            <a:srgbClr val="E8B99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0">
                <a:solidFill>
                  <a:srgbClr val="1F2A44"/>
                </a:solidFill>
                <a:latin typeface="Calibri"/>
              </a:rPr>
              <a:t>Cutis</a:t>
            </a:r>
          </a:p>
        </p:txBody>
      </p:sp>
      <p:sp>
        <p:nvSpPr>
          <p:cNvPr id="19" name="TextBox 18"/>
          <p:cNvSpPr txBox="1"/>
          <p:nvPr/>
        </p:nvSpPr>
        <p:spPr>
          <a:xfrm>
            <a:off x="365760" y="5065776"/>
            <a:ext cx="6675120" cy="274320"/>
          </a:xfrm>
          <a:prstGeom prst="rect">
            <a:avLst/>
          </a:prstGeom>
          <a:noFill/>
        </p:spPr>
        <p:txBody>
          <a:bodyPr wrap="square" anchor="t" lIns="45720" rIns="45720" tIns="18288" bIns="18288">
            <a:spAutoFit/>
          </a:bodyPr>
          <a:lstStyle/>
          <a:p>
            <a:pPr algn="l"/>
            <a:r>
              <a:rPr sz="1200" b="0" i="1">
                <a:solidFill>
                  <a:srgbClr val="555B66"/>
                </a:solidFill>
                <a:latin typeface="Calibri"/>
              </a:rPr>
              <a:t>▼ kaudal (yüzeyel) – deri</a:t>
            </a:r>
          </a:p>
        </p:txBody>
      </p:sp>
      <p:sp>
        <p:nvSpPr>
          <p:cNvPr id="20" name="TextBox 19"/>
          <p:cNvSpPr txBox="1"/>
          <p:nvPr/>
        </p:nvSpPr>
        <p:spPr>
          <a:xfrm>
            <a:off x="7315200" y="1188720"/>
            <a:ext cx="4617720" cy="5120640"/>
          </a:xfrm>
          <a:prstGeom prst="rect">
            <a:avLst/>
          </a:prstGeom>
          <a:noFill/>
        </p:spPr>
        <p:txBody>
          <a:bodyPr wrap="square">
            <a:spAutoFit/>
          </a:bodyPr>
          <a:lstStyle/>
          <a:p>
            <a:pPr>
              <a:spcAft>
                <a:spcPts val="600"/>
              </a:spcAft>
            </a:pPr>
            <a:r>
              <a:rPr sz="1500">
                <a:solidFill>
                  <a:srgbClr val="1F2A44"/>
                </a:solidFill>
                <a:latin typeface="Calibri"/>
              </a:rPr>
              <a:t>• </a:t>
            </a:r>
            <a:r>
              <a:rPr sz="1500">
                <a:solidFill>
                  <a:srgbClr val="1F2A44"/>
                </a:solidFill>
                <a:latin typeface="Calibri"/>
              </a:rPr>
              <a:t>Tela subcutanea perinei</a:t>
            </a:r>
            <a:r>
              <a:rPr sz="1500">
                <a:solidFill>
                  <a:srgbClr val="1F2A44"/>
                </a:solidFill>
                <a:latin typeface="Calibri"/>
              </a:rPr>
              <a:t> iki katlı: yağlı </a:t>
            </a:r>
            <a:r>
              <a:rPr sz="1500">
                <a:solidFill>
                  <a:srgbClr val="1F2A44"/>
                </a:solidFill>
                <a:latin typeface="Calibri"/>
              </a:rPr>
              <a:t>panniculus adiposus</a:t>
            </a:r>
            <a:r>
              <a:rPr sz="1500">
                <a:solidFill>
                  <a:srgbClr val="1F2A44"/>
                </a:solidFill>
                <a:latin typeface="Calibri"/>
              </a:rPr>
              <a:t> (karın ön duvarında Camper) + </a:t>
            </a:r>
            <a:r>
              <a:rPr sz="1500">
                <a:solidFill>
                  <a:srgbClr val="1F2A44"/>
                </a:solidFill>
                <a:latin typeface="Calibri"/>
              </a:rPr>
              <a:t>stratum membranosum</a:t>
            </a:r>
            <a:r>
              <a:rPr sz="1500">
                <a:solidFill>
                  <a:srgbClr val="1F2A44"/>
                </a:solidFill>
                <a:latin typeface="Calibri"/>
              </a:rPr>
              <a:t> (</a:t>
            </a:r>
            <a:r>
              <a:rPr sz="1500">
                <a:solidFill>
                  <a:srgbClr val="1F2A44"/>
                </a:solidFill>
                <a:latin typeface="Calibri"/>
              </a:rPr>
              <a:t>Colles fasyası</a:t>
            </a:r>
            <a:r>
              <a:rPr sz="1500">
                <a:solidFill>
                  <a:srgbClr val="1F2A44"/>
                </a:solidFill>
                <a:latin typeface="Calibri"/>
              </a:rPr>
              <a:t>; karında Scarpa).</a:t>
            </a:r>
          </a:p>
          <a:p>
            <a:pPr>
              <a:spcAft>
                <a:spcPts val="600"/>
              </a:spcAft>
            </a:pPr>
            <a:r>
              <a:rPr sz="1500">
                <a:solidFill>
                  <a:srgbClr val="1F2A44"/>
                </a:solidFill>
                <a:latin typeface="Calibri"/>
              </a:rPr>
              <a:t>• </a:t>
            </a:r>
            <a:r>
              <a:rPr sz="1500">
                <a:solidFill>
                  <a:srgbClr val="1F2A44"/>
                </a:solidFill>
                <a:latin typeface="Calibri"/>
              </a:rPr>
              <a:t>Spatium perinei superficiale</a:t>
            </a:r>
            <a:r>
              <a:rPr sz="1500">
                <a:solidFill>
                  <a:srgbClr val="1F2A44"/>
                </a:solidFill>
                <a:latin typeface="Calibri"/>
              </a:rPr>
              <a:t>: Colles fasyası ile membrana perinei arası (kapalı arka sınır, önde karın duvarına açık).</a:t>
            </a:r>
          </a:p>
          <a:p>
            <a:pPr>
              <a:spcAft>
                <a:spcPts val="600"/>
              </a:spcAft>
            </a:pPr>
            <a:r>
              <a:rPr sz="1500">
                <a:solidFill>
                  <a:srgbClr val="1F2A44"/>
                </a:solidFill>
                <a:latin typeface="Calibri"/>
              </a:rPr>
              <a:t>• </a:t>
            </a:r>
            <a:r>
              <a:rPr sz="1500">
                <a:solidFill>
                  <a:srgbClr val="1F2A44"/>
                </a:solidFill>
                <a:latin typeface="Calibri"/>
              </a:rPr>
              <a:t>Fascia perinei</a:t>
            </a:r>
            <a:r>
              <a:rPr sz="1500">
                <a:solidFill>
                  <a:srgbClr val="1F2A44"/>
                </a:solidFill>
                <a:latin typeface="Calibri"/>
              </a:rPr>
              <a:t> (Gallaudet; 'investing fascia'): yüzeyel perine kaslarını sarar; terminoloji tartışmalı.</a:t>
            </a:r>
          </a:p>
          <a:p>
            <a:pPr>
              <a:spcAft>
                <a:spcPts val="600"/>
              </a:spcAft>
            </a:pPr>
            <a:r>
              <a:rPr sz="1500">
                <a:solidFill>
                  <a:srgbClr val="1F2A44"/>
                </a:solidFill>
                <a:latin typeface="Calibri"/>
              </a:rPr>
              <a:t>• </a:t>
            </a:r>
            <a:r>
              <a:rPr sz="1500">
                <a:solidFill>
                  <a:srgbClr val="1F2A44"/>
                </a:solidFill>
                <a:latin typeface="Calibri"/>
              </a:rPr>
              <a:t>Membrana perinei</a:t>
            </a:r>
            <a:r>
              <a:rPr sz="1500">
                <a:solidFill>
                  <a:srgbClr val="1F2A44"/>
                </a:solidFill>
                <a:latin typeface="Calibri"/>
              </a:rPr>
              <a:t>: arcus pubicus'u kapatan üçgen fibröz tabaka; ♂ urethra, ♀ urethra + vagina tarafından delinir.</a:t>
            </a:r>
          </a:p>
          <a:p>
            <a:pPr>
              <a:spcAft>
                <a:spcPts val="600"/>
              </a:spcAft>
            </a:pPr>
            <a:r>
              <a:rPr sz="1500">
                <a:solidFill>
                  <a:srgbClr val="1F2A44"/>
                </a:solidFill>
                <a:latin typeface="Calibri"/>
              </a:rPr>
              <a:t>• </a:t>
            </a:r>
            <a:r>
              <a:rPr sz="1500">
                <a:solidFill>
                  <a:srgbClr val="1F2A44"/>
                </a:solidFill>
                <a:latin typeface="Calibri"/>
              </a:rPr>
              <a:t>Spatium perinei profundum</a:t>
            </a:r>
            <a:r>
              <a:rPr sz="1500">
                <a:solidFill>
                  <a:srgbClr val="1F2A44"/>
                </a:solidFill>
                <a:latin typeface="Calibri"/>
              </a:rPr>
              <a:t>: membrana perinei'nin üstü; üstte kesin fasyal sınır yoktur → recessus anterior fossae ischioanalis ile komşu.</a:t>
            </a:r>
          </a:p>
        </p:txBody>
      </p:sp>
      <p:cxnSp>
        <p:nvCxnSpPr>
          <p:cNvPr id="21" name="Connector 20"/>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Şema: bu projede standart anatomi bilgisinden çizilmiştir (gerçek görüntü değildir). Kalınlıklar ölçekli değildir.</a:t>
            </a:r>
          </a:p>
        </p:txBody>
      </p:sp>
      <p:sp>
        <p:nvSpPr>
          <p:cNvPr id="23" name="TextBox 22"/>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Perine katmanları – yazarların şeması (♂ / ♀)</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Yüzeyel çizgili kaslar → membrana perinei → derin aralıkta düz kas plağı</a:t>
            </a:r>
          </a:p>
        </p:txBody>
      </p:sp>
      <p:sp>
        <p:nvSpPr>
          <p:cNvPr id="5" name="TextBox 4"/>
          <p:cNvSpPr txBox="1"/>
          <p:nvPr/>
        </p:nvSpPr>
        <p:spPr>
          <a:xfrm>
            <a:off x="9921240" y="109728"/>
            <a:ext cx="2057400" cy="310896"/>
          </a:xfrm>
          <a:prstGeom prst="rect">
            <a:avLst/>
          </a:prstGeom>
          <a:solidFill>
            <a:srgbClr val="5E35B1"/>
          </a:solidFill>
        </p:spPr>
        <p:txBody>
          <a:bodyPr wrap="square" anchor="ctr" lIns="45720" rIns="45720" tIns="18288" bIns="18288">
            <a:spAutoFit/>
          </a:bodyPr>
          <a:lstStyle/>
          <a:p>
            <a:pPr algn="ctr"/>
            <a:r>
              <a:rPr sz="1100" b="1" i="0">
                <a:solidFill>
                  <a:srgbClr val="FFFFFF"/>
                </a:solidFill>
                <a:latin typeface="Calibri"/>
              </a:rPr>
              <a:t>İLLÜSTRASYON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41598_2025_9585_Fig7_HTML.jpg"/>
          <p:cNvPicPr>
            <a:picLocks noChangeAspect="1"/>
          </p:cNvPicPr>
          <p:nvPr/>
        </p:nvPicPr>
        <p:blipFill>
          <a:blip r:embed="rId2"/>
          <a:stretch>
            <a:fillRect/>
          </a:stretch>
        </p:blipFill>
        <p:spPr>
          <a:xfrm>
            <a:off x="3731017" y="1097280"/>
            <a:ext cx="4729660" cy="3739896"/>
          </a:xfrm>
          <a:prstGeom prst="rect">
            <a:avLst/>
          </a:prstGeom>
        </p:spPr>
      </p:pic>
      <p:sp>
        <p:nvSpPr>
          <p:cNvPr id="8" name="TextBox 7"/>
          <p:cNvSpPr txBox="1"/>
          <p:nvPr/>
        </p:nvSpPr>
        <p:spPr>
          <a:xfrm>
            <a:off x="274320" y="1453896"/>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Urethra</a:t>
            </a:r>
          </a:p>
        </p:txBody>
      </p:sp>
      <p:cxnSp>
        <p:nvCxnSpPr>
          <p:cNvPr id="9" name="Connector 8"/>
          <p:cNvCxnSpPr/>
          <p:nvPr/>
        </p:nvCxnSpPr>
        <p:spPr>
          <a:xfrm>
            <a:off x="3108960" y="1609344"/>
            <a:ext cx="2036006" cy="177853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099246" y="334215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837944"/>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M. transversus perinei prof. (düz kas plağı)</a:t>
            </a:r>
          </a:p>
        </p:txBody>
      </p:sp>
      <p:cxnSp>
        <p:nvCxnSpPr>
          <p:cNvPr id="12" name="Connector 11"/>
          <p:cNvCxnSpPr/>
          <p:nvPr/>
        </p:nvCxnSpPr>
        <p:spPr>
          <a:xfrm>
            <a:off x="3108960" y="1993392"/>
            <a:ext cx="1590612" cy="159950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653852" y="354718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221992"/>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M. bulbospongiosus</a:t>
            </a:r>
          </a:p>
        </p:txBody>
      </p:sp>
      <p:cxnSp>
        <p:nvCxnSpPr>
          <p:cNvPr id="15" name="Connector 14"/>
          <p:cNvCxnSpPr/>
          <p:nvPr/>
        </p:nvCxnSpPr>
        <p:spPr>
          <a:xfrm>
            <a:off x="3108960" y="2377440"/>
            <a:ext cx="2078425" cy="122253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141665" y="355425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2606040"/>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Stratum longitudinale tunicae muscularis recti</a:t>
            </a:r>
          </a:p>
        </p:txBody>
      </p:sp>
      <p:cxnSp>
        <p:nvCxnSpPr>
          <p:cNvPr id="18" name="Connector 17"/>
          <p:cNvCxnSpPr/>
          <p:nvPr/>
        </p:nvCxnSpPr>
        <p:spPr>
          <a:xfrm>
            <a:off x="3108960" y="2761488"/>
            <a:ext cx="1286613" cy="108592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349853" y="380169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2990088"/>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M. ischiocavernosus</a:t>
            </a:r>
          </a:p>
        </p:txBody>
      </p:sp>
      <p:cxnSp>
        <p:nvCxnSpPr>
          <p:cNvPr id="21" name="Connector 20"/>
          <p:cNvCxnSpPr/>
          <p:nvPr/>
        </p:nvCxnSpPr>
        <p:spPr>
          <a:xfrm>
            <a:off x="3108960" y="3145536"/>
            <a:ext cx="2347075" cy="73722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410315" y="383704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3374136"/>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Membrana perinei</a:t>
            </a:r>
          </a:p>
        </p:txBody>
      </p:sp>
      <p:cxnSp>
        <p:nvCxnSpPr>
          <p:cNvPr id="24" name="Connector 23"/>
          <p:cNvCxnSpPr/>
          <p:nvPr/>
        </p:nvCxnSpPr>
        <p:spPr>
          <a:xfrm>
            <a:off x="3108960" y="3529584"/>
            <a:ext cx="2149122" cy="39559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212362" y="387945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3758184"/>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Rectum</a:t>
            </a:r>
          </a:p>
        </p:txBody>
      </p:sp>
      <p:cxnSp>
        <p:nvCxnSpPr>
          <p:cNvPr id="27" name="Connector 26"/>
          <p:cNvCxnSpPr/>
          <p:nvPr/>
        </p:nvCxnSpPr>
        <p:spPr>
          <a:xfrm>
            <a:off x="3108960" y="3913632"/>
            <a:ext cx="1392659" cy="25191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455899" y="411983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4142232"/>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M. transversus perinei superf.</a:t>
            </a:r>
          </a:p>
        </p:txBody>
      </p:sp>
      <p:cxnSp>
        <p:nvCxnSpPr>
          <p:cNvPr id="30" name="Connector 29"/>
          <p:cNvCxnSpPr/>
          <p:nvPr/>
        </p:nvCxnSpPr>
        <p:spPr>
          <a:xfrm flipV="1">
            <a:off x="3108960" y="4257456"/>
            <a:ext cx="1944099" cy="4022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5007339" y="421173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526280"/>
            <a:ext cx="2834640" cy="310896"/>
          </a:xfrm>
          <a:prstGeom prst="rect">
            <a:avLst/>
          </a:prstGeom>
          <a:noFill/>
        </p:spPr>
        <p:txBody>
          <a:bodyPr wrap="square" anchor="ctr" lIns="45720" rIns="45720" tIns="18288" bIns="18288">
            <a:spAutoFit/>
          </a:bodyPr>
          <a:lstStyle/>
          <a:p>
            <a:pPr algn="r"/>
            <a:r>
              <a:rPr sz="1200" b="1" i="0">
                <a:solidFill>
                  <a:srgbClr val="1F2A44"/>
                </a:solidFill>
                <a:latin typeface="Calibri"/>
              </a:rPr>
              <a:t>M. sphincter ani externus</a:t>
            </a:r>
          </a:p>
        </p:txBody>
      </p:sp>
      <p:cxnSp>
        <p:nvCxnSpPr>
          <p:cNvPr id="33" name="Connector 32"/>
          <p:cNvCxnSpPr/>
          <p:nvPr/>
        </p:nvCxnSpPr>
        <p:spPr>
          <a:xfrm flipV="1">
            <a:off x="3108960" y="4618013"/>
            <a:ext cx="1548194" cy="6371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611434" y="457229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82735" y="1453896"/>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Vesica urinaria</a:t>
            </a:r>
          </a:p>
        </p:txBody>
      </p:sp>
      <p:cxnSp>
        <p:nvCxnSpPr>
          <p:cNvPr id="36" name="Connector 35"/>
          <p:cNvCxnSpPr/>
          <p:nvPr/>
        </p:nvCxnSpPr>
        <p:spPr>
          <a:xfrm flipH="1">
            <a:off x="7287099" y="1609344"/>
            <a:ext cx="1795636" cy="159472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7241379" y="315834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82735" y="1837944"/>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Urethra feminina</a:t>
            </a:r>
          </a:p>
        </p:txBody>
      </p:sp>
      <p:cxnSp>
        <p:nvCxnSpPr>
          <p:cNvPr id="39" name="Connector 38"/>
          <p:cNvCxnSpPr/>
          <p:nvPr/>
        </p:nvCxnSpPr>
        <p:spPr>
          <a:xfrm flipH="1">
            <a:off x="7379006" y="1993392"/>
            <a:ext cx="1703729" cy="142276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7333286" y="337043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082735" y="2221992"/>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 transversus perinei prof. (düz kas plağı)</a:t>
            </a:r>
          </a:p>
        </p:txBody>
      </p:sp>
      <p:cxnSp>
        <p:nvCxnSpPr>
          <p:cNvPr id="42" name="Connector 41"/>
          <p:cNvCxnSpPr/>
          <p:nvPr/>
        </p:nvCxnSpPr>
        <p:spPr>
          <a:xfrm flipH="1">
            <a:off x="7025519" y="2377440"/>
            <a:ext cx="2057216" cy="108113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979799" y="341285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82735" y="2606040"/>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Vagina</a:t>
            </a:r>
          </a:p>
        </p:txBody>
      </p:sp>
      <p:cxnSp>
        <p:nvCxnSpPr>
          <p:cNvPr id="45" name="Connector 44"/>
          <p:cNvCxnSpPr/>
          <p:nvPr/>
        </p:nvCxnSpPr>
        <p:spPr>
          <a:xfrm flipH="1">
            <a:off x="7287099" y="2761488"/>
            <a:ext cx="1795636" cy="94452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7241379" y="366029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82735" y="2990088"/>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 bulbospongiosus</a:t>
            </a:r>
          </a:p>
        </p:txBody>
      </p:sp>
      <p:cxnSp>
        <p:nvCxnSpPr>
          <p:cNvPr id="48" name="Connector 47"/>
          <p:cNvCxnSpPr/>
          <p:nvPr/>
        </p:nvCxnSpPr>
        <p:spPr>
          <a:xfrm flipH="1">
            <a:off x="7527471" y="3145536"/>
            <a:ext cx="1555264" cy="64531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7481751" y="374513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82735" y="3374136"/>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 ischiocavernosus</a:t>
            </a:r>
          </a:p>
        </p:txBody>
      </p:sp>
      <p:cxnSp>
        <p:nvCxnSpPr>
          <p:cNvPr id="51" name="Connector 50"/>
          <p:cNvCxnSpPr/>
          <p:nvPr/>
        </p:nvCxnSpPr>
        <p:spPr>
          <a:xfrm flipH="1">
            <a:off x="8213236" y="3529584"/>
            <a:ext cx="869499" cy="31075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8167516" y="379462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082735" y="3758184"/>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Membrana perinei</a:t>
            </a:r>
          </a:p>
        </p:txBody>
      </p:sp>
      <p:cxnSp>
        <p:nvCxnSpPr>
          <p:cNvPr id="54" name="Connector 53"/>
          <p:cNvCxnSpPr/>
          <p:nvPr/>
        </p:nvCxnSpPr>
        <p:spPr>
          <a:xfrm flipH="1">
            <a:off x="7817330" y="3913632"/>
            <a:ext cx="1265405" cy="7517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7771610" y="394308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82735" y="4142232"/>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 transversus perinei superf.</a:t>
            </a:r>
          </a:p>
        </p:txBody>
      </p:sp>
      <p:cxnSp>
        <p:nvCxnSpPr>
          <p:cNvPr id="57" name="Connector 56"/>
          <p:cNvCxnSpPr/>
          <p:nvPr/>
        </p:nvCxnSpPr>
        <p:spPr>
          <a:xfrm flipH="1">
            <a:off x="7774912" y="4297680"/>
            <a:ext cx="1307823" cy="15065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7729192" y="440261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082735" y="4526280"/>
            <a:ext cx="283464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 sphincter ani externus</a:t>
            </a:r>
          </a:p>
        </p:txBody>
      </p:sp>
      <p:cxnSp>
        <p:nvCxnSpPr>
          <p:cNvPr id="60" name="Connector 59"/>
          <p:cNvCxnSpPr/>
          <p:nvPr/>
        </p:nvCxnSpPr>
        <p:spPr>
          <a:xfrm flipH="1" flipV="1">
            <a:off x="7131565" y="4610944"/>
            <a:ext cx="1951170" cy="7078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7085845" y="45652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337560" y="4855464"/>
            <a:ext cx="551657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7 – Muro S. ve ark., 2025 (PMC12229694, CC BY)</a:t>
            </a:r>
          </a:p>
        </p:txBody>
      </p:sp>
      <p:sp>
        <p:nvSpPr>
          <p:cNvPr id="63" name="Rectangle 62"/>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Muro ve ark. 2025: derin aralıkta rektum (♀ ayrıca vagina) duvarıyla devamlı, transvers lifli üçgen düz kas plağı – yazarlar bunu 'm. transversus perinei profundus' olarak yorumlar.</a:t>
            </a:r>
          </a:p>
        </p:txBody>
      </p:sp>
      <p:cxnSp>
        <p:nvCxnSpPr>
          <p:cNvPr id="65" name="Connector 6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Chang L., Tharnmanularp S. et al. Presence of smooth muscle continuous with the rectal and vaginal walls in the deep perineal space prompts reconsideration of the deep transverse perineal muscle. Sci Rep. 2025 Jul 3;15:23730. doi: 10.1038/s41598-025-09585-9 PMCID: PMC12229694. Lisans: CC BY.</a:t>
            </a:r>
          </a:p>
        </p:txBody>
      </p:sp>
      <p:sp>
        <p:nvSpPr>
          <p:cNvPr id="67" name="TextBox 66"/>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Fascia perinei superficialis – stratum membranosum (Colles)</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Tutunma yerleri ve devamlılık – klinik önemi büyük</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Lateral</a:t>
            </a:r>
            <a:r>
              <a:rPr sz="1900">
                <a:solidFill>
                  <a:srgbClr val="1F2A44"/>
                </a:solidFill>
                <a:latin typeface="Calibri"/>
              </a:rPr>
              <a:t>: rami ischiopubici (periost) ve fascia lata'ya; </a:t>
            </a:r>
            <a:r>
              <a:rPr sz="1900">
                <a:solidFill>
                  <a:srgbClr val="1F2A44"/>
                </a:solidFill>
                <a:latin typeface="Calibri"/>
              </a:rPr>
              <a:t>arka</a:t>
            </a:r>
            <a:r>
              <a:rPr sz="1900">
                <a:solidFill>
                  <a:srgbClr val="1F2A44"/>
                </a:solidFill>
                <a:latin typeface="Calibri"/>
              </a:rPr>
              <a:t>: m. transversus perinei superficialis hizasında membrana perinei'nin arka kenarına kaynaşır.</a:t>
            </a:r>
          </a:p>
          <a:p>
            <a:pPr>
              <a:spcAft>
                <a:spcPts val="600"/>
              </a:spcAft>
            </a:pPr>
            <a:r>
              <a:rPr sz="1900">
                <a:solidFill>
                  <a:srgbClr val="1F2A44"/>
                </a:solidFill>
                <a:latin typeface="Calibri"/>
              </a:rPr>
              <a:t>• </a:t>
            </a:r>
            <a:r>
              <a:rPr sz="1900">
                <a:solidFill>
                  <a:srgbClr val="1F2A44"/>
                </a:solidFill>
                <a:latin typeface="Calibri"/>
              </a:rPr>
              <a:t>Önde</a:t>
            </a:r>
            <a:r>
              <a:rPr sz="1900">
                <a:solidFill>
                  <a:srgbClr val="1F2A44"/>
                </a:solidFill>
                <a:latin typeface="Calibri"/>
              </a:rPr>
              <a:t>: penis/clitoris ve scrotum/labia majora boyunca devam eder → ♂ </a:t>
            </a:r>
            <a:r>
              <a:rPr sz="1900">
                <a:solidFill>
                  <a:srgbClr val="1F2A44"/>
                </a:solidFill>
                <a:latin typeface="Calibri"/>
              </a:rPr>
              <a:t>tunica dartos</a:t>
            </a:r>
            <a:r>
              <a:rPr sz="1900">
                <a:solidFill>
                  <a:srgbClr val="1F2A44"/>
                </a:solidFill>
                <a:latin typeface="Calibri"/>
              </a:rPr>
              <a:t> (düz kas içerir) ve </a:t>
            </a:r>
            <a:r>
              <a:rPr sz="1900">
                <a:solidFill>
                  <a:srgbClr val="1F2A44"/>
                </a:solidFill>
                <a:latin typeface="Calibri"/>
              </a:rPr>
              <a:t>fascia penis superficialis</a:t>
            </a:r>
            <a:r>
              <a:rPr sz="1900">
                <a:solidFill>
                  <a:srgbClr val="1F2A44"/>
                </a:solidFill>
                <a:latin typeface="Calibri"/>
              </a:rPr>
              <a:t>; ardından karın ön duvarında </a:t>
            </a:r>
            <a:r>
              <a:rPr sz="1900">
                <a:solidFill>
                  <a:srgbClr val="1F2A44"/>
                </a:solidFill>
                <a:latin typeface="Calibri"/>
              </a:rPr>
              <a:t>Scarpa fasyası</a:t>
            </a:r>
            <a:r>
              <a:rPr sz="1900">
                <a:solidFill>
                  <a:srgbClr val="1F2A44"/>
                </a:solidFill>
                <a:latin typeface="Calibri"/>
              </a:rPr>
              <a:t> (stratum membranosum abdominis).</a:t>
            </a:r>
          </a:p>
          <a:p>
            <a:pPr>
              <a:spcAft>
                <a:spcPts val="600"/>
              </a:spcAft>
            </a:pPr>
            <a:r>
              <a:rPr sz="1900">
                <a:solidFill>
                  <a:srgbClr val="1F2A44"/>
                </a:solidFill>
                <a:latin typeface="Calibri"/>
              </a:rPr>
              <a:t>• Scarpa fasyası uylukta lig. inguinale'nin ≈1 parmak altında fascia lata'ya tutunur → uyluğa geçiş kapalıdır.</a:t>
            </a:r>
          </a:p>
          <a:p>
            <a:pPr>
              <a:spcAft>
                <a:spcPts val="600"/>
              </a:spcAft>
            </a:pPr>
            <a:r>
              <a:rPr sz="1900">
                <a:solidFill>
                  <a:srgbClr val="1F2A44"/>
                </a:solidFill>
                <a:latin typeface="Calibri"/>
              </a:rPr>
              <a:t>• ♀: aynı katman labia majora'ya uzanır; daha ince ve yağdan zengindir, dartos benzeri düz kas (tunica dartos labialis) zayıftır.</a:t>
            </a:r>
          </a:p>
          <a:p>
            <a:pPr>
              <a:spcAft>
                <a:spcPts val="600"/>
              </a:spcAft>
            </a:pPr>
            <a:r>
              <a:rPr sz="1900">
                <a:solidFill>
                  <a:srgbClr val="1F2A44"/>
                </a:solidFill>
                <a:latin typeface="Calibri"/>
              </a:rPr>
              <a:t>• Sonuç: spatium perinei superficiale </a:t>
            </a:r>
            <a:r>
              <a:rPr sz="1900">
                <a:solidFill>
                  <a:srgbClr val="1F2A44"/>
                </a:solidFill>
                <a:latin typeface="Calibri"/>
              </a:rPr>
              <a:t>arkada ve yanlarda kapalı, önde karın ön duvarına açık</a:t>
            </a:r>
            <a:r>
              <a:rPr sz="1900">
                <a:solidFill>
                  <a:srgbClr val="1F2A44"/>
                </a:solidFill>
                <a:latin typeface="Calibri"/>
              </a:rPr>
              <a:t> bir torbadır.</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Colles fasyasının devamlılığı – idrar ekstravazasyonu</a:t>
            </a:r>
          </a:p>
        </p:txBody>
      </p:sp>
      <p:sp>
        <p:nvSpPr>
          <p:cNvPr id="4" name="TextBox 3"/>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sp>
        <p:nvSpPr>
          <p:cNvPr id="5" name="TextBox 4"/>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sp>
        <p:nvSpPr>
          <p:cNvPr id="6" name="Rounded Rectangle 5"/>
          <p:cNvSpPr/>
          <p:nvPr/>
        </p:nvSpPr>
        <p:spPr>
          <a:xfrm>
            <a:off x="457200" y="1280160"/>
            <a:ext cx="3291840" cy="868680"/>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FFFFFF"/>
                </a:solidFill>
                <a:latin typeface="Calibri"/>
              </a:rPr>
              <a:t>Stratum membranosum (Scarpa)</a:t>
            </a:r>
          </a:p>
          <a:p>
            <a:pPr algn="ctr"/>
            <a:r>
              <a:rPr sz="1300" b="0">
                <a:solidFill>
                  <a:srgbClr val="FFFFFF"/>
                </a:solidFill>
                <a:latin typeface="Calibri"/>
              </a:rPr>
              <a:t>paries abdominis anterior</a:t>
            </a:r>
          </a:p>
        </p:txBody>
      </p:sp>
      <p:sp>
        <p:nvSpPr>
          <p:cNvPr id="7" name="Rounded Rectangle 6"/>
          <p:cNvSpPr/>
          <p:nvPr/>
        </p:nvSpPr>
        <p:spPr>
          <a:xfrm>
            <a:off x="457200" y="2743200"/>
            <a:ext cx="3291840" cy="868680"/>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FFFFFF"/>
                </a:solidFill>
                <a:latin typeface="Calibri"/>
              </a:rPr>
              <a:t>Tunica dartos + fascia penis superficialis</a:t>
            </a:r>
          </a:p>
          <a:p>
            <a:pPr algn="ctr"/>
            <a:r>
              <a:rPr sz="1300" b="0">
                <a:solidFill>
                  <a:srgbClr val="FFFFFF"/>
                </a:solidFill>
                <a:latin typeface="Calibri"/>
              </a:rPr>
              <a:t>scrotum / penis</a:t>
            </a:r>
          </a:p>
        </p:txBody>
      </p:sp>
      <p:sp>
        <p:nvSpPr>
          <p:cNvPr id="8" name="Rounded Rectangle 7"/>
          <p:cNvSpPr/>
          <p:nvPr/>
        </p:nvSpPr>
        <p:spPr>
          <a:xfrm>
            <a:off x="457200" y="4206240"/>
            <a:ext cx="3291840" cy="868680"/>
          </a:xfrm>
          <a:prstGeom prst="roundRect">
            <a:avLst/>
          </a:prstGeom>
          <a:solidFill>
            <a:srgbClr val="1F5F9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FFFFFF"/>
                </a:solidFill>
                <a:latin typeface="Calibri"/>
              </a:rPr>
              <a:t>Colles fasyası</a:t>
            </a:r>
          </a:p>
          <a:p>
            <a:pPr algn="ctr"/>
            <a:r>
              <a:rPr sz="1300" b="0">
                <a:solidFill>
                  <a:srgbClr val="FFFFFF"/>
                </a:solidFill>
                <a:latin typeface="Calibri"/>
              </a:rPr>
              <a:t>regio urogenitalis</a:t>
            </a:r>
          </a:p>
        </p:txBody>
      </p:sp>
      <p:cxnSp>
        <p:nvCxnSpPr>
          <p:cNvPr id="9" name="Connector 8"/>
          <p:cNvCxnSpPr/>
          <p:nvPr/>
        </p:nvCxnSpPr>
        <p:spPr>
          <a:xfrm>
            <a:off x="2103120" y="2148839"/>
            <a:ext cx="0" cy="594361"/>
          </a:xfrm>
          <a:prstGeom prst="line">
            <a:avLst/>
          </a:prstGeom>
          <a:ln w="50800">
            <a:solidFill>
              <a:srgbClr val="1F5F9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03120" y="3611880"/>
            <a:ext cx="0" cy="594360"/>
          </a:xfrm>
          <a:prstGeom prst="line">
            <a:avLst/>
          </a:prstGeom>
          <a:ln w="50800">
            <a:solidFill>
              <a:srgbClr val="1F5F9E"/>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206240" y="1280160"/>
            <a:ext cx="3017520" cy="868680"/>
          </a:xfrm>
          <a:prstGeom prst="roundRect">
            <a:avLst/>
          </a:prstGeom>
          <a:solidFill>
            <a:srgbClr val="555B6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Calibri"/>
              </a:rPr>
              <a:t>Fascia lata'ya tutunma</a:t>
            </a:r>
          </a:p>
          <a:p>
            <a:pPr algn="ctr"/>
            <a:r>
              <a:rPr sz="1200" b="0">
                <a:solidFill>
                  <a:srgbClr val="FFFFFF"/>
                </a:solidFill>
                <a:latin typeface="Calibri"/>
              </a:rPr>
              <a:t>lig. inguinale'nin ~1 parmak altı</a:t>
            </a:r>
          </a:p>
        </p:txBody>
      </p:sp>
      <p:sp>
        <p:nvSpPr>
          <p:cNvPr id="12" name="Rounded Rectangle 11"/>
          <p:cNvSpPr/>
          <p:nvPr/>
        </p:nvSpPr>
        <p:spPr>
          <a:xfrm>
            <a:off x="4206240" y="4206240"/>
            <a:ext cx="3017520" cy="868680"/>
          </a:xfrm>
          <a:prstGeom prst="roundRect">
            <a:avLst/>
          </a:prstGeom>
          <a:solidFill>
            <a:srgbClr val="555B6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Calibri"/>
              </a:rPr>
              <a:t>Arka sınır: membrana perinei</a:t>
            </a:r>
          </a:p>
          <a:p>
            <a:pPr algn="ctr"/>
            <a:r>
              <a:rPr sz="1100" b="0">
                <a:solidFill>
                  <a:srgbClr val="FFFFFF"/>
                </a:solidFill>
                <a:latin typeface="Calibri"/>
              </a:rPr>
              <a:t>arka kenarına kaynaşma (m. transversus perinei superf.)</a:t>
            </a:r>
          </a:p>
        </p:txBody>
      </p:sp>
      <p:sp>
        <p:nvSpPr>
          <p:cNvPr id="13" name="Rounded Rectangle 12"/>
          <p:cNvSpPr/>
          <p:nvPr/>
        </p:nvSpPr>
        <p:spPr>
          <a:xfrm>
            <a:off x="4206240" y="2743200"/>
            <a:ext cx="3017520" cy="868680"/>
          </a:xfrm>
          <a:prstGeom prst="roundRect">
            <a:avLst/>
          </a:prstGeom>
          <a:solidFill>
            <a:srgbClr val="555B6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Calibri"/>
              </a:rPr>
              <a:t>Lateral: rami ischiopubici</a:t>
            </a:r>
          </a:p>
          <a:p>
            <a:pPr algn="ctr"/>
            <a:r>
              <a:rPr sz="1200" b="0">
                <a:solidFill>
                  <a:srgbClr val="FFFFFF"/>
                </a:solidFill>
                <a:latin typeface="Calibri"/>
              </a:rPr>
              <a:t>(periost / crista)</a:t>
            </a:r>
          </a:p>
        </p:txBody>
      </p:sp>
      <p:cxnSp>
        <p:nvCxnSpPr>
          <p:cNvPr id="14" name="Connector 13"/>
          <p:cNvCxnSpPr/>
          <p:nvPr/>
        </p:nvCxnSpPr>
        <p:spPr>
          <a:xfrm>
            <a:off x="3749039" y="1709928"/>
            <a:ext cx="457201" cy="0"/>
          </a:xfrm>
          <a:prstGeom prst="line">
            <a:avLst/>
          </a:prstGeom>
          <a:ln w="2540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49039" y="3172968"/>
            <a:ext cx="457201" cy="0"/>
          </a:xfrm>
          <a:prstGeom prst="line">
            <a:avLst/>
          </a:prstGeom>
          <a:ln w="25400">
            <a:solidFill>
              <a:srgbClr val="555B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49039" y="4636007"/>
            <a:ext cx="457201" cy="0"/>
          </a:xfrm>
          <a:prstGeom prst="line">
            <a:avLst/>
          </a:prstGeom>
          <a:ln w="25400">
            <a:solidFill>
              <a:srgbClr val="555B6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680960" y="4206240"/>
            <a:ext cx="4114800" cy="868680"/>
          </a:xfrm>
          <a:prstGeom prst="round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Calibri"/>
              </a:rPr>
              <a:t>Ruptura urethrae (pars spongiosa / bulbaris)</a:t>
            </a:r>
          </a:p>
          <a:p>
            <a:pPr algn="ctr"/>
            <a:r>
              <a:rPr sz="1200" b="0">
                <a:solidFill>
                  <a:srgbClr val="FFFFFF"/>
                </a:solidFill>
                <a:latin typeface="Calibri"/>
              </a:rPr>
              <a:t>straddle travması – fascia penis profunda (Buck) yırtık</a:t>
            </a:r>
          </a:p>
        </p:txBody>
      </p:sp>
      <p:cxnSp>
        <p:nvCxnSpPr>
          <p:cNvPr id="18" name="Connector 17"/>
          <p:cNvCxnSpPr/>
          <p:nvPr/>
        </p:nvCxnSpPr>
        <p:spPr>
          <a:xfrm flipV="1">
            <a:off x="9738360" y="3611880"/>
            <a:ext cx="0" cy="594360"/>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680960" y="2697480"/>
            <a:ext cx="4114800" cy="914400"/>
          </a:xfrm>
          <a:prstGeom prst="roundRect">
            <a:avLst/>
          </a:prstGeom>
          <a:solidFill>
            <a:srgbClr val="C26A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Calibri"/>
              </a:rPr>
              <a:t>İdrar spatium perinei superficiale'ye</a:t>
            </a:r>
          </a:p>
          <a:p>
            <a:pPr algn="ctr"/>
            <a:r>
              <a:rPr sz="1200" b="0">
                <a:solidFill>
                  <a:srgbClr val="FFFFFF"/>
                </a:solidFill>
                <a:latin typeface="Calibri"/>
              </a:rPr>
              <a:t>→ scrotum, penis, karın ön duvarı (Scarpa altı)</a:t>
            </a:r>
          </a:p>
        </p:txBody>
      </p:sp>
      <p:cxnSp>
        <p:nvCxnSpPr>
          <p:cNvPr id="20" name="Connector 19"/>
          <p:cNvCxnSpPr/>
          <p:nvPr/>
        </p:nvCxnSpPr>
        <p:spPr>
          <a:xfrm flipV="1">
            <a:off x="9738360" y="2148840"/>
            <a:ext cx="0" cy="548640"/>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680960" y="1280160"/>
            <a:ext cx="4114800" cy="868680"/>
          </a:xfrm>
          <a:prstGeom prst="roundRect">
            <a:avLst/>
          </a:prstGeom>
          <a:solidFill>
            <a:srgbClr val="1F2A4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FFFFFF"/>
                </a:solidFill>
                <a:latin typeface="Calibri"/>
              </a:rPr>
              <a:t>Uyluğa ve anal üçgene GEÇMEZ</a:t>
            </a:r>
          </a:p>
          <a:p>
            <a:pPr algn="ctr"/>
            <a:r>
              <a:rPr sz="1200" b="0">
                <a:solidFill>
                  <a:srgbClr val="FFFFFF"/>
                </a:solidFill>
                <a:latin typeface="Calibri"/>
              </a:rPr>
              <a:t>(fascia lata ve membrana perinei arka kenarı engeller)</a:t>
            </a:r>
          </a:p>
        </p:txBody>
      </p:sp>
      <p:sp>
        <p:nvSpPr>
          <p:cNvPr id="22" name="TextBox 21"/>
          <p:cNvSpPr txBox="1"/>
          <p:nvPr/>
        </p:nvSpPr>
        <p:spPr>
          <a:xfrm>
            <a:off x="457200" y="5257800"/>
            <a:ext cx="11338560" cy="1097280"/>
          </a:xfrm>
          <a:prstGeom prst="rect">
            <a:avLst/>
          </a:prstGeom>
          <a:noFill/>
        </p:spPr>
        <p:txBody>
          <a:bodyPr wrap="square">
            <a:spAutoFit/>
          </a:bodyPr>
          <a:lstStyle/>
          <a:p>
            <a:pPr>
              <a:spcAft>
                <a:spcPts val="200"/>
              </a:spcAft>
            </a:pPr>
            <a:r>
              <a:rPr sz="1500">
                <a:solidFill>
                  <a:srgbClr val="1F2A44"/>
                </a:solidFill>
                <a:latin typeface="Calibri"/>
              </a:rPr>
              <a:t>• Bulbar urethra yırtığı + fascia penis profunda (Buck) hasarında idrar/kan Colles fasyası altında yayılır: perine 'kelebek' hematomu, scrotum ve penis şişliği, karın ön duvarı (Scarpa altı).</a:t>
            </a:r>
          </a:p>
          <a:p>
            <a:pPr>
              <a:spcAft>
                <a:spcPts val="200"/>
              </a:spcAft>
            </a:pPr>
            <a:r>
              <a:rPr sz="1500">
                <a:solidFill>
                  <a:srgbClr val="1F2A44"/>
                </a:solidFill>
                <a:latin typeface="Calibri"/>
              </a:rPr>
              <a:t>• Buck fasyası sağlamsa ekstravazasyon penis şaftı ile sınırlı kalır; pars membranacea yırtığında ise membrana perinei üstünde (spatium profundum → retropubik alan).</a:t>
            </a:r>
          </a:p>
        </p:txBody>
      </p:sp>
      <p:cxnSp>
        <p:nvCxnSpPr>
          <p:cNvPr id="23" name="Connector 2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Şema: bu projede standart anatomi bilgisinden çizilmiştir (gerçek görüntü değildir).</a:t>
            </a:r>
          </a:p>
        </p:txBody>
      </p:sp>
      <p:sp>
        <p:nvSpPr>
          <p:cNvPr id="25" name="TextBox 24"/>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Penis kökü: lig. fundiforme ve lig. suspensorium</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Stratum membranosum (Scarpa) türevi askı yapıları – kadavra (Filipoiu ve ark. 2023)</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12610_2023_202_Fig9_HTML.jpg"/>
          <p:cNvPicPr>
            <a:picLocks noChangeAspect="1"/>
          </p:cNvPicPr>
          <p:nvPr/>
        </p:nvPicPr>
        <p:blipFill>
          <a:blip r:embed="rId2"/>
          <a:stretch>
            <a:fillRect/>
          </a:stretch>
        </p:blipFill>
        <p:spPr>
          <a:xfrm>
            <a:off x="4603124" y="1097280"/>
            <a:ext cx="2802566" cy="3739896"/>
          </a:xfrm>
          <a:prstGeom prst="rect">
            <a:avLst/>
          </a:prstGeom>
        </p:spPr>
      </p:pic>
      <p:sp>
        <p:nvSpPr>
          <p:cNvPr id="8" name="TextBox 7"/>
          <p:cNvSpPr txBox="1"/>
          <p:nvPr/>
        </p:nvSpPr>
        <p:spPr>
          <a:xfrm>
            <a:off x="274320" y="2204164"/>
            <a:ext cx="310896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fundiforme penis, fasciculus dexter</a:t>
            </a:r>
          </a:p>
        </p:txBody>
      </p:sp>
      <p:cxnSp>
        <p:nvCxnSpPr>
          <p:cNvPr id="9" name="Connector 8"/>
          <p:cNvCxnSpPr/>
          <p:nvPr/>
        </p:nvCxnSpPr>
        <p:spPr>
          <a:xfrm>
            <a:off x="3383279" y="2359612"/>
            <a:ext cx="187927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216831" y="231389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745837"/>
            <a:ext cx="310896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suspensorium penis</a:t>
            </a:r>
          </a:p>
        </p:txBody>
      </p:sp>
      <p:cxnSp>
        <p:nvCxnSpPr>
          <p:cNvPr id="12" name="Connector 11"/>
          <p:cNvCxnSpPr/>
          <p:nvPr/>
        </p:nvCxnSpPr>
        <p:spPr>
          <a:xfrm>
            <a:off x="3383279" y="2901285"/>
            <a:ext cx="245862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796185" y="285556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129885"/>
            <a:ext cx="310896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suspensorium penis, fasciculus lateralis</a:t>
            </a:r>
          </a:p>
        </p:txBody>
      </p:sp>
      <p:cxnSp>
        <p:nvCxnSpPr>
          <p:cNvPr id="15" name="Connector 14"/>
          <p:cNvCxnSpPr/>
          <p:nvPr/>
        </p:nvCxnSpPr>
        <p:spPr>
          <a:xfrm flipV="1">
            <a:off x="3383279" y="3207448"/>
            <a:ext cx="2303190" cy="7788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640749" y="316172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3513933"/>
            <a:ext cx="310896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suspensorium penis, fasciculus medianus</a:t>
            </a:r>
          </a:p>
        </p:txBody>
      </p:sp>
      <p:cxnSp>
        <p:nvCxnSpPr>
          <p:cNvPr id="18" name="Connector 17"/>
          <p:cNvCxnSpPr/>
          <p:nvPr/>
        </p:nvCxnSpPr>
        <p:spPr>
          <a:xfrm flipV="1">
            <a:off x="3383279" y="3230999"/>
            <a:ext cx="2482177" cy="43838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819736" y="318527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3897981"/>
            <a:ext cx="3108960" cy="310896"/>
          </a:xfrm>
          <a:prstGeom prst="rect">
            <a:avLst/>
          </a:prstGeom>
          <a:noFill/>
        </p:spPr>
        <p:txBody>
          <a:bodyPr wrap="square" anchor="ctr" lIns="45720" rIns="45720" tIns="18288" bIns="18288">
            <a:spAutoFit/>
          </a:bodyPr>
          <a:lstStyle/>
          <a:p>
            <a:pPr algn="r"/>
            <a:r>
              <a:rPr sz="1250" b="1" i="0">
                <a:solidFill>
                  <a:srgbClr val="1F2A44"/>
                </a:solidFill>
                <a:latin typeface="Calibri"/>
              </a:rPr>
              <a:t>Funiculus spermaticus dexter</a:t>
            </a:r>
          </a:p>
        </p:txBody>
      </p:sp>
      <p:cxnSp>
        <p:nvCxnSpPr>
          <p:cNvPr id="21" name="Connector 20"/>
          <p:cNvCxnSpPr/>
          <p:nvPr/>
        </p:nvCxnSpPr>
        <p:spPr>
          <a:xfrm flipV="1">
            <a:off x="3383279" y="3513610"/>
            <a:ext cx="1370571" cy="53981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08130" y="346789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4282029"/>
            <a:ext cx="310896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Corpus penis</a:t>
            </a:r>
          </a:p>
        </p:txBody>
      </p:sp>
      <p:cxnSp>
        <p:nvCxnSpPr>
          <p:cNvPr id="24" name="Connector 23"/>
          <p:cNvCxnSpPr/>
          <p:nvPr/>
        </p:nvCxnSpPr>
        <p:spPr>
          <a:xfrm flipV="1">
            <a:off x="3383279" y="4017601"/>
            <a:ext cx="2595222" cy="41987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932781" y="397188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5535" y="2180613"/>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Lig. fundiforme penis, fasciculus sinister</a:t>
            </a:r>
          </a:p>
        </p:txBody>
      </p:sp>
      <p:cxnSp>
        <p:nvCxnSpPr>
          <p:cNvPr id="27" name="Connector 26"/>
          <p:cNvCxnSpPr/>
          <p:nvPr/>
        </p:nvCxnSpPr>
        <p:spPr>
          <a:xfrm flipH="1">
            <a:off x="6063285" y="2336061"/>
            <a:ext cx="256225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6017565" y="229034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5535" y="3037869"/>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Lig. suspensorium penis, fasciculus lateralis</a:t>
            </a:r>
          </a:p>
        </p:txBody>
      </p:sp>
      <p:cxnSp>
        <p:nvCxnSpPr>
          <p:cNvPr id="30" name="Connector 29"/>
          <p:cNvCxnSpPr/>
          <p:nvPr/>
        </p:nvCxnSpPr>
        <p:spPr>
          <a:xfrm flipH="1">
            <a:off x="6030313" y="3193317"/>
            <a:ext cx="259522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5984593" y="314759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25535" y="3421917"/>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Funiculus spermaticus sinister</a:t>
            </a:r>
          </a:p>
        </p:txBody>
      </p:sp>
      <p:cxnSp>
        <p:nvCxnSpPr>
          <p:cNvPr id="33" name="Connector 32"/>
          <p:cNvCxnSpPr/>
          <p:nvPr/>
        </p:nvCxnSpPr>
        <p:spPr>
          <a:xfrm flipH="1" flipV="1">
            <a:off x="6722712" y="3490059"/>
            <a:ext cx="1902823" cy="8730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676992" y="344433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11879" y="4855464"/>
            <a:ext cx="478505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9 – Filipoiu F. M. ve ark., 2023 (PMC10594829, CC BY)</a:t>
            </a:r>
          </a:p>
        </p:txBody>
      </p:sp>
      <p:sp>
        <p:nvSpPr>
          <p:cNvPr id="36" name="Rectangle 35"/>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Lig. fundiforme penis: Scarpa (stratum membranosum) fasyasının türevi – penisi sararak dartos/Colles'e devam eder; lig. suspensorium: fascia profunda kökenli, derin yaprağı fascia penis profunda (Buck) ile devam eder.</a:t>
            </a:r>
          </a:p>
          <a:p>
            <a:pPr>
              <a:spcAft>
                <a:spcPts val="200"/>
              </a:spcAft>
            </a:pPr>
            <a:r>
              <a:rPr sz="1500">
                <a:solidFill>
                  <a:srgbClr val="1F2A44"/>
                </a:solidFill>
                <a:latin typeface="Calibri"/>
              </a:rPr>
              <a:t>• Penis uzatma cerrahisinde lig. suspensorium kesilirken dorsal damar-sinir demeti risk altındadır.</a:t>
            </a:r>
          </a:p>
        </p:txBody>
      </p:sp>
      <p:cxnSp>
        <p:nvCxnSpPr>
          <p:cNvPr id="38" name="Connector 3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Filipoiu F. M., Ion R. T., Filipoiu Z. F. et al. Suspension of the penis – dissection, anatomical description and highlighting of anatomical risks in sectioning the suspensory ligaments. Basic Clin Androl. 2023 Oct 24;33:26. doi: 10.1186/s12610-023-00202-1 PMCID: PMC10594829. Lisans: CC BY.</a:t>
            </a:r>
          </a:p>
        </p:txBody>
      </p:sp>
      <p:sp>
        <p:nvSpPr>
          <p:cNvPr id="40" name="TextBox 3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Fascia perinei (Gallaudet) ve membrana perinei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'Diaphragma urogenitale' neden terk edildi?</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Fascia perinei (Gallaudet)</a:t>
            </a:r>
            <a:r>
              <a:rPr sz="1900">
                <a:solidFill>
                  <a:srgbClr val="1F2A44"/>
                </a:solidFill>
                <a:latin typeface="Calibri"/>
              </a:rPr>
              <a:t>: m. ischiocavernosus, m. bulbospongiosus ve m. transversus perinei superficialis'i saran derin yatırım fasyası; önde fascia penis profunda (</a:t>
            </a:r>
            <a:r>
              <a:rPr sz="1900">
                <a:solidFill>
                  <a:srgbClr val="1F2A44"/>
                </a:solidFill>
                <a:latin typeface="Calibri"/>
              </a:rPr>
              <a:t>Buck</a:t>
            </a:r>
            <a:r>
              <a:rPr sz="1900">
                <a:solidFill>
                  <a:srgbClr val="1F2A44"/>
                </a:solidFill>
                <a:latin typeface="Calibri"/>
              </a:rPr>
              <a:t>) ve lig. suspensorium penis ile devam eder.</a:t>
            </a:r>
          </a:p>
          <a:p>
            <a:pPr>
              <a:spcAft>
                <a:spcPts val="600"/>
              </a:spcAft>
            </a:pPr>
            <a:r>
              <a:rPr sz="1900">
                <a:solidFill>
                  <a:srgbClr val="1F2A44"/>
                </a:solidFill>
                <a:latin typeface="Calibri"/>
              </a:rPr>
              <a:t>• </a:t>
            </a:r>
            <a:r>
              <a:rPr sz="1900">
                <a:solidFill>
                  <a:srgbClr val="1F2A44"/>
                </a:solidFill>
                <a:latin typeface="Calibri"/>
              </a:rPr>
              <a:t>Membrana perinei</a:t>
            </a:r>
            <a:r>
              <a:rPr sz="1900">
                <a:solidFill>
                  <a:srgbClr val="1F2A44"/>
                </a:solidFill>
                <a:latin typeface="Calibri"/>
              </a:rPr>
              <a:t>: TA2'de diaphragma urogenitale terimi kaldırılmış; tek, kalın fibröz levha olarak tanımlanır (eski 'fascia diaphragmatis urogenitalis inferior').</a:t>
            </a:r>
          </a:p>
          <a:p>
            <a:pPr>
              <a:spcAft>
                <a:spcPts val="600"/>
              </a:spcAft>
            </a:pPr>
            <a:r>
              <a:rPr sz="1900">
                <a:solidFill>
                  <a:srgbClr val="1F2A44"/>
                </a:solidFill>
                <a:latin typeface="Calibri"/>
              </a:rPr>
              <a:t>• Oelrich (1980 ♂, 1983 ♀) fetal/yenidoğan seri kesitlerinde </a:t>
            </a:r>
            <a:r>
              <a:rPr sz="1900">
                <a:solidFill>
                  <a:srgbClr val="1F2A44"/>
                </a:solidFill>
                <a:latin typeface="Calibri"/>
              </a:rPr>
              <a:t>m. sphincter urethrae'nin</a:t>
            </a:r>
            <a:r>
              <a:rPr sz="1900">
                <a:solidFill>
                  <a:srgbClr val="1F2A44"/>
                </a:solidFill>
                <a:latin typeface="Calibri"/>
              </a:rPr>
              <a:t> horizontal bir 'diaphragma' değil, urethra çevresinde dikey uzanan çizgili sfinkter kompleksi olduğunu gösterdi.</a:t>
            </a:r>
          </a:p>
          <a:p>
            <a:pPr>
              <a:spcAft>
                <a:spcPts val="600"/>
              </a:spcAft>
            </a:pPr>
            <a:r>
              <a:rPr sz="1900">
                <a:solidFill>
                  <a:srgbClr val="1F2A44"/>
                </a:solidFill>
                <a:latin typeface="Calibri"/>
              </a:rPr>
              <a:t>• Mirilas &amp; Skandalakis (2004): 'diaphragma urogenitale' hatalı bir kavram; derin perine aralığının üst fasyası yoktur, alanı yukarıda levator ani ve recessus anterior ile sınırlıdır.</a:t>
            </a:r>
          </a:p>
          <a:p>
            <a:pPr>
              <a:spcAft>
                <a:spcPts val="600"/>
              </a:spcAft>
            </a:pPr>
            <a:r>
              <a:rPr sz="1900">
                <a:solidFill>
                  <a:srgbClr val="1F2A44"/>
                </a:solidFill>
                <a:latin typeface="Calibri"/>
              </a:rPr>
              <a:t>• ♀'de membrana perinei iki bölgeli: </a:t>
            </a:r>
            <a:r>
              <a:rPr sz="1900">
                <a:solidFill>
                  <a:srgbClr val="1F2A44"/>
                </a:solidFill>
                <a:latin typeface="Calibri"/>
              </a:rPr>
              <a:t>dorsal</a:t>
            </a:r>
            <a:r>
              <a:rPr sz="1900">
                <a:solidFill>
                  <a:srgbClr val="1F2A44"/>
                </a:solidFill>
                <a:latin typeface="Calibri"/>
              </a:rPr>
              <a:t> (rami ischiopubici → vagina yan duvarı ve corpus perineale arası transvers levha) ve </a:t>
            </a:r>
            <a:r>
              <a:rPr sz="1900">
                <a:solidFill>
                  <a:srgbClr val="1F2A44"/>
                </a:solidFill>
                <a:latin typeface="Calibri"/>
              </a:rPr>
              <a:t>ventral</a:t>
            </a:r>
            <a:r>
              <a:rPr sz="1900">
                <a:solidFill>
                  <a:srgbClr val="1F2A44"/>
                </a:solidFill>
                <a:latin typeface="Calibri"/>
              </a:rPr>
              <a:t> (compressor urethrae + sphincter urethrovaginalis ile birleşik, urethrayı destekleyen kısım) (Stein &amp; DeLancey 2008).</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Oelrich TM. Am J Anat 1980;158:229–246; Anat Rec 1983;205:223–232 • Mirilas P, Skandalakis JE. J Am Coll Surg 2004;198:279–290 • Stein TA, DeLancey JOL. Obstet Gynecol 2008;111:686–693 • FIPAT. Terminologia Anatomica, 2. baskı, 2019.</a:t>
            </a:r>
          </a:p>
        </p:txBody>
      </p:sp>
      <p:sp>
        <p:nvSpPr>
          <p:cNvPr id="10" name="TextBox 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Membrana perinei – çıkarılmış levha (♀ / ♂)</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Kampelmann ve ark. 2025: rami ischiopubici arasında üçgen fibröz plak</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JOA-248-755-g005_0_0_709_504.jpg"/>
          <p:cNvPicPr>
            <a:picLocks noChangeAspect="1"/>
          </p:cNvPicPr>
          <p:nvPr/>
        </p:nvPicPr>
        <p:blipFill>
          <a:blip r:embed="rId2"/>
          <a:stretch>
            <a:fillRect/>
          </a:stretch>
        </p:blipFill>
        <p:spPr>
          <a:xfrm>
            <a:off x="3465305" y="1097280"/>
            <a:ext cx="5261083" cy="3739896"/>
          </a:xfrm>
          <a:prstGeom prst="rect">
            <a:avLst/>
          </a:prstGeom>
        </p:spPr>
      </p:pic>
      <p:sp>
        <p:nvSpPr>
          <p:cNvPr id="8" name="TextBox 7"/>
          <p:cNvSpPr txBox="1"/>
          <p:nvPr/>
        </p:nvSpPr>
        <p:spPr>
          <a:xfrm>
            <a:off x="274320" y="2054896"/>
            <a:ext cx="26517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Membrana perinei (feminina, pars libera)</a:t>
            </a:r>
          </a:p>
        </p:txBody>
      </p:sp>
      <p:cxnSp>
        <p:nvCxnSpPr>
          <p:cNvPr id="9" name="Connector 8"/>
          <p:cNvCxnSpPr/>
          <p:nvPr/>
        </p:nvCxnSpPr>
        <p:spPr>
          <a:xfrm>
            <a:off x="2926079" y="2210344"/>
            <a:ext cx="131837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198730" y="21646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65615" y="2054896"/>
            <a:ext cx="26517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Membrana perinei (masculina, pars libera)</a:t>
            </a:r>
          </a:p>
        </p:txBody>
      </p:sp>
      <p:cxnSp>
        <p:nvCxnSpPr>
          <p:cNvPr id="12" name="Connector 11"/>
          <p:cNvCxnSpPr/>
          <p:nvPr/>
        </p:nvCxnSpPr>
        <p:spPr>
          <a:xfrm flipH="1">
            <a:off x="8028869" y="2210344"/>
            <a:ext cx="123674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983149" y="21646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4855464"/>
            <a:ext cx="588233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4 – Kampelmann M. ve ark., 2025 (PMC13069139, CC BY)</a:t>
            </a:r>
          </a:p>
        </p:txBody>
      </p:sp>
      <p:sp>
        <p:nvSpPr>
          <p:cNvPr id="15" name="Rectangle 14"/>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Membrana perinei = eski 'fascia diaphragmatis urogenitalis inferior'; arka serbest kenarı m. transversus perinei superficialis ve Colles fasyasının kaynaştığı çizgidir (spatium superficiale'nin arka sınırı).</a:t>
            </a:r>
          </a:p>
        </p:txBody>
      </p:sp>
      <p:cxnSp>
        <p:nvCxnSpPr>
          <p:cNvPr id="17" name="Connector 1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Kampelmann M., Grindley C., Mühlfeld C. et al. Macroscopical and histological characterization of the perineal membrane and deep perineal pouch. J Anat. 2025 Oct 22;248(5):755–65. doi: 10.1111/joa.70057 PMCID: PMC13069139. Lisans: CC BY.</a:t>
            </a:r>
          </a:p>
        </p:txBody>
      </p:sp>
      <p:sp>
        <p:nvSpPr>
          <p:cNvPr id="19" name="TextBox 1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Membrana perinei ve derin aralık – güncel tartışma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Kampelmann ve ark. 2025: üst ♀, alt ♂ (kaudalden bakış)</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JOA-248-755-g001_0_0_661_672.jpg"/>
          <p:cNvPicPr>
            <a:picLocks noChangeAspect="1"/>
          </p:cNvPicPr>
          <p:nvPr/>
        </p:nvPicPr>
        <p:blipFill>
          <a:blip r:embed="rId2"/>
          <a:stretch>
            <a:fillRect/>
          </a:stretch>
        </p:blipFill>
        <p:spPr>
          <a:xfrm>
            <a:off x="2377440" y="1144950"/>
            <a:ext cx="3611879" cy="3671986"/>
          </a:xfrm>
          <a:prstGeom prst="rect">
            <a:avLst/>
          </a:prstGeom>
        </p:spPr>
      </p:pic>
      <p:sp>
        <p:nvSpPr>
          <p:cNvPr id="8" name="TextBox 7"/>
          <p:cNvSpPr txBox="1"/>
          <p:nvPr/>
        </p:nvSpPr>
        <p:spPr>
          <a:xfrm>
            <a:off x="228600" y="185832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ischiocavernosus</a:t>
            </a:r>
          </a:p>
        </p:txBody>
      </p:sp>
      <p:cxnSp>
        <p:nvCxnSpPr>
          <p:cNvPr id="9" name="Connector 8"/>
          <p:cNvCxnSpPr/>
          <p:nvPr/>
        </p:nvCxnSpPr>
        <p:spPr>
          <a:xfrm>
            <a:off x="2286000" y="2013768"/>
            <a:ext cx="217332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413605" y="196804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24236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bulbospongiosus</a:t>
            </a:r>
          </a:p>
        </p:txBody>
      </p:sp>
      <p:cxnSp>
        <p:nvCxnSpPr>
          <p:cNvPr id="12" name="Connector 11"/>
          <p:cNvCxnSpPr/>
          <p:nvPr/>
        </p:nvCxnSpPr>
        <p:spPr>
          <a:xfrm flipV="1">
            <a:off x="2286000" y="2161304"/>
            <a:ext cx="1676077" cy="23651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916357" y="211558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2672496"/>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Membrana perinei / m. transv. perinei prof.</a:t>
            </a:r>
          </a:p>
        </p:txBody>
      </p:sp>
      <p:cxnSp>
        <p:nvCxnSpPr>
          <p:cNvPr id="15" name="Connector 14"/>
          <p:cNvCxnSpPr/>
          <p:nvPr/>
        </p:nvCxnSpPr>
        <p:spPr>
          <a:xfrm>
            <a:off x="2286000" y="2827944"/>
            <a:ext cx="246839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708675" y="27822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24078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Fossa ischioanalis</a:t>
            </a:r>
          </a:p>
        </p:txBody>
      </p:sp>
      <p:cxnSp>
        <p:nvCxnSpPr>
          <p:cNvPr id="18" name="Connector 17"/>
          <p:cNvCxnSpPr/>
          <p:nvPr/>
        </p:nvCxnSpPr>
        <p:spPr>
          <a:xfrm>
            <a:off x="2286000" y="3396228"/>
            <a:ext cx="263232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872603" y="335050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362482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levator ani</a:t>
            </a:r>
          </a:p>
        </p:txBody>
      </p:sp>
      <p:cxnSp>
        <p:nvCxnSpPr>
          <p:cNvPr id="21" name="Connector 20"/>
          <p:cNvCxnSpPr/>
          <p:nvPr/>
        </p:nvCxnSpPr>
        <p:spPr>
          <a:xfrm flipV="1">
            <a:off x="2286000" y="3576549"/>
            <a:ext cx="2342717" cy="20372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582997" y="353082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77440" y="4835225"/>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2 – Kampelmann M. ve ark., 2025 (PMC13069139, CC BY)</a:t>
            </a:r>
          </a:p>
        </p:txBody>
      </p:sp>
      <p:pic>
        <p:nvPicPr>
          <p:cNvPr id="24" name="Picture 23" descr="JOA-248-755-g001_0_686_661_1332.jpg"/>
          <p:cNvPicPr>
            <a:picLocks noChangeAspect="1"/>
          </p:cNvPicPr>
          <p:nvPr/>
        </p:nvPicPr>
        <p:blipFill>
          <a:blip r:embed="rId3"/>
          <a:stretch>
            <a:fillRect/>
          </a:stretch>
        </p:blipFill>
        <p:spPr>
          <a:xfrm>
            <a:off x="6172200" y="1201240"/>
            <a:ext cx="3642055" cy="3559406"/>
          </a:xfrm>
          <a:prstGeom prst="rect">
            <a:avLst/>
          </a:prstGeom>
        </p:spPr>
      </p:pic>
      <p:sp>
        <p:nvSpPr>
          <p:cNvPr id="25" name="TextBox 24"/>
          <p:cNvSpPr txBox="1"/>
          <p:nvPr/>
        </p:nvSpPr>
        <p:spPr>
          <a:xfrm>
            <a:off x="9905695" y="1993498"/>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bulbospongiosus</a:t>
            </a:r>
          </a:p>
        </p:txBody>
      </p:sp>
      <p:cxnSp>
        <p:nvCxnSpPr>
          <p:cNvPr id="26" name="Connector 25"/>
          <p:cNvCxnSpPr/>
          <p:nvPr/>
        </p:nvCxnSpPr>
        <p:spPr>
          <a:xfrm flipH="1">
            <a:off x="8249438" y="2148946"/>
            <a:ext cx="165625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8203718" y="210322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05695" y="247837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ischiocavernosus</a:t>
            </a:r>
          </a:p>
        </p:txBody>
      </p:sp>
      <p:cxnSp>
        <p:nvCxnSpPr>
          <p:cNvPr id="29" name="Connector 28"/>
          <p:cNvCxnSpPr/>
          <p:nvPr/>
        </p:nvCxnSpPr>
        <p:spPr>
          <a:xfrm flipH="1">
            <a:off x="8574523" y="2633819"/>
            <a:ext cx="133117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528803" y="258809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05695" y="2862419"/>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Membrana perinei / m. transv. perinei prof.</a:t>
            </a:r>
          </a:p>
        </p:txBody>
      </p:sp>
      <p:cxnSp>
        <p:nvCxnSpPr>
          <p:cNvPr id="32" name="Connector 31"/>
          <p:cNvCxnSpPr/>
          <p:nvPr/>
        </p:nvCxnSpPr>
        <p:spPr>
          <a:xfrm flipH="1" flipV="1">
            <a:off x="7770075" y="2903805"/>
            <a:ext cx="2135620" cy="11406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724355" y="285808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05695" y="3246467"/>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transversus perinei superf.</a:t>
            </a:r>
          </a:p>
        </p:txBody>
      </p:sp>
      <p:cxnSp>
        <p:nvCxnSpPr>
          <p:cNvPr id="35" name="Connector 34"/>
          <p:cNvCxnSpPr/>
          <p:nvPr/>
        </p:nvCxnSpPr>
        <p:spPr>
          <a:xfrm flipH="1" flipV="1">
            <a:off x="8354127" y="3102162"/>
            <a:ext cx="1551568" cy="29975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308407" y="305644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05695" y="3630515"/>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levator ani</a:t>
            </a:r>
          </a:p>
        </p:txBody>
      </p:sp>
      <p:cxnSp>
        <p:nvCxnSpPr>
          <p:cNvPr id="38" name="Connector 37"/>
          <p:cNvCxnSpPr/>
          <p:nvPr/>
        </p:nvCxnSpPr>
        <p:spPr>
          <a:xfrm flipH="1" flipV="1">
            <a:off x="7676407" y="3548465"/>
            <a:ext cx="2229288" cy="23749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7630687" y="350274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05695" y="4014563"/>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Fossa ischioanalis</a:t>
            </a:r>
          </a:p>
        </p:txBody>
      </p:sp>
      <p:cxnSp>
        <p:nvCxnSpPr>
          <p:cNvPr id="41" name="Connector 40"/>
          <p:cNvCxnSpPr/>
          <p:nvPr/>
        </p:nvCxnSpPr>
        <p:spPr>
          <a:xfrm flipH="1" flipV="1">
            <a:off x="8640642" y="3581524"/>
            <a:ext cx="1265053" cy="58848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8594922" y="353580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72200" y="4778935"/>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2 – Kampelmann M. ve ark., 2025 (PMC13069139, CC BY)</a:t>
            </a:r>
          </a:p>
        </p:txBody>
      </p:sp>
      <p:sp>
        <p:nvSpPr>
          <p:cNvPr id="44" name="Rectangle 43"/>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10 bağışçı: membrana perinei'nin üstünde 4–5 mm kalın doku plağı; makroskopik olarak belirgin transvers çizgili kas yok, bağ dokusu hacim yoğunluğu ≈%80, kadında çizgili kas &lt;%1.</a:t>
            </a:r>
          </a:p>
          <a:p>
            <a:pPr>
              <a:spcAft>
                <a:spcPts val="200"/>
              </a:spcAft>
            </a:pPr>
            <a:r>
              <a:rPr sz="1500">
                <a:solidFill>
                  <a:srgbClr val="1F2A44"/>
                </a:solidFill>
                <a:latin typeface="Calibri"/>
              </a:rPr>
              <a:t>• Sonuç: derin aralık 'kas diyaframı' değil, fibromusküler bir plaktır (bkz. Muro 2025 – düz kas yorumu).</a:t>
            </a:r>
          </a:p>
        </p:txBody>
      </p:sp>
      <p:cxnSp>
        <p:nvCxnSpPr>
          <p:cNvPr id="46" name="Connector 4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Kampelmann M., Grindley C., Mühlfeld C. et al. Macroscopical and histological characterization of the perineal membrane and deep perineal pouch. J Anat. 2025 Oct 22;248(5):755–65. doi: 10.1111/joa.70057 PMCID: PMC13069139. Lisans: CC BY.</a:t>
            </a:r>
          </a:p>
        </p:txBody>
      </p:sp>
      <p:sp>
        <p:nvSpPr>
          <p:cNvPr id="48" name="TextBox 4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Spatium perinei superficiale ve profundum – içerik</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Erkek ve kadında karşılaştırmalı</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graphicFrame>
        <p:nvGraphicFramePr>
          <p:cNvPr id="7" name="Table 6"/>
          <p:cNvGraphicFramePr>
            <a:graphicFrameLocks noGrp="1"/>
          </p:cNvGraphicFramePr>
          <p:nvPr/>
        </p:nvGraphicFramePr>
        <p:xfrm>
          <a:off x="274320" y="1143000"/>
          <a:ext cx="11640311" cy="3291840"/>
        </p:xfrm>
        <a:graphic>
          <a:graphicData uri="http://schemas.openxmlformats.org/drawingml/2006/table">
            <a:tbl>
              <a:tblPr firstRow="1" bandRow="1">
                <a:tableStyleId>{5C22544A-7EE6-4342-B048-85BDC9FD1C3A}</a:tableStyleId>
              </a:tblPr>
              <a:tblGrid>
                <a:gridCol w="2401969"/>
                <a:gridCol w="4619171"/>
                <a:gridCol w="4619171"/>
              </a:tblGrid>
              <a:tr h="1097280">
                <a:tc>
                  <a:txBody>
                    <a:bodyPr/>
                    <a:lstStyle/>
                    <a:p>
                      <a:r>
                        <a:rPr sz="1500" b="1">
                          <a:solidFill>
                            <a:srgbClr val="FFFFFF"/>
                          </a:solidFill>
                          <a:latin typeface="Calibri"/>
                        </a:rPr>
                        <a:t>Aralık</a:t>
                      </a:r>
                    </a:p>
                  </a:txBody>
                  <a:tcPr>
                    <a:solidFill>
                      <a:srgbClr val="1F2A44"/>
                    </a:solidFill>
                  </a:tcPr>
                </a:tc>
                <a:tc>
                  <a:txBody>
                    <a:bodyPr/>
                    <a:lstStyle/>
                    <a:p>
                      <a:r>
                        <a:rPr sz="1500" b="1">
                          <a:solidFill>
                            <a:srgbClr val="FFFFFF"/>
                          </a:solidFill>
                          <a:latin typeface="Calibri"/>
                        </a:rPr>
                        <a:t>Erkek (♂)</a:t>
                      </a:r>
                    </a:p>
                  </a:txBody>
                  <a:tcPr>
                    <a:solidFill>
                      <a:srgbClr val="1F2A44"/>
                    </a:solidFill>
                  </a:tcPr>
                </a:tc>
                <a:tc>
                  <a:txBody>
                    <a:bodyPr/>
                    <a:lstStyle/>
                    <a:p>
                      <a:r>
                        <a:rPr sz="1500" b="1">
                          <a:solidFill>
                            <a:srgbClr val="FFFFFF"/>
                          </a:solidFill>
                          <a:latin typeface="Calibri"/>
                        </a:rPr>
                        <a:t>Kadın (♀)</a:t>
                      </a:r>
                    </a:p>
                  </a:txBody>
                  <a:tcPr>
                    <a:solidFill>
                      <a:srgbClr val="1F2A44"/>
                    </a:solidFill>
                  </a:tcPr>
                </a:tc>
              </a:tr>
              <a:tr h="1097280">
                <a:tc>
                  <a:txBody>
                    <a:bodyPr/>
                    <a:lstStyle/>
                    <a:p>
                      <a:r>
                        <a:rPr sz="1400" b="1">
                          <a:solidFill>
                            <a:srgbClr val="1F2A44"/>
                          </a:solidFill>
                          <a:latin typeface="Calibri"/>
                        </a:rPr>
                        <a:t>Spatium perinei superficiale</a:t>
                      </a:r>
                    </a:p>
                  </a:txBody>
                  <a:tcPr marT="27432" marB="27432">
                    <a:solidFill>
                      <a:srgbClr val="F3F4F6"/>
                    </a:solidFill>
                  </a:tcPr>
                </a:tc>
                <a:tc>
                  <a:txBody>
                    <a:bodyPr/>
                    <a:lstStyle/>
                    <a:p>
                      <a:r>
                        <a:rPr sz="1400">
                          <a:solidFill>
                            <a:srgbClr val="1F2A44"/>
                          </a:solidFill>
                          <a:latin typeface="Calibri"/>
                        </a:rPr>
                        <a:t>Radix penis: </a:t>
                      </a:r>
                      <a:r>
                        <a:rPr sz="1400">
                          <a:solidFill>
                            <a:srgbClr val="1F2A44"/>
                          </a:solidFill>
                          <a:latin typeface="Calibri"/>
                        </a:rPr>
                        <a:t>crura penis</a:t>
                      </a:r>
                      <a:r>
                        <a:rPr sz="1400">
                          <a:solidFill>
                            <a:srgbClr val="1F2A44"/>
                          </a:solidFill>
                          <a:latin typeface="Calibri"/>
                        </a:rPr>
                        <a:t> + </a:t>
                      </a:r>
                      <a:r>
                        <a:rPr sz="1400">
                          <a:solidFill>
                            <a:srgbClr val="1F2A44"/>
                          </a:solidFill>
                          <a:latin typeface="Calibri"/>
                        </a:rPr>
                        <a:t>bulbus penis</a:t>
                      </a:r>
                      <a:r>
                        <a:rPr sz="1400">
                          <a:solidFill>
                            <a:srgbClr val="1F2A44"/>
                          </a:solidFill>
                          <a:latin typeface="Calibri"/>
                        </a:rPr>
                        <a:t>; m. ischiocavernosus, m. bulbospongiosus, m. transversus perinei superficialis; pars spongiosa urethrae'nin proksimali; a./n. perinealis dalları, nn./aa. scrotales posteriores</a:t>
                      </a:r>
                    </a:p>
                  </a:txBody>
                  <a:tcPr marT="27432" marB="27432">
                    <a:solidFill>
                      <a:srgbClr val="F3F4F6"/>
                    </a:solidFill>
                  </a:tcPr>
                </a:tc>
                <a:tc>
                  <a:txBody>
                    <a:bodyPr/>
                    <a:lstStyle/>
                    <a:p>
                      <a:r>
                        <a:rPr sz="1400">
                          <a:solidFill>
                            <a:srgbClr val="1F2A44"/>
                          </a:solidFill>
                          <a:latin typeface="Calibri"/>
                        </a:rPr>
                        <a:t>Crura clitoridis</a:t>
                      </a:r>
                      <a:r>
                        <a:rPr sz="1400">
                          <a:solidFill>
                            <a:srgbClr val="1F2A44"/>
                          </a:solidFill>
                          <a:latin typeface="Calibri"/>
                        </a:rPr>
                        <a:t>, </a:t>
                      </a:r>
                      <a:r>
                        <a:rPr sz="1400">
                          <a:solidFill>
                            <a:srgbClr val="1F2A44"/>
                          </a:solidFill>
                          <a:latin typeface="Calibri"/>
                        </a:rPr>
                        <a:t>bulbi vestibuli</a:t>
                      </a:r>
                      <a:r>
                        <a:rPr sz="1400">
                          <a:solidFill>
                            <a:srgbClr val="1F2A44"/>
                          </a:solidFill>
                          <a:latin typeface="Calibri"/>
                        </a:rPr>
                        <a:t>, </a:t>
                      </a:r>
                      <a:r>
                        <a:rPr sz="1400">
                          <a:solidFill>
                            <a:srgbClr val="1F2A44"/>
                          </a:solidFill>
                          <a:latin typeface="Calibri"/>
                        </a:rPr>
                        <a:t>gll. vestibulares majores (Bartholin)</a:t>
                      </a:r>
                      <a:r>
                        <a:rPr sz="1400">
                          <a:solidFill>
                            <a:srgbClr val="1F2A44"/>
                          </a:solidFill>
                          <a:latin typeface="Calibri"/>
                        </a:rPr>
                        <a:t>; m. ischiocavernosus, m. bulbospongiosus, m. transversus perinei superficialis; nn./aa. labiales posteriores</a:t>
                      </a:r>
                    </a:p>
                  </a:txBody>
                  <a:tcPr marT="27432" marB="27432">
                    <a:solidFill>
                      <a:srgbClr val="F3F4F6"/>
                    </a:solidFill>
                  </a:tcPr>
                </a:tc>
              </a:tr>
              <a:tr h="1097280">
                <a:tc>
                  <a:txBody>
                    <a:bodyPr/>
                    <a:lstStyle/>
                    <a:p>
                      <a:r>
                        <a:rPr sz="1400" b="1">
                          <a:solidFill>
                            <a:srgbClr val="1F2A44"/>
                          </a:solidFill>
                          <a:latin typeface="Calibri"/>
                        </a:rPr>
                        <a:t>Spatium perinei profundum</a:t>
                      </a:r>
                    </a:p>
                  </a:txBody>
                  <a:tcPr marT="27432" marB="27432">
                    <a:solidFill>
                      <a:srgbClr val="FFFFFF"/>
                    </a:solidFill>
                  </a:tcPr>
                </a:tc>
                <a:tc>
                  <a:txBody>
                    <a:bodyPr/>
                    <a:lstStyle/>
                    <a:p>
                      <a:r>
                        <a:rPr sz="1400">
                          <a:solidFill>
                            <a:srgbClr val="1F2A44"/>
                          </a:solidFill>
                          <a:latin typeface="Calibri"/>
                        </a:rPr>
                        <a:t>Pars membranacea urethrae; </a:t>
                      </a:r>
                      <a:r>
                        <a:rPr sz="1400">
                          <a:solidFill>
                            <a:srgbClr val="1F2A44"/>
                          </a:solidFill>
                          <a:latin typeface="Calibri"/>
                        </a:rPr>
                        <a:t>m. sphincter urethrae externus</a:t>
                      </a:r>
                      <a:r>
                        <a:rPr sz="1400">
                          <a:solidFill>
                            <a:srgbClr val="1F2A44"/>
                          </a:solidFill>
                          <a:latin typeface="Calibri"/>
                        </a:rPr>
                        <a:t>; m. transversus perinei profundus; </a:t>
                      </a:r>
                      <a:r>
                        <a:rPr sz="1400">
                          <a:solidFill>
                            <a:srgbClr val="1F2A44"/>
                          </a:solidFill>
                          <a:latin typeface="Calibri"/>
                        </a:rPr>
                        <a:t>gll. bulbourethrales (Cowper)</a:t>
                      </a:r>
                      <a:r>
                        <a:rPr sz="1400">
                          <a:solidFill>
                            <a:srgbClr val="1F2A44"/>
                          </a:solidFill>
                          <a:latin typeface="Calibri"/>
                        </a:rPr>
                        <a:t> – kanalları membrana perinei'yi delip bulbus'a açılır; a./n. dorsalis penis, a. bulbi penis</a:t>
                      </a:r>
                    </a:p>
                  </a:txBody>
                  <a:tcPr marT="27432" marB="27432">
                    <a:solidFill>
                      <a:srgbClr val="FFFFFF"/>
                    </a:solidFill>
                  </a:tcPr>
                </a:tc>
                <a:tc>
                  <a:txBody>
                    <a:bodyPr/>
                    <a:lstStyle/>
                    <a:p>
                      <a:r>
                        <a:rPr sz="1400">
                          <a:solidFill>
                            <a:srgbClr val="1F2A44"/>
                          </a:solidFill>
                          <a:latin typeface="Calibri"/>
                        </a:rPr>
                        <a:t>Urethra'nın proksimali ve vaginanın alt kısmı; </a:t>
                      </a:r>
                      <a:r>
                        <a:rPr sz="1400">
                          <a:solidFill>
                            <a:srgbClr val="1F2A44"/>
                          </a:solidFill>
                          <a:latin typeface="Calibri"/>
                        </a:rPr>
                        <a:t>m. sphincter urethrae externus</a:t>
                      </a:r>
                      <a:r>
                        <a:rPr sz="1400">
                          <a:solidFill>
                            <a:srgbClr val="1F2A44"/>
                          </a:solidFill>
                          <a:latin typeface="Calibri"/>
                        </a:rPr>
                        <a:t>, </a:t>
                      </a:r>
                      <a:r>
                        <a:rPr sz="1400">
                          <a:solidFill>
                            <a:srgbClr val="1F2A44"/>
                          </a:solidFill>
                          <a:latin typeface="Calibri"/>
                        </a:rPr>
                        <a:t>m. compressor urethrae</a:t>
                      </a:r>
                      <a:r>
                        <a:rPr sz="1400">
                          <a:solidFill>
                            <a:srgbClr val="1F2A44"/>
                          </a:solidFill>
                          <a:latin typeface="Calibri"/>
                        </a:rPr>
                        <a:t>, </a:t>
                      </a:r>
                      <a:r>
                        <a:rPr sz="1400">
                          <a:solidFill>
                            <a:srgbClr val="1F2A44"/>
                          </a:solidFill>
                          <a:latin typeface="Calibri"/>
                        </a:rPr>
                        <a:t>m. sphincter urethrovaginalis</a:t>
                      </a:r>
                      <a:r>
                        <a:rPr sz="1400">
                          <a:solidFill>
                            <a:srgbClr val="1F2A44"/>
                          </a:solidFill>
                          <a:latin typeface="Calibri"/>
                        </a:rPr>
                        <a:t>; (m. transversus perinei profundus kadında çoğunlukla düz kas/bağ dokusu); a./n. dorsalis clitoridis</a:t>
                      </a:r>
                    </a:p>
                  </a:txBody>
                  <a:tcPr marT="27432" marB="27432">
                    <a:solidFill>
                      <a:srgbClr val="FFFFFF"/>
                    </a:solidFill>
                  </a:tcPr>
                </a:tc>
              </a:tr>
            </a:tbl>
          </a:graphicData>
        </a:graphic>
      </p:graphicFrame>
      <p:sp>
        <p:nvSpPr>
          <p:cNvPr id="8" name="TextBox 7"/>
          <p:cNvSpPr txBox="1"/>
          <p:nvPr/>
        </p:nvSpPr>
        <p:spPr>
          <a:xfrm>
            <a:off x="274320" y="6035040"/>
            <a:ext cx="11612880" cy="347472"/>
          </a:xfrm>
          <a:prstGeom prst="rect">
            <a:avLst/>
          </a:prstGeom>
          <a:noFill/>
        </p:spPr>
        <p:txBody>
          <a:bodyPr wrap="square" anchor="t" lIns="45720" rIns="45720" tIns="18288" bIns="18288">
            <a:spAutoFit/>
          </a:bodyPr>
          <a:lstStyle/>
          <a:p>
            <a:pPr algn="l"/>
            <a:r>
              <a:rPr sz="1200" b="0" i="1">
                <a:solidFill>
                  <a:srgbClr val="555B66"/>
                </a:solidFill>
                <a:latin typeface="Calibri"/>
              </a:rPr>
              <a:t>Gl. bulbourethralis derin aralıkta, gl. vestibularis major yüzeyel aralıktadır – sık sorulan bir ayrım.</a:t>
            </a:r>
          </a:p>
        </p:txBody>
      </p:sp>
      <p:cxnSp>
        <p:nvCxnSpPr>
          <p:cNvPr id="9" name="Connector 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Regio urogenitalis kasları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Tümünün innervasyonu: n. pudendus – n. perinealis (r. profundus)</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graphicFrame>
        <p:nvGraphicFramePr>
          <p:cNvPr id="7" name="Table 6"/>
          <p:cNvGraphicFramePr>
            <a:graphicFrameLocks noGrp="1"/>
          </p:cNvGraphicFramePr>
          <p:nvPr/>
        </p:nvGraphicFramePr>
        <p:xfrm>
          <a:off x="274320" y="1143000"/>
          <a:ext cx="11640312" cy="5074920"/>
        </p:xfrm>
        <a:graphic>
          <a:graphicData uri="http://schemas.openxmlformats.org/drawingml/2006/table">
            <a:tbl>
              <a:tblPr firstRow="1" bandRow="1">
                <a:tableStyleId>{5C22544A-7EE6-4342-B048-85BDC9FD1C3A}</a:tableStyleId>
              </a:tblPr>
              <a:tblGrid>
                <a:gridCol w="2566368"/>
                <a:gridCol w="2841336"/>
                <a:gridCol w="3116304"/>
                <a:gridCol w="3116304"/>
              </a:tblGrid>
              <a:tr h="634365">
                <a:tc>
                  <a:txBody>
                    <a:bodyPr/>
                    <a:lstStyle/>
                    <a:p>
                      <a:r>
                        <a:rPr sz="1500" b="1">
                          <a:solidFill>
                            <a:srgbClr val="FFFFFF"/>
                          </a:solidFill>
                          <a:latin typeface="Calibri"/>
                        </a:rPr>
                        <a:t>Kas</a:t>
                      </a:r>
                    </a:p>
                  </a:txBody>
                  <a:tcPr>
                    <a:solidFill>
                      <a:srgbClr val="1F2A44"/>
                    </a:solidFill>
                  </a:tcPr>
                </a:tc>
                <a:tc>
                  <a:txBody>
                    <a:bodyPr/>
                    <a:lstStyle/>
                    <a:p>
                      <a:r>
                        <a:rPr sz="1500" b="1">
                          <a:solidFill>
                            <a:srgbClr val="FFFFFF"/>
                          </a:solidFill>
                          <a:latin typeface="Calibri"/>
                        </a:rPr>
                        <a:t>Orijin</a:t>
                      </a:r>
                    </a:p>
                  </a:txBody>
                  <a:tcPr>
                    <a:solidFill>
                      <a:srgbClr val="1F2A44"/>
                    </a:solidFill>
                  </a:tcPr>
                </a:tc>
                <a:tc>
                  <a:txBody>
                    <a:bodyPr/>
                    <a:lstStyle/>
                    <a:p>
                      <a:r>
                        <a:rPr sz="1500" b="1">
                          <a:solidFill>
                            <a:srgbClr val="FFFFFF"/>
                          </a:solidFill>
                          <a:latin typeface="Calibri"/>
                        </a:rPr>
                        <a:t>İnsersiyo</a:t>
                      </a:r>
                    </a:p>
                  </a:txBody>
                  <a:tcPr>
                    <a:solidFill>
                      <a:srgbClr val="1F2A44"/>
                    </a:solidFill>
                  </a:tcPr>
                </a:tc>
                <a:tc>
                  <a:txBody>
                    <a:bodyPr/>
                    <a:lstStyle/>
                    <a:p>
                      <a:r>
                        <a:rPr sz="1500" b="1">
                          <a:solidFill>
                            <a:srgbClr val="FFFFFF"/>
                          </a:solidFill>
                          <a:latin typeface="Calibri"/>
                        </a:rPr>
                        <a:t>Fonksiyon</a:t>
                      </a:r>
                    </a:p>
                  </a:txBody>
                  <a:tcPr>
                    <a:solidFill>
                      <a:srgbClr val="1F2A44"/>
                    </a:solidFill>
                  </a:tcPr>
                </a:tc>
              </a:tr>
              <a:tr h="634365">
                <a:tc>
                  <a:txBody>
                    <a:bodyPr/>
                    <a:lstStyle/>
                    <a:p>
                      <a:r>
                        <a:rPr sz="1300" b="1">
                          <a:solidFill>
                            <a:srgbClr val="1F2A44"/>
                          </a:solidFill>
                          <a:latin typeface="Calibri"/>
                        </a:rPr>
                        <a:t>M. ischiocavernosus</a:t>
                      </a:r>
                    </a:p>
                  </a:txBody>
                  <a:tcPr marT="27432" marB="27432">
                    <a:solidFill>
                      <a:srgbClr val="F3F4F6"/>
                    </a:solidFill>
                  </a:tcPr>
                </a:tc>
                <a:tc>
                  <a:txBody>
                    <a:bodyPr/>
                    <a:lstStyle/>
                    <a:p>
                      <a:r>
                        <a:rPr sz="1300">
                          <a:solidFill>
                            <a:srgbClr val="1F2A44"/>
                          </a:solidFill>
                          <a:latin typeface="Calibri"/>
                        </a:rPr>
                        <a:t>Ramus ossis ischii iç yüzü, tuber ischiadicum</a:t>
                      </a:r>
                    </a:p>
                  </a:txBody>
                  <a:tcPr marT="27432" marB="27432">
                    <a:solidFill>
                      <a:srgbClr val="F3F4F6"/>
                    </a:solidFill>
                  </a:tcPr>
                </a:tc>
                <a:tc>
                  <a:txBody>
                    <a:bodyPr/>
                    <a:lstStyle/>
                    <a:p>
                      <a:r>
                        <a:rPr sz="1300">
                          <a:solidFill>
                            <a:srgbClr val="1F2A44"/>
                          </a:solidFill>
                          <a:latin typeface="Calibri"/>
                        </a:rPr>
                        <a:t>Crus penis/clitoridis (tunica albuginea)</a:t>
                      </a:r>
                    </a:p>
                  </a:txBody>
                  <a:tcPr marT="27432" marB="27432">
                    <a:solidFill>
                      <a:srgbClr val="F3F4F6"/>
                    </a:solidFill>
                  </a:tcPr>
                </a:tc>
                <a:tc>
                  <a:txBody>
                    <a:bodyPr/>
                    <a:lstStyle/>
                    <a:p>
                      <a:r>
                        <a:rPr sz="1300">
                          <a:solidFill>
                            <a:srgbClr val="1F2A44"/>
                          </a:solidFill>
                          <a:latin typeface="Calibri"/>
                        </a:rPr>
                        <a:t>Crus'tan venöz dönüşü azaltır, ereksiyonu sürdürür</a:t>
                      </a:r>
                    </a:p>
                  </a:txBody>
                  <a:tcPr marT="27432" marB="27432">
                    <a:solidFill>
                      <a:srgbClr val="F3F4F6"/>
                    </a:solidFill>
                  </a:tcPr>
                </a:tc>
              </a:tr>
              <a:tr h="634365">
                <a:tc>
                  <a:txBody>
                    <a:bodyPr/>
                    <a:lstStyle/>
                    <a:p>
                      <a:r>
                        <a:rPr sz="1300" b="1">
                          <a:solidFill>
                            <a:srgbClr val="1F2A44"/>
                          </a:solidFill>
                          <a:latin typeface="Calibri"/>
                        </a:rPr>
                        <a:t>M. bulbospongiosus</a:t>
                      </a:r>
                    </a:p>
                  </a:txBody>
                  <a:tcPr marT="27432" marB="27432">
                    <a:solidFill>
                      <a:srgbClr val="FFFFFF"/>
                    </a:solidFill>
                  </a:tcPr>
                </a:tc>
                <a:tc>
                  <a:txBody>
                    <a:bodyPr/>
                    <a:lstStyle/>
                    <a:p>
                      <a:r>
                        <a:rPr sz="1300">
                          <a:solidFill>
                            <a:srgbClr val="1F2A44"/>
                          </a:solidFill>
                          <a:latin typeface="Calibri"/>
                        </a:rPr>
                        <a:t>♂ corpus perineale, raphe (bulbus altında); ♀ corpus perineale</a:t>
                      </a:r>
                    </a:p>
                  </a:txBody>
                  <a:tcPr marT="27432" marB="27432">
                    <a:solidFill>
                      <a:srgbClr val="FFFFFF"/>
                    </a:solidFill>
                  </a:tcPr>
                </a:tc>
                <a:tc>
                  <a:txBody>
                    <a:bodyPr/>
                    <a:lstStyle/>
                    <a:p>
                      <a:r>
                        <a:rPr sz="1300">
                          <a:solidFill>
                            <a:srgbClr val="1F2A44"/>
                          </a:solidFill>
                          <a:latin typeface="Calibri"/>
                        </a:rPr>
                        <a:t>♂ membrana perinei, corpus spongiosum, fascia penis profunda; ♀ arcus pubicus, clitoris (bulbi vestibuli üstü)</a:t>
                      </a:r>
                    </a:p>
                  </a:txBody>
                  <a:tcPr marT="27432" marB="27432">
                    <a:solidFill>
                      <a:srgbClr val="FFFFFF"/>
                    </a:solidFill>
                  </a:tcPr>
                </a:tc>
                <a:tc>
                  <a:txBody>
                    <a:bodyPr/>
                    <a:lstStyle/>
                    <a:p>
                      <a:r>
                        <a:rPr sz="1300">
                          <a:solidFill>
                            <a:srgbClr val="1F2A44"/>
                          </a:solidFill>
                          <a:latin typeface="Calibri"/>
                        </a:rPr>
                        <a:t>♂ ejakülasyon, işeme sonrası boşaltma; ♀ vestibulum daraltma (sphincter vaginae)</a:t>
                      </a:r>
                    </a:p>
                  </a:txBody>
                  <a:tcPr marT="27432" marB="27432">
                    <a:solidFill>
                      <a:srgbClr val="FFFFFF"/>
                    </a:solidFill>
                  </a:tcPr>
                </a:tc>
              </a:tr>
              <a:tr h="634365">
                <a:tc>
                  <a:txBody>
                    <a:bodyPr/>
                    <a:lstStyle/>
                    <a:p>
                      <a:r>
                        <a:rPr sz="1300" b="1">
                          <a:solidFill>
                            <a:srgbClr val="1F2A44"/>
                          </a:solidFill>
                          <a:latin typeface="Calibri"/>
                        </a:rPr>
                        <a:t>M. transversus perinei superficialis</a:t>
                      </a:r>
                    </a:p>
                  </a:txBody>
                  <a:tcPr marT="27432" marB="27432">
                    <a:solidFill>
                      <a:srgbClr val="F3F4F6"/>
                    </a:solidFill>
                  </a:tcPr>
                </a:tc>
                <a:tc>
                  <a:txBody>
                    <a:bodyPr/>
                    <a:lstStyle/>
                    <a:p>
                      <a:r>
                        <a:rPr sz="1300">
                          <a:solidFill>
                            <a:srgbClr val="1F2A44"/>
                          </a:solidFill>
                          <a:latin typeface="Calibri"/>
                        </a:rPr>
                        <a:t>Tuber ischiadicum ön-iç yüzü</a:t>
                      </a:r>
                    </a:p>
                  </a:txBody>
                  <a:tcPr marT="27432" marB="27432">
                    <a:solidFill>
                      <a:srgbClr val="F3F4F6"/>
                    </a:solidFill>
                  </a:tcPr>
                </a:tc>
                <a:tc>
                  <a:txBody>
                    <a:bodyPr/>
                    <a:lstStyle/>
                    <a:p>
                      <a:r>
                        <a:rPr sz="1300">
                          <a:solidFill>
                            <a:srgbClr val="1F2A44"/>
                          </a:solidFill>
                          <a:latin typeface="Calibri"/>
                        </a:rPr>
                        <a:t>Corpus perineale</a:t>
                      </a:r>
                    </a:p>
                  </a:txBody>
                  <a:tcPr marT="27432" marB="27432">
                    <a:solidFill>
                      <a:srgbClr val="F3F4F6"/>
                    </a:solidFill>
                  </a:tcPr>
                </a:tc>
                <a:tc>
                  <a:txBody>
                    <a:bodyPr/>
                    <a:lstStyle/>
                    <a:p>
                      <a:r>
                        <a:rPr sz="1300">
                          <a:solidFill>
                            <a:srgbClr val="1F2A44"/>
                          </a:solidFill>
                          <a:latin typeface="Calibri"/>
                        </a:rPr>
                        <a:t>Corpus perineale'yi sabitler</a:t>
                      </a:r>
                    </a:p>
                  </a:txBody>
                  <a:tcPr marT="27432" marB="27432">
                    <a:solidFill>
                      <a:srgbClr val="F3F4F6"/>
                    </a:solidFill>
                  </a:tcPr>
                </a:tc>
              </a:tr>
              <a:tr h="634365">
                <a:tc>
                  <a:txBody>
                    <a:bodyPr/>
                    <a:lstStyle/>
                    <a:p>
                      <a:r>
                        <a:rPr sz="1300" b="1">
                          <a:solidFill>
                            <a:srgbClr val="1F2A44"/>
                          </a:solidFill>
                          <a:latin typeface="Calibri"/>
                        </a:rPr>
                        <a:t>M. transversus perinei profundus</a:t>
                      </a:r>
                    </a:p>
                  </a:txBody>
                  <a:tcPr marT="27432" marB="27432">
                    <a:solidFill>
                      <a:srgbClr val="FFFFFF"/>
                    </a:solidFill>
                  </a:tcPr>
                </a:tc>
                <a:tc>
                  <a:txBody>
                    <a:bodyPr/>
                    <a:lstStyle/>
                    <a:p>
                      <a:r>
                        <a:rPr sz="1300">
                          <a:solidFill>
                            <a:srgbClr val="1F2A44"/>
                          </a:solidFill>
                          <a:latin typeface="Calibri"/>
                        </a:rPr>
                        <a:t>Ramus ossis ischii iç yüzü</a:t>
                      </a:r>
                    </a:p>
                  </a:txBody>
                  <a:tcPr marT="27432" marB="27432">
                    <a:solidFill>
                      <a:srgbClr val="FFFFFF"/>
                    </a:solidFill>
                  </a:tcPr>
                </a:tc>
                <a:tc>
                  <a:txBody>
                    <a:bodyPr/>
                    <a:lstStyle/>
                    <a:p>
                      <a:r>
                        <a:rPr sz="1300">
                          <a:solidFill>
                            <a:srgbClr val="1F2A44"/>
                          </a:solidFill>
                          <a:latin typeface="Calibri"/>
                        </a:rPr>
                        <a:t>Corpus perineale, raphe</a:t>
                      </a:r>
                    </a:p>
                  </a:txBody>
                  <a:tcPr marT="27432" marB="27432">
                    <a:solidFill>
                      <a:srgbClr val="FFFFFF"/>
                    </a:solidFill>
                  </a:tcPr>
                </a:tc>
                <a:tc>
                  <a:txBody>
                    <a:bodyPr/>
                    <a:lstStyle/>
                    <a:p>
                      <a:r>
                        <a:rPr sz="1300">
                          <a:solidFill>
                            <a:srgbClr val="1F2A44"/>
                          </a:solidFill>
                          <a:latin typeface="Calibri"/>
                        </a:rPr>
                        <a:t>Corpus perineale'yi sabitler (♀ zayıf)</a:t>
                      </a:r>
                    </a:p>
                  </a:txBody>
                  <a:tcPr marT="27432" marB="27432">
                    <a:solidFill>
                      <a:srgbClr val="FFFFFF"/>
                    </a:solidFill>
                  </a:tcPr>
                </a:tc>
              </a:tr>
              <a:tr h="634365">
                <a:tc>
                  <a:txBody>
                    <a:bodyPr/>
                    <a:lstStyle/>
                    <a:p>
                      <a:r>
                        <a:rPr sz="1300" b="1">
                          <a:solidFill>
                            <a:srgbClr val="1F2A44"/>
                          </a:solidFill>
                          <a:latin typeface="Calibri"/>
                        </a:rPr>
                        <a:t>M. sphincter urethrae externus</a:t>
                      </a:r>
                    </a:p>
                  </a:txBody>
                  <a:tcPr marT="27432" marB="27432">
                    <a:solidFill>
                      <a:srgbClr val="F3F4F6"/>
                    </a:solidFill>
                  </a:tcPr>
                </a:tc>
                <a:tc>
                  <a:txBody>
                    <a:bodyPr/>
                    <a:lstStyle/>
                    <a:p>
                      <a:r>
                        <a:rPr sz="1300">
                          <a:solidFill>
                            <a:srgbClr val="1F2A44"/>
                          </a:solidFill>
                          <a:latin typeface="Calibri"/>
                        </a:rPr>
                        <a:t>Urethra çevresinde halka (♂ prostat apeksine dek dikey uzanır)</a:t>
                      </a:r>
                    </a:p>
                  </a:txBody>
                  <a:tcPr marT="27432" marB="27432">
                    <a:solidFill>
                      <a:srgbClr val="F3F4F6"/>
                    </a:solidFill>
                  </a:tcPr>
                </a:tc>
                <a:tc>
                  <a:txBody>
                    <a:bodyPr/>
                    <a:lstStyle/>
                    <a:p>
                      <a:r>
                        <a:rPr sz="1300">
                          <a:solidFill>
                            <a:srgbClr val="1F2A44"/>
                          </a:solidFill>
                          <a:latin typeface="Calibri"/>
                        </a:rPr>
                        <a:t>Urethra çevresi</a:t>
                      </a:r>
                    </a:p>
                  </a:txBody>
                  <a:tcPr marT="27432" marB="27432">
                    <a:solidFill>
                      <a:srgbClr val="F3F4F6"/>
                    </a:solidFill>
                  </a:tcPr>
                </a:tc>
                <a:tc>
                  <a:txBody>
                    <a:bodyPr/>
                    <a:lstStyle/>
                    <a:p>
                      <a:r>
                        <a:rPr sz="1300">
                          <a:solidFill>
                            <a:srgbClr val="1F2A44"/>
                          </a:solidFill>
                          <a:latin typeface="Calibri"/>
                        </a:rPr>
                        <a:t>İstemli kontinans</a:t>
                      </a:r>
                    </a:p>
                  </a:txBody>
                  <a:tcPr marT="27432" marB="27432">
                    <a:solidFill>
                      <a:srgbClr val="F3F4F6"/>
                    </a:solidFill>
                  </a:tcPr>
                </a:tc>
              </a:tr>
              <a:tr h="634365">
                <a:tc>
                  <a:txBody>
                    <a:bodyPr/>
                    <a:lstStyle/>
                    <a:p>
                      <a:r>
                        <a:rPr sz="1300" b="1">
                          <a:solidFill>
                            <a:srgbClr val="1F2A44"/>
                          </a:solidFill>
                          <a:latin typeface="Calibri"/>
                        </a:rPr>
                        <a:t>M. compressor urethrae (♀)</a:t>
                      </a:r>
                    </a:p>
                  </a:txBody>
                  <a:tcPr marT="27432" marB="27432">
                    <a:solidFill>
                      <a:srgbClr val="FFFFFF"/>
                    </a:solidFill>
                  </a:tcPr>
                </a:tc>
                <a:tc>
                  <a:txBody>
                    <a:bodyPr/>
                    <a:lstStyle/>
                    <a:p>
                      <a:r>
                        <a:rPr sz="1300">
                          <a:solidFill>
                            <a:srgbClr val="1F2A44"/>
                          </a:solidFill>
                          <a:latin typeface="Calibri"/>
                        </a:rPr>
                        <a:t>Rami ischiopubici</a:t>
                      </a:r>
                    </a:p>
                  </a:txBody>
                  <a:tcPr marT="27432" marB="27432">
                    <a:solidFill>
                      <a:srgbClr val="FFFFFF"/>
                    </a:solidFill>
                  </a:tcPr>
                </a:tc>
                <a:tc>
                  <a:txBody>
                    <a:bodyPr/>
                    <a:lstStyle/>
                    <a:p>
                      <a:r>
                        <a:rPr sz="1300">
                          <a:solidFill>
                            <a:srgbClr val="1F2A44"/>
                          </a:solidFill>
                          <a:latin typeface="Calibri"/>
                        </a:rPr>
                        <a:t>Urethra önünde karşı taraf ile birleşir</a:t>
                      </a:r>
                    </a:p>
                  </a:txBody>
                  <a:tcPr marT="27432" marB="27432">
                    <a:solidFill>
                      <a:srgbClr val="FFFFFF"/>
                    </a:solidFill>
                  </a:tcPr>
                </a:tc>
                <a:tc>
                  <a:txBody>
                    <a:bodyPr/>
                    <a:lstStyle/>
                    <a:p>
                      <a:r>
                        <a:rPr sz="1300">
                          <a:solidFill>
                            <a:srgbClr val="1F2A44"/>
                          </a:solidFill>
                          <a:latin typeface="Calibri"/>
                        </a:rPr>
                        <a:t>Urethrayı sıkıştırır</a:t>
                      </a:r>
                    </a:p>
                  </a:txBody>
                  <a:tcPr marT="27432" marB="27432">
                    <a:solidFill>
                      <a:srgbClr val="FFFFFF"/>
                    </a:solidFill>
                  </a:tcPr>
                </a:tc>
              </a:tr>
              <a:tr h="634365">
                <a:tc>
                  <a:txBody>
                    <a:bodyPr/>
                    <a:lstStyle/>
                    <a:p>
                      <a:r>
                        <a:rPr sz="1300" b="1">
                          <a:solidFill>
                            <a:srgbClr val="1F2A44"/>
                          </a:solidFill>
                          <a:latin typeface="Calibri"/>
                        </a:rPr>
                        <a:t>M. sphincter urethrovaginalis (♀)</a:t>
                      </a:r>
                    </a:p>
                  </a:txBody>
                  <a:tcPr marT="27432" marB="27432">
                    <a:solidFill>
                      <a:srgbClr val="F3F4F6"/>
                    </a:solidFill>
                  </a:tcPr>
                </a:tc>
                <a:tc>
                  <a:txBody>
                    <a:bodyPr/>
                    <a:lstStyle/>
                    <a:p>
                      <a:r>
                        <a:rPr sz="1300">
                          <a:solidFill>
                            <a:srgbClr val="1F2A44"/>
                          </a:solidFill>
                          <a:latin typeface="Calibri"/>
                        </a:rPr>
                        <a:t>Corpus perineale</a:t>
                      </a:r>
                    </a:p>
                  </a:txBody>
                  <a:tcPr marT="27432" marB="27432">
                    <a:solidFill>
                      <a:srgbClr val="F3F4F6"/>
                    </a:solidFill>
                  </a:tcPr>
                </a:tc>
                <a:tc>
                  <a:txBody>
                    <a:bodyPr/>
                    <a:lstStyle/>
                    <a:p>
                      <a:r>
                        <a:rPr sz="1300">
                          <a:solidFill>
                            <a:srgbClr val="1F2A44"/>
                          </a:solidFill>
                          <a:latin typeface="Calibri"/>
                        </a:rPr>
                        <a:t>Urethra ve vagina'yı çevreler</a:t>
                      </a:r>
                    </a:p>
                  </a:txBody>
                  <a:tcPr marT="27432" marB="27432">
                    <a:solidFill>
                      <a:srgbClr val="F3F4F6"/>
                    </a:solidFill>
                  </a:tcPr>
                </a:tc>
                <a:tc>
                  <a:txBody>
                    <a:bodyPr/>
                    <a:lstStyle/>
                    <a:p>
                      <a:r>
                        <a:rPr sz="1300">
                          <a:solidFill>
                            <a:srgbClr val="1F2A44"/>
                          </a:solidFill>
                          <a:latin typeface="Calibri"/>
                        </a:rPr>
                        <a:t>Urethra ve vagina'yı daraltır</a:t>
                      </a:r>
                    </a:p>
                  </a:txBody>
                  <a:tcPr marT="27432" marB="27432">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Standart anatomi bilgisi; ♀ üretral sfinkter kompleksi: Oelrich 1983 Anat Rec 205:223–232.</a:t>
            </a:r>
          </a:p>
        </p:txBody>
      </p:sp>
      <p:sp>
        <p:nvSpPr>
          <p:cNvPr id="10" name="TextBox 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Erkek regio urogenitalis – katman katman diseksiyon (1)</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Sol: yüzeyel aralık kasları · Sağ: kaslar kaldırılınca membrana perinei</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41598_2025_9585_Fig1_HTML_0_0_332_271.jpg"/>
          <p:cNvPicPr>
            <a:picLocks noChangeAspect="1"/>
          </p:cNvPicPr>
          <p:nvPr/>
        </p:nvPicPr>
        <p:blipFill>
          <a:blip r:embed="rId2"/>
          <a:stretch>
            <a:fillRect/>
          </a:stretch>
        </p:blipFill>
        <p:spPr>
          <a:xfrm>
            <a:off x="2377440" y="1506818"/>
            <a:ext cx="3611879" cy="2948251"/>
          </a:xfrm>
          <a:prstGeom prst="rect">
            <a:avLst/>
          </a:prstGeom>
        </p:spPr>
      </p:pic>
      <p:sp>
        <p:nvSpPr>
          <p:cNvPr id="8" name="TextBox 7"/>
          <p:cNvSpPr txBox="1"/>
          <p:nvPr/>
        </p:nvSpPr>
        <p:spPr>
          <a:xfrm>
            <a:off x="228600" y="186269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bulbospongiosus</a:t>
            </a:r>
          </a:p>
        </p:txBody>
      </p:sp>
      <p:cxnSp>
        <p:nvCxnSpPr>
          <p:cNvPr id="9" name="Connector 8"/>
          <p:cNvCxnSpPr/>
          <p:nvPr/>
        </p:nvCxnSpPr>
        <p:spPr>
          <a:xfrm>
            <a:off x="2286000" y="2018138"/>
            <a:ext cx="183210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072385" y="197241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24673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ischiocavernosus</a:t>
            </a:r>
          </a:p>
        </p:txBody>
      </p:sp>
      <p:cxnSp>
        <p:nvCxnSpPr>
          <p:cNvPr id="12" name="Connector 11"/>
          <p:cNvCxnSpPr/>
          <p:nvPr/>
        </p:nvCxnSpPr>
        <p:spPr>
          <a:xfrm flipV="1">
            <a:off x="2286000" y="2181325"/>
            <a:ext cx="1483972" cy="22086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724252" y="213560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2630786"/>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transversus perinei superf.</a:t>
            </a:r>
          </a:p>
        </p:txBody>
      </p:sp>
      <p:cxnSp>
        <p:nvCxnSpPr>
          <p:cNvPr id="15" name="Connector 14"/>
          <p:cNvCxnSpPr/>
          <p:nvPr/>
        </p:nvCxnSpPr>
        <p:spPr>
          <a:xfrm flipV="1">
            <a:off x="2286000" y="2779679"/>
            <a:ext cx="1581884" cy="655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822164" y="273395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40753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sphincter ani externus</a:t>
            </a:r>
          </a:p>
        </p:txBody>
      </p:sp>
      <p:cxnSp>
        <p:nvCxnSpPr>
          <p:cNvPr id="18" name="Connector 17"/>
          <p:cNvCxnSpPr/>
          <p:nvPr/>
        </p:nvCxnSpPr>
        <p:spPr>
          <a:xfrm>
            <a:off x="2286000" y="3562978"/>
            <a:ext cx="220199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442276" y="351725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77440" y="4473357"/>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1 – Muro S. ve ark., 2025 (PMC12229694, CC BY)</a:t>
            </a:r>
          </a:p>
        </p:txBody>
      </p:sp>
      <p:pic>
        <p:nvPicPr>
          <p:cNvPr id="21" name="Picture 20" descr="41598_2025_9585_Fig1_HTML_0_277_332_549.jpg"/>
          <p:cNvPicPr>
            <a:picLocks noChangeAspect="1"/>
          </p:cNvPicPr>
          <p:nvPr/>
        </p:nvPicPr>
        <p:blipFill>
          <a:blip r:embed="rId3"/>
          <a:stretch>
            <a:fillRect/>
          </a:stretch>
        </p:blipFill>
        <p:spPr>
          <a:xfrm>
            <a:off x="6172200" y="1489017"/>
            <a:ext cx="3642055" cy="2983852"/>
          </a:xfrm>
          <a:prstGeom prst="rect">
            <a:avLst/>
          </a:prstGeom>
        </p:spPr>
      </p:pic>
      <p:sp>
        <p:nvSpPr>
          <p:cNvPr id="22" name="TextBox 21"/>
          <p:cNvSpPr txBox="1"/>
          <p:nvPr/>
        </p:nvSpPr>
        <p:spPr>
          <a:xfrm>
            <a:off x="9905695" y="171752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Bulbus penis</a:t>
            </a:r>
          </a:p>
        </p:txBody>
      </p:sp>
      <p:cxnSp>
        <p:nvCxnSpPr>
          <p:cNvPr id="23" name="Connector 22"/>
          <p:cNvCxnSpPr/>
          <p:nvPr/>
        </p:nvCxnSpPr>
        <p:spPr>
          <a:xfrm flipH="1">
            <a:off x="7938377" y="1872969"/>
            <a:ext cx="196731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7892657" y="182724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05695" y="2266023"/>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Ramus ischiopubicus</a:t>
            </a:r>
          </a:p>
        </p:txBody>
      </p:sp>
      <p:cxnSp>
        <p:nvCxnSpPr>
          <p:cNvPr id="26" name="Connector 25"/>
          <p:cNvCxnSpPr/>
          <p:nvPr/>
        </p:nvCxnSpPr>
        <p:spPr>
          <a:xfrm flipH="1">
            <a:off x="6709732" y="2421471"/>
            <a:ext cx="319596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664012" y="237575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05695" y="265007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Membrana perinei</a:t>
            </a:r>
          </a:p>
        </p:txBody>
      </p:sp>
      <p:cxnSp>
        <p:nvCxnSpPr>
          <p:cNvPr id="29" name="Connector 28"/>
          <p:cNvCxnSpPr/>
          <p:nvPr/>
        </p:nvCxnSpPr>
        <p:spPr>
          <a:xfrm flipH="1" flipV="1">
            <a:off x="7400845" y="2695722"/>
            <a:ext cx="2504850" cy="10979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355125" y="265000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05695" y="3297207"/>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levator ani</a:t>
            </a:r>
          </a:p>
        </p:txBody>
      </p:sp>
      <p:cxnSp>
        <p:nvCxnSpPr>
          <p:cNvPr id="32" name="Connector 31"/>
          <p:cNvCxnSpPr/>
          <p:nvPr/>
        </p:nvCxnSpPr>
        <p:spPr>
          <a:xfrm flipH="1">
            <a:off x="7335024" y="3452655"/>
            <a:ext cx="257067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289304" y="340693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05695" y="405414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sphincter ani externus</a:t>
            </a:r>
          </a:p>
        </p:txBody>
      </p:sp>
      <p:cxnSp>
        <p:nvCxnSpPr>
          <p:cNvPr id="35" name="Connector 34"/>
          <p:cNvCxnSpPr/>
          <p:nvPr/>
        </p:nvCxnSpPr>
        <p:spPr>
          <a:xfrm flipH="1">
            <a:off x="8717250" y="4209589"/>
            <a:ext cx="118844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671530" y="416386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4491158"/>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1 – Muro S. ve ark., 2025 (PMC12229694, CC BY)</a:t>
            </a:r>
          </a:p>
        </p:txBody>
      </p:sp>
      <p:sp>
        <p:nvSpPr>
          <p:cNvPr id="38" name="Rectangle 37"/>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Spatium perinei superficiale: bulbus penis'i saran m. bulbospongiosus, crus'u saran m. ischiocavernosus, arkada m. transversus perinei superficialis.</a:t>
            </a:r>
          </a:p>
          <a:p>
            <a:pPr>
              <a:spcAft>
                <a:spcPts val="200"/>
              </a:spcAft>
            </a:pPr>
            <a:r>
              <a:rPr sz="1500">
                <a:solidFill>
                  <a:srgbClr val="1F2A44"/>
                </a:solidFill>
                <a:latin typeface="Calibri"/>
              </a:rPr>
              <a:t>• Membrana perinei rami ischiopubici arasında gerilir; bulbus penis bu levhanın alt yüzüne tutunur.</a:t>
            </a:r>
          </a:p>
        </p:txBody>
      </p:sp>
      <p:cxnSp>
        <p:nvCxnSpPr>
          <p:cNvPr id="40" name="Connector 3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Chang L., Tharnmanularp S. et al. Presence of smooth muscle continuous with the rectal and vaginal walls in the deep perineal space prompts reconsideration of the deep transverse perineal muscle. Sci Rep. 2025 Jul 3;15:23730. doi: 10.1038/s41598-025-09585-9 PMCID: PMC12229694. Lisans: CC BY.</a:t>
            </a:r>
          </a:p>
        </p:txBody>
      </p:sp>
      <p:sp>
        <p:nvSpPr>
          <p:cNvPr id="42" name="TextBox 41"/>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Erkek spatium perinei profundum (2)</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Membrana perinei kaldırılmış: m. sphincter urethrae externus, gl. bulbourethralis</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41598_2025_9585_Fig1_HTML_336_277_669_549.jpg"/>
          <p:cNvPicPr>
            <a:picLocks noChangeAspect="1"/>
          </p:cNvPicPr>
          <p:nvPr/>
        </p:nvPicPr>
        <p:blipFill>
          <a:blip r:embed="rId2"/>
          <a:stretch>
            <a:fillRect/>
          </a:stretch>
        </p:blipFill>
        <p:spPr>
          <a:xfrm>
            <a:off x="2377440" y="1505821"/>
            <a:ext cx="3611879" cy="2950244"/>
          </a:xfrm>
          <a:prstGeom prst="rect">
            <a:avLst/>
          </a:prstGeom>
        </p:spPr>
      </p:pic>
      <p:sp>
        <p:nvSpPr>
          <p:cNvPr id="8" name="TextBox 7"/>
          <p:cNvSpPr txBox="1"/>
          <p:nvPr/>
        </p:nvSpPr>
        <p:spPr>
          <a:xfrm>
            <a:off x="228600" y="1936084"/>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sphincter urethrae externus</a:t>
            </a:r>
          </a:p>
        </p:txBody>
      </p:sp>
      <p:cxnSp>
        <p:nvCxnSpPr>
          <p:cNvPr id="9" name="Connector 8"/>
          <p:cNvCxnSpPr/>
          <p:nvPr/>
        </p:nvCxnSpPr>
        <p:spPr>
          <a:xfrm>
            <a:off x="2286000" y="2091532"/>
            <a:ext cx="153402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774302" y="204581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320132"/>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Urethra (pars membranacea)</a:t>
            </a:r>
          </a:p>
        </p:txBody>
      </p:sp>
      <p:cxnSp>
        <p:nvCxnSpPr>
          <p:cNvPr id="12" name="Connector 11"/>
          <p:cNvCxnSpPr/>
          <p:nvPr/>
        </p:nvCxnSpPr>
        <p:spPr>
          <a:xfrm flipV="1">
            <a:off x="2286000" y="2232536"/>
            <a:ext cx="1837724" cy="24304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078004" y="218681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270418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transversus perinei prof. (düz kas plağı)</a:t>
            </a:r>
          </a:p>
        </p:txBody>
      </p:sp>
      <p:cxnSp>
        <p:nvCxnSpPr>
          <p:cNvPr id="15" name="Connector 14"/>
          <p:cNvCxnSpPr/>
          <p:nvPr/>
        </p:nvCxnSpPr>
        <p:spPr>
          <a:xfrm flipV="1">
            <a:off x="2286000" y="2644702"/>
            <a:ext cx="1230321" cy="21492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470601" y="259898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08822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levator ani</a:t>
            </a:r>
          </a:p>
        </p:txBody>
      </p:sp>
      <p:cxnSp>
        <p:nvCxnSpPr>
          <p:cNvPr id="18" name="Connector 17"/>
          <p:cNvCxnSpPr/>
          <p:nvPr/>
        </p:nvCxnSpPr>
        <p:spPr>
          <a:xfrm flipV="1">
            <a:off x="2286000" y="3241259"/>
            <a:ext cx="1121856" cy="241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362136" y="319553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3595596"/>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Stratum longitudinale tunicae muscularis recti</a:t>
            </a:r>
          </a:p>
        </p:txBody>
      </p:sp>
      <p:cxnSp>
        <p:nvCxnSpPr>
          <p:cNvPr id="21" name="Connector 20"/>
          <p:cNvCxnSpPr/>
          <p:nvPr/>
        </p:nvCxnSpPr>
        <p:spPr>
          <a:xfrm>
            <a:off x="2286000" y="3751044"/>
            <a:ext cx="177264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012925" y="37053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77440" y="4474354"/>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1 – Muro S. ve ark., 2025 (PMC12229694, CC BY)</a:t>
            </a:r>
          </a:p>
        </p:txBody>
      </p:sp>
      <p:pic>
        <p:nvPicPr>
          <p:cNvPr id="24" name="Picture 23" descr="41598_2021_96130_Fig2_HTML_0_460_668_914.jpg"/>
          <p:cNvPicPr>
            <a:picLocks noChangeAspect="1"/>
          </p:cNvPicPr>
          <p:nvPr/>
        </p:nvPicPr>
        <p:blipFill>
          <a:blip r:embed="rId3"/>
          <a:stretch>
            <a:fillRect/>
          </a:stretch>
        </p:blipFill>
        <p:spPr>
          <a:xfrm>
            <a:off x="6172200" y="1743299"/>
            <a:ext cx="3642055" cy="2475289"/>
          </a:xfrm>
          <a:prstGeom prst="rect">
            <a:avLst/>
          </a:prstGeom>
        </p:spPr>
      </p:pic>
      <p:sp>
        <p:nvSpPr>
          <p:cNvPr id="25" name="TextBox 24"/>
          <p:cNvSpPr txBox="1"/>
          <p:nvPr/>
        </p:nvSpPr>
        <p:spPr>
          <a:xfrm>
            <a:off x="9905695" y="1805938"/>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Urethra</a:t>
            </a:r>
          </a:p>
        </p:txBody>
      </p:sp>
      <p:cxnSp>
        <p:nvCxnSpPr>
          <p:cNvPr id="26" name="Connector 25"/>
          <p:cNvCxnSpPr/>
          <p:nvPr/>
        </p:nvCxnSpPr>
        <p:spPr>
          <a:xfrm flipH="1">
            <a:off x="7971418" y="1961386"/>
            <a:ext cx="193427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925698" y="191566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05695" y="2242112"/>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Corpus spongiosum penis</a:t>
            </a:r>
          </a:p>
        </p:txBody>
      </p:sp>
      <p:cxnSp>
        <p:nvCxnSpPr>
          <p:cNvPr id="29" name="Connector 28"/>
          <p:cNvCxnSpPr/>
          <p:nvPr/>
        </p:nvCxnSpPr>
        <p:spPr>
          <a:xfrm flipH="1">
            <a:off x="7998679" y="2397560"/>
            <a:ext cx="190701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952959" y="235184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05695" y="2626160"/>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transversus perinei prof.</a:t>
            </a:r>
          </a:p>
        </p:txBody>
      </p:sp>
      <p:cxnSp>
        <p:nvCxnSpPr>
          <p:cNvPr id="32" name="Connector 31"/>
          <p:cNvCxnSpPr/>
          <p:nvPr/>
        </p:nvCxnSpPr>
        <p:spPr>
          <a:xfrm flipH="1" flipV="1">
            <a:off x="8800150" y="2779213"/>
            <a:ext cx="1105545" cy="239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754430" y="273349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05695" y="3010208"/>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transversus perinei prof.</a:t>
            </a:r>
          </a:p>
        </p:txBody>
      </p:sp>
      <p:cxnSp>
        <p:nvCxnSpPr>
          <p:cNvPr id="35" name="Connector 34"/>
          <p:cNvCxnSpPr/>
          <p:nvPr/>
        </p:nvCxnSpPr>
        <p:spPr>
          <a:xfrm flipH="1" flipV="1">
            <a:off x="7437105" y="2833735"/>
            <a:ext cx="2468590" cy="33192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391385" y="278801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05695" y="3394256"/>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Gl. bulbourethralis</a:t>
            </a:r>
          </a:p>
        </p:txBody>
      </p:sp>
      <p:cxnSp>
        <p:nvCxnSpPr>
          <p:cNvPr id="38" name="Connector 37"/>
          <p:cNvCxnSpPr/>
          <p:nvPr/>
        </p:nvCxnSpPr>
        <p:spPr>
          <a:xfrm flipH="1" flipV="1">
            <a:off x="7916897" y="2844639"/>
            <a:ext cx="1988798" cy="70506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7871177" y="279891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05695" y="3778304"/>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Gl. bulbourethralis</a:t>
            </a:r>
          </a:p>
        </p:txBody>
      </p:sp>
      <p:cxnSp>
        <p:nvCxnSpPr>
          <p:cNvPr id="41" name="Connector 40"/>
          <p:cNvCxnSpPr/>
          <p:nvPr/>
        </p:nvCxnSpPr>
        <p:spPr>
          <a:xfrm flipH="1" flipV="1">
            <a:off x="8342167" y="2888256"/>
            <a:ext cx="1563528" cy="104549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8296447" y="284253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05695" y="4162352"/>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sphincter ani externus</a:t>
            </a:r>
          </a:p>
        </p:txBody>
      </p:sp>
      <p:cxnSp>
        <p:nvCxnSpPr>
          <p:cNvPr id="44" name="Connector 43"/>
          <p:cNvCxnSpPr/>
          <p:nvPr/>
        </p:nvCxnSpPr>
        <p:spPr>
          <a:xfrm flipH="1" flipV="1">
            <a:off x="8015036" y="3989597"/>
            <a:ext cx="1890659" cy="32820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7969316" y="394387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72200" y="4236876"/>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2 – Muro S. ve ark., 2021 (PMC8373982, CC BY)</a:t>
            </a:r>
          </a:p>
        </p:txBody>
      </p:sp>
      <p:sp>
        <p:nvSpPr>
          <p:cNvPr id="47" name="Rectangle 46"/>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Gll. bulbourethrales (Cowper) derin aralıkta, pars membranacea'nın iki yanında; kanalları membrana perinei'yi delip pars spongiosa'ya açılır.</a:t>
            </a:r>
          </a:p>
          <a:p>
            <a:pPr>
              <a:spcAft>
                <a:spcPts val="200"/>
              </a:spcAft>
            </a:pPr>
            <a:r>
              <a:rPr sz="1500">
                <a:solidFill>
                  <a:srgbClr val="1F2A44"/>
                </a:solidFill>
                <a:latin typeface="Calibri"/>
              </a:rPr>
              <a:t>• Muro ve ark. 2021: bez lateralde çizgili (STP–levator–EAS'tan rhabdosphincter'e uzanan), posterosuperiorde düz kasla sarılı.</a:t>
            </a:r>
          </a:p>
        </p:txBody>
      </p:sp>
      <p:cxnSp>
        <p:nvCxnSpPr>
          <p:cNvPr id="49" name="Connector 4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Chang L., Tharnmanularp S. et al. Presence of smooth muscle continuous with the rectal and vaginal walls in the deep perineal space prompts reconsideration of the deep transverse perineal muscle. Sci Rep. 2025 Jul 3;15:23730. doi: 10.1038/s41598-025-09585-9 PMCID: PMC12229694. Lisans: CC BY.  •  Muro S., Suriyut J., Akita K. Anatomy of Cowper’s gland in humans suggesting a secretion and emission mechanism facilitated by cooperation of striated and smooth muscles. Sci Rep. 2021 Aug 18;11:16705. doi: 10.1038/s41598-021-96130-z PMCID: PMC8373982. Lisans: CC BY.</a:t>
            </a:r>
          </a:p>
        </p:txBody>
      </p:sp>
      <p:sp>
        <p:nvSpPr>
          <p:cNvPr id="51" name="TextBox 50"/>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Erkek yüzeyel perine kasları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M. transversus perinei superficialis'in üst ve alt demetleri (Muro ve ark. 2021)</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41598_2021_96130_Fig1_HTML.jpg"/>
          <p:cNvPicPr>
            <a:picLocks noChangeAspect="1"/>
          </p:cNvPicPr>
          <p:nvPr/>
        </p:nvPicPr>
        <p:blipFill>
          <a:blip r:embed="rId2"/>
          <a:stretch>
            <a:fillRect/>
          </a:stretch>
        </p:blipFill>
        <p:spPr>
          <a:xfrm>
            <a:off x="3429000" y="1193894"/>
            <a:ext cx="5242255" cy="3546667"/>
          </a:xfrm>
          <a:prstGeom prst="rect">
            <a:avLst/>
          </a:prstGeom>
        </p:spPr>
      </p:pic>
      <p:sp>
        <p:nvSpPr>
          <p:cNvPr id="8" name="TextBox 7"/>
          <p:cNvSpPr txBox="1"/>
          <p:nvPr/>
        </p:nvSpPr>
        <p:spPr>
          <a:xfrm>
            <a:off x="274320" y="1630791"/>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bulbospongiosus</a:t>
            </a:r>
          </a:p>
        </p:txBody>
      </p:sp>
      <p:cxnSp>
        <p:nvCxnSpPr>
          <p:cNvPr id="9" name="Connector 8"/>
          <p:cNvCxnSpPr/>
          <p:nvPr/>
        </p:nvCxnSpPr>
        <p:spPr>
          <a:xfrm>
            <a:off x="3200400" y="1786239"/>
            <a:ext cx="173167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86355" y="174051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038029"/>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ischiocavernosus</a:t>
            </a:r>
          </a:p>
        </p:txBody>
      </p:sp>
      <p:cxnSp>
        <p:nvCxnSpPr>
          <p:cNvPr id="12" name="Connector 11"/>
          <p:cNvCxnSpPr/>
          <p:nvPr/>
        </p:nvCxnSpPr>
        <p:spPr>
          <a:xfrm>
            <a:off x="3200400" y="2193477"/>
            <a:ext cx="148733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642013" y="214775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422077"/>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Ramus ischiopubicus</a:t>
            </a:r>
          </a:p>
        </p:txBody>
      </p:sp>
      <p:cxnSp>
        <p:nvCxnSpPr>
          <p:cNvPr id="15" name="Connector 14"/>
          <p:cNvCxnSpPr/>
          <p:nvPr/>
        </p:nvCxnSpPr>
        <p:spPr>
          <a:xfrm flipV="1">
            <a:off x="3200400" y="2208285"/>
            <a:ext cx="1154139" cy="36924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308819" y="216256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2806125"/>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transversus perinei superf.</a:t>
            </a:r>
          </a:p>
        </p:txBody>
      </p:sp>
      <p:cxnSp>
        <p:nvCxnSpPr>
          <p:cNvPr id="18" name="Connector 17"/>
          <p:cNvCxnSpPr/>
          <p:nvPr/>
        </p:nvCxnSpPr>
        <p:spPr>
          <a:xfrm flipV="1">
            <a:off x="3200400" y="2763609"/>
            <a:ext cx="1502142" cy="19796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656822" y="271788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3190173"/>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Tuber ischiadicum</a:t>
            </a:r>
          </a:p>
        </p:txBody>
      </p:sp>
      <p:cxnSp>
        <p:nvCxnSpPr>
          <p:cNvPr id="21" name="Connector 20"/>
          <p:cNvCxnSpPr/>
          <p:nvPr/>
        </p:nvCxnSpPr>
        <p:spPr>
          <a:xfrm flipV="1">
            <a:off x="3200400" y="3215272"/>
            <a:ext cx="724689" cy="13034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879369" y="316955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3574221"/>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sphincter ani externus</a:t>
            </a:r>
          </a:p>
        </p:txBody>
      </p:sp>
      <p:cxnSp>
        <p:nvCxnSpPr>
          <p:cNvPr id="24" name="Connector 23"/>
          <p:cNvCxnSpPr/>
          <p:nvPr/>
        </p:nvCxnSpPr>
        <p:spPr>
          <a:xfrm flipV="1">
            <a:off x="3200400" y="3615105"/>
            <a:ext cx="1413290" cy="11456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567970" y="356938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3977959"/>
            <a:ext cx="2926080" cy="310896"/>
          </a:xfrm>
          <a:prstGeom prst="rect">
            <a:avLst/>
          </a:prstGeom>
          <a:noFill/>
        </p:spPr>
        <p:txBody>
          <a:bodyPr wrap="square" anchor="ctr" lIns="45720" rIns="45720" tIns="18288" bIns="18288">
            <a:spAutoFit/>
          </a:bodyPr>
          <a:lstStyle/>
          <a:p>
            <a:pPr algn="r"/>
            <a:r>
              <a:rPr sz="1350" b="1" i="0">
                <a:solidFill>
                  <a:srgbClr val="1F2A44"/>
                </a:solidFill>
                <a:latin typeface="Calibri"/>
              </a:rPr>
              <a:t>Anus</a:t>
            </a:r>
          </a:p>
        </p:txBody>
      </p:sp>
      <p:cxnSp>
        <p:nvCxnSpPr>
          <p:cNvPr id="27" name="Connector 26"/>
          <p:cNvCxnSpPr/>
          <p:nvPr/>
        </p:nvCxnSpPr>
        <p:spPr>
          <a:xfrm>
            <a:off x="3200400" y="4133407"/>
            <a:ext cx="187976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5034442" y="408768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99855" y="1519726"/>
            <a:ext cx="301752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 transversus perinei superf. – fasc. sup.</a:t>
            </a:r>
          </a:p>
        </p:txBody>
      </p:sp>
      <p:cxnSp>
        <p:nvCxnSpPr>
          <p:cNvPr id="30" name="Connector 29"/>
          <p:cNvCxnSpPr/>
          <p:nvPr/>
        </p:nvCxnSpPr>
        <p:spPr>
          <a:xfrm flipH="1">
            <a:off x="8093718" y="1675174"/>
            <a:ext cx="80613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8047998" y="162945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99855" y="1941772"/>
            <a:ext cx="301752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 transversus perinei superf. – fasc. inf.</a:t>
            </a:r>
          </a:p>
        </p:txBody>
      </p:sp>
      <p:cxnSp>
        <p:nvCxnSpPr>
          <p:cNvPr id="33" name="Connector 32"/>
          <p:cNvCxnSpPr/>
          <p:nvPr/>
        </p:nvCxnSpPr>
        <p:spPr>
          <a:xfrm flipH="1">
            <a:off x="8115931" y="2097220"/>
            <a:ext cx="783924"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8070211" y="205150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99855" y="3148676"/>
            <a:ext cx="301752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 bulbospongiosus</a:t>
            </a:r>
          </a:p>
        </p:txBody>
      </p:sp>
      <p:cxnSp>
        <p:nvCxnSpPr>
          <p:cNvPr id="36" name="Connector 35"/>
          <p:cNvCxnSpPr/>
          <p:nvPr/>
        </p:nvCxnSpPr>
        <p:spPr>
          <a:xfrm flipH="1">
            <a:off x="7723502" y="3304124"/>
            <a:ext cx="117635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7677782" y="325840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29000" y="4758849"/>
            <a:ext cx="524225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1 – Muro S. ve ark., 2021 (PMC8373982, CC BY)</a:t>
            </a:r>
          </a:p>
        </p:txBody>
      </p:sp>
      <p:sp>
        <p:nvSpPr>
          <p:cNvPr id="39" name="Rectangle 38"/>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M. bulbospongiosus, m. sphincter ani externus ve m. transversus perinei superficialis corpus perineale düzeyinde birbirleriyle lif alışverişi yapar – 'tek merkezli düğüm' yerine kas sürekliliği.</a:t>
            </a:r>
          </a:p>
        </p:txBody>
      </p:sp>
      <p:cxnSp>
        <p:nvCxnSpPr>
          <p:cNvPr id="41" name="Connector 40"/>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Suriyut J., Akita K. Anatomy of Cowper’s gland in humans suggesting a secretion and emission mechanism facilitated by cooperation of striated and smooth muscles. Sci Rep. 2021 Aug 18;11:16705. doi: 10.1038/s41598-021-96130-z PMCID: PMC8373982. Lisans: CC BY.</a:t>
            </a:r>
          </a:p>
        </p:txBody>
      </p:sp>
      <p:sp>
        <p:nvSpPr>
          <p:cNvPr id="43" name="TextBox 42"/>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Perine kaslarının sürekliliği – lateral bakış (♂)</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Suriyut ve ark. 2019 – EAS, m. bulbospongiosus ve levator ani bağlantıları</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12565_2019_521_Fig1_HTML_0_0_646_584.jpg"/>
          <p:cNvPicPr>
            <a:picLocks noChangeAspect="1"/>
          </p:cNvPicPr>
          <p:nvPr/>
        </p:nvPicPr>
        <p:blipFill>
          <a:blip r:embed="rId2"/>
          <a:stretch>
            <a:fillRect/>
          </a:stretch>
        </p:blipFill>
        <p:spPr>
          <a:xfrm>
            <a:off x="3753057" y="1097280"/>
            <a:ext cx="4136939" cy="3739896"/>
          </a:xfrm>
          <a:prstGeom prst="rect">
            <a:avLst/>
          </a:prstGeom>
        </p:spPr>
      </p:pic>
      <p:sp>
        <p:nvSpPr>
          <p:cNvPr id="8" name="TextBox 7"/>
          <p:cNvSpPr txBox="1"/>
          <p:nvPr/>
        </p:nvSpPr>
        <p:spPr>
          <a:xfrm>
            <a:off x="274320" y="2395524"/>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levator ani</a:t>
            </a:r>
          </a:p>
        </p:txBody>
      </p:sp>
      <p:cxnSp>
        <p:nvCxnSpPr>
          <p:cNvPr id="9" name="Connector 8"/>
          <p:cNvCxnSpPr/>
          <p:nvPr/>
        </p:nvCxnSpPr>
        <p:spPr>
          <a:xfrm>
            <a:off x="3017520" y="2550972"/>
            <a:ext cx="261829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590093" y="250525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990088"/>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ischiocavernosus</a:t>
            </a:r>
          </a:p>
        </p:txBody>
      </p:sp>
      <p:cxnSp>
        <p:nvCxnSpPr>
          <p:cNvPr id="12" name="Connector 11"/>
          <p:cNvCxnSpPr/>
          <p:nvPr/>
        </p:nvCxnSpPr>
        <p:spPr>
          <a:xfrm>
            <a:off x="3017520" y="3145536"/>
            <a:ext cx="889232" cy="19952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861032" y="329933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374136"/>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transversus perinei superf.</a:t>
            </a:r>
          </a:p>
        </p:txBody>
      </p:sp>
      <p:cxnSp>
        <p:nvCxnSpPr>
          <p:cNvPr id="15" name="Connector 14"/>
          <p:cNvCxnSpPr/>
          <p:nvPr/>
        </p:nvCxnSpPr>
        <p:spPr>
          <a:xfrm flipV="1">
            <a:off x="3017520" y="3447522"/>
            <a:ext cx="2451791" cy="8206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423591" y="340180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3758184"/>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bulbospongiosus</a:t>
            </a:r>
          </a:p>
        </p:txBody>
      </p:sp>
      <p:cxnSp>
        <p:nvCxnSpPr>
          <p:cNvPr id="18" name="Connector 17"/>
          <p:cNvCxnSpPr/>
          <p:nvPr/>
        </p:nvCxnSpPr>
        <p:spPr>
          <a:xfrm flipV="1">
            <a:off x="3017520" y="3774123"/>
            <a:ext cx="1171005" cy="13950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142805" y="372840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4142232"/>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Junctio m. bulbospongiosi et m. sphincteris ani externi</a:t>
            </a:r>
          </a:p>
        </p:txBody>
      </p:sp>
      <p:cxnSp>
        <p:nvCxnSpPr>
          <p:cNvPr id="21" name="Connector 20"/>
          <p:cNvCxnSpPr/>
          <p:nvPr/>
        </p:nvCxnSpPr>
        <p:spPr>
          <a:xfrm flipV="1">
            <a:off x="3017520" y="3921413"/>
            <a:ext cx="1734551" cy="37626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06351" y="387569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4526280"/>
            <a:ext cx="274320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sphincter ani externus</a:t>
            </a:r>
          </a:p>
        </p:txBody>
      </p:sp>
      <p:cxnSp>
        <p:nvCxnSpPr>
          <p:cNvPr id="24" name="Connector 23"/>
          <p:cNvCxnSpPr/>
          <p:nvPr/>
        </p:nvCxnSpPr>
        <p:spPr>
          <a:xfrm flipV="1">
            <a:off x="3017520" y="4055896"/>
            <a:ext cx="2771987" cy="62583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743787" y="401017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5535" y="3074341"/>
            <a:ext cx="3291840" cy="310896"/>
          </a:xfrm>
          <a:prstGeom prst="rect">
            <a:avLst/>
          </a:prstGeom>
          <a:noFill/>
        </p:spPr>
        <p:txBody>
          <a:bodyPr wrap="square" anchor="ctr" lIns="45720" rIns="45720" tIns="18288" bIns="18288">
            <a:spAutoFit/>
          </a:bodyPr>
          <a:lstStyle/>
          <a:p>
            <a:pPr algn="l"/>
            <a:r>
              <a:rPr sz="1350" b="1" i="0">
                <a:solidFill>
                  <a:srgbClr val="1F2A44"/>
                </a:solidFill>
                <a:latin typeface="Calibri"/>
              </a:rPr>
              <a:t>Tendo lateralis m. transversi perinei superficialis</a:t>
            </a:r>
          </a:p>
        </p:txBody>
      </p:sp>
      <p:cxnSp>
        <p:nvCxnSpPr>
          <p:cNvPr id="27" name="Connector 26"/>
          <p:cNvCxnSpPr/>
          <p:nvPr/>
        </p:nvCxnSpPr>
        <p:spPr>
          <a:xfrm flipH="1">
            <a:off x="5936798" y="3229789"/>
            <a:ext cx="268873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5891078" y="318406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6120" y="4855464"/>
            <a:ext cx="515081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1 – Suriyut J. ve ark., 2019 (PMC7182620, CC BY)</a:t>
            </a:r>
          </a:p>
        </p:txBody>
      </p:sp>
      <p:sp>
        <p:nvSpPr>
          <p:cNvPr id="30" name="Rectangle 29"/>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M. bulbospongiosus ile m. sphincter ani externus doğrudan birleşir; m. transversus perinei superficialis'in lateral tendonu ve levator ani ile ilişkisi görülmektedir.</a:t>
            </a:r>
          </a:p>
        </p:txBody>
      </p:sp>
      <p:cxnSp>
        <p:nvCxnSpPr>
          <p:cNvPr id="32" name="Connector 3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Suriyut J., Muro S., Baramee P. et al. Various significant connections of the male pelvic floor muscles with special reference to the anal and urethral sphincter muscles. Anat Sci Int. 2019 Dec 23;95(3):305–12. doi: 10.1007/s12565-019-00521-2 PMCID: PMC7182620. Lisans: CC BY.</a:t>
            </a:r>
          </a:p>
        </p:txBody>
      </p:sp>
      <p:sp>
        <p:nvSpPr>
          <p:cNvPr id="34" name="TextBox 33"/>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Kadın regio urogenitalis – katman katman diseksiyon</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Sol: yüzeyel aralık · Sağ: bulbus vestibuli ve membrana perinei</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41598_2025_9585_Fig2_HTML_0_0_332_271.jpg"/>
          <p:cNvPicPr>
            <a:picLocks noChangeAspect="1"/>
          </p:cNvPicPr>
          <p:nvPr/>
        </p:nvPicPr>
        <p:blipFill>
          <a:blip r:embed="rId2"/>
          <a:stretch>
            <a:fillRect/>
          </a:stretch>
        </p:blipFill>
        <p:spPr>
          <a:xfrm>
            <a:off x="2377440" y="1506818"/>
            <a:ext cx="3611879" cy="2948251"/>
          </a:xfrm>
          <a:prstGeom prst="rect">
            <a:avLst/>
          </a:prstGeom>
        </p:spPr>
      </p:pic>
      <p:sp>
        <p:nvSpPr>
          <p:cNvPr id="8" name="TextBox 7"/>
          <p:cNvSpPr txBox="1"/>
          <p:nvPr/>
        </p:nvSpPr>
        <p:spPr>
          <a:xfrm>
            <a:off x="228600" y="2091152"/>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ischiocavernosus</a:t>
            </a:r>
          </a:p>
        </p:txBody>
      </p:sp>
      <p:cxnSp>
        <p:nvCxnSpPr>
          <p:cNvPr id="9" name="Connector 8"/>
          <p:cNvCxnSpPr/>
          <p:nvPr/>
        </p:nvCxnSpPr>
        <p:spPr>
          <a:xfrm>
            <a:off x="2286000" y="2246600"/>
            <a:ext cx="108144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321723" y="220088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47520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bulbospongiosus</a:t>
            </a:r>
          </a:p>
        </p:txBody>
      </p:sp>
      <p:cxnSp>
        <p:nvCxnSpPr>
          <p:cNvPr id="12" name="Connector 11"/>
          <p:cNvCxnSpPr/>
          <p:nvPr/>
        </p:nvCxnSpPr>
        <p:spPr>
          <a:xfrm flipV="1">
            <a:off x="2286000" y="2290117"/>
            <a:ext cx="1451334" cy="34053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91614" y="224439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285924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Vagina (ostium vaginae)</a:t>
            </a:r>
          </a:p>
        </p:txBody>
      </p:sp>
      <p:cxnSp>
        <p:nvCxnSpPr>
          <p:cNvPr id="15" name="Connector 14"/>
          <p:cNvCxnSpPr/>
          <p:nvPr/>
        </p:nvCxnSpPr>
        <p:spPr>
          <a:xfrm flipV="1">
            <a:off x="2286000" y="2529459"/>
            <a:ext cx="1821225" cy="48523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61505" y="248373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243296"/>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transversus perinei superf.</a:t>
            </a:r>
          </a:p>
        </p:txBody>
      </p:sp>
      <p:cxnSp>
        <p:nvCxnSpPr>
          <p:cNvPr id="18" name="Connector 17"/>
          <p:cNvCxnSpPr/>
          <p:nvPr/>
        </p:nvCxnSpPr>
        <p:spPr>
          <a:xfrm flipV="1">
            <a:off x="2286000" y="2855833"/>
            <a:ext cx="961772" cy="54291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02052" y="281011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3864455"/>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sphincter ani externus</a:t>
            </a:r>
          </a:p>
        </p:txBody>
      </p:sp>
      <p:cxnSp>
        <p:nvCxnSpPr>
          <p:cNvPr id="21" name="Connector 20"/>
          <p:cNvCxnSpPr/>
          <p:nvPr/>
        </p:nvCxnSpPr>
        <p:spPr>
          <a:xfrm>
            <a:off x="2286000" y="4019903"/>
            <a:ext cx="2027929"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268209" y="397418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77440" y="4473357"/>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2 – Muro S. ve ark., 2025 (PMC12229694, CC BY)</a:t>
            </a:r>
          </a:p>
        </p:txBody>
      </p:sp>
      <p:pic>
        <p:nvPicPr>
          <p:cNvPr id="24" name="Picture 23" descr="41598_2025_9585_Fig2_HTML_0_277_332_549.jpg"/>
          <p:cNvPicPr>
            <a:picLocks noChangeAspect="1"/>
          </p:cNvPicPr>
          <p:nvPr/>
        </p:nvPicPr>
        <p:blipFill>
          <a:blip r:embed="rId3"/>
          <a:stretch>
            <a:fillRect/>
          </a:stretch>
        </p:blipFill>
        <p:spPr>
          <a:xfrm>
            <a:off x="6172200" y="1489017"/>
            <a:ext cx="3642055" cy="2983852"/>
          </a:xfrm>
          <a:prstGeom prst="rect">
            <a:avLst/>
          </a:prstGeom>
        </p:spPr>
      </p:pic>
      <p:sp>
        <p:nvSpPr>
          <p:cNvPr id="25" name="TextBox 24"/>
          <p:cNvSpPr txBox="1"/>
          <p:nvPr/>
        </p:nvSpPr>
        <p:spPr>
          <a:xfrm>
            <a:off x="9905695" y="182722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Ramus ischiopubicus</a:t>
            </a:r>
          </a:p>
        </p:txBody>
      </p:sp>
      <p:cxnSp>
        <p:nvCxnSpPr>
          <p:cNvPr id="26" name="Connector 25"/>
          <p:cNvCxnSpPr/>
          <p:nvPr/>
        </p:nvCxnSpPr>
        <p:spPr>
          <a:xfrm flipH="1">
            <a:off x="6852342" y="1982669"/>
            <a:ext cx="305335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806622" y="193694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05695" y="2211269"/>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Bulbus vestibuli</a:t>
            </a:r>
          </a:p>
        </p:txBody>
      </p:sp>
      <p:cxnSp>
        <p:nvCxnSpPr>
          <p:cNvPr id="29" name="Connector 28"/>
          <p:cNvCxnSpPr/>
          <p:nvPr/>
        </p:nvCxnSpPr>
        <p:spPr>
          <a:xfrm flipH="1" flipV="1">
            <a:off x="7993227" y="2136250"/>
            <a:ext cx="1912468" cy="23046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947507" y="209053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05695" y="2595317"/>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Urethra feminina</a:t>
            </a:r>
          </a:p>
        </p:txBody>
      </p:sp>
      <p:cxnSp>
        <p:nvCxnSpPr>
          <p:cNvPr id="32" name="Connector 31"/>
          <p:cNvCxnSpPr/>
          <p:nvPr/>
        </p:nvCxnSpPr>
        <p:spPr>
          <a:xfrm flipH="1" flipV="1">
            <a:off x="8640460" y="2377591"/>
            <a:ext cx="1265235" cy="37317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594740" y="233187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05695" y="2979365"/>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Vagina</a:t>
            </a:r>
          </a:p>
        </p:txBody>
      </p:sp>
      <p:cxnSp>
        <p:nvCxnSpPr>
          <p:cNvPr id="35" name="Connector 34"/>
          <p:cNvCxnSpPr/>
          <p:nvPr/>
        </p:nvCxnSpPr>
        <p:spPr>
          <a:xfrm flipH="1" flipV="1">
            <a:off x="8695310" y="2498261"/>
            <a:ext cx="1210385" cy="63655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649590" y="245254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05695" y="3363413"/>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Membrana perinei</a:t>
            </a:r>
          </a:p>
        </p:txBody>
      </p:sp>
      <p:cxnSp>
        <p:nvCxnSpPr>
          <p:cNvPr id="38" name="Connector 37"/>
          <p:cNvCxnSpPr/>
          <p:nvPr/>
        </p:nvCxnSpPr>
        <p:spPr>
          <a:xfrm flipH="1" flipV="1">
            <a:off x="7181444" y="2684752"/>
            <a:ext cx="2724251" cy="83410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7135724" y="263903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72200" y="4491158"/>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2 – Muro S. ve ark., 2025 (PMC12229694, CC BY)</a:t>
            </a:r>
          </a:p>
        </p:txBody>
      </p:sp>
      <p:sp>
        <p:nvSpPr>
          <p:cNvPr id="41" name="Rectangle 40"/>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Bulbus vestibuli m. bulbospongiosus'un altında, ostium vaginae'nin iki yanında; membrana perinei'nin alt yüzüne oturur.</a:t>
            </a:r>
          </a:p>
          <a:p>
            <a:pPr>
              <a:spcAft>
                <a:spcPts val="200"/>
              </a:spcAft>
            </a:pPr>
            <a:r>
              <a:rPr sz="1500">
                <a:solidFill>
                  <a:srgbClr val="1F2A44"/>
                </a:solidFill>
                <a:latin typeface="Calibri"/>
              </a:rPr>
              <a:t>• Kadında membrana perinei urethra ve vagina tarafından delinir; dorsal kısmı vagina yan duvarı ve corpus perineale'ye tutunur.</a:t>
            </a:r>
          </a:p>
        </p:txBody>
      </p:sp>
      <p:cxnSp>
        <p:nvCxnSpPr>
          <p:cNvPr id="43" name="Connector 42"/>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Chang L., Tharnmanularp S. et al. Presence of smooth muscle continuous with the rectal and vaginal walls in the deep perineal space prompts reconsideration of the deep transverse perineal muscle. Sci Rep. 2025 Jul 3;15:23730. doi: 10.1038/s41598-025-09585-9 PMCID: PMC12229694. Lisans: CC BY.</a:t>
            </a:r>
          </a:p>
        </p:txBody>
      </p:sp>
      <p:sp>
        <p:nvSpPr>
          <p:cNvPr id="45" name="TextBox 44"/>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Clitoris ve bulbus vestibuli – kadavra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Spatium perinei superficiale açılmış (Garner ve ark. 2021)</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diagnostics-11-00221-g004.jpg"/>
          <p:cNvPicPr>
            <a:picLocks noChangeAspect="1"/>
          </p:cNvPicPr>
          <p:nvPr/>
        </p:nvPicPr>
        <p:blipFill>
          <a:blip r:embed="rId2"/>
          <a:stretch>
            <a:fillRect/>
          </a:stretch>
        </p:blipFill>
        <p:spPr>
          <a:xfrm>
            <a:off x="4046618" y="1097280"/>
            <a:ext cx="3549818" cy="3739896"/>
          </a:xfrm>
          <a:prstGeom prst="rect">
            <a:avLst/>
          </a:prstGeom>
        </p:spPr>
      </p:pic>
      <p:sp>
        <p:nvSpPr>
          <p:cNvPr id="8" name="TextBox 7"/>
          <p:cNvSpPr txBox="1"/>
          <p:nvPr/>
        </p:nvSpPr>
        <p:spPr>
          <a:xfrm>
            <a:off x="274320" y="1933315"/>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Corpus clitoridis</a:t>
            </a:r>
          </a:p>
        </p:txBody>
      </p:sp>
      <p:cxnSp>
        <p:nvCxnSpPr>
          <p:cNvPr id="9" name="Connector 8"/>
          <p:cNvCxnSpPr/>
          <p:nvPr/>
        </p:nvCxnSpPr>
        <p:spPr>
          <a:xfrm>
            <a:off x="3017520" y="2088763"/>
            <a:ext cx="2652459"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624259" y="204304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585742"/>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Glans clitoridis</a:t>
            </a:r>
          </a:p>
        </p:txBody>
      </p:sp>
      <p:cxnSp>
        <p:nvCxnSpPr>
          <p:cNvPr id="12" name="Connector 11"/>
          <p:cNvCxnSpPr/>
          <p:nvPr/>
        </p:nvCxnSpPr>
        <p:spPr>
          <a:xfrm>
            <a:off x="3017520" y="2741190"/>
            <a:ext cx="234422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316026" y="269547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099464"/>
            <a:ext cx="27432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Labium majus pudendi</a:t>
            </a:r>
          </a:p>
        </p:txBody>
      </p:sp>
      <p:cxnSp>
        <p:nvCxnSpPr>
          <p:cNvPr id="15" name="Connector 14"/>
          <p:cNvCxnSpPr/>
          <p:nvPr/>
        </p:nvCxnSpPr>
        <p:spPr>
          <a:xfrm>
            <a:off x="3017520" y="3254912"/>
            <a:ext cx="205654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028342" y="320919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5535" y="1162732"/>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Lig. suspensorium clitoridis</a:t>
            </a:r>
          </a:p>
        </p:txBody>
      </p:sp>
      <p:cxnSp>
        <p:nvCxnSpPr>
          <p:cNvPr id="18" name="Connector 17"/>
          <p:cNvCxnSpPr/>
          <p:nvPr/>
        </p:nvCxnSpPr>
        <p:spPr>
          <a:xfrm flipH="1">
            <a:off x="5880605" y="1318180"/>
            <a:ext cx="274493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834885" y="127246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5535" y="2118255"/>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Crus clitoridis</a:t>
            </a:r>
          </a:p>
        </p:txBody>
      </p:sp>
      <p:cxnSp>
        <p:nvCxnSpPr>
          <p:cNvPr id="21" name="Connector 20"/>
          <p:cNvCxnSpPr/>
          <p:nvPr/>
        </p:nvCxnSpPr>
        <p:spPr>
          <a:xfrm flipH="1">
            <a:off x="6034722" y="2273703"/>
            <a:ext cx="259081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989002" y="222798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5535" y="2502303"/>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Crus clitoridis</a:t>
            </a:r>
          </a:p>
        </p:txBody>
      </p:sp>
      <p:cxnSp>
        <p:nvCxnSpPr>
          <p:cNvPr id="24" name="Connector 23"/>
          <p:cNvCxnSpPr/>
          <p:nvPr/>
        </p:nvCxnSpPr>
        <p:spPr>
          <a:xfrm flipH="1" flipV="1">
            <a:off x="6615228" y="2438094"/>
            <a:ext cx="2010307" cy="21965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569508" y="239237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5535" y="2886351"/>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Bulbus vestibuli (m. bulbospongiosus altında)</a:t>
            </a:r>
          </a:p>
        </p:txBody>
      </p:sp>
      <p:cxnSp>
        <p:nvCxnSpPr>
          <p:cNvPr id="27" name="Connector 26"/>
          <p:cNvCxnSpPr/>
          <p:nvPr/>
        </p:nvCxnSpPr>
        <p:spPr>
          <a:xfrm flipH="1" flipV="1">
            <a:off x="6384053" y="2746327"/>
            <a:ext cx="2241482" cy="29547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6338333" y="270060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5535" y="3270399"/>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 perinealis, rami superficiales</a:t>
            </a:r>
          </a:p>
        </p:txBody>
      </p:sp>
      <p:cxnSp>
        <p:nvCxnSpPr>
          <p:cNvPr id="30" name="Connector 29"/>
          <p:cNvCxnSpPr/>
          <p:nvPr/>
        </p:nvCxnSpPr>
        <p:spPr>
          <a:xfrm flipH="1" flipV="1">
            <a:off x="6044996" y="2895306"/>
            <a:ext cx="2580539" cy="53054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5999276" y="284958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25535" y="3654447"/>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 perinealis, rami profundi</a:t>
            </a:r>
          </a:p>
        </p:txBody>
      </p:sp>
      <p:cxnSp>
        <p:nvCxnSpPr>
          <p:cNvPr id="33" name="Connector 32"/>
          <p:cNvCxnSpPr/>
          <p:nvPr/>
        </p:nvCxnSpPr>
        <p:spPr>
          <a:xfrm flipH="1" flipV="1">
            <a:off x="6615228" y="2915855"/>
            <a:ext cx="2010307" cy="89404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569508" y="287013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25535" y="4038495"/>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transversus perinei superf.</a:t>
            </a:r>
          </a:p>
        </p:txBody>
      </p:sp>
      <p:cxnSp>
        <p:nvCxnSpPr>
          <p:cNvPr id="36" name="Connector 35"/>
          <p:cNvCxnSpPr/>
          <p:nvPr/>
        </p:nvCxnSpPr>
        <p:spPr>
          <a:xfrm flipH="1" flipV="1">
            <a:off x="6877226" y="3480949"/>
            <a:ext cx="1748309" cy="71299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831506" y="343522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6120" y="4855464"/>
            <a:ext cx="515081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4 – Garner D. K. ve ark., 2021 (PMC7913006, CC BY)</a:t>
            </a:r>
          </a:p>
        </p:txBody>
      </p:sp>
      <p:sp>
        <p:nvSpPr>
          <p:cNvPr id="39" name="Rectangle 38"/>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Clitoris: glans – corpus – iki crus (ramus ischiopubicus'a tutunur, m. ischiocavernosus ile örtülü); lig. suspensorium clitoridis symphysis'e asar.</a:t>
            </a:r>
          </a:p>
          <a:p>
            <a:pPr>
              <a:spcAft>
                <a:spcPts val="200"/>
              </a:spcAft>
            </a:pPr>
            <a:r>
              <a:rPr sz="1500">
                <a:solidFill>
                  <a:srgbClr val="1F2A44"/>
                </a:solidFill>
                <a:latin typeface="Calibri"/>
              </a:rPr>
              <a:t>• Fasciculus neurovascularis: n. perinealis'in yüzeyel ve derin dalları m. transversus perinei superficialis'in önünden geçer.</a:t>
            </a:r>
          </a:p>
        </p:txBody>
      </p:sp>
      <p:cxnSp>
        <p:nvCxnSpPr>
          <p:cNvPr id="41" name="Connector 40"/>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Garner D. K., Patel A. B., Hung J. et al. Midline and Mediolateral Episiotomy: Risk Assessment Based on Clinical Anatomy. Diagnostics (Basel). 2021 Feb 2;11(2):221. doi: 10.3390/diagnostics11020221 PMCID: PMC7913006. Lisans: CC BY.</a:t>
            </a:r>
          </a:p>
        </p:txBody>
      </p:sp>
      <p:sp>
        <p:nvSpPr>
          <p:cNvPr id="43" name="TextBox 42"/>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Clitoris üç boyutlu bir organ olarak</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Sol: çıkarılmış clitoris (kadavra) · Sağ: mikro-BT rekonstrüksiyonu</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41598_2024_72898_Fig1_HTML_49_22_710_437.jpg"/>
          <p:cNvPicPr>
            <a:picLocks noChangeAspect="1"/>
          </p:cNvPicPr>
          <p:nvPr/>
        </p:nvPicPr>
        <p:blipFill>
          <a:blip r:embed="rId2"/>
          <a:stretch>
            <a:fillRect/>
          </a:stretch>
        </p:blipFill>
        <p:spPr>
          <a:xfrm>
            <a:off x="2377440" y="1847108"/>
            <a:ext cx="3611879" cy="2267670"/>
          </a:xfrm>
          <a:prstGeom prst="rect">
            <a:avLst/>
          </a:prstGeom>
        </p:spPr>
      </p:pic>
      <p:sp>
        <p:nvSpPr>
          <p:cNvPr id="8" name="TextBox 7"/>
          <p:cNvSpPr txBox="1"/>
          <p:nvPr/>
        </p:nvSpPr>
        <p:spPr>
          <a:xfrm>
            <a:off x="228600" y="1871981"/>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Mons pubis</a:t>
            </a:r>
          </a:p>
        </p:txBody>
      </p:sp>
      <p:cxnSp>
        <p:nvCxnSpPr>
          <p:cNvPr id="9" name="Connector 8"/>
          <p:cNvCxnSpPr/>
          <p:nvPr/>
        </p:nvCxnSpPr>
        <p:spPr>
          <a:xfrm>
            <a:off x="2286000" y="2027429"/>
            <a:ext cx="82365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063931" y="198170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336444"/>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Lig. suspensorium clitoridis</a:t>
            </a:r>
          </a:p>
        </p:txBody>
      </p:sp>
      <p:cxnSp>
        <p:nvCxnSpPr>
          <p:cNvPr id="12" name="Connector 11"/>
          <p:cNvCxnSpPr/>
          <p:nvPr/>
        </p:nvCxnSpPr>
        <p:spPr>
          <a:xfrm>
            <a:off x="2286000" y="2491892"/>
            <a:ext cx="198207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222356" y="244617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2720492"/>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Labium majus pudendi</a:t>
            </a:r>
          </a:p>
        </p:txBody>
      </p:sp>
      <p:cxnSp>
        <p:nvCxnSpPr>
          <p:cNvPr id="15" name="Connector 14"/>
          <p:cNvCxnSpPr/>
          <p:nvPr/>
        </p:nvCxnSpPr>
        <p:spPr>
          <a:xfrm flipV="1">
            <a:off x="2286000" y="2573856"/>
            <a:ext cx="1271721" cy="30208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512001" y="252813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104540"/>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Preputium clitoridis</a:t>
            </a:r>
          </a:p>
        </p:txBody>
      </p:sp>
      <p:cxnSp>
        <p:nvCxnSpPr>
          <p:cNvPr id="18" name="Connector 17"/>
          <p:cNvCxnSpPr/>
          <p:nvPr/>
        </p:nvCxnSpPr>
        <p:spPr>
          <a:xfrm flipV="1">
            <a:off x="2286000" y="2737784"/>
            <a:ext cx="3555784" cy="52220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796064" y="269206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3488588"/>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Labium minus pudendi</a:t>
            </a:r>
          </a:p>
        </p:txBody>
      </p:sp>
      <p:cxnSp>
        <p:nvCxnSpPr>
          <p:cNvPr id="21" name="Connector 20"/>
          <p:cNvCxnSpPr/>
          <p:nvPr/>
        </p:nvCxnSpPr>
        <p:spPr>
          <a:xfrm flipV="1">
            <a:off x="2286000" y="2972747"/>
            <a:ext cx="1053150" cy="67128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293430" y="292702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3872636"/>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Crus clitoridis</a:t>
            </a:r>
          </a:p>
        </p:txBody>
      </p:sp>
      <p:cxnSp>
        <p:nvCxnSpPr>
          <p:cNvPr id="24" name="Connector 23"/>
          <p:cNvCxnSpPr/>
          <p:nvPr/>
        </p:nvCxnSpPr>
        <p:spPr>
          <a:xfrm flipV="1">
            <a:off x="2286000" y="3311532"/>
            <a:ext cx="2337253" cy="71655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577533" y="326581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8600" y="4256684"/>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Crus clitoridis</a:t>
            </a:r>
          </a:p>
        </p:txBody>
      </p:sp>
      <p:cxnSp>
        <p:nvCxnSpPr>
          <p:cNvPr id="27" name="Connector 26"/>
          <p:cNvCxnSpPr/>
          <p:nvPr/>
        </p:nvCxnSpPr>
        <p:spPr>
          <a:xfrm flipV="1">
            <a:off x="2286000" y="3584745"/>
            <a:ext cx="2446538" cy="82738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686818" y="353902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77440" y="4133067"/>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1 – Tunçkol E. ve ark., 2024 (PMC11452485, CC BY)</a:t>
            </a:r>
          </a:p>
        </p:txBody>
      </p:sp>
      <p:pic>
        <p:nvPicPr>
          <p:cNvPr id="30" name="Picture 29" descr="41598_2024_72898_Fig2_HTML_18_0_446_214.jpg"/>
          <p:cNvPicPr>
            <a:picLocks noChangeAspect="1"/>
          </p:cNvPicPr>
          <p:nvPr/>
        </p:nvPicPr>
        <p:blipFill>
          <a:blip r:embed="rId3"/>
          <a:stretch>
            <a:fillRect/>
          </a:stretch>
        </p:blipFill>
        <p:spPr>
          <a:xfrm>
            <a:off x="6172200" y="2070430"/>
            <a:ext cx="3642055" cy="1821027"/>
          </a:xfrm>
          <a:prstGeom prst="rect">
            <a:avLst/>
          </a:prstGeom>
        </p:spPr>
      </p:pic>
      <p:sp>
        <p:nvSpPr>
          <p:cNvPr id="31" name="TextBox 30"/>
          <p:cNvSpPr txBox="1"/>
          <p:nvPr/>
        </p:nvSpPr>
        <p:spPr>
          <a:xfrm>
            <a:off x="9905695" y="2340455"/>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Corpus cavernosum clitoridis (crus)</a:t>
            </a:r>
          </a:p>
        </p:txBody>
      </p:sp>
      <p:cxnSp>
        <p:nvCxnSpPr>
          <p:cNvPr id="32" name="Connector 31"/>
          <p:cNvCxnSpPr/>
          <p:nvPr/>
        </p:nvCxnSpPr>
        <p:spPr>
          <a:xfrm flipH="1">
            <a:off x="9167535" y="2495903"/>
            <a:ext cx="73816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9121815" y="245018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05695" y="2724503"/>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Corpus spongiosum (pars intermedia bulborum)</a:t>
            </a:r>
          </a:p>
        </p:txBody>
      </p:sp>
      <p:cxnSp>
        <p:nvCxnSpPr>
          <p:cNvPr id="35" name="Connector 34"/>
          <p:cNvCxnSpPr/>
          <p:nvPr/>
        </p:nvCxnSpPr>
        <p:spPr>
          <a:xfrm flipH="1" flipV="1">
            <a:off x="8725042" y="2683112"/>
            <a:ext cx="1180653" cy="19683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679322" y="263739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05695" y="310855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Glans clitoridis</a:t>
            </a:r>
          </a:p>
        </p:txBody>
      </p:sp>
      <p:cxnSp>
        <p:nvCxnSpPr>
          <p:cNvPr id="38" name="Connector 37"/>
          <p:cNvCxnSpPr/>
          <p:nvPr/>
        </p:nvCxnSpPr>
        <p:spPr>
          <a:xfrm flipH="1" flipV="1">
            <a:off x="8895231" y="2836282"/>
            <a:ext cx="1010464" cy="42771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8849511" y="27905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05695" y="3492599"/>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Bulbus vestibuli</a:t>
            </a:r>
          </a:p>
        </p:txBody>
      </p:sp>
      <p:cxnSp>
        <p:nvCxnSpPr>
          <p:cNvPr id="41" name="Connector 40"/>
          <p:cNvCxnSpPr/>
          <p:nvPr/>
        </p:nvCxnSpPr>
        <p:spPr>
          <a:xfrm flipH="1" flipV="1">
            <a:off x="8401682" y="3261756"/>
            <a:ext cx="1504013" cy="38629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8355962" y="321603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05695" y="3876647"/>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Bulbus vestibuli</a:t>
            </a:r>
          </a:p>
        </p:txBody>
      </p:sp>
      <p:cxnSp>
        <p:nvCxnSpPr>
          <p:cNvPr id="44" name="Connector 43"/>
          <p:cNvCxnSpPr/>
          <p:nvPr/>
        </p:nvCxnSpPr>
        <p:spPr>
          <a:xfrm flipH="1" flipV="1">
            <a:off x="9210082" y="3304304"/>
            <a:ext cx="695613" cy="72779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9164362" y="325858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72200" y="3909745"/>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2 – Tunçkol E. ve ark., 2024 (PMC11452485, CC BY)</a:t>
            </a:r>
          </a:p>
        </p:txBody>
      </p:sp>
      <p:sp>
        <p:nvSpPr>
          <p:cNvPr id="47" name="Rectangle 46"/>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Tunçkol ve ark. 2024: crus'ta ≈2917, hemicorpus'ta ≈3137 akson (%71–76 miyelinli); n. dorsalis clitoridis gevşek demetler hâlinde – innervasyon yoğunluğu penisin ≈6 katı.</a:t>
            </a:r>
          </a:p>
        </p:txBody>
      </p:sp>
      <p:cxnSp>
        <p:nvCxnSpPr>
          <p:cNvPr id="49" name="Connector 48"/>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Tunçkol E., Heim C., Brunk I. et al. Innervation pattern and fiber counts of the human dorsal nerve of clitoris. Sci Rep. 2024 Oct 4;14:23060. doi: 10.1038/s41598-024-72898-8 PMCID: PMC11452485. Lisans: CC BY.</a:t>
            </a:r>
          </a:p>
        </p:txBody>
      </p:sp>
      <p:sp>
        <p:nvSpPr>
          <p:cNvPr id="51" name="TextBox 50"/>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Kadın yüzeyel perine kasları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M. bulbospongiosus EAS'ın lateral yüzüne tutunur; STP orta hattı EAS'ın derininde geçer</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12565_2019_492_Fig3_HTML.jpg"/>
          <p:cNvPicPr>
            <a:picLocks noChangeAspect="1"/>
          </p:cNvPicPr>
          <p:nvPr/>
        </p:nvPicPr>
        <p:blipFill>
          <a:blip r:embed="rId2"/>
          <a:stretch>
            <a:fillRect/>
          </a:stretch>
        </p:blipFill>
        <p:spPr>
          <a:xfrm>
            <a:off x="3429000" y="1436857"/>
            <a:ext cx="4967935" cy="3060740"/>
          </a:xfrm>
          <a:prstGeom prst="rect">
            <a:avLst/>
          </a:prstGeom>
        </p:spPr>
      </p:pic>
      <p:sp>
        <p:nvSpPr>
          <p:cNvPr id="8" name="TextBox 7"/>
          <p:cNvSpPr txBox="1"/>
          <p:nvPr/>
        </p:nvSpPr>
        <p:spPr>
          <a:xfrm>
            <a:off x="274320" y="2188865"/>
            <a:ext cx="292608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ischiocavernosus</a:t>
            </a:r>
          </a:p>
        </p:txBody>
      </p:sp>
      <p:cxnSp>
        <p:nvCxnSpPr>
          <p:cNvPr id="9" name="Connector 8"/>
          <p:cNvCxnSpPr/>
          <p:nvPr/>
        </p:nvCxnSpPr>
        <p:spPr>
          <a:xfrm>
            <a:off x="3200400" y="2344313"/>
            <a:ext cx="138214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536825" y="229859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2572913"/>
            <a:ext cx="2926080" cy="310896"/>
          </a:xfrm>
          <a:prstGeom prst="rect">
            <a:avLst/>
          </a:prstGeom>
          <a:noFill/>
        </p:spPr>
        <p:txBody>
          <a:bodyPr wrap="square" anchor="ctr" lIns="45720" rIns="45720" tIns="18288" bIns="18288">
            <a:spAutoFit/>
          </a:bodyPr>
          <a:lstStyle/>
          <a:p>
            <a:pPr algn="r"/>
            <a:r>
              <a:rPr sz="1250" b="1" i="0">
                <a:solidFill>
                  <a:srgbClr val="1F2A44"/>
                </a:solidFill>
                <a:latin typeface="Calibri"/>
              </a:rPr>
              <a:t>Fasciculi musculares inter m. bulbospongiosum et m. transversum perinei superficialem</a:t>
            </a:r>
          </a:p>
        </p:txBody>
      </p:sp>
      <p:cxnSp>
        <p:nvCxnSpPr>
          <p:cNvPr id="12" name="Connector 11"/>
          <p:cNvCxnSpPr/>
          <p:nvPr/>
        </p:nvCxnSpPr>
        <p:spPr>
          <a:xfrm flipV="1">
            <a:off x="3200400" y="2421216"/>
            <a:ext cx="2089653" cy="30714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244333" y="237549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956961"/>
            <a:ext cx="292608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bulbospongiosus</a:t>
            </a:r>
          </a:p>
        </p:txBody>
      </p:sp>
      <p:cxnSp>
        <p:nvCxnSpPr>
          <p:cNvPr id="15" name="Connector 14"/>
          <p:cNvCxnSpPr/>
          <p:nvPr/>
        </p:nvCxnSpPr>
        <p:spPr>
          <a:xfrm flipV="1">
            <a:off x="3200400" y="2821112"/>
            <a:ext cx="1658996" cy="29129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813676" y="277539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3341009"/>
            <a:ext cx="292608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transversus perinei superf.</a:t>
            </a:r>
          </a:p>
        </p:txBody>
      </p:sp>
      <p:cxnSp>
        <p:nvCxnSpPr>
          <p:cNvPr id="18" name="Connector 17"/>
          <p:cNvCxnSpPr/>
          <p:nvPr/>
        </p:nvCxnSpPr>
        <p:spPr>
          <a:xfrm flipV="1">
            <a:off x="3200400" y="2844183"/>
            <a:ext cx="2551071" cy="65227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705751" y="279846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3725057"/>
            <a:ext cx="292608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transversus perinei superf. (pars medialis)</a:t>
            </a:r>
          </a:p>
        </p:txBody>
      </p:sp>
      <p:cxnSp>
        <p:nvCxnSpPr>
          <p:cNvPr id="21" name="Connector 20"/>
          <p:cNvCxnSpPr/>
          <p:nvPr/>
        </p:nvCxnSpPr>
        <p:spPr>
          <a:xfrm flipV="1">
            <a:off x="3200400" y="3305601"/>
            <a:ext cx="2604903" cy="57490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759583" y="325988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5535" y="3004037"/>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transversus perinei superf. (pars posterior)</a:t>
            </a:r>
          </a:p>
        </p:txBody>
      </p:sp>
      <p:cxnSp>
        <p:nvCxnSpPr>
          <p:cNvPr id="24" name="Connector 23"/>
          <p:cNvCxnSpPr/>
          <p:nvPr/>
        </p:nvCxnSpPr>
        <p:spPr>
          <a:xfrm flipH="1">
            <a:off x="6059083" y="3159485"/>
            <a:ext cx="256645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013363" y="311376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5535" y="3388085"/>
            <a:ext cx="329184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sphincter ani externus</a:t>
            </a:r>
          </a:p>
        </p:txBody>
      </p:sp>
      <p:cxnSp>
        <p:nvCxnSpPr>
          <p:cNvPr id="27" name="Connector 26"/>
          <p:cNvCxnSpPr/>
          <p:nvPr/>
        </p:nvCxnSpPr>
        <p:spPr>
          <a:xfrm flipH="1" flipV="1">
            <a:off x="6497430" y="3297910"/>
            <a:ext cx="2128105" cy="24562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6451710" y="325219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29000" y="4515886"/>
            <a:ext cx="496793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3 – Baramee P. ve ark., 2019 (PMC6942605, CC BY)</a:t>
            </a:r>
          </a:p>
        </p:txBody>
      </p:sp>
      <p:sp>
        <p:nvSpPr>
          <p:cNvPr id="30" name="Rectangle 29"/>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Baramee ve ark. 2019 (16 kadın kadavra, 28 hemipelvis): kasların tümünün corpus perineale'ye sonlandığı klasik modelin aksine, STP orta hattı geçerek 'orta askı' oluşturur.</a:t>
            </a:r>
          </a:p>
        </p:txBody>
      </p:sp>
      <p:cxnSp>
        <p:nvCxnSpPr>
          <p:cNvPr id="32" name="Connector 3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Baramee P., Muro S., Suriyut J. et al. Three muscle slings of the pelvic floor in women: an anatomic study. Anat Sci Int. 2019 Jun 4;95(1):47–53. doi: 10.1007/s12565-019-00492-4 PMCID: PMC6942605. Lisans: CC BY.</a:t>
            </a:r>
          </a:p>
        </p:txBody>
      </p:sp>
      <p:sp>
        <p:nvSpPr>
          <p:cNvPr id="34" name="TextBox 33"/>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Derin perine aralığında sfinkter kompleksi (♀ / ♂)</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Yazar şemaları: rhabdosphincter, m. compressor urethrae, m. sphincter urethrovaginalis</a:t>
            </a:r>
          </a:p>
        </p:txBody>
      </p:sp>
      <p:sp>
        <p:nvSpPr>
          <p:cNvPr id="5" name="TextBox 4"/>
          <p:cNvSpPr txBox="1"/>
          <p:nvPr/>
        </p:nvSpPr>
        <p:spPr>
          <a:xfrm>
            <a:off x="9921240" y="109728"/>
            <a:ext cx="2057400" cy="310896"/>
          </a:xfrm>
          <a:prstGeom prst="rect">
            <a:avLst/>
          </a:prstGeom>
          <a:solidFill>
            <a:srgbClr val="5E35B1"/>
          </a:solidFill>
        </p:spPr>
        <p:txBody>
          <a:bodyPr wrap="square" anchor="ctr" lIns="45720" rIns="45720" tIns="18288" bIns="18288">
            <a:spAutoFit/>
          </a:bodyPr>
          <a:lstStyle/>
          <a:p>
            <a:pPr algn="ctr"/>
            <a:r>
              <a:rPr sz="1100" b="1" i="0">
                <a:solidFill>
                  <a:srgbClr val="FFFFFF"/>
                </a:solidFill>
                <a:latin typeface="Calibri"/>
              </a:rPr>
              <a:t>İLLÜSTRASYON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pic>
        <p:nvPicPr>
          <p:cNvPr id="7" name="Picture 6" descr="BMRI2014-906921.011.jpg"/>
          <p:cNvPicPr>
            <a:picLocks noChangeAspect="1"/>
          </p:cNvPicPr>
          <p:nvPr/>
        </p:nvPicPr>
        <p:blipFill>
          <a:blip r:embed="rId2"/>
          <a:stretch>
            <a:fillRect/>
          </a:stretch>
        </p:blipFill>
        <p:spPr>
          <a:xfrm>
            <a:off x="2641499" y="1097280"/>
            <a:ext cx="3083760" cy="3767328"/>
          </a:xfrm>
          <a:prstGeom prst="rect">
            <a:avLst/>
          </a:prstGeom>
        </p:spPr>
      </p:pic>
      <p:sp>
        <p:nvSpPr>
          <p:cNvPr id="8" name="TextBox 7"/>
          <p:cNvSpPr txBox="1"/>
          <p:nvPr/>
        </p:nvSpPr>
        <p:spPr>
          <a:xfrm>
            <a:off x="228600" y="1128868"/>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Vagina</a:t>
            </a:r>
          </a:p>
        </p:txBody>
      </p:sp>
      <p:cxnSp>
        <p:nvCxnSpPr>
          <p:cNvPr id="9" name="Connector 8"/>
          <p:cNvCxnSpPr/>
          <p:nvPr/>
        </p:nvCxnSpPr>
        <p:spPr>
          <a:xfrm>
            <a:off x="2286000" y="1284316"/>
            <a:ext cx="2498713" cy="82032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738993" y="205892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471352"/>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Os pubis</a:t>
            </a:r>
          </a:p>
        </p:txBody>
      </p:sp>
      <p:cxnSp>
        <p:nvCxnSpPr>
          <p:cNvPr id="12" name="Connector 11"/>
          <p:cNvCxnSpPr/>
          <p:nvPr/>
        </p:nvCxnSpPr>
        <p:spPr>
          <a:xfrm>
            <a:off x="2286000" y="1626800"/>
            <a:ext cx="890018" cy="51895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30298" y="210003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813837"/>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M. sphincter urethrae externus</a:t>
            </a:r>
          </a:p>
        </p:txBody>
      </p:sp>
      <p:cxnSp>
        <p:nvCxnSpPr>
          <p:cNvPr id="15" name="Connector 14"/>
          <p:cNvCxnSpPr/>
          <p:nvPr/>
        </p:nvCxnSpPr>
        <p:spPr>
          <a:xfrm>
            <a:off x="2286000" y="1969285"/>
            <a:ext cx="1332023" cy="68015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572303" y="260371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2156321"/>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M. levator ani</a:t>
            </a:r>
          </a:p>
        </p:txBody>
      </p:sp>
      <p:cxnSp>
        <p:nvCxnSpPr>
          <p:cNvPr id="18" name="Connector 17"/>
          <p:cNvCxnSpPr/>
          <p:nvPr/>
        </p:nvCxnSpPr>
        <p:spPr>
          <a:xfrm>
            <a:off x="2286000" y="2311769"/>
            <a:ext cx="2431898" cy="60492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672178" y="287097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2498805"/>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M. compressor urethrae</a:t>
            </a:r>
          </a:p>
        </p:txBody>
      </p:sp>
      <p:cxnSp>
        <p:nvCxnSpPr>
          <p:cNvPr id="21" name="Connector 20"/>
          <p:cNvCxnSpPr/>
          <p:nvPr/>
        </p:nvCxnSpPr>
        <p:spPr>
          <a:xfrm>
            <a:off x="2286000" y="2654253"/>
            <a:ext cx="1768889" cy="37037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009169" y="297891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2841290"/>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Urethra feminina</a:t>
            </a:r>
          </a:p>
        </p:txBody>
      </p:sp>
      <p:cxnSp>
        <p:nvCxnSpPr>
          <p:cNvPr id="24" name="Connector 23"/>
          <p:cNvCxnSpPr/>
          <p:nvPr/>
        </p:nvCxnSpPr>
        <p:spPr>
          <a:xfrm>
            <a:off x="2286000" y="2996738"/>
            <a:ext cx="1146998" cy="7928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87278" y="303030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8600" y="3183774"/>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M. sphincter urethrovaginalis</a:t>
            </a:r>
          </a:p>
        </p:txBody>
      </p:sp>
      <p:cxnSp>
        <p:nvCxnSpPr>
          <p:cNvPr id="27" name="Connector 26"/>
          <p:cNvCxnSpPr/>
          <p:nvPr/>
        </p:nvCxnSpPr>
        <p:spPr>
          <a:xfrm>
            <a:off x="2286000" y="3339222"/>
            <a:ext cx="1573585" cy="5032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813865" y="334382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3526258"/>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Membrana perinei</a:t>
            </a:r>
          </a:p>
        </p:txBody>
      </p:sp>
      <p:cxnSp>
        <p:nvCxnSpPr>
          <p:cNvPr id="30" name="Connector 29"/>
          <p:cNvCxnSpPr/>
          <p:nvPr/>
        </p:nvCxnSpPr>
        <p:spPr>
          <a:xfrm flipV="1">
            <a:off x="2286000" y="3625964"/>
            <a:ext cx="1810006" cy="5574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050286" y="358024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3868743"/>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M. bulbospongiosus</a:t>
            </a:r>
          </a:p>
        </p:txBody>
      </p:sp>
      <p:cxnSp>
        <p:nvCxnSpPr>
          <p:cNvPr id="33" name="Connector 32"/>
          <p:cNvCxnSpPr/>
          <p:nvPr/>
        </p:nvCxnSpPr>
        <p:spPr>
          <a:xfrm flipV="1">
            <a:off x="2286000" y="3667080"/>
            <a:ext cx="1234371" cy="35711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3474651" y="362136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4211227"/>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Bulbus vestibuli</a:t>
            </a:r>
          </a:p>
        </p:txBody>
      </p:sp>
      <p:cxnSp>
        <p:nvCxnSpPr>
          <p:cNvPr id="36" name="Connector 35"/>
          <p:cNvCxnSpPr/>
          <p:nvPr/>
        </p:nvCxnSpPr>
        <p:spPr>
          <a:xfrm flipV="1">
            <a:off x="2286000" y="3795570"/>
            <a:ext cx="1059624" cy="57110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3299904" y="374985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28600" y="4553712"/>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M. sphincter ani externus</a:t>
            </a:r>
          </a:p>
        </p:txBody>
      </p:sp>
      <p:cxnSp>
        <p:nvCxnSpPr>
          <p:cNvPr id="39" name="Connector 38"/>
          <p:cNvCxnSpPr/>
          <p:nvPr/>
        </p:nvCxnSpPr>
        <p:spPr>
          <a:xfrm flipV="1">
            <a:off x="2286000" y="4119365"/>
            <a:ext cx="2323966" cy="58979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4564246" y="407364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377440" y="4882896"/>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11 – Hinata N. ve ark., 2014 (PMC4022307, CC BY)</a:t>
            </a:r>
          </a:p>
        </p:txBody>
      </p:sp>
      <p:pic>
        <p:nvPicPr>
          <p:cNvPr id="42" name="Picture 41" descr="BMRI2014-906921.010.jpg"/>
          <p:cNvPicPr>
            <a:picLocks noChangeAspect="1"/>
          </p:cNvPicPr>
          <p:nvPr/>
        </p:nvPicPr>
        <p:blipFill>
          <a:blip r:embed="rId3"/>
          <a:stretch>
            <a:fillRect/>
          </a:stretch>
        </p:blipFill>
        <p:spPr>
          <a:xfrm>
            <a:off x="6172200" y="1114390"/>
            <a:ext cx="3642055" cy="3733106"/>
          </a:xfrm>
          <a:prstGeom prst="rect">
            <a:avLst/>
          </a:prstGeom>
        </p:spPr>
      </p:pic>
      <p:sp>
        <p:nvSpPr>
          <p:cNvPr id="43" name="TextBox 42"/>
          <p:cNvSpPr txBox="1"/>
          <p:nvPr/>
        </p:nvSpPr>
        <p:spPr>
          <a:xfrm>
            <a:off x="9905695" y="1865376"/>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Os pubis</a:t>
            </a:r>
          </a:p>
        </p:txBody>
      </p:sp>
      <p:cxnSp>
        <p:nvCxnSpPr>
          <p:cNvPr id="44" name="Connector 43"/>
          <p:cNvCxnSpPr/>
          <p:nvPr/>
        </p:nvCxnSpPr>
        <p:spPr>
          <a:xfrm flipH="1">
            <a:off x="6906681" y="2020824"/>
            <a:ext cx="2999014" cy="41077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6860961" y="238588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05695" y="2249424"/>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M. levator ani</a:t>
            </a:r>
          </a:p>
        </p:txBody>
      </p:sp>
      <p:cxnSp>
        <p:nvCxnSpPr>
          <p:cNvPr id="47" name="Connector 46"/>
          <p:cNvCxnSpPr/>
          <p:nvPr/>
        </p:nvCxnSpPr>
        <p:spPr>
          <a:xfrm flipH="1">
            <a:off x="8855180" y="2404872"/>
            <a:ext cx="1050515" cy="9956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8809460" y="245872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905695" y="2633472"/>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Prostata</a:t>
            </a:r>
          </a:p>
        </p:txBody>
      </p:sp>
      <p:cxnSp>
        <p:nvCxnSpPr>
          <p:cNvPr id="50" name="Connector 49"/>
          <p:cNvCxnSpPr/>
          <p:nvPr/>
        </p:nvCxnSpPr>
        <p:spPr>
          <a:xfrm flipH="1" flipV="1">
            <a:off x="7234466" y="2710824"/>
            <a:ext cx="2671229" cy="7809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7188746" y="266510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05695" y="3017520"/>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M. sphincter urethrae externus</a:t>
            </a:r>
          </a:p>
        </p:txBody>
      </p:sp>
      <p:cxnSp>
        <p:nvCxnSpPr>
          <p:cNvPr id="53" name="Connector 52"/>
          <p:cNvCxnSpPr/>
          <p:nvPr/>
        </p:nvCxnSpPr>
        <p:spPr>
          <a:xfrm flipH="1">
            <a:off x="7131274" y="3172968"/>
            <a:ext cx="2774421" cy="11451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7085554" y="324176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05695" y="3401568"/>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M. transversus perinei prof.</a:t>
            </a:r>
          </a:p>
        </p:txBody>
      </p:sp>
      <p:cxnSp>
        <p:nvCxnSpPr>
          <p:cNvPr id="56" name="Connector 55"/>
          <p:cNvCxnSpPr/>
          <p:nvPr/>
        </p:nvCxnSpPr>
        <p:spPr>
          <a:xfrm flipH="1">
            <a:off x="7968947" y="3557016"/>
            <a:ext cx="1936748" cy="39210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7923227" y="390340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905695" y="3785616"/>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M. sphincter ani externus</a:t>
            </a:r>
          </a:p>
        </p:txBody>
      </p:sp>
      <p:cxnSp>
        <p:nvCxnSpPr>
          <p:cNvPr id="59" name="Connector 58"/>
          <p:cNvCxnSpPr/>
          <p:nvPr/>
        </p:nvCxnSpPr>
        <p:spPr>
          <a:xfrm flipH="1">
            <a:off x="8800549" y="3941064"/>
            <a:ext cx="1105146" cy="805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8754829" y="390340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05695" y="4169664"/>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Urethra (pars spongiosa)</a:t>
            </a:r>
          </a:p>
        </p:txBody>
      </p:sp>
      <p:cxnSp>
        <p:nvCxnSpPr>
          <p:cNvPr id="62" name="Connector 61"/>
          <p:cNvCxnSpPr/>
          <p:nvPr/>
        </p:nvCxnSpPr>
        <p:spPr>
          <a:xfrm flipH="1" flipV="1">
            <a:off x="7283026" y="4046245"/>
            <a:ext cx="2622669" cy="27886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7237306" y="400052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905695" y="4553712"/>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Gl. bulbourethralis</a:t>
            </a:r>
          </a:p>
        </p:txBody>
      </p:sp>
      <p:cxnSp>
        <p:nvCxnSpPr>
          <p:cNvPr id="65" name="Connector 64"/>
          <p:cNvCxnSpPr/>
          <p:nvPr/>
        </p:nvCxnSpPr>
        <p:spPr>
          <a:xfrm flipH="1" flipV="1">
            <a:off x="7689723" y="4046245"/>
            <a:ext cx="2215972" cy="66291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7644003" y="400052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172200" y="4865785"/>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10 – Hinata N. ve ark., 2014 (PMC4022307, CC BY)</a:t>
            </a:r>
          </a:p>
        </p:txBody>
      </p:sp>
      <p:sp>
        <p:nvSpPr>
          <p:cNvPr id="68" name="Rectangle 67"/>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 m. sphincter urethrae externus + m. compressor urethrae + m. sphincter urethrovaginalis 'üretral sfinkter kompleksi'ni yapar (Oelrich 1983); ♂: rhabdosphincter prostat apeksine dek dikey uzanır, gl. bulbourethralis ve m. transversus perinei profundus çevresinde.</a:t>
            </a:r>
          </a:p>
        </p:txBody>
      </p:sp>
      <p:cxnSp>
        <p:nvCxnSpPr>
          <p:cNvPr id="70" name="Connector 6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Hinata N., Murakami G. The Urethral Rhabdosphincter, Levator Ani Muscle, and Perineal Membrane: A Review. Biomed Res Int. 2014 Apr 27;2014:906921. doi: 10.1155/2014/906921 PMCID: PMC4022307. Lisans: CC BY.</a:t>
            </a:r>
          </a:p>
        </p:txBody>
      </p:sp>
      <p:sp>
        <p:nvSpPr>
          <p:cNvPr id="72" name="TextBox 71"/>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Klinik bağlantılar – regio urogenitalis</a:t>
            </a:r>
          </a:p>
        </p:txBody>
      </p:sp>
      <p:sp>
        <p:nvSpPr>
          <p:cNvPr id="4" name="TextBox 3"/>
          <p:cNvSpPr txBox="1"/>
          <p:nvPr/>
        </p:nvSpPr>
        <p:spPr>
          <a:xfrm>
            <a:off x="9921240" y="109728"/>
            <a:ext cx="2057400" cy="310896"/>
          </a:xfrm>
          <a:prstGeom prst="rect">
            <a:avLst/>
          </a:prstGeom>
          <a:solidFill>
            <a:srgbClr val="C26A00"/>
          </a:solidFill>
        </p:spPr>
        <p:txBody>
          <a:bodyPr wrap="square" anchor="ctr" lIns="45720" rIns="45720" tIns="18288" bIns="18288">
            <a:spAutoFit/>
          </a:bodyPr>
          <a:lstStyle/>
          <a:p>
            <a:pPr algn="ctr"/>
            <a:r>
              <a:rPr sz="1100" b="1" i="0">
                <a:solidFill>
                  <a:srgbClr val="FFFFFF"/>
                </a:solidFill>
                <a:latin typeface="Calibri"/>
              </a:rPr>
              <a:t>KLİNİK BAĞLANTI</a:t>
            </a:r>
          </a:p>
        </p:txBody>
      </p:sp>
      <p:sp>
        <p:nvSpPr>
          <p:cNvPr id="5" name="TextBox 4"/>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UROGENITALIS</a:t>
            </a:r>
          </a:p>
        </p:txBody>
      </p:sp>
      <p:sp>
        <p:nvSpPr>
          <p:cNvPr id="6" name="TextBox 5"/>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Fournier gangreni</a:t>
            </a:r>
            <a:r>
              <a:rPr sz="1900">
                <a:solidFill>
                  <a:srgbClr val="1F2A44"/>
                </a:solidFill>
                <a:latin typeface="Calibri"/>
              </a:rPr>
              <a:t>: nekrotizan fasiit Colles–dartos–Scarpa düzleminde yayılır; uyluğa ve anal üçgene geçişi fasyal tutunmalar sınırlar, testisler (ayrı kan akımı) çoğunlukla korunur.</a:t>
            </a:r>
          </a:p>
          <a:p>
            <a:pPr>
              <a:spcAft>
                <a:spcPts val="600"/>
              </a:spcAft>
            </a:pPr>
            <a:r>
              <a:rPr sz="1900">
                <a:solidFill>
                  <a:srgbClr val="1F2A44"/>
                </a:solidFill>
                <a:latin typeface="Calibri"/>
              </a:rPr>
              <a:t>• </a:t>
            </a:r>
            <a:r>
              <a:rPr sz="1900">
                <a:solidFill>
                  <a:srgbClr val="1F2A44"/>
                </a:solidFill>
                <a:latin typeface="Calibri"/>
              </a:rPr>
              <a:t>Bartholin kisti/apsesi</a:t>
            </a:r>
            <a:r>
              <a:rPr sz="1900">
                <a:solidFill>
                  <a:srgbClr val="1F2A44"/>
                </a:solidFill>
                <a:latin typeface="Calibri"/>
              </a:rPr>
              <a:t>: gl. vestibularis major kanalı labium minus iç yüzünde, hymen dışında, vestibulum'da saat ≈4 ve ≈8 hizasında açılır; marsupializasyon.</a:t>
            </a:r>
          </a:p>
          <a:p>
            <a:pPr>
              <a:spcAft>
                <a:spcPts val="600"/>
              </a:spcAft>
            </a:pPr>
            <a:r>
              <a:rPr sz="1900">
                <a:solidFill>
                  <a:srgbClr val="1F2A44"/>
                </a:solidFill>
                <a:latin typeface="Calibri"/>
              </a:rPr>
              <a:t>• </a:t>
            </a:r>
            <a:r>
              <a:rPr sz="1900">
                <a:solidFill>
                  <a:srgbClr val="1F2A44"/>
                </a:solidFill>
                <a:latin typeface="Calibri"/>
              </a:rPr>
              <a:t>Pars membranacea urethrae rüptürü</a:t>
            </a:r>
            <a:r>
              <a:rPr sz="1900">
                <a:solidFill>
                  <a:srgbClr val="1F2A44"/>
                </a:solidFill>
                <a:latin typeface="Calibri"/>
              </a:rPr>
              <a:t> (pelvis kırığı): membrana perinei üstünde → ekstravazasyon spatium profundum ve retropubik/extraperitoneal alana; perineal hematom 'kelebek' biçimi görülmez.</a:t>
            </a:r>
          </a:p>
          <a:p>
            <a:pPr>
              <a:spcAft>
                <a:spcPts val="600"/>
              </a:spcAft>
            </a:pPr>
            <a:r>
              <a:rPr sz="1900">
                <a:solidFill>
                  <a:srgbClr val="1F2A44"/>
                </a:solidFill>
                <a:latin typeface="Calibri"/>
              </a:rPr>
              <a:t>• </a:t>
            </a:r>
            <a:r>
              <a:rPr sz="1900">
                <a:solidFill>
                  <a:srgbClr val="1F2A44"/>
                </a:solidFill>
                <a:latin typeface="Calibri"/>
              </a:rPr>
              <a:t>Pudendal blok</a:t>
            </a:r>
            <a:r>
              <a:rPr sz="1900">
                <a:solidFill>
                  <a:srgbClr val="1F2A44"/>
                </a:solidFill>
                <a:latin typeface="Calibri"/>
              </a:rPr>
              <a:t>: transvaginal yolla spina ischiadica'nın hemen medial-posterioruna (lig. sacrospinale); a. pudenda interna laterale yakındır → aspirasyon zorunlu.</a:t>
            </a:r>
          </a:p>
          <a:p>
            <a:pPr>
              <a:spcAft>
                <a:spcPts val="600"/>
              </a:spcAft>
            </a:pPr>
            <a:r>
              <a:rPr sz="1900">
                <a:solidFill>
                  <a:srgbClr val="1F2A44"/>
                </a:solidFill>
                <a:latin typeface="Calibri"/>
              </a:rPr>
              <a:t>• </a:t>
            </a:r>
            <a:r>
              <a:rPr sz="1900">
                <a:solidFill>
                  <a:srgbClr val="1F2A44"/>
                </a:solidFill>
                <a:latin typeface="Calibri"/>
              </a:rPr>
              <a:t>Erektil fonksiyon</a:t>
            </a:r>
            <a:r>
              <a:rPr sz="1900">
                <a:solidFill>
                  <a:srgbClr val="1F2A44"/>
                </a:solidFill>
                <a:latin typeface="Calibri"/>
              </a:rPr>
              <a:t>: n. cavernosus (plexus hypogastricus inferior, otonom) prostatın posterolateralinden geçer; somatik duyu n. dorsalis penis.</a:t>
            </a:r>
          </a:p>
        </p:txBody>
      </p:sp>
      <p:cxnSp>
        <p:nvCxnSpPr>
          <p:cNvPr id="7" name="Connector 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486400" cy="457200"/>
          </a:xfrm>
          <a:prstGeom prst="rect">
            <a:avLst/>
          </a:prstGeom>
          <a:noFill/>
        </p:spPr>
        <p:txBody>
          <a:bodyPr wrap="square" anchor="t" lIns="45720" rIns="45720" tIns="18288" bIns="18288">
            <a:spAutoFit/>
          </a:bodyPr>
          <a:lstStyle/>
          <a:p>
            <a:pPr algn="l"/>
            <a:r>
              <a:rPr sz="2000" b="1" i="0">
                <a:solidFill>
                  <a:srgbClr val="C8D1E6"/>
                </a:solidFill>
                <a:latin typeface="Calibri"/>
              </a:rPr>
              <a:t>BÖLÜM 4</a:t>
            </a:r>
          </a:p>
        </p:txBody>
      </p:sp>
      <p:sp>
        <p:nvSpPr>
          <p:cNvPr id="4" name="TextBox 3"/>
          <p:cNvSpPr txBox="1"/>
          <p:nvPr/>
        </p:nvSpPr>
        <p:spPr>
          <a:xfrm>
            <a:off x="548640" y="1234440"/>
            <a:ext cx="5669280" cy="1371600"/>
          </a:xfrm>
          <a:prstGeom prst="rect">
            <a:avLst/>
          </a:prstGeom>
          <a:noFill/>
        </p:spPr>
        <p:txBody>
          <a:bodyPr wrap="square" anchor="t" lIns="45720" rIns="45720" tIns="18288" bIns="18288">
            <a:spAutoFit/>
          </a:bodyPr>
          <a:lstStyle/>
          <a:p>
            <a:pPr algn="l"/>
            <a:r>
              <a:rPr sz="4000" b="1" i="0">
                <a:solidFill>
                  <a:srgbClr val="FFFFFF"/>
                </a:solidFill>
                <a:latin typeface="Calibri"/>
              </a:rPr>
              <a:t>Regio analis</a:t>
            </a:r>
          </a:p>
        </p:txBody>
      </p:sp>
      <p:sp>
        <p:nvSpPr>
          <p:cNvPr id="5" name="TextBox 4"/>
          <p:cNvSpPr txBox="1"/>
          <p:nvPr/>
        </p:nvSpPr>
        <p:spPr>
          <a:xfrm>
            <a:off x="548640" y="2697480"/>
            <a:ext cx="5486400" cy="640080"/>
          </a:xfrm>
          <a:prstGeom prst="rect">
            <a:avLst/>
          </a:prstGeom>
          <a:noFill/>
        </p:spPr>
        <p:txBody>
          <a:bodyPr wrap="square" anchor="t" lIns="45720" rIns="45720" tIns="18288" bIns="18288">
            <a:spAutoFit/>
          </a:bodyPr>
          <a:lstStyle/>
          <a:p>
            <a:pPr algn="l"/>
            <a:r>
              <a:rPr sz="1700" b="0" i="1">
                <a:solidFill>
                  <a:srgbClr val="C8D1E6"/>
                </a:solidFill>
                <a:latin typeface="Calibri"/>
              </a:rPr>
              <a:t>Fossa ischioanalis ve kontinans aparatı</a:t>
            </a:r>
          </a:p>
        </p:txBody>
      </p:sp>
      <p:sp>
        <p:nvSpPr>
          <p:cNvPr id="6" name="TextBox 5"/>
          <p:cNvSpPr txBox="1"/>
          <p:nvPr/>
        </p:nvSpPr>
        <p:spPr>
          <a:xfrm>
            <a:off x="548640" y="3429000"/>
            <a:ext cx="5577840" cy="2926080"/>
          </a:xfrm>
          <a:prstGeom prst="rect">
            <a:avLst/>
          </a:prstGeom>
          <a:noFill/>
        </p:spPr>
        <p:txBody>
          <a:bodyPr wrap="square">
            <a:spAutoFit/>
          </a:bodyPr>
          <a:lstStyle/>
          <a:p>
            <a:pPr>
              <a:spcAft>
                <a:spcPts val="600"/>
              </a:spcAft>
            </a:pPr>
            <a:r>
              <a:rPr sz="1700">
                <a:solidFill>
                  <a:srgbClr val="FFFFFF"/>
                </a:solidFill>
                <a:latin typeface="Calibri"/>
              </a:rPr>
              <a:t>• Fossa ischioanalis sınırları ve recessus'lar</a:t>
            </a:r>
          </a:p>
          <a:p>
            <a:pPr>
              <a:spcAft>
                <a:spcPts val="600"/>
              </a:spcAft>
            </a:pPr>
            <a:r>
              <a:rPr sz="1700">
                <a:solidFill>
                  <a:srgbClr val="FFFFFF"/>
                </a:solidFill>
                <a:latin typeface="Calibri"/>
              </a:rPr>
              <a:t>• M. sphincter ani externus</a:t>
            </a:r>
          </a:p>
          <a:p>
            <a:pPr>
              <a:spcAft>
                <a:spcPts val="600"/>
              </a:spcAft>
            </a:pPr>
            <a:r>
              <a:rPr sz="1700">
                <a:solidFill>
                  <a:srgbClr val="FFFFFF"/>
                </a:solidFill>
                <a:latin typeface="Calibri"/>
              </a:rPr>
              <a:t>• Corpus anococcygeum</a:t>
            </a:r>
          </a:p>
        </p:txBody>
      </p:sp>
      <p:pic>
        <p:nvPicPr>
          <p:cNvPr id="7" name="Picture 6" descr="12565_2019_492_Fig2_HTML.jpg"/>
          <p:cNvPicPr>
            <a:picLocks noChangeAspect="1"/>
          </p:cNvPicPr>
          <p:nvPr/>
        </p:nvPicPr>
        <p:blipFill>
          <a:blip r:embed="rId2"/>
          <a:stretch>
            <a:fillRect/>
          </a:stretch>
        </p:blipFill>
        <p:spPr>
          <a:xfrm>
            <a:off x="7433306" y="457200"/>
            <a:ext cx="3741427" cy="5577840"/>
          </a:xfrm>
          <a:prstGeom prst="rect">
            <a:avLst/>
          </a:prstGeom>
        </p:spPr>
      </p:pic>
      <p:sp>
        <p:nvSpPr>
          <p:cNvPr id="8" name="TextBox 7"/>
          <p:cNvSpPr txBox="1"/>
          <p:nvPr/>
        </p:nvSpPr>
        <p:spPr>
          <a:xfrm>
            <a:off x="6675120" y="6080760"/>
            <a:ext cx="5257800" cy="274320"/>
          </a:xfrm>
          <a:prstGeom prst="rect">
            <a:avLst/>
          </a:prstGeom>
          <a:noFill/>
        </p:spPr>
        <p:txBody>
          <a:bodyPr wrap="square" anchor="t" lIns="45720" rIns="45720" tIns="18288" bIns="18288">
            <a:spAutoFit/>
          </a:bodyPr>
          <a:lstStyle/>
          <a:p>
            <a:pPr algn="ctr"/>
            <a:r>
              <a:rPr sz="900" b="0" i="1">
                <a:solidFill>
                  <a:srgbClr val="555B66"/>
                </a:solidFill>
                <a:latin typeface="Calibri"/>
              </a:rPr>
              <a:t>Baramee P. ve ark., 2019 (PMC6942605, CC BY)</a:t>
            </a:r>
          </a:p>
        </p:txBody>
      </p: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Fossa ischioanalis – sınırlar ve içerik</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Kama biçimli, yağla dolu, iki tarafta at nalı biçiminde birbirine bağlı aralık</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TABLO</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ANALIS</a:t>
            </a:r>
          </a:p>
        </p:txBody>
      </p:sp>
      <p:graphicFrame>
        <p:nvGraphicFramePr>
          <p:cNvPr id="7" name="Table 6"/>
          <p:cNvGraphicFramePr>
            <a:graphicFrameLocks noGrp="1"/>
          </p:cNvGraphicFramePr>
          <p:nvPr/>
        </p:nvGraphicFramePr>
        <p:xfrm>
          <a:off x="274320" y="1143000"/>
          <a:ext cx="11640312" cy="5074920"/>
        </p:xfrm>
        <a:graphic>
          <a:graphicData uri="http://schemas.openxmlformats.org/drawingml/2006/table">
            <a:tbl>
              <a:tblPr firstRow="1" bandRow="1">
                <a:tableStyleId>{5C22544A-7EE6-4342-B048-85BDC9FD1C3A}</a:tableStyleId>
              </a:tblPr>
              <a:tblGrid>
                <a:gridCol w="2474712"/>
                <a:gridCol w="9165600"/>
              </a:tblGrid>
              <a:tr h="563880">
                <a:tc>
                  <a:txBody>
                    <a:bodyPr/>
                    <a:lstStyle/>
                    <a:p>
                      <a:r>
                        <a:rPr sz="1500" b="1">
                          <a:solidFill>
                            <a:srgbClr val="FFFFFF"/>
                          </a:solidFill>
                          <a:latin typeface="Calibri"/>
                        </a:rPr>
                        <a:t>Sınır / öğe</a:t>
                      </a:r>
                    </a:p>
                  </a:txBody>
                  <a:tcPr>
                    <a:solidFill>
                      <a:srgbClr val="1F2A44"/>
                    </a:solidFill>
                  </a:tcPr>
                </a:tc>
                <a:tc>
                  <a:txBody>
                    <a:bodyPr/>
                    <a:lstStyle/>
                    <a:p>
                      <a:r>
                        <a:rPr sz="1500" b="1">
                          <a:solidFill>
                            <a:srgbClr val="FFFFFF"/>
                          </a:solidFill>
                          <a:latin typeface="Calibri"/>
                        </a:rPr>
                        <a:t>Yapı</a:t>
                      </a:r>
                    </a:p>
                  </a:txBody>
                  <a:tcPr>
                    <a:solidFill>
                      <a:srgbClr val="1F2A44"/>
                    </a:solidFill>
                  </a:tcPr>
                </a:tc>
              </a:tr>
              <a:tr h="563880">
                <a:tc>
                  <a:txBody>
                    <a:bodyPr/>
                    <a:lstStyle/>
                    <a:p>
                      <a:r>
                        <a:rPr sz="1450" b="1">
                          <a:solidFill>
                            <a:srgbClr val="1F2A44"/>
                          </a:solidFill>
                          <a:latin typeface="Calibri"/>
                        </a:rPr>
                        <a:t>Lateral duvar</a:t>
                      </a:r>
                    </a:p>
                  </a:txBody>
                  <a:tcPr marT="27432" marB="27432">
                    <a:solidFill>
                      <a:srgbClr val="F3F4F6"/>
                    </a:solidFill>
                  </a:tcPr>
                </a:tc>
                <a:tc>
                  <a:txBody>
                    <a:bodyPr/>
                    <a:lstStyle/>
                    <a:p>
                      <a:r>
                        <a:rPr sz="1450">
                          <a:solidFill>
                            <a:srgbClr val="1F2A44"/>
                          </a:solidFill>
                          <a:latin typeface="Calibri"/>
                        </a:rPr>
                        <a:t>M. obturatorius internus + </a:t>
                      </a:r>
                      <a:r>
                        <a:rPr sz="1450">
                          <a:solidFill>
                            <a:srgbClr val="1F2A44"/>
                          </a:solidFill>
                          <a:latin typeface="Calibri"/>
                        </a:rPr>
                        <a:t>fascia obturatoria</a:t>
                      </a:r>
                      <a:r>
                        <a:rPr sz="1450">
                          <a:solidFill>
                            <a:srgbClr val="1F2A44"/>
                          </a:solidFill>
                          <a:latin typeface="Calibri"/>
                        </a:rPr>
                        <a:t> (üzerinde canalis pudendalis); tuber ischiadicum</a:t>
                      </a:r>
                    </a:p>
                  </a:txBody>
                  <a:tcPr marT="27432" marB="27432">
                    <a:solidFill>
                      <a:srgbClr val="F3F4F6"/>
                    </a:solidFill>
                  </a:tcPr>
                </a:tc>
              </a:tr>
              <a:tr h="563880">
                <a:tc>
                  <a:txBody>
                    <a:bodyPr/>
                    <a:lstStyle/>
                    <a:p>
                      <a:r>
                        <a:rPr sz="1450" b="1">
                          <a:solidFill>
                            <a:srgbClr val="1F2A44"/>
                          </a:solidFill>
                          <a:latin typeface="Calibri"/>
                        </a:rPr>
                        <a:t>Medial duvar</a:t>
                      </a:r>
                    </a:p>
                  </a:txBody>
                  <a:tcPr marT="27432" marB="27432">
                    <a:solidFill>
                      <a:srgbClr val="FFFFFF"/>
                    </a:solidFill>
                  </a:tcPr>
                </a:tc>
                <a:tc>
                  <a:txBody>
                    <a:bodyPr/>
                    <a:lstStyle/>
                    <a:p>
                      <a:r>
                        <a:rPr sz="1450">
                          <a:solidFill>
                            <a:srgbClr val="1F2A44"/>
                          </a:solidFill>
                          <a:latin typeface="Calibri"/>
                        </a:rPr>
                        <a:t>M. levator ani + fascia inferior diaphragmatis pelvis; aşağıda m. sphincter ani externus</a:t>
                      </a:r>
                    </a:p>
                  </a:txBody>
                  <a:tcPr marT="27432" marB="27432">
                    <a:solidFill>
                      <a:srgbClr val="FFFFFF"/>
                    </a:solidFill>
                  </a:tcPr>
                </a:tc>
              </a:tr>
              <a:tr h="563880">
                <a:tc>
                  <a:txBody>
                    <a:bodyPr/>
                    <a:lstStyle/>
                    <a:p>
                      <a:r>
                        <a:rPr sz="1450" b="1">
                          <a:solidFill>
                            <a:srgbClr val="1F2A44"/>
                          </a:solidFill>
                          <a:latin typeface="Calibri"/>
                        </a:rPr>
                        <a:t>Tavan (apex)</a:t>
                      </a:r>
                    </a:p>
                  </a:txBody>
                  <a:tcPr marT="27432" marB="27432">
                    <a:solidFill>
                      <a:srgbClr val="F3F4F6"/>
                    </a:solidFill>
                  </a:tcPr>
                </a:tc>
                <a:tc>
                  <a:txBody>
                    <a:bodyPr/>
                    <a:lstStyle/>
                    <a:p>
                      <a:r>
                        <a:rPr sz="1450">
                          <a:solidFill>
                            <a:srgbClr val="1F2A44"/>
                          </a:solidFill>
                          <a:latin typeface="Calibri"/>
                        </a:rPr>
                        <a:t>Levator ani'nin fascia obturatoria'dan çıktığı çizgi (arcus tendineus m. levatoris ani)</a:t>
                      </a:r>
                    </a:p>
                  </a:txBody>
                  <a:tcPr marT="27432" marB="27432">
                    <a:solidFill>
                      <a:srgbClr val="F3F4F6"/>
                    </a:solidFill>
                  </a:tcPr>
                </a:tc>
              </a:tr>
              <a:tr h="563880">
                <a:tc>
                  <a:txBody>
                    <a:bodyPr/>
                    <a:lstStyle/>
                    <a:p>
                      <a:r>
                        <a:rPr sz="1450" b="1">
                          <a:solidFill>
                            <a:srgbClr val="1F2A44"/>
                          </a:solidFill>
                          <a:latin typeface="Calibri"/>
                        </a:rPr>
                        <a:t>Ön sınır</a:t>
                      </a:r>
                    </a:p>
                  </a:txBody>
                  <a:tcPr marT="27432" marB="27432">
                    <a:solidFill>
                      <a:srgbClr val="FFFFFF"/>
                    </a:solidFill>
                  </a:tcPr>
                </a:tc>
                <a:tc>
                  <a:txBody>
                    <a:bodyPr/>
                    <a:lstStyle/>
                    <a:p>
                      <a:r>
                        <a:rPr sz="1450">
                          <a:solidFill>
                            <a:srgbClr val="1F2A44"/>
                          </a:solidFill>
                          <a:latin typeface="Calibri"/>
                        </a:rPr>
                        <a:t>Membrana perinei arka kenarı ve corpus perineale; üstünden </a:t>
                      </a:r>
                      <a:r>
                        <a:rPr sz="1450">
                          <a:solidFill>
                            <a:srgbClr val="1F2A44"/>
                          </a:solidFill>
                          <a:latin typeface="Calibri"/>
                        </a:rPr>
                        <a:t>recessus anterior</a:t>
                      </a:r>
                      <a:r>
                        <a:rPr sz="1450">
                          <a:solidFill>
                            <a:srgbClr val="1F2A44"/>
                          </a:solidFill>
                          <a:latin typeface="Calibri"/>
                        </a:rPr>
                        <a:t> pubis'e dek uzanır</a:t>
                      </a:r>
                    </a:p>
                  </a:txBody>
                  <a:tcPr marT="27432" marB="27432">
                    <a:solidFill>
                      <a:srgbClr val="FFFFFF"/>
                    </a:solidFill>
                  </a:tcPr>
                </a:tc>
              </a:tr>
              <a:tr h="563880">
                <a:tc>
                  <a:txBody>
                    <a:bodyPr/>
                    <a:lstStyle/>
                    <a:p>
                      <a:r>
                        <a:rPr sz="1450" b="1">
                          <a:solidFill>
                            <a:srgbClr val="1F2A44"/>
                          </a:solidFill>
                          <a:latin typeface="Calibri"/>
                        </a:rPr>
                        <a:t>Arka sınır</a:t>
                      </a:r>
                    </a:p>
                  </a:txBody>
                  <a:tcPr marT="27432" marB="27432">
                    <a:solidFill>
                      <a:srgbClr val="F3F4F6"/>
                    </a:solidFill>
                  </a:tcPr>
                </a:tc>
                <a:tc>
                  <a:txBody>
                    <a:bodyPr/>
                    <a:lstStyle/>
                    <a:p>
                      <a:r>
                        <a:rPr sz="1450">
                          <a:solidFill>
                            <a:srgbClr val="1F2A44"/>
                          </a:solidFill>
                          <a:latin typeface="Calibri"/>
                        </a:rPr>
                        <a:t>Lig. sacrotuberale ve m. gluteus maximus alt kenarı; </a:t>
                      </a:r>
                      <a:r>
                        <a:rPr sz="1450">
                          <a:solidFill>
                            <a:srgbClr val="1F2A44"/>
                          </a:solidFill>
                          <a:latin typeface="Calibri"/>
                        </a:rPr>
                        <a:t>recessus posterior</a:t>
                      </a:r>
                      <a:r>
                        <a:rPr sz="1450">
                          <a:solidFill>
                            <a:srgbClr val="1F2A44"/>
                          </a:solidFill>
                          <a:latin typeface="Calibri"/>
                        </a:rPr>
                        <a:t> gluteus maximus altına</a:t>
                      </a:r>
                    </a:p>
                  </a:txBody>
                  <a:tcPr marT="27432" marB="27432">
                    <a:solidFill>
                      <a:srgbClr val="F3F4F6"/>
                    </a:solidFill>
                  </a:tcPr>
                </a:tc>
              </a:tr>
              <a:tr h="563880">
                <a:tc>
                  <a:txBody>
                    <a:bodyPr/>
                    <a:lstStyle/>
                    <a:p>
                      <a:r>
                        <a:rPr sz="1450" b="1">
                          <a:solidFill>
                            <a:srgbClr val="1F2A44"/>
                          </a:solidFill>
                          <a:latin typeface="Calibri"/>
                        </a:rPr>
                        <a:t>Taban</a:t>
                      </a:r>
                    </a:p>
                  </a:txBody>
                  <a:tcPr marT="27432" marB="27432">
                    <a:solidFill>
                      <a:srgbClr val="FFFFFF"/>
                    </a:solidFill>
                  </a:tcPr>
                </a:tc>
                <a:tc>
                  <a:txBody>
                    <a:bodyPr/>
                    <a:lstStyle/>
                    <a:p>
                      <a:r>
                        <a:rPr sz="1450">
                          <a:solidFill>
                            <a:srgbClr val="1F2A44"/>
                          </a:solidFill>
                          <a:latin typeface="Calibri"/>
                        </a:rPr>
                        <a:t>Perianal deri ve tela subcutanea</a:t>
                      </a:r>
                    </a:p>
                  </a:txBody>
                  <a:tcPr marT="27432" marB="27432">
                    <a:solidFill>
                      <a:srgbClr val="FFFFFF"/>
                    </a:solidFill>
                  </a:tcPr>
                </a:tc>
              </a:tr>
              <a:tr h="563880">
                <a:tc>
                  <a:txBody>
                    <a:bodyPr/>
                    <a:lstStyle/>
                    <a:p>
                      <a:r>
                        <a:rPr sz="1450" b="1">
                          <a:solidFill>
                            <a:srgbClr val="1F2A44"/>
                          </a:solidFill>
                          <a:latin typeface="Calibri"/>
                        </a:rPr>
                        <a:t>İçerik</a:t>
                      </a:r>
                    </a:p>
                  </a:txBody>
                  <a:tcPr marT="27432" marB="27432">
                    <a:solidFill>
                      <a:srgbClr val="F3F4F6"/>
                    </a:solidFill>
                  </a:tcPr>
                </a:tc>
                <a:tc>
                  <a:txBody>
                    <a:bodyPr/>
                    <a:lstStyle/>
                    <a:p>
                      <a:r>
                        <a:rPr sz="1450">
                          <a:solidFill>
                            <a:srgbClr val="1F2A44"/>
                          </a:solidFill>
                          <a:latin typeface="Calibri"/>
                        </a:rPr>
                        <a:t>Corpus adiposum fossae ischioanalis (fibröz septalı yağ); n./a./v. rectalis inferior; canalis pudendalis içinde n. pudendus, a./v. pudenda interna; n. cutaneus perforans (S2–3), r. perinealis n. cutanei femoris post.</a:t>
                      </a:r>
                    </a:p>
                  </a:txBody>
                  <a:tcPr marT="27432" marB="27432">
                    <a:solidFill>
                      <a:srgbClr val="F3F4F6"/>
                    </a:solidFill>
                  </a:tcPr>
                </a:tc>
              </a:tr>
              <a:tr h="563880">
                <a:tc>
                  <a:txBody>
                    <a:bodyPr/>
                    <a:lstStyle/>
                    <a:p>
                      <a:r>
                        <a:rPr sz="1450" b="1">
                          <a:solidFill>
                            <a:srgbClr val="1F2A44"/>
                          </a:solidFill>
                          <a:latin typeface="Calibri"/>
                        </a:rPr>
                        <a:t>İletişim</a:t>
                      </a:r>
                    </a:p>
                  </a:txBody>
                  <a:tcPr marT="27432" marB="27432">
                    <a:solidFill>
                      <a:srgbClr val="FFFFFF"/>
                    </a:solidFill>
                  </a:tcPr>
                </a:tc>
                <a:tc>
                  <a:txBody>
                    <a:bodyPr/>
                    <a:lstStyle/>
                    <a:p>
                      <a:r>
                        <a:rPr sz="1450">
                          <a:solidFill>
                            <a:srgbClr val="1F2A44"/>
                          </a:solidFill>
                          <a:latin typeface="Calibri"/>
                        </a:rPr>
                        <a:t>İki taraf </a:t>
                      </a:r>
                      <a:r>
                        <a:rPr sz="1450">
                          <a:solidFill>
                            <a:srgbClr val="1F2A44"/>
                          </a:solidFill>
                          <a:latin typeface="Calibri"/>
                        </a:rPr>
                        <a:t>spatium postanale profundum</a:t>
                      </a:r>
                      <a:r>
                        <a:rPr sz="1450">
                          <a:solidFill>
                            <a:srgbClr val="1F2A44"/>
                          </a:solidFill>
                          <a:latin typeface="Calibri"/>
                        </a:rPr>
                        <a:t> (Courtney aralığı; corpus anococcygeum üstü) ile birleşir → at nalı (horseshoe) apse</a:t>
                      </a:r>
                    </a:p>
                  </a:txBody>
                  <a:tcPr marT="27432" marB="27432">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Fossa ischioanalis'in yağ cismi – kadavra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Kadın perinesi, kaudalden bakış (Baramee ve ark. 2019)</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ANALIS</a:t>
            </a:r>
          </a:p>
        </p:txBody>
      </p:sp>
      <p:pic>
        <p:nvPicPr>
          <p:cNvPr id="7" name="Picture 6" descr="12565_2019_492_Fig2_HTML_0_280_709_1010.jpg"/>
          <p:cNvPicPr>
            <a:picLocks noChangeAspect="1"/>
          </p:cNvPicPr>
          <p:nvPr/>
        </p:nvPicPr>
        <p:blipFill>
          <a:blip r:embed="rId2"/>
          <a:stretch>
            <a:fillRect/>
          </a:stretch>
        </p:blipFill>
        <p:spPr>
          <a:xfrm>
            <a:off x="4279692" y="1097280"/>
            <a:ext cx="3632309" cy="3739896"/>
          </a:xfrm>
          <a:prstGeom prst="rect">
            <a:avLst/>
          </a:prstGeom>
        </p:spPr>
      </p:pic>
      <p:sp>
        <p:nvSpPr>
          <p:cNvPr id="8" name="TextBox 7"/>
          <p:cNvSpPr txBox="1"/>
          <p:nvPr/>
        </p:nvSpPr>
        <p:spPr>
          <a:xfrm>
            <a:off x="274320" y="1443900"/>
            <a:ext cx="329184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ischiocavernosus</a:t>
            </a:r>
          </a:p>
        </p:txBody>
      </p:sp>
      <p:cxnSp>
        <p:nvCxnSpPr>
          <p:cNvPr id="9" name="Connector 8"/>
          <p:cNvCxnSpPr/>
          <p:nvPr/>
        </p:nvCxnSpPr>
        <p:spPr>
          <a:xfrm>
            <a:off x="3566160" y="1599348"/>
            <a:ext cx="2393924"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914364" y="155362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827948"/>
            <a:ext cx="329184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bulbospongiosus</a:t>
            </a:r>
          </a:p>
        </p:txBody>
      </p:sp>
      <p:cxnSp>
        <p:nvCxnSpPr>
          <p:cNvPr id="12" name="Connector 11"/>
          <p:cNvCxnSpPr/>
          <p:nvPr/>
        </p:nvCxnSpPr>
        <p:spPr>
          <a:xfrm flipV="1">
            <a:off x="3566160" y="1855505"/>
            <a:ext cx="1866240" cy="12789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386680" y="180978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4118182"/>
            <a:ext cx="329184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sphincter ani externus</a:t>
            </a:r>
          </a:p>
        </p:txBody>
      </p:sp>
      <p:cxnSp>
        <p:nvCxnSpPr>
          <p:cNvPr id="15" name="Connector 14"/>
          <p:cNvCxnSpPr/>
          <p:nvPr/>
        </p:nvCxnSpPr>
        <p:spPr>
          <a:xfrm>
            <a:off x="3566160" y="4273630"/>
            <a:ext cx="143077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951212" y="422791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5535" y="2504391"/>
            <a:ext cx="329184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 transversus perinei superf.</a:t>
            </a:r>
          </a:p>
        </p:txBody>
      </p:sp>
      <p:cxnSp>
        <p:nvCxnSpPr>
          <p:cNvPr id="18" name="Connector 17"/>
          <p:cNvCxnSpPr/>
          <p:nvPr/>
        </p:nvCxnSpPr>
        <p:spPr>
          <a:xfrm flipH="1">
            <a:off x="6124024" y="2659839"/>
            <a:ext cx="250151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078304" y="261411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5535" y="3349710"/>
            <a:ext cx="3291840" cy="310896"/>
          </a:xfrm>
          <a:prstGeom prst="rect">
            <a:avLst/>
          </a:prstGeom>
          <a:noFill/>
        </p:spPr>
        <p:txBody>
          <a:bodyPr wrap="square" anchor="ctr" lIns="45720" rIns="45720" tIns="18288" bIns="18288">
            <a:spAutoFit/>
          </a:bodyPr>
          <a:lstStyle/>
          <a:p>
            <a:pPr algn="l"/>
            <a:r>
              <a:rPr sz="1350" b="1" i="0">
                <a:solidFill>
                  <a:srgbClr val="1F2A44"/>
                </a:solidFill>
                <a:latin typeface="Calibri"/>
              </a:rPr>
              <a:t>Corpus adiposum fossae ischioanalis</a:t>
            </a:r>
          </a:p>
        </p:txBody>
      </p:sp>
      <p:cxnSp>
        <p:nvCxnSpPr>
          <p:cNvPr id="21" name="Connector 20"/>
          <p:cNvCxnSpPr/>
          <p:nvPr/>
        </p:nvCxnSpPr>
        <p:spPr>
          <a:xfrm flipH="1">
            <a:off x="6482645" y="3505158"/>
            <a:ext cx="214289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36925" y="345943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94760" y="4855464"/>
            <a:ext cx="460217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2 – Baramee P. ve ark., 2019 (PMC6942605, CC BY)</a:t>
            </a:r>
          </a:p>
        </p:txBody>
      </p:sp>
      <p:sp>
        <p:nvSpPr>
          <p:cNvPr id="24" name="Rectangle 23"/>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Corpus adiposum fossae ischioanalis fibröz septalarla bölmelenmiştir; önde membrana perinei arka kenarı ve m. transversus perinei superficialis hizasında sınırlanır, üstünden recessus anterior uzanır.</a:t>
            </a:r>
          </a:p>
        </p:txBody>
      </p:sp>
      <p:cxnSp>
        <p:nvCxnSpPr>
          <p:cNvPr id="26" name="Connector 2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Baramee P., Muro S., Suriyut J. et al. Three muscle slings of the pelvic floor in women: an anatomic study. Anat Sci Int. 2019 Jun 4;95(1):47–53. doi: 10.1007/s12565-019-00492-4 PMCID: PMC6942605. Lisans: CC BY.</a:t>
            </a:r>
          </a:p>
        </p:txBody>
      </p:sp>
      <p:sp>
        <p:nvSpPr>
          <p:cNvPr id="28" name="TextBox 2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Canalis analis ve m. sphincter ani externus</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Kontinans aparatı</a:t>
            </a:r>
          </a:p>
        </p:txBody>
      </p:sp>
      <p:sp>
        <p:nvSpPr>
          <p:cNvPr id="5" name="TextBox 4"/>
          <p:cNvSpPr txBox="1"/>
          <p:nvPr/>
        </p:nvSpPr>
        <p:spPr>
          <a:xfrm>
            <a:off x="9921240" y="109728"/>
            <a:ext cx="2057400" cy="310896"/>
          </a:xfrm>
          <a:prstGeom prst="rect">
            <a:avLst/>
          </a:prstGeom>
          <a:solidFill>
            <a:srgbClr val="1F5F9E"/>
          </a:solidFill>
        </p:spPr>
        <p:txBody>
          <a:bodyPr wrap="square" anchor="ctr" lIns="45720" rIns="45720" tIns="18288" bIns="18288">
            <a:spAutoFit/>
          </a:bodyPr>
          <a:lstStyle/>
          <a:p>
            <a:pPr algn="ctr"/>
            <a:r>
              <a:rPr sz="1100" b="1" i="0">
                <a:solidFill>
                  <a:srgbClr val="FFFFFF"/>
                </a:solidFill>
                <a:latin typeface="Calibri"/>
              </a:rPr>
              <a:t>KONU ANLATIMI</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ANALIS</a:t>
            </a:r>
          </a:p>
        </p:txBody>
      </p:sp>
      <p:sp>
        <p:nvSpPr>
          <p:cNvPr id="7" name="TextBox 6"/>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M. sphincter ani externus</a:t>
            </a:r>
            <a:r>
              <a:rPr sz="1900">
                <a:solidFill>
                  <a:srgbClr val="1F2A44"/>
                </a:solidFill>
                <a:latin typeface="Calibri"/>
              </a:rPr>
              <a:t> (çizgili, n. rectalis inferior S2–S4): klasik olarak </a:t>
            </a:r>
            <a:r>
              <a:rPr sz="1900">
                <a:solidFill>
                  <a:srgbClr val="1F2A44"/>
                </a:solidFill>
                <a:latin typeface="Calibri"/>
              </a:rPr>
              <a:t>pars subcutanea</a:t>
            </a:r>
            <a:r>
              <a:rPr sz="1900">
                <a:solidFill>
                  <a:srgbClr val="1F2A44"/>
                </a:solidFill>
                <a:latin typeface="Calibri"/>
              </a:rPr>
              <a:t>, </a:t>
            </a:r>
            <a:r>
              <a:rPr sz="1900">
                <a:solidFill>
                  <a:srgbClr val="1F2A44"/>
                </a:solidFill>
                <a:latin typeface="Calibri"/>
              </a:rPr>
              <a:t>pars superficialis</a:t>
            </a:r>
            <a:r>
              <a:rPr sz="1900">
                <a:solidFill>
                  <a:srgbClr val="1F2A44"/>
                </a:solidFill>
                <a:latin typeface="Calibri"/>
              </a:rPr>
              <a:t> (corpus anococcygeum ve corpus perineale'ye tutunan eliptik) ve </a:t>
            </a:r>
            <a:r>
              <a:rPr sz="1900">
                <a:solidFill>
                  <a:srgbClr val="1F2A44"/>
                </a:solidFill>
                <a:latin typeface="Calibri"/>
              </a:rPr>
              <a:t>pars profunda</a:t>
            </a:r>
            <a:r>
              <a:rPr sz="1900">
                <a:solidFill>
                  <a:srgbClr val="1F2A44"/>
                </a:solidFill>
                <a:latin typeface="Calibri"/>
              </a:rPr>
              <a:t> (yukarıda m. puborectalis ile kaynaşır).</a:t>
            </a:r>
          </a:p>
          <a:p>
            <a:pPr>
              <a:spcAft>
                <a:spcPts val="600"/>
              </a:spcAft>
            </a:pPr>
            <a:r>
              <a:rPr sz="1900">
                <a:solidFill>
                  <a:srgbClr val="1F2A44"/>
                </a:solidFill>
                <a:latin typeface="Calibri"/>
              </a:rPr>
              <a:t>• Güncel görüntüleme/diseksiyon çalışmaları parçaların sınırlarının net olmadığını, kadında önde kısa olduğunu gösterir (obstetrik yaralanmada önemli).</a:t>
            </a:r>
          </a:p>
          <a:p>
            <a:pPr>
              <a:spcAft>
                <a:spcPts val="600"/>
              </a:spcAft>
            </a:pPr>
            <a:r>
              <a:rPr sz="1900">
                <a:solidFill>
                  <a:srgbClr val="1F2A44"/>
                </a:solidFill>
                <a:latin typeface="Calibri"/>
              </a:rPr>
              <a:t>• </a:t>
            </a:r>
            <a:r>
              <a:rPr sz="1900">
                <a:solidFill>
                  <a:srgbClr val="1F2A44"/>
                </a:solidFill>
                <a:latin typeface="Calibri"/>
              </a:rPr>
              <a:t>M. sphincter ani internus</a:t>
            </a:r>
            <a:r>
              <a:rPr sz="1900">
                <a:solidFill>
                  <a:srgbClr val="1F2A44"/>
                </a:solidFill>
                <a:latin typeface="Calibri"/>
              </a:rPr>
              <a:t>: m. circulare'nin kalınlaşması (otonom); arada </a:t>
            </a:r>
            <a:r>
              <a:rPr sz="1900">
                <a:solidFill>
                  <a:srgbClr val="1F2A44"/>
                </a:solidFill>
                <a:latin typeface="Calibri"/>
              </a:rPr>
              <a:t>m. longitudinalis conjunctus</a:t>
            </a:r>
            <a:r>
              <a:rPr sz="1900">
                <a:solidFill>
                  <a:srgbClr val="1F2A44"/>
                </a:solidFill>
                <a:latin typeface="Calibri"/>
              </a:rPr>
              <a:t> (conjoint longitudinal muscle).</a:t>
            </a:r>
          </a:p>
          <a:p>
            <a:pPr>
              <a:spcAft>
                <a:spcPts val="600"/>
              </a:spcAft>
            </a:pPr>
            <a:r>
              <a:rPr sz="1900">
                <a:solidFill>
                  <a:srgbClr val="1F2A44"/>
                </a:solidFill>
                <a:latin typeface="Calibri"/>
              </a:rPr>
              <a:t>• </a:t>
            </a:r>
            <a:r>
              <a:rPr sz="1900">
                <a:solidFill>
                  <a:srgbClr val="1F2A44"/>
                </a:solidFill>
                <a:latin typeface="Calibri"/>
              </a:rPr>
              <a:t>Corpus anococcygeum</a:t>
            </a:r>
            <a:r>
              <a:rPr sz="1900">
                <a:solidFill>
                  <a:srgbClr val="1F2A44"/>
                </a:solidFill>
                <a:latin typeface="Calibri"/>
              </a:rPr>
              <a:t> (lig. anococcygeum): anüs ile coccyx arasında fibromusküler raphe; levator ani ve sphincter ani externus'un arka tutunma yeri.</a:t>
            </a:r>
          </a:p>
          <a:p>
            <a:pPr>
              <a:spcAft>
                <a:spcPts val="600"/>
              </a:spcAft>
            </a:pPr>
            <a:r>
              <a:rPr sz="1900">
                <a:solidFill>
                  <a:srgbClr val="1F2A44"/>
                </a:solidFill>
                <a:latin typeface="Calibri"/>
              </a:rPr>
              <a:t>• </a:t>
            </a:r>
            <a:r>
              <a:rPr sz="1900">
                <a:solidFill>
                  <a:srgbClr val="1F2A44"/>
                </a:solidFill>
                <a:latin typeface="Calibri"/>
              </a:rPr>
              <a:t>Linea pectinata</a:t>
            </a:r>
            <a:r>
              <a:rPr sz="1900">
                <a:solidFill>
                  <a:srgbClr val="1F2A44"/>
                </a:solidFill>
                <a:latin typeface="Calibri"/>
              </a:rPr>
              <a:t>: üstü visseral (a. rectalis superior, v. portae drenajı, otonom innervasyon, nodi iliaci interni), altı somatik (a. rectalis inferior, sistemik ven, n. rectalis inferior, nodi inguinales superficiales).</a:t>
            </a:r>
          </a:p>
          <a:p>
            <a:pPr>
              <a:spcAft>
                <a:spcPts val="600"/>
              </a:spcAft>
            </a:pPr>
            <a:r>
              <a:rPr sz="1900">
                <a:solidFill>
                  <a:srgbClr val="1F2A44"/>
                </a:solidFill>
                <a:latin typeface="Calibri"/>
              </a:rPr>
              <a:t>• </a:t>
            </a:r>
            <a:r>
              <a:rPr sz="1900">
                <a:solidFill>
                  <a:srgbClr val="1F2A44"/>
                </a:solidFill>
                <a:latin typeface="Calibri"/>
              </a:rPr>
              <a:t>Klinik</a:t>
            </a:r>
            <a:r>
              <a:rPr sz="1900">
                <a:solidFill>
                  <a:srgbClr val="1F2A44"/>
                </a:solidFill>
                <a:latin typeface="Calibri"/>
              </a:rPr>
              <a:t>: perianal/iskioanal apse, fistula ani (Parks sınıflaması), hemoroidal hastalık, obstetrik sfinkter hasarı (OASIS).</a:t>
            </a:r>
          </a:p>
        </p:txBody>
      </p:sp>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Anal kas askıları – kaudalden şema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EAS, lig. anococcygeum ve m. puborectalis (yazar şeması, kadavra temelli)</a:t>
            </a:r>
          </a:p>
        </p:txBody>
      </p:sp>
      <p:sp>
        <p:nvSpPr>
          <p:cNvPr id="5" name="TextBox 4"/>
          <p:cNvSpPr txBox="1"/>
          <p:nvPr/>
        </p:nvSpPr>
        <p:spPr>
          <a:xfrm>
            <a:off x="9921240" y="109728"/>
            <a:ext cx="2057400" cy="310896"/>
          </a:xfrm>
          <a:prstGeom prst="rect">
            <a:avLst/>
          </a:prstGeom>
          <a:solidFill>
            <a:srgbClr val="5E35B1"/>
          </a:solidFill>
        </p:spPr>
        <p:txBody>
          <a:bodyPr wrap="square" anchor="ctr" lIns="45720" rIns="45720" tIns="18288" bIns="18288">
            <a:spAutoFit/>
          </a:bodyPr>
          <a:lstStyle/>
          <a:p>
            <a:pPr algn="ctr"/>
            <a:r>
              <a:rPr sz="1100" b="1" i="0">
                <a:solidFill>
                  <a:srgbClr val="FFFFFF"/>
                </a:solidFill>
                <a:latin typeface="Calibri"/>
              </a:rPr>
              <a:t>İLLÜSTRASYON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REGIO ANALIS</a:t>
            </a:r>
          </a:p>
        </p:txBody>
      </p:sp>
      <p:pic>
        <p:nvPicPr>
          <p:cNvPr id="7" name="Picture 6" descr="12565_2023_717_Fig1_HTML_440_90_676_240.jpg"/>
          <p:cNvPicPr>
            <a:picLocks noChangeAspect="1"/>
          </p:cNvPicPr>
          <p:nvPr/>
        </p:nvPicPr>
        <p:blipFill>
          <a:blip r:embed="rId2"/>
          <a:stretch>
            <a:fillRect/>
          </a:stretch>
        </p:blipFill>
        <p:spPr>
          <a:xfrm>
            <a:off x="3611879" y="1388435"/>
            <a:ext cx="4967935" cy="3157585"/>
          </a:xfrm>
          <a:prstGeom prst="rect">
            <a:avLst/>
          </a:prstGeom>
        </p:spPr>
      </p:pic>
      <p:sp>
        <p:nvSpPr>
          <p:cNvPr id="8" name="TextBox 7"/>
          <p:cNvSpPr txBox="1"/>
          <p:nvPr/>
        </p:nvSpPr>
        <p:spPr>
          <a:xfrm>
            <a:off x="274320" y="2222363"/>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levator ani - ansa anterior</a:t>
            </a:r>
          </a:p>
        </p:txBody>
      </p:sp>
      <p:cxnSp>
        <p:nvCxnSpPr>
          <p:cNvPr id="9" name="Connector 8"/>
          <p:cNvCxnSpPr/>
          <p:nvPr/>
        </p:nvCxnSpPr>
        <p:spPr>
          <a:xfrm>
            <a:off x="3383279" y="2377811"/>
            <a:ext cx="1828444"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166003" y="233209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3380145"/>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bulbospongiosus</a:t>
            </a:r>
          </a:p>
        </p:txBody>
      </p:sp>
      <p:cxnSp>
        <p:nvCxnSpPr>
          <p:cNvPr id="12" name="Connector 11"/>
          <p:cNvCxnSpPr/>
          <p:nvPr/>
        </p:nvCxnSpPr>
        <p:spPr>
          <a:xfrm>
            <a:off x="3383279" y="3535593"/>
            <a:ext cx="138638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723941" y="348987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764193"/>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ischiocavernosus</a:t>
            </a:r>
          </a:p>
        </p:txBody>
      </p:sp>
      <p:cxnSp>
        <p:nvCxnSpPr>
          <p:cNvPr id="15" name="Connector 14"/>
          <p:cNvCxnSpPr/>
          <p:nvPr/>
        </p:nvCxnSpPr>
        <p:spPr>
          <a:xfrm flipV="1">
            <a:off x="3383279" y="3788200"/>
            <a:ext cx="902219" cy="13144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239778" y="374248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148241"/>
            <a:ext cx="3108960" cy="310896"/>
          </a:xfrm>
          <a:prstGeom prst="rect">
            <a:avLst/>
          </a:prstGeom>
          <a:noFill/>
        </p:spPr>
        <p:txBody>
          <a:bodyPr wrap="square" anchor="ctr" lIns="45720" rIns="45720" tIns="18288" bIns="18288">
            <a:spAutoFit/>
          </a:bodyPr>
          <a:lstStyle/>
          <a:p>
            <a:pPr algn="r"/>
            <a:r>
              <a:rPr sz="1350" b="1" i="0">
                <a:solidFill>
                  <a:srgbClr val="1F2A44"/>
                </a:solidFill>
                <a:latin typeface="Calibri"/>
              </a:rPr>
              <a:t>M. transversus perinei superf.</a:t>
            </a:r>
          </a:p>
        </p:txBody>
      </p:sp>
      <p:cxnSp>
        <p:nvCxnSpPr>
          <p:cNvPr id="18" name="Connector 17"/>
          <p:cNvCxnSpPr/>
          <p:nvPr/>
        </p:nvCxnSpPr>
        <p:spPr>
          <a:xfrm flipV="1">
            <a:off x="3383279" y="3809250"/>
            <a:ext cx="2017899" cy="49443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355458" y="376353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08415" y="2117111"/>
            <a:ext cx="31089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 puborectalis (ansa posterior m. levatoris ani)</a:t>
            </a:r>
          </a:p>
        </p:txBody>
      </p:sp>
      <p:cxnSp>
        <p:nvCxnSpPr>
          <p:cNvPr id="21" name="Connector 20"/>
          <p:cNvCxnSpPr/>
          <p:nvPr/>
        </p:nvCxnSpPr>
        <p:spPr>
          <a:xfrm flipH="1">
            <a:off x="7190477" y="2272559"/>
            <a:ext cx="161793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144757" y="222683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08415" y="2501159"/>
            <a:ext cx="31089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Lig. anococcygeum</a:t>
            </a:r>
          </a:p>
        </p:txBody>
      </p:sp>
      <p:cxnSp>
        <p:nvCxnSpPr>
          <p:cNvPr id="24" name="Connector 23"/>
          <p:cNvCxnSpPr/>
          <p:nvPr/>
        </p:nvCxnSpPr>
        <p:spPr>
          <a:xfrm flipH="1" flipV="1">
            <a:off x="7716741" y="2651469"/>
            <a:ext cx="1091674" cy="513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7671021" y="260574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8415" y="2885207"/>
            <a:ext cx="31089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Canalis analis</a:t>
            </a:r>
          </a:p>
        </p:txBody>
      </p:sp>
      <p:cxnSp>
        <p:nvCxnSpPr>
          <p:cNvPr id="27" name="Connector 26"/>
          <p:cNvCxnSpPr/>
          <p:nvPr/>
        </p:nvCxnSpPr>
        <p:spPr>
          <a:xfrm flipH="1" flipV="1">
            <a:off x="6348454" y="2756722"/>
            <a:ext cx="2459961" cy="28393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6302734" y="271100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08415" y="3269255"/>
            <a:ext cx="31089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Os coccygis</a:t>
            </a:r>
          </a:p>
        </p:txBody>
      </p:sp>
      <p:cxnSp>
        <p:nvCxnSpPr>
          <p:cNvPr id="30" name="Connector 29"/>
          <p:cNvCxnSpPr/>
          <p:nvPr/>
        </p:nvCxnSpPr>
        <p:spPr>
          <a:xfrm flipH="1" flipV="1">
            <a:off x="8032500" y="2798823"/>
            <a:ext cx="775915" cy="62588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986780" y="275310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08415" y="3653303"/>
            <a:ext cx="31089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 sphincter ani externus</a:t>
            </a:r>
          </a:p>
        </p:txBody>
      </p:sp>
      <p:cxnSp>
        <p:nvCxnSpPr>
          <p:cNvPr id="33" name="Connector 32"/>
          <p:cNvCxnSpPr/>
          <p:nvPr/>
        </p:nvCxnSpPr>
        <p:spPr>
          <a:xfrm flipH="1" flipV="1">
            <a:off x="6664213" y="3388239"/>
            <a:ext cx="2144202" cy="42051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618493" y="334251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08415" y="4037351"/>
            <a:ext cx="3108960" cy="310896"/>
          </a:xfrm>
          <a:prstGeom prst="rect">
            <a:avLst/>
          </a:prstGeom>
          <a:noFill/>
        </p:spPr>
        <p:txBody>
          <a:bodyPr wrap="square" anchor="ctr" lIns="45720" rIns="45720" tIns="18288" bIns="18288">
            <a:spAutoFit/>
          </a:bodyPr>
          <a:lstStyle/>
          <a:p>
            <a:pPr algn="l"/>
            <a:r>
              <a:rPr sz="1350" b="1" i="0">
                <a:solidFill>
                  <a:srgbClr val="1F2A44"/>
                </a:solidFill>
                <a:latin typeface="Calibri"/>
              </a:rPr>
              <a:t>M. levator ani</a:t>
            </a:r>
          </a:p>
        </p:txBody>
      </p:sp>
      <p:cxnSp>
        <p:nvCxnSpPr>
          <p:cNvPr id="36" name="Connector 35"/>
          <p:cNvCxnSpPr/>
          <p:nvPr/>
        </p:nvCxnSpPr>
        <p:spPr>
          <a:xfrm flipH="1" flipV="1">
            <a:off x="6095847" y="3809250"/>
            <a:ext cx="2712568" cy="38354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050127" y="376353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11879" y="4564308"/>
            <a:ext cx="496793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 1 – Muro S. ve ark., 2023 (PMC10256674, CC BY)</a:t>
            </a:r>
          </a:p>
        </p:txBody>
      </p:sp>
      <p:sp>
        <p:nvSpPr>
          <p:cNvPr id="39" name="Rectangle 38"/>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M. puborectalis anorektal bileşkenin arkasında askı ('ansa posterior') oluşturur; EAS arkada lig. anococcygeum aracılığıyla os coccygis'e bağlanır.</a:t>
            </a:r>
          </a:p>
        </p:txBody>
      </p:sp>
      <p:cxnSp>
        <p:nvCxnSpPr>
          <p:cNvPr id="41" name="Connector 40"/>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Muro S., Akita K. Pelvic floor and perineal muscles: a dynamic coordination between skeletal and smooth muscles on pelvic floor stabilization. Anat Sci Int. 2023 Mar 24;98(3):407–25. doi: 10.1007/s12565-023-00717-7 PMCID: PMC10256674. Lisans: CC BY.</a:t>
            </a:r>
          </a:p>
        </p:txBody>
      </p:sp>
      <p:sp>
        <p:nvSpPr>
          <p:cNvPr id="43" name="TextBox 42"/>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486400" cy="457200"/>
          </a:xfrm>
          <a:prstGeom prst="rect">
            <a:avLst/>
          </a:prstGeom>
          <a:noFill/>
        </p:spPr>
        <p:txBody>
          <a:bodyPr wrap="square" anchor="t" lIns="45720" rIns="45720" tIns="18288" bIns="18288">
            <a:spAutoFit/>
          </a:bodyPr>
          <a:lstStyle/>
          <a:p>
            <a:pPr algn="l"/>
            <a:r>
              <a:rPr sz="2000" b="1" i="0">
                <a:solidFill>
                  <a:srgbClr val="C8D1E6"/>
                </a:solidFill>
                <a:latin typeface="Calibri"/>
              </a:rPr>
              <a:t>BÖLÜM 5</a:t>
            </a:r>
          </a:p>
        </p:txBody>
      </p:sp>
      <p:sp>
        <p:nvSpPr>
          <p:cNvPr id="4" name="TextBox 3"/>
          <p:cNvSpPr txBox="1"/>
          <p:nvPr/>
        </p:nvSpPr>
        <p:spPr>
          <a:xfrm>
            <a:off x="548640" y="1234440"/>
            <a:ext cx="5669280" cy="1371600"/>
          </a:xfrm>
          <a:prstGeom prst="rect">
            <a:avLst/>
          </a:prstGeom>
          <a:noFill/>
        </p:spPr>
        <p:txBody>
          <a:bodyPr wrap="square" anchor="t" lIns="45720" rIns="45720" tIns="18288" bIns="18288">
            <a:spAutoFit/>
          </a:bodyPr>
          <a:lstStyle/>
          <a:p>
            <a:pPr algn="l"/>
            <a:r>
              <a:rPr sz="4000" b="1" i="0">
                <a:solidFill>
                  <a:srgbClr val="FFFFFF"/>
                </a:solidFill>
                <a:latin typeface="Calibri"/>
              </a:rPr>
              <a:t>Damar – sinir</a:t>
            </a:r>
          </a:p>
        </p:txBody>
      </p:sp>
      <p:sp>
        <p:nvSpPr>
          <p:cNvPr id="5" name="TextBox 4"/>
          <p:cNvSpPr txBox="1"/>
          <p:nvPr/>
        </p:nvSpPr>
        <p:spPr>
          <a:xfrm>
            <a:off x="548640" y="2697480"/>
            <a:ext cx="5486400" cy="640080"/>
          </a:xfrm>
          <a:prstGeom prst="rect">
            <a:avLst/>
          </a:prstGeom>
          <a:noFill/>
        </p:spPr>
        <p:txBody>
          <a:bodyPr wrap="square" anchor="t" lIns="45720" rIns="45720" tIns="18288" bIns="18288">
            <a:spAutoFit/>
          </a:bodyPr>
          <a:lstStyle/>
          <a:p>
            <a:pPr algn="l"/>
            <a:r>
              <a:rPr sz="1700" b="0" i="1">
                <a:solidFill>
                  <a:srgbClr val="C8D1E6"/>
                </a:solidFill>
                <a:latin typeface="Calibri"/>
              </a:rPr>
              <a:t>N. pudendus, a. pudenda interna, canalis pudendalis</a:t>
            </a:r>
          </a:p>
        </p:txBody>
      </p:sp>
      <p:sp>
        <p:nvSpPr>
          <p:cNvPr id="6" name="TextBox 5"/>
          <p:cNvSpPr txBox="1"/>
          <p:nvPr/>
        </p:nvSpPr>
        <p:spPr>
          <a:xfrm>
            <a:off x="548640" y="3429000"/>
            <a:ext cx="5577840" cy="2926080"/>
          </a:xfrm>
          <a:prstGeom prst="rect">
            <a:avLst/>
          </a:prstGeom>
          <a:noFill/>
        </p:spPr>
        <p:txBody>
          <a:bodyPr wrap="square">
            <a:spAutoFit/>
          </a:bodyPr>
          <a:lstStyle/>
          <a:p>
            <a:pPr>
              <a:spcAft>
                <a:spcPts val="600"/>
              </a:spcAft>
            </a:pPr>
            <a:r>
              <a:rPr sz="1700">
                <a:solidFill>
                  <a:srgbClr val="FFFFFF"/>
                </a:solidFill>
                <a:latin typeface="Calibri"/>
              </a:rPr>
              <a:t>• Seyir: foramen ischiadicum majus → minus → Alcock kanalı</a:t>
            </a:r>
          </a:p>
          <a:p>
            <a:pPr>
              <a:spcAft>
                <a:spcPts val="600"/>
              </a:spcAft>
            </a:pPr>
            <a:r>
              <a:rPr sz="1700">
                <a:solidFill>
                  <a:srgbClr val="FFFFFF"/>
                </a:solidFill>
                <a:latin typeface="Calibri"/>
              </a:rPr>
              <a:t>• Dallar</a:t>
            </a:r>
          </a:p>
          <a:p>
            <a:pPr>
              <a:spcAft>
                <a:spcPts val="600"/>
              </a:spcAft>
            </a:pPr>
            <a:r>
              <a:rPr sz="1700">
                <a:solidFill>
                  <a:srgbClr val="FFFFFF"/>
                </a:solidFill>
                <a:latin typeface="Calibri"/>
              </a:rPr>
              <a:t>• Lenfatik drenaj, klinik</a:t>
            </a:r>
          </a:p>
        </p:txBody>
      </p:sp>
      <p:pic>
        <p:nvPicPr>
          <p:cNvPr id="7" name="Picture 6" descr="etm-23-02-11036-g01.jpg"/>
          <p:cNvPicPr>
            <a:picLocks noChangeAspect="1"/>
          </p:cNvPicPr>
          <p:nvPr/>
        </p:nvPicPr>
        <p:blipFill>
          <a:blip r:embed="rId2"/>
          <a:stretch>
            <a:fillRect/>
          </a:stretch>
        </p:blipFill>
        <p:spPr>
          <a:xfrm>
            <a:off x="6997179" y="457200"/>
            <a:ext cx="4613680" cy="5577840"/>
          </a:xfrm>
          <a:prstGeom prst="rect">
            <a:avLst/>
          </a:prstGeom>
        </p:spPr>
      </p:pic>
      <p:sp>
        <p:nvSpPr>
          <p:cNvPr id="8" name="TextBox 7"/>
          <p:cNvSpPr txBox="1"/>
          <p:nvPr/>
        </p:nvSpPr>
        <p:spPr>
          <a:xfrm>
            <a:off x="6675120" y="6080760"/>
            <a:ext cx="5257800" cy="274320"/>
          </a:xfrm>
          <a:prstGeom prst="rect">
            <a:avLst/>
          </a:prstGeom>
          <a:noFill/>
        </p:spPr>
        <p:txBody>
          <a:bodyPr wrap="square" anchor="t" lIns="45720" rIns="45720" tIns="18288" bIns="18288">
            <a:spAutoFit/>
          </a:bodyPr>
          <a:lstStyle/>
          <a:p>
            <a:pPr algn="ctr"/>
            <a:r>
              <a:rPr sz="900" b="0" i="1">
                <a:solidFill>
                  <a:srgbClr val="555B66"/>
                </a:solidFill>
                <a:latin typeface="Calibri"/>
              </a:rPr>
              <a:t>Goidescu O. C. ve ark., 2021 (PMC8713160, CC BY-NC-ND)</a:t>
            </a:r>
          </a:p>
        </p:txBody>
      </p: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N. pudendus ve a. pudenda interna – seyir ve dallar</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Pelvis → regio glutealis → perine</a:t>
            </a:r>
          </a:p>
        </p:txBody>
      </p:sp>
      <p:sp>
        <p:nvSpPr>
          <p:cNvPr id="5" name="TextBox 4"/>
          <p:cNvSpPr txBox="1"/>
          <p:nvPr/>
        </p:nvSpPr>
        <p:spPr>
          <a:xfrm>
            <a:off x="9921240" y="109728"/>
            <a:ext cx="2057400" cy="310896"/>
          </a:xfrm>
          <a:prstGeom prst="rect">
            <a:avLst/>
          </a:prstGeom>
          <a:solidFill>
            <a:srgbClr val="455A64"/>
          </a:solidFill>
        </p:spPr>
        <p:txBody>
          <a:bodyPr wrap="square" anchor="ctr" lIns="45720" rIns="45720" tIns="18288" bIns="18288">
            <a:spAutoFit/>
          </a:bodyPr>
          <a:lstStyle/>
          <a:p>
            <a:pPr algn="ctr"/>
            <a:r>
              <a:rPr sz="1100" b="1" i="0">
                <a:solidFill>
                  <a:srgbClr val="FFFFFF"/>
                </a:solidFill>
                <a:latin typeface="Calibri"/>
              </a:rPr>
              <a:t>ŞEMA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DAMAR – SİNİR</a:t>
            </a:r>
          </a:p>
        </p:txBody>
      </p:sp>
      <p:sp>
        <p:nvSpPr>
          <p:cNvPr id="7" name="Rounded Rectangle 6"/>
          <p:cNvSpPr/>
          <p:nvPr/>
        </p:nvSpPr>
        <p:spPr>
          <a:xfrm>
            <a:off x="365760" y="1188720"/>
            <a:ext cx="3840480" cy="685800"/>
          </a:xfrm>
          <a:prstGeom prst="roundRect">
            <a:avLst/>
          </a:prstGeom>
          <a:solidFill>
            <a:srgbClr val="1F2A4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FFFFFF"/>
                </a:solidFill>
                <a:latin typeface="Calibri"/>
              </a:rPr>
              <a:t>Plexus sacralis (S2–S4, ramus anterior)</a:t>
            </a:r>
          </a:p>
        </p:txBody>
      </p:sp>
      <p:sp>
        <p:nvSpPr>
          <p:cNvPr id="8" name="Rounded Rectangle 7"/>
          <p:cNvSpPr/>
          <p:nvPr/>
        </p:nvSpPr>
        <p:spPr>
          <a:xfrm>
            <a:off x="365760" y="2011680"/>
            <a:ext cx="3840480" cy="685800"/>
          </a:xfrm>
          <a:prstGeom prst="roundRect">
            <a:avLst/>
          </a:prstGeom>
          <a:solidFill>
            <a:srgbClr val="1F2A4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FFFFFF"/>
                </a:solidFill>
                <a:latin typeface="Calibri"/>
              </a:rPr>
              <a:t>Foramen ischiadicum majus</a:t>
            </a:r>
          </a:p>
          <a:p>
            <a:pPr algn="ctr"/>
            <a:r>
              <a:rPr sz="1150" b="0">
                <a:solidFill>
                  <a:srgbClr val="FFFFFF"/>
                </a:solidFill>
                <a:latin typeface="Calibri"/>
              </a:rPr>
              <a:t>(infrapiriforme)</a:t>
            </a:r>
          </a:p>
        </p:txBody>
      </p:sp>
      <p:sp>
        <p:nvSpPr>
          <p:cNvPr id="9" name="Rounded Rectangle 8"/>
          <p:cNvSpPr/>
          <p:nvPr/>
        </p:nvSpPr>
        <p:spPr>
          <a:xfrm>
            <a:off x="365760" y="2834640"/>
            <a:ext cx="3840480" cy="685800"/>
          </a:xfrm>
          <a:prstGeom prst="roundRect">
            <a:avLst/>
          </a:prstGeom>
          <a:solidFill>
            <a:srgbClr val="1F2A4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FFFFFF"/>
                </a:solidFill>
                <a:latin typeface="Calibri"/>
              </a:rPr>
              <a:t>Lig. sacrospinale / spina ischiadica</a:t>
            </a:r>
          </a:p>
          <a:p>
            <a:pPr algn="ctr"/>
            <a:r>
              <a:rPr sz="1150" b="0">
                <a:solidFill>
                  <a:srgbClr val="FFFFFF"/>
                </a:solidFill>
                <a:latin typeface="Calibri"/>
              </a:rPr>
              <a:t>(n. pudendus arterin medialinde)</a:t>
            </a:r>
          </a:p>
        </p:txBody>
      </p:sp>
      <p:sp>
        <p:nvSpPr>
          <p:cNvPr id="10" name="Rounded Rectangle 9"/>
          <p:cNvSpPr/>
          <p:nvPr/>
        </p:nvSpPr>
        <p:spPr>
          <a:xfrm>
            <a:off x="365760" y="3657600"/>
            <a:ext cx="3840480" cy="685800"/>
          </a:xfrm>
          <a:prstGeom prst="roundRect">
            <a:avLst/>
          </a:prstGeom>
          <a:solidFill>
            <a:srgbClr val="1F2A4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FFFFFF"/>
                </a:solidFill>
                <a:latin typeface="Calibri"/>
              </a:rPr>
              <a:t>Foramen ischiadicum minus</a:t>
            </a:r>
          </a:p>
        </p:txBody>
      </p:sp>
      <p:sp>
        <p:nvSpPr>
          <p:cNvPr id="11" name="Rounded Rectangle 10"/>
          <p:cNvSpPr/>
          <p:nvPr/>
        </p:nvSpPr>
        <p:spPr>
          <a:xfrm>
            <a:off x="365760" y="4480560"/>
            <a:ext cx="3840480" cy="685800"/>
          </a:xfrm>
          <a:prstGeom prst="roundRect">
            <a:avLst/>
          </a:prstGeom>
          <a:solidFill>
            <a:srgbClr val="1F2A44"/>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FFFFFF"/>
                </a:solidFill>
                <a:latin typeface="Calibri"/>
              </a:rPr>
              <a:t>Canalis pudendalis (Alcock)</a:t>
            </a:r>
          </a:p>
          <a:p>
            <a:pPr algn="ctr"/>
            <a:r>
              <a:rPr sz="1150" b="0">
                <a:solidFill>
                  <a:srgbClr val="FFFFFF"/>
                </a:solidFill>
                <a:latin typeface="Calibri"/>
              </a:rPr>
              <a:t>fascia obturatoria duplikatürü</a:t>
            </a:r>
          </a:p>
        </p:txBody>
      </p:sp>
      <p:cxnSp>
        <p:nvCxnSpPr>
          <p:cNvPr id="12" name="Connector 11"/>
          <p:cNvCxnSpPr/>
          <p:nvPr/>
        </p:nvCxnSpPr>
        <p:spPr>
          <a:xfrm>
            <a:off x="2286000" y="1874519"/>
            <a:ext cx="0" cy="137161"/>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286000" y="2697480"/>
            <a:ext cx="0" cy="13716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86000" y="3520440"/>
            <a:ext cx="0" cy="13716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86000" y="4343400"/>
            <a:ext cx="0" cy="13716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846320" y="1234440"/>
            <a:ext cx="3291840" cy="731520"/>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1F2A44"/>
                </a:solidFill>
                <a:latin typeface="Calibri"/>
              </a:rPr>
              <a:t>N. rectalis inferior (nn. anales inf.)</a:t>
            </a:r>
          </a:p>
          <a:p>
            <a:pPr algn="ctr"/>
            <a:r>
              <a:rPr sz="1150" b="0">
                <a:solidFill>
                  <a:srgbClr val="1F2A44"/>
                </a:solidFill>
                <a:latin typeface="Calibri"/>
              </a:rPr>
              <a:t>m. sphincter ani ext., perianal deri</a:t>
            </a:r>
          </a:p>
        </p:txBody>
      </p:sp>
      <p:cxnSp>
        <p:nvCxnSpPr>
          <p:cNvPr id="17" name="Connector 16"/>
          <p:cNvCxnSpPr/>
          <p:nvPr/>
        </p:nvCxnSpPr>
        <p:spPr>
          <a:xfrm flipV="1">
            <a:off x="4206240" y="1600200"/>
            <a:ext cx="640080" cy="3218688"/>
          </a:xfrm>
          <a:prstGeom prst="line">
            <a:avLst/>
          </a:prstGeom>
          <a:ln w="25400">
            <a:solidFill>
              <a:srgbClr val="E0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46320" y="2103120"/>
            <a:ext cx="3291840" cy="731520"/>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1F2A44"/>
                </a:solidFill>
                <a:latin typeface="Calibri"/>
              </a:rPr>
              <a:t>N. perinealis – r. superficialis</a:t>
            </a:r>
          </a:p>
          <a:p>
            <a:pPr algn="ctr"/>
            <a:r>
              <a:rPr sz="1150" b="0">
                <a:solidFill>
                  <a:srgbClr val="1F2A44"/>
                </a:solidFill>
                <a:latin typeface="Calibri"/>
              </a:rPr>
              <a:t>nn. scrotales / labiales posteriores</a:t>
            </a:r>
          </a:p>
        </p:txBody>
      </p:sp>
      <p:cxnSp>
        <p:nvCxnSpPr>
          <p:cNvPr id="19" name="Connector 18"/>
          <p:cNvCxnSpPr/>
          <p:nvPr/>
        </p:nvCxnSpPr>
        <p:spPr>
          <a:xfrm flipV="1">
            <a:off x="4206240" y="2468879"/>
            <a:ext cx="640080" cy="2350009"/>
          </a:xfrm>
          <a:prstGeom prst="line">
            <a:avLst/>
          </a:prstGeom>
          <a:ln w="25400">
            <a:solidFill>
              <a:srgbClr val="E0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846320" y="2971800"/>
            <a:ext cx="3291840" cy="731520"/>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1F2A44"/>
                </a:solidFill>
                <a:latin typeface="Calibri"/>
              </a:rPr>
              <a:t>N. perinealis – r. profundus</a:t>
            </a:r>
          </a:p>
          <a:p>
            <a:pPr algn="ctr"/>
            <a:r>
              <a:rPr sz="1150" b="0">
                <a:solidFill>
                  <a:srgbClr val="1F2A44"/>
                </a:solidFill>
                <a:latin typeface="Calibri"/>
              </a:rPr>
              <a:t>bulbospongiosus, ischiocavernosus, transversi, sphincter urethrae ext.</a:t>
            </a:r>
          </a:p>
        </p:txBody>
      </p:sp>
      <p:cxnSp>
        <p:nvCxnSpPr>
          <p:cNvPr id="21" name="Connector 20"/>
          <p:cNvCxnSpPr/>
          <p:nvPr/>
        </p:nvCxnSpPr>
        <p:spPr>
          <a:xfrm flipV="1">
            <a:off x="4206240" y="3337560"/>
            <a:ext cx="640080" cy="1481328"/>
          </a:xfrm>
          <a:prstGeom prst="line">
            <a:avLst/>
          </a:prstGeom>
          <a:ln w="25400">
            <a:solidFill>
              <a:srgbClr val="E0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46320" y="3840480"/>
            <a:ext cx="3291840" cy="731520"/>
          </a:xfrm>
          <a:prstGeom prst="roundRect">
            <a:avLst/>
          </a:prstGeom>
          <a:solidFill>
            <a:srgbClr val="E0A1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50" b="1">
                <a:solidFill>
                  <a:srgbClr val="1F2A44"/>
                </a:solidFill>
                <a:latin typeface="Calibri"/>
              </a:rPr>
              <a:t>N. dorsalis penis / clitoridis</a:t>
            </a:r>
          </a:p>
          <a:p>
            <a:pPr algn="ctr"/>
            <a:r>
              <a:rPr sz="1150" b="0">
                <a:solidFill>
                  <a:srgbClr val="1F2A44"/>
                </a:solidFill>
                <a:latin typeface="Calibri"/>
              </a:rPr>
              <a:t>membrana perinei üstünden, lig. suspensorium altından → glans</a:t>
            </a:r>
          </a:p>
        </p:txBody>
      </p:sp>
      <p:cxnSp>
        <p:nvCxnSpPr>
          <p:cNvPr id="23" name="Connector 22"/>
          <p:cNvCxnSpPr/>
          <p:nvPr/>
        </p:nvCxnSpPr>
        <p:spPr>
          <a:xfrm flipV="1">
            <a:off x="4206240" y="4206240"/>
            <a:ext cx="640080" cy="612648"/>
          </a:xfrm>
          <a:prstGeom prst="line">
            <a:avLst/>
          </a:prstGeom>
          <a:ln w="25400">
            <a:solidFill>
              <a:srgbClr val="E0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3920" y="960120"/>
            <a:ext cx="3474720" cy="274320"/>
          </a:xfrm>
          <a:prstGeom prst="rect">
            <a:avLst/>
          </a:prstGeom>
          <a:noFill/>
        </p:spPr>
        <p:txBody>
          <a:bodyPr wrap="square" anchor="t" lIns="45720" rIns="45720" tIns="18288" bIns="18288">
            <a:spAutoFit/>
          </a:bodyPr>
          <a:lstStyle/>
          <a:p>
            <a:pPr algn="l"/>
            <a:r>
              <a:rPr sz="1200" b="1" i="0">
                <a:solidFill>
                  <a:srgbClr val="B71C1C"/>
                </a:solidFill>
                <a:latin typeface="Calibri"/>
              </a:rPr>
              <a:t>A. pudenda interna (truncus anterior a. iliacae int.)</a:t>
            </a:r>
          </a:p>
        </p:txBody>
      </p:sp>
      <p:sp>
        <p:nvSpPr>
          <p:cNvPr id="25" name="Rounded Rectangle 24"/>
          <p:cNvSpPr/>
          <p:nvPr/>
        </p:nvSpPr>
        <p:spPr>
          <a:xfrm>
            <a:off x="8503920" y="1234440"/>
            <a:ext cx="3429000" cy="603504"/>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Calibri"/>
              </a:rPr>
              <a:t>A. rectalis inferior</a:t>
            </a:r>
          </a:p>
        </p:txBody>
      </p:sp>
      <p:sp>
        <p:nvSpPr>
          <p:cNvPr id="26" name="Rounded Rectangle 25"/>
          <p:cNvSpPr/>
          <p:nvPr/>
        </p:nvSpPr>
        <p:spPr>
          <a:xfrm>
            <a:off x="8503920" y="1965960"/>
            <a:ext cx="3429000" cy="603504"/>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Calibri"/>
              </a:rPr>
              <a:t>A. perinealis → aa. scrotales/labiales post.</a:t>
            </a:r>
          </a:p>
        </p:txBody>
      </p:sp>
      <p:sp>
        <p:nvSpPr>
          <p:cNvPr id="27" name="Rounded Rectangle 26"/>
          <p:cNvSpPr/>
          <p:nvPr/>
        </p:nvSpPr>
        <p:spPr>
          <a:xfrm>
            <a:off x="8503920" y="2697480"/>
            <a:ext cx="3429000" cy="603504"/>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Calibri"/>
              </a:rPr>
              <a:t>A. bulbi penis / vestibuli; a. urethralis</a:t>
            </a:r>
          </a:p>
        </p:txBody>
      </p:sp>
      <p:sp>
        <p:nvSpPr>
          <p:cNvPr id="28" name="Rounded Rectangle 27"/>
          <p:cNvSpPr/>
          <p:nvPr/>
        </p:nvSpPr>
        <p:spPr>
          <a:xfrm>
            <a:off x="8503920" y="3429000"/>
            <a:ext cx="3429000" cy="603504"/>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Calibri"/>
              </a:rPr>
              <a:t>A. profunda penis / clitoridis (crus)</a:t>
            </a:r>
          </a:p>
        </p:txBody>
      </p:sp>
      <p:sp>
        <p:nvSpPr>
          <p:cNvPr id="29" name="Rounded Rectangle 28"/>
          <p:cNvSpPr/>
          <p:nvPr/>
        </p:nvSpPr>
        <p:spPr>
          <a:xfrm>
            <a:off x="8503920" y="4160520"/>
            <a:ext cx="3429000" cy="603504"/>
          </a:xfrm>
          <a:prstGeom prst="roundRect">
            <a:avLst/>
          </a:prstGeom>
          <a:solidFill>
            <a:srgbClr val="B71C1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Calibri"/>
              </a:rPr>
              <a:t>A. dorsalis penis / clitoridis</a:t>
            </a:r>
          </a:p>
        </p:txBody>
      </p:sp>
      <p:sp>
        <p:nvSpPr>
          <p:cNvPr id="30" name="TextBox 29"/>
          <p:cNvSpPr txBox="1"/>
          <p:nvPr/>
        </p:nvSpPr>
        <p:spPr>
          <a:xfrm>
            <a:off x="365760" y="5349240"/>
            <a:ext cx="11521440" cy="1005840"/>
          </a:xfrm>
          <a:prstGeom prst="rect">
            <a:avLst/>
          </a:prstGeom>
          <a:noFill/>
        </p:spPr>
        <p:txBody>
          <a:bodyPr wrap="square">
            <a:spAutoFit/>
          </a:bodyPr>
          <a:lstStyle/>
          <a:p>
            <a:pPr>
              <a:spcAft>
                <a:spcPts val="200"/>
              </a:spcAft>
            </a:pPr>
            <a:r>
              <a:rPr sz="1450">
                <a:solidFill>
                  <a:srgbClr val="1F2A44"/>
                </a:solidFill>
                <a:latin typeface="Calibri"/>
              </a:rPr>
              <a:t>• N. pudendus'un dallanması değişkendir: n. rectalis inferior canalis pudendalis'e girmeden önce, hatta doğrudan plexus sacralis'ten çıkabilir; n. dorsalis penis/clitoridis kanalda ayrılabilir (oranlar için varyasyon bölümüne bakınız).</a:t>
            </a:r>
          </a:p>
          <a:p>
            <a:pPr>
              <a:spcAft>
                <a:spcPts val="200"/>
              </a:spcAft>
            </a:pPr>
            <a:r>
              <a:rPr sz="1450">
                <a:solidFill>
                  <a:srgbClr val="1F2A44"/>
                </a:solidFill>
                <a:latin typeface="Calibri"/>
              </a:rPr>
              <a:t>• Venler arterlere eşlik eder; v. dorsalis penis profunda ise lig. arcuatum pubis altından plexus venosus prostaticus/vesicalis'e drene olur.</a:t>
            </a:r>
          </a:p>
        </p:txBody>
      </p:sp>
      <p:cxnSp>
        <p:nvCxnSpPr>
          <p:cNvPr id="31" name="Connector 30"/>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Şema: bu projede standart anatomi bilgisinden çizilmiştir (gerçek görüntü değildir).</a:t>
            </a:r>
          </a:p>
        </p:txBody>
      </p:sp>
      <p:sp>
        <p:nvSpPr>
          <p:cNvPr id="33" name="TextBox 32"/>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N. pudendus ve a. pudenda interna – pelvis içinden</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Medial bakış; m. levator ani kaldırılmış (kadın kadavrası)</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DAMAR – SİNİR</a:t>
            </a:r>
          </a:p>
        </p:txBody>
      </p:sp>
      <p:pic>
        <p:nvPicPr>
          <p:cNvPr id="7" name="Picture 6" descr="etm-23-02-11036-g00.jpg"/>
          <p:cNvPicPr>
            <a:picLocks noChangeAspect="1"/>
          </p:cNvPicPr>
          <p:nvPr/>
        </p:nvPicPr>
        <p:blipFill>
          <a:blip r:embed="rId2"/>
          <a:stretch>
            <a:fillRect/>
          </a:stretch>
        </p:blipFill>
        <p:spPr>
          <a:xfrm>
            <a:off x="4079907" y="1097280"/>
            <a:ext cx="3666119" cy="3739896"/>
          </a:xfrm>
          <a:prstGeom prst="rect">
            <a:avLst/>
          </a:prstGeom>
        </p:spPr>
      </p:pic>
      <p:sp>
        <p:nvSpPr>
          <p:cNvPr id="8" name="TextBox 7"/>
          <p:cNvSpPr txBox="1"/>
          <p:nvPr/>
        </p:nvSpPr>
        <p:spPr>
          <a:xfrm>
            <a:off x="274320" y="2814617"/>
            <a:ext cx="2743200" cy="310896"/>
          </a:xfrm>
          <a:prstGeom prst="rect">
            <a:avLst/>
          </a:prstGeom>
          <a:noFill/>
        </p:spPr>
        <p:txBody>
          <a:bodyPr wrap="square" anchor="ctr" lIns="45720" rIns="45720" tIns="18288" bIns="18288">
            <a:spAutoFit/>
          </a:bodyPr>
          <a:lstStyle/>
          <a:p>
            <a:pPr algn="r"/>
            <a:r>
              <a:rPr sz="1200" b="1" i="0">
                <a:solidFill>
                  <a:srgbClr val="1F2A44"/>
                </a:solidFill>
                <a:latin typeface="Calibri"/>
              </a:rPr>
              <a:t>A. pudenda interna</a:t>
            </a:r>
          </a:p>
        </p:txBody>
      </p:sp>
      <p:cxnSp>
        <p:nvCxnSpPr>
          <p:cNvPr id="9" name="Connector 8"/>
          <p:cNvCxnSpPr/>
          <p:nvPr/>
        </p:nvCxnSpPr>
        <p:spPr>
          <a:xfrm>
            <a:off x="3017520" y="2970065"/>
            <a:ext cx="208390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055707" y="292434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3198665"/>
            <a:ext cx="2743200" cy="310896"/>
          </a:xfrm>
          <a:prstGeom prst="rect">
            <a:avLst/>
          </a:prstGeom>
          <a:noFill/>
        </p:spPr>
        <p:txBody>
          <a:bodyPr wrap="square" anchor="ctr" lIns="45720" rIns="45720" tIns="18288" bIns="18288">
            <a:spAutoFit/>
          </a:bodyPr>
          <a:lstStyle/>
          <a:p>
            <a:pPr algn="r"/>
            <a:r>
              <a:rPr sz="1200" b="1" i="0">
                <a:solidFill>
                  <a:srgbClr val="1F2A44"/>
                </a:solidFill>
                <a:latin typeface="Calibri"/>
              </a:rPr>
              <a:t>N. pudendus</a:t>
            </a:r>
          </a:p>
        </p:txBody>
      </p:sp>
      <p:cxnSp>
        <p:nvCxnSpPr>
          <p:cNvPr id="12" name="Connector 11"/>
          <p:cNvCxnSpPr/>
          <p:nvPr/>
        </p:nvCxnSpPr>
        <p:spPr>
          <a:xfrm flipV="1">
            <a:off x="3017520" y="3242470"/>
            <a:ext cx="2271185" cy="11164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242985" y="319675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631833"/>
            <a:ext cx="2743200" cy="310896"/>
          </a:xfrm>
          <a:prstGeom prst="rect">
            <a:avLst/>
          </a:prstGeom>
          <a:noFill/>
        </p:spPr>
        <p:txBody>
          <a:bodyPr wrap="square" anchor="ctr" lIns="45720" rIns="45720" tIns="18288" bIns="18288">
            <a:spAutoFit/>
          </a:bodyPr>
          <a:lstStyle/>
          <a:p>
            <a:pPr algn="r"/>
            <a:r>
              <a:rPr sz="1200" b="1" i="0">
                <a:solidFill>
                  <a:srgbClr val="1F2A44"/>
                </a:solidFill>
                <a:latin typeface="Calibri"/>
              </a:rPr>
              <a:t>Lig. sacrospinale</a:t>
            </a:r>
          </a:p>
        </p:txBody>
      </p:sp>
      <p:cxnSp>
        <p:nvCxnSpPr>
          <p:cNvPr id="15" name="Connector 14"/>
          <p:cNvCxnSpPr/>
          <p:nvPr/>
        </p:nvCxnSpPr>
        <p:spPr>
          <a:xfrm>
            <a:off x="3017520" y="3787281"/>
            <a:ext cx="237901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350812" y="374156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08415" y="1837944"/>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 obturatorius internus</a:t>
            </a:r>
          </a:p>
        </p:txBody>
      </p:sp>
      <p:cxnSp>
        <p:nvCxnSpPr>
          <p:cNvPr id="18" name="Connector 17"/>
          <p:cNvCxnSpPr/>
          <p:nvPr/>
        </p:nvCxnSpPr>
        <p:spPr>
          <a:xfrm flipH="1">
            <a:off x="6009444" y="1993392"/>
            <a:ext cx="2798971" cy="62481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963724" y="257248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08415" y="2221992"/>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Rami n. pudendi</a:t>
            </a:r>
          </a:p>
        </p:txBody>
      </p:sp>
      <p:cxnSp>
        <p:nvCxnSpPr>
          <p:cNvPr id="21" name="Connector 20"/>
          <p:cNvCxnSpPr/>
          <p:nvPr/>
        </p:nvCxnSpPr>
        <p:spPr>
          <a:xfrm flipH="1">
            <a:off x="6747208" y="2377440"/>
            <a:ext cx="2061207" cy="59262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701488" y="292434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08415" y="2606040"/>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Rami n. pudendi</a:t>
            </a:r>
          </a:p>
        </p:txBody>
      </p:sp>
      <p:cxnSp>
        <p:nvCxnSpPr>
          <p:cNvPr id="24" name="Connector 23"/>
          <p:cNvCxnSpPr/>
          <p:nvPr/>
        </p:nvCxnSpPr>
        <p:spPr>
          <a:xfrm flipH="1">
            <a:off x="6735858" y="2761488"/>
            <a:ext cx="2072557" cy="57745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690138" y="329322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8415" y="2990088"/>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Rami n. pudendi</a:t>
            </a:r>
          </a:p>
        </p:txBody>
      </p:sp>
      <p:cxnSp>
        <p:nvCxnSpPr>
          <p:cNvPr id="27" name="Connector 26"/>
          <p:cNvCxnSpPr/>
          <p:nvPr/>
        </p:nvCxnSpPr>
        <p:spPr>
          <a:xfrm flipH="1">
            <a:off x="6298874" y="3145536"/>
            <a:ext cx="2509541" cy="46014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6253154" y="355995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08415" y="3374136"/>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Rectum</a:t>
            </a:r>
          </a:p>
        </p:txBody>
      </p:sp>
      <p:cxnSp>
        <p:nvCxnSpPr>
          <p:cNvPr id="30" name="Connector 29"/>
          <p:cNvCxnSpPr/>
          <p:nvPr/>
        </p:nvCxnSpPr>
        <p:spPr>
          <a:xfrm flipH="1">
            <a:off x="7484972" y="3529584"/>
            <a:ext cx="1323443" cy="34849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439252" y="38323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08415" y="3758184"/>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M. coccygeus</a:t>
            </a:r>
          </a:p>
        </p:txBody>
      </p:sp>
      <p:cxnSp>
        <p:nvCxnSpPr>
          <p:cNvPr id="33" name="Connector 32"/>
          <p:cNvCxnSpPr/>
          <p:nvPr/>
        </p:nvCxnSpPr>
        <p:spPr>
          <a:xfrm flipH="1">
            <a:off x="6009444" y="3913632"/>
            <a:ext cx="2798971" cy="8930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5963724" y="395721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08415" y="4142232"/>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Lig. anococcygeum</a:t>
            </a:r>
          </a:p>
        </p:txBody>
      </p:sp>
      <p:cxnSp>
        <p:nvCxnSpPr>
          <p:cNvPr id="36" name="Connector 35"/>
          <p:cNvCxnSpPr/>
          <p:nvPr/>
        </p:nvCxnSpPr>
        <p:spPr>
          <a:xfrm flipH="1">
            <a:off x="6361301" y="4297680"/>
            <a:ext cx="2447114" cy="6278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315581" y="431474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08415" y="4526280"/>
            <a:ext cx="3108960" cy="310896"/>
          </a:xfrm>
          <a:prstGeom prst="rect">
            <a:avLst/>
          </a:prstGeom>
          <a:noFill/>
        </p:spPr>
        <p:txBody>
          <a:bodyPr wrap="square" anchor="ctr" lIns="45720" rIns="45720" tIns="18288" bIns="18288">
            <a:spAutoFit/>
          </a:bodyPr>
          <a:lstStyle/>
          <a:p>
            <a:pPr algn="l"/>
            <a:r>
              <a:rPr sz="1200" b="1" i="0">
                <a:solidFill>
                  <a:srgbClr val="1F2A44"/>
                </a:solidFill>
                <a:latin typeface="Calibri"/>
              </a:rPr>
              <a:t>Os coccygis</a:t>
            </a:r>
          </a:p>
        </p:txBody>
      </p:sp>
      <p:cxnSp>
        <p:nvCxnSpPr>
          <p:cNvPr id="39" name="Connector 38"/>
          <p:cNvCxnSpPr/>
          <p:nvPr/>
        </p:nvCxnSpPr>
        <p:spPr>
          <a:xfrm flipH="1" flipV="1">
            <a:off x="6122946" y="4587471"/>
            <a:ext cx="2685469" cy="9425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077226" y="454175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6120" y="4855464"/>
            <a:ext cx="533369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1 – Goidescu O. C. ve ark., 2021 (PMC8713160, CC BY-NC-ND)</a:t>
            </a:r>
          </a:p>
        </p:txBody>
      </p:sp>
      <p:sp>
        <p:nvSpPr>
          <p:cNvPr id="42" name="Rectangle 41"/>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N. pudendus lig. sacrospinale / m. coccygeus düzeyinde a. pudenda interna'nın medialinde seyreder; dalları (n. dorsalis clitoridis, n. perinealis, nn. rectales inferiores) canalis pudendalis'te ayrılır.</a:t>
            </a:r>
          </a:p>
        </p:txBody>
      </p:sp>
      <p:sp>
        <p:nvSpPr>
          <p:cNvPr id="44" name="TextBox 43"/>
          <p:cNvSpPr txBox="1"/>
          <p:nvPr/>
        </p:nvSpPr>
        <p:spPr>
          <a:xfrm>
            <a:off x="274320" y="6108192"/>
            <a:ext cx="7315200" cy="274320"/>
          </a:xfrm>
          <a:prstGeom prst="rect">
            <a:avLst/>
          </a:prstGeom>
          <a:noFill/>
        </p:spPr>
        <p:txBody>
          <a:bodyPr wrap="square" anchor="t" lIns="45720" rIns="45720" tIns="18288" bIns="18288">
            <a:spAutoFit/>
          </a:bodyPr>
          <a:lstStyle/>
          <a:p>
            <a:pPr algn="l"/>
            <a:r>
              <a:rPr sz="900" b="0" i="1">
                <a:solidFill>
                  <a:srgbClr val="C0392B"/>
                </a:solidFill>
                <a:latin typeface="Calibri"/>
              </a:rPr>
              <a:t>Lisans: CC BY-NC-ND – yalnızca ticari olmayan eğitim amaçlı; görsel değiştirilmeden (kırpılmadan) kullanılmıştır.</a:t>
            </a:r>
          </a:p>
        </p:txBody>
      </p:sp>
      <p:cxnSp>
        <p:nvCxnSpPr>
          <p:cNvPr id="45" name="Connector 4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Goidescu O. C., Enyedi M., Tulin A. D. et al. Overview of the anatomical basis of the piriformis syndrome-dissection with magnetic resonance correlation. Exp Ther Med. 2021 Dec 3;23(2):113. doi: 10.3892/etm.2021.11036 PMCID: PMC8713160. Lisans: CC BY-NC-ND.</a:t>
            </a:r>
          </a:p>
        </p:txBody>
      </p:sp>
      <p:sp>
        <p:nvSpPr>
          <p:cNvPr id="47" name="TextBox 46"/>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Canalis pudendalis (Alcock) – kadavra</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Sol: kanal açılmış (pens ucu) · Sağ: transgluteal yaklaşımda kanaldaki n. pudendus</a:t>
            </a:r>
          </a:p>
        </p:txBody>
      </p:sp>
      <p:sp>
        <p:nvSpPr>
          <p:cNvPr id="5" name="TextBox 4"/>
          <p:cNvSpPr txBox="1"/>
          <p:nvPr/>
        </p:nvSpPr>
        <p:spPr>
          <a:xfrm>
            <a:off x="9921240" y="109728"/>
            <a:ext cx="2057400" cy="310896"/>
          </a:xfrm>
          <a:prstGeom prst="rect">
            <a:avLst/>
          </a:prstGeom>
          <a:solidFill>
            <a:srgbClr val="2E7D32"/>
          </a:solidFill>
        </p:spPr>
        <p:txBody>
          <a:bodyPr wrap="square" anchor="ctr" lIns="45720" rIns="45720" tIns="18288" bIns="18288">
            <a:spAutoFit/>
          </a:bodyPr>
          <a:lstStyle/>
          <a:p>
            <a:pPr algn="ctr"/>
            <a:r>
              <a:rPr sz="1100" b="1" i="0">
                <a:solidFill>
                  <a:srgbClr val="FFFFFF"/>
                </a:solidFill>
                <a:latin typeface="Calibri"/>
              </a:rPr>
              <a:t>KADAVRA</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DAMAR – SİNİR</a:t>
            </a:r>
          </a:p>
        </p:txBody>
      </p:sp>
      <p:pic>
        <p:nvPicPr>
          <p:cNvPr id="7" name="Picture 6" descr="1471-2482-4-15-3.jpg"/>
          <p:cNvPicPr>
            <a:picLocks noChangeAspect="1"/>
          </p:cNvPicPr>
          <p:nvPr/>
        </p:nvPicPr>
        <p:blipFill>
          <a:blip r:embed="rId2"/>
          <a:stretch>
            <a:fillRect/>
          </a:stretch>
        </p:blipFill>
        <p:spPr>
          <a:xfrm>
            <a:off x="2377440" y="1487270"/>
            <a:ext cx="3611879" cy="2987347"/>
          </a:xfrm>
          <a:prstGeom prst="rect">
            <a:avLst/>
          </a:prstGeom>
        </p:spPr>
      </p:pic>
      <p:sp>
        <p:nvSpPr>
          <p:cNvPr id="8" name="TextBox 7"/>
          <p:cNvSpPr txBox="1"/>
          <p:nvPr/>
        </p:nvSpPr>
        <p:spPr>
          <a:xfrm>
            <a:off x="228600" y="2841109"/>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N. pudendus</a:t>
            </a:r>
          </a:p>
        </p:txBody>
      </p:sp>
      <p:cxnSp>
        <p:nvCxnSpPr>
          <p:cNvPr id="9" name="Connector 8"/>
          <p:cNvCxnSpPr/>
          <p:nvPr/>
        </p:nvCxnSpPr>
        <p:spPr>
          <a:xfrm>
            <a:off x="2286000" y="2996557"/>
            <a:ext cx="71597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956252" y="295083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3413597"/>
            <a:ext cx="20574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Canalis pudendalis (Alcock)</a:t>
            </a:r>
          </a:p>
        </p:txBody>
      </p:sp>
      <p:cxnSp>
        <p:nvCxnSpPr>
          <p:cNvPr id="12" name="Connector 11"/>
          <p:cNvCxnSpPr/>
          <p:nvPr/>
        </p:nvCxnSpPr>
        <p:spPr>
          <a:xfrm>
            <a:off x="2286000" y="3569045"/>
            <a:ext cx="198585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226135" y="352332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77440" y="4492905"/>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3 – Beco J. ve ark., 2004 (PMC529451, CC BY)</a:t>
            </a:r>
          </a:p>
        </p:txBody>
      </p:sp>
      <p:pic>
        <p:nvPicPr>
          <p:cNvPr id="15" name="Picture 14" descr="10-1055-s-0039-1688513_00198_04.jpg"/>
          <p:cNvPicPr>
            <a:picLocks noChangeAspect="1"/>
          </p:cNvPicPr>
          <p:nvPr/>
        </p:nvPicPr>
        <p:blipFill>
          <a:blip r:embed="rId3"/>
          <a:stretch>
            <a:fillRect/>
          </a:stretch>
        </p:blipFill>
        <p:spPr>
          <a:xfrm>
            <a:off x="6172200" y="1513085"/>
            <a:ext cx="3642055" cy="2935717"/>
          </a:xfrm>
          <a:prstGeom prst="rect">
            <a:avLst/>
          </a:prstGeom>
        </p:spPr>
      </p:pic>
      <p:sp>
        <p:nvSpPr>
          <p:cNvPr id="16" name="TextBox 15"/>
          <p:cNvSpPr txBox="1"/>
          <p:nvPr/>
        </p:nvSpPr>
        <p:spPr>
          <a:xfrm>
            <a:off x="9905695" y="3057263"/>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 pudendus (canalis pudendalis içinde)</a:t>
            </a:r>
          </a:p>
        </p:txBody>
      </p:sp>
      <p:cxnSp>
        <p:nvCxnSpPr>
          <p:cNvPr id="17" name="Connector 16"/>
          <p:cNvCxnSpPr/>
          <p:nvPr/>
        </p:nvCxnSpPr>
        <p:spPr>
          <a:xfrm flipH="1">
            <a:off x="8202921" y="3212711"/>
            <a:ext cx="1702774"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8157201" y="316699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05695" y="3441311"/>
            <a:ext cx="20574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 ischiadicus</a:t>
            </a:r>
          </a:p>
        </p:txBody>
      </p:sp>
      <p:cxnSp>
        <p:nvCxnSpPr>
          <p:cNvPr id="20" name="Connector 19"/>
          <p:cNvCxnSpPr/>
          <p:nvPr/>
        </p:nvCxnSpPr>
        <p:spPr>
          <a:xfrm flipH="1" flipV="1">
            <a:off x="8541375" y="3323076"/>
            <a:ext cx="1364320" cy="27368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8495655" y="327735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72200" y="4467090"/>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 4 – Agarwal P. ve ark., 2019 (PMC6785340, CC BY-NC-ND)</a:t>
            </a:r>
          </a:p>
        </p:txBody>
      </p:sp>
      <p:sp>
        <p:nvSpPr>
          <p:cNvPr id="23" name="Rectangle 22"/>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Kanal, fascia obturatoria'nın tuber ischiadicum'un ≈2–4 cm üstündeki duplikatürüdür; içinde n. pudendus, a./v. pudenda interna. Processus falciformis ligamenti sacrotuberalis kanalın alt-iç duvarına komşudur.</a:t>
            </a:r>
          </a:p>
        </p:txBody>
      </p:sp>
      <p:cxnSp>
        <p:nvCxnSpPr>
          <p:cNvPr id="25" name="Connector 24"/>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Beco J., Climov D., Bex M. Pudendal nerve decompression in perineology : a case series. BMC Surg. 2004 Oct 30;4:15. doi: 10.1186/1471-2482-4-15 PMCID: PMC529451. Lisans: CC BY.  •  Agarwal P., Sharma D., Wankhede S. et al. Sciatic Nerve to Pudendal Nerve Transfer: Anatomical Feasibility for a New Proposed Technique. Indian J Plast Surg. 2019 May 6;52(2):222–5. doi: 10.1055/s-0039-1688513 PMCID: PMC6785340. Lisans: CC BY-NC-ND.</a:t>
            </a:r>
          </a:p>
        </p:txBody>
      </p:sp>
      <p:sp>
        <p:nvSpPr>
          <p:cNvPr id="27" name="TextBox 26"/>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N. pudendus dallarının perinedeki dağılımı (♀)</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Litotomi görünümü – 47 kadavra diseksiyonuna dayalı yazar şeması</a:t>
            </a:r>
          </a:p>
        </p:txBody>
      </p:sp>
      <p:sp>
        <p:nvSpPr>
          <p:cNvPr id="5" name="TextBox 4"/>
          <p:cNvSpPr txBox="1"/>
          <p:nvPr/>
        </p:nvSpPr>
        <p:spPr>
          <a:xfrm>
            <a:off x="9921240" y="109728"/>
            <a:ext cx="2057400" cy="310896"/>
          </a:xfrm>
          <a:prstGeom prst="rect">
            <a:avLst/>
          </a:prstGeom>
          <a:solidFill>
            <a:srgbClr val="5E35B1"/>
          </a:solidFill>
        </p:spPr>
        <p:txBody>
          <a:bodyPr wrap="square" anchor="ctr" lIns="45720" rIns="45720" tIns="18288" bIns="18288">
            <a:spAutoFit/>
          </a:bodyPr>
          <a:lstStyle/>
          <a:p>
            <a:pPr algn="ctr"/>
            <a:r>
              <a:rPr sz="1100" b="1" i="0">
                <a:solidFill>
                  <a:srgbClr val="FFFFFF"/>
                </a:solidFill>
                <a:latin typeface="Calibri"/>
              </a:rPr>
              <a:t>İLLÜSTRASYON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DAMAR – SİNİR</a:t>
            </a:r>
          </a:p>
        </p:txBody>
      </p:sp>
      <p:pic>
        <p:nvPicPr>
          <p:cNvPr id="7" name="Picture 6" descr="diagnostics-11-00221-g003_230_60_560_440.jpg"/>
          <p:cNvPicPr>
            <a:picLocks noChangeAspect="1"/>
          </p:cNvPicPr>
          <p:nvPr/>
        </p:nvPicPr>
        <p:blipFill>
          <a:blip r:embed="rId2"/>
          <a:stretch>
            <a:fillRect/>
          </a:stretch>
        </p:blipFill>
        <p:spPr>
          <a:xfrm>
            <a:off x="4471945" y="1097280"/>
            <a:ext cx="3247804" cy="3739896"/>
          </a:xfrm>
          <a:prstGeom prst="rect">
            <a:avLst/>
          </a:prstGeom>
        </p:spPr>
      </p:pic>
      <p:sp>
        <p:nvSpPr>
          <p:cNvPr id="8" name="TextBox 7"/>
          <p:cNvSpPr txBox="1"/>
          <p:nvPr/>
        </p:nvSpPr>
        <p:spPr>
          <a:xfrm>
            <a:off x="274320" y="2349213"/>
            <a:ext cx="3108960" cy="310896"/>
          </a:xfrm>
          <a:prstGeom prst="rect">
            <a:avLst/>
          </a:prstGeom>
          <a:noFill/>
        </p:spPr>
        <p:txBody>
          <a:bodyPr wrap="square" anchor="ctr" lIns="45720" rIns="45720" tIns="18288" bIns="18288">
            <a:spAutoFit/>
          </a:bodyPr>
          <a:lstStyle/>
          <a:p>
            <a:pPr algn="r"/>
            <a:r>
              <a:rPr sz="1300" b="1" i="0">
                <a:solidFill>
                  <a:srgbClr val="1F2A44"/>
                </a:solidFill>
                <a:latin typeface="Calibri"/>
              </a:rPr>
              <a:t>Nn. labiales posteriores</a:t>
            </a:r>
          </a:p>
        </p:txBody>
      </p:sp>
      <p:cxnSp>
        <p:nvCxnSpPr>
          <p:cNvPr id="9" name="Connector 8"/>
          <p:cNvCxnSpPr/>
          <p:nvPr/>
        </p:nvCxnSpPr>
        <p:spPr>
          <a:xfrm>
            <a:off x="3383279" y="2504661"/>
            <a:ext cx="256494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902500" y="245894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3727070"/>
            <a:ext cx="3108960" cy="310896"/>
          </a:xfrm>
          <a:prstGeom prst="rect">
            <a:avLst/>
          </a:prstGeom>
          <a:noFill/>
        </p:spPr>
        <p:txBody>
          <a:bodyPr wrap="square" anchor="ctr" lIns="45720" rIns="45720" tIns="18288" bIns="18288">
            <a:spAutoFit/>
          </a:bodyPr>
          <a:lstStyle/>
          <a:p>
            <a:pPr algn="r"/>
            <a:r>
              <a:rPr sz="1300" b="1" i="0">
                <a:solidFill>
                  <a:srgbClr val="1F2A44"/>
                </a:solidFill>
                <a:latin typeface="Calibri"/>
              </a:rPr>
              <a:t>M. sphincter ani externus - pars superficialis</a:t>
            </a:r>
          </a:p>
        </p:txBody>
      </p:sp>
      <p:cxnSp>
        <p:nvCxnSpPr>
          <p:cNvPr id="12" name="Connector 11"/>
          <p:cNvCxnSpPr/>
          <p:nvPr/>
        </p:nvCxnSpPr>
        <p:spPr>
          <a:xfrm>
            <a:off x="3383279" y="3882518"/>
            <a:ext cx="205316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390724" y="383679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4219161"/>
            <a:ext cx="3108960" cy="310896"/>
          </a:xfrm>
          <a:prstGeom prst="rect">
            <a:avLst/>
          </a:prstGeom>
          <a:noFill/>
        </p:spPr>
        <p:txBody>
          <a:bodyPr wrap="square" anchor="ctr" lIns="45720" rIns="45720" tIns="18288" bIns="18288">
            <a:spAutoFit/>
          </a:bodyPr>
          <a:lstStyle/>
          <a:p>
            <a:pPr algn="r"/>
            <a:r>
              <a:rPr sz="1300" b="1" i="0">
                <a:solidFill>
                  <a:srgbClr val="1F2A44"/>
                </a:solidFill>
                <a:latin typeface="Calibri"/>
              </a:rPr>
              <a:t>M. sphincter ani externus - pars subcutanea</a:t>
            </a:r>
          </a:p>
        </p:txBody>
      </p:sp>
      <p:cxnSp>
        <p:nvCxnSpPr>
          <p:cNvPr id="15" name="Connector 14"/>
          <p:cNvCxnSpPr/>
          <p:nvPr/>
        </p:nvCxnSpPr>
        <p:spPr>
          <a:xfrm>
            <a:off x="3383279" y="4374609"/>
            <a:ext cx="231889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656454" y="432888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08415" y="2605101"/>
            <a:ext cx="3108960" cy="310896"/>
          </a:xfrm>
          <a:prstGeom prst="rect">
            <a:avLst/>
          </a:prstGeom>
          <a:noFill/>
        </p:spPr>
        <p:txBody>
          <a:bodyPr wrap="square" anchor="ctr" lIns="45720" rIns="45720" tIns="18288" bIns="18288">
            <a:spAutoFit/>
          </a:bodyPr>
          <a:lstStyle/>
          <a:p>
            <a:pPr algn="l"/>
            <a:r>
              <a:rPr sz="1300" b="1" i="0">
                <a:solidFill>
                  <a:srgbClr val="1F2A44"/>
                </a:solidFill>
                <a:latin typeface="Calibri"/>
              </a:rPr>
              <a:t>N. perinealis - ramus profundus</a:t>
            </a:r>
          </a:p>
        </p:txBody>
      </p:sp>
      <p:cxnSp>
        <p:nvCxnSpPr>
          <p:cNvPr id="18" name="Connector 17"/>
          <p:cNvCxnSpPr/>
          <p:nvPr/>
        </p:nvCxnSpPr>
        <p:spPr>
          <a:xfrm flipH="1">
            <a:off x="6282842" y="2760549"/>
            <a:ext cx="252557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237122" y="271482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08415" y="3323555"/>
            <a:ext cx="3108960" cy="310896"/>
          </a:xfrm>
          <a:prstGeom prst="rect">
            <a:avLst/>
          </a:prstGeom>
          <a:noFill/>
        </p:spPr>
        <p:txBody>
          <a:bodyPr wrap="square" anchor="ctr" lIns="45720" rIns="45720" tIns="18288" bIns="18288">
            <a:spAutoFit/>
          </a:bodyPr>
          <a:lstStyle/>
          <a:p>
            <a:pPr algn="l"/>
            <a:r>
              <a:rPr sz="1300" b="1" i="0">
                <a:solidFill>
                  <a:srgbClr val="1F2A44"/>
                </a:solidFill>
                <a:latin typeface="Calibri"/>
              </a:rPr>
              <a:t>N. perinealis - ramus superficialis</a:t>
            </a:r>
          </a:p>
        </p:txBody>
      </p:sp>
      <p:cxnSp>
        <p:nvCxnSpPr>
          <p:cNvPr id="21" name="Connector 20"/>
          <p:cNvCxnSpPr/>
          <p:nvPr/>
        </p:nvCxnSpPr>
        <p:spPr>
          <a:xfrm flipH="1">
            <a:off x="6213949" y="3479003"/>
            <a:ext cx="259446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168229" y="343328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08415" y="3943590"/>
            <a:ext cx="3108960" cy="310896"/>
          </a:xfrm>
          <a:prstGeom prst="rect">
            <a:avLst/>
          </a:prstGeom>
          <a:noFill/>
        </p:spPr>
        <p:txBody>
          <a:bodyPr wrap="square" anchor="ctr" lIns="45720" rIns="45720" tIns="18288" bIns="18288">
            <a:spAutoFit/>
          </a:bodyPr>
          <a:lstStyle/>
          <a:p>
            <a:pPr algn="l"/>
            <a:r>
              <a:rPr sz="1300" b="1" i="0">
                <a:solidFill>
                  <a:srgbClr val="1F2A44"/>
                </a:solidFill>
                <a:latin typeface="Calibri"/>
              </a:rPr>
              <a:t>N. pudendus</a:t>
            </a:r>
          </a:p>
        </p:txBody>
      </p:sp>
      <p:cxnSp>
        <p:nvCxnSpPr>
          <p:cNvPr id="24" name="Connector 23"/>
          <p:cNvCxnSpPr/>
          <p:nvPr/>
        </p:nvCxnSpPr>
        <p:spPr>
          <a:xfrm flipH="1">
            <a:off x="6666673" y="4099038"/>
            <a:ext cx="2141742"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620953" y="405331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8415" y="4327638"/>
            <a:ext cx="3108960" cy="310896"/>
          </a:xfrm>
          <a:prstGeom prst="rect">
            <a:avLst/>
          </a:prstGeom>
          <a:noFill/>
        </p:spPr>
        <p:txBody>
          <a:bodyPr wrap="square" anchor="ctr" lIns="45720" rIns="45720" tIns="18288" bIns="18288">
            <a:spAutoFit/>
          </a:bodyPr>
          <a:lstStyle/>
          <a:p>
            <a:pPr algn="l"/>
            <a:r>
              <a:rPr sz="1300" b="1" i="0">
                <a:solidFill>
                  <a:srgbClr val="1F2A44"/>
                </a:solidFill>
                <a:latin typeface="Calibri"/>
              </a:rPr>
              <a:t>Nn. anales (rectales) inferiores</a:t>
            </a:r>
          </a:p>
        </p:txBody>
      </p:sp>
      <p:cxnSp>
        <p:nvCxnSpPr>
          <p:cNvPr id="27" name="Connector 26"/>
          <p:cNvCxnSpPr/>
          <p:nvPr/>
        </p:nvCxnSpPr>
        <p:spPr>
          <a:xfrm flipH="1" flipV="1">
            <a:off x="6263158" y="4167931"/>
            <a:ext cx="2545257" cy="31515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6217438" y="412221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11879" y="4855464"/>
            <a:ext cx="4967935" cy="256032"/>
          </a:xfrm>
          <a:prstGeom prst="rect">
            <a:avLst/>
          </a:prstGeom>
          <a:noFill/>
        </p:spPr>
        <p:txBody>
          <a:bodyPr wrap="square" anchor="t" lIns="45720" rIns="45720" tIns="18288" bIns="18288">
            <a:spAutoFit/>
          </a:bodyPr>
          <a:lstStyle/>
          <a:p>
            <a:pPr algn="ctr"/>
            <a:r>
              <a:rPr sz="1100" b="0" i="1">
                <a:solidFill>
                  <a:srgbClr val="555B66"/>
                </a:solidFill>
                <a:latin typeface="Calibri"/>
              </a:rPr>
              <a:t>Figure 3 – Garner D. K. ve ark., 2021 (PMC7913006, CC BY)</a:t>
            </a:r>
          </a:p>
        </p:txBody>
      </p:sp>
      <p:sp>
        <p:nvSpPr>
          <p:cNvPr id="30" name="Rectangle 29"/>
          <p:cNvSpPr/>
          <p:nvPr/>
        </p:nvSpPr>
        <p:spPr>
          <a:xfrm>
            <a:off x="274320" y="5138928"/>
            <a:ext cx="11643055" cy="9601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5166360"/>
            <a:ext cx="11460175" cy="960120"/>
          </a:xfrm>
          <a:prstGeom prst="rect">
            <a:avLst/>
          </a:prstGeom>
          <a:noFill/>
        </p:spPr>
        <p:txBody>
          <a:bodyPr wrap="square">
            <a:spAutoFit/>
          </a:bodyPr>
          <a:lstStyle/>
          <a:p>
            <a:pPr>
              <a:spcAft>
                <a:spcPts val="200"/>
              </a:spcAft>
            </a:pPr>
            <a:r>
              <a:rPr sz="1500">
                <a:solidFill>
                  <a:srgbClr val="1F2A44"/>
                </a:solidFill>
                <a:latin typeface="Calibri"/>
              </a:rPr>
              <a:t>• N. rectalis inferior EAS'ın pars subcutanea'sını ve perianal deriyi; n. perinealis'in derin dalı m. bulbospongiosus, EAS'ın pars superficialis'ini ve gl. vestibularis major çevresini innerve eder.</a:t>
            </a:r>
          </a:p>
        </p:txBody>
      </p:sp>
      <p:cxnSp>
        <p:nvCxnSpPr>
          <p:cNvPr id="32" name="Connector 3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Garner D. K., Patel A. B., Hung J. et al. Midline and Mediolateral Episiotomy: Risk Assessment Based on Clinical Anatomy. Diagnostics (Basel). 2021 Feb 2;11(2):221. doi: 10.3390/diagnostics11020221 PMCID: PMC7913006. Lisans: CC BY.</a:t>
            </a:r>
          </a:p>
        </p:txBody>
      </p:sp>
      <p:sp>
        <p:nvSpPr>
          <p:cNvPr id="34" name="TextBox 33"/>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Pudendal nöropati ve sıkışma noktaları</a:t>
            </a:r>
          </a:p>
        </p:txBody>
      </p:sp>
      <p:sp>
        <p:nvSpPr>
          <p:cNvPr id="4" name="TextBox 3"/>
          <p:cNvSpPr txBox="1"/>
          <p:nvPr/>
        </p:nvSpPr>
        <p:spPr>
          <a:xfrm>
            <a:off x="9921240" y="109728"/>
            <a:ext cx="2057400" cy="310896"/>
          </a:xfrm>
          <a:prstGeom prst="rect">
            <a:avLst/>
          </a:prstGeom>
          <a:solidFill>
            <a:srgbClr val="C26A00"/>
          </a:solidFill>
        </p:spPr>
        <p:txBody>
          <a:bodyPr wrap="square" anchor="ctr" lIns="45720" rIns="45720" tIns="18288" bIns="18288">
            <a:spAutoFit/>
          </a:bodyPr>
          <a:lstStyle/>
          <a:p>
            <a:pPr algn="ctr"/>
            <a:r>
              <a:rPr sz="1100" b="1" i="0">
                <a:solidFill>
                  <a:srgbClr val="FFFFFF"/>
                </a:solidFill>
                <a:latin typeface="Calibri"/>
              </a:rPr>
              <a:t>KLİNİK BAĞLANTI</a:t>
            </a:r>
          </a:p>
        </p:txBody>
      </p:sp>
      <p:sp>
        <p:nvSpPr>
          <p:cNvPr id="5" name="TextBox 4"/>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DAMAR – SİNİR</a:t>
            </a:r>
          </a:p>
        </p:txBody>
      </p:sp>
      <p:sp>
        <p:nvSpPr>
          <p:cNvPr id="6" name="TextBox 5"/>
          <p:cNvSpPr txBox="1"/>
          <p:nvPr/>
        </p:nvSpPr>
        <p:spPr>
          <a:xfrm>
            <a:off x="411480" y="1188720"/>
            <a:ext cx="11338560" cy="5120640"/>
          </a:xfrm>
          <a:prstGeom prst="rect">
            <a:avLst/>
          </a:prstGeom>
          <a:noFill/>
        </p:spPr>
        <p:txBody>
          <a:bodyPr wrap="square">
            <a:spAutoFit/>
          </a:bodyPr>
          <a:lstStyle/>
          <a:p>
            <a:pPr>
              <a:spcAft>
                <a:spcPts val="600"/>
              </a:spcAft>
            </a:pPr>
            <a:r>
              <a:rPr sz="1900">
                <a:solidFill>
                  <a:srgbClr val="1F2A44"/>
                </a:solidFill>
                <a:latin typeface="Calibri"/>
              </a:rPr>
              <a:t>• </a:t>
            </a:r>
            <a:r>
              <a:rPr sz="1900">
                <a:solidFill>
                  <a:srgbClr val="1F2A44"/>
                </a:solidFill>
                <a:latin typeface="Calibri"/>
              </a:rPr>
              <a:t>Sıkışma noktaları</a:t>
            </a:r>
            <a:r>
              <a:rPr sz="1900">
                <a:solidFill>
                  <a:srgbClr val="1F2A44"/>
                </a:solidFill>
                <a:latin typeface="Calibri"/>
              </a:rPr>
              <a:t>: (1) lig. sacrospinale–lig. sacrotuberale arasındaki 'kıskaç' (spina ischiadica hizası), (2) canalis pudendalis (fascia obturatoria, processus falciformis), (3) membrana perinei hizası (n. dorsalis).</a:t>
            </a:r>
          </a:p>
          <a:p>
            <a:pPr>
              <a:spcAft>
                <a:spcPts val="600"/>
              </a:spcAft>
            </a:pPr>
            <a:r>
              <a:rPr sz="1900">
                <a:solidFill>
                  <a:srgbClr val="1F2A44"/>
                </a:solidFill>
                <a:latin typeface="Calibri"/>
              </a:rPr>
              <a:t>• </a:t>
            </a:r>
            <a:r>
              <a:rPr sz="1900">
                <a:solidFill>
                  <a:srgbClr val="1F2A44"/>
                </a:solidFill>
                <a:latin typeface="Calibri"/>
              </a:rPr>
              <a:t>Nantes kriterleri</a:t>
            </a:r>
            <a:r>
              <a:rPr sz="1900">
                <a:solidFill>
                  <a:srgbClr val="1F2A44"/>
                </a:solidFill>
                <a:latin typeface="Calibri"/>
              </a:rPr>
              <a:t> (Labat 2008): n. pudendus alanında ağrı, oturmakla artma, gece uyandırmama, nesnel duyu kaybı olmaması, tanısal pudendal blokla geçme.</a:t>
            </a:r>
          </a:p>
          <a:p>
            <a:pPr>
              <a:spcAft>
                <a:spcPts val="600"/>
              </a:spcAft>
            </a:pPr>
            <a:r>
              <a:rPr sz="1900">
                <a:solidFill>
                  <a:srgbClr val="1F2A44"/>
                </a:solidFill>
                <a:latin typeface="Calibri"/>
              </a:rPr>
              <a:t>• </a:t>
            </a:r>
            <a:r>
              <a:rPr sz="1900">
                <a:solidFill>
                  <a:srgbClr val="1F2A44"/>
                </a:solidFill>
                <a:latin typeface="Calibri"/>
              </a:rPr>
              <a:t>Pudendal blok</a:t>
            </a:r>
            <a:r>
              <a:rPr sz="1900">
                <a:solidFill>
                  <a:srgbClr val="1F2A44"/>
                </a:solidFill>
                <a:latin typeface="Calibri"/>
              </a:rPr>
              <a:t>: transvaginal (spina ischiadica palpasyonu) veya transperineal (tuber ischiadicum medialinden); BT/US eşliğinde gluteal yaklaşım.</a:t>
            </a:r>
          </a:p>
          <a:p>
            <a:pPr>
              <a:spcAft>
                <a:spcPts val="600"/>
              </a:spcAft>
            </a:pPr>
            <a:r>
              <a:rPr sz="1900">
                <a:solidFill>
                  <a:srgbClr val="1F2A44"/>
                </a:solidFill>
                <a:latin typeface="Calibri"/>
              </a:rPr>
              <a:t>• </a:t>
            </a:r>
            <a:r>
              <a:rPr sz="1900">
                <a:solidFill>
                  <a:srgbClr val="1F2A44"/>
                </a:solidFill>
                <a:latin typeface="Calibri"/>
              </a:rPr>
              <a:t>Siklist/uzun süreli oturma, doğum travması</a:t>
            </a:r>
            <a:r>
              <a:rPr sz="1900">
                <a:solidFill>
                  <a:srgbClr val="1F2A44"/>
                </a:solidFill>
                <a:latin typeface="Calibri"/>
              </a:rPr>
              <a:t> (gerilme nöropatisi) ve pelvik cerrahi (sacrospinous fixation) n. pudendus hasarı nedenleridir.</a:t>
            </a:r>
          </a:p>
          <a:p>
            <a:pPr>
              <a:spcAft>
                <a:spcPts val="600"/>
              </a:spcAft>
            </a:pPr>
            <a:r>
              <a:rPr sz="1900">
                <a:solidFill>
                  <a:srgbClr val="1F2A44"/>
                </a:solidFill>
                <a:latin typeface="Calibri"/>
              </a:rPr>
              <a:t>• </a:t>
            </a:r>
            <a:r>
              <a:rPr sz="1900">
                <a:solidFill>
                  <a:srgbClr val="1F2A44"/>
                </a:solidFill>
                <a:latin typeface="Calibri"/>
              </a:rPr>
              <a:t>Lenfatik drenaj</a:t>
            </a:r>
            <a:r>
              <a:rPr sz="1900">
                <a:solidFill>
                  <a:srgbClr val="1F2A44"/>
                </a:solidFill>
                <a:latin typeface="Calibri"/>
              </a:rPr>
              <a:t>: perine derisi, alt anal kanal, scrotum/labia → </a:t>
            </a:r>
            <a:r>
              <a:rPr sz="1900">
                <a:solidFill>
                  <a:srgbClr val="1F2A44"/>
                </a:solidFill>
                <a:latin typeface="Calibri"/>
              </a:rPr>
              <a:t>nodi inguinales superficiales</a:t>
            </a:r>
            <a:r>
              <a:rPr sz="1900">
                <a:solidFill>
                  <a:srgbClr val="1F2A44"/>
                </a:solidFill>
                <a:latin typeface="Calibri"/>
              </a:rPr>
              <a:t>; corpus cavernosum, urethra proksimali, derin yapılar → </a:t>
            </a:r>
            <a:r>
              <a:rPr sz="1900">
                <a:solidFill>
                  <a:srgbClr val="1F2A44"/>
                </a:solidFill>
                <a:latin typeface="Calibri"/>
              </a:rPr>
              <a:t>nodi iliaci interni</a:t>
            </a:r>
            <a:r>
              <a:rPr sz="1900">
                <a:solidFill>
                  <a:srgbClr val="1F2A44"/>
                </a:solidFill>
                <a:latin typeface="Calibri"/>
              </a:rPr>
              <a:t>; glans → nodi inguinales profundi.</a:t>
            </a:r>
          </a:p>
        </p:txBody>
      </p:sp>
      <p:cxnSp>
        <p:nvCxnSpPr>
          <p:cNvPr id="7" name="Connector 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Labat JJ ve ark. Neurourol Urodyn 2008;27:306–310 (Nantes kriterleri).</a:t>
            </a:r>
          </a:p>
        </p:txBody>
      </p: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0"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5486400" cy="457200"/>
          </a:xfrm>
          <a:prstGeom prst="rect">
            <a:avLst/>
          </a:prstGeom>
          <a:noFill/>
        </p:spPr>
        <p:txBody>
          <a:bodyPr wrap="square" anchor="t" lIns="45720" rIns="45720" tIns="18288" bIns="18288">
            <a:spAutoFit/>
          </a:bodyPr>
          <a:lstStyle/>
          <a:p>
            <a:pPr algn="l"/>
            <a:r>
              <a:rPr sz="2000" b="1" i="0">
                <a:solidFill>
                  <a:srgbClr val="C8D1E6"/>
                </a:solidFill>
                <a:latin typeface="Calibri"/>
              </a:rPr>
              <a:t>BÖLÜM 6</a:t>
            </a:r>
          </a:p>
        </p:txBody>
      </p:sp>
      <p:sp>
        <p:nvSpPr>
          <p:cNvPr id="4" name="TextBox 3"/>
          <p:cNvSpPr txBox="1"/>
          <p:nvPr/>
        </p:nvSpPr>
        <p:spPr>
          <a:xfrm>
            <a:off x="548640" y="1234440"/>
            <a:ext cx="5669280" cy="1371600"/>
          </a:xfrm>
          <a:prstGeom prst="rect">
            <a:avLst/>
          </a:prstGeom>
          <a:noFill/>
        </p:spPr>
        <p:txBody>
          <a:bodyPr wrap="square" anchor="t" lIns="45720" rIns="45720" tIns="18288" bIns="18288">
            <a:spAutoFit/>
          </a:bodyPr>
          <a:lstStyle/>
          <a:p>
            <a:pPr algn="l"/>
            <a:r>
              <a:rPr sz="4000" b="1" i="0">
                <a:solidFill>
                  <a:srgbClr val="FFFFFF"/>
                </a:solidFill>
                <a:latin typeface="Calibri"/>
              </a:rPr>
              <a:t>Varyasyonlar</a:t>
            </a:r>
          </a:p>
        </p:txBody>
      </p:sp>
      <p:sp>
        <p:nvSpPr>
          <p:cNvPr id="5" name="TextBox 4"/>
          <p:cNvSpPr txBox="1"/>
          <p:nvPr/>
        </p:nvSpPr>
        <p:spPr>
          <a:xfrm>
            <a:off x="548640" y="2697480"/>
            <a:ext cx="5486400" cy="640080"/>
          </a:xfrm>
          <a:prstGeom prst="rect">
            <a:avLst/>
          </a:prstGeom>
          <a:noFill/>
        </p:spPr>
        <p:txBody>
          <a:bodyPr wrap="square" anchor="t" lIns="45720" rIns="45720" tIns="18288" bIns="18288">
            <a:spAutoFit/>
          </a:bodyPr>
          <a:lstStyle/>
          <a:p>
            <a:pPr algn="l"/>
            <a:r>
              <a:rPr sz="1700" b="0" i="1">
                <a:solidFill>
                  <a:srgbClr val="C8D1E6"/>
                </a:solidFill>
                <a:latin typeface="Calibri"/>
              </a:rPr>
              <a:t>Literatür taraması ve seçilmiş kadavra çalışmaları</a:t>
            </a:r>
          </a:p>
        </p:txBody>
      </p:sp>
      <p:sp>
        <p:nvSpPr>
          <p:cNvPr id="6" name="TextBox 5"/>
          <p:cNvSpPr txBox="1"/>
          <p:nvPr/>
        </p:nvSpPr>
        <p:spPr>
          <a:xfrm>
            <a:off x="548640" y="3429000"/>
            <a:ext cx="5577840" cy="2926080"/>
          </a:xfrm>
          <a:prstGeom prst="rect">
            <a:avLst/>
          </a:prstGeom>
          <a:noFill/>
        </p:spPr>
        <p:txBody>
          <a:bodyPr wrap="square">
            <a:spAutoFit/>
          </a:bodyPr>
          <a:lstStyle/>
          <a:p>
            <a:pPr>
              <a:spcAft>
                <a:spcPts val="600"/>
              </a:spcAft>
            </a:pPr>
            <a:r>
              <a:rPr sz="1700">
                <a:solidFill>
                  <a:srgbClr val="FFFFFF"/>
                </a:solidFill>
                <a:latin typeface="Calibri"/>
              </a:rPr>
              <a:t>• N. pudendus dallanma tipleri</a:t>
            </a:r>
          </a:p>
          <a:p>
            <a:pPr>
              <a:spcAft>
                <a:spcPts val="600"/>
              </a:spcAft>
            </a:pPr>
            <a:r>
              <a:rPr sz="1700">
                <a:solidFill>
                  <a:srgbClr val="FFFFFF"/>
                </a:solidFill>
                <a:latin typeface="Calibri"/>
              </a:rPr>
              <a:t>• A. pudenda interna / a. penis varyasyonları</a:t>
            </a:r>
          </a:p>
          <a:p>
            <a:pPr>
              <a:spcAft>
                <a:spcPts val="600"/>
              </a:spcAft>
            </a:pPr>
            <a:r>
              <a:rPr sz="1700">
                <a:solidFill>
                  <a:srgbClr val="FFFFFF"/>
                </a:solidFill>
                <a:latin typeface="Calibri"/>
              </a:rPr>
              <a:t>• Levator ani ve perine kasları – yeni modeller</a:t>
            </a:r>
          </a:p>
          <a:p>
            <a:pPr>
              <a:spcAft>
                <a:spcPts val="600"/>
              </a:spcAft>
            </a:pPr>
            <a:r>
              <a:rPr sz="1700">
                <a:solidFill>
                  <a:srgbClr val="FFFFFF"/>
                </a:solidFill>
                <a:latin typeface="Calibri"/>
              </a:rPr>
              <a:t>• Corpus perineale morfometrisi</a:t>
            </a:r>
          </a:p>
        </p:txBody>
      </p:sp>
      <p:pic>
        <p:nvPicPr>
          <p:cNvPr id="7" name="Picture 6" descr="cureus-0014-00000028281-i06.jpg"/>
          <p:cNvPicPr>
            <a:picLocks noChangeAspect="1"/>
          </p:cNvPicPr>
          <p:nvPr/>
        </p:nvPicPr>
        <p:blipFill>
          <a:blip r:embed="rId2"/>
          <a:stretch>
            <a:fillRect/>
          </a:stretch>
        </p:blipFill>
        <p:spPr>
          <a:xfrm>
            <a:off x="6675120" y="1423416"/>
            <a:ext cx="5257800" cy="3645407"/>
          </a:xfrm>
          <a:prstGeom prst="rect">
            <a:avLst/>
          </a:prstGeom>
        </p:spPr>
      </p:pic>
      <p:sp>
        <p:nvSpPr>
          <p:cNvPr id="8" name="TextBox 7"/>
          <p:cNvSpPr txBox="1"/>
          <p:nvPr/>
        </p:nvSpPr>
        <p:spPr>
          <a:xfrm>
            <a:off x="6675120" y="6080760"/>
            <a:ext cx="5257800" cy="274320"/>
          </a:xfrm>
          <a:prstGeom prst="rect">
            <a:avLst/>
          </a:prstGeom>
          <a:noFill/>
        </p:spPr>
        <p:txBody>
          <a:bodyPr wrap="square" anchor="t" lIns="45720" rIns="45720" tIns="18288" bIns="18288">
            <a:spAutoFit/>
          </a:bodyPr>
          <a:lstStyle/>
          <a:p>
            <a:pPr algn="ctr"/>
            <a:r>
              <a:rPr sz="900" b="0" i="1">
                <a:solidFill>
                  <a:srgbClr val="555B66"/>
                </a:solidFill>
                <a:latin typeface="Calibri"/>
              </a:rPr>
              <a:t>Ranjan R. ve ark., 2022 (PMC9492552, CC BY)</a:t>
            </a:r>
          </a:p>
        </p:txBody>
      </p:sp>
      <p:sp>
        <p:nvSpPr>
          <p:cNvPr id="9" name="TextBox 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Perine ve pelvis tabanı varyasyonları – literatür taraması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Sıklıklar makalelerden aynen aktarılmıştır</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graphicFrame>
        <p:nvGraphicFramePr>
          <p:cNvPr id="7" name="Table 6"/>
          <p:cNvGraphicFramePr>
            <a:graphicFrameLocks noGrp="1"/>
          </p:cNvGraphicFramePr>
          <p:nvPr/>
        </p:nvGraphicFramePr>
        <p:xfrm>
          <a:off x="274320" y="1143000"/>
          <a:ext cx="11640312" cy="4572000"/>
        </p:xfrm>
        <a:graphic>
          <a:graphicData uri="http://schemas.openxmlformats.org/drawingml/2006/table">
            <a:tbl>
              <a:tblPr firstRow="1" bandRow="1">
                <a:tableStyleId>{5C22544A-7EE6-4342-B048-85BDC9FD1C3A}</a:tableStyleId>
              </a:tblPr>
              <a:tblGrid>
                <a:gridCol w="2108088"/>
                <a:gridCol w="1833120"/>
                <a:gridCol w="1833120"/>
                <a:gridCol w="3299616"/>
                <a:gridCol w="2566368"/>
              </a:tblGrid>
              <a:tr h="762000">
                <a:tc>
                  <a:txBody>
                    <a:bodyPr/>
                    <a:lstStyle/>
                    <a:p>
                      <a:r>
                        <a:rPr sz="1500" b="1">
                          <a:solidFill>
                            <a:srgbClr val="FFFFFF"/>
                          </a:solidFill>
                          <a:latin typeface="Calibri"/>
                        </a:rPr>
                        <a:t>Varyasyon</a:t>
                      </a:r>
                    </a:p>
                  </a:txBody>
                  <a:tcPr>
                    <a:solidFill>
                      <a:srgbClr val="1F2A44"/>
                    </a:solidFill>
                  </a:tcPr>
                </a:tc>
                <a:tc>
                  <a:txBody>
                    <a:bodyPr/>
                    <a:lstStyle/>
                    <a:p>
                      <a:r>
                        <a:rPr sz="1500" b="1">
                          <a:solidFill>
                            <a:srgbClr val="FFFFFF"/>
                          </a:solidFill>
                          <a:latin typeface="Calibri"/>
                        </a:rPr>
                        <a:t>Çalışma</a:t>
                      </a:r>
                    </a:p>
                  </a:txBody>
                  <a:tcPr>
                    <a:solidFill>
                      <a:srgbClr val="1F2A44"/>
                    </a:solidFill>
                  </a:tcPr>
                </a:tc>
                <a:tc>
                  <a:txBody>
                    <a:bodyPr/>
                    <a:lstStyle/>
                    <a:p>
                      <a:r>
                        <a:rPr sz="1500" b="1">
                          <a:solidFill>
                            <a:srgbClr val="FFFFFF"/>
                          </a:solidFill>
                          <a:latin typeface="Calibri"/>
                        </a:rPr>
                        <a:t>Örneklem</a:t>
                      </a:r>
                    </a:p>
                  </a:txBody>
                  <a:tcPr>
                    <a:solidFill>
                      <a:srgbClr val="1F2A44"/>
                    </a:solidFill>
                  </a:tcPr>
                </a:tc>
                <a:tc>
                  <a:txBody>
                    <a:bodyPr/>
                    <a:lstStyle/>
                    <a:p>
                      <a:r>
                        <a:rPr sz="1500" b="1">
                          <a:solidFill>
                            <a:srgbClr val="FFFFFF"/>
                          </a:solidFill>
                          <a:latin typeface="Calibri"/>
                        </a:rPr>
                        <a:t>Sıklık / bulgu</a:t>
                      </a:r>
                    </a:p>
                  </a:txBody>
                  <a:tcPr>
                    <a:solidFill>
                      <a:srgbClr val="1F2A44"/>
                    </a:solidFill>
                  </a:tcPr>
                </a:tc>
                <a:tc>
                  <a:txBody>
                    <a:bodyPr/>
                    <a:lstStyle/>
                    <a:p>
                      <a:r>
                        <a:rPr sz="1500" b="1">
                          <a:solidFill>
                            <a:srgbClr val="FFFFFF"/>
                          </a:solidFill>
                          <a:latin typeface="Calibri"/>
                        </a:rPr>
                        <a:t>Klinik önem</a:t>
                      </a:r>
                    </a:p>
                  </a:txBody>
                  <a:tcPr>
                    <a:solidFill>
                      <a:srgbClr val="1F2A44"/>
                    </a:solidFill>
                  </a:tcPr>
                </a:tc>
              </a:tr>
              <a:tr h="762000">
                <a:tc>
                  <a:txBody>
                    <a:bodyPr/>
                    <a:lstStyle/>
                    <a:p>
                      <a:r>
                        <a:rPr sz="1250" b="1">
                          <a:solidFill>
                            <a:srgbClr val="1F2A44"/>
                          </a:solidFill>
                          <a:latin typeface="Calibri"/>
                        </a:rPr>
                        <a:t>N. pudendus gövde sayısı</a:t>
                      </a:r>
                    </a:p>
                  </a:txBody>
                  <a:tcPr marT="27432" marB="27432">
                    <a:solidFill>
                      <a:srgbClr val="F3F4F6"/>
                    </a:solidFill>
                  </a:tcPr>
                </a:tc>
                <a:tc>
                  <a:txBody>
                    <a:bodyPr/>
                    <a:lstStyle/>
                    <a:p>
                      <a:r>
                        <a:rPr sz="1250">
                          <a:solidFill>
                            <a:srgbClr val="1F2A44"/>
                          </a:solidFill>
                          <a:latin typeface="Calibri"/>
                        </a:rPr>
                        <a:t>Ranjan ve ark. 2022</a:t>
                      </a:r>
                    </a:p>
                  </a:txBody>
                  <a:tcPr marT="27432" marB="27432">
                    <a:solidFill>
                      <a:srgbClr val="F3F4F6"/>
                    </a:solidFill>
                  </a:tcPr>
                </a:tc>
                <a:tc>
                  <a:txBody>
                    <a:bodyPr/>
                    <a:lstStyle/>
                    <a:p>
                      <a:r>
                        <a:rPr sz="1250">
                          <a:solidFill>
                            <a:srgbClr val="1F2A44"/>
                          </a:solidFill>
                          <a:latin typeface="Calibri"/>
                        </a:rPr>
                        <a:t>52 hemipelvis</a:t>
                      </a:r>
                    </a:p>
                  </a:txBody>
                  <a:tcPr marT="27432" marB="27432">
                    <a:solidFill>
                      <a:srgbClr val="F3F4F6"/>
                    </a:solidFill>
                  </a:tcPr>
                </a:tc>
                <a:tc>
                  <a:txBody>
                    <a:bodyPr/>
                    <a:lstStyle/>
                    <a:p>
                      <a:r>
                        <a:rPr sz="1250">
                          <a:solidFill>
                            <a:srgbClr val="1F2A44"/>
                          </a:solidFill>
                          <a:latin typeface="Calibri"/>
                        </a:rPr>
                        <a:t>Tip I tek gövde %51,9; IIa %13,5 (n. rectalis inf. lig. sacrospinale'yi deler); IIb %23,1; III üç gövde %11,5; n. ischiadicus ile bağlantı %26,9</a:t>
                      </a:r>
                    </a:p>
                  </a:txBody>
                  <a:tcPr marT="27432" marB="27432">
                    <a:solidFill>
                      <a:srgbClr val="F3F4F6"/>
                    </a:solidFill>
                  </a:tcPr>
                </a:tc>
                <a:tc>
                  <a:txBody>
                    <a:bodyPr/>
                    <a:lstStyle/>
                    <a:p>
                      <a:r>
                        <a:rPr sz="1250">
                          <a:solidFill>
                            <a:srgbClr val="1F2A44"/>
                          </a:solidFill>
                          <a:latin typeface="Calibri"/>
                        </a:rPr>
                        <a:t>Eksik pudendal blok, sakrospinöz fiksasyon</a:t>
                      </a:r>
                    </a:p>
                  </a:txBody>
                  <a:tcPr marT="27432" marB="27432">
                    <a:solidFill>
                      <a:srgbClr val="F3F4F6"/>
                    </a:solidFill>
                  </a:tcPr>
                </a:tc>
              </a:tr>
              <a:tr h="762000">
                <a:tc>
                  <a:txBody>
                    <a:bodyPr/>
                    <a:lstStyle/>
                    <a:p>
                      <a:r>
                        <a:rPr sz="1250" b="1">
                          <a:solidFill>
                            <a:srgbClr val="1F2A44"/>
                          </a:solidFill>
                          <a:latin typeface="Calibri"/>
                        </a:rPr>
                        <a:t>N. pudendus oluşumu / gövdeleri</a:t>
                      </a:r>
                    </a:p>
                  </a:txBody>
                  <a:tcPr marT="27432" marB="27432">
                    <a:solidFill>
                      <a:srgbClr val="FFFFFF"/>
                    </a:solidFill>
                  </a:tcPr>
                </a:tc>
                <a:tc>
                  <a:txBody>
                    <a:bodyPr/>
                    <a:lstStyle/>
                    <a:p>
                      <a:r>
                        <a:rPr sz="1250">
                          <a:solidFill>
                            <a:srgbClr val="1F2A44"/>
                          </a:solidFill>
                          <a:latin typeface="Calibri"/>
                        </a:rPr>
                        <a:t>Suganya ve ark. 2025</a:t>
                      </a:r>
                    </a:p>
                  </a:txBody>
                  <a:tcPr marT="27432" marB="27432">
                    <a:solidFill>
                      <a:srgbClr val="FFFFFF"/>
                    </a:solidFill>
                  </a:tcPr>
                </a:tc>
                <a:tc>
                  <a:txBody>
                    <a:bodyPr/>
                    <a:lstStyle/>
                    <a:p>
                      <a:r>
                        <a:rPr sz="1250">
                          <a:solidFill>
                            <a:srgbClr val="1F2A44"/>
                          </a:solidFill>
                          <a:latin typeface="Calibri"/>
                        </a:rPr>
                        <a:t>10 kadavra</a:t>
                      </a:r>
                    </a:p>
                  </a:txBody>
                  <a:tcPr marT="27432" marB="27432">
                    <a:solidFill>
                      <a:srgbClr val="FFFFFF"/>
                    </a:solidFill>
                  </a:tcPr>
                </a:tc>
                <a:tc>
                  <a:txBody>
                    <a:bodyPr/>
                    <a:lstStyle/>
                    <a:p>
                      <a:r>
                        <a:rPr sz="1250">
                          <a:solidFill>
                            <a:srgbClr val="1F2A44"/>
                          </a:solidFill>
                          <a:latin typeface="Calibri"/>
                        </a:rPr>
                        <a:t>Tek gövde %60, iki gövde %20, üç ve dört gövde birer olgu; n. ischiadicus bağlantısı 9 kadavrada</a:t>
                      </a:r>
                    </a:p>
                  </a:txBody>
                  <a:tcPr marT="27432" marB="27432">
                    <a:solidFill>
                      <a:srgbClr val="FFFFFF"/>
                    </a:solidFill>
                  </a:tcPr>
                </a:tc>
                <a:tc>
                  <a:txBody>
                    <a:bodyPr/>
                    <a:lstStyle/>
                    <a:p>
                      <a:r>
                        <a:rPr sz="1250">
                          <a:solidFill>
                            <a:srgbClr val="1F2A44"/>
                          </a:solidFill>
                          <a:latin typeface="Calibri"/>
                        </a:rPr>
                        <a:t>Blokta istenmeyen n. ischiadicus blokajı</a:t>
                      </a:r>
                    </a:p>
                  </a:txBody>
                  <a:tcPr marT="27432" marB="27432">
                    <a:solidFill>
                      <a:srgbClr val="FFFFFF"/>
                    </a:solidFill>
                  </a:tcPr>
                </a:tc>
              </a:tr>
              <a:tr h="762000">
                <a:tc>
                  <a:txBody>
                    <a:bodyPr/>
                    <a:lstStyle/>
                    <a:p>
                      <a:r>
                        <a:rPr sz="1250" b="1">
                          <a:solidFill>
                            <a:srgbClr val="1F2A44"/>
                          </a:solidFill>
                          <a:latin typeface="Calibri"/>
                        </a:rPr>
                        <a:t>N. rectalis inferior'un S3'ten çıkışı</a:t>
                      </a:r>
                    </a:p>
                  </a:txBody>
                  <a:tcPr marT="27432" marB="27432">
                    <a:solidFill>
                      <a:srgbClr val="F3F4F6"/>
                    </a:solidFill>
                  </a:tcPr>
                </a:tc>
                <a:tc>
                  <a:txBody>
                    <a:bodyPr/>
                    <a:lstStyle/>
                    <a:p>
                      <a:r>
                        <a:rPr sz="1250">
                          <a:solidFill>
                            <a:srgbClr val="1F2A44"/>
                          </a:solidFill>
                          <a:latin typeface="Calibri"/>
                        </a:rPr>
                        <a:t>Dupont ve ark. 2019</a:t>
                      </a:r>
                    </a:p>
                  </a:txBody>
                  <a:tcPr marT="27432" marB="27432">
                    <a:solidFill>
                      <a:srgbClr val="F3F4F6"/>
                    </a:solidFill>
                  </a:tcPr>
                </a:tc>
                <a:tc>
                  <a:txBody>
                    <a:bodyPr/>
                    <a:lstStyle/>
                    <a:p>
                      <a:r>
                        <a:rPr sz="1250">
                          <a:solidFill>
                            <a:srgbClr val="1F2A44"/>
                          </a:solidFill>
                          <a:latin typeface="Calibri"/>
                        </a:rPr>
                        <a:t>Olgu</a:t>
                      </a:r>
                    </a:p>
                  </a:txBody>
                  <a:tcPr marT="27432" marB="27432">
                    <a:solidFill>
                      <a:srgbClr val="F3F4F6"/>
                    </a:solidFill>
                  </a:tcPr>
                </a:tc>
                <a:tc>
                  <a:txBody>
                    <a:bodyPr/>
                    <a:lstStyle/>
                    <a:p>
                      <a:r>
                        <a:rPr sz="1250">
                          <a:solidFill>
                            <a:srgbClr val="1F2A44"/>
                          </a:solidFill>
                          <a:latin typeface="Calibri"/>
                        </a:rPr>
                        <a:t>N. rectalis inferior doğrudan S3 ramus anterior'dan (nn. splanchnici pelvici sonrası)</a:t>
                      </a:r>
                    </a:p>
                  </a:txBody>
                  <a:tcPr marT="27432" marB="27432">
                    <a:solidFill>
                      <a:srgbClr val="F3F4F6"/>
                    </a:solidFill>
                  </a:tcPr>
                </a:tc>
                <a:tc>
                  <a:txBody>
                    <a:bodyPr/>
                    <a:lstStyle/>
                    <a:p>
                      <a:r>
                        <a:rPr sz="1250">
                          <a:solidFill>
                            <a:srgbClr val="1F2A44"/>
                          </a:solidFill>
                          <a:latin typeface="Calibri"/>
                        </a:rPr>
                        <a:t>Fekal inkontinans, pudendal blok</a:t>
                      </a:r>
                    </a:p>
                  </a:txBody>
                  <a:tcPr marT="27432" marB="27432">
                    <a:solidFill>
                      <a:srgbClr val="F3F4F6"/>
                    </a:solidFill>
                  </a:tcPr>
                </a:tc>
              </a:tr>
              <a:tr h="762000">
                <a:tc>
                  <a:txBody>
                    <a:bodyPr/>
                    <a:lstStyle/>
                    <a:p>
                      <a:r>
                        <a:rPr sz="1250" b="1">
                          <a:solidFill>
                            <a:srgbClr val="1F2A44"/>
                          </a:solidFill>
                          <a:latin typeface="Calibri"/>
                        </a:rPr>
                        <a:t>A. pudenda interna + a. glutea inferior ortak gövde</a:t>
                      </a:r>
                    </a:p>
                  </a:txBody>
                  <a:tcPr marT="27432" marB="27432">
                    <a:solidFill>
                      <a:srgbClr val="FFFFFF"/>
                    </a:solidFill>
                  </a:tcPr>
                </a:tc>
                <a:tc>
                  <a:txBody>
                    <a:bodyPr/>
                    <a:lstStyle/>
                    <a:p>
                      <a:r>
                        <a:rPr sz="1250">
                          <a:solidFill>
                            <a:srgbClr val="1F2A44"/>
                          </a:solidFill>
                          <a:latin typeface="Calibri"/>
                        </a:rPr>
                        <a:t>Nayak ve ark. 2016</a:t>
                      </a:r>
                    </a:p>
                  </a:txBody>
                  <a:tcPr marT="27432" marB="27432">
                    <a:solidFill>
                      <a:srgbClr val="FFFFFF"/>
                    </a:solidFill>
                  </a:tcPr>
                </a:tc>
                <a:tc>
                  <a:txBody>
                    <a:bodyPr/>
                    <a:lstStyle/>
                    <a:p>
                      <a:r>
                        <a:rPr sz="1250">
                          <a:solidFill>
                            <a:srgbClr val="1F2A44"/>
                          </a:solidFill>
                          <a:latin typeface="Calibri"/>
                        </a:rPr>
                        <a:t>Olgu (♂)</a:t>
                      </a:r>
                    </a:p>
                  </a:txBody>
                  <a:tcPr marT="27432" marB="27432">
                    <a:solidFill>
                      <a:srgbClr val="FFFFFF"/>
                    </a:solidFill>
                  </a:tcPr>
                </a:tc>
                <a:tc>
                  <a:txBody>
                    <a:bodyPr/>
                    <a:lstStyle/>
                    <a:p>
                      <a:r>
                        <a:rPr sz="1250">
                          <a:solidFill>
                            <a:srgbClr val="1F2A44"/>
                          </a:solidFill>
                          <a:latin typeface="Calibri"/>
                        </a:rPr>
                        <a:t>İkinci ortak gövde foramen infrapiriforme'den çıkıp yıldız biçimli dallanma</a:t>
                      </a:r>
                    </a:p>
                  </a:txBody>
                  <a:tcPr marT="27432" marB="27432">
                    <a:solidFill>
                      <a:srgbClr val="FFFFFF"/>
                    </a:solidFill>
                  </a:tcPr>
                </a:tc>
                <a:tc>
                  <a:txBody>
                    <a:bodyPr/>
                    <a:lstStyle/>
                    <a:p>
                      <a:r>
                        <a:rPr sz="1250">
                          <a:solidFill>
                            <a:srgbClr val="1F2A44"/>
                          </a:solidFill>
                          <a:latin typeface="Calibri"/>
                        </a:rPr>
                        <a:t>Transgluteal yaklaşım, embolizasyon</a:t>
                      </a:r>
                    </a:p>
                  </a:txBody>
                  <a:tcPr marT="27432" marB="27432">
                    <a:solidFill>
                      <a:srgbClr val="FFFFFF"/>
                    </a:solidFill>
                  </a:tcPr>
                </a:tc>
              </a:tr>
              <a:tr h="762000">
                <a:tc>
                  <a:txBody>
                    <a:bodyPr/>
                    <a:lstStyle/>
                    <a:p>
                      <a:r>
                        <a:rPr sz="1250" b="1">
                          <a:solidFill>
                            <a:srgbClr val="1F2A44"/>
                          </a:solidFill>
                          <a:latin typeface="Calibri"/>
                        </a:rPr>
                        <a:t>A. penis'in pelvis içi kökenli seyri (aksesuar pudendal tip)</a:t>
                      </a:r>
                    </a:p>
                  </a:txBody>
                  <a:tcPr marT="27432" marB="27432">
                    <a:solidFill>
                      <a:srgbClr val="F3F4F6"/>
                    </a:solidFill>
                  </a:tcPr>
                </a:tc>
                <a:tc>
                  <a:txBody>
                    <a:bodyPr/>
                    <a:lstStyle/>
                    <a:p>
                      <a:r>
                        <a:rPr sz="1250">
                          <a:solidFill>
                            <a:srgbClr val="1F2A44"/>
                          </a:solidFill>
                          <a:latin typeface="Calibri"/>
                        </a:rPr>
                        <a:t>Nayak ve ark. 2014</a:t>
                      </a:r>
                    </a:p>
                  </a:txBody>
                  <a:tcPr marT="27432" marB="27432">
                    <a:solidFill>
                      <a:srgbClr val="F3F4F6"/>
                    </a:solidFill>
                  </a:tcPr>
                </a:tc>
                <a:tc>
                  <a:txBody>
                    <a:bodyPr/>
                    <a:lstStyle/>
                    <a:p>
                      <a:r>
                        <a:rPr sz="1250">
                          <a:solidFill>
                            <a:srgbClr val="1F2A44"/>
                          </a:solidFill>
                          <a:latin typeface="Calibri"/>
                        </a:rPr>
                        <a:t>Olgu (♂)</a:t>
                      </a:r>
                    </a:p>
                  </a:txBody>
                  <a:tcPr marT="27432" marB="27432">
                    <a:solidFill>
                      <a:srgbClr val="F3F4F6"/>
                    </a:solidFill>
                  </a:tcPr>
                </a:tc>
                <a:tc>
                  <a:txBody>
                    <a:bodyPr/>
                    <a:lstStyle/>
                    <a:p>
                      <a:r>
                        <a:rPr sz="1250">
                          <a:solidFill>
                            <a:srgbClr val="1F2A44"/>
                          </a:solidFill>
                          <a:latin typeface="Calibri"/>
                        </a:rPr>
                        <a:t>A. penis a. iliaca interna'dan, lig. puboprostaticum altından geçip a. dorsalis/profunda penis'e ayrılır; a. pudenda interna hipoplazik</a:t>
                      </a:r>
                    </a:p>
                  </a:txBody>
                  <a:tcPr marT="27432" marB="27432">
                    <a:solidFill>
                      <a:srgbClr val="F3F4F6"/>
                    </a:solidFill>
                  </a:tcPr>
                </a:tc>
                <a:tc>
                  <a:txBody>
                    <a:bodyPr/>
                    <a:lstStyle/>
                    <a:p>
                      <a:r>
                        <a:rPr sz="1250">
                          <a:solidFill>
                            <a:srgbClr val="1F2A44"/>
                          </a:solidFill>
                          <a:latin typeface="Calibri"/>
                        </a:rPr>
                        <a:t>Radikal prostatektomide erektil disfonksiyon riski</a:t>
                      </a:r>
                    </a:p>
                  </a:txBody>
                  <a:tcPr marT="27432" marB="27432">
                    <a:solidFill>
                      <a:srgbClr val="F3F4F6"/>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Tam künyeler kaynakçada; çalışma görselleri sonraki slaytlarda.</a:t>
            </a:r>
          </a:p>
        </p:txBody>
      </p:sp>
      <p:sp>
        <p:nvSpPr>
          <p:cNvPr id="10" name="TextBox 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Kas ve corpus perineale morfolojisi – literatür taraması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Klasik ders kitabı modeline meydan okuyan bulgular</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graphicFrame>
        <p:nvGraphicFramePr>
          <p:cNvPr id="7" name="Table 6"/>
          <p:cNvGraphicFramePr>
            <a:graphicFrameLocks noGrp="1"/>
          </p:cNvGraphicFramePr>
          <p:nvPr/>
        </p:nvGraphicFramePr>
        <p:xfrm>
          <a:off x="274320" y="1143000"/>
          <a:ext cx="11640312" cy="3931920"/>
        </p:xfrm>
        <a:graphic>
          <a:graphicData uri="http://schemas.openxmlformats.org/drawingml/2006/table">
            <a:tbl>
              <a:tblPr firstRow="1" bandRow="1">
                <a:tableStyleId>{5C22544A-7EE6-4342-B048-85BDC9FD1C3A}</a:tableStyleId>
              </a:tblPr>
              <a:tblGrid>
                <a:gridCol w="2108088"/>
                <a:gridCol w="1833120"/>
                <a:gridCol w="1833120"/>
                <a:gridCol w="3299616"/>
                <a:gridCol w="2566368"/>
              </a:tblGrid>
              <a:tr h="786384">
                <a:tc>
                  <a:txBody>
                    <a:bodyPr/>
                    <a:lstStyle/>
                    <a:p>
                      <a:r>
                        <a:rPr sz="1500" b="1">
                          <a:solidFill>
                            <a:srgbClr val="FFFFFF"/>
                          </a:solidFill>
                          <a:latin typeface="Calibri"/>
                        </a:rPr>
                        <a:t>Konu</a:t>
                      </a:r>
                    </a:p>
                  </a:txBody>
                  <a:tcPr>
                    <a:solidFill>
                      <a:srgbClr val="1F2A44"/>
                    </a:solidFill>
                  </a:tcPr>
                </a:tc>
                <a:tc>
                  <a:txBody>
                    <a:bodyPr/>
                    <a:lstStyle/>
                    <a:p>
                      <a:r>
                        <a:rPr sz="1500" b="1">
                          <a:solidFill>
                            <a:srgbClr val="FFFFFF"/>
                          </a:solidFill>
                          <a:latin typeface="Calibri"/>
                        </a:rPr>
                        <a:t>Çalışma</a:t>
                      </a:r>
                    </a:p>
                  </a:txBody>
                  <a:tcPr>
                    <a:solidFill>
                      <a:srgbClr val="1F2A44"/>
                    </a:solidFill>
                  </a:tcPr>
                </a:tc>
                <a:tc>
                  <a:txBody>
                    <a:bodyPr/>
                    <a:lstStyle/>
                    <a:p>
                      <a:r>
                        <a:rPr sz="1500" b="1">
                          <a:solidFill>
                            <a:srgbClr val="FFFFFF"/>
                          </a:solidFill>
                          <a:latin typeface="Calibri"/>
                        </a:rPr>
                        <a:t>Örneklem</a:t>
                      </a:r>
                    </a:p>
                  </a:txBody>
                  <a:tcPr>
                    <a:solidFill>
                      <a:srgbClr val="1F2A44"/>
                    </a:solidFill>
                  </a:tcPr>
                </a:tc>
                <a:tc>
                  <a:txBody>
                    <a:bodyPr/>
                    <a:lstStyle/>
                    <a:p>
                      <a:r>
                        <a:rPr sz="1500" b="1">
                          <a:solidFill>
                            <a:srgbClr val="FFFFFF"/>
                          </a:solidFill>
                          <a:latin typeface="Calibri"/>
                        </a:rPr>
                        <a:t>Bulgu</a:t>
                      </a:r>
                    </a:p>
                  </a:txBody>
                  <a:tcPr>
                    <a:solidFill>
                      <a:srgbClr val="1F2A44"/>
                    </a:solidFill>
                  </a:tcPr>
                </a:tc>
                <a:tc>
                  <a:txBody>
                    <a:bodyPr/>
                    <a:lstStyle/>
                    <a:p>
                      <a:r>
                        <a:rPr sz="1500" b="1">
                          <a:solidFill>
                            <a:srgbClr val="FFFFFF"/>
                          </a:solidFill>
                          <a:latin typeface="Calibri"/>
                        </a:rPr>
                        <a:t>Önem</a:t>
                      </a:r>
                    </a:p>
                  </a:txBody>
                  <a:tcPr>
                    <a:solidFill>
                      <a:srgbClr val="1F2A44"/>
                    </a:solidFill>
                  </a:tcPr>
                </a:tc>
              </a:tr>
              <a:tr h="786384">
                <a:tc>
                  <a:txBody>
                    <a:bodyPr/>
                    <a:lstStyle/>
                    <a:p>
                      <a:r>
                        <a:rPr sz="1250" b="1">
                          <a:solidFill>
                            <a:srgbClr val="1F2A44"/>
                          </a:solidFill>
                          <a:latin typeface="Calibri"/>
                        </a:rPr>
                        <a:t>M. levator ani'nin bölümleri</a:t>
                      </a:r>
                    </a:p>
                  </a:txBody>
                  <a:tcPr marT="27432" marB="27432">
                    <a:solidFill>
                      <a:srgbClr val="F3F4F6"/>
                    </a:solidFill>
                  </a:tcPr>
                </a:tc>
                <a:tc>
                  <a:txBody>
                    <a:bodyPr/>
                    <a:lstStyle/>
                    <a:p>
                      <a:r>
                        <a:rPr sz="1250">
                          <a:solidFill>
                            <a:srgbClr val="1F2A44"/>
                          </a:solidFill>
                          <a:latin typeface="Calibri"/>
                        </a:rPr>
                        <a:t>Wu ve ark. 2015</a:t>
                      </a:r>
                    </a:p>
                  </a:txBody>
                  <a:tcPr marT="27432" marB="27432">
                    <a:solidFill>
                      <a:srgbClr val="F3F4F6"/>
                    </a:solidFill>
                  </a:tcPr>
                </a:tc>
                <a:tc>
                  <a:txBody>
                    <a:bodyPr/>
                    <a:lstStyle/>
                    <a:p>
                      <a:r>
                        <a:rPr sz="1250">
                          <a:solidFill>
                            <a:srgbClr val="1F2A44"/>
                          </a:solidFill>
                          <a:latin typeface="Calibri"/>
                        </a:rPr>
                        <a:t>6 genç erişkin, seri kesit 3B</a:t>
                      </a:r>
                    </a:p>
                  </a:txBody>
                  <a:tcPr marT="27432" marB="27432">
                    <a:solidFill>
                      <a:srgbClr val="F3F4F6"/>
                    </a:solidFill>
                  </a:tcPr>
                </a:tc>
                <a:tc>
                  <a:txBody>
                    <a:bodyPr/>
                    <a:lstStyle/>
                    <a:p>
                      <a:r>
                        <a:rPr sz="1250">
                          <a:solidFill>
                            <a:srgbClr val="1F2A44"/>
                          </a:solidFill>
                          <a:latin typeface="Calibri"/>
                        </a:rPr>
                        <a:t>Puborectal ve pubococcygeal kısımlar arasında perimisyal septum yok; önde ortak tutunma, arkada 'puborectal' ve 'pubovisceral' ayrımı</a:t>
                      </a:r>
                    </a:p>
                  </a:txBody>
                  <a:tcPr marT="27432" marB="27432">
                    <a:solidFill>
                      <a:srgbClr val="F3F4F6"/>
                    </a:solidFill>
                  </a:tcPr>
                </a:tc>
                <a:tc>
                  <a:txBody>
                    <a:bodyPr/>
                    <a:lstStyle/>
                    <a:p>
                      <a:r>
                        <a:rPr sz="1250">
                          <a:solidFill>
                            <a:srgbClr val="1F2A44"/>
                          </a:solidFill>
                          <a:latin typeface="Calibri"/>
                        </a:rPr>
                        <a:t>Levator avulsiyonu, hiatus ölçümü</a:t>
                      </a:r>
                    </a:p>
                  </a:txBody>
                  <a:tcPr marT="27432" marB="27432">
                    <a:solidFill>
                      <a:srgbClr val="F3F4F6"/>
                    </a:solidFill>
                  </a:tcPr>
                </a:tc>
              </a:tr>
              <a:tr h="786384">
                <a:tc>
                  <a:txBody>
                    <a:bodyPr/>
                    <a:lstStyle/>
                    <a:p>
                      <a:r>
                        <a:rPr sz="1250" b="1">
                          <a:solidFill>
                            <a:srgbClr val="1F2A44"/>
                          </a:solidFill>
                          <a:latin typeface="Calibri"/>
                        </a:rPr>
                        <a:t>Levator ani'nin ön askıları</a:t>
                      </a:r>
                    </a:p>
                  </a:txBody>
                  <a:tcPr marT="27432" marB="27432">
                    <a:solidFill>
                      <a:srgbClr val="FFFFFF"/>
                    </a:solidFill>
                  </a:tcPr>
                </a:tc>
                <a:tc>
                  <a:txBody>
                    <a:bodyPr/>
                    <a:lstStyle/>
                    <a:p>
                      <a:r>
                        <a:rPr sz="1250">
                          <a:solidFill>
                            <a:srgbClr val="1F2A44"/>
                          </a:solidFill>
                          <a:latin typeface="Calibri"/>
                        </a:rPr>
                        <a:t>Baramee ve ark. 2019</a:t>
                      </a:r>
                    </a:p>
                  </a:txBody>
                  <a:tcPr marT="27432" marB="27432">
                    <a:solidFill>
                      <a:srgbClr val="FFFFFF"/>
                    </a:solidFill>
                  </a:tcPr>
                </a:tc>
                <a:tc>
                  <a:txBody>
                    <a:bodyPr/>
                    <a:lstStyle/>
                    <a:p>
                      <a:r>
                        <a:rPr sz="1250">
                          <a:solidFill>
                            <a:srgbClr val="1F2A44"/>
                          </a:solidFill>
                          <a:latin typeface="Calibri"/>
                        </a:rPr>
                        <a:t>16 ♀ kadavra</a:t>
                      </a:r>
                    </a:p>
                  </a:txBody>
                  <a:tcPr marT="27432" marB="27432">
                    <a:solidFill>
                      <a:srgbClr val="FFFFFF"/>
                    </a:solidFill>
                  </a:tcPr>
                </a:tc>
                <a:tc>
                  <a:txBody>
                    <a:bodyPr/>
                    <a:lstStyle/>
                    <a:p>
                      <a:r>
                        <a:rPr sz="1250">
                          <a:solidFill>
                            <a:srgbClr val="1F2A44"/>
                          </a:solidFill>
                          <a:latin typeface="Calibri"/>
                        </a:rPr>
                        <a:t>Levator ön kısmı ön ve arka demetlere ayrılır; STP orta askıyı yapar → 'üç kas askısı'</a:t>
                      </a:r>
                    </a:p>
                  </a:txBody>
                  <a:tcPr marT="27432" marB="27432">
                    <a:solidFill>
                      <a:srgbClr val="FFFFFF"/>
                    </a:solidFill>
                  </a:tcPr>
                </a:tc>
                <a:tc>
                  <a:txBody>
                    <a:bodyPr/>
                    <a:lstStyle/>
                    <a:p>
                      <a:r>
                        <a:rPr sz="1250">
                          <a:solidFill>
                            <a:srgbClr val="1F2A44"/>
                          </a:solidFill>
                          <a:latin typeface="Calibri"/>
                        </a:rPr>
                        <a:t>Obstetrik perine onarımı</a:t>
                      </a:r>
                    </a:p>
                  </a:txBody>
                  <a:tcPr marT="27432" marB="27432">
                    <a:solidFill>
                      <a:srgbClr val="FFFFFF"/>
                    </a:solidFill>
                  </a:tcPr>
                </a:tc>
              </a:tr>
              <a:tr h="786384">
                <a:tc>
                  <a:txBody>
                    <a:bodyPr/>
                    <a:lstStyle/>
                    <a:p>
                      <a:r>
                        <a:rPr sz="1250" b="1">
                          <a:solidFill>
                            <a:srgbClr val="1F2A44"/>
                          </a:solidFill>
                          <a:latin typeface="Calibri"/>
                        </a:rPr>
                        <a:t>M. transversus perinei profundus</a:t>
                      </a:r>
                    </a:p>
                  </a:txBody>
                  <a:tcPr marT="27432" marB="27432">
                    <a:solidFill>
                      <a:srgbClr val="F3F4F6"/>
                    </a:solidFill>
                  </a:tcPr>
                </a:tc>
                <a:tc>
                  <a:txBody>
                    <a:bodyPr/>
                    <a:lstStyle/>
                    <a:p>
                      <a:r>
                        <a:rPr sz="1250">
                          <a:solidFill>
                            <a:srgbClr val="1F2A44"/>
                          </a:solidFill>
                          <a:latin typeface="Calibri"/>
                        </a:rPr>
                        <a:t>Muro ve ark. 2025 / Kampelmann ve ark. 2025</a:t>
                      </a:r>
                    </a:p>
                  </a:txBody>
                  <a:tcPr marT="27432" marB="27432">
                    <a:solidFill>
                      <a:srgbClr val="F3F4F6"/>
                    </a:solidFill>
                  </a:tcPr>
                </a:tc>
                <a:tc>
                  <a:txBody>
                    <a:bodyPr/>
                    <a:lstStyle/>
                    <a:p>
                      <a:r>
                        <a:rPr sz="1250">
                          <a:solidFill>
                            <a:srgbClr val="1F2A44"/>
                          </a:solidFill>
                          <a:latin typeface="Calibri"/>
                        </a:rPr>
                        <a:t>9 ve 10 kadavra</a:t>
                      </a:r>
                    </a:p>
                  </a:txBody>
                  <a:tcPr marT="27432" marB="27432">
                    <a:solidFill>
                      <a:srgbClr val="F3F4F6"/>
                    </a:solidFill>
                  </a:tcPr>
                </a:tc>
                <a:tc>
                  <a:txBody>
                    <a:bodyPr/>
                    <a:lstStyle/>
                    <a:p>
                      <a:r>
                        <a:rPr sz="1250">
                          <a:solidFill>
                            <a:srgbClr val="1F2A44"/>
                          </a:solidFill>
                          <a:latin typeface="Calibri"/>
                        </a:rPr>
                        <a:t>Derin aralıkta rektum (♀ vagina) ile devamlı düz kas plağı / makroskopik çizgili DTP yok, ≈%80 bağ dokusu</a:t>
                      </a:r>
                    </a:p>
                  </a:txBody>
                  <a:tcPr marT="27432" marB="27432">
                    <a:solidFill>
                      <a:srgbClr val="F3F4F6"/>
                    </a:solidFill>
                  </a:tcPr>
                </a:tc>
                <a:tc>
                  <a:txBody>
                    <a:bodyPr/>
                    <a:lstStyle/>
                    <a:p>
                      <a:r>
                        <a:rPr sz="1250">
                          <a:solidFill>
                            <a:srgbClr val="1F2A44"/>
                          </a:solidFill>
                          <a:latin typeface="Calibri"/>
                        </a:rPr>
                        <a:t>'Diaphragma urogenitale' kavramının terki</a:t>
                      </a:r>
                    </a:p>
                  </a:txBody>
                  <a:tcPr marT="27432" marB="27432">
                    <a:solidFill>
                      <a:srgbClr val="F3F4F6"/>
                    </a:solidFill>
                  </a:tcPr>
                </a:tc>
              </a:tr>
              <a:tr h="786384">
                <a:tc>
                  <a:txBody>
                    <a:bodyPr/>
                    <a:lstStyle/>
                    <a:p>
                      <a:r>
                        <a:rPr sz="1250" b="1">
                          <a:solidFill>
                            <a:srgbClr val="1F2A44"/>
                          </a:solidFill>
                          <a:latin typeface="Calibri"/>
                        </a:rPr>
                        <a:t>Corpus perineale boyutu</a:t>
                      </a:r>
                    </a:p>
                  </a:txBody>
                  <a:tcPr marT="27432" marB="27432">
                    <a:solidFill>
                      <a:srgbClr val="FFFFFF"/>
                    </a:solidFill>
                  </a:tcPr>
                </a:tc>
                <a:tc>
                  <a:txBody>
                    <a:bodyPr/>
                    <a:lstStyle/>
                    <a:p>
                      <a:r>
                        <a:rPr sz="1250">
                          <a:solidFill>
                            <a:srgbClr val="1F2A44"/>
                          </a:solidFill>
                          <a:latin typeface="Calibri"/>
                        </a:rPr>
                        <a:t>Asfour ve ark. 2019</a:t>
                      </a:r>
                    </a:p>
                  </a:txBody>
                  <a:tcPr marT="27432" marB="27432">
                    <a:solidFill>
                      <a:srgbClr val="FFFFFF"/>
                    </a:solidFill>
                  </a:tcPr>
                </a:tc>
                <a:tc>
                  <a:txBody>
                    <a:bodyPr/>
                    <a:lstStyle/>
                    <a:p>
                      <a:r>
                        <a:rPr sz="1250">
                          <a:solidFill>
                            <a:srgbClr val="1F2A44"/>
                          </a:solidFill>
                          <a:latin typeface="Calibri"/>
                        </a:rPr>
                        <a:t>101 kadın (US)</a:t>
                      </a:r>
                    </a:p>
                  </a:txBody>
                  <a:tcPr marT="27432" marB="27432">
                    <a:solidFill>
                      <a:srgbClr val="FFFFFF"/>
                    </a:solidFill>
                  </a:tcPr>
                </a:tc>
                <a:tc>
                  <a:txBody>
                    <a:bodyPr/>
                    <a:lstStyle/>
                    <a:p>
                      <a:r>
                        <a:rPr sz="1250">
                          <a:solidFill>
                            <a:srgbClr val="1F2A44"/>
                          </a:solidFill>
                          <a:latin typeface="Calibri"/>
                        </a:rPr>
                        <a:t>Kontrol: yükseklik 22,5 ± 3,3 mm, alan 2,8 ± 0,38 cm²; prolapsusta 16,9 mm ve 2,1 cm²</a:t>
                      </a:r>
                    </a:p>
                  </a:txBody>
                  <a:tcPr marT="27432" marB="27432">
                    <a:solidFill>
                      <a:srgbClr val="FFFFFF"/>
                    </a:solidFill>
                  </a:tcPr>
                </a:tc>
                <a:tc>
                  <a:txBody>
                    <a:bodyPr/>
                    <a:lstStyle/>
                    <a:p>
                      <a:r>
                        <a:rPr sz="1250">
                          <a:solidFill>
                            <a:srgbClr val="1F2A44"/>
                          </a:solidFill>
                          <a:latin typeface="Calibri"/>
                        </a:rPr>
                        <a:t>Alan &lt;2,4 cm² → arka kompartman prolapsusu</a:t>
                      </a:r>
                    </a:p>
                  </a:txBody>
                  <a:tcPr marT="27432" marB="27432">
                    <a:solidFill>
                      <a:srgbClr val="FFFFFF"/>
                    </a:solidFill>
                  </a:tcPr>
                </a:tc>
              </a:tr>
            </a:tbl>
          </a:graphicData>
        </a:graphic>
      </p:graphicFrame>
      <p:cxnSp>
        <p:nvCxnSpPr>
          <p:cNvPr id="8" name="Connector 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Sıklık/ölçüm değerleri makalelerden aynen aktarılmıştır.</a:t>
            </a:r>
          </a:p>
        </p:txBody>
      </p:sp>
      <p:sp>
        <p:nvSpPr>
          <p:cNvPr id="10" name="TextBox 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N. pudendus'un ekstrapelvik varyasyonları (1)</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Tip IIa: ikinci gövde (n. rectalis inferior) lig. sacrospinale'yi deler</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cureus-0014-00000028281-i03_250_120_650_400.jpg"/>
          <p:cNvPicPr>
            <a:picLocks noChangeAspect="1"/>
          </p:cNvPicPr>
          <p:nvPr/>
        </p:nvPicPr>
        <p:blipFill>
          <a:blip r:embed="rId2"/>
          <a:stretch>
            <a:fillRect/>
          </a:stretch>
        </p:blipFill>
        <p:spPr>
          <a:xfrm>
            <a:off x="2148840" y="2295144"/>
            <a:ext cx="3566159" cy="2496311"/>
          </a:xfrm>
          <a:prstGeom prst="rect">
            <a:avLst/>
          </a:prstGeom>
        </p:spPr>
      </p:pic>
      <p:sp>
        <p:nvSpPr>
          <p:cNvPr id="8" name="TextBox 7"/>
          <p:cNvSpPr txBox="1"/>
          <p:nvPr/>
        </p:nvSpPr>
        <p:spPr>
          <a:xfrm>
            <a:off x="228600" y="3298698"/>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N. pudendus - truncus 1 (typus IIa)</a:t>
            </a:r>
          </a:p>
        </p:txBody>
      </p:sp>
      <p:cxnSp>
        <p:nvCxnSpPr>
          <p:cNvPr id="9" name="Connector 8"/>
          <p:cNvCxnSpPr/>
          <p:nvPr/>
        </p:nvCxnSpPr>
        <p:spPr>
          <a:xfrm>
            <a:off x="2057400" y="3454146"/>
            <a:ext cx="176753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779215" y="340842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3682746"/>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Vasa pudenda interna</a:t>
            </a:r>
          </a:p>
        </p:txBody>
      </p:sp>
      <p:cxnSp>
        <p:nvCxnSpPr>
          <p:cNvPr id="12" name="Connector 11"/>
          <p:cNvCxnSpPr/>
          <p:nvPr/>
        </p:nvCxnSpPr>
        <p:spPr>
          <a:xfrm flipV="1">
            <a:off x="2057400" y="3730523"/>
            <a:ext cx="1428750" cy="10767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440430" y="368480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3049066"/>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 pudendus - truncus 2 / n. rectalis inferior (typus IIa)</a:t>
            </a:r>
          </a:p>
        </p:txBody>
      </p:sp>
      <p:cxnSp>
        <p:nvCxnSpPr>
          <p:cNvPr id="15" name="Connector 14"/>
          <p:cNvCxnSpPr/>
          <p:nvPr/>
        </p:nvCxnSpPr>
        <p:spPr>
          <a:xfrm flipH="1">
            <a:off x="4003243" y="3204514"/>
            <a:ext cx="180319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957523" y="315879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3494836"/>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Lig. sacrospinale</a:t>
            </a:r>
          </a:p>
        </p:txBody>
      </p:sp>
      <p:cxnSp>
        <p:nvCxnSpPr>
          <p:cNvPr id="18" name="Connector 17"/>
          <p:cNvCxnSpPr/>
          <p:nvPr/>
        </p:nvCxnSpPr>
        <p:spPr>
          <a:xfrm flipH="1">
            <a:off x="4422267" y="3650284"/>
            <a:ext cx="138417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376547" y="360456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4809743"/>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Figure 3 – Ranjan R. ve ark., 2022 (PMC9492552, CC BY)</a:t>
            </a:r>
          </a:p>
        </p:txBody>
      </p:sp>
      <p:sp>
        <p:nvSpPr>
          <p:cNvPr id="21" name="Rectangle 20"/>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23" name="TextBox 22"/>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26 formalinli kadavra (16 ♂, 10 ♀), 52 hemipelvis; gluteal yaklaşım.</a:t>
            </a:r>
          </a:p>
        </p:txBody>
      </p:sp>
      <p:sp>
        <p:nvSpPr>
          <p:cNvPr id="24" name="TextBox 23"/>
          <p:cNvSpPr txBox="1"/>
          <p:nvPr/>
        </p:nvSpPr>
        <p:spPr>
          <a:xfrm>
            <a:off x="7863840" y="2029968"/>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25" name="TextBox 24"/>
          <p:cNvSpPr txBox="1"/>
          <p:nvPr/>
        </p:nvSpPr>
        <p:spPr>
          <a:xfrm>
            <a:off x="7863840" y="2359152"/>
            <a:ext cx="4023360" cy="1371600"/>
          </a:xfrm>
          <a:prstGeom prst="rect">
            <a:avLst/>
          </a:prstGeom>
          <a:noFill/>
        </p:spPr>
        <p:txBody>
          <a:bodyPr wrap="square">
            <a:spAutoFit/>
          </a:bodyPr>
          <a:lstStyle/>
          <a:p>
            <a:pPr>
              <a:spcAft>
                <a:spcPts val="200"/>
              </a:spcAft>
            </a:pPr>
            <a:r>
              <a:rPr sz="1350">
                <a:solidFill>
                  <a:srgbClr val="1F2A44"/>
                </a:solidFill>
                <a:latin typeface="Calibri"/>
              </a:rPr>
              <a:t>• Tip I (tek gövde) %51,9 · IIa %13,5 · IIb %23,1 · III (üç gövde) %11,5</a:t>
            </a:r>
          </a:p>
          <a:p>
            <a:pPr>
              <a:spcAft>
                <a:spcPts val="200"/>
              </a:spcAft>
            </a:pPr>
            <a:r>
              <a:rPr sz="1350">
                <a:solidFill>
                  <a:srgbClr val="1F2A44"/>
                </a:solidFill>
                <a:latin typeface="Calibri"/>
              </a:rPr>
              <a:t>• N. ischiadicus ile bağlantı %26,9; Mahakkanukrauh 2005: tek gövde %56,2</a:t>
            </a:r>
          </a:p>
        </p:txBody>
      </p:sp>
      <p:sp>
        <p:nvSpPr>
          <p:cNvPr id="26" name="TextBox 25"/>
          <p:cNvSpPr txBox="1"/>
          <p:nvPr/>
        </p:nvSpPr>
        <p:spPr>
          <a:xfrm>
            <a:off x="7863840" y="3456432"/>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27" name="TextBox 26"/>
          <p:cNvSpPr txBox="1"/>
          <p:nvPr/>
        </p:nvSpPr>
        <p:spPr>
          <a:xfrm>
            <a:off x="7863840" y="3785616"/>
            <a:ext cx="4023360" cy="1371600"/>
          </a:xfrm>
          <a:prstGeom prst="rect">
            <a:avLst/>
          </a:prstGeom>
          <a:noFill/>
        </p:spPr>
        <p:txBody>
          <a:bodyPr wrap="square">
            <a:spAutoFit/>
          </a:bodyPr>
          <a:lstStyle/>
          <a:p>
            <a:pPr>
              <a:spcAft>
                <a:spcPts val="200"/>
              </a:spcAft>
            </a:pPr>
            <a:r>
              <a:rPr sz="1350">
                <a:solidFill>
                  <a:srgbClr val="1F2A44"/>
                </a:solidFill>
                <a:latin typeface="Calibri"/>
              </a:rPr>
              <a:t>• Çok gövdeli sinirde transgluteal/transvaginal blok eksik kalabilir; sakrospinöz kolpopeksi sütürü n. rectalis inferior'u yakalayabilir.</a:t>
            </a:r>
          </a:p>
        </p:txBody>
      </p:sp>
      <p:cxnSp>
        <p:nvCxnSpPr>
          <p:cNvPr id="28" name="Connector 2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Ranjan R., Chanda C., Kushwaha R. et al. Anatomical Study of the Variants of the Extrapelvic Part of the Pudendal Nerve. Cureus. 2022 Aug 22;14(8):e28281. doi: 10.7759/cureus.28281 PMCID: PMC9492552. Lisans: CC BY.</a:t>
            </a:r>
          </a:p>
        </p:txBody>
      </p:sp>
      <p:sp>
        <p:nvSpPr>
          <p:cNvPr id="30" name="TextBox 2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N. pudendus'un ekstrapelvik varyasyonları (2)</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Sol: tip IIb (iki gövde) · Sağ: tip III (üç gövde) – Ranjan ve ark. 2022</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cureus-0014-00000028281-i04.jpg"/>
          <p:cNvPicPr>
            <a:picLocks noChangeAspect="1"/>
          </p:cNvPicPr>
          <p:nvPr/>
        </p:nvPicPr>
        <p:blipFill>
          <a:blip r:embed="rId2"/>
          <a:stretch>
            <a:fillRect/>
          </a:stretch>
        </p:blipFill>
        <p:spPr>
          <a:xfrm>
            <a:off x="2377440" y="1996104"/>
            <a:ext cx="3611879" cy="1969678"/>
          </a:xfrm>
          <a:prstGeom prst="rect">
            <a:avLst/>
          </a:prstGeom>
        </p:spPr>
      </p:pic>
      <p:sp>
        <p:nvSpPr>
          <p:cNvPr id="8" name="TextBox 7"/>
          <p:cNvSpPr txBox="1"/>
          <p:nvPr/>
        </p:nvSpPr>
        <p:spPr>
          <a:xfrm>
            <a:off x="228600" y="3017520"/>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N. pudendus - truncus 1 (typus IIb)</a:t>
            </a:r>
          </a:p>
        </p:txBody>
      </p:sp>
      <p:cxnSp>
        <p:nvCxnSpPr>
          <p:cNvPr id="9" name="Connector 8"/>
          <p:cNvCxnSpPr/>
          <p:nvPr/>
        </p:nvCxnSpPr>
        <p:spPr>
          <a:xfrm>
            <a:off x="2286000" y="3172968"/>
            <a:ext cx="2494544" cy="11859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734824" y="324584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3401568"/>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Vasa pudenda interna</a:t>
            </a:r>
          </a:p>
        </p:txBody>
      </p:sp>
      <p:cxnSp>
        <p:nvCxnSpPr>
          <p:cNvPr id="12" name="Connector 11"/>
          <p:cNvCxnSpPr/>
          <p:nvPr/>
        </p:nvCxnSpPr>
        <p:spPr>
          <a:xfrm flipV="1">
            <a:off x="2286000" y="3387882"/>
            <a:ext cx="2330805" cy="16913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571085" y="33421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3785616"/>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N. pudendus - truncus 2 (typus IIb)</a:t>
            </a:r>
          </a:p>
        </p:txBody>
      </p:sp>
      <p:cxnSp>
        <p:nvCxnSpPr>
          <p:cNvPr id="15" name="Connector 14"/>
          <p:cNvCxnSpPr/>
          <p:nvPr/>
        </p:nvCxnSpPr>
        <p:spPr>
          <a:xfrm flipV="1">
            <a:off x="2286000" y="3440856"/>
            <a:ext cx="2436754" cy="50020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677034" y="339513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4169664"/>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N. musculi obturatorii interni</a:t>
            </a:r>
          </a:p>
        </p:txBody>
      </p:sp>
      <p:cxnSp>
        <p:nvCxnSpPr>
          <p:cNvPr id="18" name="Connector 17"/>
          <p:cNvCxnSpPr/>
          <p:nvPr/>
        </p:nvCxnSpPr>
        <p:spPr>
          <a:xfrm flipV="1">
            <a:off x="2286000" y="3541989"/>
            <a:ext cx="2398227" cy="783123"/>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638507" y="349626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4553712"/>
            <a:ext cx="2057400" cy="310896"/>
          </a:xfrm>
          <a:prstGeom prst="rect">
            <a:avLst/>
          </a:prstGeom>
          <a:noFill/>
        </p:spPr>
        <p:txBody>
          <a:bodyPr wrap="square" anchor="ctr" lIns="45720" rIns="45720" tIns="18288" bIns="18288">
            <a:spAutoFit/>
          </a:bodyPr>
          <a:lstStyle/>
          <a:p>
            <a:pPr algn="r"/>
            <a:r>
              <a:rPr sz="1150" b="1" i="0">
                <a:solidFill>
                  <a:srgbClr val="1F2A44"/>
                </a:solidFill>
                <a:latin typeface="Calibri"/>
              </a:rPr>
              <a:t>N. ischiadicus</a:t>
            </a:r>
          </a:p>
        </p:txBody>
      </p:sp>
      <p:cxnSp>
        <p:nvCxnSpPr>
          <p:cNvPr id="21" name="Connector 20"/>
          <p:cNvCxnSpPr/>
          <p:nvPr/>
        </p:nvCxnSpPr>
        <p:spPr>
          <a:xfrm flipV="1">
            <a:off x="2286000" y="3777965"/>
            <a:ext cx="2696809" cy="93119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937089" y="373224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77440" y="3984071"/>
            <a:ext cx="3611879"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4 – Ranjan R. ve ark., 2022 (PMC9492552, CC BY)</a:t>
            </a:r>
          </a:p>
        </p:txBody>
      </p:sp>
      <p:pic>
        <p:nvPicPr>
          <p:cNvPr id="24" name="Picture 23" descr="cureus-0014-00000028281-i06.jpg"/>
          <p:cNvPicPr>
            <a:picLocks noChangeAspect="1"/>
          </p:cNvPicPr>
          <p:nvPr/>
        </p:nvPicPr>
        <p:blipFill>
          <a:blip r:embed="rId3"/>
          <a:stretch>
            <a:fillRect/>
          </a:stretch>
        </p:blipFill>
        <p:spPr>
          <a:xfrm>
            <a:off x="6172200" y="1718364"/>
            <a:ext cx="3642055" cy="2525158"/>
          </a:xfrm>
          <a:prstGeom prst="rect">
            <a:avLst/>
          </a:prstGeom>
        </p:spPr>
      </p:pic>
      <p:sp>
        <p:nvSpPr>
          <p:cNvPr id="25" name="TextBox 24"/>
          <p:cNvSpPr txBox="1"/>
          <p:nvPr/>
        </p:nvSpPr>
        <p:spPr>
          <a:xfrm>
            <a:off x="9905695" y="2633472"/>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N. pudendus - truncus 1 (typus III)</a:t>
            </a:r>
          </a:p>
        </p:txBody>
      </p:sp>
      <p:cxnSp>
        <p:nvCxnSpPr>
          <p:cNvPr id="26" name="Connector 25"/>
          <p:cNvCxnSpPr/>
          <p:nvPr/>
        </p:nvCxnSpPr>
        <p:spPr>
          <a:xfrm flipH="1">
            <a:off x="8075780" y="2788920"/>
            <a:ext cx="1829915" cy="15317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8030060" y="289637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05695" y="3017520"/>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N. pudendus - truncus 2 (typus III)</a:t>
            </a:r>
          </a:p>
        </p:txBody>
      </p:sp>
      <p:cxnSp>
        <p:nvCxnSpPr>
          <p:cNvPr id="29" name="Connector 28"/>
          <p:cNvCxnSpPr/>
          <p:nvPr/>
        </p:nvCxnSpPr>
        <p:spPr>
          <a:xfrm flipH="1" flipV="1">
            <a:off x="8187470" y="2980944"/>
            <a:ext cx="1718225" cy="19202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141750" y="29352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05695" y="3401568"/>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N. pudendus - truncus 3 (typus III)</a:t>
            </a:r>
          </a:p>
        </p:txBody>
      </p:sp>
      <p:cxnSp>
        <p:nvCxnSpPr>
          <p:cNvPr id="32" name="Connector 31"/>
          <p:cNvCxnSpPr/>
          <p:nvPr/>
        </p:nvCxnSpPr>
        <p:spPr>
          <a:xfrm flipH="1" flipV="1">
            <a:off x="8328296" y="3014936"/>
            <a:ext cx="1577399" cy="54208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282576" y="296921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05695" y="3785616"/>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Vasa pudenda interna</a:t>
            </a:r>
          </a:p>
        </p:txBody>
      </p:sp>
      <p:cxnSp>
        <p:nvCxnSpPr>
          <p:cNvPr id="35" name="Connector 34"/>
          <p:cNvCxnSpPr/>
          <p:nvPr/>
        </p:nvCxnSpPr>
        <p:spPr>
          <a:xfrm flipH="1" flipV="1">
            <a:off x="8435130" y="3063497"/>
            <a:ext cx="1470565" cy="877567"/>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389410" y="301777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05695" y="4169664"/>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N. musculi obturatorii interni</a:t>
            </a:r>
          </a:p>
        </p:txBody>
      </p:sp>
      <p:cxnSp>
        <p:nvCxnSpPr>
          <p:cNvPr id="38" name="Connector 37"/>
          <p:cNvCxnSpPr/>
          <p:nvPr/>
        </p:nvCxnSpPr>
        <p:spPr>
          <a:xfrm flipH="1" flipV="1">
            <a:off x="8410849" y="3248028"/>
            <a:ext cx="1494846" cy="107708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8365129" y="320230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05695" y="4553712"/>
            <a:ext cx="2057400" cy="310896"/>
          </a:xfrm>
          <a:prstGeom prst="rect">
            <a:avLst/>
          </a:prstGeom>
          <a:noFill/>
        </p:spPr>
        <p:txBody>
          <a:bodyPr wrap="square" anchor="ctr" lIns="45720" rIns="45720" tIns="18288" bIns="18288">
            <a:spAutoFit/>
          </a:bodyPr>
          <a:lstStyle/>
          <a:p>
            <a:pPr algn="l"/>
            <a:r>
              <a:rPr sz="1150" b="1" i="0">
                <a:solidFill>
                  <a:srgbClr val="1F2A44"/>
                </a:solidFill>
                <a:latin typeface="Calibri"/>
              </a:rPr>
              <a:t>N. ischiadicus</a:t>
            </a:r>
          </a:p>
        </p:txBody>
      </p:sp>
      <p:cxnSp>
        <p:nvCxnSpPr>
          <p:cNvPr id="41" name="Connector 40"/>
          <p:cNvCxnSpPr/>
          <p:nvPr/>
        </p:nvCxnSpPr>
        <p:spPr>
          <a:xfrm flipH="1" flipV="1">
            <a:off x="8745919" y="3267452"/>
            <a:ext cx="1159776" cy="144170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8700199" y="322173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72200" y="4261811"/>
            <a:ext cx="3642055" cy="256032"/>
          </a:xfrm>
          <a:prstGeom prst="rect">
            <a:avLst/>
          </a:prstGeom>
          <a:noFill/>
        </p:spPr>
        <p:txBody>
          <a:bodyPr wrap="square" anchor="t" lIns="45720" rIns="45720" tIns="18288" bIns="18288">
            <a:spAutoFit/>
          </a:bodyPr>
          <a:lstStyle/>
          <a:p>
            <a:pPr algn="ctr"/>
            <a:r>
              <a:rPr sz="1050" b="0" i="1">
                <a:solidFill>
                  <a:srgbClr val="555B66"/>
                </a:solidFill>
                <a:latin typeface="Calibri"/>
              </a:rPr>
              <a:t>Figure 6 – Ranjan R. ve ark., 2022 (PMC9492552, CC BY)</a:t>
            </a:r>
          </a:p>
        </p:txBody>
      </p:sp>
      <p:sp>
        <p:nvSpPr>
          <p:cNvPr id="44" name="Rectangle 43"/>
          <p:cNvSpPr/>
          <p:nvPr/>
        </p:nvSpPr>
        <p:spPr>
          <a:xfrm>
            <a:off x="274320" y="5184648"/>
            <a:ext cx="11643055" cy="9144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5212080"/>
            <a:ext cx="11460175" cy="914400"/>
          </a:xfrm>
          <a:prstGeom prst="rect">
            <a:avLst/>
          </a:prstGeom>
          <a:noFill/>
        </p:spPr>
        <p:txBody>
          <a:bodyPr wrap="square">
            <a:spAutoFit/>
          </a:bodyPr>
          <a:lstStyle/>
          <a:p>
            <a:pPr>
              <a:spcAft>
                <a:spcPts val="200"/>
              </a:spcAft>
            </a:pPr>
            <a:r>
              <a:rPr sz="1500">
                <a:solidFill>
                  <a:srgbClr val="1F2A44"/>
                </a:solidFill>
                <a:latin typeface="Calibri"/>
              </a:rPr>
              <a:t>• Gövdeler genellikle lig. sacrospinale düzeyinde vasa pudenda interna'nın medialinde seyreder; n. musculi obturatorii interni ve n. ischiadicus lateralde komşudur.</a:t>
            </a:r>
          </a:p>
        </p:txBody>
      </p:sp>
      <p:cxnSp>
        <p:nvCxnSpPr>
          <p:cNvPr id="46" name="Connector 4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Ranjan R., Chanda C., Kushwaha R. et al. Anatomical Study of the Variants of the Extrapelvic Part of the Pudendal Nerve. Cureus. 2022 Aug 22;14(8):e28281. doi: 10.7759/cureus.28281 PMCID: PMC9492552. Lisans: CC BY.</a:t>
            </a:r>
          </a:p>
        </p:txBody>
      </p:sp>
      <p:sp>
        <p:nvSpPr>
          <p:cNvPr id="48" name="TextBox 4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N. pudendus'un oluşumu ve gövde sayısı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Suganya ve ark. 2025 – Doğu Hindistan popülasyonu</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acb-58-3-388-f2.jpg"/>
          <p:cNvPicPr>
            <a:picLocks noChangeAspect="1"/>
          </p:cNvPicPr>
          <p:nvPr/>
        </p:nvPicPr>
        <p:blipFill>
          <a:blip r:embed="rId2"/>
          <a:stretch>
            <a:fillRect/>
          </a:stretch>
        </p:blipFill>
        <p:spPr>
          <a:xfrm>
            <a:off x="320040" y="1323390"/>
            <a:ext cx="7223759" cy="4439818"/>
          </a:xfrm>
          <a:prstGeom prst="rect">
            <a:avLst/>
          </a:prstGeom>
        </p:spPr>
      </p:pic>
      <p:sp>
        <p:nvSpPr>
          <p:cNvPr id="8" name="TextBox 7"/>
          <p:cNvSpPr txBox="1"/>
          <p:nvPr/>
        </p:nvSpPr>
        <p:spPr>
          <a:xfrm>
            <a:off x="228600" y="5781497"/>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 2 – Suganya G. ve ark., 2025 (PMC12519013, CC BY-NC)</a:t>
            </a:r>
          </a:p>
        </p:txBody>
      </p:sp>
      <p:sp>
        <p:nvSpPr>
          <p:cNvPr id="9" name="Rectangle 8"/>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11" name="TextBox 10"/>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10 kadavra (5 ♂, 5 ♀), bilateral diseksiyon ve morfometri.</a:t>
            </a:r>
          </a:p>
        </p:txBody>
      </p:sp>
      <p:sp>
        <p:nvSpPr>
          <p:cNvPr id="12" name="TextBox 11"/>
          <p:cNvSpPr txBox="1"/>
          <p:nvPr/>
        </p:nvSpPr>
        <p:spPr>
          <a:xfrm>
            <a:off x="7863840" y="2029968"/>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13" name="TextBox 12"/>
          <p:cNvSpPr txBox="1"/>
          <p:nvPr/>
        </p:nvSpPr>
        <p:spPr>
          <a:xfrm>
            <a:off x="7863840" y="2359152"/>
            <a:ext cx="4023360" cy="1371600"/>
          </a:xfrm>
          <a:prstGeom prst="rect">
            <a:avLst/>
          </a:prstGeom>
          <a:noFill/>
        </p:spPr>
        <p:txBody>
          <a:bodyPr wrap="square">
            <a:spAutoFit/>
          </a:bodyPr>
          <a:lstStyle/>
          <a:p>
            <a:pPr>
              <a:spcAft>
                <a:spcPts val="200"/>
              </a:spcAft>
            </a:pPr>
            <a:r>
              <a:rPr sz="1350">
                <a:solidFill>
                  <a:srgbClr val="1F2A44"/>
                </a:solidFill>
                <a:latin typeface="Calibri"/>
              </a:rPr>
              <a:t>• Tek gövde %60, iki gövde %20, üç gövde %10, dört gövde bir olguda (bilateral)</a:t>
            </a:r>
          </a:p>
          <a:p>
            <a:pPr>
              <a:spcAft>
                <a:spcPts val="200"/>
              </a:spcAft>
            </a:pPr>
            <a:r>
              <a:rPr sz="1350">
                <a:solidFill>
                  <a:srgbClr val="1F2A44"/>
                </a:solidFill>
                <a:latin typeface="Calibri"/>
              </a:rPr>
              <a:t>• N. ischiadicus ile bağlantı 9 kadavrada; en geniş kesit alanı m. piriformis altında (4,04 mm²)</a:t>
            </a:r>
          </a:p>
        </p:txBody>
      </p:sp>
      <p:sp>
        <p:nvSpPr>
          <p:cNvPr id="14" name="TextBox 13"/>
          <p:cNvSpPr txBox="1"/>
          <p:nvPr/>
        </p:nvSpPr>
        <p:spPr>
          <a:xfrm>
            <a:off x="7863840" y="3456432"/>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15" name="TextBox 14"/>
          <p:cNvSpPr txBox="1"/>
          <p:nvPr/>
        </p:nvSpPr>
        <p:spPr>
          <a:xfrm>
            <a:off x="7863840" y="3785616"/>
            <a:ext cx="4023360" cy="1371600"/>
          </a:xfrm>
          <a:prstGeom prst="rect">
            <a:avLst/>
          </a:prstGeom>
          <a:noFill/>
        </p:spPr>
        <p:txBody>
          <a:bodyPr wrap="square">
            <a:spAutoFit/>
          </a:bodyPr>
          <a:lstStyle/>
          <a:p>
            <a:pPr>
              <a:spcAft>
                <a:spcPts val="200"/>
              </a:spcAft>
            </a:pPr>
            <a:r>
              <a:rPr sz="1350">
                <a:solidFill>
                  <a:srgbClr val="1F2A44"/>
                </a:solidFill>
                <a:latin typeface="Calibri"/>
              </a:rPr>
              <a:t>• Bağlantı varlığında pudendal blok n. ischiadicus'u da etkileyebilir; literatürde çok gövde %38–40,5 (Maldonado, Gruber).</a:t>
            </a:r>
          </a:p>
        </p:txBody>
      </p:sp>
      <p:sp>
        <p:nvSpPr>
          <p:cNvPr id="16" name="TextBox 15"/>
          <p:cNvSpPr txBox="1"/>
          <p:nvPr/>
        </p:nvSpPr>
        <p:spPr>
          <a:xfrm>
            <a:off x="274320" y="6108192"/>
            <a:ext cx="7315200" cy="274320"/>
          </a:xfrm>
          <a:prstGeom prst="rect">
            <a:avLst/>
          </a:prstGeom>
          <a:noFill/>
        </p:spPr>
        <p:txBody>
          <a:bodyPr wrap="square" anchor="t" lIns="45720" rIns="45720" tIns="18288" bIns="18288">
            <a:spAutoFit/>
          </a:bodyPr>
          <a:lstStyle/>
          <a:p>
            <a:pPr algn="l"/>
            <a:r>
              <a:rPr sz="900" b="0" i="1">
                <a:solidFill>
                  <a:srgbClr val="C0392B"/>
                </a:solidFill>
                <a:latin typeface="Calibri"/>
              </a:rPr>
              <a:t>Lisans: CC BY-NC – yalnızca ticari olmayan eğitim amaçlı; uyarlama: yalnızca kırpma, aynı lisansla.</a:t>
            </a:r>
          </a:p>
        </p:txBody>
      </p:sp>
      <p:cxnSp>
        <p:nvCxnSpPr>
          <p:cNvPr id="17" name="Connector 1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Suganya G., Ray B., Bharadwaj Y. Morphology and morphometry of pudendal nerve in East Indian population with surgical implications: a cadaveric study. Anat Cell Biol. 2025 Jun 2;58(3):388–94. doi: 10.5115/acb.25.012 PMCID: PMC12519013. Lisans: CC BY-NC.</a:t>
            </a:r>
          </a:p>
        </p:txBody>
      </p:sp>
      <p:sp>
        <p:nvSpPr>
          <p:cNvPr id="19" name="TextBox 1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N. rectalis inferior'un S3'ten bağımsız çıkışı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Dupont ve ark. 2019 – olgu sunumu</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acb-52-100-g001_150_60_520_340.jpg"/>
          <p:cNvPicPr>
            <a:picLocks noChangeAspect="1"/>
          </p:cNvPicPr>
          <p:nvPr/>
        </p:nvPicPr>
        <p:blipFill>
          <a:blip r:embed="rId2"/>
          <a:stretch>
            <a:fillRect/>
          </a:stretch>
        </p:blipFill>
        <p:spPr>
          <a:xfrm>
            <a:off x="2148840" y="2193942"/>
            <a:ext cx="3566159" cy="2698715"/>
          </a:xfrm>
          <a:prstGeom prst="rect">
            <a:avLst/>
          </a:prstGeom>
        </p:spPr>
      </p:pic>
      <p:sp>
        <p:nvSpPr>
          <p:cNvPr id="8" name="TextBox 7"/>
          <p:cNvSpPr txBox="1"/>
          <p:nvPr/>
        </p:nvSpPr>
        <p:spPr>
          <a:xfrm>
            <a:off x="228600" y="2693896"/>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Ramus anterior n. spinalis S3</a:t>
            </a:r>
          </a:p>
        </p:txBody>
      </p:sp>
      <p:cxnSp>
        <p:nvCxnSpPr>
          <p:cNvPr id="9" name="Connector 8"/>
          <p:cNvCxnSpPr/>
          <p:nvPr/>
        </p:nvCxnSpPr>
        <p:spPr>
          <a:xfrm>
            <a:off x="2057400" y="2849344"/>
            <a:ext cx="119984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211521" y="28036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3175810"/>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Nn. splanchnici pelvici</a:t>
            </a:r>
          </a:p>
        </p:txBody>
      </p:sp>
      <p:cxnSp>
        <p:nvCxnSpPr>
          <p:cNvPr id="12" name="Connector 11"/>
          <p:cNvCxnSpPr/>
          <p:nvPr/>
        </p:nvCxnSpPr>
        <p:spPr>
          <a:xfrm>
            <a:off x="2057400" y="3331258"/>
            <a:ext cx="129622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307903" y="328553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2886661"/>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Nn. rectales inferiores (variatio, ex S3)</a:t>
            </a:r>
          </a:p>
        </p:txBody>
      </p:sp>
      <p:cxnSp>
        <p:nvCxnSpPr>
          <p:cNvPr id="15" name="Connector 14"/>
          <p:cNvCxnSpPr/>
          <p:nvPr/>
        </p:nvCxnSpPr>
        <p:spPr>
          <a:xfrm flipH="1">
            <a:off x="4192153" y="3042109"/>
            <a:ext cx="161428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146433" y="299638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3532426"/>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Ramus communicans ad n. pudendum</a:t>
            </a:r>
          </a:p>
        </p:txBody>
      </p:sp>
      <p:cxnSp>
        <p:nvCxnSpPr>
          <p:cNvPr id="18" name="Connector 17"/>
          <p:cNvCxnSpPr/>
          <p:nvPr/>
        </p:nvCxnSpPr>
        <p:spPr>
          <a:xfrm flipH="1">
            <a:off x="4558407" y="3687874"/>
            <a:ext cx="124803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512687" y="364215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40" y="4351679"/>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N. pudendus</a:t>
            </a:r>
          </a:p>
        </p:txBody>
      </p:sp>
      <p:cxnSp>
        <p:nvCxnSpPr>
          <p:cNvPr id="21" name="Connector 20"/>
          <p:cNvCxnSpPr/>
          <p:nvPr/>
        </p:nvCxnSpPr>
        <p:spPr>
          <a:xfrm flipH="1">
            <a:off x="4317450" y="4507127"/>
            <a:ext cx="148899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271730" y="446140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4910945"/>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 1 – Dupont G. ve ark., 2019 (PMC6449584, CC BY-NC)</a:t>
            </a:r>
          </a:p>
        </p:txBody>
      </p:sp>
      <p:sp>
        <p:nvSpPr>
          <p:cNvPr id="24" name="Rectangle 23"/>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26" name="TextBox 25"/>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Kadavra diseksiyonu, pelvis içinden bakış.</a:t>
            </a:r>
          </a:p>
        </p:txBody>
      </p:sp>
      <p:sp>
        <p:nvSpPr>
          <p:cNvPr id="27" name="TextBox 26"/>
          <p:cNvSpPr txBox="1"/>
          <p:nvPr/>
        </p:nvSpPr>
        <p:spPr>
          <a:xfrm>
            <a:off x="7863840" y="17830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28" name="TextBox 27"/>
          <p:cNvSpPr txBox="1"/>
          <p:nvPr/>
        </p:nvSpPr>
        <p:spPr>
          <a:xfrm>
            <a:off x="7863840" y="2112264"/>
            <a:ext cx="4023360" cy="1371600"/>
          </a:xfrm>
          <a:prstGeom prst="rect">
            <a:avLst/>
          </a:prstGeom>
          <a:noFill/>
        </p:spPr>
        <p:txBody>
          <a:bodyPr wrap="square">
            <a:spAutoFit/>
          </a:bodyPr>
          <a:lstStyle/>
          <a:p>
            <a:pPr>
              <a:spcAft>
                <a:spcPts val="200"/>
              </a:spcAft>
            </a:pPr>
            <a:r>
              <a:rPr sz="1350">
                <a:solidFill>
                  <a:srgbClr val="1F2A44"/>
                </a:solidFill>
                <a:latin typeface="Calibri"/>
              </a:rPr>
              <a:t>• S3 ramus anterior önce nn. splanchnici pelvici verip n. rectalis inferior olarak devam ediyor</a:t>
            </a:r>
          </a:p>
          <a:p>
            <a:pPr>
              <a:spcAft>
                <a:spcPts val="200"/>
              </a:spcAft>
            </a:pPr>
            <a:r>
              <a:rPr sz="1350">
                <a:solidFill>
                  <a:srgbClr val="1F2A44"/>
                </a:solidFill>
                <a:latin typeface="Calibri"/>
              </a:rPr>
              <a:t>• Bilinen varyantlar: S4'ten bağımsız çıkış, lig. sacrospinale'yi delme</a:t>
            </a:r>
          </a:p>
        </p:txBody>
      </p:sp>
      <p:sp>
        <p:nvSpPr>
          <p:cNvPr id="29" name="TextBox 28"/>
          <p:cNvSpPr txBox="1"/>
          <p:nvPr/>
        </p:nvSpPr>
        <p:spPr>
          <a:xfrm>
            <a:off x="7863840" y="3209544"/>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30" name="TextBox 29"/>
          <p:cNvSpPr txBox="1"/>
          <p:nvPr/>
        </p:nvSpPr>
        <p:spPr>
          <a:xfrm>
            <a:off x="7863840" y="3538728"/>
            <a:ext cx="4023360" cy="1371600"/>
          </a:xfrm>
          <a:prstGeom prst="rect">
            <a:avLst/>
          </a:prstGeom>
          <a:noFill/>
        </p:spPr>
        <p:txBody>
          <a:bodyPr wrap="square">
            <a:spAutoFit/>
          </a:bodyPr>
          <a:lstStyle/>
          <a:p>
            <a:pPr>
              <a:spcAft>
                <a:spcPts val="200"/>
              </a:spcAft>
            </a:pPr>
            <a:r>
              <a:rPr sz="1350">
                <a:solidFill>
                  <a:srgbClr val="1F2A44"/>
                </a:solidFill>
                <a:latin typeface="Calibri"/>
              </a:rPr>
              <a:t>• Pudendal blok, pudendal anastomoz ve sakrospinöz kolpopeksi sırasında yaralanma → fekal inkontinans.</a:t>
            </a:r>
          </a:p>
        </p:txBody>
      </p:sp>
      <p:sp>
        <p:nvSpPr>
          <p:cNvPr id="31" name="TextBox 30"/>
          <p:cNvSpPr txBox="1"/>
          <p:nvPr/>
        </p:nvSpPr>
        <p:spPr>
          <a:xfrm>
            <a:off x="274320" y="6108192"/>
            <a:ext cx="7315200" cy="274320"/>
          </a:xfrm>
          <a:prstGeom prst="rect">
            <a:avLst/>
          </a:prstGeom>
          <a:noFill/>
        </p:spPr>
        <p:txBody>
          <a:bodyPr wrap="square" anchor="t" lIns="45720" rIns="45720" tIns="18288" bIns="18288">
            <a:spAutoFit/>
          </a:bodyPr>
          <a:lstStyle/>
          <a:p>
            <a:pPr algn="l"/>
            <a:r>
              <a:rPr sz="900" b="0" i="1">
                <a:solidFill>
                  <a:srgbClr val="C0392B"/>
                </a:solidFill>
                <a:latin typeface="Calibri"/>
              </a:rPr>
              <a:t>Lisans: CC BY-NC – yalnızca ticari olmayan eğitim amaçlı; uyarlama: yalnızca kırpma, aynı lisansla.</a:t>
            </a:r>
          </a:p>
        </p:txBody>
      </p:sp>
      <p:cxnSp>
        <p:nvCxnSpPr>
          <p:cNvPr id="32" name="Connector 31"/>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Dupont G., Iwanaga J., Oskouian R. J. et al. Report of an inferior rectal nerve variant arising from the S3 ventral ramus. Anat Cell Biol. 2019 Mar 29;52(1):100–1. doi: 10.5115/acb.2019.52.1.100 PMCID: PMC6449584. Lisans: CC BY-NC.</a:t>
            </a:r>
          </a:p>
        </p:txBody>
      </p:sp>
      <p:sp>
        <p:nvSpPr>
          <p:cNvPr id="34" name="TextBox 33"/>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A. pudenda interna ve a. glutea inferior ortak gövdesi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Nayak ve ark. 2016 – olgu sunumu (♂)</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jvb-15-02-168-g02_150_120_640_470.jpg"/>
          <p:cNvPicPr>
            <a:picLocks noChangeAspect="1"/>
          </p:cNvPicPr>
          <p:nvPr/>
        </p:nvPicPr>
        <p:blipFill>
          <a:blip r:embed="rId2"/>
          <a:stretch>
            <a:fillRect/>
          </a:stretch>
        </p:blipFill>
        <p:spPr>
          <a:xfrm>
            <a:off x="2148840" y="2269671"/>
            <a:ext cx="3566159" cy="2547257"/>
          </a:xfrm>
          <a:prstGeom prst="rect">
            <a:avLst/>
          </a:prstGeom>
        </p:spPr>
      </p:pic>
      <p:sp>
        <p:nvSpPr>
          <p:cNvPr id="8" name="TextBox 7"/>
          <p:cNvSpPr txBox="1"/>
          <p:nvPr/>
        </p:nvSpPr>
        <p:spPr>
          <a:xfrm>
            <a:off x="228600" y="3751745"/>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N. ischiadicus</a:t>
            </a:r>
          </a:p>
        </p:txBody>
      </p:sp>
      <p:cxnSp>
        <p:nvCxnSpPr>
          <p:cNvPr id="9" name="Connector 8"/>
          <p:cNvCxnSpPr/>
          <p:nvPr/>
        </p:nvCxnSpPr>
        <p:spPr>
          <a:xfrm>
            <a:off x="2057400" y="3907193"/>
            <a:ext cx="165618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667863" y="386147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4188418"/>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A. glutea inferior (ramus)</a:t>
            </a:r>
          </a:p>
        </p:txBody>
      </p:sp>
      <p:cxnSp>
        <p:nvCxnSpPr>
          <p:cNvPr id="12" name="Connector 11"/>
          <p:cNvCxnSpPr/>
          <p:nvPr/>
        </p:nvCxnSpPr>
        <p:spPr>
          <a:xfrm>
            <a:off x="2057400" y="4343866"/>
            <a:ext cx="81922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830907" y="429814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2660064"/>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Truncus communis (a. pudenda interna + a. glutea inferior)</a:t>
            </a:r>
          </a:p>
        </p:txBody>
      </p:sp>
      <p:cxnSp>
        <p:nvCxnSpPr>
          <p:cNvPr id="15" name="Connector 14"/>
          <p:cNvCxnSpPr/>
          <p:nvPr/>
        </p:nvCxnSpPr>
        <p:spPr>
          <a:xfrm flipH="1">
            <a:off x="4477760" y="2815512"/>
            <a:ext cx="132868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432040" y="276979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3044112"/>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Rami musculares</a:t>
            </a:r>
          </a:p>
        </p:txBody>
      </p:sp>
      <p:cxnSp>
        <p:nvCxnSpPr>
          <p:cNvPr id="18" name="Connector 17"/>
          <p:cNvCxnSpPr/>
          <p:nvPr/>
        </p:nvCxnSpPr>
        <p:spPr>
          <a:xfrm flipH="1" flipV="1">
            <a:off x="4805265" y="2888291"/>
            <a:ext cx="1001175" cy="31126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59545" y="2842571"/>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40" y="3428160"/>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Rami musculares</a:t>
            </a:r>
          </a:p>
        </p:txBody>
      </p:sp>
      <p:cxnSp>
        <p:nvCxnSpPr>
          <p:cNvPr id="21" name="Connector 20"/>
          <p:cNvCxnSpPr/>
          <p:nvPr/>
        </p:nvCxnSpPr>
        <p:spPr>
          <a:xfrm flipH="1" flipV="1">
            <a:off x="4295813" y="3070237"/>
            <a:ext cx="1510627" cy="51337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250093" y="302451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812208"/>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A. pudenda interna</a:t>
            </a:r>
          </a:p>
        </p:txBody>
      </p:sp>
      <p:cxnSp>
        <p:nvCxnSpPr>
          <p:cNvPr id="24" name="Connector 23"/>
          <p:cNvCxnSpPr/>
          <p:nvPr/>
        </p:nvCxnSpPr>
        <p:spPr>
          <a:xfrm flipH="1" flipV="1">
            <a:off x="4768875" y="3288574"/>
            <a:ext cx="1037565" cy="67908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23155" y="324285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196256"/>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A. glutea inferior</a:t>
            </a:r>
          </a:p>
        </p:txBody>
      </p:sp>
      <p:cxnSp>
        <p:nvCxnSpPr>
          <p:cNvPr id="27" name="Connector 26"/>
          <p:cNvCxnSpPr/>
          <p:nvPr/>
        </p:nvCxnSpPr>
        <p:spPr>
          <a:xfrm flipH="1" flipV="1">
            <a:off x="4477760" y="3324963"/>
            <a:ext cx="1328680" cy="1026741"/>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432040" y="327924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4580304"/>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Lig. sacrotuberale</a:t>
            </a:r>
          </a:p>
        </p:txBody>
      </p:sp>
      <p:cxnSp>
        <p:nvCxnSpPr>
          <p:cNvPr id="30" name="Connector 29"/>
          <p:cNvCxnSpPr/>
          <p:nvPr/>
        </p:nvCxnSpPr>
        <p:spPr>
          <a:xfrm flipH="1" flipV="1">
            <a:off x="4768875" y="4343866"/>
            <a:ext cx="1037565" cy="391886"/>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723155" y="429814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4835216"/>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Figure 2 – Nayak S. B. ve ark., 2016 (PMC5829714, CC BY)</a:t>
            </a:r>
          </a:p>
        </p:txBody>
      </p:sp>
      <p:sp>
        <p:nvSpPr>
          <p:cNvPr id="33" name="Rectangle 32"/>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35" name="TextBox 34"/>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Erkek kadavra, regio glutealis diseksiyonu.</a:t>
            </a:r>
          </a:p>
        </p:txBody>
      </p:sp>
      <p:sp>
        <p:nvSpPr>
          <p:cNvPr id="36" name="TextBox 35"/>
          <p:cNvSpPr txBox="1"/>
          <p:nvPr/>
        </p:nvSpPr>
        <p:spPr>
          <a:xfrm>
            <a:off x="7863840" y="17830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37" name="TextBox 36"/>
          <p:cNvSpPr txBox="1"/>
          <p:nvPr/>
        </p:nvSpPr>
        <p:spPr>
          <a:xfrm>
            <a:off x="7863840" y="2112264"/>
            <a:ext cx="4023360" cy="1371600"/>
          </a:xfrm>
          <a:prstGeom prst="rect">
            <a:avLst/>
          </a:prstGeom>
          <a:noFill/>
        </p:spPr>
        <p:txBody>
          <a:bodyPr wrap="square">
            <a:spAutoFit/>
          </a:bodyPr>
          <a:lstStyle/>
          <a:p>
            <a:pPr>
              <a:spcAft>
                <a:spcPts val="200"/>
              </a:spcAft>
            </a:pPr>
            <a:r>
              <a:rPr sz="1350">
                <a:solidFill>
                  <a:srgbClr val="1F2A44"/>
                </a:solidFill>
                <a:latin typeface="Calibri"/>
              </a:rPr>
              <a:t>• A. glutea inferior ve a. pudenda interna a. iliaca interna'nın ikinci ortak gövdesinden çıkıyor</a:t>
            </a:r>
          </a:p>
          <a:p>
            <a:pPr>
              <a:spcAft>
                <a:spcPts val="200"/>
              </a:spcAft>
            </a:pPr>
            <a:r>
              <a:rPr sz="1350">
                <a:solidFill>
                  <a:srgbClr val="1F2A44"/>
                </a:solidFill>
                <a:latin typeface="Calibri"/>
              </a:rPr>
              <a:t>• Gövde foramen infrapiriforme'den geçip m. gluteus maximus derininde yıldız biçimli dallanıyor</a:t>
            </a:r>
          </a:p>
        </p:txBody>
      </p:sp>
      <p:sp>
        <p:nvSpPr>
          <p:cNvPr id="38" name="TextBox 37"/>
          <p:cNvSpPr txBox="1"/>
          <p:nvPr/>
        </p:nvSpPr>
        <p:spPr>
          <a:xfrm>
            <a:off x="7863840" y="3209544"/>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39" name="TextBox 38"/>
          <p:cNvSpPr txBox="1"/>
          <p:nvPr/>
        </p:nvSpPr>
        <p:spPr>
          <a:xfrm>
            <a:off x="7863840" y="3538728"/>
            <a:ext cx="4023360" cy="1371600"/>
          </a:xfrm>
          <a:prstGeom prst="rect">
            <a:avLst/>
          </a:prstGeom>
          <a:noFill/>
        </p:spPr>
        <p:txBody>
          <a:bodyPr wrap="square">
            <a:spAutoFit/>
          </a:bodyPr>
          <a:lstStyle/>
          <a:p>
            <a:pPr>
              <a:spcAft>
                <a:spcPts val="200"/>
              </a:spcAft>
            </a:pPr>
            <a:r>
              <a:rPr sz="1350">
                <a:solidFill>
                  <a:srgbClr val="1F2A44"/>
                </a:solidFill>
                <a:latin typeface="Calibri"/>
              </a:rPr>
              <a:t>• Transgluteal pudendal dekompresyon ve pelvik embolizasyonda dikkat; Adachi/Yamaki sınıflamaları.</a:t>
            </a:r>
          </a:p>
        </p:txBody>
      </p:sp>
      <p:cxnSp>
        <p:nvCxnSpPr>
          <p:cNvPr id="40" name="Connector 3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Nayak S. B., Guru A., Reghunathan D. et al. Clinical importance of a star shaped branch of internal iliac artery and unusual branches of an abnormal obturator artery: rare vascular variations. J Vasc Bras. 2016 Apr-Jun;15(2):168–72. doi: 10.1590/1677-5449.000116 PMCID: PMC5829714. Lisans: CC BY.</a:t>
            </a:r>
          </a:p>
        </p:txBody>
      </p:sp>
      <p:sp>
        <p:nvSpPr>
          <p:cNvPr id="42" name="TextBox 41"/>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A. penis'in pelvis içi kökenli seyri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Nayak ve ark. 2014 – 'aksesuar pudendal' tipte seyir</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CRIVAM2014-193194.002_120_150_520_440.jpg"/>
          <p:cNvPicPr>
            <a:picLocks noChangeAspect="1"/>
          </p:cNvPicPr>
          <p:nvPr/>
        </p:nvPicPr>
        <p:blipFill>
          <a:blip r:embed="rId2"/>
          <a:stretch>
            <a:fillRect/>
          </a:stretch>
        </p:blipFill>
        <p:spPr>
          <a:xfrm>
            <a:off x="2148840" y="2250566"/>
            <a:ext cx="3566159" cy="2585465"/>
          </a:xfrm>
          <a:prstGeom prst="rect">
            <a:avLst/>
          </a:prstGeom>
        </p:spPr>
      </p:pic>
      <p:sp>
        <p:nvSpPr>
          <p:cNvPr id="8" name="TextBox 7"/>
          <p:cNvSpPr txBox="1"/>
          <p:nvPr/>
        </p:nvSpPr>
        <p:spPr>
          <a:xfrm>
            <a:off x="228600" y="3405682"/>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Prostata</a:t>
            </a:r>
          </a:p>
        </p:txBody>
      </p:sp>
      <p:cxnSp>
        <p:nvCxnSpPr>
          <p:cNvPr id="9" name="Connector 8"/>
          <p:cNvCxnSpPr/>
          <p:nvPr/>
        </p:nvCxnSpPr>
        <p:spPr>
          <a:xfrm>
            <a:off x="2057400" y="3561130"/>
            <a:ext cx="142875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440430" y="351541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4101083"/>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Canalis analis</a:t>
            </a:r>
          </a:p>
        </p:txBody>
      </p:sp>
      <p:cxnSp>
        <p:nvCxnSpPr>
          <p:cNvPr id="12" name="Connector 11"/>
          <p:cNvCxnSpPr/>
          <p:nvPr/>
        </p:nvCxnSpPr>
        <p:spPr>
          <a:xfrm>
            <a:off x="2057400" y="4256531"/>
            <a:ext cx="76009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771775" y="421081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2523058"/>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A. penis (origo intrapelvica)</a:t>
            </a:r>
          </a:p>
        </p:txBody>
      </p:sp>
      <p:cxnSp>
        <p:nvCxnSpPr>
          <p:cNvPr id="15" name="Connector 14"/>
          <p:cNvCxnSpPr/>
          <p:nvPr/>
        </p:nvCxnSpPr>
        <p:spPr>
          <a:xfrm flipH="1">
            <a:off x="4395520" y="2678506"/>
            <a:ext cx="141092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349800" y="263278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3120389"/>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Os pubis</a:t>
            </a:r>
          </a:p>
        </p:txBody>
      </p:sp>
      <p:cxnSp>
        <p:nvCxnSpPr>
          <p:cNvPr id="18" name="Connector 17"/>
          <p:cNvCxnSpPr/>
          <p:nvPr/>
        </p:nvCxnSpPr>
        <p:spPr>
          <a:xfrm flipH="1">
            <a:off x="5224652" y="3275837"/>
            <a:ext cx="58178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178932" y="3230118"/>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40" y="3504437"/>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A. dorsalis penis</a:t>
            </a:r>
          </a:p>
        </p:txBody>
      </p:sp>
      <p:cxnSp>
        <p:nvCxnSpPr>
          <p:cNvPr id="21" name="Connector 20"/>
          <p:cNvCxnSpPr/>
          <p:nvPr/>
        </p:nvCxnSpPr>
        <p:spPr>
          <a:xfrm flipH="1" flipV="1">
            <a:off x="4466844" y="3632453"/>
            <a:ext cx="1339596" cy="2743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421124" y="3586733"/>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888485"/>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A. profunda penis</a:t>
            </a:r>
          </a:p>
        </p:txBody>
      </p:sp>
      <p:cxnSp>
        <p:nvCxnSpPr>
          <p:cNvPr id="24" name="Connector 23"/>
          <p:cNvCxnSpPr/>
          <p:nvPr/>
        </p:nvCxnSpPr>
        <p:spPr>
          <a:xfrm flipH="1" flipV="1">
            <a:off x="4243958" y="3748354"/>
            <a:ext cx="1562482" cy="295579"/>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198239" y="370263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72533"/>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Crus penis dextrum</a:t>
            </a:r>
          </a:p>
        </p:txBody>
      </p:sp>
      <p:cxnSp>
        <p:nvCxnSpPr>
          <p:cNvPr id="27" name="Connector 26"/>
          <p:cNvCxnSpPr/>
          <p:nvPr/>
        </p:nvCxnSpPr>
        <p:spPr>
          <a:xfrm flipH="1" flipV="1">
            <a:off x="4823460" y="4167377"/>
            <a:ext cx="982980" cy="260604"/>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777740" y="4121657"/>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4656581"/>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Bulbus penis</a:t>
            </a:r>
          </a:p>
        </p:txBody>
      </p:sp>
      <p:cxnSp>
        <p:nvCxnSpPr>
          <p:cNvPr id="30" name="Connector 29"/>
          <p:cNvCxnSpPr/>
          <p:nvPr/>
        </p:nvCxnSpPr>
        <p:spPr>
          <a:xfrm flipH="1" flipV="1">
            <a:off x="4021074" y="4523994"/>
            <a:ext cx="1785366" cy="28803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975354" y="447827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4854320"/>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Figure 2 – Nayak S. B. ve ark., 2014 (PMC3971847, CC BY)</a:t>
            </a:r>
          </a:p>
        </p:txBody>
      </p:sp>
      <p:sp>
        <p:nvSpPr>
          <p:cNvPr id="33" name="Rectangle 32"/>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35" name="TextBox 34"/>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Erkek kadavra, pelvis yan duvarı ve perine diseksiyonu.</a:t>
            </a:r>
          </a:p>
        </p:txBody>
      </p:sp>
      <p:sp>
        <p:nvSpPr>
          <p:cNvPr id="36" name="TextBox 35"/>
          <p:cNvSpPr txBox="1"/>
          <p:nvPr/>
        </p:nvSpPr>
        <p:spPr>
          <a:xfrm>
            <a:off x="7863840" y="2029968"/>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37" name="TextBox 36"/>
          <p:cNvSpPr txBox="1"/>
          <p:nvPr/>
        </p:nvSpPr>
        <p:spPr>
          <a:xfrm>
            <a:off x="7863840" y="2359152"/>
            <a:ext cx="4023360" cy="1371600"/>
          </a:xfrm>
          <a:prstGeom prst="rect">
            <a:avLst/>
          </a:prstGeom>
          <a:noFill/>
        </p:spPr>
        <p:txBody>
          <a:bodyPr wrap="square">
            <a:spAutoFit/>
          </a:bodyPr>
          <a:lstStyle/>
          <a:p>
            <a:pPr>
              <a:spcAft>
                <a:spcPts val="200"/>
              </a:spcAft>
            </a:pPr>
            <a:r>
              <a:rPr sz="1350">
                <a:solidFill>
                  <a:srgbClr val="1F2A44"/>
                </a:solidFill>
                <a:latin typeface="Calibri"/>
              </a:rPr>
              <a:t>• A. penis a. iliaca interna'nın ortak gövdesinden; mesane–pelvis yan duvarı arasında öne, lig. puboprostaticum altından geçiyor</a:t>
            </a:r>
          </a:p>
          <a:p>
            <a:pPr>
              <a:spcAft>
                <a:spcPts val="200"/>
              </a:spcAft>
            </a:pPr>
            <a:r>
              <a:rPr sz="1350">
                <a:solidFill>
                  <a:srgbClr val="1F2A44"/>
                </a:solidFill>
                <a:latin typeface="Calibri"/>
              </a:rPr>
              <a:t>• Symphysis alt kenarının arkasında a. dorsalis ve a. profunda penis'e ayrılıyor; a. pudenda interna küçük</a:t>
            </a:r>
          </a:p>
        </p:txBody>
      </p:sp>
      <p:sp>
        <p:nvSpPr>
          <p:cNvPr id="38" name="TextBox 37"/>
          <p:cNvSpPr txBox="1"/>
          <p:nvPr/>
        </p:nvSpPr>
        <p:spPr>
          <a:xfrm>
            <a:off x="7863840" y="3950208"/>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39" name="TextBox 38"/>
          <p:cNvSpPr txBox="1"/>
          <p:nvPr/>
        </p:nvSpPr>
        <p:spPr>
          <a:xfrm>
            <a:off x="7863840" y="4279392"/>
            <a:ext cx="4023360" cy="1371600"/>
          </a:xfrm>
          <a:prstGeom prst="rect">
            <a:avLst/>
          </a:prstGeom>
          <a:noFill/>
        </p:spPr>
        <p:txBody>
          <a:bodyPr wrap="square">
            <a:spAutoFit/>
          </a:bodyPr>
          <a:lstStyle/>
          <a:p>
            <a:pPr>
              <a:spcAft>
                <a:spcPts val="200"/>
              </a:spcAft>
            </a:pPr>
            <a:r>
              <a:rPr sz="1350">
                <a:solidFill>
                  <a:srgbClr val="1F2A44"/>
                </a:solidFill>
                <a:latin typeface="Calibri"/>
              </a:rPr>
              <a:t>• Radikal prostatektomide yaralanma → arteriyojenik erektil disfonksiyon; penil revaskülarizasyon planlaması.</a:t>
            </a:r>
          </a:p>
        </p:txBody>
      </p:sp>
      <p:cxnSp>
        <p:nvCxnSpPr>
          <p:cNvPr id="40" name="Connector 39"/>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Nayak S. B., Kumar N., Patil J. et al. A Rare Variation in the Origin and Course of the Artery of Penis. Case Rep Vasc Med. 2014 Feb 12;2014:193194. doi: 10.1155/2014/193194 PMCID: PMC3971847. Lisans: CC BY.</a:t>
            </a:r>
          </a:p>
        </p:txBody>
      </p:sp>
      <p:sp>
        <p:nvSpPr>
          <p:cNvPr id="42" name="TextBox 41"/>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M. levator ani'nin 3B topografisi</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Wu ve ark. 2015 – seri anatomik kesitlerden rekonstrüksiyon</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pone.0132226.g001_480_555_750_800.jpg"/>
          <p:cNvPicPr>
            <a:picLocks noChangeAspect="1"/>
          </p:cNvPicPr>
          <p:nvPr/>
        </p:nvPicPr>
        <p:blipFill>
          <a:blip r:embed="rId2"/>
          <a:stretch>
            <a:fillRect/>
          </a:stretch>
        </p:blipFill>
        <p:spPr>
          <a:xfrm>
            <a:off x="2148840" y="1925320"/>
            <a:ext cx="3566159" cy="3235959"/>
          </a:xfrm>
          <a:prstGeom prst="rect">
            <a:avLst/>
          </a:prstGeom>
        </p:spPr>
      </p:pic>
      <p:sp>
        <p:nvSpPr>
          <p:cNvPr id="8" name="TextBox 7"/>
          <p:cNvSpPr txBox="1"/>
          <p:nvPr/>
        </p:nvSpPr>
        <p:spPr>
          <a:xfrm>
            <a:off x="228600" y="2456688"/>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coccygeus (m. ischiococcygeus)</a:t>
            </a:r>
          </a:p>
        </p:txBody>
      </p:sp>
      <p:cxnSp>
        <p:nvCxnSpPr>
          <p:cNvPr id="9" name="Connector 8"/>
          <p:cNvCxnSpPr/>
          <p:nvPr/>
        </p:nvCxnSpPr>
        <p:spPr>
          <a:xfrm>
            <a:off x="2057400" y="2612136"/>
            <a:ext cx="94996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961640" y="256641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918968"/>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rectococcygeus'</a:t>
            </a:r>
          </a:p>
        </p:txBody>
      </p:sp>
      <p:cxnSp>
        <p:nvCxnSpPr>
          <p:cNvPr id="12" name="Connector 11"/>
          <p:cNvCxnSpPr/>
          <p:nvPr/>
        </p:nvCxnSpPr>
        <p:spPr>
          <a:xfrm>
            <a:off x="2057400" y="3074416"/>
            <a:ext cx="163677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48456" y="302869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3447287"/>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pubococcygeus + m. iliococcygeus ('pubovisceral muscle')</a:t>
            </a:r>
          </a:p>
        </p:txBody>
      </p:sp>
      <p:cxnSp>
        <p:nvCxnSpPr>
          <p:cNvPr id="15" name="Connector 14"/>
          <p:cNvCxnSpPr/>
          <p:nvPr/>
        </p:nvCxnSpPr>
        <p:spPr>
          <a:xfrm>
            <a:off x="2057400" y="3602735"/>
            <a:ext cx="1161287"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172968" y="355701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3831335"/>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obturatorius internus</a:t>
            </a:r>
          </a:p>
        </p:txBody>
      </p:sp>
      <p:cxnSp>
        <p:nvCxnSpPr>
          <p:cNvPr id="18" name="Connector 17"/>
          <p:cNvCxnSpPr/>
          <p:nvPr/>
        </p:nvCxnSpPr>
        <p:spPr>
          <a:xfrm flipV="1">
            <a:off x="2057400" y="3932935"/>
            <a:ext cx="619760" cy="5384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2631440" y="388721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4215383"/>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sphincter ani externus</a:t>
            </a:r>
          </a:p>
        </p:txBody>
      </p:sp>
      <p:cxnSp>
        <p:nvCxnSpPr>
          <p:cNvPr id="21" name="Connector 20"/>
          <p:cNvCxnSpPr/>
          <p:nvPr/>
        </p:nvCxnSpPr>
        <p:spPr>
          <a:xfrm flipV="1">
            <a:off x="2057400" y="3972559"/>
            <a:ext cx="1636776" cy="398272"/>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648456" y="392684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2364232"/>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coccygeus (m. ischiococcygeus)</a:t>
            </a:r>
          </a:p>
        </p:txBody>
      </p:sp>
      <p:cxnSp>
        <p:nvCxnSpPr>
          <p:cNvPr id="24" name="Connector 23"/>
          <p:cNvCxnSpPr/>
          <p:nvPr/>
        </p:nvCxnSpPr>
        <p:spPr>
          <a:xfrm flipH="1">
            <a:off x="4526279" y="2519680"/>
            <a:ext cx="1280161"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480559" y="2473960"/>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13351"/>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puborectalis</a:t>
            </a:r>
          </a:p>
        </p:txBody>
      </p:sp>
      <p:cxnSp>
        <p:nvCxnSpPr>
          <p:cNvPr id="27" name="Connector 26"/>
          <p:cNvCxnSpPr/>
          <p:nvPr/>
        </p:nvCxnSpPr>
        <p:spPr>
          <a:xfrm flipH="1">
            <a:off x="4090415" y="4368799"/>
            <a:ext cx="1716025"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044695" y="4323079"/>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5179567"/>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 1 – Wu Y. ve ark., 2015 (PMC4549266, CC BY)</a:t>
            </a:r>
          </a:p>
        </p:txBody>
      </p:sp>
      <p:sp>
        <p:nvSpPr>
          <p:cNvPr id="30" name="Rectangle 29"/>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32" name="TextBox 31"/>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6 genç erişkin (4 ♀, 2 ♂), deforme olmamış seri kesitlerden 3B rekonstrüksiyon.</a:t>
            </a:r>
          </a:p>
        </p:txBody>
      </p:sp>
      <p:sp>
        <p:nvSpPr>
          <p:cNvPr id="33" name="TextBox 32"/>
          <p:cNvSpPr txBox="1"/>
          <p:nvPr/>
        </p:nvSpPr>
        <p:spPr>
          <a:xfrm>
            <a:off x="7863840" y="2029968"/>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34" name="TextBox 33"/>
          <p:cNvSpPr txBox="1"/>
          <p:nvPr/>
        </p:nvSpPr>
        <p:spPr>
          <a:xfrm>
            <a:off x="7863840" y="2359152"/>
            <a:ext cx="4023360" cy="1371600"/>
          </a:xfrm>
          <a:prstGeom prst="rect">
            <a:avLst/>
          </a:prstGeom>
          <a:noFill/>
        </p:spPr>
        <p:txBody>
          <a:bodyPr wrap="square">
            <a:spAutoFit/>
          </a:bodyPr>
          <a:lstStyle/>
          <a:p>
            <a:pPr>
              <a:spcAft>
                <a:spcPts val="200"/>
              </a:spcAft>
            </a:pPr>
            <a:r>
              <a:rPr sz="1350">
                <a:solidFill>
                  <a:srgbClr val="1F2A44"/>
                </a:solidFill>
                <a:latin typeface="Calibri"/>
              </a:rPr>
              <a:t>• Puborectal ve pubococcygeal kısımlar arasında ayırıcı septum yok</a:t>
            </a:r>
          </a:p>
          <a:p>
            <a:pPr>
              <a:spcAft>
                <a:spcPts val="200"/>
              </a:spcAft>
            </a:pPr>
            <a:r>
              <a:rPr sz="1350">
                <a:solidFill>
                  <a:srgbClr val="1F2A44"/>
                </a:solidFill>
                <a:latin typeface="Calibri"/>
              </a:rPr>
              <a:t>• Post-mortem levator hiatus canlıdakinden ≈61 mm uzun, ≈23 mm dar</a:t>
            </a:r>
          </a:p>
        </p:txBody>
      </p:sp>
      <p:sp>
        <p:nvSpPr>
          <p:cNvPr id="35" name="TextBox 34"/>
          <p:cNvSpPr txBox="1"/>
          <p:nvPr/>
        </p:nvSpPr>
        <p:spPr>
          <a:xfrm>
            <a:off x="7863840" y="3456432"/>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36" name="TextBox 35"/>
          <p:cNvSpPr txBox="1"/>
          <p:nvPr/>
        </p:nvSpPr>
        <p:spPr>
          <a:xfrm>
            <a:off x="7863840" y="3785616"/>
            <a:ext cx="4023360" cy="1371600"/>
          </a:xfrm>
          <a:prstGeom prst="rect">
            <a:avLst/>
          </a:prstGeom>
          <a:noFill/>
        </p:spPr>
        <p:txBody>
          <a:bodyPr wrap="square">
            <a:spAutoFit/>
          </a:bodyPr>
          <a:lstStyle/>
          <a:p>
            <a:pPr>
              <a:spcAft>
                <a:spcPts val="200"/>
              </a:spcAft>
            </a:pPr>
            <a:r>
              <a:rPr sz="1350">
                <a:solidFill>
                  <a:srgbClr val="1F2A44"/>
                </a:solidFill>
                <a:latin typeface="Calibri"/>
              </a:rPr>
              <a:t>• Ders kitabındaki üç parçalı levator modelini sorgular; levator avulsiyonu ve kontinans değerlendirmesi.</a:t>
            </a:r>
          </a:p>
        </p:txBody>
      </p:sp>
      <p:cxnSp>
        <p:nvCxnSpPr>
          <p:cNvPr id="37" name="Connector 36"/>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Wu Y., Dabhoiwala N. F., Hagoort J. et al. 3D Topography of the Young Adult Anal Sphincter Complex Reconstructed from Undeformed Serial Anatomical Sections. PLoS One. 2015 Aug 25;10(8):e0132226. doi: 10.1371/journal.pone.0132226 PMCID: PMC4549266. Lisans: CC BY.</a:t>
            </a:r>
          </a:p>
        </p:txBody>
      </p:sp>
      <p:sp>
        <p:nvSpPr>
          <p:cNvPr id="39" name="TextBox 38"/>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Levator ani'nin ön demetleri – üç kas askısı</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Baramee ve ark. 2019 – kadın kadavrası, medial bakış</a:t>
            </a:r>
          </a:p>
        </p:txBody>
      </p:sp>
      <p:sp>
        <p:nvSpPr>
          <p:cNvPr id="5" name="TextBox 4"/>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VARYASYON</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12565_2019_492_Fig5_HTML_0_0_345_284.jpg"/>
          <p:cNvPicPr>
            <a:picLocks noChangeAspect="1"/>
          </p:cNvPicPr>
          <p:nvPr/>
        </p:nvPicPr>
        <p:blipFill>
          <a:blip r:embed="rId2"/>
          <a:stretch>
            <a:fillRect/>
          </a:stretch>
        </p:blipFill>
        <p:spPr>
          <a:xfrm>
            <a:off x="2148840" y="2075489"/>
            <a:ext cx="3566159" cy="2935621"/>
          </a:xfrm>
          <a:prstGeom prst="rect">
            <a:avLst/>
          </a:prstGeom>
        </p:spPr>
      </p:pic>
      <p:sp>
        <p:nvSpPr>
          <p:cNvPr id="8" name="TextBox 7"/>
          <p:cNvSpPr txBox="1"/>
          <p:nvPr/>
        </p:nvSpPr>
        <p:spPr>
          <a:xfrm>
            <a:off x="228600" y="3935696"/>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levator ani – ön kısım, posterior</a:t>
            </a:r>
          </a:p>
        </p:txBody>
      </p:sp>
      <p:cxnSp>
        <p:nvCxnSpPr>
          <p:cNvPr id="9" name="Connector 8"/>
          <p:cNvCxnSpPr/>
          <p:nvPr/>
        </p:nvCxnSpPr>
        <p:spPr>
          <a:xfrm>
            <a:off x="2057400" y="4091144"/>
            <a:ext cx="1352516"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364196" y="404542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4400848"/>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M. sphincter ani externus</a:t>
            </a:r>
          </a:p>
        </p:txBody>
      </p:sp>
      <p:cxnSp>
        <p:nvCxnSpPr>
          <p:cNvPr id="12" name="Connector 11"/>
          <p:cNvCxnSpPr/>
          <p:nvPr/>
        </p:nvCxnSpPr>
        <p:spPr>
          <a:xfrm>
            <a:off x="2057400" y="4556296"/>
            <a:ext cx="1590260"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01940" y="4510576"/>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3191454"/>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levator ani</a:t>
            </a:r>
          </a:p>
        </p:txBody>
      </p:sp>
      <p:cxnSp>
        <p:nvCxnSpPr>
          <p:cNvPr id="15" name="Connector 14"/>
          <p:cNvCxnSpPr/>
          <p:nvPr/>
        </p:nvCxnSpPr>
        <p:spPr>
          <a:xfrm flipH="1">
            <a:off x="4267862" y="3346902"/>
            <a:ext cx="153857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222142" y="330118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4121757"/>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levator ani – ön kısım, anterior</a:t>
            </a:r>
          </a:p>
        </p:txBody>
      </p:sp>
      <p:cxnSp>
        <p:nvCxnSpPr>
          <p:cNvPr id="18" name="Connector 17"/>
          <p:cNvCxnSpPr/>
          <p:nvPr/>
        </p:nvCxnSpPr>
        <p:spPr>
          <a:xfrm flipH="1">
            <a:off x="4267862" y="4277205"/>
            <a:ext cx="153857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22142" y="423148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40" y="4505805"/>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M. transversus perinei superf.</a:t>
            </a:r>
          </a:p>
        </p:txBody>
      </p:sp>
      <p:cxnSp>
        <p:nvCxnSpPr>
          <p:cNvPr id="21" name="Connector 20"/>
          <p:cNvCxnSpPr/>
          <p:nvPr/>
        </p:nvCxnSpPr>
        <p:spPr>
          <a:xfrm flipH="1" flipV="1">
            <a:off x="4061128" y="4401245"/>
            <a:ext cx="1745312" cy="260008"/>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015408" y="435552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5029398"/>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 5 – Baramee P. ve ark., 2019 (PMC6942605, CC BY)</a:t>
            </a:r>
          </a:p>
        </p:txBody>
      </p:sp>
      <p:sp>
        <p:nvSpPr>
          <p:cNvPr id="24" name="Rectangle 23"/>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26" name="TextBox 25"/>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16 kadın kadavrası (ort. yaş 79,75), 28 hemipelvis.</a:t>
            </a:r>
          </a:p>
        </p:txBody>
      </p:sp>
      <p:sp>
        <p:nvSpPr>
          <p:cNvPr id="27" name="TextBox 26"/>
          <p:cNvSpPr txBox="1"/>
          <p:nvPr/>
        </p:nvSpPr>
        <p:spPr>
          <a:xfrm>
            <a:off x="7863840" y="2029968"/>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28" name="TextBox 27"/>
          <p:cNvSpPr txBox="1"/>
          <p:nvPr/>
        </p:nvSpPr>
        <p:spPr>
          <a:xfrm>
            <a:off x="7863840" y="2359152"/>
            <a:ext cx="4023360" cy="1371600"/>
          </a:xfrm>
          <a:prstGeom prst="rect">
            <a:avLst/>
          </a:prstGeom>
          <a:noFill/>
        </p:spPr>
        <p:txBody>
          <a:bodyPr wrap="square">
            <a:spAutoFit/>
          </a:bodyPr>
          <a:lstStyle/>
          <a:p>
            <a:pPr>
              <a:spcAft>
                <a:spcPts val="200"/>
              </a:spcAft>
            </a:pPr>
            <a:r>
              <a:rPr sz="1350">
                <a:solidFill>
                  <a:srgbClr val="1F2A44"/>
                </a:solidFill>
                <a:latin typeface="Calibri"/>
              </a:rPr>
              <a:t>• Levator ani'nin ön kısmı ön ve arka demetlere ayrılarak ön ve arka askıları oluşturur</a:t>
            </a:r>
          </a:p>
          <a:p>
            <a:pPr>
              <a:spcAft>
                <a:spcPts val="200"/>
              </a:spcAft>
            </a:pPr>
            <a:r>
              <a:rPr sz="1350">
                <a:solidFill>
                  <a:srgbClr val="1F2A44"/>
                </a:solidFill>
                <a:latin typeface="Calibri"/>
              </a:rPr>
              <a:t>• M. bulbospongiosus EAS'ın lateral yüzüne kaynaşır</a:t>
            </a:r>
          </a:p>
        </p:txBody>
      </p:sp>
      <p:sp>
        <p:nvSpPr>
          <p:cNvPr id="29" name="TextBox 28"/>
          <p:cNvSpPr txBox="1"/>
          <p:nvPr/>
        </p:nvSpPr>
        <p:spPr>
          <a:xfrm>
            <a:off x="7863840" y="3456432"/>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30" name="TextBox 29"/>
          <p:cNvSpPr txBox="1"/>
          <p:nvPr/>
        </p:nvSpPr>
        <p:spPr>
          <a:xfrm>
            <a:off x="7863840" y="3785616"/>
            <a:ext cx="4023360" cy="1371600"/>
          </a:xfrm>
          <a:prstGeom prst="rect">
            <a:avLst/>
          </a:prstGeom>
          <a:noFill/>
        </p:spPr>
        <p:txBody>
          <a:bodyPr wrap="square">
            <a:spAutoFit/>
          </a:bodyPr>
          <a:lstStyle/>
          <a:p>
            <a:pPr>
              <a:spcAft>
                <a:spcPts val="200"/>
              </a:spcAft>
            </a:pPr>
            <a:r>
              <a:rPr sz="1350">
                <a:solidFill>
                  <a:srgbClr val="1F2A44"/>
                </a:solidFill>
                <a:latin typeface="Calibri"/>
              </a:rPr>
              <a:t>• Anal kanal önündeki destek askı modeli; obstetrik perine yırtığı onarımında anatomik hedefler.</a:t>
            </a:r>
          </a:p>
        </p:txBody>
      </p:sp>
      <p:cxnSp>
        <p:nvCxnSpPr>
          <p:cNvPr id="31" name="Connector 30"/>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Baramee P., Muro S., Suriyut J. et al. Three muscle slings of the pelvic floor in women: an anatomic study. Anat Sci Int. 2019 Jun 4;95(1):47–53. doi: 10.1007/s12565-019-00492-4 PMCID: PMC6942605. Lisans: CC BY.</a:t>
            </a:r>
          </a:p>
        </p:txBody>
      </p:sp>
      <p:sp>
        <p:nvSpPr>
          <p:cNvPr id="33" name="TextBox 32"/>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Corpus perineale boyutu – transperineal US</a:t>
            </a:r>
          </a:p>
        </p:txBody>
      </p:sp>
      <p:sp>
        <p:nvSpPr>
          <p:cNvPr id="4" name="TextBox 3"/>
          <p:cNvSpPr txBox="1"/>
          <p:nvPr/>
        </p:nvSpPr>
        <p:spPr>
          <a:xfrm>
            <a:off x="320040" y="548640"/>
            <a:ext cx="9509760" cy="329184"/>
          </a:xfrm>
          <a:prstGeom prst="rect">
            <a:avLst/>
          </a:prstGeom>
          <a:noFill/>
        </p:spPr>
        <p:txBody>
          <a:bodyPr wrap="square" anchor="t" lIns="45720" rIns="45720" tIns="18288" bIns="18288">
            <a:spAutoFit/>
          </a:bodyPr>
          <a:lstStyle/>
          <a:p>
            <a:pPr algn="l"/>
            <a:r>
              <a:rPr sz="1500" b="0" i="1">
                <a:solidFill>
                  <a:srgbClr val="C8D1E6"/>
                </a:solidFill>
                <a:latin typeface="Calibri"/>
              </a:rPr>
              <a:t>Asfour ve ark. 2019</a:t>
            </a:r>
          </a:p>
        </p:txBody>
      </p:sp>
      <p:sp>
        <p:nvSpPr>
          <p:cNvPr id="5" name="TextBox 4"/>
          <p:cNvSpPr txBox="1"/>
          <p:nvPr/>
        </p:nvSpPr>
        <p:spPr>
          <a:xfrm>
            <a:off x="9921240" y="109728"/>
            <a:ext cx="2057400" cy="310896"/>
          </a:xfrm>
          <a:prstGeom prst="rect">
            <a:avLst/>
          </a:prstGeom>
          <a:solidFill>
            <a:srgbClr val="5E35B1"/>
          </a:solidFill>
        </p:spPr>
        <p:txBody>
          <a:bodyPr wrap="square" anchor="ctr" lIns="45720" rIns="45720" tIns="18288" bIns="18288">
            <a:spAutoFit/>
          </a:bodyPr>
          <a:lstStyle/>
          <a:p>
            <a:pPr algn="ctr"/>
            <a:r>
              <a:rPr sz="1100" b="1" i="0">
                <a:solidFill>
                  <a:srgbClr val="FFFFFF"/>
                </a:solidFill>
                <a:latin typeface="Calibri"/>
              </a:rPr>
              <a:t>GÖRÜNTÜLEME</a:t>
            </a:r>
          </a:p>
        </p:txBody>
      </p:sp>
      <p:sp>
        <p:nvSpPr>
          <p:cNvPr id="6" name="TextBox 5"/>
          <p:cNvSpPr txBox="1"/>
          <p:nvPr/>
        </p:nvSpPr>
        <p:spPr>
          <a:xfrm>
            <a:off x="9921240" y="475488"/>
            <a:ext cx="2057400" cy="329184"/>
          </a:xfrm>
          <a:prstGeom prst="rect">
            <a:avLst/>
          </a:prstGeom>
          <a:noFill/>
        </p:spPr>
        <p:txBody>
          <a:bodyPr wrap="square" anchor="t" lIns="45720" rIns="45720" tIns="18288" bIns="18288">
            <a:spAutoFit/>
          </a:bodyPr>
          <a:lstStyle/>
          <a:p>
            <a:pPr algn="ctr"/>
            <a:r>
              <a:rPr sz="1000" b="1" i="0">
                <a:solidFill>
                  <a:srgbClr val="C8D1E6"/>
                </a:solidFill>
                <a:latin typeface="Calibri"/>
              </a:rPr>
              <a:t>VARYASYONLAR</a:t>
            </a:r>
          </a:p>
        </p:txBody>
      </p:sp>
      <p:pic>
        <p:nvPicPr>
          <p:cNvPr id="7" name="Picture 6" descr="192_2019_4166_Fig1_HTML_0_0_354_248.jpg"/>
          <p:cNvPicPr>
            <a:picLocks noChangeAspect="1"/>
          </p:cNvPicPr>
          <p:nvPr/>
        </p:nvPicPr>
        <p:blipFill>
          <a:blip r:embed="rId2"/>
          <a:stretch>
            <a:fillRect/>
          </a:stretch>
        </p:blipFill>
        <p:spPr>
          <a:xfrm>
            <a:off x="2148840" y="2294136"/>
            <a:ext cx="3566159" cy="2498326"/>
          </a:xfrm>
          <a:prstGeom prst="rect">
            <a:avLst/>
          </a:prstGeom>
        </p:spPr>
      </p:pic>
      <p:sp>
        <p:nvSpPr>
          <p:cNvPr id="8" name="TextBox 7"/>
          <p:cNvSpPr txBox="1"/>
          <p:nvPr/>
        </p:nvSpPr>
        <p:spPr>
          <a:xfrm>
            <a:off x="228600" y="3166226"/>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Vesica urinaria</a:t>
            </a:r>
          </a:p>
        </p:txBody>
      </p:sp>
      <p:cxnSp>
        <p:nvCxnSpPr>
          <p:cNvPr id="9" name="Connector 8"/>
          <p:cNvCxnSpPr/>
          <p:nvPr/>
        </p:nvCxnSpPr>
        <p:spPr>
          <a:xfrm>
            <a:off x="2057400" y="3321674"/>
            <a:ext cx="1249938"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261618" y="3275954"/>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3550274"/>
            <a:ext cx="1828800" cy="310896"/>
          </a:xfrm>
          <a:prstGeom prst="rect">
            <a:avLst/>
          </a:prstGeom>
          <a:noFill/>
        </p:spPr>
        <p:txBody>
          <a:bodyPr wrap="square" anchor="ctr" lIns="45720" rIns="45720" tIns="18288" bIns="18288">
            <a:spAutoFit/>
          </a:bodyPr>
          <a:lstStyle/>
          <a:p>
            <a:pPr algn="r"/>
            <a:r>
              <a:rPr sz="1250" b="1" i="0">
                <a:solidFill>
                  <a:srgbClr val="1F2A44"/>
                </a:solidFill>
                <a:latin typeface="Calibri"/>
              </a:rPr>
              <a:t>Urethra feminina</a:t>
            </a:r>
          </a:p>
        </p:txBody>
      </p:sp>
      <p:cxnSp>
        <p:nvCxnSpPr>
          <p:cNvPr id="12" name="Connector 11"/>
          <p:cNvCxnSpPr/>
          <p:nvPr/>
        </p:nvCxnSpPr>
        <p:spPr>
          <a:xfrm flipV="1">
            <a:off x="2057400" y="3472782"/>
            <a:ext cx="1602524" cy="23294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14204" y="34270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3317334"/>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Canalis analis</a:t>
            </a:r>
          </a:p>
        </p:txBody>
      </p:sp>
      <p:cxnSp>
        <p:nvCxnSpPr>
          <p:cNvPr id="15" name="Connector 14"/>
          <p:cNvCxnSpPr/>
          <p:nvPr/>
        </p:nvCxnSpPr>
        <p:spPr>
          <a:xfrm flipH="1">
            <a:off x="4546427" y="3472782"/>
            <a:ext cx="1260013" cy="0"/>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00707" y="3427062"/>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3701382"/>
            <a:ext cx="1828800" cy="310896"/>
          </a:xfrm>
          <a:prstGeom prst="rect">
            <a:avLst/>
          </a:prstGeom>
          <a:noFill/>
        </p:spPr>
        <p:txBody>
          <a:bodyPr wrap="square" anchor="ctr" lIns="45720" rIns="45720" tIns="18288" bIns="18288">
            <a:spAutoFit/>
          </a:bodyPr>
          <a:lstStyle/>
          <a:p>
            <a:pPr algn="l"/>
            <a:r>
              <a:rPr sz="1250" b="1" i="0">
                <a:solidFill>
                  <a:srgbClr val="1F2A44"/>
                </a:solidFill>
                <a:latin typeface="Calibri"/>
              </a:rPr>
              <a:t>Corpus perineale</a:t>
            </a:r>
          </a:p>
        </p:txBody>
      </p:sp>
      <p:cxnSp>
        <p:nvCxnSpPr>
          <p:cNvPr id="18" name="Connector 17"/>
          <p:cNvCxnSpPr/>
          <p:nvPr/>
        </p:nvCxnSpPr>
        <p:spPr>
          <a:xfrm flipH="1" flipV="1">
            <a:off x="4334875" y="3764925"/>
            <a:ext cx="1471565" cy="91905"/>
          </a:xfrm>
          <a:prstGeom prst="line">
            <a:avLst/>
          </a:prstGeom>
          <a:ln w="22225">
            <a:solidFill>
              <a:srgbClr val="FFD20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89155" y="3719205"/>
            <a:ext cx="91440" cy="91440"/>
          </a:xfrm>
          <a:prstGeom prst="ellipse">
            <a:avLst/>
          </a:prstGeom>
          <a:solidFill>
            <a:srgbClr val="FFD200"/>
          </a:solidFill>
          <a:ln w="9525">
            <a:solidFill>
              <a:srgbClr val="1F2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4810751"/>
            <a:ext cx="7406640" cy="274320"/>
          </a:xfrm>
          <a:prstGeom prst="rect">
            <a:avLst/>
          </a:prstGeom>
          <a:noFill/>
        </p:spPr>
        <p:txBody>
          <a:bodyPr wrap="square" anchor="t" lIns="45720" rIns="45720" tIns="18288" bIns="18288">
            <a:spAutoFit/>
          </a:bodyPr>
          <a:lstStyle/>
          <a:p>
            <a:pPr algn="ctr"/>
            <a:r>
              <a:rPr sz="1050" b="0" i="1">
                <a:solidFill>
                  <a:srgbClr val="555B66"/>
                </a:solidFill>
                <a:latin typeface="Calibri"/>
              </a:rPr>
              <a:t>Fig. 1 – Asfour V. ve ark., 2019 (PMC7270988, CC BY)</a:t>
            </a:r>
          </a:p>
        </p:txBody>
      </p:sp>
      <p:sp>
        <p:nvSpPr>
          <p:cNvPr id="21" name="Rectangle 20"/>
          <p:cNvSpPr/>
          <p:nvPr/>
        </p:nvSpPr>
        <p:spPr>
          <a:xfrm>
            <a:off x="7772400" y="1051560"/>
            <a:ext cx="4187952" cy="5029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0" y="1097280"/>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Çalışma</a:t>
            </a:r>
          </a:p>
        </p:txBody>
      </p:sp>
      <p:sp>
        <p:nvSpPr>
          <p:cNvPr id="23" name="TextBox 22"/>
          <p:cNvSpPr txBox="1"/>
          <p:nvPr/>
        </p:nvSpPr>
        <p:spPr>
          <a:xfrm>
            <a:off x="7863840" y="1426464"/>
            <a:ext cx="4023360" cy="1371600"/>
          </a:xfrm>
          <a:prstGeom prst="rect">
            <a:avLst/>
          </a:prstGeom>
          <a:noFill/>
        </p:spPr>
        <p:txBody>
          <a:bodyPr wrap="square">
            <a:spAutoFit/>
          </a:bodyPr>
          <a:lstStyle/>
          <a:p>
            <a:pPr>
              <a:spcAft>
                <a:spcPts val="200"/>
              </a:spcAft>
            </a:pPr>
            <a:r>
              <a:rPr sz="1350">
                <a:solidFill>
                  <a:srgbClr val="1F2A44"/>
                </a:solidFill>
                <a:latin typeface="Calibri"/>
              </a:rPr>
              <a:t>• 101 kadın: 22 nullipar sağlıklı gönüllü, 79 prolapsus hastası.</a:t>
            </a:r>
          </a:p>
        </p:txBody>
      </p:sp>
      <p:sp>
        <p:nvSpPr>
          <p:cNvPr id="24" name="TextBox 23"/>
          <p:cNvSpPr txBox="1"/>
          <p:nvPr/>
        </p:nvSpPr>
        <p:spPr>
          <a:xfrm>
            <a:off x="7863840" y="2029968"/>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Bulgular</a:t>
            </a:r>
          </a:p>
        </p:txBody>
      </p:sp>
      <p:sp>
        <p:nvSpPr>
          <p:cNvPr id="25" name="TextBox 24"/>
          <p:cNvSpPr txBox="1"/>
          <p:nvPr/>
        </p:nvSpPr>
        <p:spPr>
          <a:xfrm>
            <a:off x="7863840" y="2359152"/>
            <a:ext cx="4023360" cy="1371600"/>
          </a:xfrm>
          <a:prstGeom prst="rect">
            <a:avLst/>
          </a:prstGeom>
          <a:noFill/>
        </p:spPr>
        <p:txBody>
          <a:bodyPr wrap="square">
            <a:spAutoFit/>
          </a:bodyPr>
          <a:lstStyle/>
          <a:p>
            <a:pPr>
              <a:spcAft>
                <a:spcPts val="200"/>
              </a:spcAft>
            </a:pPr>
            <a:r>
              <a:rPr sz="1350">
                <a:solidFill>
                  <a:srgbClr val="1F2A44"/>
                </a:solidFill>
                <a:latin typeface="Calibri"/>
              </a:rPr>
              <a:t>• Kontrol: yükseklik 22,5 ± 3,3 mm, uzunluk 17,4 ± 2,7 mm, alan 2,8 ± 0,38 cm²</a:t>
            </a:r>
          </a:p>
          <a:p>
            <a:pPr>
              <a:spcAft>
                <a:spcPts val="200"/>
              </a:spcAft>
            </a:pPr>
            <a:r>
              <a:rPr sz="1350">
                <a:solidFill>
                  <a:srgbClr val="1F2A44"/>
                </a:solidFill>
                <a:latin typeface="Calibri"/>
              </a:rPr>
              <a:t>• Prolapsus: yükseklik 16,9 ± 1,7 mm, alan 2,1 ± 0,5 cm²</a:t>
            </a:r>
          </a:p>
        </p:txBody>
      </p:sp>
      <p:sp>
        <p:nvSpPr>
          <p:cNvPr id="26" name="TextBox 25"/>
          <p:cNvSpPr txBox="1"/>
          <p:nvPr/>
        </p:nvSpPr>
        <p:spPr>
          <a:xfrm>
            <a:off x="7863840" y="3456432"/>
            <a:ext cx="4023360" cy="310896"/>
          </a:xfrm>
          <a:prstGeom prst="rect">
            <a:avLst/>
          </a:prstGeom>
          <a:noFill/>
        </p:spPr>
        <p:txBody>
          <a:bodyPr wrap="square" anchor="t" lIns="45720" rIns="45720" tIns="18288" bIns="18288">
            <a:spAutoFit/>
          </a:bodyPr>
          <a:lstStyle/>
          <a:p>
            <a:pPr algn="l"/>
            <a:r>
              <a:rPr sz="1500" b="1" i="0">
                <a:solidFill>
                  <a:srgbClr val="C0392B"/>
                </a:solidFill>
                <a:latin typeface="Calibri"/>
              </a:rPr>
              <a:t>Klinik / cerrahi önem</a:t>
            </a:r>
          </a:p>
        </p:txBody>
      </p:sp>
      <p:sp>
        <p:nvSpPr>
          <p:cNvPr id="27" name="TextBox 26"/>
          <p:cNvSpPr txBox="1"/>
          <p:nvPr/>
        </p:nvSpPr>
        <p:spPr>
          <a:xfrm>
            <a:off x="7863840" y="3785616"/>
            <a:ext cx="4023360" cy="1371600"/>
          </a:xfrm>
          <a:prstGeom prst="rect">
            <a:avLst/>
          </a:prstGeom>
          <a:noFill/>
        </p:spPr>
        <p:txBody>
          <a:bodyPr wrap="square">
            <a:spAutoFit/>
          </a:bodyPr>
          <a:lstStyle/>
          <a:p>
            <a:pPr>
              <a:spcAft>
                <a:spcPts val="200"/>
              </a:spcAft>
            </a:pPr>
            <a:r>
              <a:rPr sz="1350">
                <a:solidFill>
                  <a:srgbClr val="1F2A44"/>
                </a:solidFill>
                <a:latin typeface="Calibri"/>
              </a:rPr>
              <a:t>• Küçük corpus perineale arka kompartman prolapsusu ile güçlü ilişkili (p &lt; 0,0001); alan &lt;2,4 cm² eşik.</a:t>
            </a:r>
          </a:p>
        </p:txBody>
      </p:sp>
      <p:cxnSp>
        <p:nvCxnSpPr>
          <p:cNvPr id="28" name="Connector 27"/>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Asfour V., Digesu G. A., Fernando R. et al. Ultrasound imaging of the perineal body: a useful clinical tool. Int Urogynecol J. 2019 Dec 11;31(6):1197–202. doi: 10.1007/s00192-019-04166-7 PMCID: PMC7270988. Lisans: CC BY.</a:t>
            </a:r>
          </a:p>
        </p:txBody>
      </p:sp>
      <p:sp>
        <p:nvSpPr>
          <p:cNvPr id="30" name="TextBox 29"/>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Özet – akılda kalacak noktalar</a:t>
            </a:r>
          </a:p>
        </p:txBody>
      </p:sp>
      <p:sp>
        <p:nvSpPr>
          <p:cNvPr id="4" name="TextBox 3"/>
          <p:cNvSpPr txBox="1"/>
          <p:nvPr/>
        </p:nvSpPr>
        <p:spPr>
          <a:xfrm>
            <a:off x="9921240" y="109728"/>
            <a:ext cx="2057400" cy="310896"/>
          </a:xfrm>
          <a:prstGeom prst="rect">
            <a:avLst/>
          </a:prstGeom>
          <a:solidFill>
            <a:srgbClr val="1F2A44"/>
          </a:solidFill>
        </p:spPr>
        <p:txBody>
          <a:bodyPr wrap="square" anchor="ctr" lIns="45720" rIns="45720" tIns="18288" bIns="18288">
            <a:spAutoFit/>
          </a:bodyPr>
          <a:lstStyle/>
          <a:p>
            <a:pPr algn="ctr"/>
            <a:r>
              <a:rPr sz="1100" b="1" i="0">
                <a:solidFill>
                  <a:srgbClr val="FFFFFF"/>
                </a:solidFill>
                <a:latin typeface="Calibri"/>
              </a:rPr>
              <a:t>ÖZET</a:t>
            </a:r>
          </a:p>
        </p:txBody>
      </p:sp>
      <p:sp>
        <p:nvSpPr>
          <p:cNvPr id="5" name="TextBox 4"/>
          <p:cNvSpPr txBox="1"/>
          <p:nvPr/>
        </p:nvSpPr>
        <p:spPr>
          <a:xfrm>
            <a:off x="411480" y="1188720"/>
            <a:ext cx="11338560" cy="5120640"/>
          </a:xfrm>
          <a:prstGeom prst="rect">
            <a:avLst/>
          </a:prstGeom>
          <a:noFill/>
        </p:spPr>
        <p:txBody>
          <a:bodyPr wrap="square">
            <a:spAutoFit/>
          </a:bodyPr>
          <a:lstStyle/>
          <a:p>
            <a:pPr>
              <a:spcAft>
                <a:spcPts val="600"/>
              </a:spcAft>
            </a:pPr>
            <a:r>
              <a:rPr sz="1700">
                <a:solidFill>
                  <a:srgbClr val="1F2A44"/>
                </a:solidFill>
                <a:latin typeface="Calibri"/>
              </a:rPr>
              <a:t>• Perine = diaphragma pelvis'in altı; sınırları apertura pelvis inferior; tubera ischiadica arası çizgi → regio urogenitalis / regio analis.</a:t>
            </a:r>
          </a:p>
          <a:p>
            <a:pPr>
              <a:spcAft>
                <a:spcPts val="600"/>
              </a:spcAft>
            </a:pPr>
            <a:r>
              <a:rPr sz="1700">
                <a:solidFill>
                  <a:srgbClr val="1F2A44"/>
                </a:solidFill>
                <a:latin typeface="Calibri"/>
              </a:rPr>
              <a:t>• </a:t>
            </a:r>
            <a:r>
              <a:rPr sz="1700">
                <a:solidFill>
                  <a:srgbClr val="1F2A44"/>
                </a:solidFill>
                <a:latin typeface="Calibri"/>
              </a:rPr>
              <a:t>Fasyalar</a:t>
            </a:r>
            <a:r>
              <a:rPr sz="1700">
                <a:solidFill>
                  <a:srgbClr val="1F2A44"/>
                </a:solidFill>
                <a:latin typeface="Calibri"/>
              </a:rPr>
              <a:t>: panniculus adiposus → </a:t>
            </a:r>
            <a:r>
              <a:rPr sz="1700">
                <a:solidFill>
                  <a:srgbClr val="1F2A44"/>
                </a:solidFill>
                <a:latin typeface="Calibri"/>
              </a:rPr>
              <a:t>Colles</a:t>
            </a:r>
            <a:r>
              <a:rPr sz="1700">
                <a:solidFill>
                  <a:srgbClr val="1F2A44"/>
                </a:solidFill>
                <a:latin typeface="Calibri"/>
              </a:rPr>
              <a:t> (stratum membranosum; Scarpa ve dartos ile devamlı) → </a:t>
            </a:r>
            <a:r>
              <a:rPr sz="1700">
                <a:solidFill>
                  <a:srgbClr val="1F2A44"/>
                </a:solidFill>
                <a:latin typeface="Calibri"/>
              </a:rPr>
              <a:t>Gallaudet</a:t>
            </a:r>
            <a:r>
              <a:rPr sz="1700">
                <a:solidFill>
                  <a:srgbClr val="1F2A44"/>
                </a:solidFill>
                <a:latin typeface="Calibri"/>
              </a:rPr>
              <a:t> (fascia perinei) → </a:t>
            </a:r>
            <a:r>
              <a:rPr sz="1700">
                <a:solidFill>
                  <a:srgbClr val="1F2A44"/>
                </a:solidFill>
                <a:latin typeface="Calibri"/>
              </a:rPr>
              <a:t>membrana perinei</a:t>
            </a:r>
            <a:r>
              <a:rPr sz="1700">
                <a:solidFill>
                  <a:srgbClr val="1F2A44"/>
                </a:solidFill>
                <a:latin typeface="Calibri"/>
              </a:rPr>
              <a:t>.</a:t>
            </a:r>
          </a:p>
          <a:p>
            <a:pPr>
              <a:spcAft>
                <a:spcPts val="600"/>
              </a:spcAft>
            </a:pPr>
            <a:r>
              <a:rPr sz="1700">
                <a:solidFill>
                  <a:srgbClr val="1F2A44"/>
                </a:solidFill>
                <a:latin typeface="Calibri"/>
              </a:rPr>
              <a:t>• </a:t>
            </a:r>
            <a:r>
              <a:rPr sz="1700">
                <a:solidFill>
                  <a:srgbClr val="1F2A44"/>
                </a:solidFill>
                <a:latin typeface="Calibri"/>
              </a:rPr>
              <a:t>Spatium superficiale</a:t>
            </a:r>
            <a:r>
              <a:rPr sz="1700">
                <a:solidFill>
                  <a:srgbClr val="1F2A44"/>
                </a:solidFill>
                <a:latin typeface="Calibri"/>
              </a:rPr>
              <a:t> önde karın duvarına açık (ekstravazasyon yolu); </a:t>
            </a:r>
            <a:r>
              <a:rPr sz="1700">
                <a:solidFill>
                  <a:srgbClr val="1F2A44"/>
                </a:solidFill>
                <a:latin typeface="Calibri"/>
              </a:rPr>
              <a:t>spatium profundum</a:t>
            </a:r>
            <a:r>
              <a:rPr sz="1700">
                <a:solidFill>
                  <a:srgbClr val="1F2A44"/>
                </a:solidFill>
                <a:latin typeface="Calibri"/>
              </a:rPr>
              <a:t> üstte fasyasız, fibromusküler plak – 'diaphragma urogenitale' terk edildi.</a:t>
            </a:r>
          </a:p>
          <a:p>
            <a:pPr>
              <a:spcAft>
                <a:spcPts val="600"/>
              </a:spcAft>
            </a:pPr>
            <a:r>
              <a:rPr sz="1700">
                <a:solidFill>
                  <a:srgbClr val="1F2A44"/>
                </a:solidFill>
                <a:latin typeface="Calibri"/>
              </a:rPr>
              <a:t>• Gl. bulbourethralis derin, gl. vestibularis major yüzeyel aralıkta.</a:t>
            </a:r>
          </a:p>
          <a:p>
            <a:pPr>
              <a:spcAft>
                <a:spcPts val="600"/>
              </a:spcAft>
            </a:pPr>
            <a:r>
              <a:rPr sz="1700">
                <a:solidFill>
                  <a:srgbClr val="1F2A44"/>
                </a:solidFill>
                <a:latin typeface="Calibri"/>
              </a:rPr>
              <a:t>• </a:t>
            </a:r>
            <a:r>
              <a:rPr sz="1700">
                <a:solidFill>
                  <a:srgbClr val="1F2A44"/>
                </a:solidFill>
                <a:latin typeface="Calibri"/>
              </a:rPr>
              <a:t>Corpus perineale</a:t>
            </a:r>
            <a:r>
              <a:rPr sz="1700">
                <a:solidFill>
                  <a:srgbClr val="1F2A44"/>
                </a:solidFill>
                <a:latin typeface="Calibri"/>
              </a:rPr>
              <a:t> kas sürekliliklerinin düğümü; episiotomi ve obstetrik yırtıkların anatomik temeli.</a:t>
            </a:r>
          </a:p>
          <a:p>
            <a:pPr>
              <a:spcAft>
                <a:spcPts val="600"/>
              </a:spcAft>
            </a:pPr>
            <a:r>
              <a:rPr sz="1700">
                <a:solidFill>
                  <a:srgbClr val="1F2A44"/>
                </a:solidFill>
                <a:latin typeface="Calibri"/>
              </a:rPr>
              <a:t>• </a:t>
            </a:r>
            <a:r>
              <a:rPr sz="1700">
                <a:solidFill>
                  <a:srgbClr val="1F2A44"/>
                </a:solidFill>
                <a:latin typeface="Calibri"/>
              </a:rPr>
              <a:t>Fossa ischioanalis</a:t>
            </a:r>
            <a:r>
              <a:rPr sz="1700">
                <a:solidFill>
                  <a:srgbClr val="1F2A44"/>
                </a:solidFill>
                <a:latin typeface="Calibri"/>
              </a:rPr>
              <a:t> at nalı biçiminde iletişimli; lateral duvarında canalis pudendalis.</a:t>
            </a:r>
          </a:p>
          <a:p>
            <a:pPr>
              <a:spcAft>
                <a:spcPts val="600"/>
              </a:spcAft>
            </a:pPr>
            <a:r>
              <a:rPr sz="1700">
                <a:solidFill>
                  <a:srgbClr val="1F2A44"/>
                </a:solidFill>
                <a:latin typeface="Calibri"/>
              </a:rPr>
              <a:t>• </a:t>
            </a:r>
            <a:r>
              <a:rPr sz="1700">
                <a:solidFill>
                  <a:srgbClr val="1F2A44"/>
                </a:solidFill>
                <a:latin typeface="Calibri"/>
              </a:rPr>
              <a:t>N. pudendus</a:t>
            </a:r>
            <a:r>
              <a:rPr sz="1700">
                <a:solidFill>
                  <a:srgbClr val="1F2A44"/>
                </a:solidFill>
                <a:latin typeface="Calibri"/>
              </a:rPr>
              <a:t> S2–S4; foramen ischiadicum majus → spina ischiadica/lig. sacrospinale → foramen minus → Alcock; gövde sayısı ≈%40–50 olguda birden fazla.</a:t>
            </a:r>
          </a:p>
        </p:txBody>
      </p:sp>
      <p:cxnSp>
        <p:nvCxnSpPr>
          <p:cNvPr id="6" name="Connector 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Kaynakça ve görsel lisansları (1)</a:t>
            </a:r>
          </a:p>
        </p:txBody>
      </p:sp>
      <p:sp>
        <p:nvSpPr>
          <p:cNvPr id="4" name="TextBox 3"/>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a:t>
            </a:r>
          </a:p>
        </p:txBody>
      </p:sp>
      <p:sp>
        <p:nvSpPr>
          <p:cNvPr id="5" name="TextBox 4"/>
          <p:cNvSpPr txBox="1"/>
          <p:nvPr/>
        </p:nvSpPr>
        <p:spPr>
          <a:xfrm>
            <a:off x="320040" y="1097280"/>
            <a:ext cx="11521440" cy="5257800"/>
          </a:xfrm>
          <a:prstGeom prst="rect">
            <a:avLst/>
          </a:prstGeom>
          <a:noFill/>
        </p:spPr>
        <p:txBody>
          <a:bodyPr wrap="square">
            <a:spAutoFit/>
          </a:bodyPr>
          <a:lstStyle/>
          <a:p>
            <a:pPr>
              <a:spcAft>
                <a:spcPts val="500"/>
              </a:spcAft>
            </a:pPr>
            <a:r>
              <a:rPr sz="1300">
                <a:solidFill>
                  <a:srgbClr val="1F2A44"/>
                </a:solidFill>
                <a:latin typeface="Calibri"/>
              </a:rPr>
              <a:t>• Kolesova O., Kolesovs A., Vetra J. Age-related trends of lesser pelvic architecture in females and males: a computed tomography pelvimetry study. </a:t>
            </a:r>
            <a:r>
              <a:rPr sz="1300">
                <a:solidFill>
                  <a:srgbClr val="1F2A44"/>
                </a:solidFill>
                <a:latin typeface="Calibri"/>
              </a:rPr>
              <a:t>Anatomy &amp; Cell Biology</a:t>
            </a:r>
            <a:r>
              <a:rPr sz="1300">
                <a:solidFill>
                  <a:srgbClr val="1F2A44"/>
                </a:solidFill>
                <a:latin typeface="Calibri"/>
              </a:rPr>
              <a:t> 2017. doi:10.5115/acb.2017.50.4.265 – PMC5768563 – </a:t>
            </a:r>
            <a:r>
              <a:rPr sz="1300">
                <a:solidFill>
                  <a:srgbClr val="1F2A44"/>
                </a:solidFill>
                <a:latin typeface="Calibri"/>
              </a:rPr>
              <a:t>CC BY-NC</a:t>
            </a:r>
          </a:p>
          <a:p>
            <a:pPr>
              <a:spcAft>
                <a:spcPts val="500"/>
              </a:spcAft>
            </a:pPr>
            <a:r>
              <a:rPr sz="1300">
                <a:solidFill>
                  <a:srgbClr val="1F2A44"/>
                </a:solidFill>
                <a:latin typeface="Calibri"/>
              </a:rPr>
              <a:t>• Colman K. L., van der Merwe A. E., Stull K. E. et al. The accuracy of 3D virtual bone models of the pelvis for morphological sex estimation. </a:t>
            </a:r>
            <a:r>
              <a:rPr sz="1300">
                <a:solidFill>
                  <a:srgbClr val="1F2A44"/>
                </a:solidFill>
                <a:latin typeface="Calibri"/>
              </a:rPr>
              <a:t>International Journal of Legal Medicine</a:t>
            </a:r>
            <a:r>
              <a:rPr sz="1300">
                <a:solidFill>
                  <a:srgbClr val="1F2A44"/>
                </a:solidFill>
                <a:latin typeface="Calibri"/>
              </a:rPr>
              <a:t> 2019. doi:10.1007/s00414-019-02002-7 – PMC6811666 – </a:t>
            </a:r>
            <a:r>
              <a:rPr sz="1300">
                <a:solidFill>
                  <a:srgbClr val="1F2A44"/>
                </a:solidFill>
                <a:latin typeface="Calibri"/>
              </a:rPr>
              <a:t>CC BY</a:t>
            </a:r>
          </a:p>
          <a:p>
            <a:pPr>
              <a:spcAft>
                <a:spcPts val="500"/>
              </a:spcAft>
            </a:pPr>
            <a:r>
              <a:rPr sz="1300">
                <a:solidFill>
                  <a:srgbClr val="1F2A44"/>
                </a:solidFill>
                <a:latin typeface="Calibri"/>
              </a:rPr>
              <a:t>• Goidescu O. C., Enyedi M., Tulin A. D. et al. Overview of the anatomical basis of the piriformis syndrome-dissection with magnetic resonance correlation. </a:t>
            </a:r>
            <a:r>
              <a:rPr sz="1300">
                <a:solidFill>
                  <a:srgbClr val="1F2A44"/>
                </a:solidFill>
                <a:latin typeface="Calibri"/>
              </a:rPr>
              <a:t>Experimental and Therapeutic Medicine</a:t>
            </a:r>
            <a:r>
              <a:rPr sz="1300">
                <a:solidFill>
                  <a:srgbClr val="1F2A44"/>
                </a:solidFill>
                <a:latin typeface="Calibri"/>
              </a:rPr>
              <a:t> 2021. doi:10.3892/etm.2021.11036 – PMC8713160 – </a:t>
            </a:r>
            <a:r>
              <a:rPr sz="1300">
                <a:solidFill>
                  <a:srgbClr val="1F2A44"/>
                </a:solidFill>
                <a:latin typeface="Calibri"/>
              </a:rPr>
              <a:t>CC BY-NC-ND</a:t>
            </a:r>
          </a:p>
          <a:p>
            <a:pPr>
              <a:spcAft>
                <a:spcPts val="500"/>
              </a:spcAft>
            </a:pPr>
            <a:r>
              <a:rPr sz="1300">
                <a:solidFill>
                  <a:srgbClr val="1F2A44"/>
                </a:solidFill>
                <a:latin typeface="Calibri"/>
              </a:rPr>
              <a:t>• Chin H. Y., Peng C. W., Wu M. P. et al. Attachment of the levator ani muscle extends to the superior ramus of the pubic bone through electrophysiological and anatomical examinations. </a:t>
            </a:r>
            <a:r>
              <a:rPr sz="1300">
                <a:solidFill>
                  <a:srgbClr val="1F2A44"/>
                </a:solidFill>
                <a:latin typeface="Calibri"/>
              </a:rPr>
              <a:t>Scientific Reports</a:t>
            </a:r>
            <a:r>
              <a:rPr sz="1300">
                <a:solidFill>
                  <a:srgbClr val="1F2A44"/>
                </a:solidFill>
                <a:latin typeface="Calibri"/>
              </a:rPr>
              <a:t> 2021. doi:10.1038/s41598-021-89041-6 – PMC8096964 – </a:t>
            </a:r>
            <a:r>
              <a:rPr sz="1300">
                <a:solidFill>
                  <a:srgbClr val="1F2A44"/>
                </a:solidFill>
                <a:latin typeface="Calibri"/>
              </a:rPr>
              <a:t>CC BY</a:t>
            </a:r>
          </a:p>
          <a:p>
            <a:pPr>
              <a:spcAft>
                <a:spcPts val="500"/>
              </a:spcAft>
            </a:pPr>
            <a:r>
              <a:rPr sz="1300">
                <a:solidFill>
                  <a:srgbClr val="1F2A44"/>
                </a:solidFill>
                <a:latin typeface="Calibri"/>
              </a:rPr>
              <a:t>• Muro S., Shoji S., Aoki M. et al. Novel Anatomical Findings in Robot‐Assisted Prostatectomy and Optimal Dissection Layer Selection for Preserving Urethral Support Structures. </a:t>
            </a:r>
            <a:r>
              <a:rPr sz="1300">
                <a:solidFill>
                  <a:srgbClr val="1F2A44"/>
                </a:solidFill>
                <a:latin typeface="Calibri"/>
              </a:rPr>
              <a:t>The Prostate</a:t>
            </a:r>
            <a:r>
              <a:rPr sz="1300">
                <a:solidFill>
                  <a:srgbClr val="1F2A44"/>
                </a:solidFill>
                <a:latin typeface="Calibri"/>
              </a:rPr>
              <a:t> 2025. doi:10.1002/pros.70030 – PMC12452807 – </a:t>
            </a:r>
            <a:r>
              <a:rPr sz="1300">
                <a:solidFill>
                  <a:srgbClr val="1F2A44"/>
                </a:solidFill>
                <a:latin typeface="Calibri"/>
              </a:rPr>
              <a:t>CC BY-NC</a:t>
            </a:r>
          </a:p>
          <a:p>
            <a:pPr>
              <a:spcAft>
                <a:spcPts val="500"/>
              </a:spcAft>
            </a:pPr>
            <a:r>
              <a:rPr sz="1300">
                <a:solidFill>
                  <a:srgbClr val="1F2A44"/>
                </a:solidFill>
                <a:latin typeface="Calibri"/>
              </a:rPr>
              <a:t>• Muro S., Tsukada Y., Ito M. et al. The series of smooth muscle structures in the pelvic floors of men: Dynamic coordination of smooth and skeletal muscles. </a:t>
            </a:r>
            <a:r>
              <a:rPr sz="1300">
                <a:solidFill>
                  <a:srgbClr val="1F2A44"/>
                </a:solidFill>
                <a:latin typeface="Calibri"/>
              </a:rPr>
              <a:t>Clinical Anatomy (New York, N.y.)</a:t>
            </a:r>
            <a:r>
              <a:rPr sz="1300">
                <a:solidFill>
                  <a:srgbClr val="1F2A44"/>
                </a:solidFill>
                <a:latin typeface="Calibri"/>
              </a:rPr>
              <a:t> 2020. doi:10.1002/ca.23713 – PMC7898478 – </a:t>
            </a:r>
            <a:r>
              <a:rPr sz="1300">
                <a:solidFill>
                  <a:srgbClr val="1F2A44"/>
                </a:solidFill>
                <a:latin typeface="Calibri"/>
              </a:rPr>
              <a:t>CC BY-NC-ND</a:t>
            </a:r>
          </a:p>
          <a:p>
            <a:pPr>
              <a:spcAft>
                <a:spcPts val="500"/>
              </a:spcAft>
            </a:pPr>
            <a:r>
              <a:rPr sz="1300">
                <a:solidFill>
                  <a:srgbClr val="1F2A44"/>
                </a:solidFill>
                <a:latin typeface="Calibri"/>
              </a:rPr>
              <a:t>• Garner D. K., Patel A. B., Hung J. et al. Midline and Mediolateral Episiotomy: Risk Assessment Based on Clinical Anatomy. </a:t>
            </a:r>
            <a:r>
              <a:rPr sz="1300">
                <a:solidFill>
                  <a:srgbClr val="1F2A44"/>
                </a:solidFill>
                <a:latin typeface="Calibri"/>
              </a:rPr>
              <a:t>Diagnostics</a:t>
            </a:r>
            <a:r>
              <a:rPr sz="1300">
                <a:solidFill>
                  <a:srgbClr val="1F2A44"/>
                </a:solidFill>
                <a:latin typeface="Calibri"/>
              </a:rPr>
              <a:t> 2021. doi:10.3390/diagnostics11020221 – PMC7913006 – </a:t>
            </a:r>
            <a:r>
              <a:rPr sz="1300">
                <a:solidFill>
                  <a:srgbClr val="1F2A44"/>
                </a:solidFill>
                <a:latin typeface="Calibri"/>
              </a:rPr>
              <a:t>CC BY</a:t>
            </a:r>
          </a:p>
          <a:p>
            <a:pPr>
              <a:spcAft>
                <a:spcPts val="500"/>
              </a:spcAft>
            </a:pPr>
            <a:r>
              <a:rPr sz="1300">
                <a:solidFill>
                  <a:srgbClr val="1F2A44"/>
                </a:solidFill>
                <a:latin typeface="Calibri"/>
              </a:rPr>
              <a:t>• Muro S., Chang L., Tharnmanularp S. et al. Presence of smooth muscle continuous with the rectal and vaginal walls in the deep perineal space prompts reconsideration of the deep transverse perineal muscle. </a:t>
            </a:r>
            <a:r>
              <a:rPr sz="1300">
                <a:solidFill>
                  <a:srgbClr val="1F2A44"/>
                </a:solidFill>
                <a:latin typeface="Calibri"/>
              </a:rPr>
              <a:t>Scientific Reports</a:t>
            </a:r>
            <a:r>
              <a:rPr sz="1300">
                <a:solidFill>
                  <a:srgbClr val="1F2A44"/>
                </a:solidFill>
                <a:latin typeface="Calibri"/>
              </a:rPr>
              <a:t> 2025. doi:10.1038/s41598-025-09585-9 – PMC12229694 – </a:t>
            </a:r>
            <a:r>
              <a:rPr sz="1300">
                <a:solidFill>
                  <a:srgbClr val="1F2A44"/>
                </a:solidFill>
                <a:latin typeface="Calibri"/>
              </a:rPr>
              <a:t>CC BY</a:t>
            </a:r>
          </a:p>
          <a:p>
            <a:pPr>
              <a:spcAft>
                <a:spcPts val="500"/>
              </a:spcAft>
            </a:pPr>
            <a:r>
              <a:rPr sz="1300">
                <a:solidFill>
                  <a:srgbClr val="1F2A44"/>
                </a:solidFill>
                <a:latin typeface="Calibri"/>
              </a:rPr>
              <a:t>• Filipoiu F. M., Ion R. T., Filipoiu Z. F. et al. Suspension of the penis – dissection, anatomical description and highlighting of anatomical risks in sectioning the suspensory ligaments. </a:t>
            </a:r>
            <a:r>
              <a:rPr sz="1300">
                <a:solidFill>
                  <a:srgbClr val="1F2A44"/>
                </a:solidFill>
                <a:latin typeface="Calibri"/>
              </a:rPr>
              <a:t>Basic and Clinical Andrology</a:t>
            </a:r>
            <a:r>
              <a:rPr sz="1300">
                <a:solidFill>
                  <a:srgbClr val="1F2A44"/>
                </a:solidFill>
                <a:latin typeface="Calibri"/>
              </a:rPr>
              <a:t> 2023. doi:10.1186/s12610-023-00202-1 – PMC10594829 – </a:t>
            </a:r>
            <a:r>
              <a:rPr sz="1300">
                <a:solidFill>
                  <a:srgbClr val="1F2A44"/>
                </a:solidFill>
                <a:latin typeface="Calibri"/>
              </a:rPr>
              <a:t>CC BY</a:t>
            </a:r>
          </a:p>
        </p:txBody>
      </p:sp>
      <p:cxnSp>
        <p:nvCxnSpPr>
          <p:cNvPr id="6" name="Connector 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PMC görselleri AWS PMC Open Access deposundan (pmc-oa-opendata) indirilmiştir; lisans, md5 ve özgün altyazılar sources/perine_*.json içinde.</a:t>
            </a:r>
          </a:p>
        </p:txBody>
      </p:sp>
      <p:sp>
        <p:nvSpPr>
          <p:cNvPr id="8" name="TextBox 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Kaynakça ve görsel lisansları (2)</a:t>
            </a:r>
          </a:p>
        </p:txBody>
      </p:sp>
      <p:sp>
        <p:nvSpPr>
          <p:cNvPr id="4" name="TextBox 3"/>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a:t>
            </a:r>
          </a:p>
        </p:txBody>
      </p:sp>
      <p:sp>
        <p:nvSpPr>
          <p:cNvPr id="5" name="TextBox 4"/>
          <p:cNvSpPr txBox="1"/>
          <p:nvPr/>
        </p:nvSpPr>
        <p:spPr>
          <a:xfrm>
            <a:off x="320040" y="1097280"/>
            <a:ext cx="11521440" cy="5257800"/>
          </a:xfrm>
          <a:prstGeom prst="rect">
            <a:avLst/>
          </a:prstGeom>
          <a:noFill/>
        </p:spPr>
        <p:txBody>
          <a:bodyPr wrap="square">
            <a:spAutoFit/>
          </a:bodyPr>
          <a:lstStyle/>
          <a:p>
            <a:pPr>
              <a:spcAft>
                <a:spcPts val="500"/>
              </a:spcAft>
            </a:pPr>
            <a:r>
              <a:rPr sz="1300">
                <a:solidFill>
                  <a:srgbClr val="1F2A44"/>
                </a:solidFill>
                <a:latin typeface="Calibri"/>
              </a:rPr>
              <a:t>• Kampelmann M., Grindley C., Mühlfeld C. et al. Macroscopical and histological characterization of the perineal membrane and deep perineal pouch. </a:t>
            </a:r>
            <a:r>
              <a:rPr sz="1300">
                <a:solidFill>
                  <a:srgbClr val="1F2A44"/>
                </a:solidFill>
                <a:latin typeface="Calibri"/>
              </a:rPr>
              <a:t>Journal of Anatomy</a:t>
            </a:r>
            <a:r>
              <a:rPr sz="1300">
                <a:solidFill>
                  <a:srgbClr val="1F2A44"/>
                </a:solidFill>
                <a:latin typeface="Calibri"/>
              </a:rPr>
              <a:t> 2025. doi:10.1111/joa.70057 – PMC13069139 – </a:t>
            </a:r>
            <a:r>
              <a:rPr sz="1300">
                <a:solidFill>
                  <a:srgbClr val="1F2A44"/>
                </a:solidFill>
                <a:latin typeface="Calibri"/>
              </a:rPr>
              <a:t>CC BY</a:t>
            </a:r>
          </a:p>
          <a:p>
            <a:pPr>
              <a:spcAft>
                <a:spcPts val="500"/>
              </a:spcAft>
            </a:pPr>
            <a:r>
              <a:rPr sz="1300">
                <a:solidFill>
                  <a:srgbClr val="1F2A44"/>
                </a:solidFill>
                <a:latin typeface="Calibri"/>
              </a:rPr>
              <a:t>• Muro S., Suriyut J., Akita K. Anatomy of Cowper’s gland in humans suggesting a secretion and emission mechanism facilitated by cooperation of striated and smooth muscles. </a:t>
            </a:r>
            <a:r>
              <a:rPr sz="1300">
                <a:solidFill>
                  <a:srgbClr val="1F2A44"/>
                </a:solidFill>
                <a:latin typeface="Calibri"/>
              </a:rPr>
              <a:t>Scientific Reports</a:t>
            </a:r>
            <a:r>
              <a:rPr sz="1300">
                <a:solidFill>
                  <a:srgbClr val="1F2A44"/>
                </a:solidFill>
                <a:latin typeface="Calibri"/>
              </a:rPr>
              <a:t> 2021. doi:10.1038/s41598-021-96130-z – PMC8373982 – </a:t>
            </a:r>
            <a:r>
              <a:rPr sz="1300">
                <a:solidFill>
                  <a:srgbClr val="1F2A44"/>
                </a:solidFill>
                <a:latin typeface="Calibri"/>
              </a:rPr>
              <a:t>CC BY</a:t>
            </a:r>
          </a:p>
          <a:p>
            <a:pPr>
              <a:spcAft>
                <a:spcPts val="500"/>
              </a:spcAft>
            </a:pPr>
            <a:r>
              <a:rPr sz="1300">
                <a:solidFill>
                  <a:srgbClr val="1F2A44"/>
                </a:solidFill>
                <a:latin typeface="Calibri"/>
              </a:rPr>
              <a:t>• Suriyut J., Muro S., Baramee P. et al. Various significant connections of the male pelvic floor muscles with special reference to the anal and urethral sphincter muscles. </a:t>
            </a:r>
            <a:r>
              <a:rPr sz="1300">
                <a:solidFill>
                  <a:srgbClr val="1F2A44"/>
                </a:solidFill>
                <a:latin typeface="Calibri"/>
              </a:rPr>
              <a:t>Anatomical Science International</a:t>
            </a:r>
            <a:r>
              <a:rPr sz="1300">
                <a:solidFill>
                  <a:srgbClr val="1F2A44"/>
                </a:solidFill>
                <a:latin typeface="Calibri"/>
              </a:rPr>
              <a:t> 2019. doi:10.1007/s12565-019-00521-2 – PMC7182620 – </a:t>
            </a:r>
            <a:r>
              <a:rPr sz="1300">
                <a:solidFill>
                  <a:srgbClr val="1F2A44"/>
                </a:solidFill>
                <a:latin typeface="Calibri"/>
              </a:rPr>
              <a:t>CC BY</a:t>
            </a:r>
          </a:p>
          <a:p>
            <a:pPr>
              <a:spcAft>
                <a:spcPts val="500"/>
              </a:spcAft>
            </a:pPr>
            <a:r>
              <a:rPr sz="1300">
                <a:solidFill>
                  <a:srgbClr val="1F2A44"/>
                </a:solidFill>
                <a:latin typeface="Calibri"/>
              </a:rPr>
              <a:t>• Tunçkol E., Heim C., Brunk I. et al. Innervation pattern and fiber counts of the human dorsal nerve of clitoris. </a:t>
            </a:r>
            <a:r>
              <a:rPr sz="1300">
                <a:solidFill>
                  <a:srgbClr val="1F2A44"/>
                </a:solidFill>
                <a:latin typeface="Calibri"/>
              </a:rPr>
              <a:t>Scientific Reports</a:t>
            </a:r>
            <a:r>
              <a:rPr sz="1300">
                <a:solidFill>
                  <a:srgbClr val="1F2A44"/>
                </a:solidFill>
                <a:latin typeface="Calibri"/>
              </a:rPr>
              <a:t> 2024. doi:10.1038/s41598-024-72898-8 – PMC11452485 – </a:t>
            </a:r>
            <a:r>
              <a:rPr sz="1300">
                <a:solidFill>
                  <a:srgbClr val="1F2A44"/>
                </a:solidFill>
                <a:latin typeface="Calibri"/>
              </a:rPr>
              <a:t>CC BY</a:t>
            </a:r>
          </a:p>
          <a:p>
            <a:pPr>
              <a:spcAft>
                <a:spcPts val="500"/>
              </a:spcAft>
            </a:pPr>
            <a:r>
              <a:rPr sz="1300">
                <a:solidFill>
                  <a:srgbClr val="1F2A44"/>
                </a:solidFill>
                <a:latin typeface="Calibri"/>
              </a:rPr>
              <a:t>• Baramee P., Muro S., Suriyut J. et al. Three muscle slings of the pelvic floor in women: an anatomic study. </a:t>
            </a:r>
            <a:r>
              <a:rPr sz="1300">
                <a:solidFill>
                  <a:srgbClr val="1F2A44"/>
                </a:solidFill>
                <a:latin typeface="Calibri"/>
              </a:rPr>
              <a:t>Anatomical Science International</a:t>
            </a:r>
            <a:r>
              <a:rPr sz="1300">
                <a:solidFill>
                  <a:srgbClr val="1F2A44"/>
                </a:solidFill>
                <a:latin typeface="Calibri"/>
              </a:rPr>
              <a:t> 2019. doi:10.1007/s12565-019-00492-4 – PMC6942605 – </a:t>
            </a:r>
            <a:r>
              <a:rPr sz="1300">
                <a:solidFill>
                  <a:srgbClr val="1F2A44"/>
                </a:solidFill>
                <a:latin typeface="Calibri"/>
              </a:rPr>
              <a:t>CC BY</a:t>
            </a:r>
          </a:p>
          <a:p>
            <a:pPr>
              <a:spcAft>
                <a:spcPts val="500"/>
              </a:spcAft>
            </a:pPr>
            <a:r>
              <a:rPr sz="1300">
                <a:solidFill>
                  <a:srgbClr val="1F2A44"/>
                </a:solidFill>
                <a:latin typeface="Calibri"/>
              </a:rPr>
              <a:t>• Hinata N., Murakami G. The Urethral Rhabdosphincter, Levator Ani Muscle, and Perineal Membrane: A Review. </a:t>
            </a:r>
            <a:r>
              <a:rPr sz="1300">
                <a:solidFill>
                  <a:srgbClr val="1F2A44"/>
                </a:solidFill>
                <a:latin typeface="Calibri"/>
              </a:rPr>
              <a:t>BioMed Research International</a:t>
            </a:r>
            <a:r>
              <a:rPr sz="1300">
                <a:solidFill>
                  <a:srgbClr val="1F2A44"/>
                </a:solidFill>
                <a:latin typeface="Calibri"/>
              </a:rPr>
              <a:t> 2014. doi:10.1155/2014/906921 – PMC4022307 – </a:t>
            </a:r>
            <a:r>
              <a:rPr sz="1300">
                <a:solidFill>
                  <a:srgbClr val="1F2A44"/>
                </a:solidFill>
                <a:latin typeface="Calibri"/>
              </a:rPr>
              <a:t>CC BY</a:t>
            </a:r>
          </a:p>
          <a:p>
            <a:pPr>
              <a:spcAft>
                <a:spcPts val="500"/>
              </a:spcAft>
            </a:pPr>
            <a:r>
              <a:rPr sz="1300">
                <a:solidFill>
                  <a:srgbClr val="1F2A44"/>
                </a:solidFill>
                <a:latin typeface="Calibri"/>
              </a:rPr>
              <a:t>• Muro S., Akita K. Pelvic floor and perineal muscles: a dynamic coordination between skeletal and smooth muscles on pelvic floor stabilization. </a:t>
            </a:r>
            <a:r>
              <a:rPr sz="1300">
                <a:solidFill>
                  <a:srgbClr val="1F2A44"/>
                </a:solidFill>
                <a:latin typeface="Calibri"/>
              </a:rPr>
              <a:t>Anatomical Science International</a:t>
            </a:r>
            <a:r>
              <a:rPr sz="1300">
                <a:solidFill>
                  <a:srgbClr val="1F2A44"/>
                </a:solidFill>
                <a:latin typeface="Calibri"/>
              </a:rPr>
              <a:t> 2023. doi:10.1007/s12565-023-00717-7 – PMC10256674 – </a:t>
            </a:r>
            <a:r>
              <a:rPr sz="1300">
                <a:solidFill>
                  <a:srgbClr val="1F2A44"/>
                </a:solidFill>
                <a:latin typeface="Calibri"/>
              </a:rPr>
              <a:t>CC BY</a:t>
            </a:r>
          </a:p>
          <a:p>
            <a:pPr>
              <a:spcAft>
                <a:spcPts val="500"/>
              </a:spcAft>
            </a:pPr>
            <a:r>
              <a:rPr sz="1300">
                <a:solidFill>
                  <a:srgbClr val="1F2A44"/>
                </a:solidFill>
                <a:latin typeface="Calibri"/>
              </a:rPr>
              <a:t>• Beco J., Climov D., Bex M. Pudendal nerve decompression in perineology : a case series. </a:t>
            </a:r>
            <a:r>
              <a:rPr sz="1300">
                <a:solidFill>
                  <a:srgbClr val="1F2A44"/>
                </a:solidFill>
                <a:latin typeface="Calibri"/>
              </a:rPr>
              <a:t>BMC Surgery</a:t>
            </a:r>
            <a:r>
              <a:rPr sz="1300">
                <a:solidFill>
                  <a:srgbClr val="1F2A44"/>
                </a:solidFill>
                <a:latin typeface="Calibri"/>
              </a:rPr>
              <a:t> 2004. doi:10.1186/1471-2482-4-15 – PMC529451 – </a:t>
            </a:r>
            <a:r>
              <a:rPr sz="1300">
                <a:solidFill>
                  <a:srgbClr val="1F2A44"/>
                </a:solidFill>
                <a:latin typeface="Calibri"/>
              </a:rPr>
              <a:t>CC BY</a:t>
            </a:r>
          </a:p>
          <a:p>
            <a:pPr>
              <a:spcAft>
                <a:spcPts val="500"/>
              </a:spcAft>
            </a:pPr>
            <a:r>
              <a:rPr sz="1300">
                <a:solidFill>
                  <a:srgbClr val="1F2A44"/>
                </a:solidFill>
                <a:latin typeface="Calibri"/>
              </a:rPr>
              <a:t>• Agarwal P., Sharma D., Wankhede S. et al. Sciatic Nerve to Pudendal Nerve Transfer: Anatomical Feasibility for a New Proposed Technique. </a:t>
            </a:r>
            <a:r>
              <a:rPr sz="1300">
                <a:solidFill>
                  <a:srgbClr val="1F2A44"/>
                </a:solidFill>
                <a:latin typeface="Calibri"/>
              </a:rPr>
              <a:t>Indian Journal of Plastic Surgery : Official Publication of the Association of Plastic Surgeons of India</a:t>
            </a:r>
            <a:r>
              <a:rPr sz="1300">
                <a:solidFill>
                  <a:srgbClr val="1F2A44"/>
                </a:solidFill>
                <a:latin typeface="Calibri"/>
              </a:rPr>
              <a:t> 2019. doi:10.1055/s-0039-1688513 – PMC6785340 – </a:t>
            </a:r>
            <a:r>
              <a:rPr sz="1300">
                <a:solidFill>
                  <a:srgbClr val="1F2A44"/>
                </a:solidFill>
                <a:latin typeface="Calibri"/>
              </a:rPr>
              <a:t>CC BY-NC-ND</a:t>
            </a:r>
          </a:p>
        </p:txBody>
      </p:sp>
      <p:cxnSp>
        <p:nvCxnSpPr>
          <p:cNvPr id="6" name="Connector 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PMC görselleri AWS PMC Open Access deposundan (pmc-oa-opendata) indirilmiştir; lisans, md5 ve özgün altyazılar sources/perine_*.json içinde.</a:t>
            </a:r>
          </a:p>
        </p:txBody>
      </p:sp>
      <p:sp>
        <p:nvSpPr>
          <p:cNvPr id="8" name="TextBox 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Kaynakça ve görsel lisansları (3)</a:t>
            </a:r>
          </a:p>
        </p:txBody>
      </p:sp>
      <p:sp>
        <p:nvSpPr>
          <p:cNvPr id="4" name="TextBox 3"/>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a:t>
            </a:r>
          </a:p>
        </p:txBody>
      </p:sp>
      <p:sp>
        <p:nvSpPr>
          <p:cNvPr id="5" name="TextBox 4"/>
          <p:cNvSpPr txBox="1"/>
          <p:nvPr/>
        </p:nvSpPr>
        <p:spPr>
          <a:xfrm>
            <a:off x="320040" y="1097280"/>
            <a:ext cx="11521440" cy="5257800"/>
          </a:xfrm>
          <a:prstGeom prst="rect">
            <a:avLst/>
          </a:prstGeom>
          <a:noFill/>
        </p:spPr>
        <p:txBody>
          <a:bodyPr wrap="square">
            <a:spAutoFit/>
          </a:bodyPr>
          <a:lstStyle/>
          <a:p>
            <a:pPr>
              <a:spcAft>
                <a:spcPts val="500"/>
              </a:spcAft>
            </a:pPr>
            <a:r>
              <a:rPr sz="1300">
                <a:solidFill>
                  <a:srgbClr val="1F2A44"/>
                </a:solidFill>
                <a:latin typeface="Calibri"/>
              </a:rPr>
              <a:t>• Ranjan R., Chanda C., Kushwaha R. et al. Anatomical Study of the Variants of the Extrapelvic Part of the Pudendal Nerve. </a:t>
            </a:r>
            <a:r>
              <a:rPr sz="1300">
                <a:solidFill>
                  <a:srgbClr val="1F2A44"/>
                </a:solidFill>
                <a:latin typeface="Calibri"/>
              </a:rPr>
              <a:t>Cureus</a:t>
            </a:r>
            <a:r>
              <a:rPr sz="1300">
                <a:solidFill>
                  <a:srgbClr val="1F2A44"/>
                </a:solidFill>
                <a:latin typeface="Calibri"/>
              </a:rPr>
              <a:t> 2022. doi:10.7759/cureus.28281 – PMC9492552 – </a:t>
            </a:r>
            <a:r>
              <a:rPr sz="1300">
                <a:solidFill>
                  <a:srgbClr val="1F2A44"/>
                </a:solidFill>
                <a:latin typeface="Calibri"/>
              </a:rPr>
              <a:t>CC BY</a:t>
            </a:r>
          </a:p>
          <a:p>
            <a:pPr>
              <a:spcAft>
                <a:spcPts val="500"/>
              </a:spcAft>
            </a:pPr>
            <a:r>
              <a:rPr sz="1300">
                <a:solidFill>
                  <a:srgbClr val="1F2A44"/>
                </a:solidFill>
                <a:latin typeface="Calibri"/>
              </a:rPr>
              <a:t>• Suganya G., Ray B., Bharadwaj Y. Morphology and morphometry of pudendal nerve in East Indian population with surgical implications: a cadaveric study. </a:t>
            </a:r>
            <a:r>
              <a:rPr sz="1300">
                <a:solidFill>
                  <a:srgbClr val="1F2A44"/>
                </a:solidFill>
                <a:latin typeface="Calibri"/>
              </a:rPr>
              <a:t>Anatomy &amp; Cell Biology</a:t>
            </a:r>
            <a:r>
              <a:rPr sz="1300">
                <a:solidFill>
                  <a:srgbClr val="1F2A44"/>
                </a:solidFill>
                <a:latin typeface="Calibri"/>
              </a:rPr>
              <a:t> 2025. doi:10.5115/acb.25.012 – PMC12519013 – </a:t>
            </a:r>
            <a:r>
              <a:rPr sz="1300">
                <a:solidFill>
                  <a:srgbClr val="1F2A44"/>
                </a:solidFill>
                <a:latin typeface="Calibri"/>
              </a:rPr>
              <a:t>CC BY-NC</a:t>
            </a:r>
          </a:p>
          <a:p>
            <a:pPr>
              <a:spcAft>
                <a:spcPts val="500"/>
              </a:spcAft>
            </a:pPr>
            <a:r>
              <a:rPr sz="1300">
                <a:solidFill>
                  <a:srgbClr val="1F2A44"/>
                </a:solidFill>
                <a:latin typeface="Calibri"/>
              </a:rPr>
              <a:t>• Dupont G., Iwanaga J., Oskouian R. J. et al. Report of an inferior rectal nerve variant arising from the S3 ventral ramus. </a:t>
            </a:r>
            <a:r>
              <a:rPr sz="1300">
                <a:solidFill>
                  <a:srgbClr val="1F2A44"/>
                </a:solidFill>
                <a:latin typeface="Calibri"/>
              </a:rPr>
              <a:t>Anatomy &amp; Cell Biology</a:t>
            </a:r>
            <a:r>
              <a:rPr sz="1300">
                <a:solidFill>
                  <a:srgbClr val="1F2A44"/>
                </a:solidFill>
                <a:latin typeface="Calibri"/>
              </a:rPr>
              <a:t> 2019. doi:10.5115/acb.2019.52.1.100 – PMC6449584 – </a:t>
            </a:r>
            <a:r>
              <a:rPr sz="1300">
                <a:solidFill>
                  <a:srgbClr val="1F2A44"/>
                </a:solidFill>
                <a:latin typeface="Calibri"/>
              </a:rPr>
              <a:t>CC BY-NC</a:t>
            </a:r>
          </a:p>
          <a:p>
            <a:pPr>
              <a:spcAft>
                <a:spcPts val="500"/>
              </a:spcAft>
            </a:pPr>
            <a:r>
              <a:rPr sz="1300">
                <a:solidFill>
                  <a:srgbClr val="1F2A44"/>
                </a:solidFill>
                <a:latin typeface="Calibri"/>
              </a:rPr>
              <a:t>• Nayak S. B., Guru A., Reghunathan D. et al. Clinical importance of a star shaped branch of internal iliac artery and unusual branches of an abnormal obturator artery: rare vascular variations. </a:t>
            </a:r>
            <a:r>
              <a:rPr sz="1300">
                <a:solidFill>
                  <a:srgbClr val="1F2A44"/>
                </a:solidFill>
                <a:latin typeface="Calibri"/>
              </a:rPr>
              <a:t>Jornal Vascular Brasileiro</a:t>
            </a:r>
            <a:r>
              <a:rPr sz="1300">
                <a:solidFill>
                  <a:srgbClr val="1F2A44"/>
                </a:solidFill>
                <a:latin typeface="Calibri"/>
              </a:rPr>
              <a:t> 2016. doi:10.1590/1677-5449.000116 – PMC5829714 – </a:t>
            </a:r>
            <a:r>
              <a:rPr sz="1300">
                <a:solidFill>
                  <a:srgbClr val="1F2A44"/>
                </a:solidFill>
                <a:latin typeface="Calibri"/>
              </a:rPr>
              <a:t>CC BY</a:t>
            </a:r>
          </a:p>
          <a:p>
            <a:pPr>
              <a:spcAft>
                <a:spcPts val="500"/>
              </a:spcAft>
            </a:pPr>
            <a:r>
              <a:rPr sz="1300">
                <a:solidFill>
                  <a:srgbClr val="1F2A44"/>
                </a:solidFill>
                <a:latin typeface="Calibri"/>
              </a:rPr>
              <a:t>• Nayak S. B., Kumar N., Patil J. et al. A Rare Variation in the Origin and Course of the Artery of Penis. </a:t>
            </a:r>
            <a:r>
              <a:rPr sz="1300">
                <a:solidFill>
                  <a:srgbClr val="1F2A44"/>
                </a:solidFill>
                <a:latin typeface="Calibri"/>
              </a:rPr>
              <a:t>Case Reports in Vascular Medicine</a:t>
            </a:r>
            <a:r>
              <a:rPr sz="1300">
                <a:solidFill>
                  <a:srgbClr val="1F2A44"/>
                </a:solidFill>
                <a:latin typeface="Calibri"/>
              </a:rPr>
              <a:t> 2014. doi:10.1155/2014/193194 – PMC3971847 – </a:t>
            </a:r>
            <a:r>
              <a:rPr sz="1300">
                <a:solidFill>
                  <a:srgbClr val="1F2A44"/>
                </a:solidFill>
                <a:latin typeface="Calibri"/>
              </a:rPr>
              <a:t>CC BY</a:t>
            </a:r>
          </a:p>
          <a:p>
            <a:pPr>
              <a:spcAft>
                <a:spcPts val="500"/>
              </a:spcAft>
            </a:pPr>
            <a:r>
              <a:rPr sz="1300">
                <a:solidFill>
                  <a:srgbClr val="1F2A44"/>
                </a:solidFill>
                <a:latin typeface="Calibri"/>
              </a:rPr>
              <a:t>• Wu Y., Dabhoiwala N. F., Hagoort J. et al. 3D Topography of the Young Adult Anal Sphincter Complex Reconstructed from Undeformed Serial Anatomical Sections. </a:t>
            </a:r>
            <a:r>
              <a:rPr sz="1300">
                <a:solidFill>
                  <a:srgbClr val="1F2A44"/>
                </a:solidFill>
                <a:latin typeface="Calibri"/>
              </a:rPr>
              <a:t>PLoS ONE</a:t>
            </a:r>
            <a:r>
              <a:rPr sz="1300">
                <a:solidFill>
                  <a:srgbClr val="1F2A44"/>
                </a:solidFill>
                <a:latin typeface="Calibri"/>
              </a:rPr>
              <a:t> 2015. doi:10.1371/journal.pone.0132226 – PMC4549266 – </a:t>
            </a:r>
            <a:r>
              <a:rPr sz="1300">
                <a:solidFill>
                  <a:srgbClr val="1F2A44"/>
                </a:solidFill>
                <a:latin typeface="Calibri"/>
              </a:rPr>
              <a:t>CC BY</a:t>
            </a:r>
          </a:p>
          <a:p>
            <a:pPr>
              <a:spcAft>
                <a:spcPts val="500"/>
              </a:spcAft>
            </a:pPr>
            <a:r>
              <a:rPr sz="1300">
                <a:solidFill>
                  <a:srgbClr val="1F2A44"/>
                </a:solidFill>
                <a:latin typeface="Calibri"/>
              </a:rPr>
              <a:t>• Asfour V., Digesu G. A., Fernando R. et al. Ultrasound imaging of the perineal body: a useful clinical tool. </a:t>
            </a:r>
            <a:r>
              <a:rPr sz="1300">
                <a:solidFill>
                  <a:srgbClr val="1F2A44"/>
                </a:solidFill>
                <a:latin typeface="Calibri"/>
              </a:rPr>
              <a:t>International Urogynecology Journal</a:t>
            </a:r>
            <a:r>
              <a:rPr sz="1300">
                <a:solidFill>
                  <a:srgbClr val="1F2A44"/>
                </a:solidFill>
                <a:latin typeface="Calibri"/>
              </a:rPr>
              <a:t> 2019. doi:10.1007/s00192-019-04166-7 – PMC7270988 – </a:t>
            </a:r>
            <a:r>
              <a:rPr sz="1300">
                <a:solidFill>
                  <a:srgbClr val="1F2A44"/>
                </a:solidFill>
                <a:latin typeface="Calibri"/>
              </a:rPr>
              <a:t>CC BY</a:t>
            </a:r>
          </a:p>
          <a:p>
            <a:pPr>
              <a:spcAft>
                <a:spcPts val="500"/>
              </a:spcAft>
            </a:pPr>
            <a:r>
              <a:rPr sz="1300">
                <a:solidFill>
                  <a:srgbClr val="1F2A44"/>
                </a:solidFill>
                <a:latin typeface="Calibri"/>
              </a:rPr>
              <a:t>• Federative International Programme for Anatomical Terminology (FIPAT). </a:t>
            </a:r>
            <a:r>
              <a:rPr sz="1300">
                <a:solidFill>
                  <a:srgbClr val="1F2A44"/>
                </a:solidFill>
                <a:latin typeface="Calibri"/>
              </a:rPr>
              <a:t>Terminologia Anatomica</a:t>
            </a:r>
            <a:r>
              <a:rPr sz="1300">
                <a:solidFill>
                  <a:srgbClr val="1F2A44"/>
                </a:solidFill>
                <a:latin typeface="Calibri"/>
              </a:rPr>
              <a:t>, 2nd ed. 2019.</a:t>
            </a:r>
          </a:p>
          <a:p>
            <a:pPr>
              <a:spcAft>
                <a:spcPts val="500"/>
              </a:spcAft>
            </a:pPr>
            <a:r>
              <a:rPr sz="1300">
                <a:solidFill>
                  <a:srgbClr val="1F2A44"/>
                </a:solidFill>
                <a:latin typeface="Calibri"/>
              </a:rPr>
              <a:t>• Oelrich TM. The urethral sphincter muscle in the male. </a:t>
            </a:r>
            <a:r>
              <a:rPr sz="1300">
                <a:solidFill>
                  <a:srgbClr val="1F2A44"/>
                </a:solidFill>
                <a:latin typeface="Calibri"/>
              </a:rPr>
              <a:t>Am J Anat</a:t>
            </a:r>
            <a:r>
              <a:rPr sz="1300">
                <a:solidFill>
                  <a:srgbClr val="1F2A44"/>
                </a:solidFill>
                <a:latin typeface="Calibri"/>
              </a:rPr>
              <a:t> 1980;158:229–246.</a:t>
            </a:r>
          </a:p>
        </p:txBody>
      </p:sp>
      <p:cxnSp>
        <p:nvCxnSpPr>
          <p:cNvPr id="6" name="Connector 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PMC görselleri AWS PMC Open Access deposundan (pmc-oa-opendata) indirilmiştir; lisans, md5 ve özgün altyazılar sources/perine_*.json içinde.</a:t>
            </a:r>
          </a:p>
        </p:txBody>
      </p:sp>
      <p:sp>
        <p:nvSpPr>
          <p:cNvPr id="8" name="TextBox 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64008"/>
            <a:ext cx="9326880" cy="502920"/>
          </a:xfrm>
          <a:prstGeom prst="rect">
            <a:avLst/>
          </a:prstGeom>
          <a:noFill/>
        </p:spPr>
        <p:txBody>
          <a:bodyPr wrap="square" anchor="t" lIns="45720" rIns="45720" tIns="18288" bIns="18288">
            <a:spAutoFit/>
          </a:bodyPr>
          <a:lstStyle/>
          <a:p>
            <a:pPr algn="l"/>
            <a:r>
              <a:rPr sz="2800" b="1" i="0">
                <a:solidFill>
                  <a:srgbClr val="FFFFFF"/>
                </a:solidFill>
                <a:latin typeface="Calibri"/>
              </a:rPr>
              <a:t>Kaynakça ve görsel lisansları (4)</a:t>
            </a:r>
          </a:p>
        </p:txBody>
      </p:sp>
      <p:sp>
        <p:nvSpPr>
          <p:cNvPr id="4" name="TextBox 3"/>
          <p:cNvSpPr txBox="1"/>
          <p:nvPr/>
        </p:nvSpPr>
        <p:spPr>
          <a:xfrm>
            <a:off x="9921240" y="109728"/>
            <a:ext cx="2057400" cy="310896"/>
          </a:xfrm>
          <a:prstGeom prst="rect">
            <a:avLst/>
          </a:prstGeom>
          <a:solidFill>
            <a:srgbClr val="C0392B"/>
          </a:solidFill>
        </p:spPr>
        <p:txBody>
          <a:bodyPr wrap="square" anchor="ctr" lIns="45720" rIns="45720" tIns="18288" bIns="18288">
            <a:spAutoFit/>
          </a:bodyPr>
          <a:lstStyle/>
          <a:p>
            <a:pPr algn="ctr"/>
            <a:r>
              <a:rPr sz="1100" b="1" i="0">
                <a:solidFill>
                  <a:srgbClr val="FFFFFF"/>
                </a:solidFill>
                <a:latin typeface="Calibri"/>
              </a:rPr>
              <a:t>LİTERATÜR</a:t>
            </a:r>
          </a:p>
        </p:txBody>
      </p:sp>
      <p:sp>
        <p:nvSpPr>
          <p:cNvPr id="5" name="TextBox 4"/>
          <p:cNvSpPr txBox="1"/>
          <p:nvPr/>
        </p:nvSpPr>
        <p:spPr>
          <a:xfrm>
            <a:off x="320040" y="1097280"/>
            <a:ext cx="11521440" cy="5257800"/>
          </a:xfrm>
          <a:prstGeom prst="rect">
            <a:avLst/>
          </a:prstGeom>
          <a:noFill/>
        </p:spPr>
        <p:txBody>
          <a:bodyPr wrap="square">
            <a:spAutoFit/>
          </a:bodyPr>
          <a:lstStyle/>
          <a:p>
            <a:pPr>
              <a:spcAft>
                <a:spcPts val="500"/>
              </a:spcAft>
            </a:pPr>
            <a:r>
              <a:rPr sz="1300">
                <a:solidFill>
                  <a:srgbClr val="1F2A44"/>
                </a:solidFill>
                <a:latin typeface="Calibri"/>
              </a:rPr>
              <a:t>• Oelrich TM. The striated urogenital sphincter muscle in the female. </a:t>
            </a:r>
            <a:r>
              <a:rPr sz="1300">
                <a:solidFill>
                  <a:srgbClr val="1F2A44"/>
                </a:solidFill>
                <a:latin typeface="Calibri"/>
              </a:rPr>
              <a:t>Anat Rec</a:t>
            </a:r>
            <a:r>
              <a:rPr sz="1300">
                <a:solidFill>
                  <a:srgbClr val="1F2A44"/>
                </a:solidFill>
                <a:latin typeface="Calibri"/>
              </a:rPr>
              <a:t> 1983;205:223–232.</a:t>
            </a:r>
          </a:p>
          <a:p>
            <a:pPr>
              <a:spcAft>
                <a:spcPts val="500"/>
              </a:spcAft>
            </a:pPr>
            <a:r>
              <a:rPr sz="1300">
                <a:solidFill>
                  <a:srgbClr val="1F2A44"/>
                </a:solidFill>
                <a:latin typeface="Calibri"/>
              </a:rPr>
              <a:t>• Mirilas P, Skandalakis JE. Urogenital diaphragm: an erroneous concept casting its shadow over the sphincter urethrae and deep perineal space. </a:t>
            </a:r>
            <a:r>
              <a:rPr sz="1300">
                <a:solidFill>
                  <a:srgbClr val="1F2A44"/>
                </a:solidFill>
                <a:latin typeface="Calibri"/>
              </a:rPr>
              <a:t>J Am Coll Surg</a:t>
            </a:r>
            <a:r>
              <a:rPr sz="1300">
                <a:solidFill>
                  <a:srgbClr val="1F2A44"/>
                </a:solidFill>
                <a:latin typeface="Calibri"/>
              </a:rPr>
              <a:t> 2004;198:279–290.</a:t>
            </a:r>
          </a:p>
          <a:p>
            <a:pPr>
              <a:spcAft>
                <a:spcPts val="500"/>
              </a:spcAft>
            </a:pPr>
            <a:r>
              <a:rPr sz="1300">
                <a:solidFill>
                  <a:srgbClr val="1F2A44"/>
                </a:solidFill>
                <a:latin typeface="Calibri"/>
              </a:rPr>
              <a:t>• Stein TA, DeLancey JOL. Structure of the perineal membrane in females: gross and microscopic anatomy. </a:t>
            </a:r>
            <a:r>
              <a:rPr sz="1300">
                <a:solidFill>
                  <a:srgbClr val="1F2A44"/>
                </a:solidFill>
                <a:latin typeface="Calibri"/>
              </a:rPr>
              <a:t>Obstet Gynecol</a:t>
            </a:r>
            <a:r>
              <a:rPr sz="1300">
                <a:solidFill>
                  <a:srgbClr val="1F2A44"/>
                </a:solidFill>
                <a:latin typeface="Calibri"/>
              </a:rPr>
              <a:t> 2008;111:686–693.</a:t>
            </a:r>
          </a:p>
          <a:p>
            <a:pPr>
              <a:spcAft>
                <a:spcPts val="500"/>
              </a:spcAft>
            </a:pPr>
            <a:r>
              <a:rPr sz="1300">
                <a:solidFill>
                  <a:srgbClr val="1F2A44"/>
                </a:solidFill>
                <a:latin typeface="Calibri"/>
              </a:rPr>
              <a:t>• Woodman PJ, Graney DO. Anatomy and physiology of the female perineal body with relevance to obstetrical injury and repair. </a:t>
            </a:r>
            <a:r>
              <a:rPr sz="1300">
                <a:solidFill>
                  <a:srgbClr val="1F2A44"/>
                </a:solidFill>
                <a:latin typeface="Calibri"/>
              </a:rPr>
              <a:t>Clin Anat</a:t>
            </a:r>
            <a:r>
              <a:rPr sz="1300">
                <a:solidFill>
                  <a:srgbClr val="1F2A44"/>
                </a:solidFill>
                <a:latin typeface="Calibri"/>
              </a:rPr>
              <a:t> 2002;15:321–334.</a:t>
            </a:r>
          </a:p>
          <a:p>
            <a:pPr>
              <a:spcAft>
                <a:spcPts val="500"/>
              </a:spcAft>
            </a:pPr>
            <a:r>
              <a:rPr sz="1300">
                <a:solidFill>
                  <a:srgbClr val="1F2A44"/>
                </a:solidFill>
                <a:latin typeface="Calibri"/>
              </a:rPr>
              <a:t>• Labat JJ, Riant T, Robert R ve ark. Diagnostic criteria for pudendal neuralgia by pudendal nerve entrapment (Nantes criteria). </a:t>
            </a:r>
            <a:r>
              <a:rPr sz="1300">
                <a:solidFill>
                  <a:srgbClr val="1F2A44"/>
                </a:solidFill>
                <a:latin typeface="Calibri"/>
              </a:rPr>
              <a:t>Neurourol Urodyn</a:t>
            </a:r>
            <a:r>
              <a:rPr sz="1300">
                <a:solidFill>
                  <a:srgbClr val="1F2A44"/>
                </a:solidFill>
                <a:latin typeface="Calibri"/>
              </a:rPr>
              <a:t> 2008;27:306–310.</a:t>
            </a:r>
          </a:p>
          <a:p>
            <a:pPr>
              <a:spcAft>
                <a:spcPts val="500"/>
              </a:spcAft>
            </a:pPr>
            <a:r>
              <a:rPr sz="1300">
                <a:solidFill>
                  <a:srgbClr val="1F2A44"/>
                </a:solidFill>
                <a:latin typeface="Calibri"/>
              </a:rPr>
              <a:t>• Standring S (ed.). </a:t>
            </a:r>
            <a:r>
              <a:rPr sz="1300">
                <a:solidFill>
                  <a:srgbClr val="1F2A44"/>
                </a:solidFill>
                <a:latin typeface="Calibri"/>
              </a:rPr>
              <a:t>Gray's Anatomy: The Anatomical Basis of Clinical Practice</a:t>
            </a:r>
            <a:r>
              <a:rPr sz="1300">
                <a:solidFill>
                  <a:srgbClr val="1F2A44"/>
                </a:solidFill>
                <a:latin typeface="Calibri"/>
              </a:rPr>
              <a:t>, 42nd ed. Elsevier 2021 – Perineum bölümü.</a:t>
            </a:r>
          </a:p>
        </p:txBody>
      </p:sp>
      <p:cxnSp>
        <p:nvCxnSpPr>
          <p:cNvPr id="6" name="Connector 5"/>
          <p:cNvCxnSpPr/>
          <p:nvPr/>
        </p:nvCxnSpPr>
        <p:spPr>
          <a:xfrm>
            <a:off x="274320" y="6400800"/>
            <a:ext cx="11640312"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 y="6419088"/>
            <a:ext cx="10881360" cy="411480"/>
          </a:xfrm>
          <a:prstGeom prst="rect">
            <a:avLst/>
          </a:prstGeom>
          <a:noFill/>
        </p:spPr>
        <p:txBody>
          <a:bodyPr wrap="square" anchor="t" lIns="45720" rIns="45720" tIns="18288" bIns="18288">
            <a:spAutoFit/>
          </a:bodyPr>
          <a:lstStyle/>
          <a:p>
            <a:pPr algn="l"/>
            <a:r>
              <a:rPr sz="900" b="0" i="0">
                <a:solidFill>
                  <a:srgbClr val="555B66"/>
                </a:solidFill>
                <a:latin typeface="Calibri"/>
              </a:rPr>
              <a:t>PMC görselleri AWS PMC Open Access deposundan (pmc-oa-opendata) indirilmiştir; lisans, md5 ve özgün altyazılar sources/perine_*.json içinde.</a:t>
            </a:r>
          </a:p>
        </p:txBody>
      </p:sp>
      <p:sp>
        <p:nvSpPr>
          <p:cNvPr id="8" name="TextBox 7"/>
          <p:cNvSpPr txBox="1"/>
          <p:nvPr/>
        </p:nvSpPr>
        <p:spPr>
          <a:xfrm>
            <a:off x="11247120" y="6455664"/>
            <a:ext cx="685800" cy="274320"/>
          </a:xfrm>
          <a:prstGeom prst="rect">
            <a:avLst/>
          </a:prstGeom>
          <a:noFill/>
        </p:spPr>
        <p:txBody>
          <a:bodyPr wrap="square" anchor="t" lIns="45720" rIns="45720" tIns="18288" bIns="18288">
            <a:spAutoFit/>
          </a:bodyPr>
          <a:lstStyle/>
          <a:p>
            <a:pPr algn="r"/>
            <a:r>
              <a:rPr sz="1100" b="0" i="0">
                <a:solidFill>
                  <a:srgbClr val="555B66"/>
                </a:solidFill>
                <a:latin typeface="Calibri"/>
              </a:rPr>
              <a:t>70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