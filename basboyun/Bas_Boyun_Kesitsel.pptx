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Donatelli Graziella, Emmi Aron, Costagli Mauro et al. Brainstem anatomy with 7-T MRI: in vivo assessment and ex vivo comparison. Eur Radiol Exp. 2023 Nov 16;7:71. doi: 10.1186/s41747-023-00389-y PMCID: PMC10651583. Lisans: CC BY.</a:t>
            </a:r>
          </a:p>
          <a:p>
            <a:r>
              <a:t>Altyazı: Ex vivo and in vivo images captured at the level of the red nucleus (rostral midbrain). Proton density- (a) and T2*-weighted (b) images of the ex vivo sample that has been then sectioned and stained for iron (Perls stain; c left side) and myelin (Weigert-Pal stain; c right side). In vivo T2*-weighted magnitude image (d), susceptibility (e) and frequency (f) maps taken in a healthy subject. 1, corticospinal, corticonuclear, frontopontine and parietotemporopontine tracts; 2, subthalamic nucleus; 3, pars reticulata of the substantia nigra; 4, extension of the pars reticulata into the crus cerebri; 5, ventral tegmental area; 6, magnocellular portion of the red nucleus; 7, parvocellular portion of the red nucleus; 8, periaqueductal grey matter; 9, superior colliculus; 10, medial geniculate body; 11 (vertical open black arrow in c), lateral geniculate body; oblique open black arrow, lamina medullaris of the red nucleus; arrowhead, medial longitudinal fasciculus; horizontal open black arrow, central tegmental tract; vertical black arrow, cerebral aqueduct; asterisk, oculomotor, principal oculomotor and accessory oculomotor nuclei</a:t>
            </a:r>
          </a:p>
          <a:p>
            <a:r>
              <a:t>Donatelli Graziella, Emmi Aron, Costagli Mauro et al. Brainstem anatomy with 7-T MRI: in vivo assessment and ex vivo comparison. Eur Radiol Exp. 2023 Nov 16;7:71. doi: 10.1186/s41747-023-00389-y PMCID: PMC10651583. Lisans: CC BY.</a:t>
            </a:r>
          </a:p>
          <a:p>
            <a:r>
              <a:t>Altyazı: Ex vivo and in vivo images captured at the level of the superior cerebellar peduncles (rostral pons). Proton density- (a) and T2*-weighted (b) images of the ex vivo sample that has been then sectioned and stained for myelin (Weigert-Pal stain; c). In vivo T2*-weighted magnitude image (d), susceptibility (e) and frequency (f) maps taken in a healthy subject. 1, corticospinal tract split into small fasciculi, corticonuclear, frontopontine and parietotemporopontine tracts; 2, pontine nuclei; 3, pontocerebellar fibres; 4, nucleus reticularis tegmenti pontis; 5, medial lemniscus and spinothalamic tract; 6, lateral lemniscus (horizontal black arrow in e and f); 7, nucleus reticularis centralis superior; 8, nucleus reticularis pontis oralis; 9, central tegmental tract; 10, central grey matter; 11, superior cerebellar peduncle (or brachium conjunctivum); white arrow, tectospinal tract; black arrowhead, medial longitudinal fasciculus; open black arrow, mesencephalic trigeminal tract; oblique black arrow, lateral parabrachial nucleus; star, nucleus coeruleus; asterisk, medial parabrachial nucleus and nucleus subcoeruleus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Dekeyzer Sven, De Kock Isabelle, Nikoubashman Omid et al. “Unforgettable” – a pictorial essay on anatomy and pathology of the hippocampus. Insights Imaging. 2017 Jan 20;8(2):199–212. doi: 10.1007/s13244-016-0541-2 PMCID: PMC5359145. Lisans: CC BY.</a:t>
            </a:r>
          </a:p>
          <a:p>
            <a:r>
              <a:t>Altyazı: Anatomy of the hippocampal formation on 3-T axial T2 (a) and sagittal 3D-MPRAGE images (b). Zoomed-in 3-T coronal T2-weighted images at the level of the hippocampal head (c) and the hippocampal tail (d). The hippocampal body is shown in detail in Fig. 2. 1 = hippocampal head, 2 = hippocampal body, 3 = hippocampal tail, 4 = mesencephalon, 5 = amygdala, 6 = hippocampal digitations, 7 = temporal horn of the lateral ventricle, 8 = uncal recess of the lateral ventricle, 9 = splenium of the corpus callosum, 10 = subsplenial gyri, 11 = crura of the fornices. To easily recognize the different portions of the hippocampus, we can use the mesencephalon (4). The head (1) is located in front of the mesencephalon, the body (2) can be found at the level of the mesencephalon and the tail (3) is posterior to the mesencephalon. The hippocampal head is the only portion of the hippocampus not covered by the choroid plexus (7). The hippocampal head is separated from the amygdala (5) by the uncal recess of the lateral ventricle (7) and is characterized by small digitations separated by small sulci, the digitationes hippocampi (6). At the level of the hippocampal tail, the fimbriae continue posteriorly as the crux of the fornix (11) that slants upwards towards the splenium of the corpus callosum (9) and the hippocampal tail continues as the subsplenial gyri (10).</a:t>
            </a:r>
          </a:p>
          <a:p>
            <a:r>
              <a:t>Dekeyzer Sven, De Kock Isabelle, Nikoubashman Omid et al. “Unforgettable” – a pictorial essay on anatomy and pathology of the hippocampus. Insights Imaging. 2017 Jan 20;8(2):199–212. doi: 10.1007/s13244-016-0541-2 PMCID: PMC5359145. Lisans: CC BY.</a:t>
            </a:r>
          </a:p>
          <a:p>
            <a:r>
              <a:t>Altyazı: Anatomy of the hippocampal formation at the level of the hippocampal body on 3-T coronal T2. The hippocampal formation consists of the cornu ammonis or hippocampus proper, which can histologically be divided in the four Sommer sectors CA1–CA4, and the dentate gyrus (DG). A small hippocampal cyst (Hs) reflects the location of the largely obliterated hippocampal sulcus. A = alveus, Ac = Ambient cistern, B = basal vein of Rosenthal, C = tail of caudate nucleus, ChF = choroid fissure, CS = collateral suclus, DG = dentate gyrus, P = posterior cerebral artery, PHG = parahippocampal gyrus, Sub = subiculum, T = temporal horn of the lateral ventricle, Tb = transverse fissure of Bichat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Romano Nicola, Federici Margherita, Castaldi Antonio Imaging of cranial nerves: a pictorial overview. Insights Imaging. 2019 Mar 15;10:33. doi: 10.1186/s13244-019-0719-5 PMCID: PMC6420596. Lisans: CC BY.</a:t>
            </a:r>
          </a:p>
          <a:p>
            <a:r>
              <a:t>Altyazı: MRI of the cisternal tracts of normal cranial nerves. Steady-state free procession (SSFP), axial planes. a Olfactory (circles); b optic (arrows); c oculomotor (arrows); d trochlear (arrows); e trigeminal (arrows); f abducens (circles); g facial (thin and dotted arrows) and vestibulocochlear (thick arrows); h glossopharyngeal and vagus nerve (circles); i spinal accessory (circles); j hypoglossal (arrows)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Tamanini João Vitor Gerdulli, Hora Raphael Pinheiro Camurugy da, Soares Luís Gustavo Biondi et al. A journey through the anatomy of the cerebellum. Arq Neuropsiquiatr. 2025 Dec 22;83(12):s00451814379. doi: 10.1055/s-0045-1814379 PMCID: PMC12721976. Lisans: CC BY.</a:t>
            </a:r>
          </a:p>
          <a:p>
            <a:r>
              <a:t>Altyazı: Macroanatomy of the cerebellum, sagittal section. ( A ) Sagittal dissection of the cerebellum and brainstem. ( B ) Graphical representation of the cerebellum in a sagittal section.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Machasio Roy Munialo, Nyabanda Rose, Mutala Timothy Musila Proportion of Variant Anatomy of the Circle of Willis and Association with Vascular Anomalies on Cerebral CT Angiography. Radiol Res Pract. 2019 Jun 16;2019:6380801. doi: 10.1155/2019/6380801 PMCID: PMC6601480. Lisans: CC BY.</a:t>
            </a:r>
          </a:p>
          <a:p>
            <a:r>
              <a:t>Altyazı: Axial cerebral CTA MIP image showing a complete CW configuration.</a:t>
            </a:r>
          </a:p>
          <a:p>
            <a:r>
              <a:t>Machasio Roy Munialo, Nyabanda Rose, Mutala Timothy Musila Proportion of Variant Anatomy of the Circle of Willis and Association with Vascular Anomalies on Cerebral CT Angiography. Radiol Res Pract. 2019 Jun 16;2019:6380801. doi: 10.1155/2019/6380801 PMCID: PMC6601480. Lisans: CC BY.</a:t>
            </a:r>
          </a:p>
          <a:p>
            <a:r>
              <a:t>Altyazı: Axial cerebral CTA image showing bilateral fetal PCA with right P1 segment aplasia.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Lara Frances Rodriguez, Scruton Ashlea Lynn, Pinheiro Adlin et al. Aging, prevalence and risk factors of MRI-visible enlarged perivascular spaces. Aging (Albany NY). 2022 Jul 15;14(17):6844–58. doi: 10.18632/aging.204181 PMCID: PMC9512514. Lisans: CC BY.</a:t>
            </a:r>
          </a:p>
          <a:p>
            <a:r>
              <a:t>Altyazı: Enlarged perivascular space burden using ratings in coronal T2-weighted MRI sequences. *Top rows: basal ganglia region. Bottom rows: centrum semiovale region. The inserts represent a closer view. White arrows point to individual examples of enlarged perivascular spaces (panel C inserts). †Grades of ePVS burden are based on T2 weighted coronal views. (A) Grade I (0-10), (B) Grade II (10-20) (C) Grade III (20-40) (D) Grade IV (40+).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Rios Andrew, Alier Achok, Aneja Mihir et al. High-resolution segmentation of the cavum septum pellucidum in young adult human brains. Front Neuroanat. 2025 May 16;19:1566762. doi: 10.3389/fnana.2025.1566762 PMCID: PMC12131514. Lisans: CC BY.</a:t>
            </a:r>
          </a:p>
          <a:p>
            <a:r>
              <a:t>Altyazı: Three-dimensional renderings of manually segmented cava septa pellucida (CSP, green) are shown for representative small (A) and large (B) examples, overlaid on mid-sagittal T1-weighted MRI scans.</a:t>
            </a:r>
          </a:p>
          <a:p>
            <a:r>
              <a:t>Rios Andrew, Alier Achok, Aneja Mihir et al. High-resolution segmentation of the cavum septum pellucidum in young adult human brains. Front Neuroanat. 2025 May 16;19:1566762. doi: 10.3389/fnana.2025.1566762 PMCID: PMC12131514. Lisans: CC BY.</a:t>
            </a:r>
          </a:p>
          <a:p>
            <a:r>
              <a:t>Altyazı: Examples of cavum septum pellucidum (CSP) delineation in the same subject using manual methods (A, green) and Human Connectome Project (HCP) FreeSurfer (B, 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Romano Nicola, Federici Margherita, Castaldi Antonio Imaging of cranial nerves: a pictorial overview. Insights Imaging. 2019 Mar 15;10:33. doi: 10.1186/s13244-019-0719-5 PMCID: PMC6420596. Lisans: CC BY.</a:t>
            </a:r>
          </a:p>
          <a:p>
            <a:r>
              <a:t>Altyazı: CT aspect of the most important foramina of the skull base. a Cribriform plate (asterisk); b optic canal (asterisk) and superior orbital fissure (arrow); c foramen rotundum (asterisk); d foramen ovale (arrow); e facial canal (arrow); f internal auditory meatus (arrow); g jugular foramen (asterisk); h hypoglossal canal (asterisk)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Maillot Olivier, Attyé Arnaud, Boyer Eric et al. Post traumatic deafness: a pictorial review of CT and MRI findings. Insights Imaging. 2016 Apr 16;7(3):341–50. doi: 10.1007/s13244-016-0490-9 PMCID: PMC4877355. Lisans: CC BY.</a:t>
            </a:r>
          </a:p>
          <a:p>
            <a:r>
              <a:t>Altyazı: 2-D CT images in the axial and oblique planes showing a normal incudo-stapedial joint. The malleus is annotated (1) The axial and oblique planes (a and c) show the ossicular « V », comprising the long process of the incus (2) and the stapes (3). 3-D-CT acquisition (b and d) reveal continuity between the stapes head and the long process of the incus in the healthy middle 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Rana Khizar, Juniat Valerie, Rayan Aaron et al. Normative measurements of orbital structures by magnetic resonance imaging. Int Ophthalmol. 2022 Jul 14;42(12):3869–75. doi: 10.1007/s10792-022-02407-1 PMCID: PMC9617817. Lisans: CC BY.</a:t>
            </a:r>
          </a:p>
          <a:p>
            <a:r>
              <a:t>Altyazı: Axial T1-weighted MRI (A) and fat-suppressed contrast enhanced T1-weighted MRI (B) showing the measurements of the right medial and lateral rectus muscles perpendicular to the muscle belly. Coronal T1-weighted MRI (C) showing the measurements of the superior muscle group, medial rectus, inferior rectus and superior ophthalmic vein. Fat-suppressed contrast enhanced T1-weighted MRI (D) showing the measurements of the medial rectus and superior muscle group</a:t>
            </a:r>
          </a:p>
          <a:p>
            <a:r>
              <a:t>Rana Khizar, Juniat Valerie, Rayan Aaron et al. Normative measurements of orbital structures by magnetic resonance imaging. Int Ophthalmol. 2022 Jul 14;42(12):3869–75. doi: 10.1007/s10792-022-02407-1 PMCID: PMC9617817. Lisans: CC BY.</a:t>
            </a:r>
          </a:p>
          <a:p>
            <a:r>
              <a:t>Altyazı: Coronal T1-weighted MRI showing the optic nerve sheath diameter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Ribeiro Bruno Niemeyer de Freitas, Muniz Bernardo Carvalho, Marchiori Edson Preoperative computed tomography evaluation of the paranasal sinuses: what should the physician know? - pictorial essay. Radiol Bras. 2019 Mar-Apr;52(2):117–22. doi: 10.1590/0100-3984.2017.0082 PMCID: PMC6472854. Lisans: CC BY.</a:t>
            </a:r>
          </a:p>
          <a:p>
            <a:r>
              <a:t>Altyazı: Coronal CT slice, with bone window settings, showing symmetry in the depth and inclination of the olfactory fossae (arrows), each measuring approximately 7.5 mm in depth and therefore classified as Keros type 3.</a:t>
            </a:r>
          </a:p>
          <a:p>
            <a:r>
              <a:t>Ribeiro Bruno Niemeyer de Freitas, Muniz Bernardo Carvalho, Marchiori Edson Preoperative computed tomography evaluation of the paranasal sinuses: what should the physician know? - pictorial essay. Radiol Bras. 2019 Mar-Apr;52(2):117–22. doi: 10.1590/0100-3984.2017.0082 PMCID: PMC6472854. Lisans: CC BY.</a:t>
            </a:r>
          </a:p>
          <a:p>
            <a:r>
              <a:t>Altyazı: Coronal CT slice, with bone window settings, showing the left sphenoethmoidal cell (arrow). Note the close proximity to the left optic nerve (arrowhead).</a:t>
            </a:r>
          </a:p>
          <a:p>
            <a:r>
              <a:t>Ribeiro Bruno Niemeyer de Freitas, Muniz Bernardo Carvalho, Marchiori Edson Preoperative computed tomography evaluation of the paranasal sinuses: what should the physician know? - pictorial essay. Radiol Bras. 2019 Mar-Apr;52(2):117–22. doi: 10.1590/0100-3984.2017.0082 PMCID: PMC6472854. Lisans: CC BY.</a:t>
            </a:r>
          </a:p>
          <a:p>
            <a:r>
              <a:t>Altyazı: Coronal CT slice, with bone window settings, showing pneumatization of the lamellar and bulbous portions of the middle turbinate (arrows).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Almushayti Ziyad A, Almutairi Abdulhakeem N, Almushayti Mohammed A et al. Evaluation of the Keros Classification of Olfactory Fossa by CT Scan in Qassim Region. Cureus. 2022 Feb 19;14(2):e22378. doi: 10.7759/cureus.22378 PMCID: PMC8935634. Lisans: CC BY.</a:t>
            </a:r>
          </a:p>
          <a:p>
            <a:r>
              <a:t>Altyazı: CT scans showing the Keros classification(1) Keros type I, (2) Keros type II, and (3) Keros type III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Subbiah Nandha Kumar, Bakshi Satvinder S, Arumugam Sangeetha et al. Clinical and Radiological Significance of Anatomical Variations in Paranasal Sinuses: A Retrospective CT-Based Study. Cureus. 2025 Apr 18;17(4):e82506. doi: 10.7759/cureus.82506 PMCID: PMC12085865. Lisans: CC BY.</a:t>
            </a:r>
          </a:p>
          <a:p>
            <a:r>
              <a:t>Altyazı: Coronal CT images of paranasal sinus showing variation in middle turbinate pneumatizationA: lamellar type; B: bulbous type; C: extensive type (concha bullosa)CT: computed tomography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Hirvonen Jussi, Heikkinen Jaakko, Nyman Mikko et al. MRI of acute neck infections: evidence summary and pictorial review. Insights Imaging. 2023 Jan 8;14:5. doi: 10.1186/s13244-022-01347-9 PMCID: PMC9826778. Lisans: CC BY.</a:t>
            </a:r>
          </a:p>
          <a:p>
            <a:r>
              <a:t>Altyazı: Normal MRI anatomy of the oropharynx. Axial T2-weighted image shows the palatine tonsils (white asterisk) bounded laterally by the superior constrictor muscle (arrow), anteriorly by the palatoglossus muscle (dashed arrow), and posteriorly by the palatopharyngeus muscle (dotted arrow). Posterolateral to the superior constrictor muscle and the buccopharyngeal fascia is the parapharyngeal space indicated by fat signal (black asterisk). The medial pterygoid muscle (double white asterisk) and the parotid gland (hash) can be seen in the masticator and parotid spaces, respectively</a:t>
            </a:r>
          </a:p>
          <a:p>
            <a:r>
              <a:t>Hirvonen Jussi, Heikkinen Jaakko, Nyman Mikko et al. MRI of acute neck infections: evidence summary and pictorial review. Insights Imaging. 2023 Jan 8;14:5. doi: 10.1186/s13244-022-01347-9 PMCID: PMC9826778. Lisans: CC BY.</a:t>
            </a:r>
          </a:p>
          <a:p>
            <a:r>
              <a:t>Altyazı: Normal MRI anatomy of the oral cavity. a A coronal T2-weighted image at the anterior part shows the mylohyoid muscle (arrow), separating the sublingual space superiorly including the sublingual gland (black asterisk) and the submandibular space inferiorly. Medially, and superior to the mylohyoid muscle, are the geniohyoid muscles (dotted arrow) and genioglossus muscles (superior to the geniohyoid muscles). Inferiorly, images show the anterior belly of the digastric muscle (white asterisk), and laterally, the buccinator muscle (dashed arrow). b A coronal T2-weighted image at a more posterior part shows the mylohyoid muscles (arrow) and the hyoglossus muscles more medially (dashed arrow), and the masseter muscle laterally in the masticator space (dotted arrow). Submandibular glands (asterisk) are shown below the mylohyoid muscle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Nurminen Janne, Heikkinen Jaakko, Happonen Tatu et al. Pictorial Review of MRI Findings in Acute Neck Infections in Children. Children (Basel). 2023 May 29;10(6):967. doi: 10.3390/children10060967 PMCID: PMC10296820. Lisans: CC BY.</a:t>
            </a:r>
          </a:p>
          <a:p>
            <a:r>
              <a:t>Altyazı: Normal MRI anatomy of the oropharynx in a 12-year-old. Axial T2-weighted (A), fat-suppressed T2-weighted (B), and coronal T2-weighted (C) images and an ADC map (D) demonstrate the palatine tonsils (white asterisk) bounded laterally by the superior constrictor muscle (arrows) and posteriorly by the palatopharyngeus muscle (dotted arrows).</a:t>
            </a:r>
          </a:p>
          <a:p>
            <a:r>
              <a:t>Nurminen Janne, Heikkinen Jaakko, Happonen Tatu et al. Pictorial Review of MRI Findings in Acute Neck Infections in Children. Children (Basel). 2023 May 29;10(6):967. doi: 10.3390/children10060967 PMCID: PMC10296820. Lisans: CC BY.</a:t>
            </a:r>
          </a:p>
          <a:p>
            <a:r>
              <a:t>Altyazı: Normal lateral retropharyngeal lymph nodes (of Rouvière) in a 2-year-old on axial (A), coronal (B), and sagittal (C) T2-weighted images and axial (D), coronal (E), and sagittal (F) fat-suppressed T2-weighted images (arrows).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Kessler Alexander T, Bhatt Alok A Review of the Major and Minor Salivary Glands, Part 1: Anatomy, Infectious, and Inflammatory Processes. J Clin Imaging Sci. 2018 Nov 15;8:47. doi: 10.4103/jcis.JCIS_45_18 PMCID: PMC6251248. Lisans: CC BY-NC-SA.</a:t>
            </a:r>
          </a:p>
          <a:p>
            <a:r>
              <a:t>Altyazı: Parotid space anatomy. (a) Illustration of parotid space anatomy with key landmarks labeled. (b) Axial computed tomography of parotid space anatomy with key landmarks labeled. (c) Axial T2-weighted magnetic resonance image of parotid space anatomy with key landmarks labeled.</a:t>
            </a:r>
          </a:p>
          <a:p>
            <a:r>
              <a:t>Kessler Alexander T, Bhatt Alok A Review of the Major and Minor Salivary Glands, Part 1: Anatomy, Infectious, and Inflammatory Processes. J Clin Imaging Sci. 2018 Nov 15;8:47. doi: 10.4103/jcis.JCIS_45_18 PMCID: PMC6251248. Lisans: CC BY-NC-SA.</a:t>
            </a:r>
          </a:p>
          <a:p>
            <a:r>
              <a:t>Altyazı: Submandibular space anatomy. (a) Illustration of submandibular and sublingual space anatomy with key landmarks labeled. (b) Axial computed tomography of submandibular space anatomy with key landmarks labeled. (c) Axial T2-weighted magnetic resonance image of submandibular space anatomy with key landmarks labeled. (d) Axial T2-weighted magnetic resonance image of submandibular duct anatomy with key landmarks labeled.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Zhang, Yuzi Jing, Beibei Liang Cone-beam computed tomographic evaluation of styloid process: a retrospective study of 498 patients with maxillofacial diseases. BMC Med Imaging. 2024 Dec 6;24:333. doi: 10.1186/s12880-024-01516-w PMCID: PMC11622470. Lisans: CC BY.</a:t>
            </a:r>
          </a:p>
          <a:p>
            <a:r>
              <a:t>Altyazı: The measurement of the styloid process length</a:t>
            </a:r>
          </a:p>
          <a:p>
            <a:r>
              <a:t>Yang Zhang, Yuzi Jing, Beibei Liang Cone-beam computed tomographic evaluation of styloid process: a retrospective study of 498 patients with maxillofacial diseases. BMC Med Imaging. 2024 Dec 6;24:333. doi: 10.1186/s12880-024-01516-w PMCID: PMC11622470. Lisans: CC BY.</a:t>
            </a:r>
          </a:p>
          <a:p>
            <a:r>
              <a:t>Altyazı: Elongated styloid process distribution in males and females with cutoff 30 mm (red dashed line)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Ahn Dongbin, Yeo Chang Ki, Han Soon Yong et al. The accessory parotid gland and facial process of the parotid gland on computed tomography. PLoS One. 2017 Sep 15;12(9):e0184633. doi: 10.1371/journal.pone.0184633 PMCID: PMC5600370. Lisans: CC BY.</a:t>
            </a:r>
          </a:p>
          <a:p>
            <a:r>
              <a:t>Altyazı: A representative example of an accessory parotid gland.A soft-tissue mass that has the same density as the main parotid gland is shown, is located at the anterior part of the main parotid gland, and is completely separate from the main parotid gland on every slice of the CT scan (arrow).</a:t>
            </a:r>
          </a:p>
          <a:p>
            <a:r>
              <a:t>Ahn Dongbin, Yeo Chang Ki, Han Soon Yong et al. The accessory parotid gland and facial process of the parotid gland on computed tomography. PLoS One. 2017 Sep 15;12(9):e0184633. doi: 10.1371/journal.pone.0184633 PMCID: PMC5600370. Lisans: CC BY.</a:t>
            </a:r>
          </a:p>
          <a:p>
            <a:r>
              <a:t>Altyazı: A representative example of a facial process of the parotid gland.Protrusion of the parotid gland anteriorly over the anterior edge of the ramus of the mandible and continuity with the main gland distinguishes a facial process of the parotid from an accessory parotid gland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Muñoz Alberto, De Vergas Joaquín, Crespo José Imaging and Clinical Findings in Patients with Aberrant Course of the Cervical Internal Carotid Arteries. Open Neuroimag J. 2010 Nov 5;4:174–81. doi: 10.2174/1874440001004010174 PMCID: PMC3026334. Lisans: CC BY-NC.</a:t>
            </a:r>
          </a:p>
          <a:p>
            <a:r>
              <a:t>Altyazı: (A-C). Extended bilateral retropharyngeal course of both internal carotid arteries (kissing carotids), (patient #12). A: Axial contrast CT scan in early-enhanced phase throughout the oropharynx. Notice medialization of both ICA’s reaching the retropharyngeal midline (arrows), and also medialization of both internal jugular veins. B and C: Digital subtraction angiography in anteroposterior projection. Upper aortogram of both ICA’s in the early arteriographic phase (B) shows bilateral medialization of the cervical segment of the ICA’s (arrows). Notice tortuosity of the proximal portions of the right common and external carotid arteries. Selective injection of the right common carotid artery in early arteriographic phase (C) shows progressive medialization of the proximal segment of ICA and then abrupt change in the course of the artery and then the artery regains its normal position after a short horizontal segment. Notice extrinsic arterial notch pinpointing the place of arterial course change and producing a focal non-atherosclerotic stenosis (arrow). (Radiological classification of this patient was considered C,2.)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Furukawa Madoka, Hashimoto Kaori, Kitani Yuka et al. Point-of-care ultrasound in the head and neck region. J Med Ultrason (2001). 2022 Oct 26;49(4):593–600. doi: 10.1007/s10396-022-01266-8 PMCID: PMC9640455. Lisans: CC BY.</a:t>
            </a:r>
          </a:p>
          <a:p>
            <a:r>
              <a:t>Altyazı: Basic image of the neck (systematic cervical ultrasonography). SG submandibular gland, PL: pharyngeal lateral wall, OB: oral base, PG: parotid gland, BIF: carotid bifurcation, TR: trachea, TH: thyroid gland, ES: esophagus, LX: larynx. The probe should be continuously scanned to ensure that it passes through these sites, and the left and right necks should always be observed. Observe in a manner that does not overlook changes in lymph nodes, blood vessels, and muscles along the way. a Submandibular region (submandibular gland, facial arteriovenous, oropharyngeal sidewall). b Submental region (oral floor muscles, base of tongue). c Parotid region (parotid gland, mandible, masseter muscle). d Carotid bifurcation (external carotid artery, internal carotid artery, internal jugular vein). e Anterior neck (thyroid, common carotid artery, internal jugular vein, cervical esophagus). f Larynx</a:t>
            </a:r>
          </a:p>
          <a:p>
            <a:r>
              <a:t>Furukawa Madoka, Hashimoto Kaori, Kitani Yuka et al. Point-of-care ultrasound in the head and neck region. J Med Ultrason (2001). 2022 Oct 26;49(4):593–600. doi: 10.1007/s10396-022-01266-8 PMCID: PMC9640455. Lisans: CC BY.</a:t>
            </a:r>
          </a:p>
          <a:p>
            <a:r>
              <a:t>Altyazı: POCUS of the anterior neck HB hyoid bone, LX larynx, TH thyroid gland, TR trachea, HP hypopharynx, ES esophagus, CCA common carotid artery, JV internal jugular vein, VC vocal cord, TC thyroid cartilage, AR arytenoid cartilage, EP epiglottis cartilage. a Anterior neck anatomy. b Anterior neck probe operation. c Transverse view of the anterior neck: Ultrasound image of the larynx (vocal cord level). d Transverse view of the anterior neck: Ultrasound image of the larynx (supraglottic level)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Choi Seon Hyeong, Kim Eun-Kyung, Kim Soo Jin et al. Thyroid Ultrasonography: Pitfalls and Techniques. Korean J Radiol. 2014 Mar 7;15(2):267–76. doi: 10.3348/kjr.2014.15.2.267 PMCID: PMC3955795. Lisans: CC BY-NC.</a:t>
            </a:r>
          </a:p>
          <a:p>
            <a:r>
              <a:t>Altyazı: Normal transverse US of thyroid gland. Cross-sectional US shows normal thyroid glands and surrounding structures. Both thyroid glands show homogeneous parenchymal echogenicity higher than anterior strap muscles. Both CCAs run laterally adjacent to both thyroid lobes and infrahyoid strap muscles overlie thyroid gland. Both SCM muscles are located antero-laterally and longus colli muscles are seen posterolaterally to thyroid gland. US = ultrasonography, SCM = sternocleidomastoid muscle, CCA = common carotid artery, IJV = internal jugular vein, Ant. Strap m = anterior strap muscle, Longus Colli m = longus colli muscle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Phan Tammy, Lay Johnson, Scali Frank The Alar Fascia and Danger Space: A Modern Review. Cureus. 2022 Dec 23;14(12):e32871. doi: 10.7759/cureus.32871 PMCID: PMC9868889. Lisans: CC BY.</a:t>
            </a:r>
          </a:p>
          <a:p>
            <a:r>
              <a:t>Altyazı: Illustration depicts a magnified transverse section at the C6 vertebral level.The three layers of the deep cervical fascia - superficial, middle, and deep (refer to legend) - are depicted in relation to the alar fascia (*). The alar fascia is situated between the retropharyngeal fascia (RF) anteriorly and the prevertebral fascia (PVF) posteriorly. Therefore, the alar fascia divides the potential space between the retropharyngeal and prevertebral layers to form the retropharyngeal space (RS) anteriorly and the danger space (DS) posteriorly. Also labeled: pretracheal fascia (PTF); carotid sheath (CS); superficial layer of the deep cervical fascia (SLDCF); superficial fascia (SF) (illustrated by Christina Pecora, MSMI).</a:t>
            </a:r>
          </a:p>
          <a:p>
            <a:r>
              <a:t>Phan Tammy, Lay Johnson, Scali Frank The Alar Fascia and Danger Space: A Modern Review. Cureus. 2022 Dec 23;14(12):e32871. doi: 10.7759/cureus.32871 PMCID: PMC9868889. Lisans: CC BY.</a:t>
            </a:r>
          </a:p>
          <a:p>
            <a:r>
              <a:t>Altyazı: Single 4 mm translucent sheet plastinate of the head and neck revealing the relationship of the alar fascia with its respective surrounding structures and potential spaces.(a) E12 plastinated sagittal section of the head and neck (4-mm-thick section) with call out revealing the area of interest (scale bar = 3 cm). (b) Magnified region of anatomy between the first (C1) and third (C3) cervical vertebral levels. A dense membrane, identified as the alar fascia (black arrowheads), extends from the inferior pole (*) of the anterior arch of the atlas. The alar fascia separates the retropharyngeal space from the danger space. The anteroinferior attachment point diverges posteriorly (double arrows) to coalesce with the anterior ligaments of C2 and the atlantoaxial ligaments (AAL) (scale bar = 1 cm).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Pandalai Uma, Pillay Minnie, Moorthy Srikanth et al. Anatomical Variations of the Aortic Arch: A Computerized Tomography-Based Study. Cureus. 2021 Feb 3;13(2):e13115. doi: 10.7759/cureus.13115 PMCID: PMC7936046. Lisans: CC BY.</a:t>
            </a:r>
          </a:p>
          <a:p>
            <a:r>
              <a:t>Altyazı: Axial CT chest contrast image showing aberrant right subclavian artery with schematic representation of finding.ARSA: Aberrant Right Subclavian Artery, AA: Aortic Arch, RCCA: Right Common Carotid Artery, LCCA: Left Common Carotid Artery, LSA: Left Subclavian Artery</a:t>
            </a:r>
          </a:p>
          <a:p>
            <a:r>
              <a:t>Pandalai Uma, Pillay Minnie, Moorthy Srikanth et al. Anatomical Variations of the Aortic Arch: A Computerized Tomography-Based Study. Cureus. 2021 Feb 3;13(2):e13115. doi: 10.7759/cureus.13115 PMCID: PMC7936046. Lisans: CC BY.</a:t>
            </a:r>
          </a:p>
          <a:p>
            <a:r>
              <a:t>Altyazı: Axial CT chest contrast image showing type 1 bovine arch with schematic representation of finding.AA: Aortic Arch, BCT: Brachiocephalic Trunk, RVA: Right Vertebral Artery, LCCA: Left Common Carotid Artery, LVA: Left Vertebral Artery, LSA: Left Subclavian Artery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Manta Mihaela Daniela, Rusu Mugurel Constantin, Hostiuc Sorin et al. The vertical topography of the carotid bifurcation – original study and review. Surg Radiol Anat. 2024 Jun 7;46(8):1253–63. doi: 10.1007/s00276-024-03404-y PMCID: PMC11246274. Lisans: CC BY.</a:t>
            </a:r>
          </a:p>
          <a:p>
            <a:r>
              <a:t>Altyazı: a. Carotid bifurcations (CB) with high location - on the left at C2 level and right at C2/C3 level. Three-dimensional volume rendering. Left anterolateral view. (1) right CB; (2) C3 vertebra; (3) hyoid body; (4) anterior arch of atlas; (5) axis; (6) left CB. b. Carotid bifurcations (CBs) with low localisation at the C5 level on the right side and the C5/C6 disc level on the left side. Three-dimensional volume rendering. Anterior view. (1) atlas; (2) axis; (3) C4 vertebra; (4) right CB; (5) C6 vertebra; (6) left CB; (7) C5 vertebra</a:t>
            </a:r>
          </a:p>
          <a:p>
            <a:r>
              <a:t>Manta Mihaela Daniela, Rusu Mugurel Constantin, Hostiuc Sorin et al. The vertical topography of the carotid bifurcation – original study and review. Surg Radiol Anat. 2024 Jun 7;46(8):1253–63. doi: 10.1007/s00276-024-03404-y PMCID: PMC11246274. Lisans: CC BY.</a:t>
            </a:r>
          </a:p>
          <a:p>
            <a:r>
              <a:t>Altyazı: (a) Low carotid bifurcations (CBs), bilateral vertical symmetry (arrows). Three-dimensional volume rendering. Anterior view. (b) Normal vertical level (type 1) of the right CB. Three-dimensional volume rendering. Right side, lateral view. (1) styloid process; (2) internal carotid artery; (3) external carotid artery; (4) facial artery; (5) lingual artery; (6) occipital artery; (7) internal jugular vein; (8) linguofacial trunk; (9) CB; (10) common carotid artery; 11. superior thyroid artery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 Dong Wook, Jung So Lyung, Kim Jinna et al. Comparison between Ultrasonography and Computed Tomography for Detecting the Pyramidal Lobe of the Thyroid Gland: A Prospective Multicenter Study. Korean J Radiol. 2015 Feb 27;16(2):402–9. doi: 10.3348/kjr.2015.16.2.402 PMCID: PMC4347276. Lisans: CC BY-NC.</a:t>
            </a:r>
          </a:p>
          <a:p>
            <a:r>
              <a:t>Altyazı: Left pyramidal lobe detected on US and CT in 58-year-old woman.Transverse (A) and longitudinal (B) gray-scale sonograms show left pyramidal lobe (arrows). Non-enhanced (C) and contrast-enhanced (D) axial CT images of left pyramidal lobe (arrows) show same attenuation and enhancement as main thyroid gland (arrowheads).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Niu Zhong‐Xi, Zhang Hang, Chen Long‐Qi et al. Preoperative computed tomography diagnosis of non‐recurrent laryngeal nerve in patients with esophageal carcinoma. Thorac Cancer. 2016 Dec 2;8(1):46–50. doi: 10.1111/1759-7714.12409 PMCID: PMC5217945. Lisans: CC BY-NC.</a:t>
            </a:r>
          </a:p>
          <a:p>
            <a:r>
              <a:t>Altyazı: An aberrant right subclavian artery (long arrow) is defined as (a) the last branch arising directly from the aortic arch, and (b) crossing the midline, (c) with a retroesophageal (short arrow) course (d) to reach the right axillary area.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9.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6.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39.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image" Target="../media/image41.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44.jpg"/><Relationship Id="rId4"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jpg"/><Relationship Id="rId4"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image" Target="../media/image48.jpg"/><Relationship Id="rId4"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image" Target="../media/image50.jpg"/><Relationship Id="rId4"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52.jpg"/><Relationship Id="rId4"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5.pn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57.png"/><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notesSlide" Target="../notesSlides/notesSlid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notesSlide" Target="../notesSlides/notesSlide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image" Target="../media/image65.jpg"/><Relationship Id="rId4" Type="http://schemas.openxmlformats.org/officeDocument/2006/relationships/notesSlide" Target="../notesSlides/notesSlide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image" Target="../media/image67.jpg"/><Relationship Id="rId4" Type="http://schemas.openxmlformats.org/officeDocument/2006/relationships/notesSlide" Target="../notesSlides/notesSlide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6766560" cy="1463040"/>
          </a:xfrm>
          <a:prstGeom prst="rect">
            <a:avLst/>
          </a:prstGeom>
          <a:noFill/>
        </p:spPr>
        <p:txBody>
          <a:bodyPr wrap="square" anchor="t" lIns="45720" rIns="45720" tIns="18288" bIns="18288">
            <a:spAutoFit/>
          </a:bodyPr>
          <a:lstStyle/>
          <a:p>
            <a:pPr algn="l"/>
            <a:r>
              <a:rPr sz="3800" b="1" i="0">
                <a:solidFill>
                  <a:srgbClr val="FFFFFF"/>
                </a:solidFill>
                <a:latin typeface="Calibri"/>
              </a:rPr>
              <a:t>Baş–Boyun Kesitsel Anatomi</a:t>
            </a:r>
          </a:p>
        </p:txBody>
      </p:sp>
      <p:sp>
        <p:nvSpPr>
          <p:cNvPr id="4" name="TextBox 3"/>
          <p:cNvSpPr txBox="1"/>
          <p:nvPr/>
        </p:nvSpPr>
        <p:spPr>
          <a:xfrm>
            <a:off x="640080" y="2514600"/>
            <a:ext cx="6766560" cy="1005840"/>
          </a:xfrm>
          <a:prstGeom prst="rect">
            <a:avLst/>
          </a:prstGeom>
          <a:noFill/>
        </p:spPr>
        <p:txBody>
          <a:bodyPr wrap="square" anchor="t" lIns="45720" rIns="45720" tIns="18288" bIns="18288">
            <a:spAutoFit/>
          </a:bodyPr>
          <a:lstStyle/>
          <a:p>
            <a:pPr algn="l"/>
            <a:r>
              <a:rPr sz="1900" b="0" i="0">
                <a:solidFill>
                  <a:srgbClr val="C8D1E6"/>
                </a:solidFill>
                <a:latin typeface="Calibri"/>
              </a:rPr>
              <a:t>Gerçek kadavra kriyokesitleri, aynı kadavranın BT ve MR görüntüleri ve literatürden klinik görüntüleme</a:t>
            </a:r>
          </a:p>
        </p:txBody>
      </p:sp>
      <p:sp>
        <p:nvSpPr>
          <p:cNvPr id="5" name="TextBox 4"/>
          <p:cNvSpPr txBox="1"/>
          <p:nvPr/>
        </p:nvSpPr>
        <p:spPr>
          <a:xfrm>
            <a:off x="640080" y="3657600"/>
            <a:ext cx="6766560" cy="2377440"/>
          </a:xfrm>
          <a:prstGeom prst="rect">
            <a:avLst/>
          </a:prstGeom>
          <a:noFill/>
        </p:spPr>
        <p:txBody>
          <a:bodyPr wrap="square" anchor="t" lIns="45720" rIns="45720" tIns="18288" bIns="18288">
            <a:spAutoFit/>
          </a:bodyPr>
          <a:lstStyle/>
          <a:p>
            <a:pPr algn="l"/>
            <a:r>
              <a:rPr sz="1600" b="0" i="0">
                <a:solidFill>
                  <a:srgbClr val="FFFFFF"/>
                </a:solidFill>
                <a:latin typeface="Calibri"/>
              </a:rPr>
              <a:t>Bölümler: Beyin → Kafa tabanı → Yüz–farinks → Boyun</a:t>
            </a:r>
          </a:p>
          <a:p>
            <a:pPr algn="l"/>
            <a:r>
              <a:rPr sz="1600" b="0" i="0">
                <a:solidFill>
                  <a:srgbClr val="FFFFFF"/>
                </a:solidFill>
                <a:latin typeface="Calibri"/>
              </a:rPr>
              <a:t>Her bölüm sonunda görüntüleme tabanlı varyasyon literatür taraması</a:t>
            </a:r>
          </a:p>
          <a:p>
            <a:pPr algn="l"/>
            <a:r>
              <a:rPr sz="1600" b="0" i="0">
                <a:solidFill>
                  <a:srgbClr val="FFFFFF"/>
                </a:solidFill>
                <a:latin typeface="Calibri"/>
              </a:rPr>
              <a:t>Tüm görüntüler gerçek kadavra/radyoloji verisidir.</a:t>
            </a:r>
          </a:p>
        </p:txBody>
      </p:sp>
      <p:pic>
        <p:nvPicPr>
          <p:cNvPr id="6" name="Picture 5" descr="cryo_1095.jpg"/>
          <p:cNvPicPr>
            <a:picLocks noChangeAspect="1"/>
          </p:cNvPicPr>
          <p:nvPr/>
        </p:nvPicPr>
        <p:blipFill>
          <a:blip r:embed="rId2"/>
          <a:stretch>
            <a:fillRect/>
          </a:stretch>
        </p:blipFill>
        <p:spPr>
          <a:xfrm>
            <a:off x="7680960" y="590277"/>
            <a:ext cx="2057400" cy="2659924"/>
          </a:xfrm>
          <a:prstGeom prst="rect">
            <a:avLst/>
          </a:prstGeom>
        </p:spPr>
      </p:pic>
      <p:pic>
        <p:nvPicPr>
          <p:cNvPr id="7" name="Picture 6" descr="t2_1095.png"/>
          <p:cNvPicPr>
            <a:picLocks noChangeAspect="1"/>
          </p:cNvPicPr>
          <p:nvPr/>
        </p:nvPicPr>
        <p:blipFill>
          <a:blip r:embed="rId3"/>
          <a:stretch>
            <a:fillRect/>
          </a:stretch>
        </p:blipFill>
        <p:spPr>
          <a:xfrm>
            <a:off x="9829800" y="590277"/>
            <a:ext cx="2057400" cy="2659924"/>
          </a:xfrm>
          <a:prstGeom prst="rect">
            <a:avLst/>
          </a:prstGeom>
        </p:spPr>
      </p:pic>
      <p:pic>
        <p:nvPicPr>
          <p:cNvPr id="8" name="Picture 7" descr="cryo_1140.jpg"/>
          <p:cNvPicPr>
            <a:picLocks noChangeAspect="1"/>
          </p:cNvPicPr>
          <p:nvPr/>
        </p:nvPicPr>
        <p:blipFill>
          <a:blip r:embed="rId4"/>
          <a:stretch>
            <a:fillRect/>
          </a:stretch>
        </p:blipFill>
        <p:spPr>
          <a:xfrm>
            <a:off x="7680960" y="3758184"/>
            <a:ext cx="2057400" cy="2633472"/>
          </a:xfrm>
          <a:prstGeom prst="rect">
            <a:avLst/>
          </a:prstGeom>
        </p:spPr>
      </p:pic>
      <p:pic>
        <p:nvPicPr>
          <p:cNvPr id="9" name="Picture 8" descr="cryo_1230.jpg"/>
          <p:cNvPicPr>
            <a:picLocks noChangeAspect="1"/>
          </p:cNvPicPr>
          <p:nvPr/>
        </p:nvPicPr>
        <p:blipFill>
          <a:blip r:embed="rId5"/>
          <a:stretch>
            <a:fillRect/>
          </a:stretch>
        </p:blipFill>
        <p:spPr>
          <a:xfrm>
            <a:off x="9829800" y="4046220"/>
            <a:ext cx="2057400" cy="2057400"/>
          </a:xfrm>
          <a:prstGeom prst="rect">
            <a:avLst/>
          </a:prstGeom>
        </p:spPr>
      </p:pic>
      <p:sp>
        <p:nvSpPr>
          <p:cNvPr id="10" name="TextBox 9"/>
          <p:cNvSpPr txBox="1"/>
          <p:nvPr/>
        </p:nvSpPr>
        <p:spPr>
          <a:xfrm>
            <a:off x="640080" y="6172200"/>
            <a:ext cx="6949440" cy="365760"/>
          </a:xfrm>
          <a:prstGeom prst="rect">
            <a:avLst/>
          </a:prstGeom>
          <a:noFill/>
        </p:spPr>
        <p:txBody>
          <a:bodyPr wrap="square" anchor="t" lIns="45720" rIns="45720" tIns="18288" bIns="18288">
            <a:spAutoFit/>
          </a:bodyPr>
          <a:lstStyle/>
          <a:p>
            <a:pPr algn="l"/>
            <a:r>
              <a:rPr sz="1300" b="0" i="1">
                <a:solidFill>
                  <a:srgbClr val="C8D1E6"/>
                </a:solidFill>
                <a:latin typeface="Calibri"/>
              </a:rPr>
              <a:t>Sunum dili Türkçe; anatomik terimler Terminologia Anatomica (Latince).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İçindekiler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Her bölüm: konu anlatımı → görseller → klinik bağlantılar → varyasyon literatür taraması</a:t>
            </a:r>
          </a:p>
        </p:txBody>
      </p:sp>
      <p:sp>
        <p:nvSpPr>
          <p:cNvPr id="5" name="Rounded Rectangle 4"/>
          <p:cNvSpPr/>
          <p:nvPr/>
        </p:nvSpPr>
        <p:spPr>
          <a:xfrm>
            <a:off x="41148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143000"/>
            <a:ext cx="2514600" cy="502920"/>
          </a:xfrm>
          <a:prstGeom prst="rect">
            <a:avLst/>
          </a:prstGeom>
          <a:noFill/>
        </p:spPr>
        <p:txBody>
          <a:bodyPr wrap="square" anchor="t" lIns="45720" rIns="45720" tIns="18288" bIns="18288">
            <a:spAutoFit/>
          </a:bodyPr>
          <a:lstStyle/>
          <a:p>
            <a:pPr algn="l"/>
            <a:r>
              <a:rPr sz="2200" b="1" i="0">
                <a:solidFill>
                  <a:srgbClr val="C0392B"/>
                </a:solidFill>
                <a:latin typeface="Calibri"/>
              </a:rPr>
              <a:t>1. BEYİN</a:t>
            </a:r>
          </a:p>
        </p:txBody>
      </p:sp>
      <p:sp>
        <p:nvSpPr>
          <p:cNvPr id="7" name="TextBox 6"/>
          <p:cNvSpPr txBox="1"/>
          <p:nvPr/>
        </p:nvSpPr>
        <p:spPr>
          <a:xfrm>
            <a:off x="502920" y="1691640"/>
            <a:ext cx="2514600" cy="548640"/>
          </a:xfrm>
          <a:prstGeom prst="rect">
            <a:avLst/>
          </a:prstGeom>
          <a:noFill/>
        </p:spPr>
        <p:txBody>
          <a:bodyPr wrap="square" anchor="t" lIns="45720" rIns="45720" tIns="18288" bIns="18288">
            <a:spAutoFit/>
          </a:bodyPr>
          <a:lstStyle/>
          <a:p>
            <a:pPr algn="l"/>
            <a:r>
              <a:rPr sz="1250" b="0" i="1">
                <a:solidFill>
                  <a:srgbClr val="555B66"/>
                </a:solidFill>
                <a:latin typeface="Calibri"/>
              </a:rPr>
              <a:t>Hemisferler, ventriküller, beyin sapı, serebellum</a:t>
            </a:r>
          </a:p>
        </p:txBody>
      </p:sp>
      <p:sp>
        <p:nvSpPr>
          <p:cNvPr id="8" name="TextBox 7"/>
          <p:cNvSpPr txBox="1"/>
          <p:nvPr/>
        </p:nvSpPr>
        <p:spPr>
          <a:xfrm>
            <a:off x="502920" y="2286000"/>
            <a:ext cx="2514600" cy="3611880"/>
          </a:xfrm>
          <a:prstGeom prst="rect">
            <a:avLst/>
          </a:prstGeom>
          <a:noFill/>
        </p:spPr>
        <p:txBody>
          <a:bodyPr wrap="square">
            <a:spAutoFit/>
          </a:bodyPr>
          <a:lstStyle/>
          <a:p>
            <a:pPr algn="l">
              <a:spcAft>
                <a:spcPts val="300"/>
              </a:spcAft>
            </a:pPr>
            <a:r>
              <a:rPr sz="1500" b="0" i="0">
                <a:solidFill>
                  <a:srgbClr val="1F2A44"/>
                </a:solidFill>
                <a:latin typeface="Calibri"/>
              </a:rPr>
              <a:t>• Okuma rehberi</a:t>
            </a:r>
          </a:p>
          <a:p>
            <a:pPr algn="l">
              <a:spcAft>
                <a:spcPts val="300"/>
              </a:spcAft>
            </a:pPr>
            <a:r>
              <a:rPr sz="1500" b="0" i="0">
                <a:solidFill>
                  <a:srgbClr val="1F2A44"/>
                </a:solidFill>
                <a:latin typeface="Calibri"/>
              </a:rPr>
              <a:t>• VHP düzeyleri 1060–1125</a:t>
            </a:r>
          </a:p>
          <a:p>
            <a:pPr algn="l">
              <a:spcAft>
                <a:spcPts val="300"/>
              </a:spcAft>
            </a:pPr>
            <a:r>
              <a:rPr sz="1500" b="0" i="0">
                <a:solidFill>
                  <a:srgbClr val="1F2A44"/>
                </a:solidFill>
                <a:latin typeface="Calibri"/>
              </a:rPr>
              <a:t>• Beyin sapı ve hipokampus MR'ı</a:t>
            </a:r>
          </a:p>
          <a:p>
            <a:pPr algn="l">
              <a:spcAft>
                <a:spcPts val="300"/>
              </a:spcAft>
            </a:pPr>
            <a:r>
              <a:rPr sz="1500" b="0" i="0">
                <a:solidFill>
                  <a:srgbClr val="1F2A44"/>
                </a:solidFill>
                <a:latin typeface="Calibri"/>
              </a:rPr>
              <a:t>• Kranial sinirler</a:t>
            </a:r>
          </a:p>
          <a:p>
            <a:pPr algn="l">
              <a:spcAft>
                <a:spcPts val="300"/>
              </a:spcAft>
            </a:pPr>
            <a:r>
              <a:rPr sz="1500" b="0" i="0">
                <a:solidFill>
                  <a:srgbClr val="1F2A44"/>
                </a:solidFill>
                <a:latin typeface="Calibri"/>
              </a:rPr>
              <a:t>• Varyasyonlar: Willis, CSP, perivasküler boşluklar</a:t>
            </a:r>
          </a:p>
        </p:txBody>
      </p:sp>
      <p:sp>
        <p:nvSpPr>
          <p:cNvPr id="9" name="Rounded Rectangle 8"/>
          <p:cNvSpPr/>
          <p:nvPr/>
        </p:nvSpPr>
        <p:spPr>
          <a:xfrm>
            <a:off x="329184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143000"/>
            <a:ext cx="2514600" cy="502920"/>
          </a:xfrm>
          <a:prstGeom prst="rect">
            <a:avLst/>
          </a:prstGeom>
          <a:noFill/>
        </p:spPr>
        <p:txBody>
          <a:bodyPr wrap="square" anchor="t" lIns="45720" rIns="45720" tIns="18288" bIns="18288">
            <a:spAutoFit/>
          </a:bodyPr>
          <a:lstStyle/>
          <a:p>
            <a:pPr algn="l"/>
            <a:r>
              <a:rPr sz="2200" b="1" i="0">
                <a:solidFill>
                  <a:srgbClr val="C0392B"/>
                </a:solidFill>
                <a:latin typeface="Calibri"/>
              </a:rPr>
              <a:t>2. KAFA TABANI</a:t>
            </a:r>
          </a:p>
        </p:txBody>
      </p:sp>
      <p:sp>
        <p:nvSpPr>
          <p:cNvPr id="11" name="TextBox 10"/>
          <p:cNvSpPr txBox="1"/>
          <p:nvPr/>
        </p:nvSpPr>
        <p:spPr>
          <a:xfrm>
            <a:off x="3383280" y="1691640"/>
            <a:ext cx="2514600" cy="548640"/>
          </a:xfrm>
          <a:prstGeom prst="rect">
            <a:avLst/>
          </a:prstGeom>
          <a:noFill/>
        </p:spPr>
        <p:txBody>
          <a:bodyPr wrap="square" anchor="t" lIns="45720" rIns="45720" tIns="18288" bIns="18288">
            <a:spAutoFit/>
          </a:bodyPr>
          <a:lstStyle/>
          <a:p>
            <a:pPr algn="l"/>
            <a:r>
              <a:rPr sz="1250" b="0" i="1">
                <a:solidFill>
                  <a:srgbClr val="555B66"/>
                </a:solidFill>
                <a:latin typeface="Calibri"/>
              </a:rPr>
              <a:t>Foramenler, orbita, paranazal sinüsler, temporal kemik</a:t>
            </a:r>
          </a:p>
        </p:txBody>
      </p:sp>
      <p:sp>
        <p:nvSpPr>
          <p:cNvPr id="12" name="TextBox 11"/>
          <p:cNvSpPr txBox="1"/>
          <p:nvPr/>
        </p:nvSpPr>
        <p:spPr>
          <a:xfrm>
            <a:off x="3383280" y="2286000"/>
            <a:ext cx="2514600" cy="3611880"/>
          </a:xfrm>
          <a:prstGeom prst="rect">
            <a:avLst/>
          </a:prstGeom>
          <a:noFill/>
        </p:spPr>
        <p:txBody>
          <a:bodyPr wrap="square">
            <a:spAutoFit/>
          </a:bodyPr>
          <a:lstStyle/>
          <a:p>
            <a:pPr algn="l">
              <a:spcAft>
                <a:spcPts val="300"/>
              </a:spcAft>
            </a:pPr>
            <a:r>
              <a:rPr sz="1500" b="0" i="0">
                <a:solidFill>
                  <a:srgbClr val="1F2A44"/>
                </a:solidFill>
                <a:latin typeface="Calibri"/>
              </a:rPr>
              <a:t>• Okuma rehberi</a:t>
            </a:r>
          </a:p>
          <a:p>
            <a:pPr algn="l">
              <a:spcAft>
                <a:spcPts val="300"/>
              </a:spcAft>
            </a:pPr>
            <a:r>
              <a:rPr sz="1500" b="0" i="0">
                <a:solidFill>
                  <a:srgbClr val="1F2A44"/>
                </a:solidFill>
                <a:latin typeface="Calibri"/>
              </a:rPr>
              <a:t>• VHP düzeyleri 1125–1140</a:t>
            </a:r>
          </a:p>
          <a:p>
            <a:pPr algn="l">
              <a:spcAft>
                <a:spcPts val="300"/>
              </a:spcAft>
            </a:pPr>
            <a:r>
              <a:rPr sz="1500" b="0" i="0">
                <a:solidFill>
                  <a:srgbClr val="1F2A44"/>
                </a:solidFill>
                <a:latin typeface="Calibri"/>
              </a:rPr>
              <a:t>• Foramenler, kemikçikler, orbita, sinüs BT</a:t>
            </a:r>
          </a:p>
          <a:p>
            <a:pPr algn="l">
              <a:spcAft>
                <a:spcPts val="300"/>
              </a:spcAft>
            </a:pPr>
            <a:r>
              <a:rPr sz="1500" b="0" i="0">
                <a:solidFill>
                  <a:srgbClr val="1F2A44"/>
                </a:solidFill>
                <a:latin typeface="Calibri"/>
              </a:rPr>
              <a:t>• Varyasyonlar: Keros, konka bülloza, Onodi/Haller</a:t>
            </a:r>
          </a:p>
        </p:txBody>
      </p:sp>
      <p:sp>
        <p:nvSpPr>
          <p:cNvPr id="13" name="Rounded Rectangle 12"/>
          <p:cNvSpPr/>
          <p:nvPr/>
        </p:nvSpPr>
        <p:spPr>
          <a:xfrm>
            <a:off x="617220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143000"/>
            <a:ext cx="2514600" cy="502920"/>
          </a:xfrm>
          <a:prstGeom prst="rect">
            <a:avLst/>
          </a:prstGeom>
          <a:noFill/>
        </p:spPr>
        <p:txBody>
          <a:bodyPr wrap="square" anchor="t" lIns="45720" rIns="45720" tIns="18288" bIns="18288">
            <a:spAutoFit/>
          </a:bodyPr>
          <a:lstStyle/>
          <a:p>
            <a:pPr algn="l"/>
            <a:r>
              <a:rPr sz="2200" b="1" i="0">
                <a:solidFill>
                  <a:srgbClr val="C0392B"/>
                </a:solidFill>
                <a:latin typeface="Calibri"/>
              </a:rPr>
              <a:t>3. YÜZ–FARİNKS</a:t>
            </a:r>
          </a:p>
        </p:txBody>
      </p:sp>
      <p:sp>
        <p:nvSpPr>
          <p:cNvPr id="15" name="TextBox 14"/>
          <p:cNvSpPr txBox="1"/>
          <p:nvPr/>
        </p:nvSpPr>
        <p:spPr>
          <a:xfrm>
            <a:off x="6263640" y="1691640"/>
            <a:ext cx="2514600" cy="548640"/>
          </a:xfrm>
          <a:prstGeom prst="rect">
            <a:avLst/>
          </a:prstGeom>
          <a:noFill/>
        </p:spPr>
        <p:txBody>
          <a:bodyPr wrap="square" anchor="t" lIns="45720" rIns="45720" tIns="18288" bIns="18288">
            <a:spAutoFit/>
          </a:bodyPr>
          <a:lstStyle/>
          <a:p>
            <a:pPr algn="l"/>
            <a:r>
              <a:rPr sz="1250" b="0" i="1">
                <a:solidFill>
                  <a:srgbClr val="555B66"/>
                </a:solidFill>
                <a:latin typeface="Calibri"/>
              </a:rPr>
              <a:t>Derin yüz boşlukları ve tükürük bezleri</a:t>
            </a:r>
          </a:p>
        </p:txBody>
      </p:sp>
      <p:sp>
        <p:nvSpPr>
          <p:cNvPr id="16" name="TextBox 15"/>
          <p:cNvSpPr txBox="1"/>
          <p:nvPr/>
        </p:nvSpPr>
        <p:spPr>
          <a:xfrm>
            <a:off x="6263640" y="2286000"/>
            <a:ext cx="2514600" cy="3611880"/>
          </a:xfrm>
          <a:prstGeom prst="rect">
            <a:avLst/>
          </a:prstGeom>
          <a:noFill/>
        </p:spPr>
        <p:txBody>
          <a:bodyPr wrap="square">
            <a:spAutoFit/>
          </a:bodyPr>
          <a:lstStyle/>
          <a:p>
            <a:pPr algn="l">
              <a:spcAft>
                <a:spcPts val="300"/>
              </a:spcAft>
            </a:pPr>
            <a:r>
              <a:rPr sz="1500" b="0" i="0">
                <a:solidFill>
                  <a:srgbClr val="1F2A44"/>
                </a:solidFill>
                <a:latin typeface="Calibri"/>
              </a:rPr>
              <a:t>• Okuma rehberi</a:t>
            </a:r>
          </a:p>
          <a:p>
            <a:pPr algn="l">
              <a:spcAft>
                <a:spcPts val="300"/>
              </a:spcAft>
            </a:pPr>
            <a:r>
              <a:rPr sz="1500" b="0" i="0">
                <a:solidFill>
                  <a:srgbClr val="1F2A44"/>
                </a:solidFill>
                <a:latin typeface="Calibri"/>
              </a:rPr>
              <a:t>• VHP düzeyleri 1165–1200</a:t>
            </a:r>
          </a:p>
          <a:p>
            <a:pPr algn="l">
              <a:spcAft>
                <a:spcPts val="300"/>
              </a:spcAft>
            </a:pPr>
            <a:r>
              <a:rPr sz="1500" b="0" i="0">
                <a:solidFill>
                  <a:srgbClr val="1F2A44"/>
                </a:solidFill>
                <a:latin typeface="Calibri"/>
              </a:rPr>
              <a:t>• Orofarinks, ağız tabanı, parotis MR'ı</a:t>
            </a:r>
          </a:p>
          <a:p>
            <a:pPr algn="l">
              <a:spcAft>
                <a:spcPts val="300"/>
              </a:spcAft>
            </a:pPr>
            <a:r>
              <a:rPr sz="1500" b="0" i="0">
                <a:solidFill>
                  <a:srgbClr val="1F2A44"/>
                </a:solidFill>
                <a:latin typeface="Calibri"/>
              </a:rPr>
              <a:t>• Varyasyonlar: stiloid, aksesuar parotis, 'kissing' karotis</a:t>
            </a:r>
          </a:p>
        </p:txBody>
      </p:sp>
      <p:sp>
        <p:nvSpPr>
          <p:cNvPr id="17" name="Rounded Rectangle 16"/>
          <p:cNvSpPr/>
          <p:nvPr/>
        </p:nvSpPr>
        <p:spPr>
          <a:xfrm>
            <a:off x="905256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143000"/>
            <a:ext cx="2514600" cy="502920"/>
          </a:xfrm>
          <a:prstGeom prst="rect">
            <a:avLst/>
          </a:prstGeom>
          <a:noFill/>
        </p:spPr>
        <p:txBody>
          <a:bodyPr wrap="square" anchor="t" lIns="45720" rIns="45720" tIns="18288" bIns="18288">
            <a:spAutoFit/>
          </a:bodyPr>
          <a:lstStyle/>
          <a:p>
            <a:pPr algn="l"/>
            <a:r>
              <a:rPr sz="2200" b="1" i="0">
                <a:solidFill>
                  <a:srgbClr val="C0392B"/>
                </a:solidFill>
                <a:latin typeface="Calibri"/>
              </a:rPr>
              <a:t>4. BOYUN</a:t>
            </a:r>
          </a:p>
        </p:txBody>
      </p:sp>
      <p:sp>
        <p:nvSpPr>
          <p:cNvPr id="19" name="TextBox 18"/>
          <p:cNvSpPr txBox="1"/>
          <p:nvPr/>
        </p:nvSpPr>
        <p:spPr>
          <a:xfrm>
            <a:off x="9144000" y="1691640"/>
            <a:ext cx="2514600" cy="548640"/>
          </a:xfrm>
          <a:prstGeom prst="rect">
            <a:avLst/>
          </a:prstGeom>
          <a:noFill/>
        </p:spPr>
        <p:txBody>
          <a:bodyPr wrap="square" anchor="t" lIns="45720" rIns="45720" tIns="18288" bIns="18288">
            <a:spAutoFit/>
          </a:bodyPr>
          <a:lstStyle/>
          <a:p>
            <a:pPr algn="l"/>
            <a:r>
              <a:rPr sz="1250" b="0" i="1">
                <a:solidFill>
                  <a:srgbClr val="555B66"/>
                </a:solidFill>
                <a:latin typeface="Calibri"/>
              </a:rPr>
              <a:t>Larinks, tiroid, fasyalar ve karotis kılıfı</a:t>
            </a:r>
          </a:p>
        </p:txBody>
      </p:sp>
      <p:sp>
        <p:nvSpPr>
          <p:cNvPr id="20" name="TextBox 19"/>
          <p:cNvSpPr txBox="1"/>
          <p:nvPr/>
        </p:nvSpPr>
        <p:spPr>
          <a:xfrm>
            <a:off x="9144000" y="2286000"/>
            <a:ext cx="2514600" cy="3611880"/>
          </a:xfrm>
          <a:prstGeom prst="rect">
            <a:avLst/>
          </a:prstGeom>
          <a:noFill/>
        </p:spPr>
        <p:txBody>
          <a:bodyPr wrap="square">
            <a:spAutoFit/>
          </a:bodyPr>
          <a:lstStyle/>
          <a:p>
            <a:pPr algn="l">
              <a:spcAft>
                <a:spcPts val="300"/>
              </a:spcAft>
            </a:pPr>
            <a:r>
              <a:rPr sz="1500" b="0" i="0">
                <a:solidFill>
                  <a:srgbClr val="1F2A44"/>
                </a:solidFill>
                <a:latin typeface="Calibri"/>
              </a:rPr>
              <a:t>• Okuma rehberi</a:t>
            </a:r>
          </a:p>
          <a:p>
            <a:pPr algn="l">
              <a:spcAft>
                <a:spcPts val="300"/>
              </a:spcAft>
            </a:pPr>
            <a:r>
              <a:rPr sz="1500" b="0" i="0">
                <a:solidFill>
                  <a:srgbClr val="1F2A44"/>
                </a:solidFill>
                <a:latin typeface="Calibri"/>
              </a:rPr>
              <a:t>• VHP düzeyleri 1230–1260</a:t>
            </a:r>
          </a:p>
          <a:p>
            <a:pPr algn="l">
              <a:spcAft>
                <a:spcPts val="300"/>
              </a:spcAft>
            </a:pPr>
            <a:r>
              <a:rPr sz="1500" b="0" i="0">
                <a:solidFill>
                  <a:srgbClr val="1F2A44"/>
                </a:solidFill>
                <a:latin typeface="Calibri"/>
              </a:rPr>
              <a:t>• Boyun US'si, fasyalar</a:t>
            </a:r>
          </a:p>
          <a:p>
            <a:pPr algn="l">
              <a:spcAft>
                <a:spcPts val="300"/>
              </a:spcAft>
            </a:pPr>
            <a:r>
              <a:rPr sz="1500" b="0" i="0">
                <a:solidFill>
                  <a:srgbClr val="1F2A44"/>
                </a:solidFill>
                <a:latin typeface="Calibri"/>
              </a:rPr>
              <a:t>• Varyasyonlar: arkus aorta, karotis bifurkasyonu, piramidal lob</a:t>
            </a:r>
          </a:p>
        </p:txBody>
      </p:sp>
      <p:cxnSp>
        <p:nvCxnSpPr>
          <p:cNvPr id="21" name="Connector 20"/>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23" name="TextBox 22"/>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Baş ve boyunda kesitsel anatomi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Küçük bir alanda yoğun anatomi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GİRİŞ</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Baş ve boyun, vücudun en yoğun anatomik bölgesidir: birkaç santimetrelik bir kesitte beyin, kafa tabanı foramenleri, orbita, sinüsler, çiğneme kasları, farinks, büyük damarlar ve kranial sinirler bir arada bulunabilir. Bu nedenle kesit okurken düzeyi doğru belirlemek her şeyden önce gelir.</a:t>
            </a:r>
          </a:p>
          <a:p>
            <a:pPr algn="l">
              <a:lnSpc>
                <a:spcPct val="108000"/>
              </a:lnSpc>
              <a:spcAft>
                <a:spcPts val="900"/>
              </a:spcAft>
            </a:pPr>
            <a:r>
              <a:rPr sz="2000" b="0" i="0">
                <a:solidFill>
                  <a:srgbClr val="1F2A44"/>
                </a:solidFill>
                <a:latin typeface="Calibri"/>
              </a:rPr>
              <a:t>Kafa içinde düzeyi ventriküller ve bazal çekirdekler belirler: lateral ventriküllerin gövdesi, foramen interventriculare ve üçüncü ventrikül, beyin sapının mezensefalon, pons ve medulla oblongata düzeyleri. Kafa tabanında orbita, sfenoid sinüs ve temporal kemik; yüzde maksiller sinüs, sert damak ve mandibula; boyunda ise hyoid kemik, kıkırdak larinks ve vertebralar yol göstericidir.</a:t>
            </a:r>
          </a:p>
          <a:p>
            <a:pPr algn="l">
              <a:lnSpc>
                <a:spcPct val="108000"/>
              </a:lnSpc>
              <a:spcAft>
                <a:spcPts val="900"/>
              </a:spcAft>
            </a:pPr>
            <a:r>
              <a:rPr sz="2000" b="0" i="0">
                <a:solidFill>
                  <a:srgbClr val="1F2A44"/>
                </a:solidFill>
                <a:latin typeface="Calibri"/>
              </a:rPr>
              <a:t>Bu sunumda Visible Human erkek kadavrasının baş–boyun kesitlerini, aynı kadavranın aynı numaralı BT'si ve baş bölgesinde aynı numaralı MR görüntüsüyle birlikte göreceğiz. MR ile kriyokesit arasındaki uyum o kadar iyidir ki, girus ve sulkusların deseni iki görüntüde birebir izlenebilir. Literatürden eklenen MR, BT ve ultrason görüntüleri klinik görüntülemeyi; bölüm sonlarındaki varyasyon çalışmaları ise bu bölgedeki bireysel farklılıkları gösterecektir.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1</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BEYİN</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Beyin ve kafatası</a:t>
            </a:r>
          </a:p>
          <a:p>
            <a:pPr algn="l"/>
            <a:r>
              <a:rPr sz="1800" b="0" i="0">
                <a:solidFill>
                  <a:srgbClr val="C8D1E6"/>
                </a:solidFill>
                <a:latin typeface="Calibri"/>
              </a:rPr>
              <a:t>Hemisferler, ventriküller, beyin sapı, serebellum</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Okuma rehberi</a:t>
            </a:r>
          </a:p>
          <a:p>
            <a:pPr algn="l">
              <a:spcAft>
                <a:spcPts val="300"/>
              </a:spcAft>
            </a:pPr>
            <a:r>
              <a:rPr sz="1700" b="0" i="0">
                <a:solidFill>
                  <a:srgbClr val="FFFFFF"/>
                </a:solidFill>
                <a:latin typeface="Calibri"/>
              </a:rPr>
              <a:t>• VHP düzeyleri 1060–1125</a:t>
            </a:r>
          </a:p>
          <a:p>
            <a:pPr algn="l">
              <a:spcAft>
                <a:spcPts val="300"/>
              </a:spcAft>
            </a:pPr>
            <a:r>
              <a:rPr sz="1700" b="0" i="0">
                <a:solidFill>
                  <a:srgbClr val="FFFFFF"/>
                </a:solidFill>
                <a:latin typeface="Calibri"/>
              </a:rPr>
              <a:t>• Beyin sapı ve hipokampus MR'ı</a:t>
            </a:r>
          </a:p>
          <a:p>
            <a:pPr algn="l">
              <a:spcAft>
                <a:spcPts val="300"/>
              </a:spcAft>
            </a:pPr>
            <a:r>
              <a:rPr sz="1700" b="0" i="0">
                <a:solidFill>
                  <a:srgbClr val="FFFFFF"/>
                </a:solidFill>
                <a:latin typeface="Calibri"/>
              </a:rPr>
              <a:t>• Kranial sinirler</a:t>
            </a:r>
          </a:p>
          <a:p>
            <a:pPr algn="l">
              <a:spcAft>
                <a:spcPts val="300"/>
              </a:spcAft>
            </a:pPr>
            <a:r>
              <a:rPr sz="1700" b="0" i="0">
                <a:solidFill>
                  <a:srgbClr val="FFFFFF"/>
                </a:solidFill>
                <a:latin typeface="Calibri"/>
              </a:rPr>
              <a:t>• Varyasyonlar: Willis, CSP, perivasküler boşluklar</a:t>
            </a:r>
          </a:p>
        </p:txBody>
      </p:sp>
      <p:pic>
        <p:nvPicPr>
          <p:cNvPr id="7" name="Picture 6" descr="cryo_1080.jpg"/>
          <p:cNvPicPr>
            <a:picLocks noChangeAspect="1"/>
          </p:cNvPicPr>
          <p:nvPr/>
        </p:nvPicPr>
        <p:blipFill>
          <a:blip r:embed="rId2"/>
          <a:stretch>
            <a:fillRect/>
          </a:stretch>
        </p:blipFill>
        <p:spPr>
          <a:xfrm>
            <a:off x="7231660" y="365759"/>
            <a:ext cx="4281878" cy="5486400"/>
          </a:xfrm>
          <a:prstGeom prst="rect">
            <a:avLst/>
          </a:prstGeom>
        </p:spPr>
      </p:pic>
      <p:sp>
        <p:nvSpPr>
          <p:cNvPr id="8" name="TextBox 7"/>
          <p:cNvSpPr txBox="1"/>
          <p:nvPr/>
        </p:nvSpPr>
        <p:spPr>
          <a:xfrm>
            <a:off x="7048780" y="5852160"/>
            <a:ext cx="4647638"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1080</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Beyin kesitlerini okumak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Gri cevher, beyaz cevher ve BOS boşlukları</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Aksiyel beyin kesitinde ilk dikkati çeken, korteksin gri cevheri ile altındaki beyaz cevher arasındaki sınırdır. Kriyokesitte gri cevher kahverengimsi, beyaz cevher krem rengindedir; T1 MR'da beyaz cevher daha parlak, T2'de ise daha koyudur. BT'de bu ayrım çok daha silik olup beyin omurilik sıvısı (BOS) koyu görülür.</a:t>
            </a:r>
          </a:p>
          <a:p>
            <a:pPr algn="l">
              <a:lnSpc>
                <a:spcPct val="108000"/>
              </a:lnSpc>
              <a:spcAft>
                <a:spcPts val="900"/>
              </a:spcAft>
            </a:pPr>
            <a:r>
              <a:rPr sz="2000" b="0" i="0">
                <a:solidFill>
                  <a:srgbClr val="1F2A44"/>
                </a:solidFill>
                <a:latin typeface="Calibri"/>
              </a:rPr>
              <a:t>Yukarıdan aşağıya inerken önce iki hemisferi ayıran fissura longitudinalis ve centrum semiovale görülür. Daha aşağıda lateral ventriküllerin ön boynuzları, aralarında septum pellucidum ve corpus callosum, yanlarda nucleus caudatus ve lentiform çekirdek belirir. Ardından talamuslar, üçüncü ventrikül, mezensefalon ve en altta pons ile serebellum gelir.</a:t>
            </a:r>
          </a:p>
          <a:p>
            <a:pPr algn="l">
              <a:lnSpc>
                <a:spcPct val="108000"/>
              </a:lnSpc>
              <a:spcAft>
                <a:spcPts val="900"/>
              </a:spcAft>
            </a:pPr>
            <a:r>
              <a:rPr sz="2000" b="0" i="0">
                <a:solidFill>
                  <a:srgbClr val="1F2A44"/>
                </a:solidFill>
                <a:latin typeface="Calibri"/>
              </a:rPr>
              <a:t>Kafatasının hemen içinde dura mater ve venöz sinüsler yer alır; arka orta hatta sinus sagittalis superior kesitte üçgen bir boşluk olarak görülür. Kafatasının dışında ise yanlarda m. temporalis kası bulunur.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Beyin – centrum semiovale düzeyi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Lateral ventriküllerin üstü – NLM kesit no. 1060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060.jpg"/>
          <p:cNvPicPr>
            <a:picLocks noChangeAspect="1"/>
          </p:cNvPicPr>
          <p:nvPr/>
        </p:nvPicPr>
        <p:blipFill>
          <a:blip r:embed="rId2"/>
          <a:stretch>
            <a:fillRect/>
          </a:stretch>
        </p:blipFill>
        <p:spPr>
          <a:xfrm>
            <a:off x="2424335" y="1234440"/>
            <a:ext cx="3289489" cy="4069080"/>
          </a:xfrm>
          <a:prstGeom prst="rect">
            <a:avLst/>
          </a:prstGeom>
        </p:spPr>
      </p:pic>
      <p:sp>
        <p:nvSpPr>
          <p:cNvPr id="8" name="TextBox 7"/>
          <p:cNvSpPr txBox="1"/>
          <p:nvPr/>
        </p:nvSpPr>
        <p:spPr>
          <a:xfrm>
            <a:off x="2150015" y="5321808"/>
            <a:ext cx="3838129"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1544581"/>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Sinus frontalis</a:t>
            </a:r>
          </a:p>
        </p:txBody>
      </p:sp>
      <p:cxnSp>
        <p:nvCxnSpPr>
          <p:cNvPr id="10" name="Connector 9"/>
          <p:cNvCxnSpPr/>
          <p:nvPr/>
        </p:nvCxnSpPr>
        <p:spPr>
          <a:xfrm>
            <a:off x="2148840" y="1773181"/>
            <a:ext cx="160650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714194" y="173203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2590372"/>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Substantia alba (centrum semiovale)</a:t>
            </a:r>
          </a:p>
        </p:txBody>
      </p:sp>
      <p:cxnSp>
        <p:nvCxnSpPr>
          <p:cNvPr id="13" name="Connector 12"/>
          <p:cNvCxnSpPr/>
          <p:nvPr/>
        </p:nvCxnSpPr>
        <p:spPr>
          <a:xfrm>
            <a:off x="2148840" y="2818972"/>
            <a:ext cx="128959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397287" y="277782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4586883"/>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Sinus sagittalis superior</a:t>
            </a:r>
          </a:p>
        </p:txBody>
      </p:sp>
      <p:cxnSp>
        <p:nvCxnSpPr>
          <p:cNvPr id="16" name="Connector 15"/>
          <p:cNvCxnSpPr/>
          <p:nvPr/>
        </p:nvCxnSpPr>
        <p:spPr>
          <a:xfrm>
            <a:off x="2148840" y="4815483"/>
            <a:ext cx="191073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018424" y="477433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2907279"/>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Fissura longitudinalis cerebri</a:t>
            </a:r>
          </a:p>
        </p:txBody>
      </p:sp>
      <p:cxnSp>
        <p:nvCxnSpPr>
          <p:cNvPr id="19" name="Connector 18"/>
          <p:cNvCxnSpPr/>
          <p:nvPr/>
        </p:nvCxnSpPr>
        <p:spPr>
          <a:xfrm flipH="1">
            <a:off x="4040558" y="3135879"/>
            <a:ext cx="194876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99410" y="309473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419343"/>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Cortex cerebri (gyri ve sulci)</a:t>
            </a:r>
          </a:p>
        </p:txBody>
      </p:sp>
      <p:cxnSp>
        <p:nvCxnSpPr>
          <p:cNvPr id="22" name="Connector 21"/>
          <p:cNvCxnSpPr/>
          <p:nvPr/>
        </p:nvCxnSpPr>
        <p:spPr>
          <a:xfrm flipH="1" flipV="1">
            <a:off x="4896206" y="3135879"/>
            <a:ext cx="1093114" cy="51206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855058" y="309473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t_1060.png"/>
          <p:cNvPicPr>
            <a:picLocks noChangeAspect="1"/>
          </p:cNvPicPr>
          <p:nvPr/>
        </p:nvPicPr>
        <p:blipFill>
          <a:blip r:embed="rId3"/>
          <a:stretch>
            <a:fillRect/>
          </a:stretch>
        </p:blipFill>
        <p:spPr>
          <a:xfrm>
            <a:off x="9367440" y="1234440"/>
            <a:ext cx="1519079" cy="1879092"/>
          </a:xfrm>
          <a:prstGeom prst="rect">
            <a:avLst/>
          </a:prstGeom>
        </p:spPr>
      </p:pic>
      <p:sp>
        <p:nvSpPr>
          <p:cNvPr id="25" name="TextBox 24"/>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26" name="Picture 25" descr="t2_1060.png"/>
          <p:cNvPicPr>
            <a:picLocks noChangeAspect="1"/>
          </p:cNvPicPr>
          <p:nvPr/>
        </p:nvPicPr>
        <p:blipFill>
          <a:blip r:embed="rId4"/>
          <a:stretch>
            <a:fillRect/>
          </a:stretch>
        </p:blipFill>
        <p:spPr>
          <a:xfrm>
            <a:off x="9367440" y="3406140"/>
            <a:ext cx="1519079" cy="1879092"/>
          </a:xfrm>
          <a:prstGeom prst="rect">
            <a:avLst/>
          </a:prstGeom>
        </p:spPr>
      </p:pic>
      <p:sp>
        <p:nvSpPr>
          <p:cNvPr id="27" name="TextBox 26"/>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MR (T2), aynı NLM kesit no.</a:t>
            </a:r>
          </a:p>
        </p:txBody>
      </p:sp>
      <p:sp>
        <p:nvSpPr>
          <p:cNvPr id="28" name="TextBox 27"/>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MR ile kriyokesitteki girus deseninin birebir örtüşmesi, kesitlerin gerçekten aynı düzeyde olduğunu gösterir.</a:t>
            </a:r>
          </a:p>
          <a:p>
            <a:pPr algn="l">
              <a:spcAft>
                <a:spcPts val="300"/>
              </a:spcAft>
            </a:pPr>
            <a:r>
              <a:rPr sz="1500" b="0" i="0">
                <a:solidFill>
                  <a:srgbClr val="1F2A44"/>
                </a:solidFill>
                <a:latin typeface="Calibri"/>
              </a:rPr>
              <a:t>• T2 MR'da sulkuslardaki BOS parlak, kriyokesitte ince kırmızı damarlarla izlenir.</a:t>
            </a:r>
          </a:p>
        </p:txBody>
      </p:sp>
      <p:cxnSp>
        <p:nvCxnSpPr>
          <p:cNvPr id="29" name="Connector 2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a_vm1060, donmuş BT c_vm1060.fro, MR m_vm1060; NCI Imaging Data Commons (doi:10.5281/zenodo.12690049); NLM Terms and Conditions (2019). Radyolojik yönelim (ön yukarıda, hastanın sağı solda).</a:t>
            </a:r>
          </a:p>
        </p:txBody>
      </p:sp>
      <p:sp>
        <p:nvSpPr>
          <p:cNvPr id="31" name="TextBox 30"/>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Beyin – lateral ventriküller ve corpus callosum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Foramen interventriculare'nin üstü – NLM kesit no. 1080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080.jpg"/>
          <p:cNvPicPr>
            <a:picLocks noChangeAspect="1"/>
          </p:cNvPicPr>
          <p:nvPr/>
        </p:nvPicPr>
        <p:blipFill>
          <a:blip r:embed="rId2"/>
          <a:stretch>
            <a:fillRect/>
          </a:stretch>
        </p:blipFill>
        <p:spPr>
          <a:xfrm>
            <a:off x="2481216" y="1234440"/>
            <a:ext cx="3175726" cy="4069080"/>
          </a:xfrm>
          <a:prstGeom prst="rect">
            <a:avLst/>
          </a:prstGeom>
        </p:spPr>
      </p:pic>
      <p:sp>
        <p:nvSpPr>
          <p:cNvPr id="8" name="TextBox 7"/>
          <p:cNvSpPr txBox="1"/>
          <p:nvPr/>
        </p:nvSpPr>
        <p:spPr>
          <a:xfrm>
            <a:off x="2206896" y="5321808"/>
            <a:ext cx="3724366"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1553379"/>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Sinus frontalis</a:t>
            </a:r>
          </a:p>
        </p:txBody>
      </p:sp>
      <p:cxnSp>
        <p:nvCxnSpPr>
          <p:cNvPr id="10" name="Connector 9"/>
          <p:cNvCxnSpPr/>
          <p:nvPr/>
        </p:nvCxnSpPr>
        <p:spPr>
          <a:xfrm>
            <a:off x="2148840" y="1781979"/>
            <a:ext cx="177326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880960" y="174083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2377569"/>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Genu corporis callosi</a:t>
            </a:r>
          </a:p>
        </p:txBody>
      </p:sp>
      <p:cxnSp>
        <p:nvCxnSpPr>
          <p:cNvPr id="13" name="Connector 12"/>
          <p:cNvCxnSpPr/>
          <p:nvPr/>
        </p:nvCxnSpPr>
        <p:spPr>
          <a:xfrm>
            <a:off x="2148840" y="2606169"/>
            <a:ext cx="197499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082685" y="256502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2889633"/>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temporalis</a:t>
            </a:r>
          </a:p>
        </p:txBody>
      </p:sp>
      <p:cxnSp>
        <p:nvCxnSpPr>
          <p:cNvPr id="16" name="Connector 15"/>
          <p:cNvCxnSpPr/>
          <p:nvPr/>
        </p:nvCxnSpPr>
        <p:spPr>
          <a:xfrm flipV="1">
            <a:off x="2148840" y="3078782"/>
            <a:ext cx="735826" cy="39451"/>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843518" y="303763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435163"/>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Sinus sagittalis superior</a:t>
            </a:r>
          </a:p>
        </p:txBody>
      </p:sp>
      <p:cxnSp>
        <p:nvCxnSpPr>
          <p:cNvPr id="19" name="Connector 18"/>
          <p:cNvCxnSpPr/>
          <p:nvPr/>
        </p:nvCxnSpPr>
        <p:spPr>
          <a:xfrm>
            <a:off x="2148840" y="4663763"/>
            <a:ext cx="185972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67414" y="462261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2677275"/>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Cornu frontale ventriculi lateralis</a:t>
            </a:r>
          </a:p>
        </p:txBody>
      </p:sp>
      <p:cxnSp>
        <p:nvCxnSpPr>
          <p:cNvPr id="22" name="Connector 21"/>
          <p:cNvCxnSpPr/>
          <p:nvPr/>
        </p:nvCxnSpPr>
        <p:spPr>
          <a:xfrm flipH="1">
            <a:off x="3991271" y="2905875"/>
            <a:ext cx="199804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950123" y="286472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189339"/>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Septum pellucidum</a:t>
            </a:r>
          </a:p>
        </p:txBody>
      </p:sp>
      <p:cxnSp>
        <p:nvCxnSpPr>
          <p:cNvPr id="25" name="Connector 24"/>
          <p:cNvCxnSpPr/>
          <p:nvPr/>
        </p:nvCxnSpPr>
        <p:spPr>
          <a:xfrm flipH="1" flipV="1">
            <a:off x="4152651" y="2963510"/>
            <a:ext cx="1836669" cy="454429"/>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111503" y="292236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701403"/>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Cornu occipitale ventriculi lateralis</a:t>
            </a:r>
          </a:p>
        </p:txBody>
      </p:sp>
      <p:cxnSp>
        <p:nvCxnSpPr>
          <p:cNvPr id="28" name="Connector 27"/>
          <p:cNvCxnSpPr/>
          <p:nvPr/>
        </p:nvCxnSpPr>
        <p:spPr>
          <a:xfrm flipH="1" flipV="1">
            <a:off x="4383194" y="3683956"/>
            <a:ext cx="1606126" cy="246047"/>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342046" y="364280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t_1080.png"/>
          <p:cNvPicPr>
            <a:picLocks noChangeAspect="1"/>
          </p:cNvPicPr>
          <p:nvPr/>
        </p:nvPicPr>
        <p:blipFill>
          <a:blip r:embed="rId3"/>
          <a:stretch>
            <a:fillRect/>
          </a:stretch>
        </p:blipFill>
        <p:spPr>
          <a:xfrm>
            <a:off x="9393708" y="1234440"/>
            <a:ext cx="1466543" cy="1879092"/>
          </a:xfrm>
          <a:prstGeom prst="rect">
            <a:avLst/>
          </a:prstGeom>
        </p:spPr>
      </p:pic>
      <p:sp>
        <p:nvSpPr>
          <p:cNvPr id="31" name="TextBox 30"/>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32" name="Picture 31" descr="t2_1080.png"/>
          <p:cNvPicPr>
            <a:picLocks noChangeAspect="1"/>
          </p:cNvPicPr>
          <p:nvPr/>
        </p:nvPicPr>
        <p:blipFill>
          <a:blip r:embed="rId4"/>
          <a:stretch>
            <a:fillRect/>
          </a:stretch>
        </p:blipFill>
        <p:spPr>
          <a:xfrm>
            <a:off x="9393708" y="3406140"/>
            <a:ext cx="1466543" cy="1879092"/>
          </a:xfrm>
          <a:prstGeom prst="rect">
            <a:avLst/>
          </a:prstGeom>
        </p:spPr>
      </p:pic>
      <p:sp>
        <p:nvSpPr>
          <p:cNvPr id="33" name="TextBox 32"/>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MR (T2), aynı NLM kesit no.</a:t>
            </a:r>
          </a:p>
        </p:txBody>
      </p:sp>
      <p:sp>
        <p:nvSpPr>
          <p:cNvPr id="34" name="TextBox 33"/>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Kadavrada ventriküller kısmen kollabe olduğundan ince yarıklar şeklindedir; MR'da BOS ile dolu olarak görülür.</a:t>
            </a:r>
          </a:p>
          <a:p>
            <a:pPr algn="l">
              <a:spcAft>
                <a:spcPts val="300"/>
              </a:spcAft>
            </a:pPr>
            <a:r>
              <a:rPr sz="1500" b="0" i="0">
                <a:solidFill>
                  <a:srgbClr val="1F2A44"/>
                </a:solidFill>
                <a:latin typeface="Calibri"/>
              </a:rPr>
              <a:t>• Corpus callosum iki hemisferi bağlayan en büyük komissürdür (genu önde, splenium arkada).</a:t>
            </a:r>
          </a:p>
        </p:txBody>
      </p:sp>
      <p:cxnSp>
        <p:nvCxnSpPr>
          <p:cNvPr id="35" name="Connector 3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a_vm1080, donmuş BT c_vm1080.fro, MR m_vm1080; NCI Imaging Data Commons (doi:10.5281/zenodo.12690049); NLM Terms and Conditions (2019). Radyolojik yönelim (ön yukarıda, hastanın sağı solda).</a:t>
            </a:r>
          </a:p>
        </p:txBody>
      </p:sp>
      <p:sp>
        <p:nvSpPr>
          <p:cNvPr id="37" name="TextBox 3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Beyin – talamus ve orbita tavanı düzeyi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Diensefalon düzeyi – NLM kesit no. 1095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095.jpg"/>
          <p:cNvPicPr>
            <a:picLocks noChangeAspect="1"/>
          </p:cNvPicPr>
          <p:nvPr/>
        </p:nvPicPr>
        <p:blipFill>
          <a:blip r:embed="rId2"/>
          <a:stretch>
            <a:fillRect/>
          </a:stretch>
        </p:blipFill>
        <p:spPr>
          <a:xfrm>
            <a:off x="2495402" y="1234440"/>
            <a:ext cx="3147354" cy="4069080"/>
          </a:xfrm>
          <a:prstGeom prst="rect">
            <a:avLst/>
          </a:prstGeom>
        </p:spPr>
      </p:pic>
      <p:sp>
        <p:nvSpPr>
          <p:cNvPr id="8" name="TextBox 7"/>
          <p:cNvSpPr txBox="1"/>
          <p:nvPr/>
        </p:nvSpPr>
        <p:spPr>
          <a:xfrm>
            <a:off x="2221082" y="5321808"/>
            <a:ext cx="3695994"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1848881"/>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Bulbus oculi</a:t>
            </a:r>
          </a:p>
        </p:txBody>
      </p:sp>
      <p:cxnSp>
        <p:nvCxnSpPr>
          <p:cNvPr id="10" name="Connector 9"/>
          <p:cNvCxnSpPr/>
          <p:nvPr/>
        </p:nvCxnSpPr>
        <p:spPr>
          <a:xfrm>
            <a:off x="2148840" y="2077481"/>
            <a:ext cx="135821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465904" y="203633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2691922"/>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temporalis</a:t>
            </a:r>
          </a:p>
        </p:txBody>
      </p:sp>
      <p:cxnSp>
        <p:nvCxnSpPr>
          <p:cNvPr id="13" name="Connector 12"/>
          <p:cNvCxnSpPr/>
          <p:nvPr/>
        </p:nvCxnSpPr>
        <p:spPr>
          <a:xfrm>
            <a:off x="2148840" y="2920522"/>
            <a:ext cx="88048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88180" y="287937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422558"/>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Lobus temporalis</a:t>
            </a:r>
          </a:p>
        </p:txBody>
      </p:sp>
      <p:cxnSp>
        <p:nvCxnSpPr>
          <p:cNvPr id="16" name="Connector 15"/>
          <p:cNvCxnSpPr/>
          <p:nvPr/>
        </p:nvCxnSpPr>
        <p:spPr>
          <a:xfrm>
            <a:off x="2148840" y="3651158"/>
            <a:ext cx="96479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072485" y="361001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1624070"/>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Cellulae ethmoidales</a:t>
            </a:r>
          </a:p>
        </p:txBody>
      </p:sp>
      <p:cxnSp>
        <p:nvCxnSpPr>
          <p:cNvPr id="19" name="Connector 18"/>
          <p:cNvCxnSpPr/>
          <p:nvPr/>
        </p:nvCxnSpPr>
        <p:spPr>
          <a:xfrm flipH="1">
            <a:off x="3984775" y="1852670"/>
            <a:ext cx="200454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43627" y="181152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001038"/>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Thalamus</a:t>
            </a:r>
          </a:p>
        </p:txBody>
      </p:sp>
      <p:cxnSp>
        <p:nvCxnSpPr>
          <p:cNvPr id="22" name="Connector 21"/>
          <p:cNvCxnSpPr/>
          <p:nvPr/>
        </p:nvCxnSpPr>
        <p:spPr>
          <a:xfrm flipH="1">
            <a:off x="4265789" y="3229638"/>
            <a:ext cx="172353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224641" y="318849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513102"/>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Splenium corporis callosi</a:t>
            </a:r>
          </a:p>
        </p:txBody>
      </p:sp>
      <p:cxnSp>
        <p:nvCxnSpPr>
          <p:cNvPr id="25" name="Connector 24"/>
          <p:cNvCxnSpPr/>
          <p:nvPr/>
        </p:nvCxnSpPr>
        <p:spPr>
          <a:xfrm flipH="1" flipV="1">
            <a:off x="4012877" y="3639918"/>
            <a:ext cx="1976443" cy="10178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3971729" y="359877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4025166"/>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Cornu occipitale / atrium</a:t>
            </a:r>
          </a:p>
        </p:txBody>
      </p:sp>
      <p:cxnSp>
        <p:nvCxnSpPr>
          <p:cNvPr id="28" name="Connector 27"/>
          <p:cNvCxnSpPr/>
          <p:nvPr/>
        </p:nvCxnSpPr>
        <p:spPr>
          <a:xfrm flipH="1" flipV="1">
            <a:off x="4406296" y="3831007"/>
            <a:ext cx="1583024" cy="422759"/>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365148" y="378985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t_1095.png"/>
          <p:cNvPicPr>
            <a:picLocks noChangeAspect="1"/>
          </p:cNvPicPr>
          <p:nvPr/>
        </p:nvPicPr>
        <p:blipFill>
          <a:blip r:embed="rId3"/>
          <a:stretch>
            <a:fillRect/>
          </a:stretch>
        </p:blipFill>
        <p:spPr>
          <a:xfrm>
            <a:off x="9400259" y="1234440"/>
            <a:ext cx="1453441" cy="1879092"/>
          </a:xfrm>
          <a:prstGeom prst="rect">
            <a:avLst/>
          </a:prstGeom>
        </p:spPr>
      </p:pic>
      <p:sp>
        <p:nvSpPr>
          <p:cNvPr id="31" name="TextBox 30"/>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32" name="Picture 31" descr="t2_1095.png"/>
          <p:cNvPicPr>
            <a:picLocks noChangeAspect="1"/>
          </p:cNvPicPr>
          <p:nvPr/>
        </p:nvPicPr>
        <p:blipFill>
          <a:blip r:embed="rId4"/>
          <a:stretch>
            <a:fillRect/>
          </a:stretch>
        </p:blipFill>
        <p:spPr>
          <a:xfrm>
            <a:off x="9400259" y="3406140"/>
            <a:ext cx="1453441" cy="1879092"/>
          </a:xfrm>
          <a:prstGeom prst="rect">
            <a:avLst/>
          </a:prstGeom>
        </p:spPr>
      </p:pic>
      <p:sp>
        <p:nvSpPr>
          <p:cNvPr id="33" name="TextBox 32"/>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MR (T2), aynı NLM kesit no.</a:t>
            </a:r>
          </a:p>
        </p:txBody>
      </p:sp>
      <p:sp>
        <p:nvSpPr>
          <p:cNvPr id="34" name="TextBox 33"/>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Talamuslar üçüncü ventrikülün iki yanındadır; arkalarında corpus callosum'un splenium'u bulunur.</a:t>
            </a:r>
          </a:p>
          <a:p>
            <a:pPr algn="l">
              <a:spcAft>
                <a:spcPts val="300"/>
              </a:spcAft>
            </a:pPr>
            <a:r>
              <a:rPr sz="1500" b="0" i="0">
                <a:solidFill>
                  <a:srgbClr val="1F2A44"/>
                </a:solidFill>
                <a:latin typeface="Calibri"/>
              </a:rPr>
              <a:t>• Bu düzeyde ön tarafta orbitalar ve etmoid hücreler, kafatası dışında m. temporalis izlenir.</a:t>
            </a:r>
          </a:p>
        </p:txBody>
      </p:sp>
      <p:cxnSp>
        <p:nvCxnSpPr>
          <p:cNvPr id="35" name="Connector 3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a_vm1095, donmuş BT c_vm1095.fro, MR m_vm1095; NCI Imaging Data Commons (doi:10.5281/zenodo.12690049); NLM Terms and Conditions (2019). Radyolojik yönelim (ön yukarıda, hastanın sağı solda).</a:t>
            </a:r>
          </a:p>
        </p:txBody>
      </p:sp>
      <p:sp>
        <p:nvSpPr>
          <p:cNvPr id="37" name="TextBox 3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Beyin sapı ve serebellum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Arka çukurun içeriği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Fossa cranii posterior'da beyin sapı ve serebellum yer alır. Beyin sapı yukarıdan aşağıya mezensefalon, pons ve medulla oblongata olarak üç bölümdür. Mezensefalonda substantia nigra ve nucleus ruber, ponsta kalın transvers lifler, medullada ise olivalar ve piramitler kesitlerde ayırt edilir.</a:t>
            </a:r>
          </a:p>
          <a:p>
            <a:pPr algn="l">
              <a:lnSpc>
                <a:spcPct val="108000"/>
              </a:lnSpc>
              <a:spcAft>
                <a:spcPts val="900"/>
              </a:spcAft>
            </a:pPr>
            <a:r>
              <a:rPr sz="2000" b="0" i="0">
                <a:solidFill>
                  <a:srgbClr val="1F2A44"/>
                </a:solidFill>
                <a:latin typeface="Calibri"/>
              </a:rPr>
              <a:t>Ponsun ve medullanın arkasında dördüncü ventrikül, onun da arkasında serebellum bulunur. Serebellum ince ve paralel foliaları ile kriyokesitte kolayca tanınır; ortada vermis, yanlarda hemisferler vardır. Kranial sinirlerin III–XII çiftleri beyin sapından çıkar ve sisternalarda seyrederek kafa tabanı foramenlerine yönelir.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Arka çukur – pons ve serebellum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Sfenoid sinüs düzeyi – NLM kesit no. 1125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125.jpg"/>
          <p:cNvPicPr>
            <a:picLocks noChangeAspect="1"/>
          </p:cNvPicPr>
          <p:nvPr/>
        </p:nvPicPr>
        <p:blipFill>
          <a:blip r:embed="rId2"/>
          <a:stretch>
            <a:fillRect/>
          </a:stretch>
        </p:blipFill>
        <p:spPr>
          <a:xfrm>
            <a:off x="2450695" y="1234440"/>
            <a:ext cx="3236768" cy="4069080"/>
          </a:xfrm>
          <a:prstGeom prst="rect">
            <a:avLst/>
          </a:prstGeom>
        </p:spPr>
      </p:pic>
      <p:sp>
        <p:nvSpPr>
          <p:cNvPr id="8" name="TextBox 7"/>
          <p:cNvSpPr txBox="1"/>
          <p:nvPr/>
        </p:nvSpPr>
        <p:spPr>
          <a:xfrm>
            <a:off x="2176375" y="5321808"/>
            <a:ext cx="3785408"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093829"/>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Sinus maxillaris</a:t>
            </a:r>
          </a:p>
        </p:txBody>
      </p:sp>
      <p:cxnSp>
        <p:nvCxnSpPr>
          <p:cNvPr id="10" name="Connector 9"/>
          <p:cNvCxnSpPr/>
          <p:nvPr/>
        </p:nvCxnSpPr>
        <p:spPr>
          <a:xfrm>
            <a:off x="2148840" y="2322429"/>
            <a:ext cx="152584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633535" y="228128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2605893"/>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temporalis</a:t>
            </a:r>
          </a:p>
        </p:txBody>
      </p:sp>
      <p:cxnSp>
        <p:nvCxnSpPr>
          <p:cNvPr id="13" name="Connector 12"/>
          <p:cNvCxnSpPr/>
          <p:nvPr/>
        </p:nvCxnSpPr>
        <p:spPr>
          <a:xfrm flipV="1">
            <a:off x="2148840" y="2594426"/>
            <a:ext cx="1009048" cy="240067"/>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116740" y="255327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453815"/>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Auricula</a:t>
            </a:r>
          </a:p>
        </p:txBody>
      </p:sp>
      <p:cxnSp>
        <p:nvCxnSpPr>
          <p:cNvPr id="16" name="Connector 15"/>
          <p:cNvCxnSpPr/>
          <p:nvPr/>
        </p:nvCxnSpPr>
        <p:spPr>
          <a:xfrm>
            <a:off x="2148840" y="3682415"/>
            <a:ext cx="62825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735944" y="364126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965879"/>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Cerebellum (hemisphaerium)</a:t>
            </a:r>
          </a:p>
        </p:txBody>
      </p:sp>
      <p:cxnSp>
        <p:nvCxnSpPr>
          <p:cNvPr id="19" name="Connector 18"/>
          <p:cNvCxnSpPr/>
          <p:nvPr/>
        </p:nvCxnSpPr>
        <p:spPr>
          <a:xfrm flipV="1">
            <a:off x="2148840" y="4063212"/>
            <a:ext cx="1471444" cy="131267"/>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579136" y="402206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1876231"/>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Cavitas nasi</a:t>
            </a:r>
          </a:p>
        </p:txBody>
      </p:sp>
      <p:cxnSp>
        <p:nvCxnSpPr>
          <p:cNvPr id="22" name="Connector 21"/>
          <p:cNvCxnSpPr/>
          <p:nvPr/>
        </p:nvCxnSpPr>
        <p:spPr>
          <a:xfrm flipH="1">
            <a:off x="4082679" y="2104831"/>
            <a:ext cx="190664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041531" y="206368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2692223"/>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Sinus sphenoidalis</a:t>
            </a:r>
          </a:p>
        </p:txBody>
      </p:sp>
      <p:cxnSp>
        <p:nvCxnSpPr>
          <p:cNvPr id="25" name="Connector 24"/>
          <p:cNvCxnSpPr/>
          <p:nvPr/>
        </p:nvCxnSpPr>
        <p:spPr>
          <a:xfrm flipH="1">
            <a:off x="4109879" y="2920823"/>
            <a:ext cx="187944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068731" y="287967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209018"/>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Pons</a:t>
            </a:r>
          </a:p>
        </p:txBody>
      </p:sp>
      <p:cxnSp>
        <p:nvCxnSpPr>
          <p:cNvPr id="28" name="Connector 27"/>
          <p:cNvCxnSpPr/>
          <p:nvPr/>
        </p:nvCxnSpPr>
        <p:spPr>
          <a:xfrm flipH="1">
            <a:off x="4109879" y="3437618"/>
            <a:ext cx="187944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068731" y="339647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t_1125.png"/>
          <p:cNvPicPr>
            <a:picLocks noChangeAspect="1"/>
          </p:cNvPicPr>
          <p:nvPr/>
        </p:nvPicPr>
        <p:blipFill>
          <a:blip r:embed="rId3"/>
          <a:stretch>
            <a:fillRect/>
          </a:stretch>
        </p:blipFill>
        <p:spPr>
          <a:xfrm>
            <a:off x="9379613" y="1234440"/>
            <a:ext cx="1494732" cy="1879092"/>
          </a:xfrm>
          <a:prstGeom prst="rect">
            <a:avLst/>
          </a:prstGeom>
        </p:spPr>
      </p:pic>
      <p:sp>
        <p:nvSpPr>
          <p:cNvPr id="31" name="TextBox 30"/>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32" name="Picture 31" descr="t2_1125.png"/>
          <p:cNvPicPr>
            <a:picLocks noChangeAspect="1"/>
          </p:cNvPicPr>
          <p:nvPr/>
        </p:nvPicPr>
        <p:blipFill>
          <a:blip r:embed="rId4"/>
          <a:stretch>
            <a:fillRect/>
          </a:stretch>
        </p:blipFill>
        <p:spPr>
          <a:xfrm>
            <a:off x="9379613" y="3406140"/>
            <a:ext cx="1494732" cy="1879092"/>
          </a:xfrm>
          <a:prstGeom prst="rect">
            <a:avLst/>
          </a:prstGeom>
        </p:spPr>
      </p:pic>
      <p:sp>
        <p:nvSpPr>
          <p:cNvPr id="33" name="TextBox 32"/>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MR (T2), aynı NLM kesit no.</a:t>
            </a:r>
          </a:p>
        </p:txBody>
      </p:sp>
      <p:sp>
        <p:nvSpPr>
          <p:cNvPr id="34" name="TextBox 33"/>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Ponsun arkasında serebellum foliaları kriyokesitte belirgindir.</a:t>
            </a:r>
          </a:p>
          <a:p>
            <a:pPr algn="l">
              <a:spcAft>
                <a:spcPts val="300"/>
              </a:spcAft>
            </a:pPr>
            <a:r>
              <a:rPr sz="1500" b="0" i="0">
                <a:solidFill>
                  <a:srgbClr val="1F2A44"/>
                </a:solidFill>
                <a:latin typeface="Calibri"/>
              </a:rPr>
              <a:t>• Kesit hafif eğik olduğundan sağda serebellum, solda temporal/oksipital lob dokusu görülmektedir.</a:t>
            </a:r>
          </a:p>
        </p:txBody>
      </p:sp>
      <p:cxnSp>
        <p:nvCxnSpPr>
          <p:cNvPr id="35" name="Connector 3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a_vm1125, donmuş BT c_vm1125.fro, MR m_vm1125; NCI Imaging Data Commons (doi:10.5281/zenodo.12690049); NLM Terms and Conditions (2019). Radyolojik yönelim (ön yukarıda, hastanın sağı solda).</a:t>
            </a:r>
          </a:p>
        </p:txBody>
      </p:sp>
      <p:sp>
        <p:nvSpPr>
          <p:cNvPr id="37" name="TextBox 3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Beyin sapı – 7T MR ve histoloji karşılaştırması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Donatelli ve ark., Eur Radiol Exp 2023</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41747_2023_389_Fig1_HTML.jpg"/>
          <p:cNvPicPr>
            <a:picLocks noChangeAspect="1"/>
          </p:cNvPicPr>
          <p:nvPr/>
        </p:nvPicPr>
        <p:blipFill>
          <a:blip r:embed="rId2"/>
          <a:stretch>
            <a:fillRect/>
          </a:stretch>
        </p:blipFill>
        <p:spPr>
          <a:xfrm>
            <a:off x="1277254" y="1234440"/>
            <a:ext cx="4257771" cy="1857637"/>
          </a:xfrm>
          <a:prstGeom prst="rect">
            <a:avLst/>
          </a:prstGeom>
        </p:spPr>
      </p:pic>
      <p:sp>
        <p:nvSpPr>
          <p:cNvPr id="8" name="TextBox 7"/>
          <p:cNvSpPr txBox="1"/>
          <p:nvPr/>
        </p:nvSpPr>
        <p:spPr>
          <a:xfrm>
            <a:off x="1094374" y="3092077"/>
            <a:ext cx="462353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Donatelli Graziella ve ark., 2023 (PMC10651583, CC BY)</a:t>
            </a:r>
          </a:p>
        </p:txBody>
      </p:sp>
      <p:pic>
        <p:nvPicPr>
          <p:cNvPr id="9" name="Picture 8" descr="41747_2023_389_Fig3_HTML.jpg"/>
          <p:cNvPicPr>
            <a:picLocks noChangeAspect="1"/>
          </p:cNvPicPr>
          <p:nvPr/>
        </p:nvPicPr>
        <p:blipFill>
          <a:blip r:embed="rId3"/>
          <a:stretch>
            <a:fillRect/>
          </a:stretch>
        </p:blipFill>
        <p:spPr>
          <a:xfrm>
            <a:off x="1277254" y="3366397"/>
            <a:ext cx="4257771" cy="2668642"/>
          </a:xfrm>
          <a:prstGeom prst="rect">
            <a:avLst/>
          </a:prstGeom>
        </p:spPr>
      </p:pic>
      <p:sp>
        <p:nvSpPr>
          <p:cNvPr id="10" name="TextBox 9"/>
          <p:cNvSpPr txBox="1"/>
          <p:nvPr/>
        </p:nvSpPr>
        <p:spPr>
          <a:xfrm>
            <a:off x="1094374" y="6035040"/>
            <a:ext cx="462353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3 – Donatelli Graziella ve ark., 2023 (PMC10651583,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580896"/>
          </a:xfrm>
          <a:prstGeom prst="rect">
            <a:avLst/>
          </a:prstGeom>
          <a:noFill/>
        </p:spPr>
        <p:txBody>
          <a:bodyPr wrap="square">
            <a:spAutoFit/>
          </a:bodyPr>
          <a:lstStyle/>
          <a:p>
            <a:pPr algn="l">
              <a:spcAft>
                <a:spcPts val="300"/>
              </a:spcAft>
            </a:pPr>
            <a:r>
              <a:rPr sz="1600" b="0" i="0">
                <a:solidFill>
                  <a:srgbClr val="1F2A44"/>
                </a:solidFill>
                <a:latin typeface="Calibri"/>
              </a:rPr>
              <a:t>• Üst: nucleus ruber düzeyi (rostral mezensefalon); alt: pedunculus cerebellaris superior düzeyi (rostral pons). a–b ex vivo PD ve T2* MR, c Perls (demir) / Weigert-Pal (miyelin) boyası, d–f in vivo 7T T2*, duyarlılık ve frekans haritaları. Numaralar çekirdek ve yolları gösterir (anahtar makalede).</a:t>
            </a:r>
          </a:p>
        </p:txBody>
      </p:sp>
      <p:sp>
        <p:nvSpPr>
          <p:cNvPr id="13" name="TextBox 12"/>
          <p:cNvSpPr txBox="1"/>
          <p:nvPr/>
        </p:nvSpPr>
        <p:spPr>
          <a:xfrm>
            <a:off x="6720840" y="32085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556000"/>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46 yaşındaki gönüllüde 7T MR (0,3 × 0,3 × 1,2 mm³) ile aynı düzeyde boyanmış kadavra beyin sapı karşılaştırılmıştır.</a:t>
            </a:r>
          </a:p>
          <a:p>
            <a:pPr algn="l">
              <a:spcAft>
                <a:spcPts val="300"/>
              </a:spcAft>
            </a:pPr>
            <a:r>
              <a:rPr sz="1600" b="0" i="0">
                <a:solidFill>
                  <a:srgbClr val="1F2A44"/>
                </a:solidFill>
                <a:latin typeface="Calibri"/>
              </a:rPr>
              <a:t>• Demir içeren çekirdekler (nucleus ruber, substantia nigra) T2* ve duyarlılık haritalarında belirgindir.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Donatelli Graziella, Emmi Aron, Costagli Mauro et al. Brainstem anatomy with 7-T MRI: in vivo assessment and ex vivo comparison. Eur Radiol Exp. 2023 Nov 16;7:71. doi: 10.1186/s41747-023-00389-y PMCID: PMC10651583.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Hipokampus – 3T MR anatomisi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Dekeyzer ve ark., Insights Imaging 2017</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16_541_Fig1_HTML.jpg"/>
          <p:cNvPicPr>
            <a:picLocks noChangeAspect="1"/>
          </p:cNvPicPr>
          <p:nvPr/>
        </p:nvPicPr>
        <p:blipFill>
          <a:blip r:embed="rId2"/>
          <a:stretch>
            <a:fillRect/>
          </a:stretch>
        </p:blipFill>
        <p:spPr>
          <a:xfrm>
            <a:off x="274320" y="1234440"/>
            <a:ext cx="1776759" cy="1614415"/>
          </a:xfrm>
          <a:prstGeom prst="rect">
            <a:avLst/>
          </a:prstGeom>
        </p:spPr>
      </p:pic>
      <p:sp>
        <p:nvSpPr>
          <p:cNvPr id="8" name="TextBox 7"/>
          <p:cNvSpPr txBox="1"/>
          <p:nvPr/>
        </p:nvSpPr>
        <p:spPr>
          <a:xfrm>
            <a:off x="91439" y="2848855"/>
            <a:ext cx="214251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Dekeyzer Sven ve ark., 2017 (PMC5359145, CC BY)</a:t>
            </a:r>
          </a:p>
        </p:txBody>
      </p:sp>
      <p:pic>
        <p:nvPicPr>
          <p:cNvPr id="9" name="Picture 8" descr="13244_2016_541_Fig2_HTML.jpg"/>
          <p:cNvPicPr>
            <a:picLocks noChangeAspect="1"/>
          </p:cNvPicPr>
          <p:nvPr/>
        </p:nvPicPr>
        <p:blipFill>
          <a:blip r:embed="rId3"/>
          <a:stretch>
            <a:fillRect/>
          </a:stretch>
        </p:blipFill>
        <p:spPr>
          <a:xfrm>
            <a:off x="2188239" y="1234440"/>
            <a:ext cx="4349720" cy="1614415"/>
          </a:xfrm>
          <a:prstGeom prst="rect">
            <a:avLst/>
          </a:prstGeom>
        </p:spPr>
      </p:pic>
      <p:sp>
        <p:nvSpPr>
          <p:cNvPr id="10" name="TextBox 9"/>
          <p:cNvSpPr txBox="1"/>
          <p:nvPr/>
        </p:nvSpPr>
        <p:spPr>
          <a:xfrm>
            <a:off x="2005359" y="2848855"/>
            <a:ext cx="471548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Dekeyzer Sven ve ark., 2017 (PMC5359145,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1</a:t>
            </a:r>
            <a:r>
              <a:rPr sz="1600" b="0" i="0">
                <a:solidFill>
                  <a:srgbClr val="1F2A44"/>
                </a:solidFill>
                <a:latin typeface="Calibri"/>
              </a:rPr>
              <a:t> caput hippocampi; </a:t>
            </a:r>
            <a:r>
              <a:rPr sz="1600" b="0" i="0">
                <a:solidFill>
                  <a:srgbClr val="1F2A44"/>
                </a:solidFill>
                <a:latin typeface="Calibri"/>
              </a:rPr>
              <a:t>2</a:t>
            </a:r>
            <a:r>
              <a:rPr sz="1600" b="0" i="0">
                <a:solidFill>
                  <a:srgbClr val="1F2A44"/>
                </a:solidFill>
                <a:latin typeface="Calibri"/>
              </a:rPr>
              <a:t> corpus; </a:t>
            </a:r>
            <a:r>
              <a:rPr sz="1600" b="0" i="0">
                <a:solidFill>
                  <a:srgbClr val="1F2A44"/>
                </a:solidFill>
                <a:latin typeface="Calibri"/>
              </a:rPr>
              <a:t>3</a:t>
            </a:r>
            <a:r>
              <a:rPr sz="1600" b="0" i="0">
                <a:solidFill>
                  <a:srgbClr val="1F2A44"/>
                </a:solidFill>
                <a:latin typeface="Calibri"/>
              </a:rPr>
              <a:t> cauda; </a:t>
            </a:r>
            <a:r>
              <a:rPr sz="1600" b="0" i="0">
                <a:solidFill>
                  <a:srgbClr val="1F2A44"/>
                </a:solidFill>
                <a:latin typeface="Calibri"/>
              </a:rPr>
              <a:t>CA1–CA4</a:t>
            </a:r>
            <a:r>
              <a:rPr sz="1600" b="0" i="0">
                <a:solidFill>
                  <a:srgbClr val="1F2A44"/>
                </a:solidFill>
                <a:latin typeface="Calibri"/>
              </a:rPr>
              <a:t> cornu ammonis sektörleri; </a:t>
            </a:r>
            <a:r>
              <a:rPr sz="1600" b="0" i="0">
                <a:solidFill>
                  <a:srgbClr val="1F2A44"/>
                </a:solidFill>
                <a:latin typeface="Calibri"/>
              </a:rPr>
              <a:t>DG</a:t>
            </a:r>
            <a:r>
              <a:rPr sz="1600" b="0" i="0">
                <a:solidFill>
                  <a:srgbClr val="1F2A44"/>
                </a:solidFill>
                <a:latin typeface="Calibri"/>
              </a:rPr>
              <a:t> gyrus dentatus; </a:t>
            </a:r>
            <a:r>
              <a:rPr sz="1600" b="0" i="0">
                <a:solidFill>
                  <a:srgbClr val="1F2A44"/>
                </a:solidFill>
                <a:latin typeface="Calibri"/>
              </a:rPr>
              <a:t>Sub</a:t>
            </a:r>
            <a:r>
              <a:rPr sz="1600" b="0" i="0">
                <a:solidFill>
                  <a:srgbClr val="1F2A44"/>
                </a:solidFill>
                <a:latin typeface="Calibri"/>
              </a:rPr>
              <a:t> subiculum; </a:t>
            </a:r>
            <a:r>
              <a:rPr sz="1600" b="0" i="0">
                <a:solidFill>
                  <a:srgbClr val="1F2A44"/>
                </a:solidFill>
                <a:latin typeface="Calibri"/>
              </a:rPr>
              <a:t>PHG</a:t>
            </a:r>
            <a:r>
              <a:rPr sz="1600" b="0" i="0">
                <a:solidFill>
                  <a:srgbClr val="1F2A44"/>
                </a:solidFill>
                <a:latin typeface="Calibri"/>
              </a:rPr>
              <a:t> gyrus parahippocampalis; </a:t>
            </a:r>
            <a:r>
              <a:rPr sz="1600" b="0" i="0">
                <a:solidFill>
                  <a:srgbClr val="1F2A44"/>
                </a:solidFill>
                <a:latin typeface="Calibri"/>
              </a:rPr>
              <a:t>HS</a:t>
            </a:r>
            <a:r>
              <a:rPr sz="1600" b="0" i="0">
                <a:solidFill>
                  <a:srgbClr val="1F2A44"/>
                </a:solidFill>
                <a:latin typeface="Calibri"/>
              </a:rPr>
              <a:t> hipokampal kist; </a:t>
            </a:r>
            <a:r>
              <a:rPr sz="1600" b="0" i="0">
                <a:solidFill>
                  <a:srgbClr val="1F2A44"/>
                </a:solidFill>
                <a:latin typeface="Calibri"/>
              </a:rPr>
              <a:t>ChF</a:t>
            </a:r>
            <a:r>
              <a:rPr sz="1600" b="0" i="0">
                <a:solidFill>
                  <a:srgbClr val="1F2A44"/>
                </a:solidFill>
                <a:latin typeface="Calibri"/>
              </a:rPr>
              <a:t> fissura choroidea; </a:t>
            </a:r>
            <a:r>
              <a:rPr sz="1600" b="0" i="0">
                <a:solidFill>
                  <a:srgbClr val="1F2A44"/>
                </a:solidFill>
                <a:latin typeface="Calibri"/>
              </a:rPr>
              <a:t>T</a:t>
            </a:r>
            <a:r>
              <a:rPr sz="1600" b="0" i="0">
                <a:solidFill>
                  <a:srgbClr val="1F2A44"/>
                </a:solidFill>
                <a:latin typeface="Calibri"/>
              </a:rPr>
              <a:t> cornu temporale</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Hipokampus, cornu ammonis (CA1–CA4) ve gyrus dentatus'tan oluşur.</a:t>
            </a:r>
          </a:p>
          <a:p>
            <a:pPr algn="l">
              <a:spcAft>
                <a:spcPts val="300"/>
              </a:spcAft>
            </a:pPr>
            <a:r>
              <a:rPr sz="1600" b="0" i="0">
                <a:solidFill>
                  <a:srgbClr val="1F2A44"/>
                </a:solidFill>
                <a:latin typeface="Calibri"/>
              </a:rPr>
              <a:t>• Temporal lob epilepsisi ve demanslarda koronal T2 MR temel değerlendirme düzlemidir.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Dekeyzer Sven, De Kock Isabelle, Nikoubashman Omid et al. “Unforgettable” – a pictorial essay on anatomy and pathology of the hippocampus. Insights Imaging. 2017 Jan 20;8(2):199–212. doi: 10.1007/s13244-016-0541-2 PMCID: PMC5359145.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Kranial sinirlerin sisternal segmentleri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Romano ve ark., Insights Imaging 2019</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19_719_Fig1_HTML.jpg"/>
          <p:cNvPicPr>
            <a:picLocks noChangeAspect="1"/>
          </p:cNvPicPr>
          <p:nvPr/>
        </p:nvPicPr>
        <p:blipFill>
          <a:blip r:embed="rId2"/>
          <a:stretch>
            <a:fillRect/>
          </a:stretch>
        </p:blipFill>
        <p:spPr>
          <a:xfrm>
            <a:off x="1617280" y="1234440"/>
            <a:ext cx="3577719" cy="4800600"/>
          </a:xfrm>
          <a:prstGeom prst="rect">
            <a:avLst/>
          </a:prstGeom>
        </p:spPr>
      </p:pic>
      <p:sp>
        <p:nvSpPr>
          <p:cNvPr id="8" name="TextBox 7"/>
          <p:cNvSpPr txBox="1"/>
          <p:nvPr/>
        </p:nvSpPr>
        <p:spPr>
          <a:xfrm>
            <a:off x="1434400" y="6035040"/>
            <a:ext cx="394347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Romano Nicola ve ark., 2019 (PMC6420596,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580896"/>
          </a:xfrm>
          <a:prstGeom prst="rect">
            <a:avLst/>
          </a:prstGeom>
          <a:noFill/>
        </p:spPr>
        <p:txBody>
          <a:bodyPr wrap="square">
            <a:spAutoFit/>
          </a:bodyPr>
          <a:lstStyle/>
          <a:p>
            <a:pPr algn="l">
              <a:spcAft>
                <a:spcPts val="300"/>
              </a:spcAft>
            </a:pPr>
            <a:r>
              <a:rPr sz="1600" b="0" i="0">
                <a:solidFill>
                  <a:srgbClr val="1F2A44"/>
                </a:solidFill>
                <a:latin typeface="Calibri"/>
              </a:rPr>
              <a:t>• Aksiyel SSFP MR: (a) I – n. olfactorius (daireler); (b) II – n. opticus; (c) III – n. oculomotorius; (d) IV – n. trochlearis; (e) V – n. trigeminus; (f) VI – n. abducens; (g) VII ve VIII – n. facialis ve n. vestibulocochlearis; (h) IX–X; (i) XI; (j) XII</a:t>
            </a:r>
          </a:p>
        </p:txBody>
      </p:sp>
      <p:sp>
        <p:nvSpPr>
          <p:cNvPr id="11" name="TextBox 10"/>
          <p:cNvSpPr txBox="1"/>
          <p:nvPr/>
        </p:nvSpPr>
        <p:spPr>
          <a:xfrm>
            <a:off x="6720840" y="32085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556000"/>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SSFP sekansı BOS içindeki ince sinirleri yüksek kontrastla gösterir.</a:t>
            </a:r>
          </a:p>
          <a:p>
            <a:pPr algn="l">
              <a:spcAft>
                <a:spcPts val="300"/>
              </a:spcAft>
            </a:pPr>
            <a:r>
              <a:rPr sz="1600" b="0" i="0">
                <a:solidFill>
                  <a:srgbClr val="1F2A44"/>
                </a:solidFill>
                <a:latin typeface="Calibri"/>
              </a:rPr>
              <a:t>• MR kranial sinirlerin değerlendirilmesinde altın standarttır.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Romano Nicola, Federici Margherita, Castaldi Antonio Imaging of cranial nerves: a pictorial overview. Insights Imaging. 2019 Mar 15;10:33. doi: 10.1186/s13244-019-0719-5 PMCID: PMC6420596.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Serebellum – sagital diseksiyon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Tamanini ve ark., Arq Neuropsiquiatr 2025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10-1055-s-0045-1814379-i250153-3.jpg"/>
          <p:cNvPicPr>
            <a:picLocks noChangeAspect="1"/>
          </p:cNvPicPr>
          <p:nvPr/>
        </p:nvPicPr>
        <p:blipFill>
          <a:blip r:embed="rId2"/>
          <a:stretch>
            <a:fillRect/>
          </a:stretch>
        </p:blipFill>
        <p:spPr>
          <a:xfrm>
            <a:off x="274320" y="2495540"/>
            <a:ext cx="6263639" cy="2278399"/>
          </a:xfrm>
          <a:prstGeom prst="rect">
            <a:avLst/>
          </a:prstGeom>
        </p:spPr>
      </p:pic>
      <p:sp>
        <p:nvSpPr>
          <p:cNvPr id="8" name="TextBox 7"/>
          <p:cNvSpPr txBox="1"/>
          <p:nvPr/>
        </p:nvSpPr>
        <p:spPr>
          <a:xfrm>
            <a:off x="91440" y="4773939"/>
            <a:ext cx="66293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Tamanini João Vitor Gerdulli ve ark., 2025 (PMC12721976,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341120"/>
          </a:xfrm>
          <a:prstGeom prst="rect">
            <a:avLst/>
          </a:prstGeom>
          <a:noFill/>
        </p:spPr>
        <p:txBody>
          <a:bodyPr wrap="square">
            <a:spAutoFit/>
          </a:bodyPr>
          <a:lstStyle/>
          <a:p>
            <a:pPr algn="l">
              <a:spcAft>
                <a:spcPts val="300"/>
              </a:spcAft>
            </a:pPr>
            <a:r>
              <a:rPr sz="1600" b="0" i="0">
                <a:solidFill>
                  <a:srgbClr val="1F2A44"/>
                </a:solidFill>
                <a:latin typeface="Calibri"/>
              </a:rPr>
              <a:t>• Midbrain = mesencephalon; Pons; IV ventricle = ventriculus quartus; Medulla oblongata; Superior / Inferior vermis; Primary fissure = fissura prima; Cortex; White matter = substantia alba (arbor vitae)</a:t>
            </a:r>
          </a:p>
        </p:txBody>
      </p:sp>
      <p:sp>
        <p:nvSpPr>
          <p:cNvPr id="11" name="TextBox 10"/>
          <p:cNvSpPr txBox="1"/>
          <p:nvPr/>
        </p:nvSpPr>
        <p:spPr>
          <a:xfrm>
            <a:off x="6720840" y="29687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316224"/>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Her hemisfer iki transvers fissürle üç loba ayrılır: fissura prima ön ve arka lobu, fissura posterolateralis arka lob ile flokülonodüler lobu ayırır.</a:t>
            </a:r>
          </a:p>
          <a:p>
            <a:pPr algn="l">
              <a:spcAft>
                <a:spcPts val="300"/>
              </a:spcAft>
            </a:pPr>
            <a:r>
              <a:rPr sz="1600" b="0" i="0">
                <a:solidFill>
                  <a:srgbClr val="1F2A44"/>
                </a:solidFill>
                <a:latin typeface="Calibri"/>
              </a:rPr>
              <a:t>• Lobuller Schmahmann nomenklatürüne göre I–X olarak numaralandırılır.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Tamanini João Vitor Gerdulli, Hora Raphael Pinheiro Camurugy da, Soares Luís Gustavo Biondi et al. A journey through the anatomy of the cerebellum. Arq Neuropsiquiatr. 2025 Dec 22;83(12):s00451814379. doi: 10.1055/s-0045-1814379 PMCID: PMC12721976.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Beyin – görüntüleme tabanlı varyasyonlar: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MR, BT, BT anjiyografi ve ultrason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2119881"/>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Willis poligonu varyasyonları (BTA)</a:t>
                      </a:r>
                    </a:p>
                  </a:txBody>
                  <a:tcPr>
                    <a:solidFill>
                      <a:srgbClr val="F3F4F6"/>
                    </a:solidFill>
                  </a:tcPr>
                </a:tc>
                <a:tc>
                  <a:txBody>
                    <a:bodyPr/>
                    <a:lstStyle/>
                    <a:p>
                      <a:r>
                        <a:rPr sz="1300" b="0">
                          <a:solidFill>
                            <a:srgbClr val="1F2A44"/>
                          </a:solidFill>
                          <a:latin typeface="Calibri"/>
                        </a:rPr>
                        <a:t>Machasio ve ark. 2019</a:t>
                      </a:r>
                    </a:p>
                  </a:txBody>
                  <a:tcPr>
                    <a:solidFill>
                      <a:srgbClr val="F3F4F6"/>
                    </a:solidFill>
                  </a:tcPr>
                </a:tc>
                <a:tc>
                  <a:txBody>
                    <a:bodyPr/>
                    <a:lstStyle/>
                    <a:p>
                      <a:r>
                        <a:rPr sz="1300" b="0">
                          <a:solidFill>
                            <a:srgbClr val="1F2A44"/>
                          </a:solidFill>
                          <a:latin typeface="Calibri"/>
                        </a:rPr>
                        <a:t>94 hasta</a:t>
                      </a:r>
                    </a:p>
                  </a:txBody>
                  <a:tcPr>
                    <a:solidFill>
                      <a:srgbClr val="F3F4F6"/>
                    </a:solidFill>
                  </a:tcPr>
                </a:tc>
                <a:tc>
                  <a:txBody>
                    <a:bodyPr/>
                    <a:lstStyle/>
                    <a:p>
                      <a:r>
                        <a:rPr sz="1300" b="0">
                          <a:solidFill>
                            <a:srgbClr val="1F2A44"/>
                          </a:solidFill>
                          <a:latin typeface="Calibri"/>
                        </a:rPr>
                        <a:t>Tam poligon %37,2; fetal PCA %25,5 (ajan raporu)</a:t>
                      </a:r>
                    </a:p>
                  </a:txBody>
                  <a:tcPr>
                    <a:solidFill>
                      <a:srgbClr val="F3F4F6"/>
                    </a:solidFill>
                  </a:tcPr>
                </a:tc>
                <a:tc>
                  <a:txBody>
                    <a:bodyPr/>
                    <a:lstStyle/>
                    <a:p>
                      <a:r>
                        <a:rPr sz="1300" b="0">
                          <a:solidFill>
                            <a:srgbClr val="1F2A44"/>
                          </a:solidFill>
                          <a:latin typeface="Calibri"/>
                        </a:rPr>
                        <a:t>Kollateral dolaşım, inme riski</a:t>
                      </a:r>
                    </a:p>
                  </a:txBody>
                  <a:tcPr>
                    <a:solidFill>
                      <a:srgbClr val="F3F4F6"/>
                    </a:solidFill>
                  </a:tcPr>
                </a:tc>
              </a:tr>
              <a:tr h="554227">
                <a:tc>
                  <a:txBody>
                    <a:bodyPr/>
                    <a:lstStyle/>
                    <a:p>
                      <a:r>
                        <a:rPr sz="1300" b="1">
                          <a:solidFill>
                            <a:srgbClr val="1F2A44"/>
                          </a:solidFill>
                          <a:latin typeface="Calibri"/>
                        </a:rPr>
                        <a:t>Genişlemiş perivasküler boşluklar</a:t>
                      </a:r>
                    </a:p>
                  </a:txBody>
                  <a:tcPr>
                    <a:solidFill>
                      <a:srgbClr val="FFFFFF"/>
                    </a:solidFill>
                  </a:tcPr>
                </a:tc>
                <a:tc>
                  <a:txBody>
                    <a:bodyPr/>
                    <a:lstStyle/>
                    <a:p>
                      <a:r>
                        <a:rPr sz="1300" b="0">
                          <a:solidFill>
                            <a:srgbClr val="1F2A44"/>
                          </a:solidFill>
                          <a:latin typeface="Calibri"/>
                        </a:rPr>
                        <a:t>Lara ve ark. 2022</a:t>
                      </a:r>
                    </a:p>
                  </a:txBody>
                  <a:tcPr>
                    <a:solidFill>
                      <a:srgbClr val="FFFFFF"/>
                    </a:solidFill>
                  </a:tcPr>
                </a:tc>
                <a:tc>
                  <a:txBody>
                    <a:bodyPr/>
                    <a:lstStyle/>
                    <a:p>
                      <a:r>
                        <a:rPr sz="1300" b="0">
                          <a:solidFill>
                            <a:srgbClr val="1F2A44"/>
                          </a:solidFill>
                          <a:latin typeface="Calibri"/>
                        </a:rPr>
                        <a:t>3710 kişi (Framingham)</a:t>
                      </a:r>
                    </a:p>
                  </a:txBody>
                  <a:tcPr>
                    <a:solidFill>
                      <a:srgbClr val="FFFFFF"/>
                    </a:solidFill>
                  </a:tcPr>
                </a:tc>
                <a:tc>
                  <a:txBody>
                    <a:bodyPr/>
                    <a:lstStyle/>
                    <a:p>
                      <a:r>
                        <a:rPr sz="1300" b="0">
                          <a:solidFill>
                            <a:srgbClr val="1F2A44"/>
                          </a:solidFill>
                          <a:latin typeface="Calibri"/>
                        </a:rPr>
                        <a:t>Derece I–IV; &lt;60 yaşta yüksek yük %10'un altında</a:t>
                      </a:r>
                    </a:p>
                  </a:txBody>
                  <a:tcPr>
                    <a:solidFill>
                      <a:srgbClr val="FFFFFF"/>
                    </a:solidFill>
                  </a:tcPr>
                </a:tc>
                <a:tc>
                  <a:txBody>
                    <a:bodyPr/>
                    <a:lstStyle/>
                    <a:p>
                      <a:r>
                        <a:rPr sz="1300" b="0">
                          <a:solidFill>
                            <a:srgbClr val="1F2A44"/>
                          </a:solidFill>
                          <a:latin typeface="Calibri"/>
                        </a:rPr>
                        <a:t>Küçük damar hastalığı ile ilişki</a:t>
                      </a:r>
                    </a:p>
                  </a:txBody>
                  <a:tcPr>
                    <a:solidFill>
                      <a:srgbClr val="FFFFFF"/>
                    </a:solidFill>
                  </a:tcPr>
                </a:tc>
              </a:tr>
              <a:tr h="554227">
                <a:tc>
                  <a:txBody>
                    <a:bodyPr/>
                    <a:lstStyle/>
                    <a:p>
                      <a:r>
                        <a:rPr sz="1300" b="1">
                          <a:solidFill>
                            <a:srgbClr val="1F2A44"/>
                          </a:solidFill>
                          <a:latin typeface="Calibri"/>
                        </a:rPr>
                        <a:t>Cavum septi pellucidi</a:t>
                      </a:r>
                    </a:p>
                  </a:txBody>
                  <a:tcPr>
                    <a:solidFill>
                      <a:srgbClr val="F3F4F6"/>
                    </a:solidFill>
                  </a:tcPr>
                </a:tc>
                <a:tc>
                  <a:txBody>
                    <a:bodyPr/>
                    <a:lstStyle/>
                    <a:p>
                      <a:r>
                        <a:rPr sz="1300" b="0">
                          <a:solidFill>
                            <a:srgbClr val="1F2A44"/>
                          </a:solidFill>
                          <a:latin typeface="Calibri"/>
                        </a:rPr>
                        <a:t>Rios ve ark. 2025</a:t>
                      </a:r>
                    </a:p>
                  </a:txBody>
                  <a:tcPr>
                    <a:solidFill>
                      <a:srgbClr val="F3F4F6"/>
                    </a:solidFill>
                  </a:tcPr>
                </a:tc>
                <a:tc>
                  <a:txBody>
                    <a:bodyPr/>
                    <a:lstStyle/>
                    <a:p>
                      <a:r>
                        <a:rPr sz="1300" b="0">
                          <a:solidFill>
                            <a:srgbClr val="1F2A44"/>
                          </a:solidFill>
                          <a:latin typeface="Calibri"/>
                        </a:rPr>
                        <a:t>410 genç erişkin MR</a:t>
                      </a:r>
                    </a:p>
                  </a:txBody>
                  <a:tcPr>
                    <a:solidFill>
                      <a:srgbClr val="F3F4F6"/>
                    </a:solidFill>
                  </a:tcPr>
                </a:tc>
                <a:tc>
                  <a:txBody>
                    <a:bodyPr/>
                    <a:lstStyle/>
                    <a:p>
                      <a:r>
                        <a:rPr sz="1300" b="0">
                          <a:solidFill>
                            <a:srgbClr val="1F2A44"/>
                          </a:solidFill>
                          <a:latin typeface="Calibri"/>
                        </a:rPr>
                        <a:t>%95,6 (manuel); otomatik yöntemle %57,1</a:t>
                      </a:r>
                    </a:p>
                  </a:txBody>
                  <a:tcPr>
                    <a:solidFill>
                      <a:srgbClr val="F3F4F6"/>
                    </a:solidFill>
                  </a:tcPr>
                </a:tc>
                <a:tc>
                  <a:txBody>
                    <a:bodyPr/>
                    <a:lstStyle/>
                    <a:p>
                      <a:r>
                        <a:rPr sz="1300" b="0">
                          <a:solidFill>
                            <a:srgbClr val="1F2A44"/>
                          </a:solidFill>
                          <a:latin typeface="Calibri"/>
                        </a:rPr>
                        <a:t>Normal varyant; büyükse nöropsikiyatrik ilişki</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Willis poligonu – BT anjiyografi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Machasio ve ark., Radiol Res Pract 2019 – 94 hasta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RRP2019-6380801.002.jpg"/>
          <p:cNvPicPr>
            <a:picLocks noChangeAspect="1"/>
          </p:cNvPicPr>
          <p:nvPr/>
        </p:nvPicPr>
        <p:blipFill>
          <a:blip r:embed="rId2"/>
          <a:stretch>
            <a:fillRect/>
          </a:stretch>
        </p:blipFill>
        <p:spPr>
          <a:xfrm>
            <a:off x="274319" y="1234440"/>
            <a:ext cx="3436004" cy="3266494"/>
          </a:xfrm>
          <a:prstGeom prst="rect">
            <a:avLst/>
          </a:prstGeom>
        </p:spPr>
      </p:pic>
      <p:sp>
        <p:nvSpPr>
          <p:cNvPr id="8" name="TextBox 7"/>
          <p:cNvSpPr txBox="1"/>
          <p:nvPr/>
        </p:nvSpPr>
        <p:spPr>
          <a:xfrm>
            <a:off x="91439" y="4500934"/>
            <a:ext cx="380176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Machasio Roy Munialo ve ark., 2019 (PMC6601480, CC BY)</a:t>
            </a:r>
          </a:p>
        </p:txBody>
      </p:sp>
      <p:pic>
        <p:nvPicPr>
          <p:cNvPr id="9" name="Picture 8" descr="RRP2019-6380801.004.jpg"/>
          <p:cNvPicPr>
            <a:picLocks noChangeAspect="1"/>
          </p:cNvPicPr>
          <p:nvPr/>
        </p:nvPicPr>
        <p:blipFill>
          <a:blip r:embed="rId3"/>
          <a:stretch>
            <a:fillRect/>
          </a:stretch>
        </p:blipFill>
        <p:spPr>
          <a:xfrm>
            <a:off x="3847484" y="1234440"/>
            <a:ext cx="2690475" cy="3266494"/>
          </a:xfrm>
          <a:prstGeom prst="rect">
            <a:avLst/>
          </a:prstGeom>
        </p:spPr>
      </p:pic>
      <p:sp>
        <p:nvSpPr>
          <p:cNvPr id="10" name="TextBox 9"/>
          <p:cNvSpPr txBox="1"/>
          <p:nvPr/>
        </p:nvSpPr>
        <p:spPr>
          <a:xfrm>
            <a:off x="3664604" y="4500934"/>
            <a:ext cx="305623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Machasio Roy Munialo ve ark., 2019 (PMC6601480,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Sol: tam Willis poligonu (aksiyel MIP); sağ: bilateral fetal tip a. cerebri posterior ve sağ P1 aplazisi (şekillerde etiket yoktur)</a:t>
            </a:r>
          </a:p>
        </p:txBody>
      </p:sp>
      <p:sp>
        <p:nvSpPr>
          <p:cNvPr id="13" name="TextBox 12"/>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2836672"/>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Tam poligon olguların %37,2'sinde (erkek %37,7, kadın %36,6).</a:t>
            </a:r>
          </a:p>
          <a:p>
            <a:pPr algn="l">
              <a:spcAft>
                <a:spcPts val="300"/>
              </a:spcAft>
            </a:pPr>
            <a:r>
              <a:rPr sz="1600" b="0" i="0">
                <a:solidFill>
                  <a:srgbClr val="1F2A44"/>
                </a:solidFill>
                <a:latin typeface="Calibri"/>
              </a:rPr>
              <a:t>• Fetal PCA'da arka serebral arter, baziler sistem yerine a. carotis interna'dan beslenir – inme dağılımını etkiler.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Machasio Roy Munialo, Nyabanda Rose, Mutala Timothy Musila Proportion of Variant Anatomy of the Circle of Willis and Association with Vascular Anomalies on Cerebral CT Angiography. Radiol Res Pract. 2019 Jun 16;2019:6380801. doi: 10.1155/2019/6380801 PMCID: PMC6601480.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Genişlemiş perivasküler (Virchow–Robin) boşluklar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Lara ve ark., Aging 2022 – Framingham, 3710 kişi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aging-14-204181-g002.jpg"/>
          <p:cNvPicPr>
            <a:picLocks noChangeAspect="1"/>
          </p:cNvPicPr>
          <p:nvPr/>
        </p:nvPicPr>
        <p:blipFill>
          <a:blip r:embed="rId2"/>
          <a:stretch>
            <a:fillRect/>
          </a:stretch>
        </p:blipFill>
        <p:spPr>
          <a:xfrm>
            <a:off x="274320" y="1272679"/>
            <a:ext cx="6263640" cy="4724121"/>
          </a:xfrm>
          <a:prstGeom prst="rect">
            <a:avLst/>
          </a:prstGeom>
        </p:spPr>
      </p:pic>
      <p:sp>
        <p:nvSpPr>
          <p:cNvPr id="8" name="TextBox 7"/>
          <p:cNvSpPr txBox="1"/>
          <p:nvPr/>
        </p:nvSpPr>
        <p:spPr>
          <a:xfrm>
            <a:off x="91439" y="5996800"/>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Lara Frances Rodriguez ve ark., 2022 (PMC9512514,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Koronal T2 MR: üst sıra bazal ganglionlar, alt sıra centrum semiovale; (A) derece I (0–10), (B) II (10–20), (C) III (20–40), (D) IV (40+); beyaz oklar tek tek perivasküler boşluklar</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Yüksek yük (derece III–IV) 60 yaş altında bazal ganglionlarda %10'un altındadır.</a:t>
            </a:r>
          </a:p>
          <a:p>
            <a:pPr algn="l">
              <a:spcAft>
                <a:spcPts val="300"/>
              </a:spcAft>
            </a:pPr>
            <a:r>
              <a:rPr sz="1600" b="0" i="0">
                <a:solidFill>
                  <a:srgbClr val="1F2A44"/>
                </a:solidFill>
                <a:latin typeface="Calibri"/>
              </a:rPr>
              <a:t>• Genişlemiş boşluklar yaşla artar; normal varyant ile küçük damar hastalığı arasında yorum gerektirir.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Lara Frances Rodriguez, Scruton Ashlea Lynn, Pinheiro Adlin et al. Aging, prevalence and risk factors of MRI-visible enlarged perivascular spaces. Aging (Albany NY). 2022 Jul 15;14(17):6844–58. doi: 10.18632/aging.204181 PMCID: PMC9512514.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Cavum septi pellucidi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Rios ve ark., Front Neuroanat 2025 – 410 genç erişkin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BEYİN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fnana-19-1566762-g001.jpg"/>
          <p:cNvPicPr>
            <a:picLocks noChangeAspect="1"/>
          </p:cNvPicPr>
          <p:nvPr/>
        </p:nvPicPr>
        <p:blipFill>
          <a:blip r:embed="rId2"/>
          <a:stretch>
            <a:fillRect/>
          </a:stretch>
        </p:blipFill>
        <p:spPr>
          <a:xfrm>
            <a:off x="927630" y="1234440"/>
            <a:ext cx="4957018" cy="2358467"/>
          </a:xfrm>
          <a:prstGeom prst="rect">
            <a:avLst/>
          </a:prstGeom>
        </p:spPr>
      </p:pic>
      <p:sp>
        <p:nvSpPr>
          <p:cNvPr id="8" name="TextBox 7"/>
          <p:cNvSpPr txBox="1"/>
          <p:nvPr/>
        </p:nvSpPr>
        <p:spPr>
          <a:xfrm>
            <a:off x="744750" y="3592907"/>
            <a:ext cx="532277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Rios Andrew ve ark., 2025 (PMC12131514, CC BY)</a:t>
            </a:r>
          </a:p>
        </p:txBody>
      </p:sp>
      <p:pic>
        <p:nvPicPr>
          <p:cNvPr id="9" name="Picture 8" descr="fnana-19-1566762-g002.jpg"/>
          <p:cNvPicPr>
            <a:picLocks noChangeAspect="1"/>
          </p:cNvPicPr>
          <p:nvPr/>
        </p:nvPicPr>
        <p:blipFill>
          <a:blip r:embed="rId3"/>
          <a:stretch>
            <a:fillRect/>
          </a:stretch>
        </p:blipFill>
        <p:spPr>
          <a:xfrm>
            <a:off x="927630" y="3867227"/>
            <a:ext cx="4957018" cy="2167812"/>
          </a:xfrm>
          <a:prstGeom prst="rect">
            <a:avLst/>
          </a:prstGeom>
        </p:spPr>
      </p:pic>
      <p:sp>
        <p:nvSpPr>
          <p:cNvPr id="10" name="TextBox 9"/>
          <p:cNvSpPr txBox="1"/>
          <p:nvPr/>
        </p:nvSpPr>
        <p:spPr>
          <a:xfrm>
            <a:off x="744750" y="6035040"/>
            <a:ext cx="532277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Rios Andrew ve ark., 2025 (PMC12131514,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Üst: küçük (A) ve büyük (B) cavum septi pellucidi 3B segmentasyonu (yeşil) orta sagital T1 üzerinde; alt: manuel (yeşil) ve otomatik (kırmızı) sınırlama</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CSP olguların </a:t>
            </a:r>
            <a:r>
              <a:rPr sz="1600" b="0" i="0">
                <a:solidFill>
                  <a:srgbClr val="1F2A44"/>
                </a:solidFill>
                <a:latin typeface="Calibri"/>
              </a:rPr>
              <a:t>%95,6</a:t>
            </a:r>
            <a:r>
              <a:rPr sz="1600" b="0" i="0">
                <a:solidFill>
                  <a:srgbClr val="1F2A44"/>
                </a:solidFill>
                <a:latin typeface="Calibri"/>
              </a:rPr>
              <a:t>'sında saptanmış; otomatik segmentasyonla yalnız %57,1.</a:t>
            </a:r>
          </a:p>
          <a:p>
            <a:pPr algn="l">
              <a:spcAft>
                <a:spcPts val="300"/>
              </a:spcAft>
            </a:pPr>
            <a:r>
              <a:rPr sz="1600" b="0" i="0">
                <a:solidFill>
                  <a:srgbClr val="1F2A44"/>
                </a:solidFill>
                <a:latin typeface="Calibri"/>
              </a:rPr>
              <a:t>• Erkeklerde hacim daha büyüktür; ortalama hacim 18,0 mm³.</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Rios Andrew, Alier Achok, Aneja Mihir et al. High-resolution segmentation of the cavum septum pellucidum in young adult human brains. Front Neuroanat. 2025 May 16;19:1566762. doi: 10.3389/fnana.2025.1566762 PMCID: PMC12131514.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2</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KAFA TABANI</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Kafa tabanı, orbita, sinüsler</a:t>
            </a:r>
          </a:p>
          <a:p>
            <a:pPr algn="l"/>
            <a:r>
              <a:rPr sz="1800" b="0" i="0">
                <a:solidFill>
                  <a:srgbClr val="C8D1E6"/>
                </a:solidFill>
                <a:latin typeface="Calibri"/>
              </a:rPr>
              <a:t>Foramenler, orbita, paranazal sinüsler, temporal kemik</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Okuma rehberi</a:t>
            </a:r>
          </a:p>
          <a:p>
            <a:pPr algn="l">
              <a:spcAft>
                <a:spcPts val="300"/>
              </a:spcAft>
            </a:pPr>
            <a:r>
              <a:rPr sz="1700" b="0" i="0">
                <a:solidFill>
                  <a:srgbClr val="FFFFFF"/>
                </a:solidFill>
                <a:latin typeface="Calibri"/>
              </a:rPr>
              <a:t>• VHP düzeyleri 1125–1140</a:t>
            </a:r>
          </a:p>
          <a:p>
            <a:pPr algn="l">
              <a:spcAft>
                <a:spcPts val="300"/>
              </a:spcAft>
            </a:pPr>
            <a:r>
              <a:rPr sz="1700" b="0" i="0">
                <a:solidFill>
                  <a:srgbClr val="FFFFFF"/>
                </a:solidFill>
                <a:latin typeface="Calibri"/>
              </a:rPr>
              <a:t>• Foramenler, kemikçikler, orbita, sinüs BT</a:t>
            </a:r>
          </a:p>
          <a:p>
            <a:pPr algn="l">
              <a:spcAft>
                <a:spcPts val="300"/>
              </a:spcAft>
            </a:pPr>
            <a:r>
              <a:rPr sz="1700" b="0" i="0">
                <a:solidFill>
                  <a:srgbClr val="FFFFFF"/>
                </a:solidFill>
                <a:latin typeface="Calibri"/>
              </a:rPr>
              <a:t>• Varyasyonlar: Keros, konka bülloza, Onodi/Haller</a:t>
            </a:r>
          </a:p>
        </p:txBody>
      </p:sp>
      <p:pic>
        <p:nvPicPr>
          <p:cNvPr id="7" name="Picture 6" descr="cryo_1140.jpg"/>
          <p:cNvPicPr>
            <a:picLocks noChangeAspect="1"/>
          </p:cNvPicPr>
          <p:nvPr/>
        </p:nvPicPr>
        <p:blipFill>
          <a:blip r:embed="rId2"/>
          <a:stretch>
            <a:fillRect/>
          </a:stretch>
        </p:blipFill>
        <p:spPr>
          <a:xfrm>
            <a:off x="7229475" y="365760"/>
            <a:ext cx="4286250" cy="5486400"/>
          </a:xfrm>
          <a:prstGeom prst="rect">
            <a:avLst/>
          </a:prstGeom>
        </p:spPr>
      </p:pic>
      <p:sp>
        <p:nvSpPr>
          <p:cNvPr id="8" name="TextBox 7"/>
          <p:cNvSpPr txBox="1"/>
          <p:nvPr/>
        </p:nvSpPr>
        <p:spPr>
          <a:xfrm>
            <a:off x="7046595" y="5852160"/>
            <a:ext cx="4652010"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1140</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Kafa tabanı, orbita ve sinüsleri okumak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Kemik pencerede ince yapılar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Kafa tabanı üç çukurdan oluşur: ön çukurda lamina cribrosa ve orbita tavanı, orta çukurda sella turcica ve sfenoid kemiğin büyük kanatları, arka çukurda ise klivus ve foramen magnum. Kafa tabanındaki foramenler kranial sinirlerin ve damarların geçiş yollarıdır; BT'de kemik pencerede bu kanallar doğrudan izlenir.</a:t>
            </a:r>
          </a:p>
          <a:p>
            <a:pPr algn="l">
              <a:lnSpc>
                <a:spcPct val="108000"/>
              </a:lnSpc>
              <a:spcAft>
                <a:spcPts val="900"/>
              </a:spcAft>
            </a:pPr>
            <a:r>
              <a:rPr sz="2000" b="0" i="0">
                <a:solidFill>
                  <a:srgbClr val="1F2A44"/>
                </a:solidFill>
                <a:latin typeface="Calibri"/>
              </a:rPr>
              <a:t>Orbita konik bir boşluktur; içinde göz küresi, dört rektus ve iki oblik kas, n. opticus ve yağ dokusu bulunur. Orbitanın medial duvarı ince lamina papyracea ile etmoid hücrelerden ayrılır; bu ince duvar sinüs enfeksiyonlarının orbitaya yayılmasına izin verir.</a:t>
            </a:r>
          </a:p>
          <a:p>
            <a:pPr algn="l">
              <a:lnSpc>
                <a:spcPct val="108000"/>
              </a:lnSpc>
              <a:spcAft>
                <a:spcPts val="900"/>
              </a:spcAft>
            </a:pPr>
            <a:r>
              <a:rPr sz="2000" b="0" i="0">
                <a:solidFill>
                  <a:srgbClr val="1F2A44"/>
                </a:solidFill>
                <a:latin typeface="Calibri"/>
              </a:rPr>
              <a:t>Paranazal sinüsler – maksiller, etmoid, frontal ve sfenoid – kriyokesitlerde mavi jelle dolu boşluklar olarak görülür. Maksiller sinüs ostiyomeatal kompleks aracılığıyla orta meatusa açılır. Sinüs cerrahisinden önce koronal BT'de olfaktör fossanın derinliği (Keros) ve Onodi, Haller hücreleri gibi varyasyonlar mutlaka değerlendirilir.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Kafa tabanı – maksiller sinüs ve temporal kemik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Dördüncü ventrikül düzeyi – NLM kesit no. 1140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140.jpg"/>
          <p:cNvPicPr>
            <a:picLocks noChangeAspect="1"/>
          </p:cNvPicPr>
          <p:nvPr/>
        </p:nvPicPr>
        <p:blipFill>
          <a:blip r:embed="rId2"/>
          <a:stretch>
            <a:fillRect/>
          </a:stretch>
        </p:blipFill>
        <p:spPr>
          <a:xfrm>
            <a:off x="2479595" y="1234440"/>
            <a:ext cx="3178968" cy="4069080"/>
          </a:xfrm>
          <a:prstGeom prst="rect">
            <a:avLst/>
          </a:prstGeom>
        </p:spPr>
      </p:pic>
      <p:sp>
        <p:nvSpPr>
          <p:cNvPr id="8" name="TextBox 7"/>
          <p:cNvSpPr txBox="1"/>
          <p:nvPr/>
        </p:nvSpPr>
        <p:spPr>
          <a:xfrm>
            <a:off x="2205275" y="5321808"/>
            <a:ext cx="3727608"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250936"/>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Sinus maxillaris</a:t>
            </a:r>
          </a:p>
        </p:txBody>
      </p:sp>
      <p:cxnSp>
        <p:nvCxnSpPr>
          <p:cNvPr id="10" name="Connector 9"/>
          <p:cNvCxnSpPr/>
          <p:nvPr/>
        </p:nvCxnSpPr>
        <p:spPr>
          <a:xfrm>
            <a:off x="2148840" y="2479536"/>
            <a:ext cx="151757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625262" y="243838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2763000"/>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Mm. masticatorii (m. pterygoideus, m. temporalis)</a:t>
            </a:r>
          </a:p>
        </p:txBody>
      </p:sp>
      <p:cxnSp>
        <p:nvCxnSpPr>
          <p:cNvPr id="13" name="Connector 12"/>
          <p:cNvCxnSpPr/>
          <p:nvPr/>
        </p:nvCxnSpPr>
        <p:spPr>
          <a:xfrm flipV="1">
            <a:off x="2148840" y="2823924"/>
            <a:ext cx="1363920" cy="167676"/>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471612" y="278277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275064"/>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Meatus acusticus externus</a:t>
            </a:r>
          </a:p>
        </p:txBody>
      </p:sp>
      <p:cxnSp>
        <p:nvCxnSpPr>
          <p:cNvPr id="16" name="Connector 15"/>
          <p:cNvCxnSpPr/>
          <p:nvPr/>
        </p:nvCxnSpPr>
        <p:spPr>
          <a:xfrm flipV="1">
            <a:off x="2148840" y="3406735"/>
            <a:ext cx="828794" cy="96929"/>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936486" y="336558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787128"/>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Cellulae mastoideae</a:t>
            </a:r>
          </a:p>
        </p:txBody>
      </p:sp>
      <p:cxnSp>
        <p:nvCxnSpPr>
          <p:cNvPr id="19" name="Connector 18"/>
          <p:cNvCxnSpPr/>
          <p:nvPr/>
        </p:nvCxnSpPr>
        <p:spPr>
          <a:xfrm flipV="1">
            <a:off x="2148840" y="3724632"/>
            <a:ext cx="1093708" cy="291096"/>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201400" y="368348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1959530"/>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Septum nasi</a:t>
            </a:r>
          </a:p>
        </p:txBody>
      </p:sp>
      <p:cxnSp>
        <p:nvCxnSpPr>
          <p:cNvPr id="22" name="Connector 21"/>
          <p:cNvCxnSpPr/>
          <p:nvPr/>
        </p:nvCxnSpPr>
        <p:spPr>
          <a:xfrm flipH="1">
            <a:off x="4143255" y="2188130"/>
            <a:ext cx="184606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102107" y="214698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469540"/>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Medulla oblongata / pons</a:t>
            </a:r>
          </a:p>
        </p:txBody>
      </p:sp>
      <p:cxnSp>
        <p:nvCxnSpPr>
          <p:cNvPr id="25" name="Connector 24"/>
          <p:cNvCxnSpPr/>
          <p:nvPr/>
        </p:nvCxnSpPr>
        <p:spPr>
          <a:xfrm flipH="1">
            <a:off x="4063781" y="3698140"/>
            <a:ext cx="192553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022633" y="36569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981604"/>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Ventriculus quartus</a:t>
            </a:r>
          </a:p>
        </p:txBody>
      </p:sp>
      <p:cxnSp>
        <p:nvCxnSpPr>
          <p:cNvPr id="28" name="Connector 27"/>
          <p:cNvCxnSpPr/>
          <p:nvPr/>
        </p:nvCxnSpPr>
        <p:spPr>
          <a:xfrm flipH="1" flipV="1">
            <a:off x="4063781" y="3814702"/>
            <a:ext cx="1925539" cy="39550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022633" y="377355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89320" y="4493668"/>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Cerebellum</a:t>
            </a:r>
          </a:p>
        </p:txBody>
      </p:sp>
      <p:cxnSp>
        <p:nvCxnSpPr>
          <p:cNvPr id="31" name="Connector 30"/>
          <p:cNvCxnSpPr/>
          <p:nvPr/>
        </p:nvCxnSpPr>
        <p:spPr>
          <a:xfrm flipH="1" flipV="1">
            <a:off x="4545925" y="4201477"/>
            <a:ext cx="1443395" cy="520791"/>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504777" y="416032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t_1140.png"/>
          <p:cNvPicPr>
            <a:picLocks noChangeAspect="1"/>
          </p:cNvPicPr>
          <p:nvPr/>
        </p:nvPicPr>
        <p:blipFill>
          <a:blip r:embed="rId3"/>
          <a:stretch>
            <a:fillRect/>
          </a:stretch>
        </p:blipFill>
        <p:spPr>
          <a:xfrm>
            <a:off x="9392959" y="1234440"/>
            <a:ext cx="1468040" cy="1879092"/>
          </a:xfrm>
          <a:prstGeom prst="rect">
            <a:avLst/>
          </a:prstGeom>
        </p:spPr>
      </p:pic>
      <p:sp>
        <p:nvSpPr>
          <p:cNvPr id="34" name="TextBox 33"/>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35" name="Picture 34" descr="t2_1140.png"/>
          <p:cNvPicPr>
            <a:picLocks noChangeAspect="1"/>
          </p:cNvPicPr>
          <p:nvPr/>
        </p:nvPicPr>
        <p:blipFill>
          <a:blip r:embed="rId4"/>
          <a:stretch>
            <a:fillRect/>
          </a:stretch>
        </p:blipFill>
        <p:spPr>
          <a:xfrm>
            <a:off x="9392959" y="3406140"/>
            <a:ext cx="1468040" cy="1879092"/>
          </a:xfrm>
          <a:prstGeom prst="rect">
            <a:avLst/>
          </a:prstGeom>
        </p:spPr>
      </p:pic>
      <p:sp>
        <p:nvSpPr>
          <p:cNvPr id="36" name="TextBox 35"/>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MR (T2), aynı NLM kesit no.</a:t>
            </a:r>
          </a:p>
        </p:txBody>
      </p:sp>
      <p:sp>
        <p:nvSpPr>
          <p:cNvPr id="37" name="TextBox 36"/>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Maksiller sinüslerin arkasında çiğneme kasları, yanlarda kulak kepçesi ve meatus acusticus externus görülür.</a:t>
            </a:r>
          </a:p>
          <a:p>
            <a:pPr algn="l">
              <a:spcAft>
                <a:spcPts val="300"/>
              </a:spcAft>
            </a:pPr>
            <a:r>
              <a:rPr sz="1500" b="0" i="0">
                <a:solidFill>
                  <a:srgbClr val="1F2A44"/>
                </a:solidFill>
                <a:latin typeface="Calibri"/>
              </a:rPr>
              <a:t>• Temporal kemiğin mastoid hücreleri kriyokesitte mavi jelle dolmuştur.</a:t>
            </a:r>
          </a:p>
        </p:txBody>
      </p:sp>
      <p:cxnSp>
        <p:nvCxnSpPr>
          <p:cNvPr id="38" name="Connector 3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a_vm1140, donmuş BT c_vm1140.fro, MR m_vm1140; NCI Imaging Data Commons (doi:10.5281/zenodo.12690049); NLM Terms and Conditions (2019). Radyolojik yönelim (ön yukarıda, hastanın sağı solda).</a:t>
            </a:r>
          </a:p>
        </p:txBody>
      </p:sp>
      <p:sp>
        <p:nvSpPr>
          <p:cNvPr id="40" name="TextBox 3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Kafa tabanı foramenleri – BT</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Romano ve ark., Insights Imaging 2019</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19_719_Fig2_HTML.jpg"/>
          <p:cNvPicPr>
            <a:picLocks noChangeAspect="1"/>
          </p:cNvPicPr>
          <p:nvPr/>
        </p:nvPicPr>
        <p:blipFill>
          <a:blip r:embed="rId2"/>
          <a:stretch>
            <a:fillRect/>
          </a:stretch>
        </p:blipFill>
        <p:spPr>
          <a:xfrm>
            <a:off x="1311864" y="1234440"/>
            <a:ext cx="4188550" cy="4800600"/>
          </a:xfrm>
          <a:prstGeom prst="rect">
            <a:avLst/>
          </a:prstGeom>
        </p:spPr>
      </p:pic>
      <p:sp>
        <p:nvSpPr>
          <p:cNvPr id="8" name="TextBox 7"/>
          <p:cNvSpPr txBox="1"/>
          <p:nvPr/>
        </p:nvSpPr>
        <p:spPr>
          <a:xfrm>
            <a:off x="1128984" y="6035040"/>
            <a:ext cx="455431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Romano Nicola ve ark., 2019 (PMC6420596,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341120"/>
          </a:xfrm>
          <a:prstGeom prst="rect">
            <a:avLst/>
          </a:prstGeom>
          <a:noFill/>
        </p:spPr>
        <p:txBody>
          <a:bodyPr wrap="square">
            <a:spAutoFit/>
          </a:bodyPr>
          <a:lstStyle/>
          <a:p>
            <a:pPr algn="l">
              <a:spcAft>
                <a:spcPts val="300"/>
              </a:spcAft>
            </a:pPr>
            <a:r>
              <a:rPr sz="1600" b="0" i="0">
                <a:solidFill>
                  <a:srgbClr val="1F2A44"/>
                </a:solidFill>
                <a:latin typeface="Calibri"/>
              </a:rPr>
              <a:t>• (a) lamina cribrosa (yıldız); (b) canalis opticus (yıldız) ve fissura orbitalis superior (ok); (c) foramen rotundum; (d) foramen ovale; (e) canalis facialis; (f) meatus acusticus internus; (g) foramen jugulare; (h) canalis hypoglossi</a:t>
            </a:r>
          </a:p>
        </p:txBody>
      </p:sp>
      <p:sp>
        <p:nvSpPr>
          <p:cNvPr id="11" name="TextBox 10"/>
          <p:cNvSpPr txBox="1"/>
          <p:nvPr/>
        </p:nvSpPr>
        <p:spPr>
          <a:xfrm>
            <a:off x="6720840" y="29687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316224"/>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BT, sinirlerin kemik içi segmentlerini ve geçtikleri foramenleri gösterir.</a:t>
            </a:r>
          </a:p>
          <a:p>
            <a:pPr algn="l">
              <a:spcAft>
                <a:spcPts val="300"/>
              </a:spcAft>
            </a:pPr>
            <a:r>
              <a:rPr sz="1600" b="0" i="0">
                <a:solidFill>
                  <a:srgbClr val="1F2A44"/>
                </a:solidFill>
                <a:latin typeface="Calibri"/>
              </a:rPr>
              <a:t>• Foramen ovale'den n. mandibularis (V3), foramen rotundum'dan n. maxillaris (V2), foramen jugulare'den IX–XI geçer.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Romano Nicola, Federici Margherita, Castaldi Antonio Imaging of cranial nerves: a pictorial overview. Insights Imaging. 2019 Mar 15;10:33. doi: 10.1186/s13244-019-0719-5 PMCID: PMC6420596.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Orta kulak kemikçikleri – 2B ve 3B BT</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Maillot ve ark., Insights Imaging 2016</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16_490_Fig2_HTML.jpg"/>
          <p:cNvPicPr>
            <a:picLocks noChangeAspect="1"/>
          </p:cNvPicPr>
          <p:nvPr/>
        </p:nvPicPr>
        <p:blipFill>
          <a:blip r:embed="rId2"/>
          <a:stretch>
            <a:fillRect/>
          </a:stretch>
        </p:blipFill>
        <p:spPr>
          <a:xfrm>
            <a:off x="991911" y="1234440"/>
            <a:ext cx="4828456" cy="4800600"/>
          </a:xfrm>
          <a:prstGeom prst="rect">
            <a:avLst/>
          </a:prstGeom>
        </p:spPr>
      </p:pic>
      <p:sp>
        <p:nvSpPr>
          <p:cNvPr id="8" name="TextBox 7"/>
          <p:cNvSpPr txBox="1"/>
          <p:nvPr/>
        </p:nvSpPr>
        <p:spPr>
          <a:xfrm>
            <a:off x="809031" y="6035040"/>
            <a:ext cx="5194216"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Maillot Olivier ve ark., 2016 (PMC4877355,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621792"/>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1</a:t>
            </a:r>
            <a:r>
              <a:rPr sz="1600" b="0" i="0">
                <a:solidFill>
                  <a:srgbClr val="1F2A44"/>
                </a:solidFill>
                <a:latin typeface="Calibri"/>
              </a:rPr>
              <a:t> malleus; </a:t>
            </a:r>
            <a:r>
              <a:rPr sz="1600" b="0" i="0">
                <a:solidFill>
                  <a:srgbClr val="1F2A44"/>
                </a:solidFill>
                <a:latin typeface="Calibri"/>
              </a:rPr>
              <a:t>2</a:t>
            </a:r>
            <a:r>
              <a:rPr sz="1600" b="0" i="0">
                <a:solidFill>
                  <a:srgbClr val="1F2A44"/>
                </a:solidFill>
                <a:latin typeface="Calibri"/>
              </a:rPr>
              <a:t> incus'un uzun kolu; </a:t>
            </a:r>
            <a:r>
              <a:rPr sz="1600" b="0" i="0">
                <a:solidFill>
                  <a:srgbClr val="1F2A44"/>
                </a:solidFill>
                <a:latin typeface="Calibri"/>
              </a:rPr>
              <a:t>3</a:t>
            </a:r>
            <a:r>
              <a:rPr sz="1600" b="0" i="0">
                <a:solidFill>
                  <a:srgbClr val="1F2A44"/>
                </a:solidFill>
                <a:latin typeface="Calibri"/>
              </a:rPr>
              <a:t> stapes – aksiyel ve oblik düzlemde kemikçik 'V'si; b ve d 3B BT</a:t>
            </a:r>
          </a:p>
        </p:txBody>
      </p:sp>
      <p:sp>
        <p:nvSpPr>
          <p:cNvPr id="11" name="TextBox 10"/>
          <p:cNvSpPr txBox="1"/>
          <p:nvPr/>
        </p:nvSpPr>
        <p:spPr>
          <a:xfrm>
            <a:off x="6720840" y="2249424"/>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596896"/>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Kemikçik zinciri malleus–incus–stapes olarak ses titreşimini oval pencereye iletir.</a:t>
            </a:r>
          </a:p>
          <a:p>
            <a:pPr algn="l">
              <a:spcAft>
                <a:spcPts val="300"/>
              </a:spcAft>
            </a:pPr>
            <a:r>
              <a:rPr sz="1600" b="0" i="0">
                <a:solidFill>
                  <a:srgbClr val="1F2A44"/>
                </a:solidFill>
                <a:latin typeface="Calibri"/>
              </a:rPr>
              <a:t>• En sık orta kulak travmaları inkudomalleolar ve inkudostapedial eklem çıkıklarıdır.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Maillot Olivier, Attyé Arnaud, Boyer Eric et al. Post traumatic deafness: a pictorial review of CT and MRI findings. Insights Imaging. 2016 Apr 16;7(3):341–50. doi: 10.1007/s13244-016-0490-9 PMCID: PMC4877355.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Orbita – 3T MR ölçümleri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Rana ve ark., Int Ophthalmol 2022 – 141 orbita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0792_2022_2407_Fig1_HTML.jpg"/>
          <p:cNvPicPr>
            <a:picLocks noChangeAspect="1"/>
          </p:cNvPicPr>
          <p:nvPr/>
        </p:nvPicPr>
        <p:blipFill>
          <a:blip r:embed="rId2"/>
          <a:stretch>
            <a:fillRect/>
          </a:stretch>
        </p:blipFill>
        <p:spPr>
          <a:xfrm>
            <a:off x="1720492" y="1234440"/>
            <a:ext cx="3371295" cy="1787465"/>
          </a:xfrm>
          <a:prstGeom prst="rect">
            <a:avLst/>
          </a:prstGeom>
        </p:spPr>
      </p:pic>
      <p:sp>
        <p:nvSpPr>
          <p:cNvPr id="8" name="TextBox 7"/>
          <p:cNvSpPr txBox="1"/>
          <p:nvPr/>
        </p:nvSpPr>
        <p:spPr>
          <a:xfrm>
            <a:off x="1537612" y="3021905"/>
            <a:ext cx="373705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Rana Khizar ve ark., 2022 (PMC9617817, CC BY)</a:t>
            </a:r>
          </a:p>
        </p:txBody>
      </p:sp>
      <p:pic>
        <p:nvPicPr>
          <p:cNvPr id="9" name="Picture 8" descr="10792_2022_2407_Fig2_HTML.jpg"/>
          <p:cNvPicPr>
            <a:picLocks noChangeAspect="1"/>
          </p:cNvPicPr>
          <p:nvPr/>
        </p:nvPicPr>
        <p:blipFill>
          <a:blip r:embed="rId3"/>
          <a:stretch>
            <a:fillRect/>
          </a:stretch>
        </p:blipFill>
        <p:spPr>
          <a:xfrm>
            <a:off x="1720492" y="3296225"/>
            <a:ext cx="3371295" cy="2738814"/>
          </a:xfrm>
          <a:prstGeom prst="rect">
            <a:avLst/>
          </a:prstGeom>
        </p:spPr>
      </p:pic>
      <p:sp>
        <p:nvSpPr>
          <p:cNvPr id="10" name="TextBox 9"/>
          <p:cNvSpPr txBox="1"/>
          <p:nvPr/>
        </p:nvSpPr>
        <p:spPr>
          <a:xfrm>
            <a:off x="1537612" y="6035040"/>
            <a:ext cx="373705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Rana Khizar ve ark., 2022 (PMC9617817,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Üst: aksiyel ve koronal T1 – m. rectus medialis/lateralis, üst kas grubu, m. rectus inferior ve v. ophthalmica superior çap ölçümleri (turuncu çizgiler); alt: n. opticus kılıf çapı (8,1 mm)</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Normal değerler: m. rectus medialis 4,1 ± 0,5 mm; lateralis 3,9 ± 0,7 mm; üst grup 4,5 ± 0,7 mm; inferior 4,6 ± 0,7 mm; v. ophthalmica superior 1,8 ± 0,7 mm.</a:t>
            </a:r>
          </a:p>
          <a:p>
            <a:pPr algn="l">
              <a:spcAft>
                <a:spcPts val="300"/>
              </a:spcAft>
            </a:pPr>
            <a:r>
              <a:rPr sz="1600" b="0" i="0">
                <a:solidFill>
                  <a:srgbClr val="1F2A44"/>
                </a:solidFill>
                <a:latin typeface="Calibri"/>
              </a:rPr>
              <a:t>• Tiroid oftalmopatisinde kas kalınlıkları bu referanslarla karşılaştırılır.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Rana Khizar, Juniat Valerie, Rayan Aaron et al. Normative measurements of orbital structures by magnetic resonance imaging. Int Ophthalmol. 2022 Jul 14;42(12):3869–75. doi: 10.1007/s10792-022-02407-1 PMCID: PMC9617817.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Paranazal sinüs BT anatomisi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Ribeiro ve ark., Radiol Bras 2019</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rb-52-02-0117-g06.jpg"/>
          <p:cNvPicPr>
            <a:picLocks noChangeAspect="1"/>
          </p:cNvPicPr>
          <p:nvPr/>
        </p:nvPicPr>
        <p:blipFill>
          <a:blip r:embed="rId2"/>
          <a:stretch>
            <a:fillRect/>
          </a:stretch>
        </p:blipFill>
        <p:spPr>
          <a:xfrm>
            <a:off x="274320" y="1234440"/>
            <a:ext cx="1884397" cy="1530003"/>
          </a:xfrm>
          <a:prstGeom prst="rect">
            <a:avLst/>
          </a:prstGeom>
        </p:spPr>
      </p:pic>
      <p:sp>
        <p:nvSpPr>
          <p:cNvPr id="8" name="TextBox 7"/>
          <p:cNvSpPr txBox="1"/>
          <p:nvPr/>
        </p:nvSpPr>
        <p:spPr>
          <a:xfrm>
            <a:off x="91439" y="2764443"/>
            <a:ext cx="225015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6 – Ribeiro Bruno Niemeyer de Freitas ve ark., 2019 (PMC6472854, CC BY)</a:t>
            </a:r>
          </a:p>
        </p:txBody>
      </p:sp>
      <p:pic>
        <p:nvPicPr>
          <p:cNvPr id="9" name="Picture 8" descr="rb-52-02-0117-g13.jpg"/>
          <p:cNvPicPr>
            <a:picLocks noChangeAspect="1"/>
          </p:cNvPicPr>
          <p:nvPr/>
        </p:nvPicPr>
        <p:blipFill>
          <a:blip r:embed="rId3"/>
          <a:stretch>
            <a:fillRect/>
          </a:stretch>
        </p:blipFill>
        <p:spPr>
          <a:xfrm>
            <a:off x="2295877" y="1234440"/>
            <a:ext cx="2281688" cy="1530003"/>
          </a:xfrm>
          <a:prstGeom prst="rect">
            <a:avLst/>
          </a:prstGeom>
        </p:spPr>
      </p:pic>
      <p:sp>
        <p:nvSpPr>
          <p:cNvPr id="10" name="TextBox 9"/>
          <p:cNvSpPr txBox="1"/>
          <p:nvPr/>
        </p:nvSpPr>
        <p:spPr>
          <a:xfrm>
            <a:off x="2112997" y="2764443"/>
            <a:ext cx="264744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13 – Ribeiro Bruno Niemeyer de Freitas ve ark., 2019 (PMC6472854, CC BY)</a:t>
            </a:r>
          </a:p>
        </p:txBody>
      </p:sp>
      <p:pic>
        <p:nvPicPr>
          <p:cNvPr id="11" name="Picture 10" descr="rb-52-02-0117-g16.jpg"/>
          <p:cNvPicPr>
            <a:picLocks noChangeAspect="1"/>
          </p:cNvPicPr>
          <p:nvPr/>
        </p:nvPicPr>
        <p:blipFill>
          <a:blip r:embed="rId4"/>
          <a:stretch>
            <a:fillRect/>
          </a:stretch>
        </p:blipFill>
        <p:spPr>
          <a:xfrm>
            <a:off x="4714725" y="1234440"/>
            <a:ext cx="1823234" cy="1530003"/>
          </a:xfrm>
          <a:prstGeom prst="rect">
            <a:avLst/>
          </a:prstGeom>
        </p:spPr>
      </p:pic>
      <p:sp>
        <p:nvSpPr>
          <p:cNvPr id="12" name="TextBox 11"/>
          <p:cNvSpPr txBox="1"/>
          <p:nvPr/>
        </p:nvSpPr>
        <p:spPr>
          <a:xfrm>
            <a:off x="4531845" y="2764443"/>
            <a:ext cx="218899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16 – Ribeiro Bruno Niemeyer de Freitas ve ark., 2019 (PMC6472854, CC BY)</a:t>
            </a:r>
          </a:p>
        </p:txBody>
      </p:sp>
      <p:sp>
        <p:nvSpPr>
          <p:cNvPr id="13" name="TextBox 12"/>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4" name="TextBox 13"/>
          <p:cNvSpPr txBox="1"/>
          <p:nvPr/>
        </p:nvSpPr>
        <p:spPr>
          <a:xfrm>
            <a:off x="6720840" y="1581912"/>
            <a:ext cx="5257800" cy="1341120"/>
          </a:xfrm>
          <a:prstGeom prst="rect">
            <a:avLst/>
          </a:prstGeom>
          <a:noFill/>
        </p:spPr>
        <p:txBody>
          <a:bodyPr wrap="square">
            <a:spAutoFit/>
          </a:bodyPr>
          <a:lstStyle/>
          <a:p>
            <a:pPr algn="l">
              <a:spcAft>
                <a:spcPts val="300"/>
              </a:spcAft>
            </a:pPr>
            <a:r>
              <a:rPr sz="1600" b="0" i="0">
                <a:solidFill>
                  <a:srgbClr val="1F2A44"/>
                </a:solidFill>
                <a:latin typeface="Calibri"/>
              </a:rPr>
              <a:t>• Sol: olfaktör fossalar (oklar) ~7,5 mm derinlikte – Keros tip 3; orta: sfenoetmoidal (Onodi) hücre (ok), n. opticus'a komşu (ok başı); sağ: orta konkanın lamellar ve bülböz kısmının havalanması (konka bülloza)</a:t>
            </a:r>
          </a:p>
        </p:txBody>
      </p:sp>
      <p:sp>
        <p:nvSpPr>
          <p:cNvPr id="15" name="TextBox 14"/>
          <p:cNvSpPr txBox="1"/>
          <p:nvPr/>
        </p:nvSpPr>
        <p:spPr>
          <a:xfrm>
            <a:off x="6720840" y="29687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6" name="TextBox 15"/>
          <p:cNvSpPr txBox="1"/>
          <p:nvPr/>
        </p:nvSpPr>
        <p:spPr>
          <a:xfrm>
            <a:off x="6720840" y="3316224"/>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Bu varyasyonların tanınması endoskopik sinüs cerrahisinde tedavi başarısızlığını ve iyatrojenik komplikasyonları önler.</a:t>
            </a:r>
          </a:p>
          <a:p>
            <a:pPr algn="l">
              <a:spcAft>
                <a:spcPts val="300"/>
              </a:spcAft>
            </a:pPr>
            <a:r>
              <a:rPr sz="1600" b="0" i="0">
                <a:solidFill>
                  <a:srgbClr val="1F2A44"/>
                </a:solidFill>
                <a:latin typeface="Calibri"/>
              </a:rPr>
              <a:t>• Onodi hücresi n. opticus ve a. carotis interna'ya yakın olabilir.</a:t>
            </a:r>
          </a:p>
        </p:txBody>
      </p:sp>
      <p:cxnSp>
        <p:nvCxnSpPr>
          <p:cNvPr id="17" name="Connector 1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Ribeiro Bruno Niemeyer de Freitas, Muniz Bernardo Carvalho, Marchiori Edson Preoperative computed tomography evaluation of the paranasal sinuses: what should the physician know? - pictorial essay. Radiol Bras. 2019 Mar-Apr;52(2):117–22. doi: 10.1590/0100-3984.2017.0082 PMCID: PMC6472854. Lisans: CC BY.</a:t>
            </a:r>
          </a:p>
        </p:txBody>
      </p:sp>
      <p:sp>
        <p:nvSpPr>
          <p:cNvPr id="19" name="TextBox 18"/>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Kafa tabanı ve sinüs – görüntüleme tabanlı varyasyonlar: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MR, BT, BT anjiyografi ve ultrason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1955290"/>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Keros sınıflaması</a:t>
                      </a:r>
                    </a:p>
                  </a:txBody>
                  <a:tcPr>
                    <a:solidFill>
                      <a:srgbClr val="F3F4F6"/>
                    </a:solidFill>
                  </a:tcPr>
                </a:tc>
                <a:tc>
                  <a:txBody>
                    <a:bodyPr/>
                    <a:lstStyle/>
                    <a:p>
                      <a:r>
                        <a:rPr sz="1300" b="0">
                          <a:solidFill>
                            <a:srgbClr val="1F2A44"/>
                          </a:solidFill>
                          <a:latin typeface="Calibri"/>
                        </a:rPr>
                        <a:t>Almushayti ve ark. 2022</a:t>
                      </a:r>
                    </a:p>
                  </a:txBody>
                  <a:tcPr>
                    <a:solidFill>
                      <a:srgbClr val="F3F4F6"/>
                    </a:solidFill>
                  </a:tcPr>
                </a:tc>
                <a:tc>
                  <a:txBody>
                    <a:bodyPr/>
                    <a:lstStyle/>
                    <a:p>
                      <a:r>
                        <a:rPr sz="1300" b="0">
                          <a:solidFill>
                            <a:srgbClr val="1F2A44"/>
                          </a:solidFill>
                          <a:latin typeface="Calibri"/>
                        </a:rPr>
                        <a:t>296 olfaktör fossa (BT)</a:t>
                      </a:r>
                    </a:p>
                  </a:txBody>
                  <a:tcPr>
                    <a:solidFill>
                      <a:srgbClr val="F3F4F6"/>
                    </a:solidFill>
                  </a:tcPr>
                </a:tc>
                <a:tc>
                  <a:txBody>
                    <a:bodyPr/>
                    <a:lstStyle/>
                    <a:p>
                      <a:r>
                        <a:rPr sz="1300" b="0">
                          <a:solidFill>
                            <a:srgbClr val="1F2A44"/>
                          </a:solidFill>
                          <a:latin typeface="Calibri"/>
                        </a:rPr>
                        <a:t>Tip I %28,4; Tip II %63,5; Tip III %8,1</a:t>
                      </a:r>
                    </a:p>
                  </a:txBody>
                  <a:tcPr>
                    <a:solidFill>
                      <a:srgbClr val="F3F4F6"/>
                    </a:solidFill>
                  </a:tcPr>
                </a:tc>
                <a:tc>
                  <a:txBody>
                    <a:bodyPr/>
                    <a:lstStyle/>
                    <a:p>
                      <a:r>
                        <a:rPr sz="1300" b="0">
                          <a:solidFill>
                            <a:srgbClr val="1F2A44"/>
                          </a:solidFill>
                          <a:latin typeface="Calibri"/>
                        </a:rPr>
                        <a:t>Tip III'te kafa tabanı yaralanma riski</a:t>
                      </a:r>
                    </a:p>
                  </a:txBody>
                  <a:tcPr>
                    <a:solidFill>
                      <a:srgbClr val="F3F4F6"/>
                    </a:solidFill>
                  </a:tcPr>
                </a:tc>
              </a:tr>
              <a:tr h="943863">
                <a:tc>
                  <a:txBody>
                    <a:bodyPr/>
                    <a:lstStyle/>
                    <a:p>
                      <a:r>
                        <a:rPr sz="1300" b="1">
                          <a:solidFill>
                            <a:srgbClr val="1F2A44"/>
                          </a:solidFill>
                          <a:latin typeface="Calibri"/>
                        </a:rPr>
                        <a:t>Sinüs anatomik varyasyonları</a:t>
                      </a:r>
                    </a:p>
                  </a:txBody>
                  <a:tcPr>
                    <a:solidFill>
                      <a:srgbClr val="FFFFFF"/>
                    </a:solidFill>
                  </a:tcPr>
                </a:tc>
                <a:tc>
                  <a:txBody>
                    <a:bodyPr/>
                    <a:lstStyle/>
                    <a:p>
                      <a:r>
                        <a:rPr sz="1300" b="0">
                          <a:solidFill>
                            <a:srgbClr val="1F2A44"/>
                          </a:solidFill>
                          <a:latin typeface="Calibri"/>
                        </a:rPr>
                        <a:t>Subbiah ve ark. 2025</a:t>
                      </a:r>
                    </a:p>
                  </a:txBody>
                  <a:tcPr>
                    <a:solidFill>
                      <a:srgbClr val="FFFFFF"/>
                    </a:solidFill>
                  </a:tcPr>
                </a:tc>
                <a:tc>
                  <a:txBody>
                    <a:bodyPr/>
                    <a:lstStyle/>
                    <a:p>
                      <a:r>
                        <a:rPr sz="1300" b="0">
                          <a:solidFill>
                            <a:srgbClr val="1F2A44"/>
                          </a:solidFill>
                          <a:latin typeface="Calibri"/>
                        </a:rPr>
                        <a:t>75 hasta (BT)</a:t>
                      </a:r>
                    </a:p>
                  </a:txBody>
                  <a:tcPr>
                    <a:solidFill>
                      <a:srgbClr val="FFFFFF"/>
                    </a:solidFill>
                  </a:tcPr>
                </a:tc>
                <a:tc>
                  <a:txBody>
                    <a:bodyPr/>
                    <a:lstStyle/>
                    <a:p>
                      <a:r>
                        <a:rPr sz="1300" b="0">
                          <a:solidFill>
                            <a:srgbClr val="1F2A44"/>
                          </a:solidFill>
                          <a:latin typeface="Calibri"/>
                        </a:rPr>
                        <a:t>Septum deviasyonu %66,6; büyük etmoid bulla %46,6; konka bülloza %40; agger nasi %26,6; Haller %20; Onodi %13</a:t>
                      </a:r>
                    </a:p>
                  </a:txBody>
                  <a:tcPr>
                    <a:solidFill>
                      <a:srgbClr val="FFFFFF"/>
                    </a:solidFill>
                  </a:tcPr>
                </a:tc>
                <a:tc>
                  <a:txBody>
                    <a:bodyPr/>
                    <a:lstStyle/>
                    <a:p>
                      <a:r>
                        <a:rPr sz="1300" b="0">
                          <a:solidFill>
                            <a:srgbClr val="1F2A44"/>
                          </a:solidFill>
                          <a:latin typeface="Calibri"/>
                        </a:rPr>
                        <a:t>Endoskopik sinüs cerrahisi planlaması</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Keros sınıflaması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Almushayti ve ark., Cureus 2022 – 296 olfaktör fossa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cureus-0014-00000022378-i01.jpg"/>
          <p:cNvPicPr>
            <a:picLocks noChangeAspect="1"/>
          </p:cNvPicPr>
          <p:nvPr/>
        </p:nvPicPr>
        <p:blipFill>
          <a:blip r:embed="rId2"/>
          <a:stretch>
            <a:fillRect/>
          </a:stretch>
        </p:blipFill>
        <p:spPr>
          <a:xfrm>
            <a:off x="274319" y="2077181"/>
            <a:ext cx="6263640" cy="3115116"/>
          </a:xfrm>
          <a:prstGeom prst="rect">
            <a:avLst/>
          </a:prstGeom>
        </p:spPr>
      </p:pic>
      <p:sp>
        <p:nvSpPr>
          <p:cNvPr id="8" name="TextBox 7"/>
          <p:cNvSpPr txBox="1"/>
          <p:nvPr/>
        </p:nvSpPr>
        <p:spPr>
          <a:xfrm>
            <a:off x="91439" y="5192298"/>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Almushayti Ziyad A ve ark., 2022 (PMC8935634,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Fovea ethmoidalis; lateral lamella (lamina lateralis laminae cribrosae); lamina cribrosa; Type I / II / III</a:t>
            </a:r>
          </a:p>
        </p:txBody>
      </p:sp>
      <p:sp>
        <p:nvSpPr>
          <p:cNvPr id="11" name="TextBox 10"/>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83667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Tip I %28,4, Tip II %63,5, Tip III %8,1; ortalama derinlik sağ 5,1 mm, sol 5,28 mm.</a:t>
            </a:r>
          </a:p>
          <a:p>
            <a:pPr algn="l">
              <a:spcAft>
                <a:spcPts val="300"/>
              </a:spcAft>
            </a:pPr>
            <a:r>
              <a:rPr sz="1600" b="0" i="0">
                <a:solidFill>
                  <a:srgbClr val="1F2A44"/>
                </a:solidFill>
                <a:latin typeface="Calibri"/>
              </a:rPr>
              <a:t>• Derin olfaktör fossa (Tip III) ince lateral lamel nedeniyle BOS kaçağı riski taşır.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Almushayti Ziyad A, Almutairi Abdulhakeem N, Almushayti Mohammed A et al. Evaluation of the Keros Classification of Olfactory Fossa by CT Scan in Qassim Region. Cureus. 2022 Feb 19;14(2):e22378. doi: 10.7759/cureus.22378 PMCID: PMC8935634.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Orta konka havalanması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Subbiah ve ark., Cureus 2025 – 75 hasta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KAFA TABANI</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cureus-0017-00000082506-i02.jpg"/>
          <p:cNvPicPr>
            <a:picLocks noChangeAspect="1"/>
          </p:cNvPicPr>
          <p:nvPr/>
        </p:nvPicPr>
        <p:blipFill>
          <a:blip r:embed="rId2"/>
          <a:stretch>
            <a:fillRect/>
          </a:stretch>
        </p:blipFill>
        <p:spPr>
          <a:xfrm>
            <a:off x="274319" y="2511460"/>
            <a:ext cx="6263640" cy="2246558"/>
          </a:xfrm>
          <a:prstGeom prst="rect">
            <a:avLst/>
          </a:prstGeom>
        </p:spPr>
      </p:pic>
      <p:sp>
        <p:nvSpPr>
          <p:cNvPr id="8" name="TextBox 7"/>
          <p:cNvSpPr txBox="1"/>
          <p:nvPr/>
        </p:nvSpPr>
        <p:spPr>
          <a:xfrm>
            <a:off x="91439" y="4758019"/>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Subbiah Nandha Kumar ve ark., 2025 (PMC12085865,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621792"/>
          </a:xfrm>
          <a:prstGeom prst="rect">
            <a:avLst/>
          </a:prstGeom>
          <a:noFill/>
        </p:spPr>
        <p:txBody>
          <a:bodyPr wrap="square">
            <a:spAutoFit/>
          </a:bodyPr>
          <a:lstStyle/>
          <a:p>
            <a:pPr algn="l">
              <a:spcAft>
                <a:spcPts val="300"/>
              </a:spcAft>
            </a:pPr>
            <a:r>
              <a:rPr sz="1600" b="0" i="0">
                <a:solidFill>
                  <a:srgbClr val="1F2A44"/>
                </a:solidFill>
                <a:latin typeface="Calibri"/>
              </a:rPr>
              <a:t>• Koronal BT: A lamellar tip; B bülböz tip; C yaygın tip (konka bülloza) – sarı oklar</a:t>
            </a:r>
          </a:p>
        </p:txBody>
      </p:sp>
      <p:sp>
        <p:nvSpPr>
          <p:cNvPr id="11" name="TextBox 10"/>
          <p:cNvSpPr txBox="1"/>
          <p:nvPr/>
        </p:nvSpPr>
        <p:spPr>
          <a:xfrm>
            <a:off x="6720840" y="2249424"/>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596896"/>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Konka bülloza %40; septum deviasyonu %66,6 ile en sık varyasyon.</a:t>
            </a:r>
          </a:p>
          <a:p>
            <a:pPr algn="l">
              <a:spcAft>
                <a:spcPts val="300"/>
              </a:spcAft>
            </a:pPr>
            <a:r>
              <a:rPr sz="1600" b="0" i="0">
                <a:solidFill>
                  <a:srgbClr val="1F2A44"/>
                </a:solidFill>
                <a:latin typeface="Calibri"/>
              </a:rPr>
              <a:t>• Agger nasi %26,6, Haller hücresi %20, Onodi hücresi %13.</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Subbiah Nandha Kumar, Bakshi Satvinder S, Arumugam Sangeetha et al. Clinical and Radiological Significance of Anatomical Variations in Paranasal Sinuses: A Retrospective CT-Based Study. Cureus. 2025 Apr 18;17(4):e82506. doi: 10.7759/cureus.82506 PMCID: PMC12085865.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3</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YÜZ–FARİNKS</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Yüz, ağız ve farinks</a:t>
            </a:r>
          </a:p>
          <a:p>
            <a:pPr algn="l"/>
            <a:r>
              <a:rPr sz="1800" b="0" i="0">
                <a:solidFill>
                  <a:srgbClr val="C8D1E6"/>
                </a:solidFill>
                <a:latin typeface="Calibri"/>
              </a:rPr>
              <a:t>Derin yüz boşlukları ve tükürük bezleri</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Okuma rehberi</a:t>
            </a:r>
          </a:p>
          <a:p>
            <a:pPr algn="l">
              <a:spcAft>
                <a:spcPts val="300"/>
              </a:spcAft>
            </a:pPr>
            <a:r>
              <a:rPr sz="1700" b="0" i="0">
                <a:solidFill>
                  <a:srgbClr val="FFFFFF"/>
                </a:solidFill>
                <a:latin typeface="Calibri"/>
              </a:rPr>
              <a:t>• VHP düzeyleri 1165–1200</a:t>
            </a:r>
          </a:p>
          <a:p>
            <a:pPr algn="l">
              <a:spcAft>
                <a:spcPts val="300"/>
              </a:spcAft>
            </a:pPr>
            <a:r>
              <a:rPr sz="1700" b="0" i="0">
                <a:solidFill>
                  <a:srgbClr val="FFFFFF"/>
                </a:solidFill>
                <a:latin typeface="Calibri"/>
              </a:rPr>
              <a:t>• Orofarinks, ağız tabanı, parotis MR'ı</a:t>
            </a:r>
          </a:p>
          <a:p>
            <a:pPr algn="l">
              <a:spcAft>
                <a:spcPts val="300"/>
              </a:spcAft>
            </a:pPr>
            <a:r>
              <a:rPr sz="1700" b="0" i="0">
                <a:solidFill>
                  <a:srgbClr val="FFFFFF"/>
                </a:solidFill>
                <a:latin typeface="Calibri"/>
              </a:rPr>
              <a:t>• Varyasyonlar: stiloid, aksesuar parotis, 'kissing' karotis</a:t>
            </a:r>
          </a:p>
        </p:txBody>
      </p:sp>
      <p:pic>
        <p:nvPicPr>
          <p:cNvPr id="7" name="Picture 6" descr="cryo_1200.jpg"/>
          <p:cNvPicPr>
            <a:picLocks noChangeAspect="1"/>
          </p:cNvPicPr>
          <p:nvPr/>
        </p:nvPicPr>
        <p:blipFill>
          <a:blip r:embed="rId2"/>
          <a:stretch>
            <a:fillRect/>
          </a:stretch>
        </p:blipFill>
        <p:spPr>
          <a:xfrm>
            <a:off x="7188997" y="365760"/>
            <a:ext cx="4367205" cy="5486400"/>
          </a:xfrm>
          <a:prstGeom prst="rect">
            <a:avLst/>
          </a:prstGeom>
        </p:spPr>
      </p:pic>
      <p:sp>
        <p:nvSpPr>
          <p:cNvPr id="8" name="TextBox 7"/>
          <p:cNvSpPr txBox="1"/>
          <p:nvPr/>
        </p:nvSpPr>
        <p:spPr>
          <a:xfrm>
            <a:off x="7006117" y="5852160"/>
            <a:ext cx="4732965"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1200</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Yüz ve farinksin derin boşlukları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Fasyalarla sınırlı alanlar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Yüzün derinliğindeki yapılar, boyun fasyalarının sınırladığı 'boşluklar' halinde düşünülür. Farinksin hemen lateralindeki parafaringeal boşluk, çevresindeki boşlukları (çiğneme, parotis, karotis) ayıran yağlı bir merkezdir; bir kitlenin bu yağı hangi yöne ittiği, kitlenin kökenini gösterir.</a:t>
            </a:r>
          </a:p>
          <a:p>
            <a:pPr algn="l">
              <a:lnSpc>
                <a:spcPct val="108000"/>
              </a:lnSpc>
              <a:spcAft>
                <a:spcPts val="900"/>
              </a:spcAft>
            </a:pPr>
            <a:r>
              <a:rPr sz="2000" b="0" i="0">
                <a:solidFill>
                  <a:srgbClr val="1F2A44"/>
                </a:solidFill>
                <a:latin typeface="Calibri"/>
              </a:rPr>
              <a:t>Çiğneme (mastikatör) boşluğu ramus mandibulae ile m. masseter, m. pterygoideus medialis ve lateralis'i içerir. Parotis boşluğunda glandula parotidea, n. facialis'in bez içi dalları ve v. retromandibularis bulunur; n. facialis bezi yüzeyel ve derin loba ayırır.</a:t>
            </a:r>
          </a:p>
          <a:p>
            <a:pPr algn="l">
              <a:lnSpc>
                <a:spcPct val="108000"/>
              </a:lnSpc>
              <a:spcAft>
                <a:spcPts val="900"/>
              </a:spcAft>
            </a:pPr>
            <a:r>
              <a:rPr sz="2000" b="0" i="0">
                <a:solidFill>
                  <a:srgbClr val="1F2A44"/>
                </a:solidFill>
                <a:latin typeface="Calibri"/>
              </a:rPr>
              <a:t>Ağız tabanında m. mylohyoideus, sublingual boşluğu (yukarıda) submandibular boşluktan (aşağıda) ayırır. Farinksin arkasında retrofaringeal boşluk ve onun da arkasında 'tehlike boşluğu' yer alır; buradaki enfeksiyonlar mediastene kadar yayılabilir.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Yüz – atlas ve dens axis düzeyi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Sert damak / nazofarinks altı – NLM kesit no. 1165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165.jpg"/>
          <p:cNvPicPr>
            <a:picLocks noChangeAspect="1"/>
          </p:cNvPicPr>
          <p:nvPr/>
        </p:nvPicPr>
        <p:blipFill>
          <a:blip r:embed="rId2"/>
          <a:stretch>
            <a:fillRect/>
          </a:stretch>
        </p:blipFill>
        <p:spPr>
          <a:xfrm>
            <a:off x="2362135" y="1234440"/>
            <a:ext cx="3413889" cy="4069080"/>
          </a:xfrm>
          <a:prstGeom prst="rect">
            <a:avLst/>
          </a:prstGeom>
        </p:spPr>
      </p:pic>
      <p:sp>
        <p:nvSpPr>
          <p:cNvPr id="8" name="TextBox 7"/>
          <p:cNvSpPr txBox="1"/>
          <p:nvPr/>
        </p:nvSpPr>
        <p:spPr>
          <a:xfrm>
            <a:off x="2087815" y="5321808"/>
            <a:ext cx="3962529"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161073"/>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Dens axis</a:t>
            </a:r>
          </a:p>
        </p:txBody>
      </p:sp>
      <p:cxnSp>
        <p:nvCxnSpPr>
          <p:cNvPr id="10" name="Connector 9"/>
          <p:cNvCxnSpPr/>
          <p:nvPr/>
        </p:nvCxnSpPr>
        <p:spPr>
          <a:xfrm>
            <a:off x="2148840" y="3389673"/>
            <a:ext cx="188000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987700" y="334852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673137"/>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Medulla spinalis</a:t>
            </a:r>
          </a:p>
        </p:txBody>
      </p:sp>
      <p:cxnSp>
        <p:nvCxnSpPr>
          <p:cNvPr id="13" name="Connector 12"/>
          <p:cNvCxnSpPr/>
          <p:nvPr/>
        </p:nvCxnSpPr>
        <p:spPr>
          <a:xfrm flipV="1">
            <a:off x="2148840" y="3677037"/>
            <a:ext cx="1880008" cy="22470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987700" y="363588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4224321"/>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Ense kasları (mm. nuchae)</a:t>
            </a:r>
          </a:p>
        </p:txBody>
      </p:sp>
      <p:cxnSp>
        <p:nvCxnSpPr>
          <p:cNvPr id="16" name="Connector 15"/>
          <p:cNvCxnSpPr/>
          <p:nvPr/>
        </p:nvCxnSpPr>
        <p:spPr>
          <a:xfrm>
            <a:off x="2148840" y="4452921"/>
            <a:ext cx="165011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757809" y="441177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2442662"/>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masseter</a:t>
            </a:r>
          </a:p>
        </p:txBody>
      </p:sp>
      <p:cxnSp>
        <p:nvCxnSpPr>
          <p:cNvPr id="19" name="Connector 18"/>
          <p:cNvCxnSpPr/>
          <p:nvPr/>
        </p:nvCxnSpPr>
        <p:spPr>
          <a:xfrm flipH="1">
            <a:off x="5034624" y="2671262"/>
            <a:ext cx="95469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993476" y="263011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592119"/>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Auricula</a:t>
            </a:r>
          </a:p>
        </p:txBody>
      </p:sp>
      <p:cxnSp>
        <p:nvCxnSpPr>
          <p:cNvPr id="22" name="Connector 21"/>
          <p:cNvCxnSpPr/>
          <p:nvPr/>
        </p:nvCxnSpPr>
        <p:spPr>
          <a:xfrm flipH="1">
            <a:off x="5408198" y="3820719"/>
            <a:ext cx="58112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367050" y="377957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t_1165.png"/>
          <p:cNvPicPr>
            <a:picLocks noChangeAspect="1"/>
          </p:cNvPicPr>
          <p:nvPr/>
        </p:nvPicPr>
        <p:blipFill>
          <a:blip r:embed="rId3"/>
          <a:stretch>
            <a:fillRect/>
          </a:stretch>
        </p:blipFill>
        <p:spPr>
          <a:xfrm>
            <a:off x="9338716" y="1234440"/>
            <a:ext cx="1576526" cy="1879092"/>
          </a:xfrm>
          <a:prstGeom prst="rect">
            <a:avLst/>
          </a:prstGeom>
        </p:spPr>
      </p:pic>
      <p:sp>
        <p:nvSpPr>
          <p:cNvPr id="25" name="TextBox 24"/>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26" name="Picture 25" descr="t2_1165.png"/>
          <p:cNvPicPr>
            <a:picLocks noChangeAspect="1"/>
          </p:cNvPicPr>
          <p:nvPr/>
        </p:nvPicPr>
        <p:blipFill>
          <a:blip r:embed="rId4"/>
          <a:stretch>
            <a:fillRect/>
          </a:stretch>
        </p:blipFill>
        <p:spPr>
          <a:xfrm>
            <a:off x="9338716" y="3406140"/>
            <a:ext cx="1576526" cy="1879092"/>
          </a:xfrm>
          <a:prstGeom prst="rect">
            <a:avLst/>
          </a:prstGeom>
        </p:spPr>
      </p:pic>
      <p:sp>
        <p:nvSpPr>
          <p:cNvPr id="27" name="TextBox 26"/>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MR (T2), aynı NLM kesit no.</a:t>
            </a:r>
          </a:p>
        </p:txBody>
      </p:sp>
      <p:sp>
        <p:nvSpPr>
          <p:cNvPr id="28" name="TextBox 27"/>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Dens axis atlasın ön kemeri ile eklem yapar; arkasında omurilik bulunur.</a:t>
            </a:r>
          </a:p>
          <a:p>
            <a:pPr algn="l">
              <a:spcAft>
                <a:spcPts val="300"/>
              </a:spcAft>
            </a:pPr>
            <a:r>
              <a:rPr sz="1500" b="0" i="0">
                <a:solidFill>
                  <a:srgbClr val="1F2A44"/>
                </a:solidFill>
                <a:latin typeface="Calibri"/>
              </a:rPr>
              <a:t>• Bu düzeyde VHP MR kesiti de mevcuttur: kas ve yağ dokusu ayrımı T2'de belirgindir.</a:t>
            </a:r>
          </a:p>
        </p:txBody>
      </p:sp>
      <p:cxnSp>
        <p:nvCxnSpPr>
          <p:cNvPr id="29" name="Connector 2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a_vm1165, donmuş BT c_vm1165.fro, MR m_vm1165; NCI Imaging Data Commons (doi:10.5281/zenodo.12690049); NLM Terms and Conditions (2019). Radyolojik yönelim (ön yukarıda, hastanın sağı solda).</a:t>
            </a:r>
          </a:p>
        </p:txBody>
      </p:sp>
      <p:sp>
        <p:nvSpPr>
          <p:cNvPr id="31" name="TextBox 30"/>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Yüz – dil ve orofarinks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Mandibula gövdesi düzeyi – NLM kesit no. 1200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200.jpg"/>
          <p:cNvPicPr>
            <a:picLocks noChangeAspect="1"/>
          </p:cNvPicPr>
          <p:nvPr/>
        </p:nvPicPr>
        <p:blipFill>
          <a:blip r:embed="rId2"/>
          <a:stretch>
            <a:fillRect/>
          </a:stretch>
        </p:blipFill>
        <p:spPr>
          <a:xfrm>
            <a:off x="2449574" y="1234440"/>
            <a:ext cx="3239010" cy="4069080"/>
          </a:xfrm>
          <a:prstGeom prst="rect">
            <a:avLst/>
          </a:prstGeom>
        </p:spPr>
      </p:pic>
      <p:sp>
        <p:nvSpPr>
          <p:cNvPr id="8" name="TextBox 7"/>
          <p:cNvSpPr txBox="1"/>
          <p:nvPr/>
        </p:nvSpPr>
        <p:spPr>
          <a:xfrm>
            <a:off x="2175254" y="5321808"/>
            <a:ext cx="378765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124547"/>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V. jugularis interna</a:t>
            </a:r>
          </a:p>
        </p:txBody>
      </p:sp>
      <p:cxnSp>
        <p:nvCxnSpPr>
          <p:cNvPr id="10" name="Connector 9"/>
          <p:cNvCxnSpPr/>
          <p:nvPr/>
        </p:nvCxnSpPr>
        <p:spPr>
          <a:xfrm>
            <a:off x="2148840" y="3353147"/>
            <a:ext cx="113660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244300" y="331199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636611"/>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Corpus vertebrae (C2–C3)</a:t>
            </a:r>
          </a:p>
        </p:txBody>
      </p:sp>
      <p:cxnSp>
        <p:nvCxnSpPr>
          <p:cNvPr id="13" name="Connector 12"/>
          <p:cNvCxnSpPr/>
          <p:nvPr/>
        </p:nvCxnSpPr>
        <p:spPr>
          <a:xfrm flipV="1">
            <a:off x="2148840" y="3393780"/>
            <a:ext cx="1862193" cy="471431"/>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969885" y="335263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4148675"/>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Ense kasları (m. splenius, m. semispinalis)</a:t>
            </a:r>
          </a:p>
        </p:txBody>
      </p:sp>
      <p:cxnSp>
        <p:nvCxnSpPr>
          <p:cNvPr id="16" name="Connector 15"/>
          <p:cNvCxnSpPr/>
          <p:nvPr/>
        </p:nvCxnSpPr>
        <p:spPr>
          <a:xfrm flipV="1">
            <a:off x="2148840" y="4252873"/>
            <a:ext cx="1252701" cy="12440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360393" y="421172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1615331"/>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Arcus dentalis / mandibula</a:t>
            </a:r>
          </a:p>
        </p:txBody>
      </p:sp>
      <p:cxnSp>
        <p:nvCxnSpPr>
          <p:cNvPr id="19" name="Connector 18"/>
          <p:cNvCxnSpPr/>
          <p:nvPr/>
        </p:nvCxnSpPr>
        <p:spPr>
          <a:xfrm flipH="1">
            <a:off x="4040056" y="1843931"/>
            <a:ext cx="194926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98908" y="180278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2282869"/>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Lingua</a:t>
            </a:r>
          </a:p>
        </p:txBody>
      </p:sp>
      <p:cxnSp>
        <p:nvCxnSpPr>
          <p:cNvPr id="22" name="Connector 21"/>
          <p:cNvCxnSpPr/>
          <p:nvPr/>
        </p:nvCxnSpPr>
        <p:spPr>
          <a:xfrm flipH="1">
            <a:off x="4040056" y="2511469"/>
            <a:ext cx="194926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998908" y="247032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2794933"/>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masseter</a:t>
            </a:r>
          </a:p>
        </p:txBody>
      </p:sp>
      <p:cxnSp>
        <p:nvCxnSpPr>
          <p:cNvPr id="25" name="Connector 24"/>
          <p:cNvCxnSpPr/>
          <p:nvPr/>
        </p:nvCxnSpPr>
        <p:spPr>
          <a:xfrm flipH="1" flipV="1">
            <a:off x="4910758" y="2801703"/>
            <a:ext cx="1078562" cy="22183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869610" y="276055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306997"/>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Oropharynx</a:t>
            </a:r>
          </a:p>
        </p:txBody>
      </p:sp>
      <p:cxnSp>
        <p:nvCxnSpPr>
          <p:cNvPr id="28" name="Connector 27"/>
          <p:cNvCxnSpPr/>
          <p:nvPr/>
        </p:nvCxnSpPr>
        <p:spPr>
          <a:xfrm flipH="1" flipV="1">
            <a:off x="4011033" y="3091937"/>
            <a:ext cx="1978287" cy="44366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3969885" y="305078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89320" y="3819061"/>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sternocleidomastoideus</a:t>
            </a:r>
          </a:p>
        </p:txBody>
      </p:sp>
      <p:cxnSp>
        <p:nvCxnSpPr>
          <p:cNvPr id="31" name="Connector 30"/>
          <p:cNvCxnSpPr/>
          <p:nvPr/>
        </p:nvCxnSpPr>
        <p:spPr>
          <a:xfrm flipH="1" flipV="1">
            <a:off x="5142945" y="3556311"/>
            <a:ext cx="846375" cy="49135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101797" y="351516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t_1200.png"/>
          <p:cNvPicPr>
            <a:picLocks noChangeAspect="1"/>
          </p:cNvPicPr>
          <p:nvPr/>
        </p:nvPicPr>
        <p:blipFill>
          <a:blip r:embed="rId3"/>
          <a:stretch>
            <a:fillRect/>
          </a:stretch>
        </p:blipFill>
        <p:spPr>
          <a:xfrm>
            <a:off x="9379096" y="1234440"/>
            <a:ext cx="1495767" cy="1879092"/>
          </a:xfrm>
          <a:prstGeom prst="rect">
            <a:avLst/>
          </a:prstGeom>
        </p:spPr>
      </p:pic>
      <p:sp>
        <p:nvSpPr>
          <p:cNvPr id="34" name="TextBox 33"/>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35" name="Picture 34" descr="ctbone_1200.png"/>
          <p:cNvPicPr>
            <a:picLocks noChangeAspect="1"/>
          </p:cNvPicPr>
          <p:nvPr/>
        </p:nvPicPr>
        <p:blipFill>
          <a:blip r:embed="rId4"/>
          <a:stretch>
            <a:fillRect/>
          </a:stretch>
        </p:blipFill>
        <p:spPr>
          <a:xfrm>
            <a:off x="9379096" y="3406140"/>
            <a:ext cx="1495767" cy="1879092"/>
          </a:xfrm>
          <a:prstGeom prst="rect">
            <a:avLst/>
          </a:prstGeom>
        </p:spPr>
      </p:pic>
      <p:sp>
        <p:nvSpPr>
          <p:cNvPr id="36" name="TextBox 35"/>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37" name="TextBox 36"/>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Orofarinksin hava yolu dilin arkasında dar bir yarık şeklindedir.</a:t>
            </a:r>
          </a:p>
          <a:p>
            <a:pPr algn="l">
              <a:spcAft>
                <a:spcPts val="300"/>
              </a:spcAft>
            </a:pPr>
            <a:r>
              <a:rPr sz="1500" b="0" i="0">
                <a:solidFill>
                  <a:srgbClr val="1F2A44"/>
                </a:solidFill>
                <a:latin typeface="Calibri"/>
              </a:rPr>
              <a:t>• Karotis kılıfı içeriği (v. jugularis interna, a. carotis) m. sternocleidomastoideus'un derininde yer alır.</a:t>
            </a:r>
          </a:p>
        </p:txBody>
      </p:sp>
      <p:cxnSp>
        <p:nvCxnSpPr>
          <p:cNvPr id="38" name="Connector 3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a_vm1200, donmuş BT c_vm1200.fro; NCI Imaging Data Commons (doi:10.5281/zenodo.12690049); NLM Terms and Conditions (2019). Radyolojik yönelim (ön yukarıda, hastanın sağı solda).</a:t>
            </a:r>
          </a:p>
        </p:txBody>
      </p:sp>
      <p:sp>
        <p:nvSpPr>
          <p:cNvPr id="40" name="TextBox 3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Orofarinks ve ağız boşluğunun MR anatomisi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Hirvonen ve ark., Insights Imaging 2023</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22_1347_Fig2_HTML.jpg"/>
          <p:cNvPicPr>
            <a:picLocks noChangeAspect="1"/>
          </p:cNvPicPr>
          <p:nvPr/>
        </p:nvPicPr>
        <p:blipFill>
          <a:blip r:embed="rId2"/>
          <a:stretch>
            <a:fillRect/>
          </a:stretch>
        </p:blipFill>
        <p:spPr>
          <a:xfrm>
            <a:off x="833725" y="1234440"/>
            <a:ext cx="5144828" cy="2383139"/>
          </a:xfrm>
          <a:prstGeom prst="rect">
            <a:avLst/>
          </a:prstGeom>
        </p:spPr>
      </p:pic>
      <p:sp>
        <p:nvSpPr>
          <p:cNvPr id="8" name="TextBox 7"/>
          <p:cNvSpPr txBox="1"/>
          <p:nvPr/>
        </p:nvSpPr>
        <p:spPr>
          <a:xfrm>
            <a:off x="650845" y="3617579"/>
            <a:ext cx="551058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Hirvonen Jussi ve ark., 2023 (PMC9826778, CC BY)</a:t>
            </a:r>
          </a:p>
        </p:txBody>
      </p:sp>
      <p:pic>
        <p:nvPicPr>
          <p:cNvPr id="9" name="Picture 8" descr="13244_2022_1347_Fig3_HTML.jpg"/>
          <p:cNvPicPr>
            <a:picLocks noChangeAspect="1"/>
          </p:cNvPicPr>
          <p:nvPr/>
        </p:nvPicPr>
        <p:blipFill>
          <a:blip r:embed="rId3"/>
          <a:stretch>
            <a:fillRect/>
          </a:stretch>
        </p:blipFill>
        <p:spPr>
          <a:xfrm>
            <a:off x="833725" y="3891899"/>
            <a:ext cx="5144828" cy="2143140"/>
          </a:xfrm>
          <a:prstGeom prst="rect">
            <a:avLst/>
          </a:prstGeom>
        </p:spPr>
      </p:pic>
      <p:sp>
        <p:nvSpPr>
          <p:cNvPr id="10" name="TextBox 9"/>
          <p:cNvSpPr txBox="1"/>
          <p:nvPr/>
        </p:nvSpPr>
        <p:spPr>
          <a:xfrm>
            <a:off x="650845" y="6035040"/>
            <a:ext cx="551058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3 – Hirvonen Jussi ve ark., 2023 (PMC9826778,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Üst (aksiyel T2): beyaz yıldız tonsilla palatina; ok m. constrictor pharyngis superior; kesikli ok m. palatoglossus; noktalı ok m. palatopharyngeus</a:t>
            </a:r>
          </a:p>
          <a:p>
            <a:pPr algn="l">
              <a:spcAft>
                <a:spcPts val="300"/>
              </a:spcAft>
            </a:pPr>
            <a:r>
              <a:rPr sz="1600" b="0" i="0">
                <a:solidFill>
                  <a:srgbClr val="1F2A44"/>
                </a:solidFill>
                <a:latin typeface="Calibri"/>
              </a:rPr>
              <a:t>• Alt (koronal T2): ok m. mylohyoideus; siyah yıldız glandula sublingualis; sublingual (üstte) ve submandibular (altta) boşluklar</a:t>
            </a:r>
          </a:p>
        </p:txBody>
      </p:sp>
      <p:sp>
        <p:nvSpPr>
          <p:cNvPr id="13" name="TextBox 12"/>
          <p:cNvSpPr txBox="1"/>
          <p:nvPr/>
        </p:nvSpPr>
        <p:spPr>
          <a:xfrm>
            <a:off x="6720840" y="32593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606800"/>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Retrofaringeal boşluk önde m. constrictor superior ve bukkofaringeal fasya, arkada prevertebral fasya ile sınırlıdır.</a:t>
            </a:r>
          </a:p>
          <a:p>
            <a:pPr algn="l">
              <a:spcAft>
                <a:spcPts val="300"/>
              </a:spcAft>
            </a:pPr>
            <a:r>
              <a:rPr sz="1600" b="0" i="0">
                <a:solidFill>
                  <a:srgbClr val="1F2A44"/>
                </a:solidFill>
                <a:latin typeface="Calibri"/>
              </a:rPr>
              <a:t>• Retrofaringeal boşluk üst torakal düzeyde sonlanır; tehlike boşluğu ise mediastene açılır.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Hirvonen Jussi, Heikkinen Jaakko, Nyman Mikko et al. MRI of acute neck infections: evidence summary and pictorial review. Insights Imaging. 2023 Jan 8;14:5. doi: 10.1186/s13244-022-01347-9 PMCID: PMC9826778.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Çocukta orofarinks ve Rouvière lenf düğümleri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Nurminen ve ark., Children 2023</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children-10-00967-g001.jpg"/>
          <p:cNvPicPr>
            <a:picLocks noChangeAspect="1"/>
          </p:cNvPicPr>
          <p:nvPr/>
        </p:nvPicPr>
        <p:blipFill>
          <a:blip r:embed="rId2"/>
          <a:stretch>
            <a:fillRect/>
          </a:stretch>
        </p:blipFill>
        <p:spPr>
          <a:xfrm>
            <a:off x="274320" y="1234440"/>
            <a:ext cx="2519752" cy="2095475"/>
          </a:xfrm>
          <a:prstGeom prst="rect">
            <a:avLst/>
          </a:prstGeom>
        </p:spPr>
      </p:pic>
      <p:sp>
        <p:nvSpPr>
          <p:cNvPr id="8" name="TextBox 7"/>
          <p:cNvSpPr txBox="1"/>
          <p:nvPr/>
        </p:nvSpPr>
        <p:spPr>
          <a:xfrm>
            <a:off x="91439" y="3329915"/>
            <a:ext cx="288551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Nurminen Janne ve ark., 2023 (PMC10296820, CC BY)</a:t>
            </a:r>
          </a:p>
        </p:txBody>
      </p:sp>
      <p:pic>
        <p:nvPicPr>
          <p:cNvPr id="9" name="Picture 8" descr="children-10-00967-g003.jpg"/>
          <p:cNvPicPr>
            <a:picLocks noChangeAspect="1"/>
          </p:cNvPicPr>
          <p:nvPr/>
        </p:nvPicPr>
        <p:blipFill>
          <a:blip r:embed="rId3"/>
          <a:stretch>
            <a:fillRect/>
          </a:stretch>
        </p:blipFill>
        <p:spPr>
          <a:xfrm>
            <a:off x="2931232" y="1234440"/>
            <a:ext cx="3606727" cy="2095475"/>
          </a:xfrm>
          <a:prstGeom prst="rect">
            <a:avLst/>
          </a:prstGeom>
        </p:spPr>
      </p:pic>
      <p:sp>
        <p:nvSpPr>
          <p:cNvPr id="10" name="TextBox 9"/>
          <p:cNvSpPr txBox="1"/>
          <p:nvPr/>
        </p:nvSpPr>
        <p:spPr>
          <a:xfrm>
            <a:off x="2748352" y="3329915"/>
            <a:ext cx="397248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Nurminen Janne ve ark., 2023 (PMC10296820,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Sol: 12 yaş – tonsilla palatina (yıldız), m. constrictor superior (ok), m. palatopharyngeus (noktalı ok başı); sağ: 2 yaş – lateral retrofaringeal (Rouvière) lenf düğümleri (oklar)</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Çocuklarda boyun enfeksiyonlarının tipi ve anatomisi erişkinden farklıdır.</a:t>
            </a:r>
          </a:p>
          <a:p>
            <a:pPr algn="l">
              <a:spcAft>
                <a:spcPts val="300"/>
              </a:spcAft>
            </a:pPr>
            <a:r>
              <a:rPr sz="1600" b="0" i="0">
                <a:solidFill>
                  <a:srgbClr val="1F2A44"/>
                </a:solidFill>
                <a:latin typeface="Calibri"/>
              </a:rPr>
              <a:t>• Rouvière düğümleri retrofaringeal apsenin çıkış noktasıdır.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Nurminen Janne, Heikkinen Jaakko, Happonen Tatu et al. Pictorial Review of MRI Findings in Acute Neck Infections in Children. Children (Basel). 2023 May 29;10(6):967. doi: 10.3390/children10060967 PMCID: PMC10296820.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Parotis ve submandibular boşluk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Kessler ve ark., J Clin Imaging Sci 2018</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JCIS-8-47-g002.jpg"/>
          <p:cNvPicPr>
            <a:picLocks noChangeAspect="1"/>
          </p:cNvPicPr>
          <p:nvPr/>
        </p:nvPicPr>
        <p:blipFill>
          <a:blip r:embed="rId2"/>
          <a:stretch>
            <a:fillRect/>
          </a:stretch>
        </p:blipFill>
        <p:spPr>
          <a:xfrm>
            <a:off x="1507111" y="1234440"/>
            <a:ext cx="3798057" cy="2115612"/>
          </a:xfrm>
          <a:prstGeom prst="rect">
            <a:avLst/>
          </a:prstGeom>
        </p:spPr>
      </p:pic>
      <p:sp>
        <p:nvSpPr>
          <p:cNvPr id="8" name="TextBox 7"/>
          <p:cNvSpPr txBox="1"/>
          <p:nvPr/>
        </p:nvSpPr>
        <p:spPr>
          <a:xfrm>
            <a:off x="1324231" y="3350052"/>
            <a:ext cx="416381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Kessler Alexander T ve ark., 2018 (PMC6251248, CC BY-NC-SA)</a:t>
            </a:r>
          </a:p>
        </p:txBody>
      </p:sp>
      <p:pic>
        <p:nvPicPr>
          <p:cNvPr id="9" name="Picture 8" descr="JCIS-8-47-g004.jpg"/>
          <p:cNvPicPr>
            <a:picLocks noChangeAspect="1"/>
          </p:cNvPicPr>
          <p:nvPr/>
        </p:nvPicPr>
        <p:blipFill>
          <a:blip r:embed="rId3"/>
          <a:stretch>
            <a:fillRect/>
          </a:stretch>
        </p:blipFill>
        <p:spPr>
          <a:xfrm>
            <a:off x="1507111" y="3624372"/>
            <a:ext cx="3798057" cy="2410667"/>
          </a:xfrm>
          <a:prstGeom prst="rect">
            <a:avLst/>
          </a:prstGeom>
        </p:spPr>
      </p:pic>
      <p:sp>
        <p:nvSpPr>
          <p:cNvPr id="10" name="TextBox 9"/>
          <p:cNvSpPr txBox="1"/>
          <p:nvPr/>
        </p:nvSpPr>
        <p:spPr>
          <a:xfrm>
            <a:off x="1324231" y="6035040"/>
            <a:ext cx="416381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Kessler Alexander T ve ark., 2018 (PMC6251248, CC BY-NC-SA)</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871471"/>
          </a:xfrm>
          <a:prstGeom prst="rect">
            <a:avLst/>
          </a:prstGeom>
          <a:noFill/>
        </p:spPr>
        <p:txBody>
          <a:bodyPr wrap="square">
            <a:spAutoFit/>
          </a:bodyPr>
          <a:lstStyle/>
          <a:p>
            <a:pPr algn="l">
              <a:spcAft>
                <a:spcPts val="300"/>
              </a:spcAft>
            </a:pPr>
            <a:r>
              <a:rPr sz="1600" b="0" i="0">
                <a:solidFill>
                  <a:srgbClr val="1F2A44"/>
                </a:solidFill>
                <a:latin typeface="Calibri"/>
              </a:rPr>
              <a:t>• Üst: Deep / Superficial parotid gland = parotis derin / yüzeyel lobu; Intraparotid facial nerve; Retromandibular vein; External carotid artery (çizim, BT, T2 MR)</a:t>
            </a:r>
          </a:p>
          <a:p>
            <a:pPr algn="l">
              <a:spcAft>
                <a:spcPts val="300"/>
              </a:spcAft>
            </a:pPr>
            <a:r>
              <a:rPr sz="1600" b="0" i="0">
                <a:solidFill>
                  <a:srgbClr val="1F2A44"/>
                </a:solidFill>
                <a:latin typeface="Calibri"/>
              </a:rPr>
              <a:t>• Alt: Sublingual space; Submandibular space; Mylohyoid cleft; Genioglossus; Sublingual gland; Lingual artery</a:t>
            </a:r>
          </a:p>
        </p:txBody>
      </p:sp>
      <p:sp>
        <p:nvSpPr>
          <p:cNvPr id="13" name="TextBox 12"/>
          <p:cNvSpPr txBox="1"/>
          <p:nvPr/>
        </p:nvSpPr>
        <p:spPr>
          <a:xfrm>
            <a:off x="6720840" y="3499103"/>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846575"/>
            <a:ext cx="5257800" cy="1442720"/>
          </a:xfrm>
          <a:prstGeom prst="rect">
            <a:avLst/>
          </a:prstGeom>
          <a:noFill/>
        </p:spPr>
        <p:txBody>
          <a:bodyPr wrap="square">
            <a:spAutoFit/>
          </a:bodyPr>
          <a:lstStyle/>
          <a:p>
            <a:pPr algn="l">
              <a:spcAft>
                <a:spcPts val="300"/>
              </a:spcAft>
            </a:pPr>
            <a:r>
              <a:rPr sz="1600" b="0" i="0">
                <a:solidFill>
                  <a:srgbClr val="1F2A44"/>
                </a:solidFill>
                <a:latin typeface="Calibri"/>
              </a:rPr>
              <a:t>• Parotis boşluğu mastikatör boşluğun posterolateralinde, parafaringeal boşluğun lateralindedir.</a:t>
            </a:r>
          </a:p>
          <a:p>
            <a:pPr algn="l">
              <a:spcAft>
                <a:spcPts val="300"/>
              </a:spcAft>
            </a:pPr>
            <a:r>
              <a:rPr sz="1600" b="0" i="0">
                <a:solidFill>
                  <a:srgbClr val="1F2A44"/>
                </a:solidFill>
                <a:latin typeface="Calibri"/>
              </a:rPr>
              <a:t>• N. facialis gerçek bir fasyal düzlem olmamakla birlikte bezi yüzeyel ve derin bölüme ayırır.</a:t>
            </a:r>
          </a:p>
          <a:p>
            <a:pPr algn="l">
              <a:spcAft>
                <a:spcPts val="300"/>
              </a:spcAft>
            </a:pPr>
            <a:r>
              <a:rPr sz="1600" b="0" i="0">
                <a:solidFill>
                  <a:srgbClr val="1F2A44"/>
                </a:solidFill>
                <a:latin typeface="Calibri"/>
              </a:rPr>
              <a:t>• Lisans: CC BY-NC-SA.</a:t>
            </a:r>
          </a:p>
        </p:txBody>
      </p:sp>
      <p:sp>
        <p:nvSpPr>
          <p:cNvPr id="15" name="TextBox 14"/>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6" name="Connector 1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Kessler Alexander T, Bhatt Alok A Review of the Major and Minor Salivary Glands, Part 1: Anatomy, Infectious, and Inflammatory Processes. J Clin Imaging Sci. 2018 Nov 15;8:47. doi: 10.4103/jcis.JCIS_45_18 PMCID: PMC6251248. Lisans: CC BY-NC-SA.</a:t>
            </a:r>
          </a:p>
        </p:txBody>
      </p:sp>
      <p:sp>
        <p:nvSpPr>
          <p:cNvPr id="18" name="TextBox 17"/>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Yüz–farinks – görüntüleme tabanlı varyasyonlar: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MR, BT, BT anjiyografi ve ultrason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2119881"/>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Uzun processus styloideus (KIBT)</a:t>
                      </a:r>
                    </a:p>
                  </a:txBody>
                  <a:tcPr>
                    <a:solidFill>
                      <a:srgbClr val="F3F4F6"/>
                    </a:solidFill>
                  </a:tcPr>
                </a:tc>
                <a:tc>
                  <a:txBody>
                    <a:bodyPr/>
                    <a:lstStyle/>
                    <a:p>
                      <a:r>
                        <a:rPr sz="1300" b="0">
                          <a:solidFill>
                            <a:srgbClr val="1F2A44"/>
                          </a:solidFill>
                          <a:latin typeface="Calibri"/>
                        </a:rPr>
                        <a:t>Yang ve ark. 2024</a:t>
                      </a:r>
                    </a:p>
                  </a:txBody>
                  <a:tcPr>
                    <a:solidFill>
                      <a:srgbClr val="F3F4F6"/>
                    </a:solidFill>
                  </a:tcPr>
                </a:tc>
                <a:tc>
                  <a:txBody>
                    <a:bodyPr/>
                    <a:lstStyle/>
                    <a:p>
                      <a:r>
                        <a:rPr sz="1300" b="0">
                          <a:solidFill>
                            <a:srgbClr val="1F2A44"/>
                          </a:solidFill>
                          <a:latin typeface="Calibri"/>
                        </a:rPr>
                        <a:t>498 kişi</a:t>
                      </a:r>
                    </a:p>
                  </a:txBody>
                  <a:tcPr>
                    <a:solidFill>
                      <a:srgbClr val="F3F4F6"/>
                    </a:solidFill>
                  </a:tcPr>
                </a:tc>
                <a:tc>
                  <a:txBody>
                    <a:bodyPr/>
                    <a:lstStyle/>
                    <a:p>
                      <a:r>
                        <a:rPr sz="1300" b="0">
                          <a:solidFill>
                            <a:srgbClr val="1F2A44"/>
                          </a:solidFill>
                          <a:latin typeface="Calibri"/>
                        </a:rPr>
                        <a:t>Sol uzun stiloid kadınlarda %24,13, erkeklerde %41,91 (≥30 mm)</a:t>
                      </a:r>
                    </a:p>
                  </a:txBody>
                  <a:tcPr>
                    <a:solidFill>
                      <a:srgbClr val="F3F4F6"/>
                    </a:solidFill>
                  </a:tcPr>
                </a:tc>
                <a:tc>
                  <a:txBody>
                    <a:bodyPr/>
                    <a:lstStyle/>
                    <a:p>
                      <a:r>
                        <a:rPr sz="1300" b="0">
                          <a:solidFill>
                            <a:srgbClr val="1F2A44"/>
                          </a:solidFill>
                          <a:latin typeface="Calibri"/>
                        </a:rPr>
                        <a:t>Eagle sendromu</a:t>
                      </a:r>
                    </a:p>
                  </a:txBody>
                  <a:tcPr>
                    <a:solidFill>
                      <a:srgbClr val="F3F4F6"/>
                    </a:solidFill>
                  </a:tcPr>
                </a:tc>
              </a:tr>
              <a:tr h="554227">
                <a:tc>
                  <a:txBody>
                    <a:bodyPr/>
                    <a:lstStyle/>
                    <a:p>
                      <a:r>
                        <a:rPr sz="1300" b="1">
                          <a:solidFill>
                            <a:srgbClr val="1F2A44"/>
                          </a:solidFill>
                          <a:latin typeface="Calibri"/>
                        </a:rPr>
                        <a:t>Aksesuar parotis bezi / fasiyal uzantı</a:t>
                      </a:r>
                    </a:p>
                  </a:txBody>
                  <a:tcPr>
                    <a:solidFill>
                      <a:srgbClr val="FFFFFF"/>
                    </a:solidFill>
                  </a:tcPr>
                </a:tc>
                <a:tc>
                  <a:txBody>
                    <a:bodyPr/>
                    <a:lstStyle/>
                    <a:p>
                      <a:r>
                        <a:rPr sz="1300" b="0">
                          <a:solidFill>
                            <a:srgbClr val="1F2A44"/>
                          </a:solidFill>
                          <a:latin typeface="Calibri"/>
                        </a:rPr>
                        <a:t>Ahn ve ark. 2017</a:t>
                      </a:r>
                    </a:p>
                  </a:txBody>
                  <a:tcPr>
                    <a:solidFill>
                      <a:srgbClr val="FFFFFF"/>
                    </a:solidFill>
                  </a:tcPr>
                </a:tc>
                <a:tc>
                  <a:txBody>
                    <a:bodyPr/>
                    <a:lstStyle/>
                    <a:p>
                      <a:r>
                        <a:rPr sz="1300" b="0">
                          <a:solidFill>
                            <a:srgbClr val="1F2A44"/>
                          </a:solidFill>
                          <a:latin typeface="Calibri"/>
                        </a:rPr>
                        <a:t>1600 BT</a:t>
                      </a:r>
                    </a:p>
                  </a:txBody>
                  <a:tcPr>
                    <a:solidFill>
                      <a:srgbClr val="FFFFFF"/>
                    </a:solidFill>
                  </a:tcPr>
                </a:tc>
                <a:tc>
                  <a:txBody>
                    <a:bodyPr/>
                    <a:lstStyle/>
                    <a:p>
                      <a:r>
                        <a:rPr sz="1300" b="0">
                          <a:solidFill>
                            <a:srgbClr val="1F2A44"/>
                          </a:solidFill>
                          <a:latin typeface="Calibri"/>
                        </a:rPr>
                        <a:t>Aksesuar bez %10,2; fasiyal uzantı %28,3</a:t>
                      </a:r>
                    </a:p>
                  </a:txBody>
                  <a:tcPr>
                    <a:solidFill>
                      <a:srgbClr val="FFFFFF"/>
                    </a:solidFill>
                  </a:tcPr>
                </a:tc>
                <a:tc>
                  <a:txBody>
                    <a:bodyPr/>
                    <a:lstStyle/>
                    <a:p>
                      <a:r>
                        <a:rPr sz="1300" b="0">
                          <a:solidFill>
                            <a:srgbClr val="1F2A44"/>
                          </a:solidFill>
                          <a:latin typeface="Calibri"/>
                        </a:rPr>
                        <a:t>Yanak kitlesi ayırıcı tanısı</a:t>
                      </a:r>
                    </a:p>
                  </a:txBody>
                  <a:tcPr>
                    <a:solidFill>
                      <a:srgbClr val="FFFFFF"/>
                    </a:solidFill>
                  </a:tcPr>
                </a:tc>
              </a:tr>
              <a:tr h="554227">
                <a:tc>
                  <a:txBody>
                    <a:bodyPr/>
                    <a:lstStyle/>
                    <a:p>
                      <a:r>
                        <a:rPr sz="1300" b="1">
                          <a:solidFill>
                            <a:srgbClr val="1F2A44"/>
                          </a:solidFill>
                          <a:latin typeface="Calibri"/>
                        </a:rPr>
                        <a:t>'Kissing' karotisler (retrofaringeal ICA)</a:t>
                      </a:r>
                    </a:p>
                  </a:txBody>
                  <a:tcPr>
                    <a:solidFill>
                      <a:srgbClr val="F3F4F6"/>
                    </a:solidFill>
                  </a:tcPr>
                </a:tc>
                <a:tc>
                  <a:txBody>
                    <a:bodyPr/>
                    <a:lstStyle/>
                    <a:p>
                      <a:r>
                        <a:rPr sz="1300" b="0">
                          <a:solidFill>
                            <a:srgbClr val="1F2A44"/>
                          </a:solidFill>
                          <a:latin typeface="Calibri"/>
                        </a:rPr>
                        <a:t>Muñoz ve ark. 2010 (CC BY-NC)</a:t>
                      </a:r>
                    </a:p>
                  </a:txBody>
                  <a:tcPr>
                    <a:solidFill>
                      <a:srgbClr val="F3F4F6"/>
                    </a:solidFill>
                  </a:tcPr>
                </a:tc>
                <a:tc>
                  <a:txBody>
                    <a:bodyPr/>
                    <a:lstStyle/>
                    <a:p>
                      <a:r>
                        <a:rPr sz="1300" b="0">
                          <a:solidFill>
                            <a:srgbClr val="1F2A44"/>
                          </a:solidFill>
                          <a:latin typeface="Calibri"/>
                        </a:rPr>
                        <a:t>5500 BT</a:t>
                      </a:r>
                    </a:p>
                  </a:txBody>
                  <a:tcPr>
                    <a:solidFill>
                      <a:srgbClr val="F3F4F6"/>
                    </a:solidFill>
                  </a:tcPr>
                </a:tc>
                <a:tc>
                  <a:txBody>
                    <a:bodyPr/>
                    <a:lstStyle/>
                    <a:p>
                      <a:r>
                        <a:rPr sz="1300" b="0">
                          <a:solidFill>
                            <a:srgbClr val="1F2A44"/>
                          </a:solidFill>
                          <a:latin typeface="Calibri"/>
                        </a:rPr>
                        <a:t>%0,2 (14 hasta); bilateral %43</a:t>
                      </a:r>
                    </a:p>
                  </a:txBody>
                  <a:tcPr>
                    <a:solidFill>
                      <a:srgbClr val="F3F4F6"/>
                    </a:solidFill>
                  </a:tcPr>
                </a:tc>
                <a:tc>
                  <a:txBody>
                    <a:bodyPr/>
                    <a:lstStyle/>
                    <a:p>
                      <a:r>
                        <a:rPr sz="1300" b="0">
                          <a:solidFill>
                            <a:srgbClr val="1F2A44"/>
                          </a:solidFill>
                          <a:latin typeface="Calibri"/>
                        </a:rPr>
                        <a:t>Farinks cerrahisinde ölümcül kanama riski</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Uzun processus styloideus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Yang ve ark., BMC Med Imaging 2024 – 498 kişi (KIBT)</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12880_2024_1516_Fig1_HTML.jpg"/>
          <p:cNvPicPr>
            <a:picLocks noChangeAspect="1"/>
          </p:cNvPicPr>
          <p:nvPr/>
        </p:nvPicPr>
        <p:blipFill>
          <a:blip r:embed="rId2"/>
          <a:stretch>
            <a:fillRect/>
          </a:stretch>
        </p:blipFill>
        <p:spPr>
          <a:xfrm>
            <a:off x="274320" y="1234440"/>
            <a:ext cx="2345519" cy="2262736"/>
          </a:xfrm>
          <a:prstGeom prst="rect">
            <a:avLst/>
          </a:prstGeom>
        </p:spPr>
      </p:pic>
      <p:sp>
        <p:nvSpPr>
          <p:cNvPr id="8" name="TextBox 7"/>
          <p:cNvSpPr txBox="1"/>
          <p:nvPr/>
        </p:nvSpPr>
        <p:spPr>
          <a:xfrm>
            <a:off x="91440" y="3497176"/>
            <a:ext cx="271127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Yang Zhang ve ark., 2024 (PMC11622470, CC BY)</a:t>
            </a:r>
          </a:p>
        </p:txBody>
      </p:sp>
      <p:pic>
        <p:nvPicPr>
          <p:cNvPr id="9" name="Picture 8" descr="12880_2024_1516_Fig8_HTML.jpg"/>
          <p:cNvPicPr>
            <a:picLocks noChangeAspect="1"/>
          </p:cNvPicPr>
          <p:nvPr/>
        </p:nvPicPr>
        <p:blipFill>
          <a:blip r:embed="rId3"/>
          <a:stretch>
            <a:fillRect/>
          </a:stretch>
        </p:blipFill>
        <p:spPr>
          <a:xfrm>
            <a:off x="2756999" y="1234440"/>
            <a:ext cx="3780960" cy="2262736"/>
          </a:xfrm>
          <a:prstGeom prst="rect">
            <a:avLst/>
          </a:prstGeom>
        </p:spPr>
      </p:pic>
      <p:sp>
        <p:nvSpPr>
          <p:cNvPr id="10" name="TextBox 9"/>
          <p:cNvSpPr txBox="1"/>
          <p:nvPr/>
        </p:nvSpPr>
        <p:spPr>
          <a:xfrm>
            <a:off x="2574119" y="3497176"/>
            <a:ext cx="414672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8 – Yang Zhang ve ark., 2024 (PMC11622470,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Sol: stiloid uzunluğu ölçümü (18,52 mm ve 16,08 mm); sağ: cinsiyete göre dağılım, 30 mm eşik (kırmızı kesikli çizgi)</a:t>
            </a:r>
          </a:p>
        </p:txBody>
      </p:sp>
      <p:sp>
        <p:nvSpPr>
          <p:cNvPr id="13" name="TextBox 12"/>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2836672"/>
            <a:ext cx="5257800" cy="1682495"/>
          </a:xfrm>
          <a:prstGeom prst="rect">
            <a:avLst/>
          </a:prstGeom>
          <a:noFill/>
        </p:spPr>
        <p:txBody>
          <a:bodyPr wrap="square">
            <a:spAutoFit/>
          </a:bodyPr>
          <a:lstStyle/>
          <a:p>
            <a:pPr algn="l">
              <a:spcAft>
                <a:spcPts val="300"/>
              </a:spcAft>
            </a:pPr>
            <a:r>
              <a:rPr sz="1600" b="0" i="0">
                <a:solidFill>
                  <a:srgbClr val="1F2A44"/>
                </a:solidFill>
                <a:latin typeface="Calibri"/>
              </a:rPr>
              <a:t>• Sol tarafta uzun stiloid: kadınlarda %24,13, erkeklerde %41,91; sağda %29,18 ve %37,34.</a:t>
            </a:r>
          </a:p>
          <a:p>
            <a:pPr algn="l">
              <a:spcAft>
                <a:spcPts val="300"/>
              </a:spcAft>
            </a:pPr>
            <a:r>
              <a:rPr sz="1600" b="0" i="0">
                <a:solidFill>
                  <a:srgbClr val="1F2A44"/>
                </a:solidFill>
                <a:latin typeface="Calibri"/>
              </a:rPr>
              <a:t>• Erkeklerde stiloid her iki tarafta anlamlı olarak daha uzun.</a:t>
            </a:r>
          </a:p>
          <a:p>
            <a:pPr algn="l">
              <a:spcAft>
                <a:spcPts val="300"/>
              </a:spcAft>
            </a:pPr>
            <a:r>
              <a:rPr sz="1600" b="0" i="0">
                <a:solidFill>
                  <a:srgbClr val="1F2A44"/>
                </a:solidFill>
                <a:latin typeface="Calibri"/>
              </a:rPr>
              <a:t>• Klinik: Eagle sendromu (boğaz ağrısı, yutma güçlüğü, karotis basısı).</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Yang Zhang, Yuzi Jing, Beibei Liang Cone-beam computed tomographic evaluation of styloid process: a retrospective study of 498 patients with maxillofacial diseases. BMC Med Imaging. 2024 Dec 6;24:333. doi: 10.1186/s12880-024-01516-w PMCID: PMC11622470.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Aksesuar parotis bezi ve fasiyal uzantı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Ahn ve ark., PLoS ONE 2017 – 1600 BT</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pone.0184633.g001.jpg"/>
          <p:cNvPicPr>
            <a:picLocks noChangeAspect="1"/>
          </p:cNvPicPr>
          <p:nvPr/>
        </p:nvPicPr>
        <p:blipFill>
          <a:blip r:embed="rId2"/>
          <a:stretch>
            <a:fillRect/>
          </a:stretch>
        </p:blipFill>
        <p:spPr>
          <a:xfrm>
            <a:off x="274320" y="1234440"/>
            <a:ext cx="2930225" cy="3419992"/>
          </a:xfrm>
          <a:prstGeom prst="rect">
            <a:avLst/>
          </a:prstGeom>
        </p:spPr>
      </p:pic>
      <p:sp>
        <p:nvSpPr>
          <p:cNvPr id="8" name="TextBox 7"/>
          <p:cNvSpPr txBox="1"/>
          <p:nvPr/>
        </p:nvSpPr>
        <p:spPr>
          <a:xfrm>
            <a:off x="91440" y="4654432"/>
            <a:ext cx="329598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Ahn Dongbin ve ark., 2017 (PMC5600370, CC BY)</a:t>
            </a:r>
          </a:p>
        </p:txBody>
      </p:sp>
      <p:pic>
        <p:nvPicPr>
          <p:cNvPr id="9" name="Picture 8" descr="pone.0184633.g002.jpg"/>
          <p:cNvPicPr>
            <a:picLocks noChangeAspect="1"/>
          </p:cNvPicPr>
          <p:nvPr/>
        </p:nvPicPr>
        <p:blipFill>
          <a:blip r:embed="rId3"/>
          <a:stretch>
            <a:fillRect/>
          </a:stretch>
        </p:blipFill>
        <p:spPr>
          <a:xfrm>
            <a:off x="3341705" y="1234440"/>
            <a:ext cx="3196254" cy="3419992"/>
          </a:xfrm>
          <a:prstGeom prst="rect">
            <a:avLst/>
          </a:prstGeom>
        </p:spPr>
      </p:pic>
      <p:sp>
        <p:nvSpPr>
          <p:cNvPr id="10" name="TextBox 9"/>
          <p:cNvSpPr txBox="1"/>
          <p:nvPr/>
        </p:nvSpPr>
        <p:spPr>
          <a:xfrm>
            <a:off x="3158825" y="4654432"/>
            <a:ext cx="356201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Ahn Dongbin ve ark., 2017 (PMC5600370,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Sol: ana bezden ayrı, m. masseter üzerinde aksesuar parotis (ok); sağ: ramus mandibulae ön kenarını aşan, ana bezle devamlı fasiyal uzantı (ok)</a:t>
            </a:r>
          </a:p>
        </p:txBody>
      </p:sp>
      <p:sp>
        <p:nvSpPr>
          <p:cNvPr id="13" name="TextBox 12"/>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283667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Aksesuar bez %10,2, fasiyal uzantı %28,3; aksesuar bezin ortalama boyutu 15,8 × 5,0 mm.</a:t>
            </a:r>
          </a:p>
          <a:p>
            <a:pPr algn="l">
              <a:spcAft>
                <a:spcPts val="300"/>
              </a:spcAft>
            </a:pPr>
            <a:r>
              <a:rPr sz="1600" b="0" i="0">
                <a:solidFill>
                  <a:srgbClr val="1F2A44"/>
                </a:solidFill>
                <a:latin typeface="Calibri"/>
              </a:rPr>
              <a:t>• Yaşla aksesuar bez sıklığı azalır, fasiyal uzantı artar.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Ahn Dongbin, Yeo Chang Ki, Han Soon Yong et al. The accessory parotid gland and facial process of the parotid gland on computed tomography. PLoS One. 2017 Sep 15;12(9):e0184633. doi: 10.1371/journal.pone.0184633 PMCID: PMC5600370.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Retrofaringeal seyirli a. carotis interna ('kissing carotids')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Muñoz ve ark., Open Neuroimaging J 2010 – 5500 BT</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YÜZ–FARİNKS</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TONIJ-4-174_F3.jpg"/>
          <p:cNvPicPr>
            <a:picLocks noChangeAspect="1"/>
          </p:cNvPicPr>
          <p:nvPr/>
        </p:nvPicPr>
        <p:blipFill>
          <a:blip r:embed="rId2"/>
          <a:stretch>
            <a:fillRect/>
          </a:stretch>
        </p:blipFill>
        <p:spPr>
          <a:xfrm>
            <a:off x="1615066" y="1234440"/>
            <a:ext cx="3582147" cy="4800600"/>
          </a:xfrm>
          <a:prstGeom prst="rect">
            <a:avLst/>
          </a:prstGeom>
        </p:spPr>
      </p:pic>
      <p:sp>
        <p:nvSpPr>
          <p:cNvPr id="8" name="TextBox 7"/>
          <p:cNvSpPr txBox="1"/>
          <p:nvPr/>
        </p:nvSpPr>
        <p:spPr>
          <a:xfrm>
            <a:off x="1432186" y="6035040"/>
            <a:ext cx="394790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(3) – Muñoz Alberto ve ark., 2010 (PMC3026334, CC BY-NC)</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Kontrastlı BT: her iki a. carotis interna retrofaringeal orta hatta yaklaşmış (oklar); vv. jugulares internae de medialize</a:t>
            </a:r>
          </a:p>
        </p:txBody>
      </p:sp>
      <p:sp>
        <p:nvSpPr>
          <p:cNvPr id="11" name="TextBox 10"/>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836672"/>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5500 hastada %0,2 (14 olgu); sağ %43, sol %14, bilateral %43.</a:t>
            </a:r>
          </a:p>
          <a:p>
            <a:pPr algn="l">
              <a:spcAft>
                <a:spcPts val="300"/>
              </a:spcAft>
            </a:pPr>
            <a:r>
              <a:rPr sz="1600" b="0" i="0">
                <a:solidFill>
                  <a:srgbClr val="1F2A44"/>
                </a:solidFill>
                <a:latin typeface="Calibri"/>
              </a:rPr>
              <a:t>• Olguların %28'i semptomatik; tonsillektomi ve farinks cerrahisi öncesi bilinmesi hayati önem taşır.</a:t>
            </a:r>
          </a:p>
        </p:txBody>
      </p:sp>
      <p:sp>
        <p:nvSpPr>
          <p:cNvPr id="13" name="TextBox 12"/>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Muñoz Alberto, De Vergas Joaquín, Crespo José Imaging and Clinical Findings in Patients with Aberrant Course of the Cervical Internal Carotid Arteries. Open Neuroimag J. 2010 Nov 5;4:174–81. doi: 10.2174/1874440001004010174 PMCID: PMC3026334.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4</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BOYUN</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Boyun</a:t>
            </a:r>
          </a:p>
          <a:p>
            <a:pPr algn="l"/>
            <a:r>
              <a:rPr sz="1800" b="0" i="0">
                <a:solidFill>
                  <a:srgbClr val="C8D1E6"/>
                </a:solidFill>
                <a:latin typeface="Calibri"/>
              </a:rPr>
              <a:t>Larinks, tiroid, fasyalar ve karotis kılıfı</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Okuma rehberi</a:t>
            </a:r>
          </a:p>
          <a:p>
            <a:pPr algn="l">
              <a:spcAft>
                <a:spcPts val="300"/>
              </a:spcAft>
            </a:pPr>
            <a:r>
              <a:rPr sz="1700" b="0" i="0">
                <a:solidFill>
                  <a:srgbClr val="FFFFFF"/>
                </a:solidFill>
                <a:latin typeface="Calibri"/>
              </a:rPr>
              <a:t>• VHP düzeyleri 1230–1260</a:t>
            </a:r>
          </a:p>
          <a:p>
            <a:pPr algn="l">
              <a:spcAft>
                <a:spcPts val="300"/>
              </a:spcAft>
            </a:pPr>
            <a:r>
              <a:rPr sz="1700" b="0" i="0">
                <a:solidFill>
                  <a:srgbClr val="FFFFFF"/>
                </a:solidFill>
                <a:latin typeface="Calibri"/>
              </a:rPr>
              <a:t>• Boyun US'si, fasyalar</a:t>
            </a:r>
          </a:p>
          <a:p>
            <a:pPr algn="l">
              <a:spcAft>
                <a:spcPts val="300"/>
              </a:spcAft>
            </a:pPr>
            <a:r>
              <a:rPr sz="1700" b="0" i="0">
                <a:solidFill>
                  <a:srgbClr val="FFFFFF"/>
                </a:solidFill>
                <a:latin typeface="Calibri"/>
              </a:rPr>
              <a:t>• Varyasyonlar: arkus aorta, karotis bifurkasyonu, piramidal lob</a:t>
            </a:r>
          </a:p>
        </p:txBody>
      </p:sp>
      <p:pic>
        <p:nvPicPr>
          <p:cNvPr id="7" name="Picture 6" descr="cryo_1260.jpg"/>
          <p:cNvPicPr>
            <a:picLocks noChangeAspect="1"/>
          </p:cNvPicPr>
          <p:nvPr/>
        </p:nvPicPr>
        <p:blipFill>
          <a:blip r:embed="rId2"/>
          <a:stretch>
            <a:fillRect/>
          </a:stretch>
        </p:blipFill>
        <p:spPr>
          <a:xfrm>
            <a:off x="6812280" y="514502"/>
            <a:ext cx="5120640" cy="5188915"/>
          </a:xfrm>
          <a:prstGeom prst="rect">
            <a:avLst/>
          </a:prstGeom>
        </p:spPr>
      </p:pic>
      <p:sp>
        <p:nvSpPr>
          <p:cNvPr id="8" name="TextBox 7"/>
          <p:cNvSpPr txBox="1"/>
          <p:nvPr/>
        </p:nvSpPr>
        <p:spPr>
          <a:xfrm>
            <a:off x="6629400" y="5703417"/>
            <a:ext cx="5486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1260</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Boyun: fasyalar ve boşluklar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Üç yapraklı derin servikal fasya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Boyun anatomisinin iskeleti, derin servikal fasyanın üç yaprağıdır. Yüzeyel (örtücü) yaprak boynu bir manşon gibi sarar ve m. sternocleidomastoideus ile m. trapezius'u kılıflar. Orta (pretrakeal) yaprak tiroid bezi, trakea, özofagus ve infrahyoid kasları çevreler. Derin (prevertebral) yaprak ise vertebralar ve onlara tutunan kasları örter.</a:t>
            </a:r>
          </a:p>
          <a:p>
            <a:pPr algn="l">
              <a:lnSpc>
                <a:spcPct val="108000"/>
              </a:lnSpc>
              <a:spcAft>
                <a:spcPts val="900"/>
              </a:spcAft>
            </a:pPr>
            <a:r>
              <a:rPr sz="2000" b="0" i="0">
                <a:solidFill>
                  <a:srgbClr val="1F2A44"/>
                </a:solidFill>
                <a:latin typeface="Calibri"/>
              </a:rPr>
              <a:t>Bu üç yaprağın katkısıyla oluşan karotis kılıfı, a. carotis communis/interna, v. jugularis interna ve n. vagus'u içerir ve kafa tabanından aort kavsine kadar uzanır. Prevertebral yaprak ile retrofaringeal boşluk arasında alar fasya bulunur; alar fasyanın arkasındaki 'tehlike boşluğu' enfeksiyonların mediastene inmesine aracılık eder.</a:t>
            </a:r>
          </a:p>
          <a:p>
            <a:pPr algn="l">
              <a:lnSpc>
                <a:spcPct val="108000"/>
              </a:lnSpc>
              <a:spcAft>
                <a:spcPts val="900"/>
              </a:spcAft>
            </a:pPr>
            <a:r>
              <a:rPr sz="2000" b="0" i="0">
                <a:solidFill>
                  <a:srgbClr val="1F2A44"/>
                </a:solidFill>
                <a:latin typeface="Calibri"/>
              </a:rPr>
              <a:t>Boyun kesitlerinde larinksin kıkırdakları (tiroid, krikoid, aritenoid), hyoid kemik ve tiroid bezi düzeyi belirlemede yol göstericidir. Ultrason, tiroid bezi ve boyun lenf düğümlerinin değerlendirilmesinde ilk basamak yöntemdir.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Boyun – os hyoideum ve laryngopharynx</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Hyoid düzeyi – NLM kesit no. 1230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230.jpg"/>
          <p:cNvPicPr>
            <a:picLocks noChangeAspect="1"/>
          </p:cNvPicPr>
          <p:nvPr/>
        </p:nvPicPr>
        <p:blipFill>
          <a:blip r:embed="rId2"/>
          <a:stretch>
            <a:fillRect/>
          </a:stretch>
        </p:blipFill>
        <p:spPr>
          <a:xfrm>
            <a:off x="2240280" y="1440180"/>
            <a:ext cx="3657600" cy="3657600"/>
          </a:xfrm>
          <a:prstGeom prst="rect">
            <a:avLst/>
          </a:prstGeom>
        </p:spPr>
      </p:pic>
      <p:sp>
        <p:nvSpPr>
          <p:cNvPr id="8" name="TextBox 7"/>
          <p:cNvSpPr txBox="1"/>
          <p:nvPr/>
        </p:nvSpPr>
        <p:spPr>
          <a:xfrm>
            <a:off x="1965960" y="5116068"/>
            <a:ext cx="42062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425385"/>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Glandula submandibularis</a:t>
            </a:r>
          </a:p>
        </p:txBody>
      </p:sp>
      <p:cxnSp>
        <p:nvCxnSpPr>
          <p:cNvPr id="10" name="Connector 9"/>
          <p:cNvCxnSpPr/>
          <p:nvPr/>
        </p:nvCxnSpPr>
        <p:spPr>
          <a:xfrm>
            <a:off x="2148840" y="2653985"/>
            <a:ext cx="108945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197149" y="261283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2937880"/>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V. jugularis interna</a:t>
            </a:r>
          </a:p>
        </p:txBody>
      </p:sp>
      <p:cxnSp>
        <p:nvCxnSpPr>
          <p:cNvPr id="13" name="Connector 12"/>
          <p:cNvCxnSpPr/>
          <p:nvPr/>
        </p:nvCxnSpPr>
        <p:spPr>
          <a:xfrm>
            <a:off x="2148840" y="3166480"/>
            <a:ext cx="106248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170176" y="312533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449944"/>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Medulla spinalis</a:t>
            </a:r>
          </a:p>
        </p:txBody>
      </p:sp>
      <p:cxnSp>
        <p:nvCxnSpPr>
          <p:cNvPr id="16" name="Connector 15"/>
          <p:cNvCxnSpPr/>
          <p:nvPr/>
        </p:nvCxnSpPr>
        <p:spPr>
          <a:xfrm flipV="1">
            <a:off x="2148840" y="3598056"/>
            <a:ext cx="1736820" cy="80488"/>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844512" y="355690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1831969"/>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Os hyoideum</a:t>
            </a:r>
          </a:p>
        </p:txBody>
      </p:sp>
      <p:cxnSp>
        <p:nvCxnSpPr>
          <p:cNvPr id="19" name="Connector 18"/>
          <p:cNvCxnSpPr/>
          <p:nvPr/>
        </p:nvCxnSpPr>
        <p:spPr>
          <a:xfrm flipH="1">
            <a:off x="3858687" y="2060569"/>
            <a:ext cx="213063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817539" y="201942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2829987"/>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Laryngopharynx (hava yolu)</a:t>
            </a:r>
          </a:p>
        </p:txBody>
      </p:sp>
      <p:cxnSp>
        <p:nvCxnSpPr>
          <p:cNvPr id="22" name="Connector 21"/>
          <p:cNvCxnSpPr/>
          <p:nvPr/>
        </p:nvCxnSpPr>
        <p:spPr>
          <a:xfrm flipH="1">
            <a:off x="3858687" y="3058587"/>
            <a:ext cx="213063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817539" y="301743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342051"/>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Corpus vertebrae</a:t>
            </a:r>
          </a:p>
        </p:txBody>
      </p:sp>
      <p:cxnSp>
        <p:nvCxnSpPr>
          <p:cNvPr id="25" name="Connector 24"/>
          <p:cNvCxnSpPr/>
          <p:nvPr/>
        </p:nvCxnSpPr>
        <p:spPr>
          <a:xfrm flipH="1" flipV="1">
            <a:off x="3885660" y="3328321"/>
            <a:ext cx="2103660" cy="24233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3844512" y="328717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t_1230.png"/>
          <p:cNvPicPr>
            <a:picLocks noChangeAspect="1"/>
          </p:cNvPicPr>
          <p:nvPr/>
        </p:nvPicPr>
        <p:blipFill>
          <a:blip r:embed="rId3"/>
          <a:stretch>
            <a:fillRect/>
          </a:stretch>
        </p:blipFill>
        <p:spPr>
          <a:xfrm>
            <a:off x="9187434" y="1234440"/>
            <a:ext cx="1879092" cy="1879092"/>
          </a:xfrm>
          <a:prstGeom prst="rect">
            <a:avLst/>
          </a:prstGeom>
        </p:spPr>
      </p:pic>
      <p:sp>
        <p:nvSpPr>
          <p:cNvPr id="28" name="TextBox 27"/>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29" name="Picture 28" descr="ctbone_1230.png"/>
          <p:cNvPicPr>
            <a:picLocks noChangeAspect="1"/>
          </p:cNvPicPr>
          <p:nvPr/>
        </p:nvPicPr>
        <p:blipFill>
          <a:blip r:embed="rId4"/>
          <a:stretch>
            <a:fillRect/>
          </a:stretch>
        </p:blipFill>
        <p:spPr>
          <a:xfrm>
            <a:off x="9187434" y="3406140"/>
            <a:ext cx="1879092" cy="1879092"/>
          </a:xfrm>
          <a:prstGeom prst="rect">
            <a:avLst/>
          </a:prstGeom>
        </p:spPr>
      </p:pic>
      <p:sp>
        <p:nvSpPr>
          <p:cNvPr id="30" name="TextBox 29"/>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31" name="TextBox 30"/>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Hyoid kemik yaklaşık C3 düzeyindedir; dil kökü ve epiglotun önünde yer alır.</a:t>
            </a:r>
          </a:p>
          <a:p>
            <a:pPr algn="l">
              <a:spcAft>
                <a:spcPts val="300"/>
              </a:spcAft>
            </a:pPr>
            <a:r>
              <a:rPr sz="1500" b="0" i="0">
                <a:solidFill>
                  <a:srgbClr val="1F2A44"/>
                </a:solidFill>
                <a:latin typeface="Calibri"/>
              </a:rPr>
              <a:t>• Glandula submandibularis'in yüzeyel bölümü m. mylohyoideus'un altında, boynun üst kısmındadır.</a:t>
            </a:r>
          </a:p>
        </p:txBody>
      </p:sp>
      <p:cxnSp>
        <p:nvCxnSpPr>
          <p:cNvPr id="32" name="Connector 3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a_vm1230, donmuş BT c_vm1230.fro; NCI Imaging Data Commons (doi:10.5281/zenodo.12690049); NLM Terms and Conditions (2019). Radyolojik yönelim (ön yukarıda, hastanın sağı solda).</a:t>
            </a:r>
          </a:p>
        </p:txBody>
      </p:sp>
      <p:sp>
        <p:nvSpPr>
          <p:cNvPr id="34" name="TextBox 3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Boyun kökü – larinks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Tiroid kıkırdağı düzeyi (boyun bölgesine kırpılmış) – NLM kesit no. 1260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260.jpg"/>
          <p:cNvPicPr>
            <a:picLocks noChangeAspect="1"/>
          </p:cNvPicPr>
          <p:nvPr/>
        </p:nvPicPr>
        <p:blipFill>
          <a:blip r:embed="rId2"/>
          <a:stretch>
            <a:fillRect/>
          </a:stretch>
        </p:blipFill>
        <p:spPr>
          <a:xfrm>
            <a:off x="2240280" y="1415796"/>
            <a:ext cx="3657600" cy="3706368"/>
          </a:xfrm>
          <a:prstGeom prst="rect">
            <a:avLst/>
          </a:prstGeom>
        </p:spPr>
      </p:pic>
      <p:sp>
        <p:nvSpPr>
          <p:cNvPr id="8" name="TextBox 7"/>
          <p:cNvSpPr txBox="1"/>
          <p:nvPr/>
        </p:nvSpPr>
        <p:spPr>
          <a:xfrm>
            <a:off x="1965960" y="5140451"/>
            <a:ext cx="42062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284475"/>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V. jugularis interna (lümen)</a:t>
            </a:r>
          </a:p>
        </p:txBody>
      </p:sp>
      <p:cxnSp>
        <p:nvCxnSpPr>
          <p:cNvPr id="10" name="Connector 9"/>
          <p:cNvCxnSpPr/>
          <p:nvPr/>
        </p:nvCxnSpPr>
        <p:spPr>
          <a:xfrm>
            <a:off x="2148840" y="2513075"/>
            <a:ext cx="89611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003804" y="247192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625596"/>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Ense kasları (m. trapezius ve derin kaslar)</a:t>
            </a:r>
          </a:p>
        </p:txBody>
      </p:sp>
      <p:cxnSp>
        <p:nvCxnSpPr>
          <p:cNvPr id="13" name="Connector 12"/>
          <p:cNvCxnSpPr/>
          <p:nvPr/>
        </p:nvCxnSpPr>
        <p:spPr>
          <a:xfrm>
            <a:off x="2148840" y="3854196"/>
            <a:ext cx="57912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686812" y="381304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979676"/>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Cartilago thyroidea / larynx</a:t>
            </a:r>
          </a:p>
        </p:txBody>
      </p:sp>
      <p:cxnSp>
        <p:nvCxnSpPr>
          <p:cNvPr id="16" name="Connector 15"/>
          <p:cNvCxnSpPr/>
          <p:nvPr/>
        </p:nvCxnSpPr>
        <p:spPr>
          <a:xfrm flipH="1">
            <a:off x="4050791" y="2208276"/>
            <a:ext cx="193852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009644" y="216712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2491740"/>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A. carotis communis</a:t>
            </a:r>
          </a:p>
        </p:txBody>
      </p:sp>
      <p:cxnSp>
        <p:nvCxnSpPr>
          <p:cNvPr id="19" name="Connector 18"/>
          <p:cNvCxnSpPr/>
          <p:nvPr/>
        </p:nvCxnSpPr>
        <p:spPr>
          <a:xfrm flipH="1" flipV="1">
            <a:off x="3422904" y="2439924"/>
            <a:ext cx="2566416" cy="280416"/>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381756" y="239877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003804"/>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Corpus vertebrae</a:t>
            </a:r>
          </a:p>
        </p:txBody>
      </p:sp>
      <p:cxnSp>
        <p:nvCxnSpPr>
          <p:cNvPr id="22" name="Connector 21"/>
          <p:cNvCxnSpPr/>
          <p:nvPr/>
        </p:nvCxnSpPr>
        <p:spPr>
          <a:xfrm flipH="1" flipV="1">
            <a:off x="4050791" y="3061716"/>
            <a:ext cx="1938529" cy="170688"/>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009644" y="302056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t_1260.png"/>
          <p:cNvPicPr>
            <a:picLocks noChangeAspect="1"/>
          </p:cNvPicPr>
          <p:nvPr/>
        </p:nvPicPr>
        <p:blipFill>
          <a:blip r:embed="rId3"/>
          <a:stretch>
            <a:fillRect/>
          </a:stretch>
        </p:blipFill>
        <p:spPr>
          <a:xfrm>
            <a:off x="9199796" y="1234440"/>
            <a:ext cx="1854367" cy="1879092"/>
          </a:xfrm>
          <a:prstGeom prst="rect">
            <a:avLst/>
          </a:prstGeom>
        </p:spPr>
      </p:pic>
      <p:sp>
        <p:nvSpPr>
          <p:cNvPr id="25" name="TextBox 24"/>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pic>
        <p:nvPicPr>
          <p:cNvPr id="26" name="Picture 25" descr="ctbone_1260.png"/>
          <p:cNvPicPr>
            <a:picLocks noChangeAspect="1"/>
          </p:cNvPicPr>
          <p:nvPr/>
        </p:nvPicPr>
        <p:blipFill>
          <a:blip r:embed="rId4"/>
          <a:stretch>
            <a:fillRect/>
          </a:stretch>
        </p:blipFill>
        <p:spPr>
          <a:xfrm>
            <a:off x="9199796" y="3406140"/>
            <a:ext cx="1854367" cy="1879092"/>
          </a:xfrm>
          <a:prstGeom prst="rect">
            <a:avLst/>
          </a:prstGeom>
        </p:spPr>
      </p:pic>
      <p:sp>
        <p:nvSpPr>
          <p:cNvPr id="27" name="TextBox 26"/>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28" name="TextBox 27"/>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Larinks tiroid kıkırdağının içinde, önde; arkasında hipofarinks ve vertebra yer alır.</a:t>
            </a:r>
          </a:p>
          <a:p>
            <a:pPr algn="l">
              <a:spcAft>
                <a:spcPts val="300"/>
              </a:spcAft>
            </a:pPr>
            <a:r>
              <a:rPr sz="1500" b="0" i="0">
                <a:solidFill>
                  <a:srgbClr val="1F2A44"/>
                </a:solidFill>
                <a:latin typeface="Calibri"/>
              </a:rPr>
              <a:t>• Karotis kılıfı larinksin posterolateralindedir.</a:t>
            </a:r>
          </a:p>
        </p:txBody>
      </p:sp>
      <p:cxnSp>
        <p:nvCxnSpPr>
          <p:cNvPr id="29" name="Connector 2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Male – kriyokesit a_vm1260, donmuş BT c_vm1260.fro; NCI Imaging Data Commons (doi:10.5281/zenodo.12690049); NLM Terms and Conditions (2019). Radyolojik yönelim (ön yukarıda, hastanın sağı solda).</a:t>
            </a:r>
          </a:p>
        </p:txBody>
      </p:sp>
      <p:sp>
        <p:nvSpPr>
          <p:cNvPr id="31" name="TextBox 30"/>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Boyun ve larinks –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Furukawa, J Med Ultrason 2022</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0396_2022_1266_Fig1_HTML.jpg"/>
          <p:cNvPicPr>
            <a:picLocks noChangeAspect="1"/>
          </p:cNvPicPr>
          <p:nvPr/>
        </p:nvPicPr>
        <p:blipFill>
          <a:blip r:embed="rId2"/>
          <a:stretch>
            <a:fillRect/>
          </a:stretch>
        </p:blipFill>
        <p:spPr>
          <a:xfrm>
            <a:off x="274319" y="1234440"/>
            <a:ext cx="3618799" cy="2086191"/>
          </a:xfrm>
          <a:prstGeom prst="rect">
            <a:avLst/>
          </a:prstGeom>
        </p:spPr>
      </p:pic>
      <p:sp>
        <p:nvSpPr>
          <p:cNvPr id="8" name="TextBox 7"/>
          <p:cNvSpPr txBox="1"/>
          <p:nvPr/>
        </p:nvSpPr>
        <p:spPr>
          <a:xfrm>
            <a:off x="91439" y="3320631"/>
            <a:ext cx="398455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Furukawa Madoka ve ark., 2022 (PMC9640455, CC BY)</a:t>
            </a:r>
          </a:p>
        </p:txBody>
      </p:sp>
      <p:pic>
        <p:nvPicPr>
          <p:cNvPr id="9" name="Picture 8" descr="10396_2022_1266_Fig2_HTML.jpg"/>
          <p:cNvPicPr>
            <a:picLocks noChangeAspect="1"/>
          </p:cNvPicPr>
          <p:nvPr/>
        </p:nvPicPr>
        <p:blipFill>
          <a:blip r:embed="rId3"/>
          <a:stretch>
            <a:fillRect/>
          </a:stretch>
        </p:blipFill>
        <p:spPr>
          <a:xfrm>
            <a:off x="4030279" y="1234440"/>
            <a:ext cx="2507680" cy="2086191"/>
          </a:xfrm>
          <a:prstGeom prst="rect">
            <a:avLst/>
          </a:prstGeom>
        </p:spPr>
      </p:pic>
      <p:sp>
        <p:nvSpPr>
          <p:cNvPr id="10" name="TextBox 9"/>
          <p:cNvSpPr txBox="1"/>
          <p:nvPr/>
        </p:nvSpPr>
        <p:spPr>
          <a:xfrm>
            <a:off x="3847399" y="3320631"/>
            <a:ext cx="287344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Furukawa Madoka ve ark., 2022 (PMC9640455,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580896"/>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SG</a:t>
            </a:r>
            <a:r>
              <a:rPr sz="1600" b="0" i="0">
                <a:solidFill>
                  <a:srgbClr val="1F2A44"/>
                </a:solidFill>
                <a:latin typeface="Calibri"/>
              </a:rPr>
              <a:t> glandula submandibularis; </a:t>
            </a:r>
            <a:r>
              <a:rPr sz="1600" b="0" i="0">
                <a:solidFill>
                  <a:srgbClr val="1F2A44"/>
                </a:solidFill>
                <a:latin typeface="Calibri"/>
              </a:rPr>
              <a:t>PG</a:t>
            </a:r>
            <a:r>
              <a:rPr sz="1600" b="0" i="0">
                <a:solidFill>
                  <a:srgbClr val="1F2A44"/>
                </a:solidFill>
                <a:latin typeface="Calibri"/>
              </a:rPr>
              <a:t> glandula parotidea; </a:t>
            </a:r>
            <a:r>
              <a:rPr sz="1600" b="0" i="0">
                <a:solidFill>
                  <a:srgbClr val="1F2A44"/>
                </a:solidFill>
                <a:latin typeface="Calibri"/>
              </a:rPr>
              <a:t>BIF</a:t>
            </a:r>
            <a:r>
              <a:rPr sz="1600" b="0" i="0">
                <a:solidFill>
                  <a:srgbClr val="1F2A44"/>
                </a:solidFill>
                <a:latin typeface="Calibri"/>
              </a:rPr>
              <a:t> karotis bifurkasyonu; </a:t>
            </a:r>
            <a:r>
              <a:rPr sz="1600" b="0" i="0">
                <a:solidFill>
                  <a:srgbClr val="1F2A44"/>
                </a:solidFill>
                <a:latin typeface="Calibri"/>
              </a:rPr>
              <a:t>TH</a:t>
            </a:r>
            <a:r>
              <a:rPr sz="1600" b="0" i="0">
                <a:solidFill>
                  <a:srgbClr val="1F2A44"/>
                </a:solidFill>
                <a:latin typeface="Calibri"/>
              </a:rPr>
              <a:t> tiroid; </a:t>
            </a:r>
            <a:r>
              <a:rPr sz="1600" b="0" i="0">
                <a:solidFill>
                  <a:srgbClr val="1F2A44"/>
                </a:solidFill>
                <a:latin typeface="Calibri"/>
              </a:rPr>
              <a:t>TR</a:t>
            </a:r>
            <a:r>
              <a:rPr sz="1600" b="0" i="0">
                <a:solidFill>
                  <a:srgbClr val="1F2A44"/>
                </a:solidFill>
                <a:latin typeface="Calibri"/>
              </a:rPr>
              <a:t> trakea; </a:t>
            </a:r>
            <a:r>
              <a:rPr sz="1600" b="0" i="0">
                <a:solidFill>
                  <a:srgbClr val="1F2A44"/>
                </a:solidFill>
                <a:latin typeface="Calibri"/>
              </a:rPr>
              <a:t>ES</a:t>
            </a:r>
            <a:r>
              <a:rPr sz="1600" b="0" i="0">
                <a:solidFill>
                  <a:srgbClr val="1F2A44"/>
                </a:solidFill>
                <a:latin typeface="Calibri"/>
              </a:rPr>
              <a:t> özofagus; </a:t>
            </a:r>
            <a:r>
              <a:rPr sz="1600" b="0" i="0">
                <a:solidFill>
                  <a:srgbClr val="1F2A44"/>
                </a:solidFill>
                <a:latin typeface="Calibri"/>
              </a:rPr>
              <a:t>LX</a:t>
            </a:r>
            <a:r>
              <a:rPr sz="1600" b="0" i="0">
                <a:solidFill>
                  <a:srgbClr val="1F2A44"/>
                </a:solidFill>
                <a:latin typeface="Calibri"/>
              </a:rPr>
              <a:t> larinks; </a:t>
            </a:r>
            <a:r>
              <a:rPr sz="1600" b="0" i="0">
                <a:solidFill>
                  <a:srgbClr val="1F2A44"/>
                </a:solidFill>
                <a:latin typeface="Calibri"/>
              </a:rPr>
              <a:t>HB</a:t>
            </a:r>
            <a:r>
              <a:rPr sz="1600" b="0" i="0">
                <a:solidFill>
                  <a:srgbClr val="1F2A44"/>
                </a:solidFill>
                <a:latin typeface="Calibri"/>
              </a:rPr>
              <a:t> os hyoideum; </a:t>
            </a:r>
            <a:r>
              <a:rPr sz="1600" b="0" i="0">
                <a:solidFill>
                  <a:srgbClr val="1F2A44"/>
                </a:solidFill>
                <a:latin typeface="Calibri"/>
              </a:rPr>
              <a:t>HP</a:t>
            </a:r>
            <a:r>
              <a:rPr sz="1600" b="0" i="0">
                <a:solidFill>
                  <a:srgbClr val="1F2A44"/>
                </a:solidFill>
                <a:latin typeface="Calibri"/>
              </a:rPr>
              <a:t> hipofarinks; </a:t>
            </a:r>
            <a:r>
              <a:rPr sz="1600" b="0" i="0">
                <a:solidFill>
                  <a:srgbClr val="1F2A44"/>
                </a:solidFill>
                <a:latin typeface="Calibri"/>
              </a:rPr>
              <a:t>CCA</a:t>
            </a:r>
            <a:r>
              <a:rPr sz="1600" b="0" i="0">
                <a:solidFill>
                  <a:srgbClr val="1F2A44"/>
                </a:solidFill>
                <a:latin typeface="Calibri"/>
              </a:rPr>
              <a:t> a. carotis communis; </a:t>
            </a:r>
            <a:r>
              <a:rPr sz="1600" b="0" i="0">
                <a:solidFill>
                  <a:srgbClr val="1F2A44"/>
                </a:solidFill>
                <a:latin typeface="Calibri"/>
              </a:rPr>
              <a:t>JV</a:t>
            </a:r>
            <a:r>
              <a:rPr sz="1600" b="0" i="0">
                <a:solidFill>
                  <a:srgbClr val="1F2A44"/>
                </a:solidFill>
                <a:latin typeface="Calibri"/>
              </a:rPr>
              <a:t> v. jugularis interna; </a:t>
            </a:r>
            <a:r>
              <a:rPr sz="1600" b="0" i="0">
                <a:solidFill>
                  <a:srgbClr val="1F2A44"/>
                </a:solidFill>
                <a:latin typeface="Calibri"/>
              </a:rPr>
              <a:t>VC</a:t>
            </a:r>
            <a:r>
              <a:rPr sz="1600" b="0" i="0">
                <a:solidFill>
                  <a:srgbClr val="1F2A44"/>
                </a:solidFill>
                <a:latin typeface="Calibri"/>
              </a:rPr>
              <a:t> plica vocalis; </a:t>
            </a:r>
            <a:r>
              <a:rPr sz="1600" b="0" i="0">
                <a:solidFill>
                  <a:srgbClr val="1F2A44"/>
                </a:solidFill>
                <a:latin typeface="Calibri"/>
              </a:rPr>
              <a:t>TC</a:t>
            </a:r>
            <a:r>
              <a:rPr sz="1600" b="0" i="0">
                <a:solidFill>
                  <a:srgbClr val="1F2A44"/>
                </a:solidFill>
                <a:latin typeface="Calibri"/>
              </a:rPr>
              <a:t> cartilago thyroidea; </a:t>
            </a:r>
            <a:r>
              <a:rPr sz="1600" b="0" i="0">
                <a:solidFill>
                  <a:srgbClr val="1F2A44"/>
                </a:solidFill>
                <a:latin typeface="Calibri"/>
              </a:rPr>
              <a:t>AR</a:t>
            </a:r>
            <a:r>
              <a:rPr sz="1600" b="0" i="0">
                <a:solidFill>
                  <a:srgbClr val="1F2A44"/>
                </a:solidFill>
                <a:latin typeface="Calibri"/>
              </a:rPr>
              <a:t> cartilago arytenoidea; </a:t>
            </a:r>
            <a:r>
              <a:rPr sz="1600" b="0" i="0">
                <a:solidFill>
                  <a:srgbClr val="1F2A44"/>
                </a:solidFill>
                <a:latin typeface="Calibri"/>
              </a:rPr>
              <a:t>EP</a:t>
            </a:r>
            <a:r>
              <a:rPr sz="1600" b="0" i="0">
                <a:solidFill>
                  <a:srgbClr val="1F2A44"/>
                </a:solidFill>
                <a:latin typeface="Calibri"/>
              </a:rPr>
              <a:t> epiglottis</a:t>
            </a:r>
          </a:p>
        </p:txBody>
      </p:sp>
      <p:sp>
        <p:nvSpPr>
          <p:cNvPr id="13" name="TextBox 12"/>
          <p:cNvSpPr txBox="1"/>
          <p:nvPr/>
        </p:nvSpPr>
        <p:spPr>
          <a:xfrm>
            <a:off x="6720840" y="32085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556000"/>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Sistematik boyun US'si submandibular bölgeden tiroide kadar tüm yapıları sırayla tarar.</a:t>
            </a:r>
          </a:p>
          <a:p>
            <a:pPr algn="l">
              <a:spcAft>
                <a:spcPts val="300"/>
              </a:spcAft>
            </a:pPr>
            <a:r>
              <a:rPr sz="1600" b="0" i="0">
                <a:solidFill>
                  <a:srgbClr val="1F2A44"/>
                </a:solidFill>
                <a:latin typeface="Calibri"/>
              </a:rPr>
              <a:t>• Larinks US'si ses tellerinin hareketini ve hava yolunu değerlendirmede kullanılır.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Furukawa Madoka, Hashimoto Kaori, Kitani Yuka et al. Point-of-care ultrasound in the head and neck region. J Med Ultrason (2001). 2022 Oct 26;49(4):593–600. doi: 10.1007/s10396-022-01266-8 PMCID: PMC9640455.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Tiroid bezi – normal transvers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Choi ve ark., Korean J Radiol 2014</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kjr-15-267-g001.jpg"/>
          <p:cNvPicPr>
            <a:picLocks noChangeAspect="1"/>
          </p:cNvPicPr>
          <p:nvPr/>
        </p:nvPicPr>
        <p:blipFill>
          <a:blip r:embed="rId2"/>
          <a:stretch>
            <a:fillRect/>
          </a:stretch>
        </p:blipFill>
        <p:spPr>
          <a:xfrm>
            <a:off x="274320" y="2693119"/>
            <a:ext cx="6263640" cy="1883240"/>
          </a:xfrm>
          <a:prstGeom prst="rect">
            <a:avLst/>
          </a:prstGeom>
        </p:spPr>
      </p:pic>
      <p:sp>
        <p:nvSpPr>
          <p:cNvPr id="8" name="TextBox 7"/>
          <p:cNvSpPr txBox="1"/>
          <p:nvPr/>
        </p:nvSpPr>
        <p:spPr>
          <a:xfrm>
            <a:off x="91439" y="4576360"/>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Choi Seon Hyeong ve ark., 2014 (PMC3955795, CC BY-NC)</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SCM</a:t>
            </a:r>
            <a:r>
              <a:rPr sz="1600" b="0" i="0">
                <a:solidFill>
                  <a:srgbClr val="1F2A44"/>
                </a:solidFill>
                <a:latin typeface="Calibri"/>
              </a:rPr>
              <a:t> m. sternocleidomastoideus; </a:t>
            </a:r>
            <a:r>
              <a:rPr sz="1600" b="0" i="0">
                <a:solidFill>
                  <a:srgbClr val="1F2A44"/>
                </a:solidFill>
                <a:latin typeface="Calibri"/>
              </a:rPr>
              <a:t>CCA</a:t>
            </a:r>
            <a:r>
              <a:rPr sz="1600" b="0" i="0">
                <a:solidFill>
                  <a:srgbClr val="1F2A44"/>
                </a:solidFill>
                <a:latin typeface="Calibri"/>
              </a:rPr>
              <a:t> a. carotis communis; </a:t>
            </a:r>
            <a:r>
              <a:rPr sz="1600" b="0" i="0">
                <a:solidFill>
                  <a:srgbClr val="1F2A44"/>
                </a:solidFill>
                <a:latin typeface="Calibri"/>
              </a:rPr>
              <a:t>IJV</a:t>
            </a:r>
            <a:r>
              <a:rPr sz="1600" b="0" i="0">
                <a:solidFill>
                  <a:srgbClr val="1F2A44"/>
                </a:solidFill>
                <a:latin typeface="Calibri"/>
              </a:rPr>
              <a:t> v. jugularis interna; Ant. strap m. = infrahyoid kaslar; Isthmus; Thyroid; Trachea; Longus colli m.; Esophagus</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Tiroid parankimi infrahyoid kaslardan daha ekojeniktir.</a:t>
            </a:r>
          </a:p>
          <a:p>
            <a:pPr algn="l">
              <a:spcAft>
                <a:spcPts val="300"/>
              </a:spcAft>
            </a:pPr>
            <a:r>
              <a:rPr sz="1600" b="0" i="0">
                <a:solidFill>
                  <a:srgbClr val="1F2A44"/>
                </a:solidFill>
                <a:latin typeface="Calibri"/>
              </a:rPr>
              <a:t>• Lateral loblar </a:t>
            </a:r>
            <a:r>
              <a:rPr sz="1600" b="0" i="0">
                <a:solidFill>
                  <a:srgbClr val="1F2A44"/>
                </a:solidFill>
                <a:latin typeface="Calibri"/>
              </a:rPr>
              <a:t>4–5 cm uzunluğunda, </a:t>
            </a:r>
            <a:r>
              <a:rPr sz="1600" b="0" i="0">
                <a:solidFill>
                  <a:srgbClr val="1F2A44"/>
                </a:solidFill>
                <a:latin typeface="Calibri"/>
              </a:rPr>
              <a:t>2 cm genişliğindedir; bireylerin ~%40'ında piramidal lob vardır (aktarılan).</a:t>
            </a:r>
          </a:p>
        </p:txBody>
      </p:sp>
      <p:sp>
        <p:nvSpPr>
          <p:cNvPr id="13" name="TextBox 12"/>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Choi Seon Hyeong, Kim Eun-Kyung, Kim Soo Jin et al. Thyroid Ultrasonography: Pitfalls and Techniques. Korean J Radiol. 2014 Mar 7;15(2):267–76. doi: 10.3348/kjr.2014.15.2.267 PMCID: PMC3955795.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Alar fasya – çizim ve plastinasyon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Phan ve ark., Cureus 2022 – 32 E12 plastinasyon kesiti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ureus-0014-00000032871-i01.jpg"/>
          <p:cNvPicPr>
            <a:picLocks noChangeAspect="1"/>
          </p:cNvPicPr>
          <p:nvPr/>
        </p:nvPicPr>
        <p:blipFill>
          <a:blip r:embed="rId2"/>
          <a:stretch>
            <a:fillRect/>
          </a:stretch>
        </p:blipFill>
        <p:spPr>
          <a:xfrm>
            <a:off x="274320" y="1234440"/>
            <a:ext cx="2514117" cy="2249297"/>
          </a:xfrm>
          <a:prstGeom prst="rect">
            <a:avLst/>
          </a:prstGeom>
        </p:spPr>
      </p:pic>
      <p:sp>
        <p:nvSpPr>
          <p:cNvPr id="8" name="TextBox 7"/>
          <p:cNvSpPr txBox="1"/>
          <p:nvPr/>
        </p:nvSpPr>
        <p:spPr>
          <a:xfrm>
            <a:off x="91440" y="3483737"/>
            <a:ext cx="287987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Phan Tammy ve ark., 2022 (PMC9868889, CC BY)</a:t>
            </a:r>
          </a:p>
        </p:txBody>
      </p:sp>
      <p:pic>
        <p:nvPicPr>
          <p:cNvPr id="9" name="Picture 8" descr="cureus-0014-00000032871-i02.jpg"/>
          <p:cNvPicPr>
            <a:picLocks noChangeAspect="1"/>
          </p:cNvPicPr>
          <p:nvPr/>
        </p:nvPicPr>
        <p:blipFill>
          <a:blip r:embed="rId3"/>
          <a:stretch>
            <a:fillRect/>
          </a:stretch>
        </p:blipFill>
        <p:spPr>
          <a:xfrm>
            <a:off x="2925597" y="1234440"/>
            <a:ext cx="3612362" cy="2249297"/>
          </a:xfrm>
          <a:prstGeom prst="rect">
            <a:avLst/>
          </a:prstGeom>
        </p:spPr>
      </p:pic>
      <p:sp>
        <p:nvSpPr>
          <p:cNvPr id="10" name="TextBox 9"/>
          <p:cNvSpPr txBox="1"/>
          <p:nvPr/>
        </p:nvSpPr>
        <p:spPr>
          <a:xfrm>
            <a:off x="2742717" y="3483737"/>
            <a:ext cx="397812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Phan Tammy ve ark., 2022 (PMC9868889,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Çizim (C6): ***</a:t>
            </a:r>
            <a:r>
              <a:rPr sz="1600" b="0" i="0">
                <a:solidFill>
                  <a:srgbClr val="1F2A44"/>
                </a:solidFill>
                <a:latin typeface="Calibri"/>
              </a:rPr>
              <a:t> alar fasya; </a:t>
            </a:r>
            <a:r>
              <a:rPr sz="1600" b="0" i="0">
                <a:solidFill>
                  <a:srgbClr val="1F2A44"/>
                </a:solidFill>
                <a:latin typeface="Calibri"/>
              </a:rPr>
              <a:t>RF</a:t>
            </a:r>
            <a:r>
              <a:rPr sz="1600" b="0" i="0">
                <a:solidFill>
                  <a:srgbClr val="1F2A44"/>
                </a:solidFill>
                <a:latin typeface="Calibri"/>
              </a:rPr>
              <a:t> retrofaringeal fasya; </a:t>
            </a:r>
            <a:r>
              <a:rPr sz="1600" b="0" i="0">
                <a:solidFill>
                  <a:srgbClr val="1F2A44"/>
                </a:solidFill>
                <a:latin typeface="Calibri"/>
              </a:rPr>
              <a:t>RS</a:t>
            </a:r>
            <a:r>
              <a:rPr sz="1600" b="0" i="0">
                <a:solidFill>
                  <a:srgbClr val="1F2A44"/>
                </a:solidFill>
                <a:latin typeface="Calibri"/>
              </a:rPr>
              <a:t> retrofaringeal boşluk; </a:t>
            </a:r>
            <a:r>
              <a:rPr sz="1600" b="0" i="0">
                <a:solidFill>
                  <a:srgbClr val="1F2A44"/>
                </a:solidFill>
                <a:latin typeface="Calibri"/>
              </a:rPr>
              <a:t>DS</a:t>
            </a:r>
            <a:r>
              <a:rPr sz="1600" b="0" i="0">
                <a:solidFill>
                  <a:srgbClr val="1F2A44"/>
                </a:solidFill>
                <a:latin typeface="Calibri"/>
              </a:rPr>
              <a:t> tehlike boşluğu; </a:t>
            </a:r>
            <a:r>
              <a:rPr sz="1600" b="0" i="0">
                <a:solidFill>
                  <a:srgbClr val="1F2A44"/>
                </a:solidFill>
                <a:latin typeface="Calibri"/>
              </a:rPr>
              <a:t>PVF</a:t>
            </a:r>
            <a:r>
              <a:rPr sz="1600" b="0" i="0">
                <a:solidFill>
                  <a:srgbClr val="1F2A44"/>
                </a:solidFill>
                <a:latin typeface="Calibri"/>
              </a:rPr>
              <a:t> prevertebral fasya; </a:t>
            </a:r>
            <a:r>
              <a:rPr sz="1600" b="0" i="0">
                <a:solidFill>
                  <a:srgbClr val="1F2A44"/>
                </a:solidFill>
                <a:latin typeface="Calibri"/>
              </a:rPr>
              <a:t>CS</a:t>
            </a:r>
            <a:r>
              <a:rPr sz="1600" b="0" i="0">
                <a:solidFill>
                  <a:srgbClr val="1F2A44"/>
                </a:solidFill>
                <a:latin typeface="Calibri"/>
              </a:rPr>
              <a:t> karotis kılıfı; </a:t>
            </a:r>
            <a:r>
              <a:rPr sz="1600" b="0" i="0">
                <a:solidFill>
                  <a:srgbClr val="1F2A44"/>
                </a:solidFill>
                <a:latin typeface="Calibri"/>
              </a:rPr>
              <a:t>SLDCF** derin servikal fasyanın yüzeyel yaprağı</a:t>
            </a:r>
          </a:p>
          <a:p>
            <a:pPr algn="l">
              <a:spcAft>
                <a:spcPts val="300"/>
              </a:spcAft>
            </a:pPr>
            <a:r>
              <a:rPr sz="1600" b="0" i="0">
                <a:solidFill>
                  <a:srgbClr val="1F2A44"/>
                </a:solidFill>
                <a:latin typeface="Calibri"/>
              </a:rPr>
              <a:t>• Plastinat (sagital, 4 mm): C1–C3; </a:t>
            </a:r>
            <a:r>
              <a:rPr sz="1600" b="0" i="0">
                <a:solidFill>
                  <a:srgbClr val="1F2A44"/>
                </a:solidFill>
                <a:latin typeface="Calibri"/>
              </a:rPr>
              <a:t>AAL</a:t>
            </a:r>
            <a:r>
              <a:rPr sz="1600" b="0" i="0">
                <a:solidFill>
                  <a:srgbClr val="1F2A44"/>
                </a:solidFill>
                <a:latin typeface="Calibri"/>
              </a:rPr>
              <a:t> lig. atlantoaxiale anterius; ***** alar fasya</a:t>
            </a:r>
          </a:p>
        </p:txBody>
      </p:sp>
      <p:sp>
        <p:nvSpPr>
          <p:cNvPr id="13" name="TextBox 12"/>
          <p:cNvSpPr txBox="1"/>
          <p:nvPr/>
        </p:nvSpPr>
        <p:spPr>
          <a:xfrm>
            <a:off x="6720840" y="32593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606800"/>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Alar fasya retrofaringeal boşluk ile tehlike boşluğu arasında gerçek bir fasyal tabakadır.</a:t>
            </a:r>
          </a:p>
          <a:p>
            <a:pPr algn="l">
              <a:spcAft>
                <a:spcPts val="300"/>
              </a:spcAft>
            </a:pPr>
            <a:r>
              <a:rPr sz="1600" b="0" i="0">
                <a:solidFill>
                  <a:srgbClr val="1F2A44"/>
                </a:solidFill>
                <a:latin typeface="Calibri"/>
              </a:rPr>
              <a:t>• Enfeksiyonun mediastene yayılmasına karşı fiziksel bir bariyer olabilir.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Phan Tammy, Lay Johnson, Scali Frank The Alar Fascia and Danger Space: A Modern Review. Cureus. 2022 Dec 23;14(12):e32871. doi: 10.7759/cureus.32871 PMCID: PMC9868889.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Boyun – görüntüleme tabanlı varyasyonlar: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MR, BT, BT anjiyografi ve ultrason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3063744"/>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749045">
                <a:tc>
                  <a:txBody>
                    <a:bodyPr/>
                    <a:lstStyle/>
                    <a:p>
                      <a:r>
                        <a:rPr sz="1300" b="1">
                          <a:solidFill>
                            <a:srgbClr val="1F2A44"/>
                          </a:solidFill>
                          <a:latin typeface="Calibri"/>
                        </a:rPr>
                        <a:t>Arkus aorta varyasyonları (BT)</a:t>
                      </a:r>
                    </a:p>
                  </a:txBody>
                  <a:tcPr>
                    <a:solidFill>
                      <a:srgbClr val="F3F4F6"/>
                    </a:solidFill>
                  </a:tcPr>
                </a:tc>
                <a:tc>
                  <a:txBody>
                    <a:bodyPr/>
                    <a:lstStyle/>
                    <a:p>
                      <a:r>
                        <a:rPr sz="1300" b="0">
                          <a:solidFill>
                            <a:srgbClr val="1F2A44"/>
                          </a:solidFill>
                          <a:latin typeface="Calibri"/>
                        </a:rPr>
                        <a:t>Pandalai ve ark. 2021</a:t>
                      </a:r>
                    </a:p>
                  </a:txBody>
                  <a:tcPr>
                    <a:solidFill>
                      <a:srgbClr val="F3F4F6"/>
                    </a:solidFill>
                  </a:tcPr>
                </a:tc>
                <a:tc>
                  <a:txBody>
                    <a:bodyPr/>
                    <a:lstStyle/>
                    <a:p>
                      <a:r>
                        <a:rPr sz="1300" b="0">
                          <a:solidFill>
                            <a:srgbClr val="1F2A44"/>
                          </a:solidFill>
                          <a:latin typeface="Calibri"/>
                        </a:rPr>
                        <a:t>4000 BT</a:t>
                      </a:r>
                    </a:p>
                  </a:txBody>
                  <a:tcPr>
                    <a:solidFill>
                      <a:srgbClr val="F3F4F6"/>
                    </a:solidFill>
                  </a:tcPr>
                </a:tc>
                <a:tc>
                  <a:txBody>
                    <a:bodyPr/>
                    <a:lstStyle/>
                    <a:p>
                      <a:r>
                        <a:rPr sz="1300" b="0">
                          <a:solidFill>
                            <a:srgbClr val="1F2A44"/>
                          </a:solidFill>
                          <a:latin typeface="Calibri"/>
                        </a:rPr>
                        <a:t>Varyasyon prevalansı %0,675; aberran sağ a. subclavia 7 olgu (%25,9 varyasyonlar içinde)</a:t>
                      </a:r>
                    </a:p>
                  </a:txBody>
                  <a:tcPr>
                    <a:solidFill>
                      <a:srgbClr val="F3F4F6"/>
                    </a:solidFill>
                  </a:tcPr>
                </a:tc>
                <a:tc>
                  <a:txBody>
                    <a:bodyPr/>
                    <a:lstStyle/>
                    <a:p>
                      <a:r>
                        <a:rPr sz="1300" b="0">
                          <a:solidFill>
                            <a:srgbClr val="1F2A44"/>
                          </a:solidFill>
                          <a:latin typeface="Calibri"/>
                        </a:rPr>
                        <a:t>Disfaji lusoria, cerrahi</a:t>
                      </a:r>
                    </a:p>
                  </a:txBody>
                  <a:tcPr>
                    <a:solidFill>
                      <a:srgbClr val="F3F4F6"/>
                    </a:solidFill>
                  </a:tcPr>
                </a:tc>
              </a:tr>
              <a:tr h="554227">
                <a:tc>
                  <a:txBody>
                    <a:bodyPr/>
                    <a:lstStyle/>
                    <a:p>
                      <a:r>
                        <a:rPr sz="1300" b="1">
                          <a:solidFill>
                            <a:srgbClr val="1F2A44"/>
                          </a:solidFill>
                          <a:latin typeface="Calibri"/>
                        </a:rPr>
                        <a:t>Karotis bifurkasyon düzeyi (BTA)</a:t>
                      </a:r>
                    </a:p>
                  </a:txBody>
                  <a:tcPr>
                    <a:solidFill>
                      <a:srgbClr val="FFFFFF"/>
                    </a:solidFill>
                  </a:tcPr>
                </a:tc>
                <a:tc>
                  <a:txBody>
                    <a:bodyPr/>
                    <a:lstStyle/>
                    <a:p>
                      <a:r>
                        <a:rPr sz="1300" b="0">
                          <a:solidFill>
                            <a:srgbClr val="1F2A44"/>
                          </a:solidFill>
                          <a:latin typeface="Calibri"/>
                        </a:rPr>
                        <a:t>Manta ve ark. 2024</a:t>
                      </a:r>
                    </a:p>
                  </a:txBody>
                  <a:tcPr>
                    <a:solidFill>
                      <a:srgbClr val="FFFFFF"/>
                    </a:solidFill>
                  </a:tcPr>
                </a:tc>
                <a:tc>
                  <a:txBody>
                    <a:bodyPr/>
                    <a:lstStyle/>
                    <a:p>
                      <a:r>
                        <a:rPr sz="1300" b="0">
                          <a:solidFill>
                            <a:srgbClr val="1F2A44"/>
                          </a:solidFill>
                          <a:latin typeface="Calibri"/>
                        </a:rPr>
                        <a:t>294 bifurkasyon</a:t>
                      </a:r>
                    </a:p>
                  </a:txBody>
                  <a:tcPr>
                    <a:solidFill>
                      <a:srgbClr val="FFFFFF"/>
                    </a:solidFill>
                  </a:tcPr>
                </a:tc>
                <a:tc>
                  <a:txBody>
                    <a:bodyPr/>
                    <a:lstStyle/>
                    <a:p>
                      <a:r>
                        <a:rPr sz="1300" b="0">
                          <a:solidFill>
                            <a:srgbClr val="1F2A44"/>
                          </a:solidFill>
                          <a:latin typeface="Calibri"/>
                        </a:rPr>
                        <a:t>C3 %27,21; C3/C4 %26,19; C4 %25,51; bilateral simetri %51,7</a:t>
                      </a:r>
                    </a:p>
                  </a:txBody>
                  <a:tcPr>
                    <a:solidFill>
                      <a:srgbClr val="FFFFFF"/>
                    </a:solidFill>
                  </a:tcPr>
                </a:tc>
                <a:tc>
                  <a:txBody>
                    <a:bodyPr/>
                    <a:lstStyle/>
                    <a:p>
                      <a:r>
                        <a:rPr sz="1300" b="0">
                          <a:solidFill>
                            <a:srgbClr val="1F2A44"/>
                          </a:solidFill>
                          <a:latin typeface="Calibri"/>
                        </a:rPr>
                        <a:t>Endarterektomi, boyun diseksiyonu</a:t>
                      </a:r>
                    </a:p>
                  </a:txBody>
                  <a:tcPr>
                    <a:solidFill>
                      <a:srgbClr val="FFFFFF"/>
                    </a:solidFill>
                  </a:tcPr>
                </a:tc>
              </a:tr>
              <a:tr h="554227">
                <a:tc>
                  <a:txBody>
                    <a:bodyPr/>
                    <a:lstStyle/>
                    <a:p>
                      <a:r>
                        <a:rPr sz="1300" b="1">
                          <a:solidFill>
                            <a:srgbClr val="1F2A44"/>
                          </a:solidFill>
                          <a:latin typeface="Calibri"/>
                        </a:rPr>
                        <a:t>Piramidal tiroid lobu</a:t>
                      </a:r>
                    </a:p>
                  </a:txBody>
                  <a:tcPr>
                    <a:solidFill>
                      <a:srgbClr val="F3F4F6"/>
                    </a:solidFill>
                  </a:tcPr>
                </a:tc>
                <a:tc>
                  <a:txBody>
                    <a:bodyPr/>
                    <a:lstStyle/>
                    <a:p>
                      <a:r>
                        <a:rPr sz="1300" b="0">
                          <a:solidFill>
                            <a:srgbClr val="1F2A44"/>
                          </a:solidFill>
                          <a:latin typeface="Calibri"/>
                        </a:rPr>
                        <a:t>Kim ve ark. 2015 (CC BY-NC)</a:t>
                      </a:r>
                    </a:p>
                  </a:txBody>
                  <a:tcPr>
                    <a:solidFill>
                      <a:srgbClr val="F3F4F6"/>
                    </a:solidFill>
                  </a:tcPr>
                </a:tc>
                <a:tc>
                  <a:txBody>
                    <a:bodyPr/>
                    <a:lstStyle/>
                    <a:p>
                      <a:r>
                        <a:rPr sz="1300" b="0">
                          <a:solidFill>
                            <a:srgbClr val="1F2A44"/>
                          </a:solidFill>
                          <a:latin typeface="Calibri"/>
                        </a:rPr>
                        <a:t>582 hasta (US + BT)</a:t>
                      </a:r>
                    </a:p>
                  </a:txBody>
                  <a:tcPr>
                    <a:solidFill>
                      <a:srgbClr val="F3F4F6"/>
                    </a:solidFill>
                  </a:tcPr>
                </a:tc>
                <a:tc>
                  <a:txBody>
                    <a:bodyPr/>
                    <a:lstStyle/>
                    <a:p>
                      <a:r>
                        <a:rPr sz="1300" b="0">
                          <a:solidFill>
                            <a:srgbClr val="1F2A44"/>
                          </a:solidFill>
                          <a:latin typeface="Calibri"/>
                        </a:rPr>
                        <a:t>US'de %39,5; BT'de %47,6</a:t>
                      </a:r>
                    </a:p>
                  </a:txBody>
                  <a:tcPr>
                    <a:solidFill>
                      <a:srgbClr val="F3F4F6"/>
                    </a:solidFill>
                  </a:tcPr>
                </a:tc>
                <a:tc>
                  <a:txBody>
                    <a:bodyPr/>
                    <a:lstStyle/>
                    <a:p>
                      <a:r>
                        <a:rPr sz="1300" b="0">
                          <a:solidFill>
                            <a:srgbClr val="1F2A44"/>
                          </a:solidFill>
                          <a:latin typeface="Calibri"/>
                        </a:rPr>
                        <a:t>Tiroidektomide rezidü doku</a:t>
                      </a:r>
                    </a:p>
                  </a:txBody>
                  <a:tcPr>
                    <a:solidFill>
                      <a:srgbClr val="F3F4F6"/>
                    </a:solidFill>
                  </a:tcPr>
                </a:tc>
              </a:tr>
              <a:tr h="749045">
                <a:tc>
                  <a:txBody>
                    <a:bodyPr/>
                    <a:lstStyle/>
                    <a:p>
                      <a:r>
                        <a:rPr sz="1300" b="1">
                          <a:solidFill>
                            <a:srgbClr val="1F2A44"/>
                          </a:solidFill>
                          <a:latin typeface="Calibri"/>
                        </a:rPr>
                        <a:t>Aberran sağ a. subclavia → non-rekürren larinks siniri</a:t>
                      </a:r>
                    </a:p>
                  </a:txBody>
                  <a:tcPr>
                    <a:solidFill>
                      <a:srgbClr val="FFFFFF"/>
                    </a:solidFill>
                  </a:tcPr>
                </a:tc>
                <a:tc>
                  <a:txBody>
                    <a:bodyPr/>
                    <a:lstStyle/>
                    <a:p>
                      <a:r>
                        <a:rPr sz="1300" b="0">
                          <a:solidFill>
                            <a:srgbClr val="1F2A44"/>
                          </a:solidFill>
                          <a:latin typeface="Calibri"/>
                        </a:rPr>
                        <a:t>Niu ve ark. 2016 (CC BY-NC)</a:t>
                      </a:r>
                    </a:p>
                  </a:txBody>
                  <a:tcPr>
                    <a:solidFill>
                      <a:srgbClr val="FFFFFF"/>
                    </a:solidFill>
                  </a:tcPr>
                </a:tc>
                <a:tc>
                  <a:txBody>
                    <a:bodyPr/>
                    <a:lstStyle/>
                    <a:p>
                      <a:r>
                        <a:rPr sz="1300" b="0">
                          <a:solidFill>
                            <a:srgbClr val="1F2A44"/>
                          </a:solidFill>
                          <a:latin typeface="Calibri"/>
                        </a:rPr>
                        <a:t>2697 hasta</a:t>
                      </a:r>
                    </a:p>
                  </a:txBody>
                  <a:tcPr>
                    <a:solidFill>
                      <a:srgbClr val="FFFFFF"/>
                    </a:solidFill>
                  </a:tcPr>
                </a:tc>
                <a:tc>
                  <a:txBody>
                    <a:bodyPr/>
                    <a:lstStyle/>
                    <a:p>
                      <a:r>
                        <a:rPr sz="1300" b="0">
                          <a:solidFill>
                            <a:srgbClr val="1F2A44"/>
                          </a:solidFill>
                          <a:latin typeface="Calibri"/>
                        </a:rPr>
                        <a:t>26 hasta (%0,96); hepsinde NRLN</a:t>
                      </a:r>
                    </a:p>
                  </a:txBody>
                  <a:tcPr>
                    <a:solidFill>
                      <a:srgbClr val="FFFFFF"/>
                    </a:solidFill>
                  </a:tcPr>
                </a:tc>
                <a:tc>
                  <a:txBody>
                    <a:bodyPr/>
                    <a:lstStyle/>
                    <a:p>
                      <a:r>
                        <a:rPr sz="1300" b="0">
                          <a:solidFill>
                            <a:srgbClr val="1F2A44"/>
                          </a:solidFill>
                          <a:latin typeface="Calibri"/>
                        </a:rPr>
                        <a:t>Tiroid cerrahisinde sinir yaralanması</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Arkus aorta dallanma varyasyonları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Pandalai ve ark., Cureus 2021 – 4000 BT</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cureus-0013-00000013115-i01.jpg"/>
          <p:cNvPicPr>
            <a:picLocks noChangeAspect="1"/>
          </p:cNvPicPr>
          <p:nvPr/>
        </p:nvPicPr>
        <p:blipFill>
          <a:blip r:embed="rId2"/>
          <a:stretch>
            <a:fillRect/>
          </a:stretch>
        </p:blipFill>
        <p:spPr>
          <a:xfrm>
            <a:off x="1718803" y="1234440"/>
            <a:ext cx="3374672" cy="2421327"/>
          </a:xfrm>
          <a:prstGeom prst="rect">
            <a:avLst/>
          </a:prstGeom>
        </p:spPr>
      </p:pic>
      <p:sp>
        <p:nvSpPr>
          <p:cNvPr id="8" name="TextBox 7"/>
          <p:cNvSpPr txBox="1"/>
          <p:nvPr/>
        </p:nvSpPr>
        <p:spPr>
          <a:xfrm>
            <a:off x="1535923" y="3655767"/>
            <a:ext cx="374043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Pandalai Uma ve ark., 2021 (PMC7936046, CC BY)</a:t>
            </a:r>
          </a:p>
        </p:txBody>
      </p:sp>
      <p:pic>
        <p:nvPicPr>
          <p:cNvPr id="9" name="Picture 8" descr="cureus-0013-00000013115-i03.jpg"/>
          <p:cNvPicPr>
            <a:picLocks noChangeAspect="1"/>
          </p:cNvPicPr>
          <p:nvPr/>
        </p:nvPicPr>
        <p:blipFill>
          <a:blip r:embed="rId3"/>
          <a:stretch>
            <a:fillRect/>
          </a:stretch>
        </p:blipFill>
        <p:spPr>
          <a:xfrm>
            <a:off x="1718803" y="3930087"/>
            <a:ext cx="3374672" cy="2104952"/>
          </a:xfrm>
          <a:prstGeom prst="rect">
            <a:avLst/>
          </a:prstGeom>
        </p:spPr>
      </p:pic>
      <p:sp>
        <p:nvSpPr>
          <p:cNvPr id="10" name="TextBox 9"/>
          <p:cNvSpPr txBox="1"/>
          <p:nvPr/>
        </p:nvSpPr>
        <p:spPr>
          <a:xfrm>
            <a:off x="1535923" y="6035040"/>
            <a:ext cx="374043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Pandalai Uma ve ark., 2021 (PMC7936046,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Üst: </a:t>
            </a:r>
            <a:r>
              <a:rPr sz="1600" b="0" i="0">
                <a:solidFill>
                  <a:srgbClr val="1F2A44"/>
                </a:solidFill>
                <a:latin typeface="Calibri"/>
              </a:rPr>
              <a:t>ARSA</a:t>
            </a:r>
            <a:r>
              <a:rPr sz="1600" b="0" i="0">
                <a:solidFill>
                  <a:srgbClr val="1F2A44"/>
                </a:solidFill>
                <a:latin typeface="Calibri"/>
              </a:rPr>
              <a:t> aberran sağ a. subclavia; </a:t>
            </a:r>
            <a:r>
              <a:rPr sz="1600" b="0" i="0">
                <a:solidFill>
                  <a:srgbClr val="1F2A44"/>
                </a:solidFill>
                <a:latin typeface="Calibri"/>
              </a:rPr>
              <a:t>AA</a:t>
            </a:r>
            <a:r>
              <a:rPr sz="1600" b="0" i="0">
                <a:solidFill>
                  <a:srgbClr val="1F2A44"/>
                </a:solidFill>
                <a:latin typeface="Calibri"/>
              </a:rPr>
              <a:t> arcus aortae; </a:t>
            </a:r>
            <a:r>
              <a:rPr sz="1600" b="0" i="0">
                <a:solidFill>
                  <a:srgbClr val="1F2A44"/>
                </a:solidFill>
                <a:latin typeface="Calibri"/>
              </a:rPr>
              <a:t>RCCA/LCCA</a:t>
            </a:r>
            <a:r>
              <a:rPr sz="1600" b="0" i="0">
                <a:solidFill>
                  <a:srgbClr val="1F2A44"/>
                </a:solidFill>
                <a:latin typeface="Calibri"/>
              </a:rPr>
              <a:t> sağ/sol a. carotis communis; </a:t>
            </a:r>
            <a:r>
              <a:rPr sz="1600" b="0" i="0">
                <a:solidFill>
                  <a:srgbClr val="1F2A44"/>
                </a:solidFill>
                <a:latin typeface="Calibri"/>
              </a:rPr>
              <a:t>LSA</a:t>
            </a:r>
            <a:r>
              <a:rPr sz="1600" b="0" i="0">
                <a:solidFill>
                  <a:srgbClr val="1F2A44"/>
                </a:solidFill>
                <a:latin typeface="Calibri"/>
              </a:rPr>
              <a:t> sol a. subclavia</a:t>
            </a:r>
          </a:p>
          <a:p>
            <a:pPr algn="l">
              <a:spcAft>
                <a:spcPts val="300"/>
              </a:spcAft>
            </a:pPr>
            <a:r>
              <a:rPr sz="1600" b="0" i="0">
                <a:solidFill>
                  <a:srgbClr val="1F2A44"/>
                </a:solidFill>
                <a:latin typeface="Calibri"/>
              </a:rPr>
              <a:t>• Alt: Tip 1 'bovine' arkus; </a:t>
            </a:r>
            <a:r>
              <a:rPr sz="1600" b="0" i="0">
                <a:solidFill>
                  <a:srgbClr val="1F2A44"/>
                </a:solidFill>
                <a:latin typeface="Calibri"/>
              </a:rPr>
              <a:t>BCT</a:t>
            </a:r>
            <a:r>
              <a:rPr sz="1600" b="0" i="0">
                <a:solidFill>
                  <a:srgbClr val="1F2A44"/>
                </a:solidFill>
                <a:latin typeface="Calibri"/>
              </a:rPr>
              <a:t> truncus brachiocephalicus; </a:t>
            </a:r>
            <a:r>
              <a:rPr sz="1600" b="0" i="0">
                <a:solidFill>
                  <a:srgbClr val="1F2A44"/>
                </a:solidFill>
                <a:latin typeface="Calibri"/>
              </a:rPr>
              <a:t>RVA/LVA</a:t>
            </a:r>
            <a:r>
              <a:rPr sz="1600" b="0" i="0">
                <a:solidFill>
                  <a:srgbClr val="1F2A44"/>
                </a:solidFill>
                <a:latin typeface="Calibri"/>
              </a:rPr>
              <a:t> sağ/sol a. vertebralis</a:t>
            </a:r>
          </a:p>
        </p:txBody>
      </p:sp>
      <p:sp>
        <p:nvSpPr>
          <p:cNvPr id="13" name="TextBox 12"/>
          <p:cNvSpPr txBox="1"/>
          <p:nvPr/>
        </p:nvSpPr>
        <p:spPr>
          <a:xfrm>
            <a:off x="6720840" y="30195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367024"/>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4000 BT'de varyasyon prevalansı %0,675 (27 olgu); bunların 7'si aberran sağ a. subclavia.</a:t>
            </a:r>
          </a:p>
          <a:p>
            <a:pPr algn="l">
              <a:spcAft>
                <a:spcPts val="300"/>
              </a:spcAft>
            </a:pPr>
            <a:r>
              <a:rPr sz="1600" b="0" i="0">
                <a:solidFill>
                  <a:srgbClr val="1F2A44"/>
                </a:solidFill>
                <a:latin typeface="Calibri"/>
              </a:rPr>
              <a:t>• ARSA özofagusun arkasından geçer (disfaji lusoria) ve non-rekürren larinks siniriyle ilişkilidir.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Pandalai Uma, Pillay Minnie, Moorthy Srikanth et al. Anatomical Variations of the Aortic Arch: A Computerized Tomography-Based Study. Cureus. 2021 Feb 3;13(2):e13115. doi: 10.7759/cureus.13115 PMCID: PMC7936046.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Karotis bifurkasyonunun düzeyi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Manta ve ark., Surg Radiol Anat 2024 – BT anjiyografi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276_2024_3404_Fig1_HTML.jpg"/>
          <p:cNvPicPr>
            <a:picLocks noChangeAspect="1"/>
          </p:cNvPicPr>
          <p:nvPr/>
        </p:nvPicPr>
        <p:blipFill>
          <a:blip r:embed="rId2"/>
          <a:stretch>
            <a:fillRect/>
          </a:stretch>
        </p:blipFill>
        <p:spPr>
          <a:xfrm>
            <a:off x="274320" y="1234440"/>
            <a:ext cx="3139647" cy="1970873"/>
          </a:xfrm>
          <a:prstGeom prst="rect">
            <a:avLst/>
          </a:prstGeom>
        </p:spPr>
      </p:pic>
      <p:sp>
        <p:nvSpPr>
          <p:cNvPr id="8" name="TextBox 7"/>
          <p:cNvSpPr txBox="1"/>
          <p:nvPr/>
        </p:nvSpPr>
        <p:spPr>
          <a:xfrm>
            <a:off x="91439" y="3205313"/>
            <a:ext cx="350540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Manta Mihaela Daniela ve ark., 2024 (PMC11246274, CC BY)</a:t>
            </a:r>
          </a:p>
        </p:txBody>
      </p:sp>
      <p:pic>
        <p:nvPicPr>
          <p:cNvPr id="9" name="Picture 8" descr="276_2024_3404_Fig6_HTML.jpg"/>
          <p:cNvPicPr>
            <a:picLocks noChangeAspect="1"/>
          </p:cNvPicPr>
          <p:nvPr/>
        </p:nvPicPr>
        <p:blipFill>
          <a:blip r:embed="rId3"/>
          <a:stretch>
            <a:fillRect/>
          </a:stretch>
        </p:blipFill>
        <p:spPr>
          <a:xfrm>
            <a:off x="3551127" y="1234440"/>
            <a:ext cx="2986832" cy="1970873"/>
          </a:xfrm>
          <a:prstGeom prst="rect">
            <a:avLst/>
          </a:prstGeom>
        </p:spPr>
      </p:pic>
      <p:sp>
        <p:nvSpPr>
          <p:cNvPr id="10" name="TextBox 9"/>
          <p:cNvSpPr txBox="1"/>
          <p:nvPr/>
        </p:nvSpPr>
        <p:spPr>
          <a:xfrm>
            <a:off x="3368247" y="3205313"/>
            <a:ext cx="335259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6 – Manta Mihaela Daniela ve ark., 2024 (PMC11246274,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871471"/>
          </a:xfrm>
          <a:prstGeom prst="rect">
            <a:avLst/>
          </a:prstGeom>
          <a:noFill/>
        </p:spPr>
        <p:txBody>
          <a:bodyPr wrap="square">
            <a:spAutoFit/>
          </a:bodyPr>
          <a:lstStyle/>
          <a:p>
            <a:pPr algn="l">
              <a:spcAft>
                <a:spcPts val="300"/>
              </a:spcAft>
            </a:pPr>
            <a:r>
              <a:rPr sz="1600" b="0" i="0">
                <a:solidFill>
                  <a:srgbClr val="1F2A44"/>
                </a:solidFill>
                <a:latin typeface="Calibri"/>
              </a:rPr>
              <a:t>• Sol: (a) yüksek bifurkasyon (C2 ve C2/C3), (b) düşük bifurkasyon (C5) – 1 sağ bifurkasyon, 2 C3, 3 hyoid gövdesi, 4 atlas ön arkı, 5 axis, 6 sol bifurkasyon</a:t>
            </a:r>
          </a:p>
          <a:p>
            <a:pPr algn="l">
              <a:spcAft>
                <a:spcPts val="300"/>
              </a:spcAft>
            </a:pPr>
            <a:r>
              <a:rPr sz="1600" b="0" i="0">
                <a:solidFill>
                  <a:srgbClr val="1F2A44"/>
                </a:solidFill>
                <a:latin typeface="Calibri"/>
              </a:rPr>
              <a:t>• Sağ: düşük bilateral bifurkasyon (oklar) ve normal düzey; 1 proc. styloideus, 2 a. carotis interna, 3 a. carotis externa, 4 a. facialis</a:t>
            </a:r>
          </a:p>
        </p:txBody>
      </p:sp>
      <p:sp>
        <p:nvSpPr>
          <p:cNvPr id="13" name="TextBox 12"/>
          <p:cNvSpPr txBox="1"/>
          <p:nvPr/>
        </p:nvSpPr>
        <p:spPr>
          <a:xfrm>
            <a:off x="6720840" y="3499103"/>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846575"/>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En sık düzeyler: C3 %27,21, C3/C4 %26,19, C4 %25,51; bilateral simetri %51,7.</a:t>
            </a:r>
          </a:p>
          <a:p>
            <a:pPr algn="l">
              <a:spcAft>
                <a:spcPts val="300"/>
              </a:spcAft>
            </a:pPr>
            <a:r>
              <a:rPr sz="1600" b="0" i="0">
                <a:solidFill>
                  <a:srgbClr val="1F2A44"/>
                </a:solidFill>
                <a:latin typeface="Calibri"/>
              </a:rPr>
              <a:t>• Bifurkasyonun yüksekliği karotis endarterektomisi ve stent planlamasını etkiler.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Manta Mihaela Daniela, Rusu Mugurel Constantin, Hostiuc Sorin et al. The vertical topography of the carotid bifurcation – original study and review. Surg Radiol Anat. 2024 Jun 7;46(8):1253–63. doi: 10.1007/s00276-024-03404-y PMCID: PMC11246274.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Piramidal tiroid lobu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Kim ve ark., Korean J Radiol 2015 – US ve BT</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kjr-16-402-g001.jpg"/>
          <p:cNvPicPr>
            <a:picLocks noChangeAspect="1"/>
          </p:cNvPicPr>
          <p:nvPr/>
        </p:nvPicPr>
        <p:blipFill>
          <a:blip r:embed="rId2"/>
          <a:stretch>
            <a:fillRect/>
          </a:stretch>
        </p:blipFill>
        <p:spPr>
          <a:xfrm>
            <a:off x="458794" y="1234440"/>
            <a:ext cx="5894690" cy="4800600"/>
          </a:xfrm>
          <a:prstGeom prst="rect">
            <a:avLst/>
          </a:prstGeom>
        </p:spPr>
      </p:pic>
      <p:sp>
        <p:nvSpPr>
          <p:cNvPr id="8" name="TextBox 7"/>
          <p:cNvSpPr txBox="1"/>
          <p:nvPr/>
        </p:nvSpPr>
        <p:spPr>
          <a:xfrm>
            <a:off x="275914" y="6035040"/>
            <a:ext cx="626045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Kim Dong Wook ve ark., 2015 (PMC4347276, CC BY-NC)</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Transvers (A) ve longitudinal (B) US ile kontrastsız (C) ve kontrastlı (D) BT'de sol piramidal lob (oklar); ana tiroid bezi (ok başları)</a:t>
            </a:r>
          </a:p>
        </p:txBody>
      </p:sp>
      <p:sp>
        <p:nvSpPr>
          <p:cNvPr id="11" name="TextBox 10"/>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83667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Piramidal lob US'de %39,5, BT'de %47,6 oranında saptanmış; merkezler arasında %22–59.</a:t>
            </a:r>
          </a:p>
          <a:p>
            <a:pPr algn="l">
              <a:spcAft>
                <a:spcPts val="300"/>
              </a:spcAft>
            </a:pPr>
            <a:r>
              <a:rPr sz="1600" b="0" i="0">
                <a:solidFill>
                  <a:srgbClr val="1F2A44"/>
                </a:solidFill>
                <a:latin typeface="Calibri"/>
              </a:rPr>
              <a:t>• Total tiroidektomide gözden kaçarsa rezidü doku/nüks kaynağı olur.</a:t>
            </a:r>
          </a:p>
        </p:txBody>
      </p:sp>
      <p:sp>
        <p:nvSpPr>
          <p:cNvPr id="13" name="TextBox 12"/>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Kim Dong Wook, Jung So Lyung, Kim Jinna et al. Comparison between Ultrasonography and Computed Tomography for Detecting the Pyramidal Lobe of the Thyroid Gland: A Prospective Multicenter Study. Korean J Radiol. 2015 Feb 27;16(2):402–9. doi: 10.3348/kjr.2015.16.2.402 PMCID: PMC4347276.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Aberran sağ a. subclavia ve non-rekürren larinks siniri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Niu ve ark., Thorac Cancer 2016 – 2697 hasta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BOYUN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TCA-8-46-g001.jpg"/>
          <p:cNvPicPr>
            <a:picLocks noChangeAspect="1"/>
          </p:cNvPicPr>
          <p:nvPr/>
        </p:nvPicPr>
        <p:blipFill>
          <a:blip r:embed="rId2"/>
          <a:stretch>
            <a:fillRect/>
          </a:stretch>
        </p:blipFill>
        <p:spPr>
          <a:xfrm>
            <a:off x="274320" y="1965024"/>
            <a:ext cx="6263640" cy="3339430"/>
          </a:xfrm>
          <a:prstGeom prst="rect">
            <a:avLst/>
          </a:prstGeom>
        </p:spPr>
      </p:pic>
      <p:sp>
        <p:nvSpPr>
          <p:cNvPr id="8" name="TextBox 7"/>
          <p:cNvSpPr txBox="1"/>
          <p:nvPr/>
        </p:nvSpPr>
        <p:spPr>
          <a:xfrm>
            <a:off x="91439" y="5304455"/>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Niu Zhong‐Xi ve ark., 2016 (PMC5217945, CC BY-NC)</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 arkus aortadan son dal olarak çıkan, (b) orta hattı geçen, (c) özofagus arkasından (kısa ok) seyreden (d) sağ aksillaya ulaşan aberran sağ a. subclavia (uzun ok)</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2697 hastanın 26'sında (%0,96) ARSA; hepsinde ameliyatta non-rekürren larinks siniri doğrulanmıştır.</a:t>
            </a:r>
          </a:p>
          <a:p>
            <a:pPr algn="l">
              <a:spcAft>
                <a:spcPts val="300"/>
              </a:spcAft>
            </a:pPr>
            <a:r>
              <a:rPr sz="1600" b="0" i="0">
                <a:solidFill>
                  <a:srgbClr val="1F2A44"/>
                </a:solidFill>
                <a:latin typeface="Calibri"/>
              </a:rPr>
              <a:t>• Ameliyat öncesi BT'de ARSA görülmesi sinir yaralanmasını önlemek için güçlü bir uyarıdır.</a:t>
            </a:r>
          </a:p>
        </p:txBody>
      </p:sp>
      <p:sp>
        <p:nvSpPr>
          <p:cNvPr id="13" name="TextBox 12"/>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Niu Zhong‐Xi, Zhang Hang, Chen Long‐Qi et al. Preoperative computed tomography diagnosis of non‐recurrent laryngeal nerve in patients with esophageal carcinoma. Thorac Cancer. 2016 Dec 2;8(1):46–50. doi: 10.1111/1759-7714.12409 PMCID: PMC5217945.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Sınırlılıklar ve kalite kontrol</a:t>
            </a:r>
          </a:p>
        </p:txBody>
      </p:sp>
      <p:sp>
        <p:nvSpPr>
          <p:cNvPr id="4" name="TextBox 3"/>
          <p:cNvSpPr txBox="1"/>
          <p:nvPr/>
        </p:nvSpPr>
        <p:spPr>
          <a:xfrm>
            <a:off x="411480" y="1188720"/>
            <a:ext cx="11338560" cy="5029200"/>
          </a:xfrm>
          <a:prstGeom prst="rect">
            <a:avLst/>
          </a:prstGeom>
          <a:noFill/>
        </p:spPr>
        <p:txBody>
          <a:bodyPr wrap="square">
            <a:spAutoFit/>
          </a:bodyPr>
          <a:lstStyle/>
          <a:p>
            <a:pPr algn="l">
              <a:spcAft>
                <a:spcPts val="300"/>
              </a:spcAft>
            </a:pPr>
            <a:r>
              <a:rPr sz="1600" b="0" i="0">
                <a:solidFill>
                  <a:srgbClr val="1F2A44"/>
                </a:solidFill>
                <a:latin typeface="Calibri"/>
              </a:rPr>
              <a:t>• Kriyokesit, BT ve MR aynı NLM kesit numarasını taşır; MR (m_vm####) 5 mm aralıkla yalnız baş bölgesini (≤1165) kapsar. Hizalama yalnız öteleme ile yapılmıştır (Dice BT 0,95–0,99; MR 0,85–0,99).</a:t>
            </a:r>
          </a:p>
          <a:p>
            <a:pPr algn="l">
              <a:spcAft>
                <a:spcPts val="300"/>
              </a:spcAft>
            </a:pPr>
            <a:r>
              <a:rPr sz="1600" b="0" i="0">
                <a:solidFill>
                  <a:srgbClr val="1F2A44"/>
                </a:solidFill>
                <a:latin typeface="Calibri"/>
              </a:rPr>
              <a:t>• Baş bölgesinde donmuş BT piksel boyutu 0,527 mm, boyun kökünde 0,781 mm'dir; hizalamada gerçek piksel boyutu kullanılmıştır.</a:t>
            </a:r>
          </a:p>
          <a:p>
            <a:pPr algn="l">
              <a:spcAft>
                <a:spcPts val="300"/>
              </a:spcAft>
            </a:pPr>
            <a:r>
              <a:rPr sz="1600" b="0" i="0">
                <a:solidFill>
                  <a:srgbClr val="1F2A44"/>
                </a:solidFill>
                <a:latin typeface="Calibri"/>
              </a:rPr>
              <a:t>• Kadavra başı hafif eğik kesildiğinden bazı düzeylerde sağ ve sol taraf farklı yapıları gösterir.</a:t>
            </a:r>
          </a:p>
          <a:p>
            <a:pPr algn="l">
              <a:spcAft>
                <a:spcPts val="300"/>
              </a:spcAft>
            </a:pPr>
            <a:r>
              <a:rPr sz="1600" b="0" i="0">
                <a:solidFill>
                  <a:srgbClr val="1F2A44"/>
                </a:solidFill>
                <a:latin typeface="Calibri"/>
              </a:rPr>
              <a:t>• Etiketler gözle tanımlanmıştır; ventrikül ve çekirdek sınırları kadavrada değişmiş olabilir. Bir anatomi/radyoloji öğretim üyesince gözden geçirilmesi önerilir.</a:t>
            </a:r>
          </a:p>
          <a:p>
            <a:pPr algn="l">
              <a:spcAft>
                <a:spcPts val="300"/>
              </a:spcAft>
            </a:pPr>
            <a:r>
              <a:rPr sz="1600" b="0" i="0">
                <a:solidFill>
                  <a:srgbClr val="1F2A44"/>
                </a:solidFill>
                <a:latin typeface="Calibri"/>
              </a:rPr>
              <a:t>• Açık lisanslı etiketli normal larinks BT/MR, ostiyomeatal kompleks ve boyun fasyası kadavra fotoğrafı bulunamadı; bazı görseller CC BY-NC(-SA) lisanslıdır (slaytlarda belirtilmiştir).</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(1)</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Donatelli Graziella, Emmi Aron, Costagli Mauro et al. Brainstem anatomy with 7-T MRI: in vivo assessment and ex vivo comparison. </a:t>
            </a:r>
            <a:r>
              <a:rPr sz="1300" b="0" i="0">
                <a:solidFill>
                  <a:srgbClr val="1F2A44"/>
                </a:solidFill>
                <a:latin typeface="Calibri"/>
              </a:rPr>
              <a:t>European Radiology Experimental</a:t>
            </a:r>
            <a:r>
              <a:rPr sz="1300" b="0" i="0">
                <a:solidFill>
                  <a:srgbClr val="1F2A44"/>
                </a:solidFill>
                <a:latin typeface="Calibri"/>
              </a:rPr>
              <a:t> 2023. doi:10.1186/s41747-023-00389-y – PMC10651583 – </a:t>
            </a:r>
            <a:r>
              <a:rPr sz="1300" b="0" i="0">
                <a:solidFill>
                  <a:srgbClr val="1F2A44"/>
                </a:solidFill>
                <a:latin typeface="Calibri"/>
              </a:rPr>
              <a:t>CC BY</a:t>
            </a:r>
          </a:p>
          <a:p>
            <a:pPr algn="l">
              <a:spcAft>
                <a:spcPts val="300"/>
              </a:spcAft>
            </a:pPr>
            <a:r>
              <a:rPr sz="1300" b="0" i="0">
                <a:solidFill>
                  <a:srgbClr val="1F2A44"/>
                </a:solidFill>
                <a:latin typeface="Calibri"/>
              </a:rPr>
              <a:t>• Dekeyzer Sven, De Kock Isabelle, Nikoubashman Omid et al. “Unforgettable” – a pictorial essay on anatomy and pathology of the hippocampus. </a:t>
            </a:r>
            <a:r>
              <a:rPr sz="1300" b="0" i="0">
                <a:solidFill>
                  <a:srgbClr val="1F2A44"/>
                </a:solidFill>
                <a:latin typeface="Calibri"/>
              </a:rPr>
              <a:t>Insights into Imaging</a:t>
            </a:r>
            <a:r>
              <a:rPr sz="1300" b="0" i="0">
                <a:solidFill>
                  <a:srgbClr val="1F2A44"/>
                </a:solidFill>
                <a:latin typeface="Calibri"/>
              </a:rPr>
              <a:t> 2017. doi:10.1007/s13244-016-0541-2 – PMC5359145 – </a:t>
            </a:r>
            <a:r>
              <a:rPr sz="1300" b="0" i="0">
                <a:solidFill>
                  <a:srgbClr val="1F2A44"/>
                </a:solidFill>
                <a:latin typeface="Calibri"/>
              </a:rPr>
              <a:t>CC BY</a:t>
            </a:r>
          </a:p>
          <a:p>
            <a:pPr algn="l">
              <a:spcAft>
                <a:spcPts val="300"/>
              </a:spcAft>
            </a:pPr>
            <a:r>
              <a:rPr sz="1300" b="0" i="0">
                <a:solidFill>
                  <a:srgbClr val="1F2A44"/>
                </a:solidFill>
                <a:latin typeface="Calibri"/>
              </a:rPr>
              <a:t>• Romano Nicola, Federici Margherita, Castaldi Antonio Imaging of cranial nerves: a pictorial overview. </a:t>
            </a:r>
            <a:r>
              <a:rPr sz="1300" b="0" i="0">
                <a:solidFill>
                  <a:srgbClr val="1F2A44"/>
                </a:solidFill>
                <a:latin typeface="Calibri"/>
              </a:rPr>
              <a:t>Insights into Imaging</a:t>
            </a:r>
            <a:r>
              <a:rPr sz="1300" b="0" i="0">
                <a:solidFill>
                  <a:srgbClr val="1F2A44"/>
                </a:solidFill>
                <a:latin typeface="Calibri"/>
              </a:rPr>
              <a:t> 2019. doi:10.1186/s13244-019-0719-5 – PMC6420596 – </a:t>
            </a:r>
            <a:r>
              <a:rPr sz="1300" b="0" i="0">
                <a:solidFill>
                  <a:srgbClr val="1F2A44"/>
                </a:solidFill>
                <a:latin typeface="Calibri"/>
              </a:rPr>
              <a:t>CC BY</a:t>
            </a:r>
          </a:p>
          <a:p>
            <a:pPr algn="l">
              <a:spcAft>
                <a:spcPts val="300"/>
              </a:spcAft>
            </a:pPr>
            <a:r>
              <a:rPr sz="1300" b="0" i="0">
                <a:solidFill>
                  <a:srgbClr val="1F2A44"/>
                </a:solidFill>
                <a:latin typeface="Calibri"/>
              </a:rPr>
              <a:t>• Tamanini João Vitor Gerdulli, Hora Raphael Pinheiro Camurugy da, Soares Luís Gustavo Biondi et al. A journey through the anatomy of the cerebellum. </a:t>
            </a:r>
            <a:r>
              <a:rPr sz="1300" b="0" i="0">
                <a:solidFill>
                  <a:srgbClr val="1F2A44"/>
                </a:solidFill>
                <a:latin typeface="Calibri"/>
              </a:rPr>
              <a:t>Arquivos de Neuro-Psiquiatria</a:t>
            </a:r>
            <a:r>
              <a:rPr sz="1300" b="0" i="0">
                <a:solidFill>
                  <a:srgbClr val="1F2A44"/>
                </a:solidFill>
                <a:latin typeface="Calibri"/>
              </a:rPr>
              <a:t> 2025. doi:10.1055/s-0045-1814379 – PMC12721976 – </a:t>
            </a:r>
            <a:r>
              <a:rPr sz="1300" b="0" i="0">
                <a:solidFill>
                  <a:srgbClr val="1F2A44"/>
                </a:solidFill>
                <a:latin typeface="Calibri"/>
              </a:rPr>
              <a:t>CC BY</a:t>
            </a:r>
          </a:p>
          <a:p>
            <a:pPr algn="l">
              <a:spcAft>
                <a:spcPts val="300"/>
              </a:spcAft>
            </a:pPr>
            <a:r>
              <a:rPr sz="1300" b="0" i="0">
                <a:solidFill>
                  <a:srgbClr val="1F2A44"/>
                </a:solidFill>
                <a:latin typeface="Calibri"/>
              </a:rPr>
              <a:t>• Machasio Roy Munialo, Nyabanda Rose, Mutala Timothy Musila Proportion of Variant Anatomy of the Circle of Willis and Association with Vascular Anomalies on Cerebral CT Angiography. </a:t>
            </a:r>
            <a:r>
              <a:rPr sz="1300" b="0" i="0">
                <a:solidFill>
                  <a:srgbClr val="1F2A44"/>
                </a:solidFill>
                <a:latin typeface="Calibri"/>
              </a:rPr>
              <a:t>Radiology Research and Practice</a:t>
            </a:r>
            <a:r>
              <a:rPr sz="1300" b="0" i="0">
                <a:solidFill>
                  <a:srgbClr val="1F2A44"/>
                </a:solidFill>
                <a:latin typeface="Calibri"/>
              </a:rPr>
              <a:t> 2019. doi:10.1155/2019/6380801 – PMC6601480 – </a:t>
            </a:r>
            <a:r>
              <a:rPr sz="1300" b="0" i="0">
                <a:solidFill>
                  <a:srgbClr val="1F2A44"/>
                </a:solidFill>
                <a:latin typeface="Calibri"/>
              </a:rPr>
              <a:t>CC BY</a:t>
            </a:r>
          </a:p>
          <a:p>
            <a:pPr algn="l">
              <a:spcAft>
                <a:spcPts val="300"/>
              </a:spcAft>
            </a:pPr>
            <a:r>
              <a:rPr sz="1300" b="0" i="0">
                <a:solidFill>
                  <a:srgbClr val="1F2A44"/>
                </a:solidFill>
                <a:latin typeface="Calibri"/>
              </a:rPr>
              <a:t>• Lara Frances Rodriguez, Scruton Ashlea Lynn, Pinheiro Adlin et al. Aging, prevalence and risk factors of MRI-visible enlarged perivascular spaces. </a:t>
            </a:r>
            <a:r>
              <a:rPr sz="1300" b="0" i="0">
                <a:solidFill>
                  <a:srgbClr val="1F2A44"/>
                </a:solidFill>
                <a:latin typeface="Calibri"/>
              </a:rPr>
              <a:t>Aging (Albany NY)</a:t>
            </a:r>
            <a:r>
              <a:rPr sz="1300" b="0" i="0">
                <a:solidFill>
                  <a:srgbClr val="1F2A44"/>
                </a:solidFill>
                <a:latin typeface="Calibri"/>
              </a:rPr>
              <a:t> 2022. doi:10.18632/aging.204181 – PMC9512514 – </a:t>
            </a:r>
            <a:r>
              <a:rPr sz="1300" b="0" i="0">
                <a:solidFill>
                  <a:srgbClr val="1F2A44"/>
                </a:solidFill>
                <a:latin typeface="Calibri"/>
              </a:rPr>
              <a:t>CC BY</a:t>
            </a:r>
          </a:p>
          <a:p>
            <a:pPr algn="l">
              <a:spcAft>
                <a:spcPts val="300"/>
              </a:spcAft>
            </a:pPr>
            <a:r>
              <a:rPr sz="1300" b="0" i="0">
                <a:solidFill>
                  <a:srgbClr val="1F2A44"/>
                </a:solidFill>
                <a:latin typeface="Calibri"/>
              </a:rPr>
              <a:t>• Rios Andrew, Alier Achok, Aneja Mihir et al. High-resolution segmentation of the cavum septum pellucidum in young adult human brains. </a:t>
            </a:r>
            <a:r>
              <a:rPr sz="1300" b="0" i="0">
                <a:solidFill>
                  <a:srgbClr val="1F2A44"/>
                </a:solidFill>
                <a:latin typeface="Calibri"/>
              </a:rPr>
              <a:t>Frontiers in Neuroanatomy</a:t>
            </a:r>
            <a:r>
              <a:rPr sz="1300" b="0" i="0">
                <a:solidFill>
                  <a:srgbClr val="1F2A44"/>
                </a:solidFill>
                <a:latin typeface="Calibri"/>
              </a:rPr>
              <a:t> 2025. doi:10.3389/fnana.2025.1566762 – PMC12131514 – </a:t>
            </a:r>
            <a:r>
              <a:rPr sz="1300" b="0" i="0">
                <a:solidFill>
                  <a:srgbClr val="1F2A44"/>
                </a:solidFill>
                <a:latin typeface="Calibri"/>
              </a:rPr>
              <a:t>CC BY</a:t>
            </a:r>
          </a:p>
          <a:p>
            <a:pPr algn="l">
              <a:spcAft>
                <a:spcPts val="300"/>
              </a:spcAft>
            </a:pPr>
            <a:r>
              <a:rPr sz="1300" b="0" i="0">
                <a:solidFill>
                  <a:srgbClr val="1F2A44"/>
                </a:solidFill>
                <a:latin typeface="Calibri"/>
              </a:rPr>
              <a:t>• Maillot Olivier, Attyé Arnaud, Boyer Eric et al. Post traumatic deafness: a pictorial review of CT and MRI findings. </a:t>
            </a:r>
            <a:r>
              <a:rPr sz="1300" b="0" i="0">
                <a:solidFill>
                  <a:srgbClr val="1F2A44"/>
                </a:solidFill>
                <a:latin typeface="Calibri"/>
              </a:rPr>
              <a:t>Insights into Imaging</a:t>
            </a:r>
            <a:r>
              <a:rPr sz="1300" b="0" i="0">
                <a:solidFill>
                  <a:srgbClr val="1F2A44"/>
                </a:solidFill>
                <a:latin typeface="Calibri"/>
              </a:rPr>
              <a:t> 2016. doi:10.1007/s13244-016-0490-9 – PMC4877355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(2)</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Rana Khizar, Juniat Valerie, Rayan Aaron et al. Normative measurements of orbital structures by magnetic resonance imaging. </a:t>
            </a:r>
            <a:r>
              <a:rPr sz="1300" b="0" i="0">
                <a:solidFill>
                  <a:srgbClr val="1F2A44"/>
                </a:solidFill>
                <a:latin typeface="Calibri"/>
              </a:rPr>
              <a:t>International Ophthalmology</a:t>
            </a:r>
            <a:r>
              <a:rPr sz="1300" b="0" i="0">
                <a:solidFill>
                  <a:srgbClr val="1F2A44"/>
                </a:solidFill>
                <a:latin typeface="Calibri"/>
              </a:rPr>
              <a:t> 2022. doi:10.1007/s10792-022-02407-1 – PMC9617817 – </a:t>
            </a:r>
            <a:r>
              <a:rPr sz="1300" b="0" i="0">
                <a:solidFill>
                  <a:srgbClr val="1F2A44"/>
                </a:solidFill>
                <a:latin typeface="Calibri"/>
              </a:rPr>
              <a:t>CC BY</a:t>
            </a:r>
          </a:p>
          <a:p>
            <a:pPr algn="l">
              <a:spcAft>
                <a:spcPts val="300"/>
              </a:spcAft>
            </a:pPr>
            <a:r>
              <a:rPr sz="1300" b="0" i="0">
                <a:solidFill>
                  <a:srgbClr val="1F2A44"/>
                </a:solidFill>
                <a:latin typeface="Calibri"/>
              </a:rPr>
              <a:t>• Ribeiro Bruno Niemeyer de Freitas, Muniz Bernardo Carvalho, Marchiori Edson Preoperative computed tomography evaluation of the paranasal sinuses: what should the physician know? - pictorial essay. </a:t>
            </a:r>
            <a:r>
              <a:rPr sz="1300" b="0" i="0">
                <a:solidFill>
                  <a:srgbClr val="1F2A44"/>
                </a:solidFill>
                <a:latin typeface="Calibri"/>
              </a:rPr>
              <a:t>Radiologia Brasileira</a:t>
            </a:r>
            <a:r>
              <a:rPr sz="1300" b="0" i="0">
                <a:solidFill>
                  <a:srgbClr val="1F2A44"/>
                </a:solidFill>
                <a:latin typeface="Calibri"/>
              </a:rPr>
              <a:t> 2019. doi:10.1590/0100-3984.2017.0082 – PMC6472854 – </a:t>
            </a:r>
            <a:r>
              <a:rPr sz="1300" b="0" i="0">
                <a:solidFill>
                  <a:srgbClr val="1F2A44"/>
                </a:solidFill>
                <a:latin typeface="Calibri"/>
              </a:rPr>
              <a:t>CC BY</a:t>
            </a:r>
          </a:p>
          <a:p>
            <a:pPr algn="l">
              <a:spcAft>
                <a:spcPts val="300"/>
              </a:spcAft>
            </a:pPr>
            <a:r>
              <a:rPr sz="1300" b="0" i="0">
                <a:solidFill>
                  <a:srgbClr val="1F2A44"/>
                </a:solidFill>
                <a:latin typeface="Calibri"/>
              </a:rPr>
              <a:t>• Almushayti Ziyad A, Almutairi Abdulhakeem N, Almushayti Mohammed A et al. Evaluation of the Keros Classification of Olfactory Fossa by CT Scan in Qassim Region. </a:t>
            </a:r>
            <a:r>
              <a:rPr sz="1300" b="0" i="0">
                <a:solidFill>
                  <a:srgbClr val="1F2A44"/>
                </a:solidFill>
                <a:latin typeface="Calibri"/>
              </a:rPr>
              <a:t>Cureus</a:t>
            </a:r>
            <a:r>
              <a:rPr sz="1300" b="0" i="0">
                <a:solidFill>
                  <a:srgbClr val="1F2A44"/>
                </a:solidFill>
                <a:latin typeface="Calibri"/>
              </a:rPr>
              <a:t> 2022. doi:10.7759/cureus.22378 – PMC8935634 – </a:t>
            </a:r>
            <a:r>
              <a:rPr sz="1300" b="0" i="0">
                <a:solidFill>
                  <a:srgbClr val="1F2A44"/>
                </a:solidFill>
                <a:latin typeface="Calibri"/>
              </a:rPr>
              <a:t>CC BY</a:t>
            </a:r>
          </a:p>
          <a:p>
            <a:pPr algn="l">
              <a:spcAft>
                <a:spcPts val="300"/>
              </a:spcAft>
            </a:pPr>
            <a:r>
              <a:rPr sz="1300" b="0" i="0">
                <a:solidFill>
                  <a:srgbClr val="1F2A44"/>
                </a:solidFill>
                <a:latin typeface="Calibri"/>
              </a:rPr>
              <a:t>• Subbiah Nandha Kumar, Bakshi Satvinder S, Arumugam Sangeetha et al. Clinical and Radiological Significance of Anatomical Variations in Paranasal Sinuses: A Retrospective CT-Based Study. </a:t>
            </a:r>
            <a:r>
              <a:rPr sz="1300" b="0" i="0">
                <a:solidFill>
                  <a:srgbClr val="1F2A44"/>
                </a:solidFill>
                <a:latin typeface="Calibri"/>
              </a:rPr>
              <a:t>Cureus</a:t>
            </a:r>
            <a:r>
              <a:rPr sz="1300" b="0" i="0">
                <a:solidFill>
                  <a:srgbClr val="1F2A44"/>
                </a:solidFill>
                <a:latin typeface="Calibri"/>
              </a:rPr>
              <a:t> 2025. doi:10.7759/cureus.82506 – PMC12085865 – </a:t>
            </a:r>
            <a:r>
              <a:rPr sz="1300" b="0" i="0">
                <a:solidFill>
                  <a:srgbClr val="1F2A44"/>
                </a:solidFill>
                <a:latin typeface="Calibri"/>
              </a:rPr>
              <a:t>CC BY</a:t>
            </a:r>
          </a:p>
          <a:p>
            <a:pPr algn="l">
              <a:spcAft>
                <a:spcPts val="300"/>
              </a:spcAft>
            </a:pPr>
            <a:r>
              <a:rPr sz="1300" b="0" i="0">
                <a:solidFill>
                  <a:srgbClr val="1F2A44"/>
                </a:solidFill>
                <a:latin typeface="Calibri"/>
              </a:rPr>
              <a:t>• Hirvonen Jussi, Heikkinen Jaakko, Nyman Mikko et al. MRI of acute neck infections: evidence summary and pictorial review. </a:t>
            </a:r>
            <a:r>
              <a:rPr sz="1300" b="0" i="0">
                <a:solidFill>
                  <a:srgbClr val="1F2A44"/>
                </a:solidFill>
                <a:latin typeface="Calibri"/>
              </a:rPr>
              <a:t>Insights into Imaging</a:t>
            </a:r>
            <a:r>
              <a:rPr sz="1300" b="0" i="0">
                <a:solidFill>
                  <a:srgbClr val="1F2A44"/>
                </a:solidFill>
                <a:latin typeface="Calibri"/>
              </a:rPr>
              <a:t> 2023. doi:10.1186/s13244-022-01347-9 – PMC9826778 – </a:t>
            </a:r>
            <a:r>
              <a:rPr sz="1300" b="0" i="0">
                <a:solidFill>
                  <a:srgbClr val="1F2A44"/>
                </a:solidFill>
                <a:latin typeface="Calibri"/>
              </a:rPr>
              <a:t>CC BY</a:t>
            </a:r>
          </a:p>
          <a:p>
            <a:pPr algn="l">
              <a:spcAft>
                <a:spcPts val="300"/>
              </a:spcAft>
            </a:pPr>
            <a:r>
              <a:rPr sz="1300" b="0" i="0">
                <a:solidFill>
                  <a:srgbClr val="1F2A44"/>
                </a:solidFill>
                <a:latin typeface="Calibri"/>
              </a:rPr>
              <a:t>• Nurminen Janne, Heikkinen Jaakko, Happonen Tatu et al. Pictorial Review of MRI Findings in Acute Neck Infections in Children. </a:t>
            </a:r>
            <a:r>
              <a:rPr sz="1300" b="0" i="0">
                <a:solidFill>
                  <a:srgbClr val="1F2A44"/>
                </a:solidFill>
                <a:latin typeface="Calibri"/>
              </a:rPr>
              <a:t>Children</a:t>
            </a:r>
            <a:r>
              <a:rPr sz="1300" b="0" i="0">
                <a:solidFill>
                  <a:srgbClr val="1F2A44"/>
                </a:solidFill>
                <a:latin typeface="Calibri"/>
              </a:rPr>
              <a:t> 2023. doi:10.3390/children10060967 – PMC10296820 – </a:t>
            </a:r>
            <a:r>
              <a:rPr sz="1300" b="0" i="0">
                <a:solidFill>
                  <a:srgbClr val="1F2A44"/>
                </a:solidFill>
                <a:latin typeface="Calibri"/>
              </a:rPr>
              <a:t>CC BY</a:t>
            </a:r>
          </a:p>
          <a:p>
            <a:pPr algn="l">
              <a:spcAft>
                <a:spcPts val="300"/>
              </a:spcAft>
            </a:pPr>
            <a:r>
              <a:rPr sz="1300" b="0" i="0">
                <a:solidFill>
                  <a:srgbClr val="1F2A44"/>
                </a:solidFill>
                <a:latin typeface="Calibri"/>
              </a:rPr>
              <a:t>• Kessler Alexander T, Bhatt Alok A Review of the Major and Minor Salivary Glands, Part 1: Anatomy, Infectious, and Inflammatory Processes. </a:t>
            </a:r>
            <a:r>
              <a:rPr sz="1300" b="0" i="0">
                <a:solidFill>
                  <a:srgbClr val="1F2A44"/>
                </a:solidFill>
                <a:latin typeface="Calibri"/>
              </a:rPr>
              <a:t>Journal of Clinical Imaging Science</a:t>
            </a:r>
            <a:r>
              <a:rPr sz="1300" b="0" i="0">
                <a:solidFill>
                  <a:srgbClr val="1F2A44"/>
                </a:solidFill>
                <a:latin typeface="Calibri"/>
              </a:rPr>
              <a:t> 2018. doi:10.4103/jcis.JCIS_45_18 – PMC6251248 – </a:t>
            </a:r>
            <a:r>
              <a:rPr sz="1300" b="0" i="0">
                <a:solidFill>
                  <a:srgbClr val="1F2A44"/>
                </a:solidFill>
                <a:latin typeface="Calibri"/>
              </a:rPr>
              <a:t>CC BY-NC-SA</a:t>
            </a:r>
          </a:p>
          <a:p>
            <a:pPr algn="l">
              <a:spcAft>
                <a:spcPts val="300"/>
              </a:spcAft>
            </a:pPr>
            <a:r>
              <a:rPr sz="1300" b="0" i="0">
                <a:solidFill>
                  <a:srgbClr val="1F2A44"/>
                </a:solidFill>
                <a:latin typeface="Calibri"/>
              </a:rPr>
              <a:t>• Yang Zhang, Yuzi Jing, Beibei Liang Cone-beam computed tomographic evaluation of styloid process: a retrospective study of 498 patients with maxillofacial diseases. </a:t>
            </a:r>
            <a:r>
              <a:rPr sz="1300" b="0" i="0">
                <a:solidFill>
                  <a:srgbClr val="1F2A44"/>
                </a:solidFill>
                <a:latin typeface="Calibri"/>
              </a:rPr>
              <a:t>BMC Medical Imaging</a:t>
            </a:r>
            <a:r>
              <a:rPr sz="1300" b="0" i="0">
                <a:solidFill>
                  <a:srgbClr val="1F2A44"/>
                </a:solidFill>
                <a:latin typeface="Calibri"/>
              </a:rPr>
              <a:t> 2024. doi:10.1186/s12880-024-01516-w – PMC11622470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(3)</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Ahn Dongbin, Yeo Chang Ki, Han Soon Yong et al. The accessory parotid gland and facial process of the parotid gland on computed tomography. </a:t>
            </a:r>
            <a:r>
              <a:rPr sz="1300" b="0" i="0">
                <a:solidFill>
                  <a:srgbClr val="1F2A44"/>
                </a:solidFill>
                <a:latin typeface="Calibri"/>
              </a:rPr>
              <a:t>PLoS ONE</a:t>
            </a:r>
            <a:r>
              <a:rPr sz="1300" b="0" i="0">
                <a:solidFill>
                  <a:srgbClr val="1F2A44"/>
                </a:solidFill>
                <a:latin typeface="Calibri"/>
              </a:rPr>
              <a:t> 2017. doi:10.1371/journal.pone.0184633 – PMC5600370 – </a:t>
            </a:r>
            <a:r>
              <a:rPr sz="1300" b="0" i="0">
                <a:solidFill>
                  <a:srgbClr val="1F2A44"/>
                </a:solidFill>
                <a:latin typeface="Calibri"/>
              </a:rPr>
              <a:t>CC BY</a:t>
            </a:r>
          </a:p>
          <a:p>
            <a:pPr algn="l">
              <a:spcAft>
                <a:spcPts val="300"/>
              </a:spcAft>
            </a:pPr>
            <a:r>
              <a:rPr sz="1300" b="0" i="0">
                <a:solidFill>
                  <a:srgbClr val="1F2A44"/>
                </a:solidFill>
                <a:latin typeface="Calibri"/>
              </a:rPr>
              <a:t>• Muñoz Alberto, De Vergas Joaquín, Crespo José Imaging and Clinical Findings in Patients with Aberrant Course of the Cervical Internal Carotid Arteries. </a:t>
            </a:r>
            <a:r>
              <a:rPr sz="1300" b="0" i="0">
                <a:solidFill>
                  <a:srgbClr val="1F2A44"/>
                </a:solidFill>
                <a:latin typeface="Calibri"/>
              </a:rPr>
              <a:t>The Open Neuroimaging Journal</a:t>
            </a:r>
            <a:r>
              <a:rPr sz="1300" b="0" i="0">
                <a:solidFill>
                  <a:srgbClr val="1F2A44"/>
                </a:solidFill>
                <a:latin typeface="Calibri"/>
              </a:rPr>
              <a:t> 2010. doi:10.2174/1874440001004010174 – PMC3026334 – </a:t>
            </a:r>
            <a:r>
              <a:rPr sz="1300" b="0" i="0">
                <a:solidFill>
                  <a:srgbClr val="1F2A44"/>
                </a:solidFill>
                <a:latin typeface="Calibri"/>
              </a:rPr>
              <a:t>CC BY-NC</a:t>
            </a:r>
          </a:p>
          <a:p>
            <a:pPr algn="l">
              <a:spcAft>
                <a:spcPts val="300"/>
              </a:spcAft>
            </a:pPr>
            <a:r>
              <a:rPr sz="1300" b="0" i="0">
                <a:solidFill>
                  <a:srgbClr val="1F2A44"/>
                </a:solidFill>
                <a:latin typeface="Calibri"/>
              </a:rPr>
              <a:t>• Furukawa Madoka, Hashimoto Kaori, Kitani Yuka et al. Point-of-care ultrasound in the head and neck region. </a:t>
            </a:r>
            <a:r>
              <a:rPr sz="1300" b="0" i="0">
                <a:solidFill>
                  <a:srgbClr val="1F2A44"/>
                </a:solidFill>
                <a:latin typeface="Calibri"/>
              </a:rPr>
              <a:t>Journal of Medical Ultrasonics (2001)</a:t>
            </a:r>
            <a:r>
              <a:rPr sz="1300" b="0" i="0">
                <a:solidFill>
                  <a:srgbClr val="1F2A44"/>
                </a:solidFill>
                <a:latin typeface="Calibri"/>
              </a:rPr>
              <a:t> 2022. doi:10.1007/s10396-022-01266-8 – PMC9640455 – </a:t>
            </a:r>
            <a:r>
              <a:rPr sz="1300" b="0" i="0">
                <a:solidFill>
                  <a:srgbClr val="1F2A44"/>
                </a:solidFill>
                <a:latin typeface="Calibri"/>
              </a:rPr>
              <a:t>CC BY</a:t>
            </a:r>
          </a:p>
          <a:p>
            <a:pPr algn="l">
              <a:spcAft>
                <a:spcPts val="300"/>
              </a:spcAft>
            </a:pPr>
            <a:r>
              <a:rPr sz="1300" b="0" i="0">
                <a:solidFill>
                  <a:srgbClr val="1F2A44"/>
                </a:solidFill>
                <a:latin typeface="Calibri"/>
              </a:rPr>
              <a:t>• Choi Seon Hyeong, Kim Eun-Kyung, Kim Soo Jin et al. Thyroid Ultrasonography: Pitfalls and Techniques. </a:t>
            </a:r>
            <a:r>
              <a:rPr sz="1300" b="0" i="0">
                <a:solidFill>
                  <a:srgbClr val="1F2A44"/>
                </a:solidFill>
                <a:latin typeface="Calibri"/>
              </a:rPr>
              <a:t>Korean Journal of Radiology</a:t>
            </a:r>
            <a:r>
              <a:rPr sz="1300" b="0" i="0">
                <a:solidFill>
                  <a:srgbClr val="1F2A44"/>
                </a:solidFill>
                <a:latin typeface="Calibri"/>
              </a:rPr>
              <a:t> 2014. doi:10.3348/kjr.2014.15.2.267 – PMC3955795 – </a:t>
            </a:r>
            <a:r>
              <a:rPr sz="1300" b="0" i="0">
                <a:solidFill>
                  <a:srgbClr val="1F2A44"/>
                </a:solidFill>
                <a:latin typeface="Calibri"/>
              </a:rPr>
              <a:t>CC BY-NC</a:t>
            </a:r>
          </a:p>
          <a:p>
            <a:pPr algn="l">
              <a:spcAft>
                <a:spcPts val="300"/>
              </a:spcAft>
            </a:pPr>
            <a:r>
              <a:rPr sz="1300" b="0" i="0">
                <a:solidFill>
                  <a:srgbClr val="1F2A44"/>
                </a:solidFill>
                <a:latin typeface="Calibri"/>
              </a:rPr>
              <a:t>• Phan Tammy, Lay Johnson, Scali Frank The Alar Fascia and Danger Space: A Modern Review. </a:t>
            </a:r>
            <a:r>
              <a:rPr sz="1300" b="0" i="0">
                <a:solidFill>
                  <a:srgbClr val="1F2A44"/>
                </a:solidFill>
                <a:latin typeface="Calibri"/>
              </a:rPr>
              <a:t>Cureus</a:t>
            </a:r>
            <a:r>
              <a:rPr sz="1300" b="0" i="0">
                <a:solidFill>
                  <a:srgbClr val="1F2A44"/>
                </a:solidFill>
                <a:latin typeface="Calibri"/>
              </a:rPr>
              <a:t> 2022. doi:10.7759/cureus.32871 – PMC9868889 – </a:t>
            </a:r>
            <a:r>
              <a:rPr sz="1300" b="0" i="0">
                <a:solidFill>
                  <a:srgbClr val="1F2A44"/>
                </a:solidFill>
                <a:latin typeface="Calibri"/>
              </a:rPr>
              <a:t>CC BY</a:t>
            </a:r>
          </a:p>
          <a:p>
            <a:pPr algn="l">
              <a:spcAft>
                <a:spcPts val="300"/>
              </a:spcAft>
            </a:pPr>
            <a:r>
              <a:rPr sz="1300" b="0" i="0">
                <a:solidFill>
                  <a:srgbClr val="1F2A44"/>
                </a:solidFill>
                <a:latin typeface="Calibri"/>
              </a:rPr>
              <a:t>• Pandalai Uma, Pillay Minnie, Moorthy Srikanth et al. Anatomical Variations of the Aortic Arch: A Computerized Tomography-Based Study. </a:t>
            </a:r>
            <a:r>
              <a:rPr sz="1300" b="0" i="0">
                <a:solidFill>
                  <a:srgbClr val="1F2A44"/>
                </a:solidFill>
                <a:latin typeface="Calibri"/>
              </a:rPr>
              <a:t>Cureus</a:t>
            </a:r>
            <a:r>
              <a:rPr sz="1300" b="0" i="0">
                <a:solidFill>
                  <a:srgbClr val="1F2A44"/>
                </a:solidFill>
                <a:latin typeface="Calibri"/>
              </a:rPr>
              <a:t> 2021. doi:10.7759/cureus.13115 – PMC7936046 – </a:t>
            </a:r>
            <a:r>
              <a:rPr sz="1300" b="0" i="0">
                <a:solidFill>
                  <a:srgbClr val="1F2A44"/>
                </a:solidFill>
                <a:latin typeface="Calibri"/>
              </a:rPr>
              <a:t>CC BY</a:t>
            </a:r>
          </a:p>
          <a:p>
            <a:pPr algn="l">
              <a:spcAft>
                <a:spcPts val="300"/>
              </a:spcAft>
            </a:pPr>
            <a:r>
              <a:rPr sz="1300" b="0" i="0">
                <a:solidFill>
                  <a:srgbClr val="1F2A44"/>
                </a:solidFill>
                <a:latin typeface="Calibri"/>
              </a:rPr>
              <a:t>• Manta Mihaela Daniela, Rusu Mugurel Constantin, Hostiuc Sorin et al. The vertical topography of the carotid bifurcation – original study and review. </a:t>
            </a:r>
            <a:r>
              <a:rPr sz="1300" b="0" i="0">
                <a:solidFill>
                  <a:srgbClr val="1F2A44"/>
                </a:solidFill>
                <a:latin typeface="Calibri"/>
              </a:rPr>
              <a:t>Surgical and Radiologic Anatomy</a:t>
            </a:r>
            <a:r>
              <a:rPr sz="1300" b="0" i="0">
                <a:solidFill>
                  <a:srgbClr val="1F2A44"/>
                </a:solidFill>
                <a:latin typeface="Calibri"/>
              </a:rPr>
              <a:t> 2024. doi:10.1007/s00276-024-03404-y – PMC11246274 – </a:t>
            </a:r>
            <a:r>
              <a:rPr sz="1300" b="0" i="0">
                <a:solidFill>
                  <a:srgbClr val="1F2A44"/>
                </a:solidFill>
                <a:latin typeface="Calibri"/>
              </a:rPr>
              <a:t>CC BY</a:t>
            </a:r>
          </a:p>
          <a:p>
            <a:pPr algn="l">
              <a:spcAft>
                <a:spcPts val="300"/>
              </a:spcAft>
            </a:pPr>
            <a:r>
              <a:rPr sz="1300" b="0" i="0">
                <a:solidFill>
                  <a:srgbClr val="1F2A44"/>
                </a:solidFill>
                <a:latin typeface="Calibri"/>
              </a:rPr>
              <a:t>• Kim Dong Wook, Jung So Lyung, Kim Jinna et al. Comparison between Ultrasonography and Computed Tomography for Detecting the Pyramidal Lobe of the Thyroid Gland: A Prospective Multicenter Study. </a:t>
            </a:r>
            <a:r>
              <a:rPr sz="1300" b="0" i="0">
                <a:solidFill>
                  <a:srgbClr val="1F2A44"/>
                </a:solidFill>
                <a:latin typeface="Calibri"/>
              </a:rPr>
              <a:t>Korean Journal of Radiology</a:t>
            </a:r>
            <a:r>
              <a:rPr sz="1300" b="0" i="0">
                <a:solidFill>
                  <a:srgbClr val="1F2A44"/>
                </a:solidFill>
                <a:latin typeface="Calibri"/>
              </a:rPr>
              <a:t> 2015. doi:10.3348/kjr.2015.16.2.402 – PMC4347276 – </a:t>
            </a:r>
            <a:r>
              <a:rPr sz="1300" b="0" i="0">
                <a:solidFill>
                  <a:srgbClr val="1F2A44"/>
                </a:solidFill>
                <a:latin typeface="Calibri"/>
              </a:rPr>
              <a:t>CC BY-NC</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(4)</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Niu Zhong‐Xi, Zhang Hang, Chen Long‐Qi et al. Preoperative computed tomography diagnosis of non‐recurrent laryngeal nerve in patients with esophageal carcinoma. </a:t>
            </a:r>
            <a:r>
              <a:rPr sz="1300" b="0" i="0">
                <a:solidFill>
                  <a:srgbClr val="1F2A44"/>
                </a:solidFill>
                <a:latin typeface="Calibri"/>
              </a:rPr>
              <a:t>Thoracic Cancer</a:t>
            </a:r>
            <a:r>
              <a:rPr sz="1300" b="0" i="0">
                <a:solidFill>
                  <a:srgbClr val="1F2A44"/>
                </a:solidFill>
                <a:latin typeface="Calibri"/>
              </a:rPr>
              <a:t> 2016. doi:10.1111/1759-7714.12409 – PMC5217945 – </a:t>
            </a:r>
            <a:r>
              <a:rPr sz="1300" b="0" i="0">
                <a:solidFill>
                  <a:srgbClr val="1F2A44"/>
                </a:solidFill>
                <a:latin typeface="Calibri"/>
              </a:rPr>
              <a:t>CC BY-NC</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