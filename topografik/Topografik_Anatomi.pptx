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Momma Daisuke, Nimura Akimoto, Muro Satoru et al. Anatomic analysis of the whole articular capsule of the shoulder joint, with reference to the capsular attachment and thickness. J Exp Orthop. 2018 Jun 7;5:16. doi: 10.1186/s40634-018-0134-8 PMCID: PMC5992113. Lisans: CC BY.</a:t>
            </a:r>
          </a:p>
          <a:p>
            <a:r>
              <a:t>Altyazı: Muscular and tendinous structures of the subscapularis, supraspinatus, infraspinatus, and teres minor near their insertions into the humerus (right shoulder, the acromion and coracoid process has been removed). a Anterior aspect of the shoulder. b Posterior aspect of the shoulder. CP, coracoid process; SS, scapula spine; Lat, lateral; Sup, superior</a:t>
            </a:r>
          </a:p>
          <a:p>
            <a:r>
              <a:t>Momma Daisuke, Nimura Akimoto, Muro Satoru et al. Anatomic analysis of the whole articular capsule of the shoulder joint, with reference to the capsular attachment and thickness. J Exp Orthop. 2018 Jun 7;5:16. doi: 10.1186/s40634-018-0134-8 PMCID: PMC5992113. Lisans: CC BY.</a:t>
            </a:r>
          </a:p>
          <a:p>
            <a:r>
              <a:t>Altyazı: Outward appearance of the shoulder joint. Areas outlined by black dotted lines indicate insertions of the subscapularis (SSC), supraspinatus (SSP), infraspinatus (ISP), teres minor (TMi), and the origin of long head of triceps brachii (TRI). a Anterior aspect of the shoulder. The superior-most part of the subscapularis was left intact because it was tightly connected to the capsule and the coracohumeral ligament (red arrow). b Posterior aspect. c Superior aspect. d Inferior aspect. CP, coracoid process; SS, scapula spine; TRI, triceps; Ant, anterior; Med, medial; Lat, lateral; Sup, superior; Post, posterior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Leonhard Vanessa, Caldwell Gregory, Goh Mei et al. Ultrasonographic Diagnosis of Thoracic Outlet Syndrome Secondary to Brachial Plexus Piercing Variation. Diagnostics (Basel). 2017 Jul 4;7(3):40. doi: 10.3390/diagnostics7030040 PMCID: PMC5617940. Lisans: CC BY.</a:t>
            </a:r>
          </a:p>
          <a:p>
            <a:r>
              <a:t>Altyazı: Cadaveric photo illustrating the classic anatomical relationship between the scalene musculature and the trunks of the brachial plexus. In this arrangement, the superior, middle, and inferior trunks of the brachial plexus all course between the anterior and middle scalene muscle, through the interscalene gap. AS = anterior scalene; IT = inferior trunk; MS = middle scalene; MT = middle trunk; SA = subclavian artery; ST = superior trunk.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Louis Jr Robert G, Whitesides Joshua D, Kollias Theofanis F et al. Intercostal Nerve to Long Thoracic Nerve Transfer for the Treatment of Winged Scapula: A Cadaveric Feasibility Study. Cureus. 2017 Nov 30;9(11):e1898. doi: 10.7759/cureus.1898 PMCID: PMC5790210. Lisans: CC BY.</a:t>
            </a:r>
          </a:p>
          <a:p>
            <a:r>
              <a:t>Altyazı: The long thoracic nerve is seen following skin retraction and superficial dissection of the lateral chest wall</a:t>
            </a:r>
          </a:p>
          <a:p>
            <a:r>
              <a:t>Louis Jr Robert G, Whitesides Joshua D, Kollias Theofanis F et al. Intercostal Nerve to Long Thoracic Nerve Transfer for the Treatment of Winged Scapula: A Cadaveric Feasibility Study. Cureus. 2017 Nov 30;9(11):e1898. doi: 10.7759/cureus.1898 PMCID: PMC5790210. Lisans: CC BY.</a:t>
            </a:r>
          </a:p>
          <a:p>
            <a:r>
              <a:t>Altyazı: Additional dissection highlights the underlying serratus anterior muscle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 Ta-Wei, Wu Ching-Feng, Fu Jui-Ying et al. Deltoid Branch of Thoracoacromial Vein. Medicine (Baltimore). 2015 May 1;94(17):e728. doi: 10.1097/MD.0000000000000728 PMCID: PMC4603045. Lisans: CC BY.</a:t>
            </a:r>
          </a:p>
          <a:p>
            <a:r>
              <a:t>Altyazı: Schematic of the position of cephalic and deltoid branch of thoracoacromial vein.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Montané-Blanchart Marta, Miguel-Pérez Maribel, Rodero-de-Lamo Lourdes et al. Variations in the Course and Diameter of the Suprascapular Nerve: Anatomical Study. Int J Environ Res Public Health. 2022 Jun 9;19(12):7065. doi: 10.3390/ijerph19127065 PMCID: PMC9223225. Lisans: CC BY.</a:t>
            </a:r>
          </a:p>
          <a:p>
            <a:r>
              <a:t>Altyazı: Anatomical variation on left shoulder from specimen C: different anatomical structures could be observed as follows: (1) superior transverse scapular ligament; (2) inferior belly of omohyoid muscle; (3) suprascapular nerve; (4) acromioclavicular sensitive branch; (5) supraspinatus motor branch; (6) infraspinatus motor branch; note that the division into supraspinatus and infraspinatus motor branches is proximal to superior transverse scapular ligament.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Charmode Sundip, Mehra Simmi, Kushwaha Sudhir Revisiting the Surgical Approaches to Decompression in Quadrilateral Space Syndrome: A Cadaveric Study. Cureus. 2022 Feb 26;14(2):e22619. doi: 10.7759/cureus.22619 PMCID: PMC8958867. Lisans: CC BY.</a:t>
            </a:r>
          </a:p>
          <a:p>
            <a:r>
              <a:t>Altyazı: Posterior approach to the axilla showing the quadrangular space along with the contents (AXN and PHCA) passing through it.AXN: axillary nerve; PHCA: posterior humeral circumflex artery</a:t>
            </a:r>
          </a:p>
          <a:p>
            <a:r>
              <a:t>Charmode Sundip, Mehra Simmi, Kushwaha Sudhir Revisiting the Surgical Approaches to Decompression in Quadrilateral Space Syndrome: A Cadaveric Study. Cureus. 2022 Feb 26;14(2):e22619. doi: 10.7759/cureus.22619 PMCID: PMC8958867. Lisans: CC BY.</a:t>
            </a:r>
          </a:p>
          <a:p>
            <a:r>
              <a:t>Altyazı: The anterior approach showing the quadrangular space between the deltopectoral groove along with the contents (AXN and PHCA) passing through it.AXN: axillary nerve; PHCA: posterior humeral circumflex artery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 Hosne, Fakoya Adegbenro O Rare Bilateral Axillary Arch With Its Novel Insertion Into the Deltoid and Unilateral Supernumerary Head of the Sternocleidomastoid Muscle in a Single Cadaver. Cureus. 2025 May 30;17(5):e85096. doi: 10.7759/cureus.85096 PMCID: PMC12206543. Lisans: CC BY.</a:t>
            </a:r>
          </a:p>
          <a:p>
            <a:r>
              <a:t>Altyazı: Right axillary dissectionThe axillary arch muscle originates from the anterior border of the latissimus dorsi, runs anterior to the axillary artery and brachial plexus branches, and inserts into the short head of the biceps brachii. Then it divides into two accessory slips in a "T" shape: the left slip merging with the fibers of the coracobrachialis muscle, while the right slip merges with the fibers of the deltoid muscle.</a:t>
            </a:r>
          </a:p>
          <a:p>
            <a:r>
              <a:t>Ara Hosne, Fakoya Adegbenro O Rare Bilateral Axillary Arch With Its Novel Insertion Into the Deltoid and Unilateral Supernumerary Head of the Sternocleidomastoid Muscle in a Single Cadaver. Cureus. 2025 May 30;17(5):e85096. doi: 10.7759/cureus.85096 PMCID: PMC12206543. Lisans: CC BY.</a:t>
            </a:r>
          </a:p>
          <a:p>
            <a:r>
              <a:t>Altyazı: Photograph of the left axillary dissection showing the axillary arch muscleThe axillary arch muscle originates from the latissimus dorsi, which runs anterior to the brachial plexus branches as a single thin slip and inserts directly into the fascia between the coracobrachialis and deltoid muscles.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Konarik Marek, Musil Vladimir, Baca Vaclav et al. Upper limb principal arteries variations: A cadaveric study with terminological implication. Bosn J Basic Med Sci. 2020 Nov;20(4):502–13. doi: 10.17305/bjbms.2020.4643 PMCID: PMC7664784. Lisans: CC BY.</a:t>
            </a:r>
          </a:p>
          <a:p>
            <a:r>
              <a:t>Altyazı: Truncus profundocircumflexus. AA – arteria ­axillaris; ACHA – arteria circumflexa humeri anterior; ACHP – arteria circumflexa humeri posterior; APB – arteria profunda brachii; FT – fused tendons of musculus teres major and musculus latissimus dorsi; MCB – musculus coracobrachialis; NM – nervus medianus; TPC – truncus profundocircumflexus.</a:t>
            </a:r>
          </a:p>
          <a:p>
            <a:r>
              <a:t>Konarik Marek, Musil Vladimir, Baca Vaclav et al. Upper limb principal arteries variations: A cadaveric study with terminological implication. Bosn J Basic Med Sci. 2020 Nov;20(4):502–13. doi: 10.17305/bjbms.2020.4643 PMCID: PMC7664784. Lisans: CC BY.</a:t>
            </a:r>
          </a:p>
          <a:p>
            <a:r>
              <a:t>Altyazı: Arteria brachialis superficialis and truncus profundosubscapulocircumflexus. Legend: AA – arteria axillaris; ABS – arteria brachialis superficialis; ACHP – arteria circumflexa humeri posterior; APB – arteria profunda brachii; ASS – arteria subscapularis; T – truncus profundosubscapulocircumflexus.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 Palak P, Yung Halley C, Vaz Grace Kiran Variations in the Branching Pattern and Course of the Left Axillary Artery: A Cadaveric Case Report. Cureus. 2023 Jun 23;15(6):e40852. doi: 10.7759/cureus.40852 PMCID: PMC10363335. Lisans: CC BY.</a:t>
            </a:r>
          </a:p>
          <a:p>
            <a:r>
              <a:t>Altyazı: Branching variations and anteromedial course of the left AA in relation to the brachial plexus.Asterisks (*) indicate branches that were severed during the dissection. Nerve structures are painted yellow, arterial structures painted red, muscles labeled in blue font, and dashed blue lines indicate the boundaries of the parts of the AA. Directional indication is provided in the lower left corner. (a) A close-up of MB2, an accessory branch to the subscapularis muscle. (b) A close-up of the CSA.AA: axillary artery; ACHA: anterior circumflex humeral artery; ATA: alar thoracic artery; BA: brachial artery; CSA: circumflex scapular artery; CT1; common trunk 1; CT 2: common trunk 2; LPN: lateral pectoral nerve; LTA: lateral thoracic artery; MB1: muscular branch 1, seen coursing to the clavicular region; MB2: muscular branch 2, seen piercing the subscapularis muscle; MB3: muscular branch 3, an accessory lateral thoracic branch; MB4: muscular branch 4, an accessory pectoral branch; MCN: musculocutaneous nerve; MCNA: medial cutaneous nerve of the arm; MN: median nerve; PBA: profunda brachii artery; PCHA: posterior circumflex humeral artery; RN: radial nerve; SSA: subscapular artery; STA: superior thoracic artery; TAA: thoracoacromial artery; TDA: thoracodorsal artery; UN: ulnar nerve.</a:t>
            </a:r>
          </a:p>
          <a:p>
            <a:r>
              <a:t>Oza Palak P, Yung Halley C, Vaz Grace Kiran Variations in the Branching Pattern and Course of the Left Axillary Artery: A Cadaveric Case Report. Cureus. 2023 Jun 23;15(6):e40852. doi: 10.7759/cureus.40852 PMCID: PMC10363335. Lisans: CC BY.</a:t>
            </a:r>
          </a:p>
          <a:p>
            <a:r>
              <a:t>Altyazı: A schematic representation of the observed AA variations.Asterisks (*) indicate branches that were severed during the dissection. Nerve structures are in yellow, arterial structures in red, and dashed blue lines indicate the boundaries of the parts of the AA.AA: axillary artery; AB: acromial branch of thoracoacromial artery; ACHA: anterior circumflex humeral artery; ATA: alar thoracic artery; BA: brachial artery; CSA: circumflex scapular artery; CT1: common trunk 1; CT2: common trunk 2; DB: deltoid branch of the thoracoacromial artery; LPN: lateral pectoral nerve; LTA: lateral thoracic artery; MB1: muscular branch 1, seen coursing to the clavicular region; MB2: muscular branch 2, seen piercing the subscapularis muscle; MB3: muscular branch 3, an accessory thoracic branch; MB4: muscular branch 4, an accessory pectoral branch; MCN: musculocutaneous nerve; MCNA: medial cutaneous nerve of the arm; MN: median nerve; PB: pectoral branch of the thoracoacromial artery; PBA: profunda brachii artery; PCHA: posterior circumflex humeral artery; RN: radial nerve; SSA: subscapular artery; STA: superior thoracic artery; TAA: thoracoacromial artery; TDA: thoracodorsal artery; UN: ulnar nerve.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 Kuen-Cherng, Ho Han-Chen Origin variations and brachial plexus relationship of the dorsal scapular artery. Sci Rep. 2023 May 13;13:7803. doi: 10.1038/s41598-023-35054-2 PMCID: PMC10183034. Lisans: CC BY.</a:t>
            </a:r>
          </a:p>
          <a:p>
            <a:r>
              <a:t>Altyazı: Representative images showing the relationships of the brachial plexus and arteries. (a) Dorsal scapular artery (*) is a branch of the transverse cervical artery (TCA), which arises from the thyrocervical trunk (T). The above arteries pass over the brachial plexus towards the back. The suprascapular artery (●) passing through the brachial plexus is a branch of the axillary artery. AS: anterior scalene muscle; I: inferior trunk; M: middle trunk; S: superior trunk of brachial plexus; SA: subclavian artery. (b) Dorsal scapular artery (*) passing through the middle (M) and inferior (I) trunks of the brachial plexus is a direct branch from the second part of the subclavian artery (SA).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Rastogi Rakhi, Budhiraja Virendra, Bansal Kshitij Posterior Cord of Brachial Plexus and Its Branches: Anatomical Variations and Clinical Implication. ISRN Anat. 2013 Sep 26;2013:501813. doi: 10.5402/2013/501813 PMCID: PMC4392958. Lisans: CC BY.</a:t>
            </a:r>
          </a:p>
          <a:p>
            <a:r>
              <a:t>Altyazı: Axillary nerve originates from posterior division of upper trunk and posterior cord in lateral relation of second part of axillary artery. C5, C6, C7, C8, T1-ventral rami of spinal nerve, UT-upper trunk, MD-middle trunk, LT-lower trunk, 1,2,3,-Posterior division of upper, middle and lower trunk, 4,5,6-anterior division of upper, middle and lower trunk, LC-lateral cord, PC-posterior cord, MCN-musculocutaneous nerve, MN-median nerve, RN-radial nerve, AN-axillary nerve, AA-axillary artery.</a:t>
            </a:r>
          </a:p>
          <a:p>
            <a:r>
              <a:t>Rastogi Rakhi, Budhiraja Virendra, Bansal Kshitij Posterior Cord of Brachial Plexus and Its Branches: Anatomical Variations and Clinical Implication. ISRN Anat. 2013 Sep 26;2013:501813. doi: 10.5402/2013/501813 PMCID: PMC4392958. Lisans: CC BY.</a:t>
            </a:r>
          </a:p>
          <a:p>
            <a:r>
              <a:t>Altyazı: Thoracodorsal nerve originates from axillary nerve. AN-axillary nerve, TDN-thoracodorsal nerve, AA-axillary artery, RN-radial nerve.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Siwetz Martin, Hammer Niels, Ondruschka Benjamin et al. Variations in Subscapularis Muscle Innervation—A Report on Case Series. Medicina (Kaunas). 2020 Oct 12;56(10):532. doi: 10.3390/medicina56100532 PMCID: PMC7601857. Lisans: CC BY.</a:t>
            </a:r>
          </a:p>
          <a:p>
            <a:r>
              <a:t>Altyazı: Left shoulder area of a 79-year-old male. The pectoralis major is removed. The brachial plexus is everted to view the full expansion of the subscapular nerves. The three subscapular nerves (U1, U2, L) are highlighted in yellow. U1, first upper subscapular nerve; U2, second upper subscapular nerve; L, lower subscapular nerve; PC, posterior cord of the brachial plexus; SSC, subscapularis muscle; **, clavicle; cd, caudal; cr, cranial; l, lateral; m, medial.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Bozhikova E., Davis J. C., Moon P. H. et al. A Cadaveric Study on the Variations in the Infraclavicular Part of Brachial Plexus in Axillary Region and Upper Arm. Biomed Res Int. 2025 Oct 31;2025:6650184. doi: 10.1155/bmri/6650184 PMCID: PMC12578619. Lisans: CC BY.</a:t>
            </a:r>
          </a:p>
          <a:p>
            <a:r>
              <a:t>Altyazı: Variations of the MN. (A) An accessory LR of the MN (right axilla): 1, LC; 2, LR of MN; 3, accessory LR of MN; 4, MR of MN; 5, main AA; 6, MCN; 7, aberrant AA; 8, UN; 9, MN. (B) Low fusion of the roots of the MN and CB between the MC and LR of MN (right axilla): 1, MN; 2, MR of the MN; 3, CB between the MC and LR of the MN; 4, LR of MN. Abbreviations: AA, axillary artery; CB, communicating branch; LC, lateral cord; LR, lateral root; MC, medial cord; MCN, musculocutaneous nerve; MN, median nerve; MR, medial root; UN, ulnar nerve.</a:t>
            </a:r>
          </a:p>
          <a:p>
            <a:r>
              <a:t>Bozhikova E., Davis J. C., Moon P. H. et al. A Cadaveric Study on the Variations in the Infraclavicular Part of Brachial Plexus in Axillary Region and Upper Arm. Biomed Res Int. 2025 Oct 31;2025:6650184. doi: 10.1155/bmri/6650184 PMCID: PMC12578619. Lisans: CC BY.</a:t>
            </a:r>
          </a:p>
          <a:p>
            <a:r>
              <a:t>Altyazı: Variation in the PC. (A) Trifurcation of the PC (right axilla): 1, RN; 2, AN; 3, TDN. (B) Quadfurcation of the PC (right axilla): 1, long thoracic nerve; 2, TDN; 3, LSSN; 4, PD of AN; 5, AD of AN; 6, AN; 7, RN. Abbreviations: AD, anterior division; AN, axillary nerve; LSSN, lower subscapular nerve; PC, posterior cord; PD, posterior division; RN, radial nerve; TDN, thoracodorsal nerve.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Schwarz Gilbert M., Hirtler Lena Ectopic tendons of the pectoralis minor muscle as cause for shoulder pain and motion inhibition—Explaining clinically important variabilities through phylogenesis. PLoS One. 2019 Jun 21;14(6):e0218715. doi: 10.1371/journal.pone.0218715 PMCID: PMC6588231. Lisans: CC BY.</a:t>
            </a:r>
          </a:p>
          <a:p>
            <a:r>
              <a:t>Altyazı: Exemplary photograph of a right shoulder seen from superior.The ectopic pectoralis minor tendon (*) runs over the coracoid process and through the branches of the coracoacromial ligament (CAL). A = acromion, CAL = coracoacromial ligament, CP = coracoid process, H = humerus, PMM = pectoralis minor muscle.</a:t>
            </a:r>
          </a:p>
          <a:p>
            <a:r>
              <a:t>Schwarz Gilbert M., Hirtler Lena Ectopic tendons of the pectoralis minor muscle as cause for shoulder pain and motion inhibition—Explaining clinically important variabilities through phylogenesis. PLoS One. 2019 Jun 21;14(6):e0218715. doi: 10.1371/journal.pone.0218715 PMCID: PMC6588231. Lisans: CC BY.</a:t>
            </a:r>
          </a:p>
          <a:p>
            <a:r>
              <a:t>Altyazı: Right EIPMT (A and A’) and normal (B and B’) type shoulder from cranial (A and B) and lateral (A’ and B’).Insertion areas are marked on the coracoid process. Red = PMM, black = CAL, blue = CHL, * medial CHL fibers, violet = CGL, green = coracobrachialis muscle/short head of biceps. Insertion areas of the PMM in EIPMT type shoulders are significantly bigger (red) and coracopectoral distances (yellow line) to the lateral border significantly smaller. In EIPMT type shoulders with tendons blending into the CHL the CGL insertion area must move more proximal and the CAL must be divided into two branches to give space to the CHL.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Adewale Adesanya Olamide, Segun Okeniran Olatayo, Usman Ibe Michael et al. Morphometric study of suprascapular notch and scapular dimensions in Ugandan dry scapulae with specific reference to the incidence of completely ossified superior transverse scapular ligament. BMC Musculoskelet Disord. 2020 Nov 10;21:733. doi: 10.1186/s12891-020-03769-2 PMCID: PMC7656716. Lisans: CC BY.</a:t>
            </a:r>
          </a:p>
          <a:p>
            <a:r>
              <a:t>Altyazı: Photographs of the scapulae representing the suprascapular notch types of the study</a:t>
            </a:r>
          </a:p>
          <a:p>
            <a:r>
              <a:t>Polguj Michał, Rożniecki Jacek, Sibiński Marcin et al. The variable morphology of suprascapular nerve and vessels at suprascapular notch: a proposal for classification and its potential clinical implications. Knee Surg Sports Traumatol Arthrosc. 2014 Mar 18;23(5):1542–8. doi: 10.1007/s00167-014-2937-1 PMCID: PMC4555201. Lisans: CC BY.</a:t>
            </a:r>
          </a:p>
          <a:p>
            <a:r>
              <a:t>Altyazı: Type I arrangement of the suprascapular nerve, artery and vein at the suprascapular notch. a Structures at the cadaver, b schematic arrangements. 1 suprascapular artery, 2 suprascapular vein, 3 suprascapular nerve, 4 superior transverse scapular ligament. La lateral, Me medial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Piagkou Maria, Tsakotos George, Triantafyllou George et al. Coracobrachialis muscle morphology and coexisted neural variants: a cadaveric case series. Surg Radiol Anat. 2023 Jul 18;45(9):1117–24. doi: 10.1007/s00276-023-03207-7 PMCID: PMC10514118. Lisans: CC BY.</a:t>
            </a:r>
          </a:p>
          <a:p>
            <a:r>
              <a:t>Altyazı: A left-sided (L) accessory innervation of the coracobrachialis muscle (CB) by the musculocutaneous nerve (MCN) proximal three branches (1, 2, 3 depicting with yellow asterisks), before the MCN piercing the muscle, MN median nerve, UN ulnar nerve, BA brachial artery</a:t>
            </a:r>
          </a:p>
          <a:p>
            <a:r>
              <a:t>Piagkou Maria, Tsakotos George, Triantafyllou George et al. Coracobrachialis muscle morphology and coexisted neural variants: a cadaveric case series. Surg Radiol Anat. 2023 Jul 18;45(9):1117–24. doi: 10.1007/s00276-023-03207-7 PMCID: PMC10514118. Lisans: CC BY.</a:t>
            </a:r>
          </a:p>
          <a:p>
            <a:r>
              <a:t>Altyazı: B Three-headed CB (right side) coexisted with (A). One-headed CB (left side). In the left arm, a musculocutaneous nerve (MCN) of a medial course was identified and trifurcated into branches for the innervation of the biceps brachii short head (BBsh) and long head (BBlh), while the two main trunks continued their course and after giving off branches to brachialis, they joined, creating a loop around the BB long head fibers. A Interconnection of the MCN with the median nerve (MN) in the middle third of humerus, muscular slip of the BB. B 1, 2, 3 three heads originating in order from the coracoid process, the BBsh (superficial heads) and the deep one from the CP 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Triantafyllou George, Tsakotos George, Samolis Alexandros et al. Fenestrated Basilic Vein Traversed by a Rare Variant of the Medial Brachial Cutaneous Nerve. Cureus. 2025 Oct 17;17(10):e94802. doi: 10.7759/cureus.94802 PMCID: PMC12619963. Lisans: CC BY.</a:t>
            </a:r>
          </a:p>
          <a:p>
            <a:r>
              <a:t>Altyazı: A variant interconnection of the medial brachial cutaneous nerve traverses the fenestrated basilic vein.(A) Dissection of the right upper limb of a 68-year-old male cadaver demonstrates the fenestrated basilic vein (BaV) – with a lateral limb (BaV-ll) and a medial (BaV-ml) - penetrated by the interconnection of the medial brachial cutaneous nerve (MBCN), with the ulnar nerve (UN) defined as MBCN-UN*. The brachial vein (BrV), brachial artery (BA), and median nerve (MN) are shown in their usual topography. (B) Schematic illustration of the same region, showing the transvenous course (*) of the MBCN-UN* through the fenestrated segment of the BaV and its relationship with surrounding structures. PMi: pectoralis minor muscle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Sophia Laishram, Singh Darshita, Xalxo Neha et al. Upper limb arterial pattern: clinical correlation and embryological perspective. J Vasc Bras. 2021 Jun 11;20:e20210008. doi: 10.1590/1677-5449.210008 PMCID: PMC8210643. Lisans: CC BY.</a:t>
            </a:r>
          </a:p>
          <a:p>
            <a:r>
              <a:t>Altyazı: High division of the brachial artery into radial and ulnar artery.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Qawasmi Feras, Qawasmi Lena, Safadi Hazem et al. Triceps aponeurosis and deltoid tuberosity as a landmarks for radial nerve dissection: a cadaveric study. JSES Int. 2024 Apr 13;8(5):1122–5. doi: 10.1016/j.jseint.2024.03.017 PMCID: PMC11401578. Lisans: CC BY.</a:t>
            </a:r>
          </a:p>
          <a:p>
            <a:r>
              <a:t>Altyazı: Illustrates the positioning of the radial nerve () in relation to the distal aspect of the deltoid tuberosity ().</a:t>
            </a:r>
          </a:p>
          <a:p>
            <a:r>
              <a:t>Qawasmi Feras, Qawasmi Lena, Safadi Hazem et al. Triceps aponeurosis and deltoid tuberosity as a landmarks for radial nerve dissection: a cadaveric study. JSES Int. 2024 Apr 13;8(5):1122–5. doi: 10.1016/j.jseint.2024.03.017 PMCID: PMC11401578. Lisans: CC BY.</a:t>
            </a:r>
          </a:p>
          <a:p>
            <a:r>
              <a:t>Altyazı: Depicts the triceps aponeurosis anatomy. The () denotes the aponeurosis, while the () connects its medial and lateral edges. The () marks the midpoint of this (), serving as the reference point for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Heo Yu-Ran, Lee Hyunsu, Lee Si-Wook et al. Supernumerary Head of the Biceps Brachii Muscle Influences the Topography of the Coracobrachialis and Biceps Brachii Muscles. Medicina (Kaunas). 2024 Oct 22;60(11):1726. doi: 10.3390/medicina60111726 PMCID: PMC11596292. Lisans: CC BY.</a:t>
            </a:r>
          </a:p>
          <a:p>
            <a:r>
              <a:t>Altyazı: Representative photography of the muscular and neurovascular structures in arm (A) and upper arm (B). BA, brachial artery; CBM, coracobrachialis muscle; DBA, deep brachial artery. LH, long head; MCN, musculocutaneous nerve; MN, median nerve; SH, short head; TM, teres major muscle.</a:t>
            </a:r>
          </a:p>
          <a:p>
            <a:r>
              <a:t>Heo Yu-Ran, Lee Hyunsu, Lee Si-Wook et al. Supernumerary Head of the Biceps Brachii Muscle Influences the Topography of the Coracobrachialis and Biceps Brachii Muscles. Medicina (Kaunas). 2024 Oct 22;60(11):1726. doi: 10.3390/medicina60111726 PMCID: PMC11596292. Lisans: CC BY.</a:t>
            </a:r>
          </a:p>
          <a:p>
            <a:r>
              <a:t>Altyazı: Schematic image of topography of muscular and neurovascular structures from the coracoid process.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Nasr Ashraf Youssef, Youssef Rawan Ashraf Morphological classification, anatomical variations, innervation patterns, musculocutaneous nerve relation of the coracobrachialis muscle: anatomical study and clinical significance. Anat Cell Biol. 2024 May 13;57(2):194–203. doi: 10.5115/acb.24.032 PMCID: PMC11184416. Lisans: CC BY-NC.</a:t>
            </a:r>
          </a:p>
          <a:p>
            <a:r>
              <a:t>Altyazı: The morphological types of the CBM. (A) Single belly CBM (type I) originating from the CP of scapula in common with the SH with superficial course of MCN. (B) Two-headed CBM (type II) shows superficial head (1) originating from CP and deep head (2) originating from SH with passage of MCN between them. (C) The three-headed CBM (type III) exhibits two superficial heads (1, 2) originating from the SH directly or through a common tendon and a deep head (3) originating from CP and inserts into the middle of anteromedial surface of humerus with passage of MCN between its superficial and deep heads. (D) The four-headed CBM (type IV) has two superficial heads (1, 4) originating from CP and SH respectively and two deep heads (2, 3) originating from CP directly and in common with SH with passage of MCN between the deep and superficial heads. The 4th head (4) fuses with the common tendon of biceps brachii muscle. CBM, coracobrachialis muscle; MCN, musculocutaneous nerve; LH, long head of biceps; LCF, lateral cutaneous nerve of forearm; MN, median nerve; LC, lateral cord of brachial plexus; LR, lateral root of MN; MR, medial root of MN; AX, axillary artery; BA, brachial artery; SH, short head of biceps; UN, ulnar nerve; CP, coracoid process; MC, medial cord; Cb, communicating branch; 3rd, third head of biceps; Lat. Dorsi, latissimus dorsi muscle.</a:t>
            </a:r>
          </a:p>
          <a:p>
            <a:r>
              <a:t>Nasr Ashraf Youssef, Youssef Rawan Ashraf Morphological classification, anatomical variations, innervation patterns, musculocutaneous nerve relation of the coracobrachialis muscle: anatomical study and clinical significance. Anat Cell Biol. 2024 May 13;57(2):194–203. doi: 10.5115/acb.24.032 PMCID: PMC11184416. Lisans: CC BY-NC.</a:t>
            </a:r>
          </a:p>
          <a:p>
            <a:r>
              <a:t>Altyazı: Formation, relation to CBM, and branching patterns of the MCN. (A) The MCN is the continuation of the LC of brachial plexus. It pierces CBM and descends between biceps and brachialis muscle. MCN gives branches to biceps (1), brachialis (2) and continues as LCF (3). The MN has three roots, two lateral (R1, R2) originating from its corresponding cord the LC and one MR originating from the MC of brachial plexus. Muscular branch to CBM originating from LC (arrow). (B) The MCN has two roots; one originating from the LC (R1) and the other (R2) originating from MC. MCN pierces CBM and gives branches to biceps (1), brachialis (2) and LCF (3). Also, the MN of this limb has one root only originating from the medial cord and crosses the BA deeply from lateral to medial aspect. (C) The MCN is normally formed as a continuation of the LC and descends superficial to CBM without piercing to pass between biceps and brachialis muscles. MCN gives branches to biceps (1), brachialis (2), and LCF (3). The MN is formed on the medial side of the BA from long LR of LC and MR from MC of brachial plexus. (D) The abnormal formation of MN from MC and union of the anterior division of both UT and MT that form the LC. MN gives branches to CBM (arrow), biceps (1), brachialis (2) and LCF (3). The MN crosses the BA superficially from lateral to medial side to pass deep to the abnormal insertion (****) of the brachialis muscle. MCN is absent. CBM, coracobrachialis muscle; MCN, musculocutaneous nerve; SH, short head of biceps; LH, long head of biceps; BA, brachial artery; AX, axillary artery; LC, lateral cord; MN, median nerve; MR, medial root; MC, medial cord; LCF, lateral cutaneous nerve of forearm; UN, ulnar nerve; LR, lateral root; MC, medial cord; UT, upper trunk; MT, middle trunk; Lat. Dorsi, latissimus dorsi muscle; MCF, medial cutaneous of forearm.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Caetano Edie Benedito, Vieira Luiz Ângelo, Cavalheiro Cristina Schmitt et al. ANATOMIC STUDY OF THE NERVOUS COMMUNICATION BETWEEN THE MEDIAN AND MUSCULOUCUTANEOUS NERVE. Acta Ortop Bras. 2016 Jul-Aug;24(4):200–3. doi: 10.1590/1413-785220162404159372 PMCID: PMC5035692. Lisans: CC BY.</a:t>
            </a:r>
          </a:p>
          <a:p>
            <a:r>
              <a:t>Altyazı: Specimen 16 - A. Left (presence of anastomotic branch in the middle third of the arm); B. Detail of the insertion of the anastomotic branch into the median nerve.</a:t>
            </a:r>
          </a:p>
          <a:p>
            <a:r>
              <a:t>Caetano Edie Benedito, Vieira Luiz Ângelo, Cavalheiro Cristina Schmitt et al. ANATOMIC STUDY OF THE NERVOUS COMMUNICATION BETWEEN THE MEDIAN AND MUSCULOUCUTANEOUS NERVE. Acta Ortop Bras. 2016 Jul-Aug;24(4):200–3. doi: 10.1590/1413-785220162404159372 PMCID: PMC5035692. Lisans: CC BY.</a:t>
            </a:r>
          </a:p>
          <a:p>
            <a:r>
              <a:t>Altyazı: Specimen 8 - Left (presence of musculocutaneous-median anas tomotic branch).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Fregnani José Humberto Tavares Guerreiro, Macéa Maria Inez Marcondes, Pereira Celina Siqueira Barbosa et al. Absence of the musculocutaneous nerve: a rare anatomical variation with possible clinical-surgical implications. Sao Paulo Med J. 2008 Sep 4;126(5):288–90. doi: 10.1590/S1516-31802008000500009 PMCID: PMC11026042. Lisans: CC BY.</a:t>
            </a:r>
          </a:p>
          <a:p>
            <a:r>
              <a:t>Altyazı: Lateral view of the right axilla. The lateral fasciculus of the brachial plexus (2) continues as the lateral root of the median nerve (3) without giving rise to the musculocutaneous nerve. Legend: 1) Pectoralis minor muscle; 2) Lateral fasciculus of the brachial plexus; 3) Lateral root of the median nerve (continuation of the lateral fasciculus); 4) Axillary artery; 5) Median nerve; 6) Medial root of the median nerve; 7) Ulnar nerve; 8) Medial antebrachial cutaneous nerve.</a:t>
            </a:r>
          </a:p>
          <a:p>
            <a:r>
              <a:t>Fregnani José Humberto Tavares Guerreiro, Macéa Maria Inez Marcondes, Pereira Celina Siqueira Barbosa et al. Absence of the musculocutaneous nerve: a rare anatomical variation with possible clinical-surgical implications. Sao Paulo Med J. 2008 Sep 4;126(5):288–90. doi: 10.1590/S1516-31802008000500009 PMCID: PMC11026042. Lisans: CC BY.</a:t>
            </a:r>
          </a:p>
          <a:p>
            <a:r>
              <a:t>Altyazı: Anterior view of the right arm. Branches emerge from the lateral margin of the median nerve (2 and 3), heading towards the biceps brachii and brachialis muscles. Legend: 1) Coracobrachialis muscle; 2) Branch of the median nerve to the biceps brachii muscle; 3) Branch of the median nerve to the brachialis muscle; 4) Biceps brachii muscle; 5) Brachialis muscle; 6) Median nerve; 7) Brachial artery; 8) Medial antebrachial cutaneous nerve; 9) Ulnar nerve.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Koutserimpas Christos, Tsakotos George, Piagkou Maria et al. The Coexistence of the Superficial Brachial Artery With the Common Origin of the Posterior Circumflex Humeral Artery and the Deep Brachial Artery. Cureus. 2023 Sep 25;15(9):e45903. doi: 10.7759/cureus.45903 PMCID: PMC10599095. Lisans: CC BY.</a:t>
            </a:r>
          </a:p>
          <a:p>
            <a:r>
              <a:t>Altyazı: The brachial artery (BA) trifurcation on the right arm, below the tendon of the latissimus dorsi muscle (LD)A. B. The axillary artery (AA) continuation and its trifurcation below the tendon of the LD into a superficial brachial artery (SBA), and the main BA, B. a common trunk (CT) that gave off an aberrant posterior circumflex humeral artery (1), the deep brachial artery (3) accompanied by the radial nerve (RN), muscular branches, and the nutrient humeral artery (2). A. The median nerve (MN) is formed by two lateral roots (yellow asterisks) and a medial root (white asterisk). C. The anterior circumflex humeral artery (ACHA1, ACHA2) duplication.UN-ulnar nerve, AN-axillary nerve, SSA-subscapular artery high origin from the AA second part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Jangir Kanchan, Singh Brij Raj, Nair Nancy et al. An Unusual High Bifurcation of the Brachial Artery: A Cadaveric Case Report. Cureus. 2024 Mar 6;16(3):e55681. doi: 10.7759/cureus.55681 PMCID: PMC10997832. Lisans: CC BY.</a:t>
            </a:r>
          </a:p>
          <a:p>
            <a:r>
              <a:t>Altyazı: HBBA in a cadaverRed color shows the arteries and yellow shows the nervesMN: median nerve, MCN: musculocutaneous nerve, BA: brachial artery, UA: ulnar artery, RA: radial artery, UN: ulnar nerve, MCNF: median courteous nerve of forearm, BB: biceps brachii, HBBA: high bifurcation of the brachial artery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Haładaj Robert, Wysiadecki Grzegorz, Dudkiewicz Zbigniew et al. The High Origin of the Radial Artery (Brachioradial Artery): Its Anatomical Variations, Clinical Significance, and Contribution to the Blood Supply of the Hand. Biomed Res Int. 2018 Jun 11;2018:1520929. doi: 10.1155/2018/1520929 PMCID: PMC6016218. Lisans: CC BY.</a:t>
            </a:r>
          </a:p>
          <a:p>
            <a:r>
              <a:t>Altyazı: Two examples of the brachioradial artery originating in the arm. In both cases the brachioradial artery ran superficially to median nerve. (a) Right female upper limb. Anatomical relations within the medial bicipital groove. The brachioradial artery runs under the bicipital aponeurosis; within the forearm, it continues as the radial artery and occupies a typical position. (b) Left male upper limb. Two arterial trunks (brachioradial and “normal” brachial artery) are visible within the medial bicipital groove. In its course, the brachioradial artery crosses the anterior surface of the median nerve above the intercondylar line of the humerus running to the lateral side of this nerve. BA: brachial artery; BV: basilic vein; BRA: brachioradial artery; CV: cephalic vein; MCNF: medial cutaneous nerve of forearm; MCV: median cubital vein; MN: median nerve; UN: ulnar nerve. White arrowhead shows the origin of the brachioradial artery.</a:t>
            </a:r>
          </a:p>
          <a:p>
            <a:r>
              <a:t>Haładaj Robert, Wysiadecki Grzegorz, Dudkiewicz Zbigniew et al. The High Origin of the Radial Artery (Brachioradial Artery): Its Anatomical Variations, Clinical Significance, and Contribution to the Blood Supply of the Hand. Biomed Res Int. 2018 Jun 11;2018:1520929. doi: 10.1155/2018/1520929 PMCID: PMC6016218. Lisans: CC BY.</a:t>
            </a:r>
          </a:p>
          <a:p>
            <a:r>
              <a:t>Altyazı: Selected anatomical variations of the cubital crossover (marked by black arrowheads) between the brachioradial and “normal” brachial artery. (a) Typical course of the radial artery. (b) Dominant type of cubital crossover with hypoplastic preanastomotic part of brachioradial artery. (c) Balanced type. (d) Arterial island (described by Piagkou et al. [42]). (e) Minimal type. (f) No anastomosis between the brachioradial and “normal” brachial artery within the cubital fossa. aRRA: accessory radial recurrent artery; BA: brachial artery; BRA: brachioradial artery; CIA: common interosseous artery; hBRA: hypoplastic preanastomotic part of brachioradial artery; MB: muscular branch; RA: radial artery; RRA: radial recurrent artery; UA: ulnar artery; URA: ulnar recurrent artery.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Caetano Edie Benedito, Sabongi João José, Vieira Luiz Angelo et al. STRUTHERS’ LIGAMENT AND SUPRACONDYLAR HUMERAL PROCESS: AN ANATOMICAL STUDY AND CLINICAL IMPLICATIONS. Acta Ortop Bras. 2017 Jul-Aug;25(4):137–42. doi: 10.1590/1413-785220172504168330 PMCID: PMC5608727. Lisans: CC BY-NC.</a:t>
            </a:r>
          </a:p>
          <a:p>
            <a:r>
              <a:t>Altyazı: A) In the right arm of one corpse, we identified high insertion of the pronator teres muscle (a) from which a cord-shaped ligament originated (b) and was positioned on the median nerve (c) and the brachial artery (d) inserting into the diaphysis of the humerus. B) On the left side, the ligament originated in the same place and was inserted proximally but had no relation to the median nerve or brachial artery. The pronator teres muscle (a); Struthers’ ligament (b); median nerve (c); brachial artery (d).</a:t>
            </a:r>
          </a:p>
          <a:p>
            <a:r>
              <a:t>Caetano Edie Benedito, Sabongi João José, Vieira Luiz Angelo et al. STRUTHERS’ LIGAMENT AND SUPRACONDYLAR HUMERAL PROCESS: AN ANATOMICAL STUDY AND CLINICAL IMPLICATIONS. Acta Ortop Bras. 2017 Jul-Aug;25(4):137–42. doi: 10.1590/1413-785220172504168330 PMCID: PMC5608727. Lisans: CC BY-NC.</a:t>
            </a:r>
          </a:p>
          <a:p>
            <a:r>
              <a:t>Altyazı: We identified two similar cases (A) in the right arm of a recently-deceased cadaver and (B) in the left arm of another cadaver preserved in formaldehyde and glycerin; the Struthers’ ligament was composed of a fibrous lamina (b) originating in the medial epicondyle and adjacent brachial fascia, moving upwards and passing over the median nerve (c) and brachial artery (d) to insert itself into the fascia of the brachial muscle and the humeral shaft. Pronator teres (a).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Behiery Ayman, Bakir Mohamad, Dawalibi Ahmad et al. Reversed Palmaris Longus: A Rare Anatomical Phenomenon Discovered. Cureus. 2023 May 2;15(5):e38424. doi: 10.7759/cureus.38424 PMCID: PMC10235925. Lisans: CC BY.</a:t>
            </a:r>
          </a:p>
          <a:p>
            <a:r>
              <a:t>Altyazı: Gross image of the dissected right forearm1- Normal Right Palmaris Longus Muscle, 2- Flexor Carpi Ulnaris Muscle, 3- Flexor Carpi Radialis Muscle, 4- Pronator Teres Muscle, 5- Flexor Digitorum Superficialis Muscle, 6- Brachioradialis Muscle, 7- Radial Artery, 8- Brachial Artery✱ Medial EpicondyleB- Bicipital Aponeurosis (remaining parts of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Hoshika Shota, Nimura Akimoto, Yamaguchi Reiko et al. Medial elbow anatomy: A paradigm shift for UCL injury prevention and management. Clin Anat. 2019 Jan 9;32(3):379–89. doi: 10.1002/ca.23322 PMCID: PMC6850211. Lisans: CC BY.</a:t>
            </a:r>
          </a:p>
          <a:p>
            <a:r>
              <a:t>Altyazı: Muscular and tendinous structures of the flexor‐pronator muscles (FPMs). The medial aspect of the left elbow is shown. (A) After removal of the superficial fascia, FPMs were shown to form a common muscular origin on the medial supracondylar ridge and the medial epicondyle of the humerus (MEC). (B) The palmaris longus (PL) and flexor carpi radialis (FCR) muscles were removed, and the flexor digitorum superficialis (FDS) muscle was exposed. Between the pronator teres (PT) and FDS muscles (red dotted line), and the FDS and flexor carpi ulnaris (FCU) muscles (blue dotted line), the tendinous septa (TS) could be identified. (C) After removal of muscular parts of the PT, FDS, and FCU muscles, the median nerve (MN) was shown to penetrate the TS between the PT and FDS muscles (red dotted area), and the ulnar nerve (UN) passed posterior to the TS between the FDS and FCU muscles (blue dotted area). FDP, flexor digitorum profundus; Dist, distal; Prox, proximal. [Color figure can be viewed at https://wileyonlinelibrary.com]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Walch Arnaud, Despert Hugo, Jubelin Clément et al. Risk of anterior interosseous nerve injury during forearm surgery: a cadaveric study. Eur J Trauma Emerg Surg. 2025 May 6;51(1):197. doi: 10.1007/s00068-025-02869-9 PMCID: PMC12055948. Lisans: CC BY.</a:t>
            </a:r>
          </a:p>
          <a:p>
            <a:r>
              <a:t>Altyazı: Exposure of the anterior interosseous nerve (AIN) and its branches. Arrows indicate the nerve branches supplying the muscles. AIN, Anterior interosseous nerve; FPL, Flexor pollicis longus, FDP, Flexor digitorum profundus; PQ Pronator quadratus</a:t>
            </a:r>
          </a:p>
          <a:p>
            <a:r>
              <a:t>Walch Arnaud, Despert Hugo, Jubelin Clément et al. Risk of anterior interosseous nerve injury during forearm surgery: a cadaveric study. Eur J Trauma Emerg Surg. 2025 May 6;51(1):197. doi: 10.1007/s00068-025-02869-9 PMCID: PMC12055948. Lisans: CC BY.</a:t>
            </a:r>
          </a:p>
          <a:p>
            <a:r>
              <a:t>Altyazı: Schematic representation of the anatomical relationship of the anterior interosseous nerve (AIN) and the radius and ulna. FDP: flexor digitorum profundus, FPL: flexor pollicis longue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Granger Andre, Sardi Juan P, Iwanaga Joe et al. Osborne’s Ligament: A Review of its History, Anatomy, and Surgical Importance. Cureus. 2017 Mar 6;9(3):e1080. doi: 10.7759/cureus.1080 PMCID: PMC5383373. Lisans: CC BY.</a:t>
            </a:r>
          </a:p>
          <a:p>
            <a:r>
              <a:t>Altyazı: Cadaveric dissection of the right posterior elbowNote the ulnar nerve (crossing pin) as it travels deep into the ligament of Osborne seen here as a triangular connective tissue joining the proximal ulnar and humeral heads of the flexor carpi ulnaris (FCU). For reference, note the medial epicondyle (M) and olecranon (O).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Carrillo Fabio, Suter Simon, Casari Fabio A. et al. Digitalization of the IOM: A comprehensive cadaveric study for obtaining three-dimensional models and morphological properties of the forearm’s interosseous membrane. Sci Rep. 2020 Apr 14;10:6401. doi: 10.1038/s41598-020-63436-3 PMCID: PMC7156465. Lisans: CC BY.</a:t>
            </a:r>
          </a:p>
          <a:p>
            <a:r>
              <a:t>Altyazı: IOM exposure and annotation ligaments. (a) Forearm after exposure. IOM is indicated by the white arrow. (b–e) Annotation of IOM structures with surgical clips. (b) DOB (distal joint to the left); (c) AB (distal joint to the left); (d) CB (distal joint to the right) and (e) DOAC (distal joint to the right). Locations of the surgical clips are indicated in red.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Coello Maria Amelia, Coomar Lokesh A., Campbell Meadow A Unique Bilateral Variation of the Extensor Carpi Radialis Longus: A Case Report. J Funct Morphol Kinesiol. 2024 Jun 25;9(3):109. doi: 10.3390/jfmk9030109 PMCID: PMC11270274. Lisans: CC BY.</a:t>
            </a:r>
          </a:p>
          <a:p>
            <a:r>
              <a:t>Altyazı: Classical anatomy of the right posterior forearm. Dissection of the posterior compartment of the right forearm showing the typical anatomy of its musculature (ER: extensor retinaculum, ECRL: extensor carpi radialis longus, ECRB: extensor carpi radialis brevis, EPL: extensor pollicis longus, EPB: extensor pollicis brevis, APL: abductor pollicis longus, ED: extensor digitorum).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 Jeon, York Blair, Tawfik John Posterior Interosseous Nerve Compression. Eplasty. 2014 Jan 31;14:ic4. PMCID: PMC3919107. Lisans: CC BY.</a:t>
            </a:r>
          </a:p>
          <a:p>
            <a:r>
              <a:t>Altyazı: Anterior approach to posterior interosseous nerve decompression. Superficial dissection. BR indicates brachioradialis; RA, radial artery; SRN, superficial radial nerve.</a:t>
            </a:r>
          </a:p>
          <a:p>
            <a:r>
              <a:t>Cha Jeon, York Blair, Tawfik John Posterior Interosseous Nerve Compression. Eplasty. 2014 Jan 31;14:ic4. PMCID: PMC3919107. Lisans: CC BY.</a:t>
            </a:r>
          </a:p>
          <a:p>
            <a:r>
              <a:t>Altyazı: Radial recurrent vessels forming part of the roof of the radial tunnel. BR indicates brachioradialis; LH, Leash of Henry; RT, radial tunnel.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Węgiel Andrzej, Karauda Piotr, Zielinska Nicol et al. Radial nerve compression: anatomical perspective and clinical consequences. Neurosurg Rev. 2023 Feb 13;46(1):53. doi: 10.1007/s10143-023-01944-2 PMCID: PMC9925568. Lisans: CC BY.</a:t>
            </a:r>
          </a:p>
          <a:p>
            <a:r>
              <a:t>Altyazı: Five basic points of compression of the radial nerve, RN radial nerve, SBRN superficial branch of the radial nerve, PIN posterior interosseous nerve, ECRB extensor carpi radialis brevis muscle, S supinator muscle, 1 fibrous tissue, 2 radial recurrent vessels, 3 margin of the ECRB, 4 proximal margin of the supinator muscle, 5 distal border of the supinator muscle</a:t>
            </a:r>
          </a:p>
          <a:p>
            <a:r>
              <a:t>Węgiel Andrzej, Karauda Piotr, Zielinska Nicol et al. Radial nerve compression: anatomical perspective and clinical consequences. Neurosurg Rev. 2023 Feb 13;46(1):53. doi: 10.1007/s10143-023-01944-2 PMCID: PMC9925568. Lisans: CC BY.</a:t>
            </a:r>
          </a:p>
          <a:p>
            <a:r>
              <a:t>Altyazı: The arcade of Frohse, PIN posterior interosseous nerve, AF arcade of Frohse, DLSM deep layer of the supinator muscle, SLSM superficial layer of the supinator muscle, BRM brachioradialis muscle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Qawasmi Feras, Goss Mark, Shweiki Fadi et al. Anatomical considerations for safe retractor placement in distal biceps repair: a cadaveric study of the posterior interosseous nerve. Surg Radiol Anat. 2025 Oct 6;47(1):223. doi: 10.1007/s00276-025-03728-3 PMCID: PMC12500735. Lisans: CC BY.</a:t>
            </a:r>
          </a:p>
          <a:p>
            <a:r>
              <a:t>Altyazı: Cadaveric dissection illustrating the relationship between the radiocapitellar joint and the bifurcation of the radial nerve. The pinkish needle is placed at the level of the radiocapitellar joint. The radial nerve divides into the superficial radial sensory nerve (marked with a star) and the posterior interosseous nerve (PIN, marked with a square). The branch to the extensor carpi radialis brevis (ECRB) is indicated with a circle</a:t>
            </a:r>
          </a:p>
          <a:p>
            <a:r>
              <a:t>Qawasmi Feras, Goss Mark, Shweiki Fadi et al. Anatomical considerations for safe retractor placement in distal biceps repair: a cadaveric study of the posterior interosseous nerve. Surg Radiol Anat. 2025 Oct 6;47(1):223. doi: 10.1007/s00276-025-03728-3 PMCID: PMC12500735. Lisans: CC BY.</a:t>
            </a:r>
          </a:p>
          <a:p>
            <a:r>
              <a:t>Altyazı: Cadaveric dissection demonstrates that the posterior interosseous nerve (PIN) is surrounded by muscle layers between the superficial and deep heads of the supinator muscle. When the supinator was elevated from ulnar to radial direction, the PIN remained protected within the supinator muscle between the superficial and deep heads of the muscle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Olewnik Łukasz, Podgórski Michał, Polguj Michał et al. Anatomical variations of the pronator teres muscle in a Central European population and its clinical significance. Anat Sci Int. 2017 Aug 28;93(2):299–306. doi: 10.1007/s12565-017-0413-y PMCID: PMC5797209. Lisans: CC BY.</a:t>
            </a:r>
          </a:p>
          <a:p>
            <a:r>
              <a:t>Altyazı: Types of course of the median nerve. a Type I of the median nerve course. b Type II of the median nerve course. c Type III of the median nerve course. MN median nerve, hhPT humeral head of the pronator teres muscle, PT pronator teres muscle, asterisk ulnar head of the pronator teres muscle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Haładaj Robert, Wysiadecki Grzegorz, Dudkiewicz Zbigniew et al. The High Origin of the Radial Artery (Brachioradial Artery): Its Anatomical Variations, Clinical Significance, and Contribution to the Blood Supply of the Hand. Biomed Res Int. 2018 Jun 11;2018:1520929. doi: 10.1155/2018/1520929 PMCID: PMC6016218. Lisans: CC BY.</a:t>
            </a:r>
          </a:p>
          <a:p>
            <a:r>
              <a:t>Altyazı: Dominant type of cubital crossover. Anterior view of the cubital fossa, right upper limb. This type of anastomosis between the brachioradial and “normal” brachial artery is characterized by a greater diameter than the brachial segment of the brachioradial artery. The brachioradial artery is present, but hypoplastic. BA: brachial artery; hBRA: hypoplastic brachial segment of the brachioradial artery; MN: median nerve; RA: radial artery. White arrowheads show the cubital crossover.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Miguel-Pérez Maribel, Ortiz-Miguel Sara, Martínez Ana et al. Superficial Arterial Variants of the Upper Limb: Clinical Implications of High-Origin Ulnar and Radial Arteries Detected by Ultrasound and Anatomy Study. J Funct Morphol Kinesiol. 2025 Jun 27;10(3):246. doi: 10.3390/jfmk10030246 PMCID: PMC12286150. Lisans: CC BY.</a:t>
            </a:r>
          </a:p>
          <a:p>
            <a:r>
              <a:t>Altyazı: Dissection at the elbow, the superficial ulnar artery (SUA) and superficial radial artery (SRA)covered by the bicipital aponeurosis. Brachial artery (BA) and median nerve (MN) crossed the cubital fossa superficially, medial to the biceps brachii tendon (BBT). Bracial muscle (B), medial epicopndyle (ME), medial epicondyle proximal attachment muscles (MEP), and brachioradialis muscle (BR).</a:t>
            </a:r>
          </a:p>
          <a:p>
            <a:r>
              <a:t>Miguel-Pérez Maribel, Ortiz-Miguel Sara, Martínez Ana et al. Superficial Arterial Variants of the Upper Limb: Clinical Implications of High-Origin Ulnar and Radial Arteries Detected by Ultrasound and Anatomy Study. J Funct Morphol Kinesiol. 2025 Jun 27;10(3):246. doi: 10.3390/jfmk10030246 PMCID: PMC12286150. Lisans: CC BY.</a:t>
            </a:r>
          </a:p>
          <a:p>
            <a:r>
              <a:t>Altyazı: (Left) Distal ultrasound view of the forearm with the superficial ulnar artery (SUA) and the superficial radial artery (SRA) in relation to the flexor carpi ulnaris (FCU) and ulnar nerve (UN) flexor carpi radialis (FCR) and pronator quadratus muscle (PT). Flexor digitorum superficialis (FDS) and flexor digitorum profundus (FDP). (Right) Dissection of the anterior side of the forearm it could see the palmaris longus (PL), the flexor carpi ulnaris (FCU) and the superficial ulnar artery (SUA) and the superficial radial artery (SAR) under the forearm fascia was not dissected in the inferior third of the forearm.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Casteel Andrew T, McNees Braden R, Iwanaga Joe et al. An Anatomical Variation of the Anconeus Epitrochlearis Muscle: A Case Report. Cureus. 2025 Jul 25;17(7):e88743. doi: 10.7759/cureus.88743 PMCID: PMC12375367. Lisans: CC BY.</a:t>
            </a:r>
          </a:p>
          <a:p>
            <a:r>
              <a:t>Altyazı: As presented on the right medial elbow of the female cadaver, the anconeus epitrochlearis demonstrates its typical anatomy and course from the medial epicondyle of the humerus to the olecranon (black arrow). The ulnar nerve (blue arrows) courses underneath the muscle through the cubital tunnel.</a:t>
            </a:r>
          </a:p>
          <a:p>
            <a:r>
              <a:t>Casteel Andrew T, McNees Braden R, Iwanaga Joe et al. An Anatomical Variation of the Anconeus Epitrochlearis Muscle: A Case Report. Cureus. 2025 Jul 25;17(7):e88743. doi: 10.7759/cureus.88743 PMCID: PMC12375367. Lisans: CC BY.</a:t>
            </a:r>
          </a:p>
          <a:p>
            <a:r>
              <a:t>Altyazı: On the left medial elbow of the female cadaver, the anconeus epitrochlearis demonstrates its atypical anatomy but follows the typical course from the medial epicondyle of the humerus to the olecranon of the ulna.The ulnar nerve (*) courses underneath the muscle through the cubital tunnel. The three heads of the anconeus epitrochlearis (white arrows) can be seen.FCU: flexor carpi ulnaris; MEC: medial epicondyle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Seth Suryakanta, Sangma Sarah S, Sahni Chetan et al. Persistent Median Arteries: A Cadaveric Study of Prevalence, Variants, and Clinical Relevance. Cureus. 2026 Jan 11;18(1):e101320. doi: 10.7759/cureus.101320 PMCID: PMC12892004. Lisans: CC BY.</a:t>
            </a:r>
          </a:p>
          <a:p>
            <a:r>
              <a:t>Altyazı: PMA piercing the median nerve in the proximal forearm (left upper limb). The artery is seen coursing through the nerve, highlighted with arrowheadsBA: brachial artery, UA: ulnar artery, RA: radial artery, MN: median nerve, PMA: persistent median artery, CT: carpal tunnel</a:t>
            </a:r>
          </a:p>
          <a:p>
            <a:r>
              <a:t>Seth Suryakanta, Sangma Sarah S, Sahni Chetan et al. Persistent Median Arteries: A Cadaveric Study of Prevalence, Variants, and Clinical Relevance. Cureus. 2026 Jan 11;18(1):e101320. doi: 10.7759/cureus.101320 PMCID: PMC12892004. Lisans: CC BY.</a:t>
            </a:r>
          </a:p>
          <a:p>
            <a:r>
              <a:t>Altyazı: Antebrachial type of PMA blending with the perineurium of the median nerve in the proximal forearmBA: brachial artery, UA: ulnar artery, RA: radial artery, MN: median nerve, PMA: persistent median artery, CIA: common interosseous artery, AIA: anterior iterosseous artery, PIA: posterior interosseous artery, MB: muscular branch, CT: carpal tunnel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Elhossiny Asem H, Bakir Mohamad, Dawalibi Ahmad et al. Persistent Median Artery, Bifid Median Nerve, and Reversed Palmaris Longus Encountered During Cadaveric Dissection: The First Reported Case. Cureus. 2023 Jun 12;15(6):e40324. doi: 10.7759/cureus.40324 PMCID: PMC10343151. Lisans: CC BY.</a:t>
            </a:r>
          </a:p>
          <a:p>
            <a:r>
              <a:t>Altyazı: Gross image of the left forearm and hand showing the persistent median artery, bifid median nerve, and reversed palmaris longus1. PMA, 2. A branch connecting the PMA to the DPA, 3. Ulnar artery, 4. Superficial palmar arch, 5. Deep palmar arch, 6. Radial artery, 7. The first common palmar metacarpal arteryMN: Median nerve, RBMN: Radial branch of median nerve, MBMN: Medial branch of median nerve, BR: Brachioradialis muscle, FCR: Flexor carpi radialis muscle, FDS: Flexor digitorum superficialis muscle, R-PL: Reversed palmaris longus muscle, CT: Cut tendon belonging to FDS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Sawyer F. Kip, Stefanik Joshua J., Lufler Rebecca S. The Branching and Innervation Pattern of the Radial Nerve in the Forearm: Clarifying the Literature and Understanding Variations and Their Clinical Implications. Diagnostics (Basel). 2020 Jun 2;10(6):366. doi: 10.3390/diagnostics10060366 PMCID: PMC7345276. Lisans: CC BY.</a:t>
            </a:r>
          </a:p>
          <a:p>
            <a:r>
              <a:t>Altyazı: Nerve to the brachioradialis (BR) arising from the superficial branch of a radial nerve (*), with an additional smaller branch arising from the radial nerve proper (†). BR: brachioradialis; SBRN: superficial branch of the radial nerve; DBRN: deep branch of the radial nerve.</a:t>
            </a:r>
          </a:p>
          <a:p>
            <a:r>
              <a:t>Sawyer F. Kip, Stefanik Joshua J., Lufler Rebecca S. The Branching and Innervation Pattern of the Radial Nerve in the Forearm: Clarifying the Literature and Understanding Variations and Their Clinical Implications. Diagnostics (Basel). 2020 Jun 2;10(6):366. doi: 10.3390/diagnostics10060366 PMCID: PMC7345276. Lisans: CC BY.</a:t>
            </a:r>
          </a:p>
          <a:p>
            <a:r>
              <a:t>Altyazı: Nerve to extensor carpi radialis brevis (*) arising from the superficial branch of the radial nerve. ECRB: extensor carpi radialis brevis; SBRN: superficial branch of radial nerve; DBRN: deep branch of radial nerve.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 Paul, Bennett Dallas, Mendoza Mathew et al. A Cadaveric Study of the Martin-Gruber Anastomosis Morphology. Cureus. 2025 Jan 28;17(1):e78139. doi: 10.7759/cureus.78139 PMCID: PMC11867591. Lisans: CC BY.</a:t>
            </a:r>
          </a:p>
          <a:p>
            <a:r>
              <a:t>Altyazı: Cadaveric forearm dissection showcases MGA type I pattern.The arrows within this figure highlight key landmarks involved in identifying MGA pattern type I. MGA is found between both the MN and UN. ME is used as a directional reference indicating the orientation of the forearm (distal toward north of the image). Note that the MN was retracted laterally to better depict the route of MGA.MGA: Martin-Gruber anastomosis; MN: median nerve; ME: medial epicondyle; FDP: flexor digitorum profundus; UN: ulnar nerve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Joyeeta, Henry Brandon M., Pękala Przemysław A. et al. The prevalence and anatomical characteristics of the accessory head of the flexor pollicis longus muscle: a meta-analysis. PeerJ. 2015 Oct 1;3:e1255. doi: 10.7717/peerj.1255 PMCID: PMC4636409. Lisans: CC BY.</a:t>
            </a:r>
          </a:p>
          <a:p>
            <a:r>
              <a:t>Altyazı: The accessory head of the flexor pollicis longus muscle (AHFPL) originating from the flexoe digitoum profundus.AHFPL, accessory head of flexor pollicis longus; FPL, flexor pollicis longus; FCR, flexor carpi radialis.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Longhurst Georga, Stone Danya, Mahony Nick Bilateral reversed palmaris longus muscle: a case report and systematic literature review. Surg Radiol Anat. 2019 Nov 12;42(3):289–95. doi: 10.1007/s00276-019-02363-z PMCID: PMC7033050. Lisans: CC BY.</a:t>
            </a:r>
          </a:p>
          <a:p>
            <a:r>
              <a:t>Altyazı: Dissection of right (a) and (b) left anterior compartment of the forearm demonstrating bilaterally reversed palmaris longus. PL palmaris longus, PTPL proximal tendon palmaris longus, DTPL distal tendon palmaris longus, AdPL additional slip of palmaris longus, FDS flexor digitorum superficialis, FCR flerox carpi radialis, BR brachioradialis, PT pronator teres, RA radial artery</a:t>
            </a:r>
          </a:p>
          <a:p>
            <a:r>
              <a:t>Behiery Ayman, Bakir Mohamad, Dawalibi Ahmad et al. Reversed Palmaris Longus: A Rare Anatomical Phenomenon Discovered. Cureus. 2023 May 2;15(5):e38424. doi: 10.7759/cureus.38424 PMCID: PMC10235925. Lisans: CC BY.</a:t>
            </a:r>
          </a:p>
          <a:p>
            <a:r>
              <a:t>Altyazı: Gross image of the dissected left forearm1- Reversed Left Palmaris Longus Muscle, 2- Flexor Carpi Ulnaris Muscle, 3- Flexor Carpi Radialis Muscle, 4- Pronator Teres Muscle, 5- Flexor Digitorum Superficialis Muscle, 6- Brachioradialis Muscle, 7- Radial Artery, 8- Median Nerve, 9- Brachial ArteryB- Bicipital Aponeurosis (remaining parts of it)✱ Medial Epicondyle ★ Skin overlying the pisiform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ERÇAKMAK GÜNEŞ B., VATANSEVER A., DEMİRYÜREK D. et al. Tendon of Flexor Carpi Radialis in carpal tunnel: a radiologic and cadaveric study. Turk J Med Sci. 2021 Aug 30;51(4):1912–6. doi: 10.3906/sag-2012-31 PMCID: PMC8569728. Lisans: CC BY.</a:t>
            </a:r>
          </a:p>
          <a:p>
            <a:r>
              <a:t>Altyazı: Dissection of the wrist joint. Black asterix; flexor retinaculum. Red asterix; tendon of flexor carpi radialis. Blue asterix; tendon of palmaris longus. Yellow asterix; median nerve. Green asterix; tendon of flexor pollicis longus muscle.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Depukat P., Henry B. M., Popieluszko P. et al. Anatomical variability and histological structure of the ulnar nerve in the Guyon’s canal. Arch Orthop Trauma Surg. 2016 Dec 23;137(2):277–83. doi: 10.1007/s00402-016-2616-4 PMCID: PMC5250657. Lisans: CC BY.</a:t>
            </a:r>
          </a:p>
          <a:p>
            <a:r>
              <a:t>Altyazı: Classic division of ulnar nerve into deep and superficial branches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Kapor S., Bjelogrlic P., Simic V. et al. Anatomical Variations of the Neurovascular Structures of the Hand and the Clinical Significance. Cureus. 2025 Dec 22;17(12):e99862. doi: 10.7759/cureus.99862 PMCID: PMC12823052. Lisans: CC BY.</a:t>
            </a:r>
          </a:p>
          <a:p>
            <a:r>
              <a:t>Altyazı: Dissection view of superficial palmar arch (complete type), as well as common palmar digital arteries and common digital palmar nerves with Berrettini anastomosis (type III)UA: ulnar artery; MN: median nerve; UN: ulnar nerve; spa: superficial palmar arch; cb: common bidirectional branch; 1-4: common digital palmar arteries ; I-IV: common digital palmar nervesDissection done by: Dr. Slobodan Kapor.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Dawani P., Mahajan A., Vasudeva N. et al. Variations in the Pattern of the Deep Palmar Arch of the Hand and Its Surgical Importance. Cureus. 2022 Jan 2;14(1):e20873. doi: 10.7759/cureus.20873 PMCID: PMC8808664. Lisans: CC BY.</a:t>
            </a:r>
          </a:p>
          <a:p>
            <a:r>
              <a:t>Altyazı: Deep palmar arch formed by the continuation of the radial artery and the superior deep palmar branch of the ulnar artery.PMAs: palmar metacarpal arteries; SDPBUA: superior deep palmar branch of the ulnar artery; P: proximal; D: distal; R: radial; U: ulnar</a:t>
            </a:r>
          </a:p>
          <a:p>
            <a:r>
              <a:t>Dawani P., Mahajan A., Vasudeva N. et al. Variations in the Pattern of the Deep Palmar Arch of the Hand and Its Surgical Importance. Cureus. 2022 Jan 2;14(1):e20873. doi: 10.7759/cureus.20873 PMCID: PMC8808664. Lisans: CC BY.</a:t>
            </a:r>
          </a:p>
          <a:p>
            <a:r>
              <a:t>Altyazı: Deep palmar arch formed by the radial artery and the inferior deep branch of the ulnar artery.PMAs: palmar metacarpal arteries; IDPBUA: inferior deep palmar branch of the ulnar artery; P: proximal; D: distal; R: radial; U: ulnar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Nayak S. R., Rathan R., Chauhan R. et al. An additional muscle belly of the first lumbrical muscle. Cases J. 2008 Aug 18;1:103. doi: 10.1186/1757-1626-1-103 PMCID: PMC2527548. Lisans: CC BY.</a:t>
            </a:r>
          </a:p>
          <a:p>
            <a:r>
              <a:t>Altyazı: Right side palmar surface of the hand. 1, first lumbrical; 2, second lumbrical; 3, third lumbrical; 4, fourth lumbrical; CT, carpal tunnel; FDS, flexor digitorum superficialis tendon to the index finger; FR, flexor retinaculum; HE, hypothenar eminence; TE, thenar eminence. Note the 4-point star indicates the additional muscle belly of the first lumbrical muscle.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Y. I., Lee H. I., Song W. C. et al. An Anatomical Study to Ensure Precise Percutaneous Release of the Annular Pulley in the Trigger Finger. Clin Orthop Surg. 2026 Mar 12;18(2):329–36. doi: 10.4055/cios25123 PMCID: PMC13047401. Lisans: CC BY-NC.</a:t>
            </a:r>
          </a:p>
          <a:p>
            <a:r>
              <a:t>Altyazı: Anatomical finding of the pulleys of 4 fingers. Arrows: gap between A1 and A2 pulleys.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Kotgirwar S., Athavale S. A., Lalwani R. et al. Subcutaneous Dorsomedial Triangle of Forearm: Surgical Anatomy and Clinical Implication. Cureus. 2023 Jul 16;15(7):e41981. doi: 10.7759/cureus.41981 PMCID: PMC10427770. Lisans: CC BY.</a:t>
            </a:r>
          </a:p>
          <a:p>
            <a:r>
              <a:t>Altyazı: a-d showing the contents of the subcutaneous dorsomedial triangle. 3a shows the DBUN ('star') running in the triangle dividing into three branches just proximal to the styloid process, and DBUA ('arrowheads') is seen. 3b line diagram showing the same. 3c shows the DBUN dividing into two branches. 3d line diagram of the photograph in 3c.a=proximal border of pisiform bone; b=tip of styloid process; c=apex of the triangle; ECU=extensor carpi ulnaris; FCU=flexor carpi ulnaris; DB=dorsal branch; UA=ulnar artery; UN=ulnar nerve.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Samarakoon L. B., Lakmal K. C., Thillainathan S. et al. Anatomical relations of the superficial sensory branches of the radial nerve: a cadaveric study with clinical implications. Patient Saf Surg. 2011 Nov 4;5:28. doi: 10.1186/1754-9493-5-28 PMCID: PMC3269985. Lisans: CC BY.</a:t>
            </a:r>
          </a:p>
          <a:p>
            <a:r>
              <a:t>Altyazı: A dissected specimen showing superficial branch of the radial nerve (SB), Cephalic vein (V), And the reference point-Radial styloid (O).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Fenech M. Boxer's knuckle: Sonographic anatomy and assessment of sagittal band tears of the dorsal hood. Australas J Ultrasound Med. 2023 Oct 12;26(4):216–29. doi: 10.1002/ajum.12363 PMCID: PMC10716571. Lisans: CC BY.</a:t>
            </a:r>
          </a:p>
          <a:p>
            <a:r>
              <a:t>Altyazı: Anatomy of the ED tendon of the fingers. (a) Diagram demonstrating the tendon dorsal to the MC and MCPJ. It trifurcates into a central slip and two lateral slips distal to the MCPJ. The central slip inserts onto the dorsal aspect of the proximal aspect of the MP. The two lateral slips run dorsolaterally and insert via a terminal tendon onto the dorsal aspect of the DP. (b) Sagittal depiction of the MCPJ. The ends of bones of the MC and PP are lined with articular cartilage. The dorsal plate and palmar plates are present on the dorsal and palmar aspects of this joint. (c) Long‐axis sonographic image of the MCPJ demonstrating the ED tendon, dorsal plate and articular cartilage. DP, distal phalanx; ED, extensor digitorum; MC, metacarpal; MCPJ, metacarpophalyngeal joint; MP, middle phalanx; PP, proximal phalanx.</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Hazani R., Engineer N. J., Cooney D. et al. Anatomic Landmarks for the First Dorsal Compartment. Eplasty. 2009 Jun 2;8:e53. PMCID: PMC2586286. Lisans: CC BY.</a:t>
            </a:r>
          </a:p>
          <a:p>
            <a:r>
              <a:t>Altyazı: Anatomic landmarks for the first dorsal compartment. APL, abductor pollicis longus; ALS, APL-Lister's-Scaphoid; EPB, extensor pollicis brevis.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Natsis Konstantinos, Tzika Maria, Paraskevas George K et al. Double Muscular Thenar Branch and Anatomical Variation of Thenar Muscle Innervation Observed in a Cadaver. Cureus. 2019 Oct 7;11(10):e5859. doi: 10.7759/cureus.5859 PMCID: PMC6834099. Lisans: CC BY.</a:t>
            </a:r>
          </a:p>
          <a:p>
            <a:r>
              <a:t>Altyazı: The origin of motor thenar branchesThe MN is divided into a medial and a lateral branch after it passes underneath the TCL. The lateral branch gives off the first common palmar digital nerve for the thumb and the radial side of the index. The TCL is dissected and the origin of the two motor thenar branches (arrowheads) is presented. The course of motor thenar branches is shown by a dotted line, while the loop of the distal motor thenar branch is emphasized.MN, median nerve; TCL, transverse carpal ligament</a:t>
            </a:r>
          </a:p>
          <a:p>
            <a:r>
              <a:t>Natsis Konstantinos, Tzika Maria, Paraskevas George K et al. Double Muscular Thenar Branch and Anatomical Variation of Thenar Muscle Innervation Observed in a Cadaver. Cureus. 2019 Oct 7;11(10):e5859. doi: 10.7759/cureus.5859 PMCID: PMC6834099. Lisans: CC BY.</a:t>
            </a:r>
          </a:p>
          <a:p>
            <a:r>
              <a:t>Altyazı: Terminal muscular branchesAfter further dissection, the five terminal branches of the double motor thenar branches (*), arising from MN, are observed, inserting into the musculature of the thenar. Due to traction, the nerve loop of the distal motor thenar branch was divided.MN, median nerve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Depukat P., Henry B. M., Popieluszko P. et al. Anatomical variability and histological structure of the ulnar nerve in the Guyon’s canal. Arch Orthop Trauma Surg. 2016 Dec 23;137(2):277–83. doi: 10.1007/s00402-016-2616-4 PMCID: PMC5250657. Lisans: CC BY.</a:t>
            </a:r>
          </a:p>
          <a:p>
            <a:r>
              <a:t>Altyazı: Trifurcation pattern of ulnar nerve</a:t>
            </a:r>
          </a:p>
          <a:p>
            <a:r>
              <a:t>Depukat P., Henry B. M., Popieluszko P. et al. Anatomical variability and histological structure of the ulnar nerve in the Guyon’s canal. Arch Orthop Trauma Surg. 2016 Dec 23;137(2):277–83. doi: 10.1007/s00402-016-2616-4 PMCID: PMC5250657. Lisans: CC BY.</a:t>
            </a:r>
          </a:p>
          <a:p>
            <a:r>
              <a:t>Altyazı: Division into a radial trunk and ulnar trunk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Simić M., Bumbaširević M., Jović D. et al. Persistent median artery and communicating branch related to the superficial palmar arch. Sci Rep. 2024 Jan 2;14:222. doi: 10.1038/s41598-023-50935-2 PMCID: PMC10762056. Lisans: CC BY.</a:t>
            </a:r>
          </a:p>
          <a:p>
            <a:r>
              <a:t>Altyazı: Corrosion casts of four hands with the medium length SPA, type 2, giving off three CPDAs. (A) and (B) right hand palmar arteries. (C) and (D) left hand palmar arteries. 1—ulnar artery; 2—superficial palmar arch (SPA); yellow arrows—communicating branch (CB); red arrows—doubled CB; 3—first CPDA; 4—second CPDA; 5—third CPDA; 6—ulnaris digiti minimi palmar artery; 7—radialis indicis artery; 8—radialis pollicis palmar artery; 9—ulnaris pollicis palmar artery; 10—radial artery; 11—prominent superficial palmar branch of the radial artery (SPB).</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Caetano E. B., Vieira L. A., Bueno V. S. et al. Anatomical Study of the Relationship between the Riché-Cannieu Anastomosis and the Kaplan Cardinal Line. Rev Bras Ortop (Sao Paulo). 2024 Jun 22;59(3):e409–14. doi: 10.1055/s-0044-1785512 PMCID: PMC11193595. Lisans: CC BY.</a:t>
            </a:r>
          </a:p>
          <a:p>
            <a:r>
              <a:t>Altyazı: The Y line was positioned on the radial side in relation to the most distal point of the ARC in 14 limbs. In one hand, the intersection between the Kaplan cardinal line (KCL) and the Y line was positioned exactly on the Riché-Cannieu anastomosis (RCA). Abbreviations: MN, median nerve; UN, ulnar nerve.</a:t>
            </a:r>
          </a:p>
          <a:p>
            <a:r>
              <a:t>Caetano E. B., Vieira L. A., Bueno V. S. et al. Anatomical Study of the Relationship between the Riché-Cannieu Anastomosis and the Kaplan Cardinal Line. Rev Bras Ortop (Sao Paulo). 2024 Jun 22;59(3):e409–14. doi: 10.1055/s-0044-1785512 PMCID: PMC11193595. Lisans: CC BY.</a:t>
            </a:r>
          </a:p>
          <a:p>
            <a:r>
              <a:t>Altyazı: The intersection of the KCL and the Y line was positioned proximal to the RCA. The anastomotic fascicles originated from the main trunk of the median nerve. Abbreviations: MN, median nerve. UN, ulnar nerve.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Mendoza M., Sarpong A., Bennett D. et al. The Berrettini Anastomosis’ Morphology and “Probable Zone”: A Cadaveric Study. Cureus. 2025 Feb 13;17(2):e78967. doi: 10.7759/cureus.78967 PMCID: PMC11910384. Lisans: CC BY.</a:t>
            </a:r>
          </a:p>
          <a:p>
            <a:r>
              <a:t>Altyazı: Cadaveric dissection reveals the BA’s type I variation, characterized by a single origin from the UN’s CDN4, which anastomoses onto the MN’s CDN3.BA, Berrettini anastomosis; CDN3, common palmar digital nerve 3; CDN4, common palmar digital nerve 4; MN, median nerve; UN, ulnar nerve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Hazani R., Engineer N. J., Cooney D. et al. Anatomic Landmarks for the First Dorsal Compartment. Eplasty. 2009 Jun 2;8:e53. PMCID: PMC2586286. Lisans: CC BY.</a:t>
            </a:r>
          </a:p>
          <a:p>
            <a:r>
              <a:t>Altyazı: Intracompartmental septation within the first dorsal compartment for the extensor pollicis brevis tendon.</a:t>
            </a:r>
          </a:p>
          <a:p>
            <a:r>
              <a:t>Hazani R., Engineer N. J., Cooney D. et al. Anatomic Landmarks for the First Dorsal Compartment. Eplasty. 2009 Jun 2;8:e53. PMCID: PMC2586286. Lisans: CC BY.</a:t>
            </a:r>
          </a:p>
          <a:p>
            <a:r>
              <a:t>Altyazı: Slip multiplicity of the abductor pollicis longus tendon. APL, abductor pollicis longus; EPB, extensor pollicis brevis.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 D. H., Lee J. H., Woo R. S. et al. A rare bilateral variation on the dorsum of the hand: extensor digitorum brevis manus and extensor medii proprius. Anat Cell Biol. 2019 Mar 29;52(1):97–9. doi: 10.5115/acb.2019.52.1.97 PMCID: PMC6449591. Lisans: CC BY-NC.</a:t>
            </a:r>
          </a:p>
          <a:p>
            <a:r>
              <a:t>Altyazı: (A, B) Digital photograph and a sketch show the origin and insertion of the extensor digitorum minimi (EDBM) on the dorsum of the right hand. APL, abductor pollicis longus; DBUN, dorsal branch of the ulnar nerve; ED, extensor digitorum; EDM, extensor digitorum minimi; EIP, extensor indicis proprius; EPB, extensor pollicis brevis; EPL, extensor pollicis longus.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Gabríková K., Kachlík D., Belbl M. et al. An accessory muscle belly or an accessory muscle head? An unusual arrangement of muscles in the anterior compartment of the forearm. Surg Radiol Anat. 2023 Jan 25;45(3):271–5. doi: 10.1007/s00276-023-03084-0 PMCID: PMC9981488. Lisans: CC BY.</a:t>
            </a:r>
          </a:p>
          <a:p>
            <a:r>
              <a:t>Altyazı: A The accessory muscle head derived from the FPL muscle joining the regular muscle belly of the L1 muscle. B Scheme of the anomalous muscle head of the L1 muscle. L1 first lumbrical muscle, tAMHL1 tendon of the accessory muscle head of the first lumbrical muscle, AMHL1 accessory muscle head of the first lumbrical muscle, FPL flexor pollicis longus muscle, Asterisk tendinous interconnection between the FPL muscle tendon and the aberrant tendon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 H., Jeong S., Jeong S. et al. Anomalous muscles and nerves in the hand of a 94-year-old cadaver—A case report. Int J Surg Case Rep. 2019 Oct 31;65:119–23. doi: 10.1016/j.ijscr.2019.10.062 PMCID: PMC6920165. Lisans: CC BY.</a:t>
            </a:r>
          </a:p>
          <a:p>
            <a:r>
              <a:t>Altyazı: (A) FDML: Flexor Digiti Minimi Longus; PB: Palmaris Brevis; PL: Palmaris Longus; PCL: Palmar Carpal Ligament; FCU: Flexor Carpi Ulnaris; FCR: Flexor Carpi Radialis; FDS: Flexor Digitorum Superficialis; (B) FDMB: Flexor Digiti Minimi Brevis and ADM: Abductor Digiti Minimi muscles are visualized. PCL and PB are reflected to visualize the FDML muscle belly passing through Guyon’s canal.</a:t>
            </a:r>
          </a:p>
          <a:p>
            <a:r>
              <a:t>Nation H., Jeong S., Jeong S. et al. Anomalous muscles and nerves in the hand of a 94-year-old cadaver—A case report. Int J Surg Case Rep. 2019 Oct 31;65:119–23. doi: 10.1016/j.ijscr.2019.10.062 PMCID: PMC6920165. Lisans: CC BY.</a:t>
            </a:r>
          </a:p>
          <a:p>
            <a:r>
              <a:t>Altyazı: (A) FDML: Flexor Digiti Minimi Longus (reflected); FDMB: Flexor Digiti Minimi Brevis; MN: Median Nerve; UA: Ulnar Artery; UN: Ulnar Nerve; SUN: Superficial branch of the Ulnar Nerve; DUN: Dorsal branch of the Ulnar Nerve; Black Arrow: Aberrant branch of the dorsal branch of the ulnar nerve; Black Arrowheads: branches of the aberrant branch of the dorsal branch of the ulnar nerve on palmar surface of hand and anastomosing with the SUN; White Arrowhead: branch of the superficial ulnar nerve innervating FDMB; (B) White Arrows: Connection between SUN and MN, Red dashed lines: hourglass constriction of the MN.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Samarakoon Lasitha B, Guruge Malith H, Jayasekara Madusha et al. Anatomical landmarks for safer carpal tunnel decompression: an experimental cadaveric study. Patient Saf Surg. 2014 Feb 17;8:8. doi: 10.1186/1754-9493-8-8 PMCID: PMC3931286. Lisans: CC BY.</a:t>
            </a:r>
          </a:p>
          <a:p>
            <a:r>
              <a:t>Altyazı: Dissected specimen showing an intra ligamentous recurrent branch of the median nerve (pointer).</a:t>
            </a:r>
          </a:p>
          <a:p>
            <a:r>
              <a:t>Samarakoon Lasitha B, Guruge Malith H, Jayasekara Madusha et al. Anatomical landmarks for safer carpal tunnel decompression: an experimental cadaveric study. Patient Saf Surg. 2014 Feb 17;8:8. doi: 10.1186/1754-9493-8-8 PMCID: PMC3931286. Lisans: CC BY.</a:t>
            </a:r>
          </a:p>
          <a:p>
            <a:r>
              <a:t>Altyazı: Dissected specimen showing multiple extra ligamentous recurrent branches of the median nerve (pointer).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5.jpg"/><Relationship Id="rId4"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1.jpg"/><Relationship Id="rId4"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2.jpg"/><Relationship Id="rId4"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 Id="rId4"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jpg"/><Relationship Id="rId4"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14.jpg"/><Relationship Id="rId4"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37.jpg"/><Relationship Id="rId4" Type="http://schemas.openxmlformats.org/officeDocument/2006/relationships/notesSlide" Target="../notesSlides/notesSlide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image" Target="../media/image45.jpg"/><Relationship Id="rId4" Type="http://schemas.openxmlformats.org/officeDocument/2006/relationships/notesSlide" Target="../notesSlides/notesSlide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image" Target="../media/image47.jpg"/><Relationship Id="rId4" Type="http://schemas.openxmlformats.org/officeDocument/2006/relationships/notesSlide" Target="../notesSlides/notesSlide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49.jpg"/><Relationship Id="rId4" Type="http://schemas.openxmlformats.org/officeDocument/2006/relationships/notesSlide" Target="../notesSlides/notesSlide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jpg"/><Relationship Id="rId4" Type="http://schemas.openxmlformats.org/officeDocument/2006/relationships/notesSlide" Target="../notesSlides/notesSlide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image" Target="../media/image39.jpg"/><Relationship Id="rId4" Type="http://schemas.openxmlformats.org/officeDocument/2006/relationships/notesSlide" Target="../notesSlides/notesSlide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 Id="rId4" Type="http://schemas.openxmlformats.org/officeDocument/2006/relationships/notesSlide" Target="../notesSlides/notesSlide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notesSlide" Target="../notesSlides/notesSlide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2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2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image" Target="../media/image66.jpg"/><Relationship Id="rId4" Type="http://schemas.openxmlformats.org/officeDocument/2006/relationships/notesSlide" Target="../notesSlides/notesSlide3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3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3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3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image" Target="../media/image71.jpg"/><Relationship Id="rId4" Type="http://schemas.openxmlformats.org/officeDocument/2006/relationships/notesSlide" Target="../notesSlides/notesSlide3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notesSlide" Target="../notesSlides/notesSlide3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74.jpg"/><Relationship Id="rId4" Type="http://schemas.openxmlformats.org/officeDocument/2006/relationships/notesSlide" Target="../notesSlides/notesSlide3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3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3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image" Target="../media/image78.jpg"/><Relationship Id="rId4" Type="http://schemas.openxmlformats.org/officeDocument/2006/relationships/notesSlide" Target="../notesSlides/notesSlide3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image" Target="../media/image80.jpg"/><Relationship Id="rId4" Type="http://schemas.openxmlformats.org/officeDocument/2006/relationships/notesSlide" Target="../notesSlides/notesSlide4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82.jpg"/><Relationship Id="rId4" Type="http://schemas.openxmlformats.org/officeDocument/2006/relationships/notesSlide" Target="../notesSlides/notesSlide4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4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image" Target="../media/image85.jpg"/><Relationship Id="rId4" Type="http://schemas.openxmlformats.org/officeDocument/2006/relationships/notesSlide" Target="../notesSlides/notesSlide4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jpg"/><Relationship Id="rId3" Type="http://schemas.openxmlformats.org/officeDocument/2006/relationships/notesSlide" Target="../notesSlides/notesSlide4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notesSlide" Target="../notesSlides/notesSlide4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image" Target="../media/image89.jpg"/><Relationship Id="rId4" Type="http://schemas.openxmlformats.org/officeDocument/2006/relationships/notesSlide" Target="../notesSlides/notesSlide4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image" Target="../media/image4.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notesSlide" Target="../notesSlides/notesSlide4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 Id="rId3" Type="http://schemas.openxmlformats.org/officeDocument/2006/relationships/notesSlide" Target="../notesSlides/notesSlide4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jpg"/><Relationship Id="rId3" Type="http://schemas.openxmlformats.org/officeDocument/2006/relationships/image" Target="../media/image96.jpg"/><Relationship Id="rId4" Type="http://schemas.openxmlformats.org/officeDocument/2006/relationships/notesSlide" Target="../notesSlides/notesSlide5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jpg"/><Relationship Id="rId3" Type="http://schemas.openxmlformats.org/officeDocument/2006/relationships/notesSlide" Target="../notesSlides/notesSlide5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 Id="rId3" Type="http://schemas.openxmlformats.org/officeDocument/2006/relationships/notesSlide" Target="../notesSlides/notesSlide5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notesSlide" Target="../notesSlides/notesSlide5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jpg"/><Relationship Id="rId3" Type="http://schemas.openxmlformats.org/officeDocument/2006/relationships/notesSlide" Target="../notesSlides/notesSlide5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jpg"/><Relationship Id="rId3" Type="http://schemas.openxmlformats.org/officeDocument/2006/relationships/notesSlide" Target="../notesSlides/notesSlide5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notesSlide" Target="../notesSlides/notesSlide5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jpg"/><Relationship Id="rId3" Type="http://schemas.openxmlformats.org/officeDocument/2006/relationships/image" Target="../media/image104.jpg"/><Relationship Id="rId4" Type="http://schemas.openxmlformats.org/officeDocument/2006/relationships/notesSlide" Target="../notesSlides/notesSlide5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jpg"/><Relationship Id="rId3" Type="http://schemas.openxmlformats.org/officeDocument/2006/relationships/image" Target="../media/image106.jpg"/><Relationship Id="rId4" Type="http://schemas.openxmlformats.org/officeDocument/2006/relationships/notesSlide" Target="../notesSlides/notesSlide5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jpg"/><Relationship Id="rId3" Type="http://schemas.openxmlformats.org/officeDocument/2006/relationships/notesSlide" Target="../notesSlides/notesSlide5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 Id="rId3" Type="http://schemas.openxmlformats.org/officeDocument/2006/relationships/image" Target="../media/image109.jpg"/><Relationship Id="rId4" Type="http://schemas.openxmlformats.org/officeDocument/2006/relationships/notesSlide" Target="../notesSlides/notesSlide6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jpg"/><Relationship Id="rId3" Type="http://schemas.openxmlformats.org/officeDocument/2006/relationships/notesSlide" Target="../notesSlides/notesSlide6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jpg"/><Relationship Id="rId3" Type="http://schemas.openxmlformats.org/officeDocument/2006/relationships/image" Target="../media/image112.jpg"/><Relationship Id="rId4" Type="http://schemas.openxmlformats.org/officeDocument/2006/relationships/notesSlide" Target="../notesSlides/notesSlide6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notesSlide" Target="../notesSlides/notesSlide6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 Id="rId3" Type="http://schemas.openxmlformats.org/officeDocument/2006/relationships/notesSlide" Target="../notesSlides/notesSlide6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image" Target="../media/image116.jpg"/><Relationship Id="rId4" Type="http://schemas.openxmlformats.org/officeDocument/2006/relationships/notesSlide" Target="../notesSlides/notesSlide6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g"/><Relationship Id="rId3" Type="http://schemas.openxmlformats.org/officeDocument/2006/relationships/image" Target="../media/image117.jpg"/><Relationship Id="rId4" Type="http://schemas.openxmlformats.org/officeDocument/2006/relationships/notesSlide" Target="../notesSlides/notesSlide6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05840"/>
            <a:ext cx="6766560" cy="1371600"/>
          </a:xfrm>
          <a:prstGeom prst="rect">
            <a:avLst/>
          </a:prstGeom>
          <a:noFill/>
        </p:spPr>
        <p:txBody>
          <a:bodyPr wrap="square" anchor="t" lIns="45720" rIns="45720" tIns="18288" bIns="18288">
            <a:spAutoFit/>
          </a:bodyPr>
          <a:lstStyle/>
          <a:p>
            <a:pPr algn="l"/>
            <a:r>
              <a:rPr sz="3600" b="1" i="0">
                <a:solidFill>
                  <a:srgbClr val="FFFFFF"/>
                </a:solidFill>
                <a:latin typeface="Calibri"/>
              </a:rPr>
              <a:t>Membrum Superius – Topografik Anatomi</a:t>
            </a:r>
          </a:p>
        </p:txBody>
      </p:sp>
      <p:sp>
        <p:nvSpPr>
          <p:cNvPr id="4" name="TextBox 3"/>
          <p:cNvSpPr txBox="1"/>
          <p:nvPr/>
        </p:nvSpPr>
        <p:spPr>
          <a:xfrm>
            <a:off x="640080" y="2514600"/>
            <a:ext cx="6766560" cy="914400"/>
          </a:xfrm>
          <a:prstGeom prst="rect">
            <a:avLst/>
          </a:prstGeom>
          <a:noFill/>
        </p:spPr>
        <p:txBody>
          <a:bodyPr wrap="square" anchor="t" lIns="45720" rIns="45720" tIns="18288" bIns="18288">
            <a:spAutoFit/>
          </a:bodyPr>
          <a:lstStyle/>
          <a:p>
            <a:pPr algn="l"/>
            <a:r>
              <a:rPr sz="1700" b="0" i="0">
                <a:solidFill>
                  <a:srgbClr val="C8D1E6"/>
                </a:solidFill>
                <a:latin typeface="Calibri"/>
              </a:rPr>
              <a:t>Konu anlatımı, gerçek kadavra diseksiyonları ve bölgesel varyasyon literatür taraması</a:t>
            </a:r>
          </a:p>
        </p:txBody>
      </p:sp>
      <p:sp>
        <p:nvSpPr>
          <p:cNvPr id="5" name="TextBox 4"/>
          <p:cNvSpPr txBox="1"/>
          <p:nvPr/>
        </p:nvSpPr>
        <p:spPr>
          <a:xfrm>
            <a:off x="640080" y="3749039"/>
            <a:ext cx="6766560" cy="2194560"/>
          </a:xfrm>
          <a:prstGeom prst="rect">
            <a:avLst/>
          </a:prstGeom>
          <a:noFill/>
        </p:spPr>
        <p:txBody>
          <a:bodyPr wrap="square" anchor="t" lIns="45720" rIns="45720" tIns="18288" bIns="18288">
            <a:spAutoFit/>
          </a:bodyPr>
          <a:lstStyle/>
          <a:p>
            <a:pPr algn="l"/>
            <a:r>
              <a:rPr sz="1350" b="0" i="0">
                <a:solidFill>
                  <a:srgbClr val="FFFFFF"/>
                </a:solidFill>
                <a:latin typeface="Calibri"/>
              </a:rPr>
              <a:t>Bölümler: Omuz → Kol → Önkol → El</a:t>
            </a:r>
          </a:p>
          <a:p>
            <a:pPr algn="l"/>
            <a:r>
              <a:rPr sz="1350" b="0" i="0">
                <a:solidFill>
                  <a:srgbClr val="FFFFFF"/>
                </a:solidFill>
                <a:latin typeface="Calibri"/>
              </a:rPr>
              <a:t>Her bölümün sonunda o bölgeye ait anatomik varyasyonların literatür taraması ve çalışmaların özgün görselleri</a:t>
            </a:r>
          </a:p>
          <a:p>
            <a:pPr algn="l"/>
            <a:r>
              <a:rPr sz="1350" b="0" i="0">
                <a:solidFill>
                  <a:srgbClr val="FFFFFF"/>
                </a:solidFill>
                <a:latin typeface="Calibri"/>
              </a:rPr>
              <a:t>Görseller: PubMed Central açık erişim (lisans makale bazında doğrulandı) ve NLM Visible Human Project</a:t>
            </a:r>
          </a:p>
          <a:p>
            <a:pPr algn="l"/>
            <a:r>
              <a:rPr sz="1350" b="0" i="0">
                <a:solidFill>
                  <a:srgbClr val="FFFFFF"/>
                </a:solidFill>
                <a:latin typeface="Calibri"/>
              </a:rPr>
              <a:t>Sıklık verileri makalelerden aynen aktarılmıştır.</a:t>
            </a:r>
          </a:p>
        </p:txBody>
      </p:sp>
      <p:pic>
        <p:nvPicPr>
          <p:cNvPr id="6" name="Picture 5" descr="cureus-0014-00000022619-i04.jpg"/>
          <p:cNvPicPr>
            <a:picLocks noChangeAspect="1"/>
          </p:cNvPicPr>
          <p:nvPr/>
        </p:nvPicPr>
        <p:blipFill>
          <a:blip r:embed="rId2"/>
          <a:stretch>
            <a:fillRect/>
          </a:stretch>
        </p:blipFill>
        <p:spPr>
          <a:xfrm>
            <a:off x="7680960" y="611733"/>
            <a:ext cx="2057400" cy="2617012"/>
          </a:xfrm>
          <a:prstGeom prst="rect">
            <a:avLst/>
          </a:prstGeom>
        </p:spPr>
      </p:pic>
      <p:pic>
        <p:nvPicPr>
          <p:cNvPr id="7" name="Picture 6" descr="cureus-0017-00000085096-i01.jpg"/>
          <p:cNvPicPr>
            <a:picLocks noChangeAspect="1"/>
          </p:cNvPicPr>
          <p:nvPr/>
        </p:nvPicPr>
        <p:blipFill>
          <a:blip r:embed="rId3"/>
          <a:stretch>
            <a:fillRect/>
          </a:stretch>
        </p:blipFill>
        <p:spPr>
          <a:xfrm>
            <a:off x="9829800" y="581558"/>
            <a:ext cx="2057400" cy="2677363"/>
          </a:xfrm>
          <a:prstGeom prst="rect">
            <a:avLst/>
          </a:prstGeom>
        </p:spPr>
      </p:pic>
      <p:pic>
        <p:nvPicPr>
          <p:cNvPr id="8" name="Picture 7" descr="276_2025_3728_Fig4_HTML.jpg"/>
          <p:cNvPicPr>
            <a:picLocks noChangeAspect="1"/>
          </p:cNvPicPr>
          <p:nvPr/>
        </p:nvPicPr>
        <p:blipFill>
          <a:blip r:embed="rId4"/>
          <a:stretch>
            <a:fillRect/>
          </a:stretch>
        </p:blipFill>
        <p:spPr>
          <a:xfrm>
            <a:off x="7680960" y="4047817"/>
            <a:ext cx="2057400" cy="2054205"/>
          </a:xfrm>
          <a:prstGeom prst="rect">
            <a:avLst/>
          </a:prstGeom>
        </p:spPr>
      </p:pic>
      <p:pic>
        <p:nvPicPr>
          <p:cNvPr id="9" name="Picture 8" descr="cureus-0017-00000099862-i02.jpg"/>
          <p:cNvPicPr>
            <a:picLocks noChangeAspect="1"/>
          </p:cNvPicPr>
          <p:nvPr/>
        </p:nvPicPr>
        <p:blipFill>
          <a:blip r:embed="rId5"/>
          <a:stretch>
            <a:fillRect/>
          </a:stretch>
        </p:blipFill>
        <p:spPr>
          <a:xfrm>
            <a:off x="9829800" y="3645712"/>
            <a:ext cx="2057400" cy="2858414"/>
          </a:xfrm>
          <a:prstGeom prst="rect">
            <a:avLst/>
          </a:prstGeom>
        </p:spPr>
      </p:pic>
      <p:sp>
        <p:nvSpPr>
          <p:cNvPr id="10" name="TextBox 9"/>
          <p:cNvSpPr txBox="1"/>
          <p:nvPr/>
        </p:nvSpPr>
        <p:spPr>
          <a:xfrm>
            <a:off x="640080" y="6172200"/>
            <a:ext cx="6949440" cy="365760"/>
          </a:xfrm>
          <a:prstGeom prst="rect">
            <a:avLst/>
          </a:prstGeom>
          <a:noFill/>
        </p:spPr>
        <p:txBody>
          <a:bodyPr wrap="square" anchor="t" lIns="45720" rIns="45720" tIns="18288" bIns="18288">
            <a:spAutoFit/>
          </a:bodyPr>
          <a:lstStyle/>
          <a:p>
            <a:pPr algn="l"/>
            <a:r>
              <a:rPr sz="1100" b="0" i="1">
                <a:solidFill>
                  <a:srgbClr val="C8D1E6"/>
                </a:solidFill>
                <a:latin typeface="Calibri"/>
              </a:rPr>
              <a:t>Sunum dili Türkçe; anatomik terimler Terminologia Anatomica (Latince).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İçindekiler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Her bölüm: konu anlatımı → klinik bağlantılar → varyasyon literatür taraması → seçilmiş çalışmalar</a:t>
            </a:r>
          </a:p>
        </p:txBody>
      </p:sp>
      <p:sp>
        <p:nvSpPr>
          <p:cNvPr id="5" name="Rounded Rectangle 4"/>
          <p:cNvSpPr/>
          <p:nvPr/>
        </p:nvSpPr>
        <p:spPr>
          <a:xfrm>
            <a:off x="45720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514600" cy="457200"/>
          </a:xfrm>
          <a:prstGeom prst="rect">
            <a:avLst/>
          </a:prstGeom>
          <a:noFill/>
        </p:spPr>
        <p:txBody>
          <a:bodyPr wrap="square" anchor="t" lIns="45720" rIns="45720" tIns="18288" bIns="18288">
            <a:spAutoFit/>
          </a:bodyPr>
          <a:lstStyle/>
          <a:p>
            <a:pPr algn="l"/>
            <a:r>
              <a:rPr sz="2000" b="1" i="0">
                <a:solidFill>
                  <a:srgbClr val="C0392B"/>
                </a:solidFill>
                <a:latin typeface="Calibri"/>
              </a:rPr>
              <a:t>1. OMUZ</a:t>
            </a:r>
          </a:p>
        </p:txBody>
      </p:sp>
      <p:sp>
        <p:nvSpPr>
          <p:cNvPr id="7" name="TextBox 6"/>
          <p:cNvSpPr txBox="1"/>
          <p:nvPr/>
        </p:nvSpPr>
        <p:spPr>
          <a:xfrm>
            <a:off x="548640" y="1645919"/>
            <a:ext cx="2514600" cy="411480"/>
          </a:xfrm>
          <a:prstGeom prst="rect">
            <a:avLst/>
          </a:prstGeom>
          <a:noFill/>
        </p:spPr>
        <p:txBody>
          <a:bodyPr wrap="square" anchor="t" lIns="45720" rIns="45720" tIns="18288" bIns="18288">
            <a:spAutoFit/>
          </a:bodyPr>
          <a:lstStyle/>
          <a:p>
            <a:pPr algn="l"/>
            <a:r>
              <a:rPr sz="1050" b="0" i="1">
                <a:solidFill>
                  <a:srgbClr val="555B66"/>
                </a:solidFill>
                <a:latin typeface="Calibri"/>
              </a:rPr>
              <a:t>Regio deltoidea, regio scapularis ve fossa axillaris</a:t>
            </a:r>
          </a:p>
        </p:txBody>
      </p:sp>
      <p:sp>
        <p:nvSpPr>
          <p:cNvPr id="8" name="TextBox 7"/>
          <p:cNvSpPr txBox="1"/>
          <p:nvPr/>
        </p:nvSpPr>
        <p:spPr>
          <a:xfrm>
            <a:off x="548640" y="2148839"/>
            <a:ext cx="2514600" cy="3749039"/>
          </a:xfrm>
          <a:prstGeom prst="rect">
            <a:avLst/>
          </a:prstGeom>
          <a:noFill/>
        </p:spPr>
        <p:txBody>
          <a:bodyPr wrap="square">
            <a:spAutoFit/>
          </a:bodyPr>
          <a:lstStyle/>
          <a:p>
            <a:pPr algn="l">
              <a:spcAft>
                <a:spcPts val="300"/>
              </a:spcAft>
            </a:pPr>
            <a:r>
              <a:rPr sz="1100" b="0" i="0">
                <a:solidFill>
                  <a:srgbClr val="1F2A44"/>
                </a:solidFill>
                <a:latin typeface="Calibri"/>
              </a:rPr>
              <a:t>• Omuz kuşağı kemikleri ve eklemleri</a:t>
            </a:r>
          </a:p>
          <a:p>
            <a:pPr algn="l">
              <a:spcAft>
                <a:spcPts val="300"/>
              </a:spcAft>
            </a:pPr>
            <a:r>
              <a:rPr sz="1100" b="0" i="0">
                <a:solidFill>
                  <a:srgbClr val="1F2A44"/>
                </a:solidFill>
                <a:latin typeface="Calibri"/>
              </a:rPr>
              <a:t>• Skapulohumeral ve aksiyoapendiküler kaslar</a:t>
            </a:r>
          </a:p>
          <a:p>
            <a:pPr algn="l">
              <a:spcAft>
                <a:spcPts val="300"/>
              </a:spcAft>
            </a:pPr>
            <a:r>
              <a:rPr sz="1100" b="0" i="0">
                <a:solidFill>
                  <a:srgbClr val="1F2A44"/>
                </a:solidFill>
                <a:latin typeface="Calibri"/>
              </a:rPr>
              <a:t>• Rotator manşet</a:t>
            </a:r>
          </a:p>
          <a:p>
            <a:pPr algn="l">
              <a:spcAft>
                <a:spcPts val="300"/>
              </a:spcAft>
            </a:pPr>
            <a:r>
              <a:rPr sz="1100" b="0" i="0">
                <a:solidFill>
                  <a:srgbClr val="1F2A44"/>
                </a:solidFill>
                <a:latin typeface="Calibri"/>
              </a:rPr>
              <a:t>• Fossa axillaris ve a. axillaris</a:t>
            </a:r>
          </a:p>
          <a:p>
            <a:pPr algn="l">
              <a:spcAft>
                <a:spcPts val="300"/>
              </a:spcAft>
            </a:pPr>
            <a:r>
              <a:rPr sz="1100" b="0" i="0">
                <a:solidFill>
                  <a:srgbClr val="1F2A44"/>
                </a:solidFill>
                <a:latin typeface="Calibri"/>
              </a:rPr>
              <a:t>• Plexus brachialis</a:t>
            </a:r>
          </a:p>
          <a:p>
            <a:pPr algn="l">
              <a:spcAft>
                <a:spcPts val="300"/>
              </a:spcAft>
            </a:pPr>
            <a:r>
              <a:rPr sz="1100" b="0" i="0">
                <a:solidFill>
                  <a:srgbClr val="1F2A44"/>
                </a:solidFill>
                <a:latin typeface="Calibri"/>
              </a:rPr>
              <a:t>• Aksiller boşluklar ve n. suprascapularis</a:t>
            </a:r>
          </a:p>
          <a:p>
            <a:pPr algn="l">
              <a:spcAft>
                <a:spcPts val="300"/>
              </a:spcAft>
            </a:pPr>
            <a:r>
              <a:rPr sz="1100" b="0" i="0">
                <a:solidFill>
                  <a:srgbClr val="1F2A44"/>
                </a:solidFill>
                <a:latin typeface="Calibri"/>
              </a:rPr>
              <a:t>• Klinik bağlantılar</a:t>
            </a:r>
          </a:p>
          <a:p>
            <a:pPr algn="l">
              <a:spcAft>
                <a:spcPts val="300"/>
              </a:spcAft>
            </a:pPr>
            <a:r>
              <a:rPr sz="1100" b="0" i="0">
                <a:solidFill>
                  <a:srgbClr val="1F2A44"/>
                </a:solidFill>
                <a:latin typeface="Calibri"/>
              </a:rPr>
              <a:t>• Varyasyon literatürü</a:t>
            </a:r>
          </a:p>
        </p:txBody>
      </p:sp>
      <p:sp>
        <p:nvSpPr>
          <p:cNvPr id="9" name="Rounded Rectangle 8"/>
          <p:cNvSpPr/>
          <p:nvPr/>
        </p:nvSpPr>
        <p:spPr>
          <a:xfrm>
            <a:off x="333756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143000"/>
            <a:ext cx="2514600" cy="457200"/>
          </a:xfrm>
          <a:prstGeom prst="rect">
            <a:avLst/>
          </a:prstGeom>
          <a:noFill/>
        </p:spPr>
        <p:txBody>
          <a:bodyPr wrap="square" anchor="t" lIns="45720" rIns="45720" tIns="18288" bIns="18288">
            <a:spAutoFit/>
          </a:bodyPr>
          <a:lstStyle/>
          <a:p>
            <a:pPr algn="l"/>
            <a:r>
              <a:rPr sz="2000" b="1" i="0">
                <a:solidFill>
                  <a:srgbClr val="C0392B"/>
                </a:solidFill>
                <a:latin typeface="Calibri"/>
              </a:rPr>
              <a:t>2. KOL</a:t>
            </a:r>
          </a:p>
        </p:txBody>
      </p:sp>
      <p:sp>
        <p:nvSpPr>
          <p:cNvPr id="11" name="TextBox 10"/>
          <p:cNvSpPr txBox="1"/>
          <p:nvPr/>
        </p:nvSpPr>
        <p:spPr>
          <a:xfrm>
            <a:off x="3429000" y="1645919"/>
            <a:ext cx="2514600" cy="411480"/>
          </a:xfrm>
          <a:prstGeom prst="rect">
            <a:avLst/>
          </a:prstGeom>
          <a:noFill/>
        </p:spPr>
        <p:txBody>
          <a:bodyPr wrap="square" anchor="t" lIns="45720" rIns="45720" tIns="18288" bIns="18288">
            <a:spAutoFit/>
          </a:bodyPr>
          <a:lstStyle/>
          <a:p>
            <a:pPr algn="l"/>
            <a:r>
              <a:rPr sz="1050" b="0" i="1">
                <a:solidFill>
                  <a:srgbClr val="555B66"/>
                </a:solidFill>
                <a:latin typeface="Calibri"/>
              </a:rPr>
              <a:t>Regio brachii anterior et posterior</a:t>
            </a:r>
          </a:p>
        </p:txBody>
      </p:sp>
      <p:sp>
        <p:nvSpPr>
          <p:cNvPr id="12" name="TextBox 11"/>
          <p:cNvSpPr txBox="1"/>
          <p:nvPr/>
        </p:nvSpPr>
        <p:spPr>
          <a:xfrm>
            <a:off x="3429000" y="2148839"/>
            <a:ext cx="2514600" cy="3749039"/>
          </a:xfrm>
          <a:prstGeom prst="rect">
            <a:avLst/>
          </a:prstGeom>
          <a:noFill/>
        </p:spPr>
        <p:txBody>
          <a:bodyPr wrap="square">
            <a:spAutoFit/>
          </a:bodyPr>
          <a:lstStyle/>
          <a:p>
            <a:pPr algn="l">
              <a:spcAft>
                <a:spcPts val="300"/>
              </a:spcAft>
            </a:pPr>
            <a:r>
              <a:rPr sz="1100" b="0" i="0">
                <a:solidFill>
                  <a:srgbClr val="1F2A44"/>
                </a:solidFill>
                <a:latin typeface="Calibri"/>
              </a:rPr>
              <a:t>• Humerus</a:t>
            </a:r>
          </a:p>
          <a:p>
            <a:pPr algn="l">
              <a:spcAft>
                <a:spcPts val="300"/>
              </a:spcAft>
            </a:pPr>
            <a:r>
              <a:rPr sz="1100" b="0" i="0">
                <a:solidFill>
                  <a:srgbClr val="1F2A44"/>
                </a:solidFill>
                <a:latin typeface="Calibri"/>
              </a:rPr>
              <a:t>• Fasya ve kompartmanlar</a:t>
            </a:r>
          </a:p>
          <a:p>
            <a:pPr algn="l">
              <a:spcAft>
                <a:spcPts val="300"/>
              </a:spcAft>
            </a:pPr>
            <a:r>
              <a:rPr sz="1100" b="0" i="0">
                <a:solidFill>
                  <a:srgbClr val="1F2A44"/>
                </a:solidFill>
                <a:latin typeface="Calibri"/>
              </a:rPr>
              <a:t>• Ön ve arka kompartman kasları</a:t>
            </a:r>
          </a:p>
          <a:p>
            <a:pPr algn="l">
              <a:spcAft>
                <a:spcPts val="300"/>
              </a:spcAft>
            </a:pPr>
            <a:r>
              <a:rPr sz="1100" b="0" i="0">
                <a:solidFill>
                  <a:srgbClr val="1F2A44"/>
                </a:solidFill>
                <a:latin typeface="Calibri"/>
              </a:rPr>
              <a:t>• A. brachialis</a:t>
            </a:r>
          </a:p>
          <a:p>
            <a:pPr algn="l">
              <a:spcAft>
                <a:spcPts val="300"/>
              </a:spcAft>
            </a:pPr>
            <a:r>
              <a:rPr sz="1100" b="0" i="0">
                <a:solidFill>
                  <a:srgbClr val="1F2A44"/>
                </a:solidFill>
                <a:latin typeface="Calibri"/>
              </a:rPr>
              <a:t>• Kolun sinirleri</a:t>
            </a:r>
          </a:p>
          <a:p>
            <a:pPr algn="l">
              <a:spcAft>
                <a:spcPts val="300"/>
              </a:spcAft>
            </a:pPr>
            <a:r>
              <a:rPr sz="1100" b="0" i="0">
                <a:solidFill>
                  <a:srgbClr val="1F2A44"/>
                </a:solidFill>
                <a:latin typeface="Calibri"/>
              </a:rPr>
              <a:t>• Yüzeyel yapılar</a:t>
            </a:r>
          </a:p>
          <a:p>
            <a:pPr algn="l">
              <a:spcAft>
                <a:spcPts val="300"/>
              </a:spcAft>
            </a:pPr>
            <a:r>
              <a:rPr sz="1100" b="0" i="0">
                <a:solidFill>
                  <a:srgbClr val="1F2A44"/>
                </a:solidFill>
                <a:latin typeface="Calibri"/>
              </a:rPr>
              <a:t>• Klinik bağlantılar</a:t>
            </a:r>
          </a:p>
          <a:p>
            <a:pPr algn="l">
              <a:spcAft>
                <a:spcPts val="300"/>
              </a:spcAft>
            </a:pPr>
            <a:r>
              <a:rPr sz="1100" b="0" i="0">
                <a:solidFill>
                  <a:srgbClr val="1F2A44"/>
                </a:solidFill>
                <a:latin typeface="Calibri"/>
              </a:rPr>
              <a:t>• Varyasyon literatürü</a:t>
            </a:r>
          </a:p>
        </p:txBody>
      </p:sp>
      <p:sp>
        <p:nvSpPr>
          <p:cNvPr id="13" name="Rounded Rectangle 12"/>
          <p:cNvSpPr/>
          <p:nvPr/>
        </p:nvSpPr>
        <p:spPr>
          <a:xfrm>
            <a:off x="621792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143000"/>
            <a:ext cx="2514600" cy="457200"/>
          </a:xfrm>
          <a:prstGeom prst="rect">
            <a:avLst/>
          </a:prstGeom>
          <a:noFill/>
        </p:spPr>
        <p:txBody>
          <a:bodyPr wrap="square" anchor="t" lIns="45720" rIns="45720" tIns="18288" bIns="18288">
            <a:spAutoFit/>
          </a:bodyPr>
          <a:lstStyle/>
          <a:p>
            <a:pPr algn="l"/>
            <a:r>
              <a:rPr sz="2000" b="1" i="0">
                <a:solidFill>
                  <a:srgbClr val="C0392B"/>
                </a:solidFill>
                <a:latin typeface="Calibri"/>
              </a:rPr>
              <a:t>3. ÖNKOL</a:t>
            </a:r>
          </a:p>
        </p:txBody>
      </p:sp>
      <p:sp>
        <p:nvSpPr>
          <p:cNvPr id="15" name="TextBox 14"/>
          <p:cNvSpPr txBox="1"/>
          <p:nvPr/>
        </p:nvSpPr>
        <p:spPr>
          <a:xfrm>
            <a:off x="6309359" y="1645919"/>
            <a:ext cx="2514600" cy="411480"/>
          </a:xfrm>
          <a:prstGeom prst="rect">
            <a:avLst/>
          </a:prstGeom>
          <a:noFill/>
        </p:spPr>
        <p:txBody>
          <a:bodyPr wrap="square" anchor="t" lIns="45720" rIns="45720" tIns="18288" bIns="18288">
            <a:spAutoFit/>
          </a:bodyPr>
          <a:lstStyle/>
          <a:p>
            <a:pPr algn="l"/>
            <a:r>
              <a:rPr sz="1050" b="0" i="1">
                <a:solidFill>
                  <a:srgbClr val="555B66"/>
                </a:solidFill>
                <a:latin typeface="Calibri"/>
              </a:rPr>
              <a:t>Regio cubitalis ve regio antebrachii</a:t>
            </a:r>
          </a:p>
        </p:txBody>
      </p:sp>
      <p:sp>
        <p:nvSpPr>
          <p:cNvPr id="16" name="TextBox 15"/>
          <p:cNvSpPr txBox="1"/>
          <p:nvPr/>
        </p:nvSpPr>
        <p:spPr>
          <a:xfrm>
            <a:off x="6309359" y="2148839"/>
            <a:ext cx="2514600" cy="3749039"/>
          </a:xfrm>
          <a:prstGeom prst="rect">
            <a:avLst/>
          </a:prstGeom>
          <a:noFill/>
        </p:spPr>
        <p:txBody>
          <a:bodyPr wrap="square">
            <a:spAutoFit/>
          </a:bodyPr>
          <a:lstStyle/>
          <a:p>
            <a:pPr algn="l">
              <a:spcAft>
                <a:spcPts val="300"/>
              </a:spcAft>
            </a:pPr>
            <a:r>
              <a:rPr sz="1100" b="0" i="0">
                <a:solidFill>
                  <a:srgbClr val="1F2A44"/>
                </a:solidFill>
                <a:latin typeface="Calibri"/>
              </a:rPr>
              <a:t>• Art. cubiti</a:t>
            </a:r>
          </a:p>
          <a:p>
            <a:pPr algn="l">
              <a:spcAft>
                <a:spcPts val="300"/>
              </a:spcAft>
            </a:pPr>
            <a:r>
              <a:rPr sz="1100" b="0" i="0">
                <a:solidFill>
                  <a:srgbClr val="1F2A44"/>
                </a:solidFill>
                <a:latin typeface="Calibri"/>
              </a:rPr>
              <a:t>• Fossa cubiti</a:t>
            </a:r>
          </a:p>
          <a:p>
            <a:pPr algn="l">
              <a:spcAft>
                <a:spcPts val="300"/>
              </a:spcAft>
            </a:pPr>
            <a:r>
              <a:rPr sz="1100" b="0" i="0">
                <a:solidFill>
                  <a:srgbClr val="1F2A44"/>
                </a:solidFill>
                <a:latin typeface="Calibri"/>
              </a:rPr>
              <a:t>• Ön kompartman (yüzeyel/orta/derin)</a:t>
            </a:r>
          </a:p>
          <a:p>
            <a:pPr algn="l">
              <a:spcAft>
                <a:spcPts val="300"/>
              </a:spcAft>
            </a:pPr>
            <a:r>
              <a:rPr sz="1100" b="0" i="0">
                <a:solidFill>
                  <a:srgbClr val="1F2A44"/>
                </a:solidFill>
                <a:latin typeface="Calibri"/>
              </a:rPr>
              <a:t>• Arka kompartman</a:t>
            </a:r>
          </a:p>
          <a:p>
            <a:pPr algn="l">
              <a:spcAft>
                <a:spcPts val="300"/>
              </a:spcAft>
            </a:pPr>
            <a:r>
              <a:rPr sz="1100" b="0" i="0">
                <a:solidFill>
                  <a:srgbClr val="1F2A44"/>
                </a:solidFill>
                <a:latin typeface="Calibri"/>
              </a:rPr>
              <a:t>• Arterler</a:t>
            </a:r>
          </a:p>
          <a:p>
            <a:pPr algn="l">
              <a:spcAft>
                <a:spcPts val="300"/>
              </a:spcAft>
            </a:pPr>
            <a:r>
              <a:rPr sz="1100" b="0" i="0">
                <a:solidFill>
                  <a:srgbClr val="1F2A44"/>
                </a:solidFill>
                <a:latin typeface="Calibri"/>
              </a:rPr>
              <a:t>• Sinirler ve sıkışma noktaları</a:t>
            </a:r>
          </a:p>
          <a:p>
            <a:pPr algn="l">
              <a:spcAft>
                <a:spcPts val="300"/>
              </a:spcAft>
            </a:pPr>
            <a:r>
              <a:rPr sz="1100" b="0" i="0">
                <a:solidFill>
                  <a:srgbClr val="1F2A44"/>
                </a:solidFill>
                <a:latin typeface="Calibri"/>
              </a:rPr>
              <a:t>• Klinik bağlantılar</a:t>
            </a:r>
          </a:p>
          <a:p>
            <a:pPr algn="l">
              <a:spcAft>
                <a:spcPts val="300"/>
              </a:spcAft>
            </a:pPr>
            <a:r>
              <a:rPr sz="1100" b="0" i="0">
                <a:solidFill>
                  <a:srgbClr val="1F2A44"/>
                </a:solidFill>
                <a:latin typeface="Calibri"/>
              </a:rPr>
              <a:t>• Varyasyon literatürü</a:t>
            </a:r>
          </a:p>
        </p:txBody>
      </p:sp>
      <p:sp>
        <p:nvSpPr>
          <p:cNvPr id="17" name="Rounded Rectangle 16"/>
          <p:cNvSpPr/>
          <p:nvPr/>
        </p:nvSpPr>
        <p:spPr>
          <a:xfrm>
            <a:off x="9098280" y="1051560"/>
            <a:ext cx="2697480" cy="4937760"/>
          </a:xfrm>
          <a:prstGeom prst="roundRect">
            <a:avLst/>
          </a:prstGeom>
          <a:solidFill>
            <a:srgbClr val="F3F4F6"/>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19" y="1143000"/>
            <a:ext cx="2514600" cy="457200"/>
          </a:xfrm>
          <a:prstGeom prst="rect">
            <a:avLst/>
          </a:prstGeom>
          <a:noFill/>
        </p:spPr>
        <p:txBody>
          <a:bodyPr wrap="square" anchor="t" lIns="45720" rIns="45720" tIns="18288" bIns="18288">
            <a:spAutoFit/>
          </a:bodyPr>
          <a:lstStyle/>
          <a:p>
            <a:pPr algn="l"/>
            <a:r>
              <a:rPr sz="2000" b="1" i="0">
                <a:solidFill>
                  <a:srgbClr val="C0392B"/>
                </a:solidFill>
                <a:latin typeface="Calibri"/>
              </a:rPr>
              <a:t>4. EL</a:t>
            </a:r>
          </a:p>
        </p:txBody>
      </p:sp>
      <p:sp>
        <p:nvSpPr>
          <p:cNvPr id="19" name="TextBox 18"/>
          <p:cNvSpPr txBox="1"/>
          <p:nvPr/>
        </p:nvSpPr>
        <p:spPr>
          <a:xfrm>
            <a:off x="9189719" y="1645919"/>
            <a:ext cx="2514600" cy="411480"/>
          </a:xfrm>
          <a:prstGeom prst="rect">
            <a:avLst/>
          </a:prstGeom>
          <a:noFill/>
        </p:spPr>
        <p:txBody>
          <a:bodyPr wrap="square" anchor="t" lIns="45720" rIns="45720" tIns="18288" bIns="18288">
            <a:spAutoFit/>
          </a:bodyPr>
          <a:lstStyle/>
          <a:p>
            <a:pPr algn="l"/>
            <a:r>
              <a:rPr sz="1050" b="0" i="1">
                <a:solidFill>
                  <a:srgbClr val="555B66"/>
                </a:solidFill>
                <a:latin typeface="Calibri"/>
              </a:rPr>
              <a:t>Regio carpalis, palma manus ve dorsum manus</a:t>
            </a:r>
          </a:p>
        </p:txBody>
      </p:sp>
      <p:sp>
        <p:nvSpPr>
          <p:cNvPr id="20" name="TextBox 19"/>
          <p:cNvSpPr txBox="1"/>
          <p:nvPr/>
        </p:nvSpPr>
        <p:spPr>
          <a:xfrm>
            <a:off x="9189719" y="2148839"/>
            <a:ext cx="2514600" cy="3749039"/>
          </a:xfrm>
          <a:prstGeom prst="rect">
            <a:avLst/>
          </a:prstGeom>
          <a:noFill/>
        </p:spPr>
        <p:txBody>
          <a:bodyPr wrap="square">
            <a:spAutoFit/>
          </a:bodyPr>
          <a:lstStyle/>
          <a:p>
            <a:pPr algn="l">
              <a:spcAft>
                <a:spcPts val="300"/>
              </a:spcAft>
            </a:pPr>
            <a:r>
              <a:rPr sz="1100" b="0" i="0">
                <a:solidFill>
                  <a:srgbClr val="1F2A44"/>
                </a:solidFill>
                <a:latin typeface="Calibri"/>
              </a:rPr>
              <a:t>• Kemikler ve eklemler</a:t>
            </a:r>
          </a:p>
          <a:p>
            <a:pPr algn="l">
              <a:spcAft>
                <a:spcPts val="300"/>
              </a:spcAft>
            </a:pPr>
            <a:r>
              <a:rPr sz="1100" b="0" i="0">
                <a:solidFill>
                  <a:srgbClr val="1F2A44"/>
                </a:solidFill>
                <a:latin typeface="Calibri"/>
              </a:rPr>
              <a:t>• Canalis carpi ve Guyon kanalı</a:t>
            </a:r>
          </a:p>
          <a:p>
            <a:pPr algn="l">
              <a:spcAft>
                <a:spcPts val="300"/>
              </a:spcAft>
            </a:pPr>
            <a:r>
              <a:rPr sz="1100" b="0" i="0">
                <a:solidFill>
                  <a:srgbClr val="1F2A44"/>
                </a:solidFill>
                <a:latin typeface="Calibri"/>
              </a:rPr>
              <a:t>• Fovea radialis, ekstensör kompartmanlar</a:t>
            </a:r>
          </a:p>
          <a:p>
            <a:pPr algn="l">
              <a:spcAft>
                <a:spcPts val="300"/>
              </a:spcAft>
            </a:pPr>
            <a:r>
              <a:rPr sz="1100" b="0" i="0">
                <a:solidFill>
                  <a:srgbClr val="1F2A44"/>
                </a:solidFill>
                <a:latin typeface="Calibri"/>
              </a:rPr>
              <a:t>• İntrinsik kaslar</a:t>
            </a:r>
          </a:p>
          <a:p>
            <a:pPr algn="l">
              <a:spcAft>
                <a:spcPts val="300"/>
              </a:spcAft>
            </a:pPr>
            <a:r>
              <a:rPr sz="1100" b="0" i="0">
                <a:solidFill>
                  <a:srgbClr val="1F2A44"/>
                </a:solidFill>
                <a:latin typeface="Calibri"/>
              </a:rPr>
              <a:t>• Arcus palmares</a:t>
            </a:r>
          </a:p>
          <a:p>
            <a:pPr algn="l">
              <a:spcAft>
                <a:spcPts val="300"/>
              </a:spcAft>
            </a:pPr>
            <a:r>
              <a:rPr sz="1100" b="0" i="0">
                <a:solidFill>
                  <a:srgbClr val="1F2A44"/>
                </a:solidFill>
                <a:latin typeface="Calibri"/>
              </a:rPr>
              <a:t>• Tendon düzeni</a:t>
            </a:r>
          </a:p>
          <a:p>
            <a:pPr algn="l">
              <a:spcAft>
                <a:spcPts val="300"/>
              </a:spcAft>
            </a:pPr>
            <a:r>
              <a:rPr sz="1100" b="0" i="0">
                <a:solidFill>
                  <a:srgbClr val="1F2A44"/>
                </a:solidFill>
                <a:latin typeface="Calibri"/>
              </a:rPr>
              <a:t>• İnnervasyon</a:t>
            </a:r>
          </a:p>
          <a:p>
            <a:pPr algn="l">
              <a:spcAft>
                <a:spcPts val="300"/>
              </a:spcAft>
            </a:pPr>
            <a:r>
              <a:rPr sz="1100" b="0" i="0">
                <a:solidFill>
                  <a:srgbClr val="1F2A44"/>
                </a:solidFill>
                <a:latin typeface="Calibri"/>
              </a:rPr>
              <a:t>• Klinik bağlantılar</a:t>
            </a:r>
          </a:p>
          <a:p>
            <a:pPr algn="l">
              <a:spcAft>
                <a:spcPts val="300"/>
              </a:spcAft>
            </a:pPr>
            <a:r>
              <a:rPr sz="1100" b="0" i="0">
                <a:solidFill>
                  <a:srgbClr val="1F2A44"/>
                </a:solidFill>
                <a:latin typeface="Calibri"/>
              </a:rPr>
              <a:t>• Varyasyon literatürü</a:t>
            </a:r>
          </a:p>
        </p:txBody>
      </p:sp>
      <p:sp>
        <p:nvSpPr>
          <p:cNvPr id="21" name="TextBox 20"/>
          <p:cNvSpPr txBox="1"/>
          <p:nvPr/>
        </p:nvSpPr>
        <p:spPr>
          <a:xfrm>
            <a:off x="457200" y="6053328"/>
            <a:ext cx="11247120" cy="320040"/>
          </a:xfrm>
          <a:prstGeom prst="rect">
            <a:avLst/>
          </a:prstGeom>
          <a:noFill/>
        </p:spPr>
        <p:txBody>
          <a:bodyPr wrap="square" anchor="t" lIns="45720" rIns="45720" tIns="18288" bIns="18288">
            <a:spAutoFit/>
          </a:bodyPr>
          <a:lstStyle/>
          <a:p>
            <a:pPr algn="l"/>
            <a:r>
              <a:rPr sz="1100" b="0" i="1">
                <a:solidFill>
                  <a:srgbClr val="555B66"/>
                </a:solidFill>
                <a:latin typeface="Calibri"/>
              </a:rPr>
              <a:t>Giriş: bölgeler, plexus brachialis şeması, arteriyel ağaç, venöz ve lenfatik drenaj</a:t>
            </a:r>
          </a:p>
        </p:txBody>
      </p:sp>
      <p:cxnSp>
        <p:nvCxnSpPr>
          <p:cNvPr id="22" name="Connector 2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24" name="TextBox 23"/>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Üst ekstremitenin bölgeleri ve genel planı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Membrum superius: cingulum pectorale + pars libera membri superioris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GİRİŞ</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Bölgeler (regiones):</a:t>
            </a:r>
            <a:r>
              <a:rPr sz="1300" b="0" i="0">
                <a:solidFill>
                  <a:srgbClr val="1F2A44"/>
                </a:solidFill>
                <a:latin typeface="Calibri"/>
              </a:rPr>
              <a:t> regio deltoidea, regio axillaris, regio brachii anterior/posterior, regio cubitalis anterior/posterior, regio antebrachii anterior/posterior, regio carpalis, palma manus ve dorsum manus.</a:t>
            </a:r>
          </a:p>
          <a:p>
            <a:pPr algn="l">
              <a:spcAft>
                <a:spcPts val="300"/>
              </a:spcAft>
            </a:pPr>
            <a:r>
              <a:rPr sz="1300" b="0" i="0">
                <a:solidFill>
                  <a:srgbClr val="1F2A44"/>
                </a:solidFill>
                <a:latin typeface="Calibri"/>
              </a:rPr>
              <a:t>• </a:t>
            </a:r>
            <a:r>
              <a:rPr sz="1300" b="0" i="0">
                <a:solidFill>
                  <a:srgbClr val="1F2A44"/>
                </a:solidFill>
                <a:latin typeface="Calibri"/>
              </a:rPr>
              <a:t>Kemikler:</a:t>
            </a:r>
            <a:r>
              <a:rPr sz="1300" b="0" i="0">
                <a:solidFill>
                  <a:srgbClr val="1F2A44"/>
                </a:solidFill>
                <a:latin typeface="Calibri"/>
              </a:rPr>
              <a:t> cingulum pectorale (clavicula, scapula); humerus; radius ve ulna; 8 ossa carpi, 5 ossa metacarpi ve 14 phalanges – toplam 32 kemik (her bir taraf).</a:t>
            </a:r>
          </a:p>
          <a:p>
            <a:pPr algn="l">
              <a:spcAft>
                <a:spcPts val="300"/>
              </a:spcAft>
            </a:pPr>
            <a:r>
              <a:rPr sz="1300" b="0" i="0">
                <a:solidFill>
                  <a:srgbClr val="1F2A44"/>
                </a:solidFill>
                <a:latin typeface="Calibri"/>
              </a:rPr>
              <a:t>• </a:t>
            </a:r>
            <a:r>
              <a:rPr sz="1300" b="0" i="0">
                <a:solidFill>
                  <a:srgbClr val="1F2A44"/>
                </a:solidFill>
                <a:latin typeface="Calibri"/>
              </a:rPr>
              <a:t>Eklemler:</a:t>
            </a:r>
            <a:r>
              <a:rPr sz="1300" b="0" i="0">
                <a:solidFill>
                  <a:srgbClr val="1F2A44"/>
                </a:solidFill>
                <a:latin typeface="Calibri"/>
              </a:rPr>
              <a:t> art. sternoclavicularis (gövde ile tek gerçek eklem), art. acromioclavicularis, art. humeri, art. cubiti, artt. radioulnares proximalis et distalis, art. radiocarpalis, artt. intercarpales, carpometacarpales, metacarpophalangeae ve interphalangeae.</a:t>
            </a:r>
          </a:p>
          <a:p>
            <a:pPr algn="l">
              <a:spcAft>
                <a:spcPts val="300"/>
              </a:spcAft>
            </a:pPr>
            <a:r>
              <a:rPr sz="1300" b="0" i="0">
                <a:solidFill>
                  <a:srgbClr val="1F2A44"/>
                </a:solidFill>
                <a:latin typeface="Calibri"/>
              </a:rPr>
              <a:t>• </a:t>
            </a:r>
            <a:r>
              <a:rPr sz="1300" b="0" i="0">
                <a:solidFill>
                  <a:srgbClr val="1F2A44"/>
                </a:solidFill>
                <a:latin typeface="Calibri"/>
              </a:rPr>
              <a:t>Kompartman ilkesi:</a:t>
            </a:r>
            <a:r>
              <a:rPr sz="1300" b="0" i="0">
                <a:solidFill>
                  <a:srgbClr val="1F2A44"/>
                </a:solidFill>
                <a:latin typeface="Calibri"/>
              </a:rPr>
              <a:t> kol ve önkol derin fasya ve septa intermuscularia ile </a:t>
            </a:r>
            <a:r>
              <a:rPr sz="1300" b="0" i="0">
                <a:solidFill>
                  <a:srgbClr val="1F2A44"/>
                </a:solidFill>
                <a:latin typeface="Calibri"/>
              </a:rPr>
              <a:t>ön (fleksör)</a:t>
            </a:r>
            <a:r>
              <a:rPr sz="1300" b="0" i="0">
                <a:solidFill>
                  <a:srgbClr val="1F2A44"/>
                </a:solidFill>
                <a:latin typeface="Calibri"/>
              </a:rPr>
              <a:t> ve </a:t>
            </a:r>
            <a:r>
              <a:rPr sz="1300" b="0" i="0">
                <a:solidFill>
                  <a:srgbClr val="1F2A44"/>
                </a:solidFill>
                <a:latin typeface="Calibri"/>
              </a:rPr>
              <a:t>arka (ekstensör)</a:t>
            </a:r>
            <a:r>
              <a:rPr sz="1300" b="0" i="0">
                <a:solidFill>
                  <a:srgbClr val="1F2A44"/>
                </a:solidFill>
                <a:latin typeface="Calibri"/>
              </a:rPr>
              <a:t> kompartmanlara ayrılır; her kompartmanın baskın bir siniri vardır (kol: n. musculocutaneus / n. radialis; önkol: n. medianus + n. ulnaris / n. radialis).</a:t>
            </a:r>
          </a:p>
          <a:p>
            <a:pPr algn="l">
              <a:spcAft>
                <a:spcPts val="300"/>
              </a:spcAft>
            </a:pPr>
            <a:r>
              <a:rPr sz="1300" b="0" i="0">
                <a:solidFill>
                  <a:srgbClr val="1F2A44"/>
                </a:solidFill>
                <a:latin typeface="Calibri"/>
              </a:rPr>
              <a:t>• Bu sunumda her bölge </a:t>
            </a:r>
            <a:r>
              <a:rPr sz="1300" b="0" i="0">
                <a:solidFill>
                  <a:srgbClr val="1F2A44"/>
                </a:solidFill>
                <a:latin typeface="Calibri"/>
              </a:rPr>
              <a:t>önce normal topografi</a:t>
            </a:r>
            <a:r>
              <a:rPr sz="1300" b="0" i="0">
                <a:solidFill>
                  <a:srgbClr val="1F2A44"/>
                </a:solidFill>
                <a:latin typeface="Calibri"/>
              </a:rPr>
              <a:t>, ardından </a:t>
            </a:r>
            <a:r>
              <a:rPr sz="1300" b="0" i="0">
                <a:solidFill>
                  <a:srgbClr val="1F2A44"/>
                </a:solidFill>
                <a:latin typeface="Calibri"/>
              </a:rPr>
              <a:t>o bölgeye ait varyasyonların literatür taraması</a:t>
            </a:r>
            <a:r>
              <a:rPr sz="1300" b="0" i="0">
                <a:solidFill>
                  <a:srgbClr val="1F2A44"/>
                </a:solidFill>
                <a:latin typeface="Calibri"/>
              </a:rPr>
              <a:t> ve seçilmiş çalışmaların görselleriyle ele alınmıştır.</a:t>
            </a:r>
          </a:p>
        </p:txBody>
      </p:sp>
      <p:pic>
        <p:nvPicPr>
          <p:cNvPr id="8" name="Picture 7" descr="cpr_coronal_levels.jpg"/>
          <p:cNvPicPr>
            <a:picLocks noChangeAspect="1"/>
          </p:cNvPicPr>
          <p:nvPr/>
        </p:nvPicPr>
        <p:blipFill>
          <a:blip r:embed="rId2"/>
          <a:stretch>
            <a:fillRect/>
          </a:stretch>
        </p:blipFill>
        <p:spPr>
          <a:xfrm>
            <a:off x="8715192" y="1188720"/>
            <a:ext cx="1543414" cy="4846320"/>
          </a:xfrm>
          <a:prstGeom prst="rect">
            <a:avLst/>
          </a:prstGeom>
        </p:spPr>
      </p:pic>
      <p:sp>
        <p:nvSpPr>
          <p:cNvPr id="9" name="TextBox 8"/>
          <p:cNvSpPr txBox="1"/>
          <p:nvPr/>
        </p:nvSpPr>
        <p:spPr>
          <a:xfrm>
            <a:off x="8623752" y="6035040"/>
            <a:ext cx="1726294"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sağ üst ekstremite – kriyokesitlerden boylamsal (eğri düzlemli) reformat</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 – genel organizasyon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Radices → Trunci → Divisiones → Fasciculi → Rami terminales (C5–T1 ön dalları)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GİRİŞ</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ŞEMA</a:t>
            </a:r>
          </a:p>
        </p:txBody>
      </p:sp>
      <p:sp>
        <p:nvSpPr>
          <p:cNvPr id="7" name="TextBox 6"/>
          <p:cNvSpPr txBox="1"/>
          <p:nvPr/>
        </p:nvSpPr>
        <p:spPr>
          <a:xfrm>
            <a:off x="320040" y="1097280"/>
            <a:ext cx="1417320" cy="274320"/>
          </a:xfrm>
          <a:prstGeom prst="rect">
            <a:avLst/>
          </a:prstGeom>
          <a:noFill/>
        </p:spPr>
        <p:txBody>
          <a:bodyPr wrap="square" anchor="t" lIns="45720" rIns="45720" tIns="18288" bIns="18288">
            <a:spAutoFit/>
          </a:bodyPr>
          <a:lstStyle/>
          <a:p>
            <a:pPr algn="ctr"/>
            <a:r>
              <a:rPr sz="1100" b="1" i="0">
                <a:solidFill>
                  <a:srgbClr val="555B66"/>
                </a:solidFill>
                <a:latin typeface="Calibri"/>
              </a:rPr>
              <a:t>Radices</a:t>
            </a:r>
          </a:p>
        </p:txBody>
      </p:sp>
      <p:sp>
        <p:nvSpPr>
          <p:cNvPr id="8" name="TextBox 7"/>
          <p:cNvSpPr txBox="1"/>
          <p:nvPr/>
        </p:nvSpPr>
        <p:spPr>
          <a:xfrm>
            <a:off x="1645920" y="1097280"/>
            <a:ext cx="1417320" cy="274320"/>
          </a:xfrm>
          <a:prstGeom prst="rect">
            <a:avLst/>
          </a:prstGeom>
          <a:noFill/>
        </p:spPr>
        <p:txBody>
          <a:bodyPr wrap="square" anchor="t" lIns="45720" rIns="45720" tIns="18288" bIns="18288">
            <a:spAutoFit/>
          </a:bodyPr>
          <a:lstStyle/>
          <a:p>
            <a:pPr algn="ctr"/>
            <a:r>
              <a:rPr sz="1100" b="1" i="0">
                <a:solidFill>
                  <a:srgbClr val="555B66"/>
                </a:solidFill>
                <a:latin typeface="Calibri"/>
              </a:rPr>
              <a:t>Trunci</a:t>
            </a:r>
          </a:p>
        </p:txBody>
      </p:sp>
      <p:sp>
        <p:nvSpPr>
          <p:cNvPr id="9" name="TextBox 8"/>
          <p:cNvSpPr txBox="1"/>
          <p:nvPr/>
        </p:nvSpPr>
        <p:spPr>
          <a:xfrm>
            <a:off x="3017520" y="1097280"/>
            <a:ext cx="1417320" cy="274320"/>
          </a:xfrm>
          <a:prstGeom prst="rect">
            <a:avLst/>
          </a:prstGeom>
          <a:noFill/>
        </p:spPr>
        <p:txBody>
          <a:bodyPr wrap="square" anchor="t" lIns="45720" rIns="45720" tIns="18288" bIns="18288">
            <a:spAutoFit/>
          </a:bodyPr>
          <a:lstStyle/>
          <a:p>
            <a:pPr algn="ctr"/>
            <a:r>
              <a:rPr sz="1100" b="1" i="0">
                <a:solidFill>
                  <a:srgbClr val="555B66"/>
                </a:solidFill>
                <a:latin typeface="Calibri"/>
              </a:rPr>
              <a:t>Divisiones</a:t>
            </a:r>
          </a:p>
        </p:txBody>
      </p:sp>
      <p:sp>
        <p:nvSpPr>
          <p:cNvPr id="10" name="TextBox 9"/>
          <p:cNvSpPr txBox="1"/>
          <p:nvPr/>
        </p:nvSpPr>
        <p:spPr>
          <a:xfrm>
            <a:off x="4480560" y="1097280"/>
            <a:ext cx="1417320" cy="274320"/>
          </a:xfrm>
          <a:prstGeom prst="rect">
            <a:avLst/>
          </a:prstGeom>
          <a:noFill/>
        </p:spPr>
        <p:txBody>
          <a:bodyPr wrap="square" anchor="t" lIns="45720" rIns="45720" tIns="18288" bIns="18288">
            <a:spAutoFit/>
          </a:bodyPr>
          <a:lstStyle/>
          <a:p>
            <a:pPr algn="ctr"/>
            <a:r>
              <a:rPr sz="1100" b="1" i="0">
                <a:solidFill>
                  <a:srgbClr val="555B66"/>
                </a:solidFill>
                <a:latin typeface="Calibri"/>
              </a:rPr>
              <a:t>Fasciculi</a:t>
            </a:r>
          </a:p>
        </p:txBody>
      </p:sp>
      <p:sp>
        <p:nvSpPr>
          <p:cNvPr id="11" name="TextBox 10"/>
          <p:cNvSpPr txBox="1"/>
          <p:nvPr/>
        </p:nvSpPr>
        <p:spPr>
          <a:xfrm>
            <a:off x="5989320" y="1097280"/>
            <a:ext cx="1417320" cy="274320"/>
          </a:xfrm>
          <a:prstGeom prst="rect">
            <a:avLst/>
          </a:prstGeom>
          <a:noFill/>
        </p:spPr>
        <p:txBody>
          <a:bodyPr wrap="square" anchor="t" lIns="45720" rIns="45720" tIns="18288" bIns="18288">
            <a:spAutoFit/>
          </a:bodyPr>
          <a:lstStyle/>
          <a:p>
            <a:pPr algn="ctr"/>
            <a:r>
              <a:rPr sz="1100" b="1" i="0">
                <a:solidFill>
                  <a:srgbClr val="555B66"/>
                </a:solidFill>
                <a:latin typeface="Calibri"/>
              </a:rPr>
              <a:t>Rami terminales</a:t>
            </a:r>
          </a:p>
        </p:txBody>
      </p:sp>
      <p:sp>
        <p:nvSpPr>
          <p:cNvPr id="12" name="Rounded Rectangle 11"/>
          <p:cNvSpPr/>
          <p:nvPr/>
        </p:nvSpPr>
        <p:spPr>
          <a:xfrm>
            <a:off x="365760" y="146304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C5</a:t>
            </a:r>
          </a:p>
        </p:txBody>
      </p:sp>
      <p:sp>
        <p:nvSpPr>
          <p:cNvPr id="13" name="Rounded Rectangle 12"/>
          <p:cNvSpPr/>
          <p:nvPr/>
        </p:nvSpPr>
        <p:spPr>
          <a:xfrm>
            <a:off x="365760" y="233172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C6</a:t>
            </a:r>
          </a:p>
        </p:txBody>
      </p:sp>
      <p:sp>
        <p:nvSpPr>
          <p:cNvPr id="14" name="Rounded Rectangle 13"/>
          <p:cNvSpPr/>
          <p:nvPr/>
        </p:nvSpPr>
        <p:spPr>
          <a:xfrm>
            <a:off x="365760" y="320040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C7</a:t>
            </a:r>
          </a:p>
        </p:txBody>
      </p:sp>
      <p:sp>
        <p:nvSpPr>
          <p:cNvPr id="15" name="Rounded Rectangle 14"/>
          <p:cNvSpPr/>
          <p:nvPr/>
        </p:nvSpPr>
        <p:spPr>
          <a:xfrm>
            <a:off x="365760" y="4069079"/>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C8</a:t>
            </a:r>
          </a:p>
        </p:txBody>
      </p:sp>
      <p:sp>
        <p:nvSpPr>
          <p:cNvPr id="16" name="Rounded Rectangle 15"/>
          <p:cNvSpPr/>
          <p:nvPr/>
        </p:nvSpPr>
        <p:spPr>
          <a:xfrm>
            <a:off x="365760" y="493776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T1</a:t>
            </a:r>
          </a:p>
        </p:txBody>
      </p:sp>
      <p:sp>
        <p:nvSpPr>
          <p:cNvPr id="17" name="Rounded Rectangle 16"/>
          <p:cNvSpPr/>
          <p:nvPr/>
        </p:nvSpPr>
        <p:spPr>
          <a:xfrm>
            <a:off x="1691640" y="1874519"/>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T. superior</a:t>
            </a:r>
          </a:p>
        </p:txBody>
      </p:sp>
      <p:sp>
        <p:nvSpPr>
          <p:cNvPr id="18" name="Rounded Rectangle 17"/>
          <p:cNvSpPr/>
          <p:nvPr/>
        </p:nvSpPr>
        <p:spPr>
          <a:xfrm>
            <a:off x="1691640" y="320040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T. medius</a:t>
            </a:r>
          </a:p>
        </p:txBody>
      </p:sp>
      <p:sp>
        <p:nvSpPr>
          <p:cNvPr id="19" name="Rounded Rectangle 18"/>
          <p:cNvSpPr/>
          <p:nvPr/>
        </p:nvSpPr>
        <p:spPr>
          <a:xfrm>
            <a:off x="1691640" y="4526280"/>
            <a:ext cx="1143000" cy="384048"/>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T. inferior</a:t>
            </a:r>
          </a:p>
        </p:txBody>
      </p:sp>
      <p:cxnSp>
        <p:nvCxnSpPr>
          <p:cNvPr id="20" name="Connector 19"/>
          <p:cNvCxnSpPr/>
          <p:nvPr/>
        </p:nvCxnSpPr>
        <p:spPr>
          <a:xfrm>
            <a:off x="1508760" y="1655064"/>
            <a:ext cx="182880" cy="411479"/>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508760" y="2066543"/>
            <a:ext cx="182880" cy="457201"/>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508760" y="3392424"/>
            <a:ext cx="182880" cy="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508760" y="4261103"/>
            <a:ext cx="182880" cy="457201"/>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508760" y="4718304"/>
            <a:ext cx="182880" cy="41148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063240" y="1600200"/>
            <a:ext cx="1143000" cy="329184"/>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ön</a:t>
            </a:r>
          </a:p>
        </p:txBody>
      </p:sp>
      <p:sp>
        <p:nvSpPr>
          <p:cNvPr id="26" name="Rounded Rectangle 25"/>
          <p:cNvSpPr/>
          <p:nvPr/>
        </p:nvSpPr>
        <p:spPr>
          <a:xfrm>
            <a:off x="3063240" y="2057400"/>
            <a:ext cx="1143000" cy="329184"/>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FFFFFF"/>
                </a:solidFill>
                <a:latin typeface="Calibri"/>
              </a:rPr>
              <a:t>arka</a:t>
            </a:r>
          </a:p>
        </p:txBody>
      </p:sp>
      <p:cxnSp>
        <p:nvCxnSpPr>
          <p:cNvPr id="27" name="Connector 26"/>
          <p:cNvCxnSpPr/>
          <p:nvPr/>
        </p:nvCxnSpPr>
        <p:spPr>
          <a:xfrm flipV="1">
            <a:off x="2834640" y="1764792"/>
            <a:ext cx="228600" cy="301751"/>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834640" y="2066543"/>
            <a:ext cx="228600" cy="155449"/>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063240" y="2926080"/>
            <a:ext cx="1143000" cy="329184"/>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ön</a:t>
            </a:r>
          </a:p>
        </p:txBody>
      </p:sp>
      <p:sp>
        <p:nvSpPr>
          <p:cNvPr id="30" name="Rounded Rectangle 29"/>
          <p:cNvSpPr/>
          <p:nvPr/>
        </p:nvSpPr>
        <p:spPr>
          <a:xfrm>
            <a:off x="3063240" y="3383280"/>
            <a:ext cx="1143000" cy="329184"/>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FFFFFF"/>
                </a:solidFill>
                <a:latin typeface="Calibri"/>
              </a:rPr>
              <a:t>arka</a:t>
            </a:r>
          </a:p>
        </p:txBody>
      </p:sp>
      <p:cxnSp>
        <p:nvCxnSpPr>
          <p:cNvPr id="31" name="Connector 30"/>
          <p:cNvCxnSpPr/>
          <p:nvPr/>
        </p:nvCxnSpPr>
        <p:spPr>
          <a:xfrm flipV="1">
            <a:off x="2834640" y="3090672"/>
            <a:ext cx="228600" cy="301752"/>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834640" y="3392424"/>
            <a:ext cx="228600" cy="155448"/>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063240" y="4251960"/>
            <a:ext cx="1143000" cy="329184"/>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ön</a:t>
            </a:r>
          </a:p>
        </p:txBody>
      </p:sp>
      <p:sp>
        <p:nvSpPr>
          <p:cNvPr id="34" name="Rounded Rectangle 33"/>
          <p:cNvSpPr/>
          <p:nvPr/>
        </p:nvSpPr>
        <p:spPr>
          <a:xfrm>
            <a:off x="3063240" y="4709160"/>
            <a:ext cx="1143000" cy="329184"/>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FFFFFF"/>
                </a:solidFill>
                <a:latin typeface="Calibri"/>
              </a:rPr>
              <a:t>arka</a:t>
            </a:r>
          </a:p>
        </p:txBody>
      </p:sp>
      <p:cxnSp>
        <p:nvCxnSpPr>
          <p:cNvPr id="35" name="Connector 34"/>
          <p:cNvCxnSpPr/>
          <p:nvPr/>
        </p:nvCxnSpPr>
        <p:spPr>
          <a:xfrm flipV="1">
            <a:off x="2834640" y="4416552"/>
            <a:ext cx="228600" cy="301752"/>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834640" y="4718304"/>
            <a:ext cx="228600" cy="155448"/>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526280" y="1828800"/>
            <a:ext cx="1143000" cy="384048"/>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1F2A44"/>
                </a:solidFill>
                <a:latin typeface="Calibri"/>
              </a:rPr>
              <a:t>F. lateralis</a:t>
            </a:r>
          </a:p>
        </p:txBody>
      </p:sp>
      <p:sp>
        <p:nvSpPr>
          <p:cNvPr id="38" name="Rounded Rectangle 37"/>
          <p:cNvSpPr/>
          <p:nvPr/>
        </p:nvSpPr>
        <p:spPr>
          <a:xfrm>
            <a:off x="4526280" y="3246120"/>
            <a:ext cx="1143000" cy="384048"/>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F. posterior</a:t>
            </a:r>
          </a:p>
        </p:txBody>
      </p:sp>
      <p:sp>
        <p:nvSpPr>
          <p:cNvPr id="39" name="Rounded Rectangle 38"/>
          <p:cNvSpPr/>
          <p:nvPr/>
        </p:nvSpPr>
        <p:spPr>
          <a:xfrm>
            <a:off x="4526280" y="4663440"/>
            <a:ext cx="1143000" cy="384048"/>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1F2A44"/>
                </a:solidFill>
                <a:latin typeface="Calibri"/>
              </a:rPr>
              <a:t>F. medialis</a:t>
            </a:r>
          </a:p>
        </p:txBody>
      </p:sp>
      <p:cxnSp>
        <p:nvCxnSpPr>
          <p:cNvPr id="40" name="Connector 39"/>
          <p:cNvCxnSpPr/>
          <p:nvPr/>
        </p:nvCxnSpPr>
        <p:spPr>
          <a:xfrm>
            <a:off x="4206240" y="1764792"/>
            <a:ext cx="320040" cy="256032"/>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206240" y="2020824"/>
            <a:ext cx="320040" cy="1069848"/>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206240" y="2221992"/>
            <a:ext cx="320040" cy="1216152"/>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06240" y="3438144"/>
            <a:ext cx="320040" cy="109728"/>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206240" y="3438144"/>
            <a:ext cx="320040" cy="1435608"/>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206240" y="4416552"/>
            <a:ext cx="320040" cy="438912"/>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6035040" y="1417320"/>
            <a:ext cx="1280160" cy="384048"/>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N. musculocutaneus</a:t>
            </a:r>
          </a:p>
        </p:txBody>
      </p:sp>
      <p:sp>
        <p:nvSpPr>
          <p:cNvPr id="47" name="Rounded Rectangle 46"/>
          <p:cNvSpPr/>
          <p:nvPr/>
        </p:nvSpPr>
        <p:spPr>
          <a:xfrm>
            <a:off x="6035040" y="2606040"/>
            <a:ext cx="1280160" cy="384048"/>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FFFFFF"/>
                </a:solidFill>
                <a:latin typeface="Calibri"/>
              </a:rPr>
              <a:t>N. axillaris</a:t>
            </a:r>
          </a:p>
        </p:txBody>
      </p:sp>
      <p:sp>
        <p:nvSpPr>
          <p:cNvPr id="48" name="Rounded Rectangle 47"/>
          <p:cNvSpPr/>
          <p:nvPr/>
        </p:nvSpPr>
        <p:spPr>
          <a:xfrm>
            <a:off x="6035040" y="3246120"/>
            <a:ext cx="1280160" cy="384048"/>
          </a:xfrm>
          <a:prstGeom prst="roundRect">
            <a:avLst/>
          </a:prstGeom>
          <a:solidFill>
            <a:srgbClr val="2E7D3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FFFFFF"/>
                </a:solidFill>
                <a:latin typeface="Calibri"/>
              </a:rPr>
              <a:t>N. radialis</a:t>
            </a:r>
          </a:p>
        </p:txBody>
      </p:sp>
      <p:sp>
        <p:nvSpPr>
          <p:cNvPr id="49" name="Rounded Rectangle 48"/>
          <p:cNvSpPr/>
          <p:nvPr/>
        </p:nvSpPr>
        <p:spPr>
          <a:xfrm>
            <a:off x="6035040" y="4069080"/>
            <a:ext cx="1280160" cy="384048"/>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N. medianus</a:t>
            </a:r>
          </a:p>
        </p:txBody>
      </p:sp>
      <p:sp>
        <p:nvSpPr>
          <p:cNvPr id="50" name="Rounded Rectangle 49"/>
          <p:cNvSpPr/>
          <p:nvPr/>
        </p:nvSpPr>
        <p:spPr>
          <a:xfrm>
            <a:off x="6035040" y="5029200"/>
            <a:ext cx="1280160" cy="384048"/>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000" b="1">
                <a:solidFill>
                  <a:srgbClr val="1F2A44"/>
                </a:solidFill>
                <a:latin typeface="Calibri"/>
              </a:rPr>
              <a:t>N. ulnaris</a:t>
            </a:r>
          </a:p>
        </p:txBody>
      </p:sp>
      <p:cxnSp>
        <p:nvCxnSpPr>
          <p:cNvPr id="51" name="Connector 50"/>
          <p:cNvCxnSpPr/>
          <p:nvPr/>
        </p:nvCxnSpPr>
        <p:spPr>
          <a:xfrm flipV="1">
            <a:off x="5669280" y="1609344"/>
            <a:ext cx="365760" cy="41148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669280" y="2020824"/>
            <a:ext cx="365760" cy="224028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669280" y="2798064"/>
            <a:ext cx="365760" cy="64008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669280" y="3438144"/>
            <a:ext cx="365760" cy="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669280" y="4261104"/>
            <a:ext cx="365760" cy="59436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669280" y="4855464"/>
            <a:ext cx="365760" cy="365760"/>
          </a:xfrm>
          <a:prstGeom prst="line">
            <a:avLst/>
          </a:prstGeom>
          <a:ln w="19050">
            <a:solidFill>
              <a:srgbClr val="555B66"/>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65760" y="5806440"/>
            <a:ext cx="6949440" cy="457200"/>
          </a:xfrm>
          <a:prstGeom prst="rect">
            <a:avLst/>
          </a:prstGeom>
          <a:noFill/>
        </p:spPr>
        <p:txBody>
          <a:bodyPr wrap="square" anchor="t" lIns="45720" rIns="45720" tIns="18288" bIns="18288">
            <a:spAutoFit/>
          </a:bodyPr>
          <a:lstStyle/>
          <a:p>
            <a:pPr algn="l"/>
            <a:r>
              <a:rPr sz="950" b="0" i="1">
                <a:solidFill>
                  <a:srgbClr val="555B66"/>
                </a:solidFill>
                <a:latin typeface="Calibri"/>
              </a:rPr>
              <a:t>Sarı: ön divisiolar → fleksör sinirler; yeşil: arka divisiolar → ekstensör sinirler. Şema basitleştirilmiştir (kollateral dallar sağdaki metinde).</a:t>
            </a:r>
          </a:p>
        </p:txBody>
      </p:sp>
      <p:sp>
        <p:nvSpPr>
          <p:cNvPr id="58" name="TextBox 57"/>
          <p:cNvSpPr txBox="1"/>
          <p:nvPr/>
        </p:nvSpPr>
        <p:spPr>
          <a:xfrm>
            <a:off x="7543800" y="1188720"/>
            <a:ext cx="4389120" cy="5029200"/>
          </a:xfrm>
          <a:prstGeom prst="rect">
            <a:avLst/>
          </a:prstGeom>
          <a:noFill/>
        </p:spPr>
        <p:txBody>
          <a:bodyPr wrap="square">
            <a:spAutoFit/>
          </a:bodyPr>
          <a:lstStyle/>
          <a:p>
            <a:pPr algn="l">
              <a:spcAft>
                <a:spcPts val="300"/>
              </a:spcAft>
            </a:pPr>
            <a:r>
              <a:rPr sz="1200" b="0" i="0">
                <a:solidFill>
                  <a:srgbClr val="1F2A44"/>
                </a:solidFill>
                <a:latin typeface="Calibri"/>
              </a:rPr>
              <a:t>• Plexus, C5–T1 spinal sinirlerinin </a:t>
            </a:r>
            <a:r>
              <a:rPr sz="1200" b="0" i="0">
                <a:solidFill>
                  <a:srgbClr val="1F2A44"/>
                </a:solidFill>
                <a:latin typeface="Calibri"/>
              </a:rPr>
              <a:t>ön dallarından</a:t>
            </a:r>
            <a:r>
              <a:rPr sz="1200" b="0" i="0">
                <a:solidFill>
                  <a:srgbClr val="1F2A44"/>
                </a:solidFill>
                <a:latin typeface="Calibri"/>
              </a:rPr>
              <a:t> oluşur; m. scalenus anterior ve medius arasından çıkar, a. subclavia ile birlikte kosta I üzerinden aksillaya iner.</a:t>
            </a:r>
          </a:p>
          <a:p>
            <a:pPr algn="l">
              <a:spcAft>
                <a:spcPts val="300"/>
              </a:spcAft>
            </a:pPr>
            <a:r>
              <a:rPr sz="1200" b="0" i="0">
                <a:solidFill>
                  <a:srgbClr val="1F2A44"/>
                </a:solidFill>
                <a:latin typeface="Calibri"/>
              </a:rPr>
              <a:t>• </a:t>
            </a:r>
            <a:r>
              <a:rPr sz="1200" b="0" i="0">
                <a:solidFill>
                  <a:srgbClr val="1F2A44"/>
                </a:solidFill>
                <a:latin typeface="Calibri"/>
              </a:rPr>
              <a:t>Truncus superior</a:t>
            </a:r>
            <a:r>
              <a:rPr sz="1200" b="0" i="0">
                <a:solidFill>
                  <a:srgbClr val="1F2A44"/>
                </a:solidFill>
                <a:latin typeface="Calibri"/>
              </a:rPr>
              <a:t> (C5–C6), </a:t>
            </a:r>
            <a:r>
              <a:rPr sz="1200" b="0" i="0">
                <a:solidFill>
                  <a:srgbClr val="1F2A44"/>
                </a:solidFill>
                <a:latin typeface="Calibri"/>
              </a:rPr>
              <a:t>medius</a:t>
            </a:r>
            <a:r>
              <a:rPr sz="1200" b="0" i="0">
                <a:solidFill>
                  <a:srgbClr val="1F2A44"/>
                </a:solidFill>
                <a:latin typeface="Calibri"/>
              </a:rPr>
              <a:t> (C7), </a:t>
            </a:r>
            <a:r>
              <a:rPr sz="1200" b="0" i="0">
                <a:solidFill>
                  <a:srgbClr val="1F2A44"/>
                </a:solidFill>
                <a:latin typeface="Calibri"/>
              </a:rPr>
              <a:t>inferior</a:t>
            </a:r>
            <a:r>
              <a:rPr sz="1200" b="0" i="0">
                <a:solidFill>
                  <a:srgbClr val="1F2A44"/>
                </a:solidFill>
                <a:latin typeface="Calibri"/>
              </a:rPr>
              <a:t> (C8–T1); her truncus clavicula arkasında </a:t>
            </a:r>
            <a:r>
              <a:rPr sz="1200" b="0" i="0">
                <a:solidFill>
                  <a:srgbClr val="1F2A44"/>
                </a:solidFill>
                <a:latin typeface="Calibri"/>
              </a:rPr>
              <a:t>ön ve arka divisiolara</a:t>
            </a:r>
            <a:r>
              <a:rPr sz="1200" b="0" i="0">
                <a:solidFill>
                  <a:srgbClr val="1F2A44"/>
                </a:solidFill>
                <a:latin typeface="Calibri"/>
              </a:rPr>
              <a:t> ayrılır.</a:t>
            </a:r>
          </a:p>
          <a:p>
            <a:pPr algn="l">
              <a:spcAft>
                <a:spcPts val="300"/>
              </a:spcAft>
            </a:pPr>
            <a:r>
              <a:rPr sz="1200" b="0" i="0">
                <a:solidFill>
                  <a:srgbClr val="1F2A44"/>
                </a:solidFill>
                <a:latin typeface="Calibri"/>
              </a:rPr>
              <a:t>• </a:t>
            </a:r>
            <a:r>
              <a:rPr sz="1200" b="0" i="0">
                <a:solidFill>
                  <a:srgbClr val="1F2A44"/>
                </a:solidFill>
                <a:latin typeface="Calibri"/>
              </a:rPr>
              <a:t>Fasciculi</a:t>
            </a:r>
            <a:r>
              <a:rPr sz="1200" b="0" i="0">
                <a:solidFill>
                  <a:srgbClr val="1F2A44"/>
                </a:solidFill>
                <a:latin typeface="Calibri"/>
              </a:rPr>
              <a:t> a. axillaris'e göre adlandırılır: lateralis (üst+orta truncusların ön divisioları), medialis (alt truncusun ön divisiosu), posterior (tüm arka divisiolar).</a:t>
            </a:r>
          </a:p>
          <a:p>
            <a:pPr algn="l">
              <a:spcAft>
                <a:spcPts val="300"/>
              </a:spcAft>
            </a:pPr>
            <a:r>
              <a:rPr sz="1200" b="0" i="0">
                <a:solidFill>
                  <a:srgbClr val="1F2A44"/>
                </a:solidFill>
                <a:latin typeface="Calibri"/>
              </a:rPr>
              <a:t>• Arka divisiolar ekstensörleri (n. axillaris, n. radialis), ön divisiolar fleksörleri (n. musculocutaneus, n. medianus, n. ulnaris) innerve eder.</a:t>
            </a:r>
          </a:p>
        </p:txBody>
      </p:sp>
      <p:cxnSp>
        <p:nvCxnSpPr>
          <p:cNvPr id="59" name="Connector 5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Şema: bu projede standart anatomi bilgisinden çizilmiştir (gerçek görüntü değildir).</a:t>
            </a:r>
          </a:p>
        </p:txBody>
      </p:sp>
      <p:sp>
        <p:nvSpPr>
          <p:cNvPr id="61" name="TextBox 60"/>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Arteriyel ağaç ve önemli kollateral ağlar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 subclavia → a. axillaris → a. brachialis → a. radialis / a. ulnaris → arcus palmares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GİRİŞ</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ŞEMA</a:t>
            </a:r>
          </a:p>
        </p:txBody>
      </p:sp>
      <p:sp>
        <p:nvSpPr>
          <p:cNvPr id="7" name="Rounded Rectangle 6"/>
          <p:cNvSpPr/>
          <p:nvPr/>
        </p:nvSpPr>
        <p:spPr>
          <a:xfrm>
            <a:off x="548640" y="1234440"/>
            <a:ext cx="2194560" cy="457200"/>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A. subclavia</a:t>
            </a:r>
          </a:p>
        </p:txBody>
      </p:sp>
      <p:sp>
        <p:nvSpPr>
          <p:cNvPr id="8" name="TextBox 7"/>
          <p:cNvSpPr txBox="1"/>
          <p:nvPr/>
        </p:nvSpPr>
        <p:spPr>
          <a:xfrm>
            <a:off x="2834640" y="1737360"/>
            <a:ext cx="3566160" cy="274320"/>
          </a:xfrm>
          <a:prstGeom prst="rect">
            <a:avLst/>
          </a:prstGeom>
          <a:noFill/>
        </p:spPr>
        <p:txBody>
          <a:bodyPr wrap="square" anchor="t" lIns="45720" rIns="45720" tIns="18288" bIns="18288">
            <a:spAutoFit/>
          </a:bodyPr>
          <a:lstStyle/>
          <a:p>
            <a:pPr algn="l"/>
            <a:r>
              <a:rPr sz="1000" b="0" i="1">
                <a:solidFill>
                  <a:srgbClr val="555B66"/>
                </a:solidFill>
                <a:latin typeface="Calibri"/>
              </a:rPr>
              <a:t>↓ sınır: kosta I lateral kenarı</a:t>
            </a:r>
          </a:p>
        </p:txBody>
      </p:sp>
      <p:sp>
        <p:nvSpPr>
          <p:cNvPr id="9" name="Rounded Rectangle 8"/>
          <p:cNvSpPr/>
          <p:nvPr/>
        </p:nvSpPr>
        <p:spPr>
          <a:xfrm>
            <a:off x="548640" y="2194560"/>
            <a:ext cx="2194560" cy="457200"/>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A. axillaris</a:t>
            </a:r>
          </a:p>
        </p:txBody>
      </p:sp>
      <p:cxnSp>
        <p:nvCxnSpPr>
          <p:cNvPr id="10" name="Connector 9"/>
          <p:cNvCxnSpPr/>
          <p:nvPr/>
        </p:nvCxnSpPr>
        <p:spPr>
          <a:xfrm>
            <a:off x="1645920" y="1691640"/>
            <a:ext cx="0" cy="50292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34640" y="2697480"/>
            <a:ext cx="3566160" cy="274320"/>
          </a:xfrm>
          <a:prstGeom prst="rect">
            <a:avLst/>
          </a:prstGeom>
          <a:noFill/>
        </p:spPr>
        <p:txBody>
          <a:bodyPr wrap="square" anchor="t" lIns="45720" rIns="45720" tIns="18288" bIns="18288">
            <a:spAutoFit/>
          </a:bodyPr>
          <a:lstStyle/>
          <a:p>
            <a:pPr algn="l"/>
            <a:r>
              <a:rPr sz="1000" b="0" i="1">
                <a:solidFill>
                  <a:srgbClr val="555B66"/>
                </a:solidFill>
                <a:latin typeface="Calibri"/>
              </a:rPr>
              <a:t>↓ sınır: m. teres major alt kenarı</a:t>
            </a:r>
          </a:p>
        </p:txBody>
      </p:sp>
      <p:sp>
        <p:nvSpPr>
          <p:cNvPr id="12" name="Rounded Rectangle 11"/>
          <p:cNvSpPr/>
          <p:nvPr/>
        </p:nvSpPr>
        <p:spPr>
          <a:xfrm>
            <a:off x="548640" y="3154680"/>
            <a:ext cx="2194560" cy="457200"/>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A. brachialis</a:t>
            </a:r>
          </a:p>
        </p:txBody>
      </p:sp>
      <p:cxnSp>
        <p:nvCxnSpPr>
          <p:cNvPr id="13" name="Connector 12"/>
          <p:cNvCxnSpPr/>
          <p:nvPr/>
        </p:nvCxnSpPr>
        <p:spPr>
          <a:xfrm>
            <a:off x="1645920" y="2651760"/>
            <a:ext cx="0" cy="50292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834640" y="3657600"/>
            <a:ext cx="3566160" cy="274320"/>
          </a:xfrm>
          <a:prstGeom prst="rect">
            <a:avLst/>
          </a:prstGeom>
          <a:noFill/>
        </p:spPr>
        <p:txBody>
          <a:bodyPr wrap="square" anchor="t" lIns="45720" rIns="45720" tIns="18288" bIns="18288">
            <a:spAutoFit/>
          </a:bodyPr>
          <a:lstStyle/>
          <a:p>
            <a:pPr algn="l"/>
            <a:r>
              <a:rPr sz="1000" b="0" i="1">
                <a:solidFill>
                  <a:srgbClr val="555B66"/>
                </a:solidFill>
                <a:latin typeface="Calibri"/>
              </a:rPr>
              <a:t>↓ sınır: fossa cubiti (collum radii)</a:t>
            </a:r>
          </a:p>
        </p:txBody>
      </p:sp>
      <p:sp>
        <p:nvSpPr>
          <p:cNvPr id="15" name="TextBox 14"/>
          <p:cNvSpPr txBox="1"/>
          <p:nvPr/>
        </p:nvSpPr>
        <p:spPr>
          <a:xfrm>
            <a:off x="2834640" y="2194560"/>
            <a:ext cx="4023360" cy="502920"/>
          </a:xfrm>
          <a:prstGeom prst="rect">
            <a:avLst/>
          </a:prstGeom>
          <a:noFill/>
        </p:spPr>
        <p:txBody>
          <a:bodyPr wrap="square" anchor="t" lIns="45720" rIns="45720" tIns="18288" bIns="18288">
            <a:spAutoFit/>
          </a:bodyPr>
          <a:lstStyle/>
          <a:p>
            <a:pPr algn="l"/>
            <a:r>
              <a:rPr sz="950" b="0" i="0">
                <a:solidFill>
                  <a:srgbClr val="1F2A44"/>
                </a:solidFill>
                <a:latin typeface="Calibri"/>
              </a:rPr>
              <a:t>1: a. thoracica superior • 2: a. thoracoacromialis, a. thoracica lateralis • 3: a. subscapularis, aa. circumflexae humeri ant./post.</a:t>
            </a:r>
          </a:p>
        </p:txBody>
      </p:sp>
      <p:sp>
        <p:nvSpPr>
          <p:cNvPr id="16" name="TextBox 15"/>
          <p:cNvSpPr txBox="1"/>
          <p:nvPr/>
        </p:nvSpPr>
        <p:spPr>
          <a:xfrm>
            <a:off x="2834640" y="3154680"/>
            <a:ext cx="4023360" cy="457200"/>
          </a:xfrm>
          <a:prstGeom prst="rect">
            <a:avLst/>
          </a:prstGeom>
          <a:noFill/>
        </p:spPr>
        <p:txBody>
          <a:bodyPr wrap="square" anchor="t" lIns="45720" rIns="45720" tIns="18288" bIns="18288">
            <a:spAutoFit/>
          </a:bodyPr>
          <a:lstStyle/>
          <a:p>
            <a:pPr algn="l"/>
            <a:r>
              <a:rPr sz="950" b="0" i="0">
                <a:solidFill>
                  <a:srgbClr val="1F2A44"/>
                </a:solidFill>
                <a:latin typeface="Calibri"/>
              </a:rPr>
              <a:t>a. profunda brachii • aa. collaterales ulnares sup./inf. • a. nutricia humeri</a:t>
            </a:r>
          </a:p>
        </p:txBody>
      </p:sp>
      <p:sp>
        <p:nvSpPr>
          <p:cNvPr id="17" name="Rounded Rectangle 16"/>
          <p:cNvSpPr/>
          <p:nvPr/>
        </p:nvSpPr>
        <p:spPr>
          <a:xfrm>
            <a:off x="182880" y="4206240"/>
            <a:ext cx="1554480" cy="457200"/>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A. radialis</a:t>
            </a:r>
          </a:p>
        </p:txBody>
      </p:sp>
      <p:sp>
        <p:nvSpPr>
          <p:cNvPr id="18" name="Rounded Rectangle 17"/>
          <p:cNvSpPr/>
          <p:nvPr/>
        </p:nvSpPr>
        <p:spPr>
          <a:xfrm>
            <a:off x="1920240" y="4206240"/>
            <a:ext cx="1554480" cy="457200"/>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1100" b="1">
                <a:solidFill>
                  <a:srgbClr val="FFFFFF"/>
                </a:solidFill>
                <a:latin typeface="Calibri"/>
              </a:rPr>
              <a:t>A. ulnaris</a:t>
            </a:r>
          </a:p>
        </p:txBody>
      </p:sp>
      <p:cxnSp>
        <p:nvCxnSpPr>
          <p:cNvPr id="19" name="Connector 18"/>
          <p:cNvCxnSpPr/>
          <p:nvPr/>
        </p:nvCxnSpPr>
        <p:spPr>
          <a:xfrm flipH="1">
            <a:off x="960120" y="3611880"/>
            <a:ext cx="685800" cy="59436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645920" y="3611880"/>
            <a:ext cx="1051560" cy="59436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566160" y="4251960"/>
            <a:ext cx="3291840" cy="457200"/>
          </a:xfrm>
          <a:prstGeom prst="rect">
            <a:avLst/>
          </a:prstGeom>
          <a:noFill/>
        </p:spPr>
        <p:txBody>
          <a:bodyPr wrap="square" anchor="t" lIns="45720" rIns="45720" tIns="18288" bIns="18288">
            <a:spAutoFit/>
          </a:bodyPr>
          <a:lstStyle/>
          <a:p>
            <a:pPr algn="l"/>
            <a:r>
              <a:rPr sz="950" b="0" i="0">
                <a:solidFill>
                  <a:srgbClr val="1F2A44"/>
                </a:solidFill>
                <a:latin typeface="Calibri"/>
              </a:rPr>
              <a:t>a. ulnaris → a. interossea communis (ant./post.); rekürren dallar → dirsek anastomozu</a:t>
            </a:r>
          </a:p>
        </p:txBody>
      </p:sp>
      <p:sp>
        <p:nvSpPr>
          <p:cNvPr id="22" name="Rounded Rectangle 21"/>
          <p:cNvSpPr/>
          <p:nvPr/>
        </p:nvSpPr>
        <p:spPr>
          <a:xfrm>
            <a:off x="182880" y="5166360"/>
            <a:ext cx="1554480" cy="548640"/>
          </a:xfrm>
          <a:prstGeom prst="roundRect">
            <a:avLst/>
          </a:prstGeom>
          <a:solidFill>
            <a:srgbClr val="8E24A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950" b="1">
                <a:solidFill>
                  <a:srgbClr val="FFFFFF"/>
                </a:solidFill>
                <a:latin typeface="Calibri"/>
              </a:rPr>
              <a:t>Arcus palmaris profundus</a:t>
            </a:r>
          </a:p>
        </p:txBody>
      </p:sp>
      <p:sp>
        <p:nvSpPr>
          <p:cNvPr id="23" name="Rounded Rectangle 22"/>
          <p:cNvSpPr/>
          <p:nvPr/>
        </p:nvSpPr>
        <p:spPr>
          <a:xfrm>
            <a:off x="1920240" y="5166360"/>
            <a:ext cx="1554480" cy="548640"/>
          </a:xfrm>
          <a:prstGeom prst="roundRect">
            <a:avLst/>
          </a:prstGeom>
          <a:solidFill>
            <a:srgbClr val="8E24A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lIns="27432" rIns="27432" wrap="square"/>
          <a:lstStyle/>
          <a:p>
            <a:pPr algn="ctr"/>
            <a:r>
              <a:rPr sz="950" b="1">
                <a:solidFill>
                  <a:srgbClr val="FFFFFF"/>
                </a:solidFill>
                <a:latin typeface="Calibri"/>
              </a:rPr>
              <a:t>Arcus palmaris superficialis</a:t>
            </a:r>
          </a:p>
        </p:txBody>
      </p:sp>
      <p:cxnSp>
        <p:nvCxnSpPr>
          <p:cNvPr id="24" name="Connector 23"/>
          <p:cNvCxnSpPr/>
          <p:nvPr/>
        </p:nvCxnSpPr>
        <p:spPr>
          <a:xfrm>
            <a:off x="960120" y="4663440"/>
            <a:ext cx="0" cy="50292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97480" y="4663440"/>
            <a:ext cx="0" cy="502920"/>
          </a:xfrm>
          <a:prstGeom prst="line">
            <a:avLst/>
          </a:prstGeom>
          <a:ln w="31750">
            <a:solidFill>
              <a:srgbClr val="B71C1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040880" y="1188720"/>
            <a:ext cx="4892040" cy="5029200"/>
          </a:xfrm>
          <a:prstGeom prst="rect">
            <a:avLst/>
          </a:prstGeom>
          <a:noFill/>
        </p:spPr>
        <p:txBody>
          <a:bodyPr wrap="square">
            <a:spAutoFit/>
          </a:bodyPr>
          <a:lstStyle/>
          <a:p>
            <a:pPr algn="l">
              <a:spcAft>
                <a:spcPts val="300"/>
              </a:spcAft>
            </a:pPr>
            <a:r>
              <a:rPr sz="1200" b="0" i="0">
                <a:solidFill>
                  <a:srgbClr val="1F2A44"/>
                </a:solidFill>
                <a:latin typeface="Calibri"/>
              </a:rPr>
              <a:t>• Ad değişimi sınırları: </a:t>
            </a:r>
            <a:r>
              <a:rPr sz="1200" b="0" i="0">
                <a:solidFill>
                  <a:srgbClr val="1F2A44"/>
                </a:solidFill>
                <a:latin typeface="Calibri"/>
              </a:rPr>
              <a:t>kosta I'in lateral kenarı</a:t>
            </a:r>
            <a:r>
              <a:rPr sz="1200" b="0" i="0">
                <a:solidFill>
                  <a:srgbClr val="1F2A44"/>
                </a:solidFill>
                <a:latin typeface="Calibri"/>
              </a:rPr>
              <a:t> (a. subclavia → a. axillaris), </a:t>
            </a:r>
            <a:r>
              <a:rPr sz="1200" b="0" i="0">
                <a:solidFill>
                  <a:srgbClr val="1F2A44"/>
                </a:solidFill>
                <a:latin typeface="Calibri"/>
              </a:rPr>
              <a:t>m. teres major'ün alt kenarı</a:t>
            </a:r>
            <a:r>
              <a:rPr sz="1200" b="0" i="0">
                <a:solidFill>
                  <a:srgbClr val="1F2A44"/>
                </a:solidFill>
                <a:latin typeface="Calibri"/>
              </a:rPr>
              <a:t> (a. axillaris → a. brachialis), </a:t>
            </a:r>
            <a:r>
              <a:rPr sz="1200" b="0" i="0">
                <a:solidFill>
                  <a:srgbClr val="1F2A44"/>
                </a:solidFill>
                <a:latin typeface="Calibri"/>
              </a:rPr>
              <a:t>fossa cubiti – collum radii düzeyi</a:t>
            </a:r>
            <a:r>
              <a:rPr sz="1200" b="0" i="0">
                <a:solidFill>
                  <a:srgbClr val="1F2A44"/>
                </a:solidFill>
                <a:latin typeface="Calibri"/>
              </a:rPr>
              <a:t> (a. brachialis → a. radialis + a. ulnaris).</a:t>
            </a:r>
          </a:p>
          <a:p>
            <a:pPr algn="l">
              <a:spcAft>
                <a:spcPts val="300"/>
              </a:spcAft>
            </a:pPr>
            <a:r>
              <a:rPr sz="1200" b="0" i="0">
                <a:solidFill>
                  <a:srgbClr val="1F2A44"/>
                </a:solidFill>
                <a:latin typeface="Calibri"/>
              </a:rPr>
              <a:t>• </a:t>
            </a:r>
            <a:r>
              <a:rPr sz="1200" b="0" i="0">
                <a:solidFill>
                  <a:srgbClr val="1F2A44"/>
                </a:solidFill>
                <a:latin typeface="Calibri"/>
              </a:rPr>
              <a:t>Skapular anastomoz</a:t>
            </a:r>
            <a:r>
              <a:rPr sz="1200" b="0" i="0">
                <a:solidFill>
                  <a:srgbClr val="1F2A44"/>
                </a:solidFill>
                <a:latin typeface="Calibri"/>
              </a:rPr>
              <a:t> (a. suprascapularis, a. dorsalis scapulae, a. circumflexa scapulae) a. axillaris'in 3. bölümünün bağlanmasında kollateral akım sağlar.</a:t>
            </a:r>
          </a:p>
          <a:p>
            <a:pPr algn="l">
              <a:spcAft>
                <a:spcPts val="300"/>
              </a:spcAft>
            </a:pPr>
            <a:r>
              <a:rPr sz="1200" b="0" i="0">
                <a:solidFill>
                  <a:srgbClr val="1F2A44"/>
                </a:solidFill>
                <a:latin typeface="Calibri"/>
              </a:rPr>
              <a:t>• </a:t>
            </a:r>
            <a:r>
              <a:rPr sz="1200" b="0" i="0">
                <a:solidFill>
                  <a:srgbClr val="1F2A44"/>
                </a:solidFill>
                <a:latin typeface="Calibri"/>
              </a:rPr>
              <a:t>Dirsek anastomozu</a:t>
            </a:r>
            <a:r>
              <a:rPr sz="1200" b="0" i="0">
                <a:solidFill>
                  <a:srgbClr val="1F2A44"/>
                </a:solidFill>
                <a:latin typeface="Calibri"/>
              </a:rPr>
              <a:t>: aa. collaterales (a. profunda brachii ve a. brachialis dalları) ile aa. recurrentes (a. radialis, a. ulnaris, a. interossea) arasında.</a:t>
            </a:r>
          </a:p>
          <a:p>
            <a:pPr algn="l">
              <a:spcAft>
                <a:spcPts val="300"/>
              </a:spcAft>
            </a:pPr>
            <a:r>
              <a:rPr sz="1200" b="0" i="0">
                <a:solidFill>
                  <a:srgbClr val="1F2A44"/>
                </a:solidFill>
                <a:latin typeface="Calibri"/>
              </a:rPr>
              <a:t>• </a:t>
            </a:r>
            <a:r>
              <a:rPr sz="1200" b="0" i="0">
                <a:solidFill>
                  <a:srgbClr val="1F2A44"/>
                </a:solidFill>
                <a:latin typeface="Calibri"/>
              </a:rPr>
              <a:t>Arcus palmaris superficialis</a:t>
            </a:r>
            <a:r>
              <a:rPr sz="1200" b="0" i="0">
                <a:solidFill>
                  <a:srgbClr val="1F2A44"/>
                </a:solidFill>
                <a:latin typeface="Calibri"/>
              </a:rPr>
              <a:t> çoğunlukla a. ulnaris'ten, </a:t>
            </a:r>
            <a:r>
              <a:rPr sz="1200" b="0" i="0">
                <a:solidFill>
                  <a:srgbClr val="1F2A44"/>
                </a:solidFill>
                <a:latin typeface="Calibri"/>
              </a:rPr>
              <a:t>arcus palmaris profundus</a:t>
            </a:r>
            <a:r>
              <a:rPr sz="1200" b="0" i="0">
                <a:solidFill>
                  <a:srgbClr val="1F2A44"/>
                </a:solidFill>
                <a:latin typeface="Calibri"/>
              </a:rPr>
              <a:t> çoğunlukla a. radialis'ten beslenir (Allen testi).</a:t>
            </a:r>
          </a:p>
        </p:txBody>
      </p:sp>
      <p:cxnSp>
        <p:nvCxnSpPr>
          <p:cNvPr id="27" name="Connector 2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Şema: bu projede standart anatomi bilgisinden çizilmiştir (gerçek görüntü değildir).</a:t>
            </a:r>
          </a:p>
        </p:txBody>
      </p:sp>
      <p:sp>
        <p:nvSpPr>
          <p:cNvPr id="29" name="TextBox 28"/>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Venöz ve lenfatik drenaj</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Yüzeyel venler, vv. comitantes ve nodi lymphoidei axillares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GİRİŞ</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Yüzeyel venler:</a:t>
            </a:r>
            <a:r>
              <a:rPr sz="1650" b="0" i="0">
                <a:solidFill>
                  <a:srgbClr val="1F2A44"/>
                </a:solidFill>
                <a:latin typeface="Calibri"/>
              </a:rPr>
              <a:t> dorsal venöz ağdan başlar. </a:t>
            </a:r>
            <a:r>
              <a:rPr sz="1650" b="0" i="0">
                <a:solidFill>
                  <a:srgbClr val="1F2A44"/>
                </a:solidFill>
                <a:latin typeface="Calibri"/>
              </a:rPr>
              <a:t>V. cephalica</a:t>
            </a:r>
            <a:r>
              <a:rPr sz="1650" b="0" i="0">
                <a:solidFill>
                  <a:srgbClr val="1F2A44"/>
                </a:solidFill>
                <a:latin typeface="Calibri"/>
              </a:rPr>
              <a:t> radial kenar boyunca yükselir, sulcus deltopectoralis ve trigonum clavipectorale'de fascia clavipectoralis'i delerek v. axillaris'e açılır.</a:t>
            </a:r>
          </a:p>
          <a:p>
            <a:pPr algn="l">
              <a:spcAft>
                <a:spcPts val="300"/>
              </a:spcAft>
            </a:pPr>
            <a:r>
              <a:rPr sz="1650" b="0" i="0">
                <a:solidFill>
                  <a:srgbClr val="1F2A44"/>
                </a:solidFill>
                <a:latin typeface="Calibri"/>
              </a:rPr>
              <a:t>• </a:t>
            </a:r>
            <a:r>
              <a:rPr sz="1650" b="0" i="0">
                <a:solidFill>
                  <a:srgbClr val="1F2A44"/>
                </a:solidFill>
                <a:latin typeface="Calibri"/>
              </a:rPr>
              <a:t>V. basilica</a:t>
            </a:r>
            <a:r>
              <a:rPr sz="1650" b="0" i="0">
                <a:solidFill>
                  <a:srgbClr val="1F2A44"/>
                </a:solidFill>
                <a:latin typeface="Calibri"/>
              </a:rPr>
              <a:t> ulnar kenar boyunca yükselir, kolun ortasında derin fasyayı delip (hiatus basilicus) vv. brachiales ile birleşerek v. axillaris'i oluşturur.</a:t>
            </a:r>
          </a:p>
          <a:p>
            <a:pPr algn="l">
              <a:spcAft>
                <a:spcPts val="300"/>
              </a:spcAft>
            </a:pPr>
            <a:r>
              <a:rPr sz="1650" b="0" i="0">
                <a:solidFill>
                  <a:srgbClr val="1F2A44"/>
                </a:solidFill>
                <a:latin typeface="Calibri"/>
              </a:rPr>
              <a:t>• </a:t>
            </a:r>
            <a:r>
              <a:rPr sz="1650" b="0" i="0">
                <a:solidFill>
                  <a:srgbClr val="1F2A44"/>
                </a:solidFill>
                <a:latin typeface="Calibri"/>
              </a:rPr>
              <a:t>V. mediana cubiti</a:t>
            </a:r>
            <a:r>
              <a:rPr sz="1650" b="0" i="0">
                <a:solidFill>
                  <a:srgbClr val="1F2A44"/>
                </a:solidFill>
                <a:latin typeface="Calibri"/>
              </a:rPr>
              <a:t> fossa cubiti'de v. cephalica ile v. basilica'yı bağlar; aponeurosis bicipitalis onu altındaki a. brachialis ve n. medianus'tan ayırır – venipunktur için güvenli bölge.</a:t>
            </a:r>
          </a:p>
          <a:p>
            <a:pPr algn="l">
              <a:spcAft>
                <a:spcPts val="300"/>
              </a:spcAft>
            </a:pPr>
            <a:r>
              <a:rPr sz="1650" b="0" i="0">
                <a:solidFill>
                  <a:srgbClr val="1F2A44"/>
                </a:solidFill>
                <a:latin typeface="Calibri"/>
              </a:rPr>
              <a:t>• </a:t>
            </a:r>
            <a:r>
              <a:rPr sz="1650" b="0" i="0">
                <a:solidFill>
                  <a:srgbClr val="1F2A44"/>
                </a:solidFill>
                <a:latin typeface="Calibri"/>
              </a:rPr>
              <a:t>Derin venler</a:t>
            </a:r>
            <a:r>
              <a:rPr sz="1650" b="0" i="0">
                <a:solidFill>
                  <a:srgbClr val="1F2A44"/>
                </a:solidFill>
                <a:latin typeface="Calibri"/>
              </a:rPr>
              <a:t> arterlere eşlik eden çift vv. comitantes'tir (vv. brachiales, radiales, ulnares).</a:t>
            </a:r>
          </a:p>
          <a:p>
            <a:pPr algn="l">
              <a:spcAft>
                <a:spcPts val="300"/>
              </a:spcAft>
            </a:pPr>
            <a:r>
              <a:rPr sz="1650" b="0" i="0">
                <a:solidFill>
                  <a:srgbClr val="1F2A44"/>
                </a:solidFill>
                <a:latin typeface="Calibri"/>
              </a:rPr>
              <a:t>• </a:t>
            </a:r>
            <a:r>
              <a:rPr sz="1650" b="0" i="0">
                <a:solidFill>
                  <a:srgbClr val="1F2A44"/>
                </a:solidFill>
                <a:latin typeface="Calibri"/>
              </a:rPr>
              <a:t>Lenf:</a:t>
            </a:r>
            <a:r>
              <a:rPr sz="1650" b="0" i="0">
                <a:solidFill>
                  <a:srgbClr val="1F2A44"/>
                </a:solidFill>
                <a:latin typeface="Calibri"/>
              </a:rPr>
              <a:t> yüzeyel lenfatikler venleri izler; </a:t>
            </a:r>
            <a:r>
              <a:rPr sz="1650" b="0" i="0">
                <a:solidFill>
                  <a:srgbClr val="1F2A44"/>
                </a:solidFill>
                <a:latin typeface="Calibri"/>
              </a:rPr>
              <a:t>nodi cubitales</a:t>
            </a:r>
            <a:r>
              <a:rPr sz="1650" b="0" i="0">
                <a:solidFill>
                  <a:srgbClr val="1F2A44"/>
                </a:solidFill>
                <a:latin typeface="Calibri"/>
              </a:rPr>
              <a:t> (v. basilica boyunca) ve </a:t>
            </a:r>
            <a:r>
              <a:rPr sz="1650" b="0" i="0">
                <a:solidFill>
                  <a:srgbClr val="1F2A44"/>
                </a:solidFill>
                <a:latin typeface="Calibri"/>
              </a:rPr>
              <a:t>nodi lymphoidei axillares</a:t>
            </a:r>
            <a:r>
              <a:rPr sz="1650" b="0" i="0">
                <a:solidFill>
                  <a:srgbClr val="1F2A44"/>
                </a:solidFill>
                <a:latin typeface="Calibri"/>
              </a:rPr>
              <a:t> – pectorales, subscapulares, humerales, centrales, apicales gruplar. Apikal grup v. subclavia boyunca truncus subclavius'a drene olur.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5760720" cy="548640"/>
          </a:xfrm>
          <a:prstGeom prst="rect">
            <a:avLst/>
          </a:prstGeom>
          <a:noFill/>
        </p:spPr>
        <p:txBody>
          <a:bodyPr wrap="square" anchor="t" lIns="45720" rIns="45720" tIns="18288" bIns="18288">
            <a:spAutoFit/>
          </a:bodyPr>
          <a:lstStyle/>
          <a:p>
            <a:pPr algn="l"/>
            <a:r>
              <a:rPr sz="1800" b="1" i="0">
                <a:solidFill>
                  <a:srgbClr val="C8D1E6"/>
                </a:solidFill>
                <a:latin typeface="Calibri"/>
              </a:rPr>
              <a:t>BÖLÜM 1</a:t>
            </a:r>
          </a:p>
        </p:txBody>
      </p:sp>
      <p:sp>
        <p:nvSpPr>
          <p:cNvPr id="4" name="TextBox 3"/>
          <p:cNvSpPr txBox="1"/>
          <p:nvPr/>
        </p:nvSpPr>
        <p:spPr>
          <a:xfrm>
            <a:off x="548640" y="132588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OMUZ</a:t>
            </a:r>
          </a:p>
        </p:txBody>
      </p:sp>
      <p:sp>
        <p:nvSpPr>
          <p:cNvPr id="5" name="TextBox 4"/>
          <p:cNvSpPr txBox="1"/>
          <p:nvPr/>
        </p:nvSpPr>
        <p:spPr>
          <a:xfrm>
            <a:off x="548640" y="2377440"/>
            <a:ext cx="5760720" cy="822960"/>
          </a:xfrm>
          <a:prstGeom prst="rect">
            <a:avLst/>
          </a:prstGeom>
          <a:noFill/>
        </p:spPr>
        <p:txBody>
          <a:bodyPr wrap="square" anchor="t" lIns="45720" rIns="45720" tIns="18288" bIns="18288">
            <a:spAutoFit/>
          </a:bodyPr>
          <a:lstStyle/>
          <a:p>
            <a:pPr algn="l"/>
            <a:r>
              <a:rPr sz="1600" b="0" i="0">
                <a:solidFill>
                  <a:srgbClr val="C8D1E6"/>
                </a:solidFill>
                <a:latin typeface="Calibri"/>
              </a:rPr>
              <a:t>Omuz bölgesi</a:t>
            </a:r>
          </a:p>
          <a:p>
            <a:pPr algn="l"/>
            <a:r>
              <a:rPr sz="1600" b="0" i="0">
                <a:solidFill>
                  <a:srgbClr val="C8D1E6"/>
                </a:solidFill>
                <a:latin typeface="Calibri"/>
              </a:rPr>
              <a:t>Regio deltoidea, regio scapularis ve fossa axillaris</a:t>
            </a:r>
          </a:p>
        </p:txBody>
      </p:sp>
      <p:sp>
        <p:nvSpPr>
          <p:cNvPr id="6" name="TextBox 5"/>
          <p:cNvSpPr txBox="1"/>
          <p:nvPr/>
        </p:nvSpPr>
        <p:spPr>
          <a:xfrm>
            <a:off x="548640" y="3429000"/>
            <a:ext cx="5760720" cy="2926080"/>
          </a:xfrm>
          <a:prstGeom prst="rect">
            <a:avLst/>
          </a:prstGeom>
          <a:noFill/>
        </p:spPr>
        <p:txBody>
          <a:bodyPr wrap="square">
            <a:spAutoFit/>
          </a:bodyPr>
          <a:lstStyle/>
          <a:p>
            <a:pPr algn="l">
              <a:spcAft>
                <a:spcPts val="300"/>
              </a:spcAft>
            </a:pPr>
            <a:r>
              <a:rPr sz="1300" b="0" i="0">
                <a:solidFill>
                  <a:srgbClr val="FFFFFF"/>
                </a:solidFill>
                <a:latin typeface="Calibri"/>
              </a:rPr>
              <a:t>• Omuz kuşağı kemikleri ve eklemleri</a:t>
            </a:r>
          </a:p>
          <a:p>
            <a:pPr algn="l">
              <a:spcAft>
                <a:spcPts val="300"/>
              </a:spcAft>
            </a:pPr>
            <a:r>
              <a:rPr sz="1300" b="0" i="0">
                <a:solidFill>
                  <a:srgbClr val="FFFFFF"/>
                </a:solidFill>
                <a:latin typeface="Calibri"/>
              </a:rPr>
              <a:t>• Skapulohumeral ve aksiyoapendiküler kaslar</a:t>
            </a:r>
          </a:p>
          <a:p>
            <a:pPr algn="l">
              <a:spcAft>
                <a:spcPts val="300"/>
              </a:spcAft>
            </a:pPr>
            <a:r>
              <a:rPr sz="1300" b="0" i="0">
                <a:solidFill>
                  <a:srgbClr val="FFFFFF"/>
                </a:solidFill>
                <a:latin typeface="Calibri"/>
              </a:rPr>
              <a:t>• Rotator manşet</a:t>
            </a:r>
          </a:p>
          <a:p>
            <a:pPr algn="l">
              <a:spcAft>
                <a:spcPts val="300"/>
              </a:spcAft>
            </a:pPr>
            <a:r>
              <a:rPr sz="1300" b="0" i="0">
                <a:solidFill>
                  <a:srgbClr val="FFFFFF"/>
                </a:solidFill>
                <a:latin typeface="Calibri"/>
              </a:rPr>
              <a:t>• Fossa axillaris ve a. axillaris</a:t>
            </a:r>
          </a:p>
          <a:p>
            <a:pPr algn="l">
              <a:spcAft>
                <a:spcPts val="300"/>
              </a:spcAft>
            </a:pPr>
            <a:r>
              <a:rPr sz="1300" b="0" i="0">
                <a:solidFill>
                  <a:srgbClr val="FFFFFF"/>
                </a:solidFill>
                <a:latin typeface="Calibri"/>
              </a:rPr>
              <a:t>• Plexus brachialis</a:t>
            </a:r>
          </a:p>
          <a:p>
            <a:pPr algn="l">
              <a:spcAft>
                <a:spcPts val="300"/>
              </a:spcAft>
            </a:pPr>
            <a:r>
              <a:rPr sz="1300" b="0" i="0">
                <a:solidFill>
                  <a:srgbClr val="FFFFFF"/>
                </a:solidFill>
                <a:latin typeface="Calibri"/>
              </a:rPr>
              <a:t>• Aksiller boşluklar ve n. suprascapularis</a:t>
            </a:r>
          </a:p>
          <a:p>
            <a:pPr algn="l">
              <a:spcAft>
                <a:spcPts val="300"/>
              </a:spcAft>
            </a:pPr>
            <a:r>
              <a:rPr sz="1300" b="0" i="0">
                <a:solidFill>
                  <a:srgbClr val="FFFFFF"/>
                </a:solidFill>
                <a:latin typeface="Calibri"/>
              </a:rPr>
              <a:t>• Klinik bağlantılar</a:t>
            </a:r>
          </a:p>
          <a:p>
            <a:pPr algn="l">
              <a:spcAft>
                <a:spcPts val="300"/>
              </a:spcAft>
            </a:pPr>
            <a:r>
              <a:rPr sz="1300" b="0" i="0">
                <a:solidFill>
                  <a:srgbClr val="FFFFFF"/>
                </a:solidFill>
                <a:latin typeface="Calibri"/>
              </a:rPr>
              <a:t>• Varyasyon literatürü</a:t>
            </a:r>
          </a:p>
        </p:txBody>
      </p:sp>
      <p:pic>
        <p:nvPicPr>
          <p:cNvPr id="7" name="Picture 6" descr="cryo_1320_R.jpg"/>
          <p:cNvPicPr>
            <a:picLocks noChangeAspect="1"/>
          </p:cNvPicPr>
          <p:nvPr/>
        </p:nvPicPr>
        <p:blipFill>
          <a:blip r:embed="rId2"/>
          <a:stretch>
            <a:fillRect/>
          </a:stretch>
        </p:blipFill>
        <p:spPr>
          <a:xfrm>
            <a:off x="7296972" y="365760"/>
            <a:ext cx="4151255" cy="3476676"/>
          </a:xfrm>
          <a:prstGeom prst="rect">
            <a:avLst/>
          </a:prstGeom>
        </p:spPr>
      </p:pic>
      <p:sp>
        <p:nvSpPr>
          <p:cNvPr id="8" name="TextBox 7"/>
          <p:cNvSpPr txBox="1"/>
          <p:nvPr/>
        </p:nvSpPr>
        <p:spPr>
          <a:xfrm>
            <a:off x="7205532" y="3842436"/>
            <a:ext cx="4334135"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1320</a:t>
            </a:r>
          </a:p>
        </p:txBody>
      </p:sp>
      <p:pic>
        <p:nvPicPr>
          <p:cNvPr id="9" name="Picture 8" descr="40634_2018_134_Fig1_HTML.jpg"/>
          <p:cNvPicPr>
            <a:picLocks noChangeAspect="1"/>
          </p:cNvPicPr>
          <p:nvPr/>
        </p:nvPicPr>
        <p:blipFill>
          <a:blip r:embed="rId3"/>
          <a:stretch>
            <a:fillRect/>
          </a:stretch>
        </p:blipFill>
        <p:spPr>
          <a:xfrm>
            <a:off x="7296972" y="4116756"/>
            <a:ext cx="4151255" cy="1735403"/>
          </a:xfrm>
          <a:prstGeom prst="rect">
            <a:avLst/>
          </a:prstGeom>
        </p:spPr>
      </p:pic>
      <p:sp>
        <p:nvSpPr>
          <p:cNvPr id="10" name="TextBox 9"/>
          <p:cNvSpPr txBox="1"/>
          <p:nvPr/>
        </p:nvSpPr>
        <p:spPr>
          <a:xfrm>
            <a:off x="7205532" y="5852160"/>
            <a:ext cx="433413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Momma Daisuke ve ark., 2018 (PMC5992113,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00" b="0" i="0">
                <a:solidFill>
                  <a:srgbClr val="555B66"/>
                </a:solidFill>
                <a:latin typeface="Calibri"/>
              </a:rPr>
              <a:t>Görüntü: NLM Visible Human Project – Visible Human Male (NCI Imaging Data Commons, doi:10.5281/zenodo.12690049; NLM Terms and Conditions 2019). İşleme/kırpma: bu proje.  •  Momma Daisuke, Nimura Akimoto, Muro Satoru et al. Anatomic analysis of the whole articular capsule of the shoulder joint, with reference to the capsular attachment and thickness. J Exp Orthop. 2018 Jun 7;5:16. doi: 10.1186/s40634-018-0134-8 PMCID: PMC5992113.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kuşağı kemikleri: clavicula ve scapula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Cingulum pectorale ve humerus'un proksimal ucu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Clavicula:</a:t>
            </a:r>
            <a:r>
              <a:rPr sz="1300" b="0" i="0">
                <a:solidFill>
                  <a:srgbClr val="1F2A44"/>
                </a:solidFill>
                <a:latin typeface="Calibri"/>
              </a:rPr>
              <a:t> S şeklinde, uzun ve yüzeyel; medial 2/3 öne konveks. Gövdenin en sık kırılan kemiklerinden biridir; kırık genellikle </a:t>
            </a:r>
            <a:r>
              <a:rPr sz="1300" b="0" i="0">
                <a:solidFill>
                  <a:srgbClr val="1F2A44"/>
                </a:solidFill>
                <a:latin typeface="Calibri"/>
              </a:rPr>
              <a:t>orta 1/3</a:t>
            </a:r>
            <a:r>
              <a:rPr sz="1300" b="0" i="0">
                <a:solidFill>
                  <a:srgbClr val="1F2A44"/>
                </a:solidFill>
                <a:latin typeface="Calibri"/>
              </a:rPr>
              <a:t>'tedir – medial parça m. sternocleidomastoideus ile yukarı, lateral parça kolun ağırlığı ve m. pectoralis major ile aşağı-mediale çekilir.</a:t>
            </a:r>
          </a:p>
          <a:p>
            <a:pPr algn="l">
              <a:spcAft>
                <a:spcPts val="300"/>
              </a:spcAft>
            </a:pPr>
            <a:r>
              <a:rPr sz="1300" b="0" i="0">
                <a:solidFill>
                  <a:srgbClr val="1F2A44"/>
                </a:solidFill>
                <a:latin typeface="Calibri"/>
              </a:rPr>
              <a:t>• </a:t>
            </a:r>
            <a:r>
              <a:rPr sz="1300" b="0" i="0">
                <a:solidFill>
                  <a:srgbClr val="1F2A44"/>
                </a:solidFill>
                <a:latin typeface="Calibri"/>
              </a:rPr>
              <a:t>Scapula:</a:t>
            </a:r>
            <a:r>
              <a:rPr sz="1300" b="0" i="0">
                <a:solidFill>
                  <a:srgbClr val="1F2A44"/>
                </a:solidFill>
                <a:latin typeface="Calibri"/>
              </a:rPr>
              <a:t> facies costalis (fossa subscapularis) ve facies posterior (spina scapulae ile fossa supra-/infraspinata); </a:t>
            </a:r>
            <a:r>
              <a:rPr sz="1300" b="0" i="0">
                <a:solidFill>
                  <a:srgbClr val="1F2A44"/>
                </a:solidFill>
                <a:latin typeface="Calibri"/>
              </a:rPr>
              <a:t>acromion</a:t>
            </a:r>
            <a:r>
              <a:rPr sz="1300" b="0" i="0">
                <a:solidFill>
                  <a:srgbClr val="1F2A44"/>
                </a:solidFill>
                <a:latin typeface="Calibri"/>
              </a:rPr>
              <a:t>, </a:t>
            </a:r>
            <a:r>
              <a:rPr sz="1300" b="0" i="0">
                <a:solidFill>
                  <a:srgbClr val="1F2A44"/>
                </a:solidFill>
                <a:latin typeface="Calibri"/>
              </a:rPr>
              <a:t>processus coracoideus</a:t>
            </a:r>
            <a:r>
              <a:rPr sz="1300" b="0" i="0">
                <a:solidFill>
                  <a:srgbClr val="1F2A44"/>
                </a:solidFill>
                <a:latin typeface="Calibri"/>
              </a:rPr>
              <a:t>, </a:t>
            </a:r>
            <a:r>
              <a:rPr sz="1300" b="0" i="0">
                <a:solidFill>
                  <a:srgbClr val="1F2A44"/>
                </a:solidFill>
                <a:latin typeface="Calibri"/>
              </a:rPr>
              <a:t>cavitas glenoidalis</a:t>
            </a:r>
            <a:r>
              <a:rPr sz="1300" b="0" i="0">
                <a:solidFill>
                  <a:srgbClr val="1F2A44"/>
                </a:solidFill>
                <a:latin typeface="Calibri"/>
              </a:rPr>
              <a:t>, </a:t>
            </a:r>
            <a:r>
              <a:rPr sz="1300" b="0" i="0">
                <a:solidFill>
                  <a:srgbClr val="1F2A44"/>
                </a:solidFill>
                <a:latin typeface="Calibri"/>
              </a:rPr>
              <a:t>incisura scapulae</a:t>
            </a:r>
            <a:r>
              <a:rPr sz="1300" b="0" i="0">
                <a:solidFill>
                  <a:srgbClr val="1F2A44"/>
                </a:solidFill>
                <a:latin typeface="Calibri"/>
              </a:rPr>
              <a:t>; angulus inferior yaklaşık T7 spinöz çıkıntısı düzeyindedir.</a:t>
            </a:r>
          </a:p>
          <a:p>
            <a:pPr algn="l">
              <a:spcAft>
                <a:spcPts val="300"/>
              </a:spcAft>
            </a:pPr>
            <a:r>
              <a:rPr sz="1300" b="0" i="0">
                <a:solidFill>
                  <a:srgbClr val="1F2A44"/>
                </a:solidFill>
                <a:latin typeface="Calibri"/>
              </a:rPr>
              <a:t>• </a:t>
            </a:r>
            <a:r>
              <a:rPr sz="1300" b="0" i="0">
                <a:solidFill>
                  <a:srgbClr val="1F2A44"/>
                </a:solidFill>
                <a:latin typeface="Calibri"/>
              </a:rPr>
              <a:t>Humerus proksimal ucu:</a:t>
            </a:r>
            <a:r>
              <a:rPr sz="1300" b="0" i="0">
                <a:solidFill>
                  <a:srgbClr val="1F2A44"/>
                </a:solidFill>
                <a:latin typeface="Calibri"/>
              </a:rPr>
              <a:t> caput humeri, </a:t>
            </a:r>
            <a:r>
              <a:rPr sz="1300" b="0" i="0">
                <a:solidFill>
                  <a:srgbClr val="1F2A44"/>
                </a:solidFill>
                <a:latin typeface="Calibri"/>
              </a:rPr>
              <a:t>collum anatomicum</a:t>
            </a:r>
            <a:r>
              <a:rPr sz="1300" b="0" i="0">
                <a:solidFill>
                  <a:srgbClr val="1F2A44"/>
                </a:solidFill>
                <a:latin typeface="Calibri"/>
              </a:rPr>
              <a:t> (kapsül tutunması), </a:t>
            </a:r>
            <a:r>
              <a:rPr sz="1300" b="0" i="0">
                <a:solidFill>
                  <a:srgbClr val="1F2A44"/>
                </a:solidFill>
                <a:latin typeface="Calibri"/>
              </a:rPr>
              <a:t>collum chirurgicum</a:t>
            </a:r>
            <a:r>
              <a:rPr sz="1300" b="0" i="0">
                <a:solidFill>
                  <a:srgbClr val="1F2A44"/>
                </a:solidFill>
                <a:latin typeface="Calibri"/>
              </a:rPr>
              <a:t> (sık kırık yeri; n. axillaris ve a. circumflexa humeri posterior ile komşu), tuberculum majus et minus ve aralarındaki sulcus intertubercularis (caput longum m. bicipitis tendonu).</a:t>
            </a:r>
          </a:p>
        </p:txBody>
      </p:sp>
      <p:pic>
        <p:nvPicPr>
          <p:cNvPr id="8" name="Picture 7" descr="cpr_sagittal_levels.jpg"/>
          <p:cNvPicPr>
            <a:picLocks noChangeAspect="1"/>
          </p:cNvPicPr>
          <p:nvPr/>
        </p:nvPicPr>
        <p:blipFill>
          <a:blip r:embed="rId2"/>
          <a:stretch>
            <a:fillRect/>
          </a:stretch>
        </p:blipFill>
        <p:spPr>
          <a:xfrm>
            <a:off x="8715192" y="1188720"/>
            <a:ext cx="1543414" cy="4846320"/>
          </a:xfrm>
          <a:prstGeom prst="rect">
            <a:avLst/>
          </a:prstGeom>
        </p:spPr>
      </p:pic>
      <p:sp>
        <p:nvSpPr>
          <p:cNvPr id="9" name="TextBox 8"/>
          <p:cNvSpPr txBox="1"/>
          <p:nvPr/>
        </p:nvSpPr>
        <p:spPr>
          <a:xfrm>
            <a:off x="8623752" y="6035040"/>
            <a:ext cx="1726294"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 boylamsal reformat: caput humeri ve humerus gövdesi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kuşağı eklemleri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Art. sternoclavicularis, art. acromioclavicularis, art. humeri ve skapulotorasik kayma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Art. sternoclavicularis:</a:t>
            </a:r>
            <a:r>
              <a:rPr sz="1300" b="0" i="0">
                <a:solidFill>
                  <a:srgbClr val="1F2A44"/>
                </a:solidFill>
                <a:latin typeface="Calibri"/>
              </a:rPr>
              <a:t> eyer tipi, discus articularis içerir; üst ekstremiteyi gövdeye bağlayan </a:t>
            </a:r>
            <a:r>
              <a:rPr sz="1300" b="0" i="0">
                <a:solidFill>
                  <a:srgbClr val="1F2A44"/>
                </a:solidFill>
                <a:latin typeface="Calibri"/>
              </a:rPr>
              <a:t>tek gerçek eklem</a:t>
            </a:r>
            <a:r>
              <a:rPr sz="1300" b="0" i="0">
                <a:solidFill>
                  <a:srgbClr val="1F2A44"/>
                </a:solidFill>
                <a:latin typeface="Calibri"/>
              </a:rPr>
              <a:t>dir. Lig. costoclaviculare en güçlü destektir.</a:t>
            </a:r>
          </a:p>
          <a:p>
            <a:pPr algn="l">
              <a:spcAft>
                <a:spcPts val="300"/>
              </a:spcAft>
            </a:pPr>
            <a:r>
              <a:rPr sz="1300" b="0" i="0">
                <a:solidFill>
                  <a:srgbClr val="1F2A44"/>
                </a:solidFill>
                <a:latin typeface="Calibri"/>
              </a:rPr>
              <a:t>• </a:t>
            </a:r>
            <a:r>
              <a:rPr sz="1300" b="0" i="0">
                <a:solidFill>
                  <a:srgbClr val="1F2A44"/>
                </a:solidFill>
                <a:latin typeface="Calibri"/>
              </a:rPr>
              <a:t>Art. acromioclavicularis:</a:t>
            </a:r>
            <a:r>
              <a:rPr sz="1300" b="0" i="0">
                <a:solidFill>
                  <a:srgbClr val="1F2A44"/>
                </a:solidFill>
                <a:latin typeface="Calibri"/>
              </a:rPr>
              <a:t> düzlem tipi; asıl stabiliteyi </a:t>
            </a:r>
            <a:r>
              <a:rPr sz="1300" b="0" i="0">
                <a:solidFill>
                  <a:srgbClr val="1F2A44"/>
                </a:solidFill>
                <a:latin typeface="Calibri"/>
              </a:rPr>
              <a:t>lig. coracoclaviculare</a:t>
            </a:r>
            <a:r>
              <a:rPr sz="1300" b="0" i="0">
                <a:solidFill>
                  <a:srgbClr val="1F2A44"/>
                </a:solidFill>
                <a:latin typeface="Calibri"/>
              </a:rPr>
              <a:t> (lig. conoideum + lig. trapezoideum) sağlar. Bu bağların yırtılması 'omuz ayrılması'nda (AC çıkığı) basamak görünümü yapar.</a:t>
            </a:r>
          </a:p>
          <a:p>
            <a:pPr algn="l">
              <a:spcAft>
                <a:spcPts val="300"/>
              </a:spcAft>
            </a:pPr>
            <a:r>
              <a:rPr sz="1300" b="0" i="0">
                <a:solidFill>
                  <a:srgbClr val="1F2A44"/>
                </a:solidFill>
                <a:latin typeface="Calibri"/>
              </a:rPr>
              <a:t>• </a:t>
            </a:r>
            <a:r>
              <a:rPr sz="1300" b="0" i="0">
                <a:solidFill>
                  <a:srgbClr val="1F2A44"/>
                </a:solidFill>
                <a:latin typeface="Calibri"/>
              </a:rPr>
              <a:t>Art. humeri:</a:t>
            </a:r>
            <a:r>
              <a:rPr sz="1300" b="0" i="0">
                <a:solidFill>
                  <a:srgbClr val="1F2A44"/>
                </a:solidFill>
                <a:latin typeface="Calibri"/>
              </a:rPr>
              <a:t> top–yuva; sığ cavitas glenoidalis </a:t>
            </a:r>
            <a:r>
              <a:rPr sz="1300" b="0" i="0">
                <a:solidFill>
                  <a:srgbClr val="1F2A44"/>
                </a:solidFill>
                <a:latin typeface="Calibri"/>
              </a:rPr>
              <a:t>labrum glenoidale</a:t>
            </a:r>
            <a:r>
              <a:rPr sz="1300" b="0" i="0">
                <a:solidFill>
                  <a:srgbClr val="1F2A44"/>
                </a:solidFill>
                <a:latin typeface="Calibri"/>
              </a:rPr>
              <a:t> ile derinleşir. Kapsül gevşek ve alt tarafta zayıftır; ligg. glenohumeralia (sup., med., inf.) ve lig. coracohumerale ile desteklenir. Vücudun </a:t>
            </a:r>
            <a:r>
              <a:rPr sz="1300" b="0" i="0">
                <a:solidFill>
                  <a:srgbClr val="1F2A44"/>
                </a:solidFill>
                <a:latin typeface="Calibri"/>
              </a:rPr>
              <a:t>en sık çıkan büyük eklemi</a:t>
            </a:r>
            <a:r>
              <a:rPr sz="1300" b="0" i="0">
                <a:solidFill>
                  <a:srgbClr val="1F2A44"/>
                </a:solidFill>
                <a:latin typeface="Calibri"/>
              </a:rPr>
              <a:t> – çıkıkların büyük çoğunluğu </a:t>
            </a:r>
            <a:r>
              <a:rPr sz="1300" b="0" i="0">
                <a:solidFill>
                  <a:srgbClr val="1F2A44"/>
                </a:solidFill>
                <a:latin typeface="Calibri"/>
              </a:rPr>
              <a:t>ön-alt</a:t>
            </a:r>
            <a:r>
              <a:rPr sz="1300" b="0" i="0">
                <a:solidFill>
                  <a:srgbClr val="1F2A44"/>
                </a:solidFill>
                <a:latin typeface="Calibri"/>
              </a:rPr>
              <a:t> yöndedir.</a:t>
            </a:r>
          </a:p>
          <a:p>
            <a:pPr algn="l">
              <a:spcAft>
                <a:spcPts val="300"/>
              </a:spcAft>
            </a:pPr>
            <a:r>
              <a:rPr sz="1300" b="0" i="0">
                <a:solidFill>
                  <a:srgbClr val="1F2A44"/>
                </a:solidFill>
                <a:latin typeface="Calibri"/>
              </a:rPr>
              <a:t>• </a:t>
            </a:r>
            <a:r>
              <a:rPr sz="1300" b="0" i="0">
                <a:solidFill>
                  <a:srgbClr val="1F2A44"/>
                </a:solidFill>
                <a:latin typeface="Calibri"/>
              </a:rPr>
              <a:t>Skapulotorasik kayma:</a:t>
            </a:r>
            <a:r>
              <a:rPr sz="1300" b="0" i="0">
                <a:solidFill>
                  <a:srgbClr val="1F2A44"/>
                </a:solidFill>
                <a:latin typeface="Calibri"/>
              </a:rPr>
              <a:t> gerçek eklem değildir; abduksiyonda yaklaşık </a:t>
            </a:r>
            <a:r>
              <a:rPr sz="1300" b="0" i="0">
                <a:solidFill>
                  <a:srgbClr val="1F2A44"/>
                </a:solidFill>
                <a:latin typeface="Calibri"/>
              </a:rPr>
              <a:t>2:1 skapulohumeral ritim</a:t>
            </a:r>
            <a:r>
              <a:rPr sz="1300" b="0" i="0">
                <a:solidFill>
                  <a:srgbClr val="1F2A44"/>
                </a:solidFill>
                <a:latin typeface="Calibri"/>
              </a:rPr>
              <a:t> (glenohumeral : skapular rotasyon) görülür.</a:t>
            </a:r>
          </a:p>
        </p:txBody>
      </p:sp>
      <p:pic>
        <p:nvPicPr>
          <p:cNvPr id="8" name="Picture 7" descr="cryo_1320_R.jpg"/>
          <p:cNvPicPr>
            <a:picLocks noChangeAspect="1"/>
          </p:cNvPicPr>
          <p:nvPr/>
        </p:nvPicPr>
        <p:blipFill>
          <a:blip r:embed="rId2"/>
          <a:stretch>
            <a:fillRect/>
          </a:stretch>
        </p:blipFill>
        <p:spPr>
          <a:xfrm>
            <a:off x="7040880" y="1563338"/>
            <a:ext cx="4892040" cy="4097083"/>
          </a:xfrm>
          <a:prstGeom prst="rect">
            <a:avLst/>
          </a:prstGeom>
        </p:spPr>
      </p:pic>
      <p:sp>
        <p:nvSpPr>
          <p:cNvPr id="9" name="TextBox 8"/>
          <p:cNvSpPr txBox="1"/>
          <p:nvPr/>
        </p:nvSpPr>
        <p:spPr>
          <a:xfrm>
            <a:off x="6949440" y="5660421"/>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1320 – caput humeri ve cavitas glenoidalis</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Skapulohumeral kaslar (iç omuz kasları)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Köken – yapışma – sinir – işlev</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45262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46611">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 (segment)</a:t>
                      </a:r>
                    </a:p>
                  </a:txBody>
                  <a:tcPr>
                    <a:solidFill>
                      <a:srgbClr val="1F2A44"/>
                    </a:solidFill>
                  </a:tcPr>
                </a:tc>
                <a:tc>
                  <a:txBody>
                    <a:bodyPr/>
                    <a:lstStyle/>
                    <a:p>
                      <a:r>
                        <a:rPr sz="1200" b="1">
                          <a:solidFill>
                            <a:srgbClr val="FFFFFF"/>
                          </a:solidFill>
                          <a:latin typeface="Calibri"/>
                        </a:rPr>
                        <a:t>Ana işlev</a:t>
                      </a:r>
                    </a:p>
                  </a:txBody>
                  <a:tcPr>
                    <a:solidFill>
                      <a:srgbClr val="1F2A44"/>
                    </a:solidFill>
                  </a:tcPr>
                </a:tc>
              </a:tr>
              <a:tr h="646611">
                <a:tc>
                  <a:txBody>
                    <a:bodyPr/>
                    <a:lstStyle/>
                    <a:p>
                      <a:r>
                        <a:rPr sz="1100" b="1">
                          <a:solidFill>
                            <a:srgbClr val="1F2A44"/>
                          </a:solidFill>
                          <a:latin typeface="Calibri"/>
                        </a:rPr>
                        <a:t>M. deltoideus</a:t>
                      </a:r>
                    </a:p>
                  </a:txBody>
                  <a:tcPr>
                    <a:solidFill>
                      <a:srgbClr val="F3F4F6"/>
                    </a:solidFill>
                  </a:tcPr>
                </a:tc>
                <a:tc>
                  <a:txBody>
                    <a:bodyPr/>
                    <a:lstStyle/>
                    <a:p>
                      <a:r>
                        <a:rPr sz="1100" b="0">
                          <a:solidFill>
                            <a:srgbClr val="1F2A44"/>
                          </a:solidFill>
                          <a:latin typeface="Calibri"/>
                        </a:rPr>
                        <a:t>Clavicula lat. 1/3, acromion, spina scapulae</a:t>
                      </a:r>
                    </a:p>
                  </a:txBody>
                  <a:tcPr>
                    <a:solidFill>
                      <a:srgbClr val="F3F4F6"/>
                    </a:solidFill>
                  </a:tcPr>
                </a:tc>
                <a:tc>
                  <a:txBody>
                    <a:bodyPr/>
                    <a:lstStyle/>
                    <a:p>
                      <a:r>
                        <a:rPr sz="1100" b="0">
                          <a:solidFill>
                            <a:srgbClr val="1F2A44"/>
                          </a:solidFill>
                          <a:latin typeface="Calibri"/>
                        </a:rPr>
                        <a:t>Tuberositas deltoidea</a:t>
                      </a:r>
                    </a:p>
                  </a:txBody>
                  <a:tcPr>
                    <a:solidFill>
                      <a:srgbClr val="F3F4F6"/>
                    </a:solidFill>
                  </a:tcPr>
                </a:tc>
                <a:tc>
                  <a:txBody>
                    <a:bodyPr/>
                    <a:lstStyle/>
                    <a:p>
                      <a:r>
                        <a:rPr sz="1100" b="0">
                          <a:solidFill>
                            <a:srgbClr val="1F2A44"/>
                          </a:solidFill>
                          <a:latin typeface="Calibri"/>
                        </a:rPr>
                        <a:t>N. axillaris (C5–C6)</a:t>
                      </a:r>
                    </a:p>
                  </a:txBody>
                  <a:tcPr>
                    <a:solidFill>
                      <a:srgbClr val="F3F4F6"/>
                    </a:solidFill>
                  </a:tcPr>
                </a:tc>
                <a:tc>
                  <a:txBody>
                    <a:bodyPr/>
                    <a:lstStyle/>
                    <a:p>
                      <a:r>
                        <a:rPr sz="1100" b="0">
                          <a:solidFill>
                            <a:srgbClr val="1F2A44"/>
                          </a:solidFill>
                          <a:latin typeface="Calibri"/>
                        </a:rPr>
                        <a:t>Abduksiyon (15°–90°); ön lifler fleksiyon/iç rot., arka lifler ekstansiyon/dış rot.</a:t>
                      </a:r>
                    </a:p>
                  </a:txBody>
                  <a:tcPr>
                    <a:solidFill>
                      <a:srgbClr val="F3F4F6"/>
                    </a:solidFill>
                  </a:tcPr>
                </a:tc>
              </a:tr>
              <a:tr h="646611">
                <a:tc>
                  <a:txBody>
                    <a:bodyPr/>
                    <a:lstStyle/>
                    <a:p>
                      <a:r>
                        <a:rPr sz="1100" b="1">
                          <a:solidFill>
                            <a:srgbClr val="1F2A44"/>
                          </a:solidFill>
                          <a:latin typeface="Calibri"/>
                        </a:rPr>
                        <a:t>M. supraspinatus</a:t>
                      </a:r>
                    </a:p>
                  </a:txBody>
                  <a:tcPr>
                    <a:solidFill>
                      <a:srgbClr val="FFFFFF"/>
                    </a:solidFill>
                  </a:tcPr>
                </a:tc>
                <a:tc>
                  <a:txBody>
                    <a:bodyPr/>
                    <a:lstStyle/>
                    <a:p>
                      <a:r>
                        <a:rPr sz="1100" b="0">
                          <a:solidFill>
                            <a:srgbClr val="1F2A44"/>
                          </a:solidFill>
                          <a:latin typeface="Calibri"/>
                        </a:rPr>
                        <a:t>Fossa supraspinata</a:t>
                      </a:r>
                    </a:p>
                  </a:txBody>
                  <a:tcPr>
                    <a:solidFill>
                      <a:srgbClr val="FFFFFF"/>
                    </a:solidFill>
                  </a:tcPr>
                </a:tc>
                <a:tc>
                  <a:txBody>
                    <a:bodyPr/>
                    <a:lstStyle/>
                    <a:p>
                      <a:r>
                        <a:rPr sz="1100" b="0">
                          <a:solidFill>
                            <a:srgbClr val="1F2A44"/>
                          </a:solidFill>
                          <a:latin typeface="Calibri"/>
                        </a:rPr>
                        <a:t>Tuberculum majus (üst faset)</a:t>
                      </a:r>
                    </a:p>
                  </a:txBody>
                  <a:tcPr>
                    <a:solidFill>
                      <a:srgbClr val="FFFFFF"/>
                    </a:solidFill>
                  </a:tcPr>
                </a:tc>
                <a:tc>
                  <a:txBody>
                    <a:bodyPr/>
                    <a:lstStyle/>
                    <a:p>
                      <a:r>
                        <a:rPr sz="1100" b="0">
                          <a:solidFill>
                            <a:srgbClr val="1F2A44"/>
                          </a:solidFill>
                          <a:latin typeface="Calibri"/>
                        </a:rPr>
                        <a:t>N. suprascapularis (C5–C6)</a:t>
                      </a:r>
                    </a:p>
                  </a:txBody>
                  <a:tcPr>
                    <a:solidFill>
                      <a:srgbClr val="FFFFFF"/>
                    </a:solidFill>
                  </a:tcPr>
                </a:tc>
                <a:tc>
                  <a:txBody>
                    <a:bodyPr/>
                    <a:lstStyle/>
                    <a:p>
                      <a:r>
                        <a:rPr sz="1100" b="0">
                          <a:solidFill>
                            <a:srgbClr val="1F2A44"/>
                          </a:solidFill>
                          <a:latin typeface="Calibri"/>
                        </a:rPr>
                        <a:t>Abduksiyonu başlatır; caput humeri'yi glenoide bastırır</a:t>
                      </a:r>
                    </a:p>
                  </a:txBody>
                  <a:tcPr>
                    <a:solidFill>
                      <a:srgbClr val="FFFFFF"/>
                    </a:solidFill>
                  </a:tcPr>
                </a:tc>
              </a:tr>
              <a:tr h="646611">
                <a:tc>
                  <a:txBody>
                    <a:bodyPr/>
                    <a:lstStyle/>
                    <a:p>
                      <a:r>
                        <a:rPr sz="1100" b="1">
                          <a:solidFill>
                            <a:srgbClr val="1F2A44"/>
                          </a:solidFill>
                          <a:latin typeface="Calibri"/>
                        </a:rPr>
                        <a:t>M. infraspinatus</a:t>
                      </a:r>
                    </a:p>
                  </a:txBody>
                  <a:tcPr>
                    <a:solidFill>
                      <a:srgbClr val="F3F4F6"/>
                    </a:solidFill>
                  </a:tcPr>
                </a:tc>
                <a:tc>
                  <a:txBody>
                    <a:bodyPr/>
                    <a:lstStyle/>
                    <a:p>
                      <a:r>
                        <a:rPr sz="1100" b="0">
                          <a:solidFill>
                            <a:srgbClr val="1F2A44"/>
                          </a:solidFill>
                          <a:latin typeface="Calibri"/>
                        </a:rPr>
                        <a:t>Fossa infraspinata</a:t>
                      </a:r>
                    </a:p>
                  </a:txBody>
                  <a:tcPr>
                    <a:solidFill>
                      <a:srgbClr val="F3F4F6"/>
                    </a:solidFill>
                  </a:tcPr>
                </a:tc>
                <a:tc>
                  <a:txBody>
                    <a:bodyPr/>
                    <a:lstStyle/>
                    <a:p>
                      <a:r>
                        <a:rPr sz="1100" b="0">
                          <a:solidFill>
                            <a:srgbClr val="1F2A44"/>
                          </a:solidFill>
                          <a:latin typeface="Calibri"/>
                        </a:rPr>
                        <a:t>Tuberculum majus (orta faset)</a:t>
                      </a:r>
                    </a:p>
                  </a:txBody>
                  <a:tcPr>
                    <a:solidFill>
                      <a:srgbClr val="F3F4F6"/>
                    </a:solidFill>
                  </a:tcPr>
                </a:tc>
                <a:tc>
                  <a:txBody>
                    <a:bodyPr/>
                    <a:lstStyle/>
                    <a:p>
                      <a:r>
                        <a:rPr sz="1100" b="0">
                          <a:solidFill>
                            <a:srgbClr val="1F2A44"/>
                          </a:solidFill>
                          <a:latin typeface="Calibri"/>
                        </a:rPr>
                        <a:t>N. suprascapularis (C5–C6)</a:t>
                      </a:r>
                    </a:p>
                  </a:txBody>
                  <a:tcPr>
                    <a:solidFill>
                      <a:srgbClr val="F3F4F6"/>
                    </a:solidFill>
                  </a:tcPr>
                </a:tc>
                <a:tc>
                  <a:txBody>
                    <a:bodyPr/>
                    <a:lstStyle/>
                    <a:p>
                      <a:r>
                        <a:rPr sz="1100" b="0">
                          <a:solidFill>
                            <a:srgbClr val="1F2A44"/>
                          </a:solidFill>
                          <a:latin typeface="Calibri"/>
                        </a:rPr>
                        <a:t>Dış rotasyon</a:t>
                      </a:r>
                    </a:p>
                  </a:txBody>
                  <a:tcPr>
                    <a:solidFill>
                      <a:srgbClr val="F3F4F6"/>
                    </a:solidFill>
                  </a:tcPr>
                </a:tc>
              </a:tr>
              <a:tr h="646611">
                <a:tc>
                  <a:txBody>
                    <a:bodyPr/>
                    <a:lstStyle/>
                    <a:p>
                      <a:r>
                        <a:rPr sz="1100" b="1">
                          <a:solidFill>
                            <a:srgbClr val="1F2A44"/>
                          </a:solidFill>
                          <a:latin typeface="Calibri"/>
                        </a:rPr>
                        <a:t>M. teres minor</a:t>
                      </a:r>
                    </a:p>
                  </a:txBody>
                  <a:tcPr>
                    <a:solidFill>
                      <a:srgbClr val="FFFFFF"/>
                    </a:solidFill>
                  </a:tcPr>
                </a:tc>
                <a:tc>
                  <a:txBody>
                    <a:bodyPr/>
                    <a:lstStyle/>
                    <a:p>
                      <a:r>
                        <a:rPr sz="1100" b="0">
                          <a:solidFill>
                            <a:srgbClr val="1F2A44"/>
                          </a:solidFill>
                          <a:latin typeface="Calibri"/>
                        </a:rPr>
                        <a:t>Margo lateralis scapulae (üst 2/3)</a:t>
                      </a:r>
                    </a:p>
                  </a:txBody>
                  <a:tcPr>
                    <a:solidFill>
                      <a:srgbClr val="FFFFFF"/>
                    </a:solidFill>
                  </a:tcPr>
                </a:tc>
                <a:tc>
                  <a:txBody>
                    <a:bodyPr/>
                    <a:lstStyle/>
                    <a:p>
                      <a:r>
                        <a:rPr sz="1100" b="0">
                          <a:solidFill>
                            <a:srgbClr val="1F2A44"/>
                          </a:solidFill>
                          <a:latin typeface="Calibri"/>
                        </a:rPr>
                        <a:t>Tuberculum majus (alt faset)</a:t>
                      </a:r>
                    </a:p>
                  </a:txBody>
                  <a:tcPr>
                    <a:solidFill>
                      <a:srgbClr val="FFFFFF"/>
                    </a:solidFill>
                  </a:tcPr>
                </a:tc>
                <a:tc>
                  <a:txBody>
                    <a:bodyPr/>
                    <a:lstStyle/>
                    <a:p>
                      <a:r>
                        <a:rPr sz="1100" b="0">
                          <a:solidFill>
                            <a:srgbClr val="1F2A44"/>
                          </a:solidFill>
                          <a:latin typeface="Calibri"/>
                        </a:rPr>
                        <a:t>N. axillaris (C5–C6)</a:t>
                      </a:r>
                    </a:p>
                  </a:txBody>
                  <a:tcPr>
                    <a:solidFill>
                      <a:srgbClr val="FFFFFF"/>
                    </a:solidFill>
                  </a:tcPr>
                </a:tc>
                <a:tc>
                  <a:txBody>
                    <a:bodyPr/>
                    <a:lstStyle/>
                    <a:p>
                      <a:r>
                        <a:rPr sz="1100" b="0">
                          <a:solidFill>
                            <a:srgbClr val="1F2A44"/>
                          </a:solidFill>
                          <a:latin typeface="Calibri"/>
                        </a:rPr>
                        <a:t>Dış rotasyon</a:t>
                      </a:r>
                    </a:p>
                  </a:txBody>
                  <a:tcPr>
                    <a:solidFill>
                      <a:srgbClr val="FFFFFF"/>
                    </a:solidFill>
                  </a:tcPr>
                </a:tc>
              </a:tr>
              <a:tr h="646611">
                <a:tc>
                  <a:txBody>
                    <a:bodyPr/>
                    <a:lstStyle/>
                    <a:p>
                      <a:r>
                        <a:rPr sz="1100" b="1">
                          <a:solidFill>
                            <a:srgbClr val="1F2A44"/>
                          </a:solidFill>
                          <a:latin typeface="Calibri"/>
                        </a:rPr>
                        <a:t>M. teres major</a:t>
                      </a:r>
                    </a:p>
                  </a:txBody>
                  <a:tcPr>
                    <a:solidFill>
                      <a:srgbClr val="F3F4F6"/>
                    </a:solidFill>
                  </a:tcPr>
                </a:tc>
                <a:tc>
                  <a:txBody>
                    <a:bodyPr/>
                    <a:lstStyle/>
                    <a:p>
                      <a:r>
                        <a:rPr sz="1100" b="0">
                          <a:solidFill>
                            <a:srgbClr val="1F2A44"/>
                          </a:solidFill>
                          <a:latin typeface="Calibri"/>
                        </a:rPr>
                        <a:t>Angulus inferior (arka yüz)</a:t>
                      </a:r>
                    </a:p>
                  </a:txBody>
                  <a:tcPr>
                    <a:solidFill>
                      <a:srgbClr val="F3F4F6"/>
                    </a:solidFill>
                  </a:tcPr>
                </a:tc>
                <a:tc>
                  <a:txBody>
                    <a:bodyPr/>
                    <a:lstStyle/>
                    <a:p>
                      <a:r>
                        <a:rPr sz="1100" b="0">
                          <a:solidFill>
                            <a:srgbClr val="1F2A44"/>
                          </a:solidFill>
                          <a:latin typeface="Calibri"/>
                        </a:rPr>
                        <a:t>Crista tuberculi minoris</a:t>
                      </a:r>
                    </a:p>
                  </a:txBody>
                  <a:tcPr>
                    <a:solidFill>
                      <a:srgbClr val="F3F4F6"/>
                    </a:solidFill>
                  </a:tcPr>
                </a:tc>
                <a:tc>
                  <a:txBody>
                    <a:bodyPr/>
                    <a:lstStyle/>
                    <a:p>
                      <a:r>
                        <a:rPr sz="1100" b="0">
                          <a:solidFill>
                            <a:srgbClr val="1F2A44"/>
                          </a:solidFill>
                          <a:latin typeface="Calibri"/>
                        </a:rPr>
                        <a:t>N. subscapularis inferior (C5–C7)</a:t>
                      </a:r>
                    </a:p>
                  </a:txBody>
                  <a:tcPr>
                    <a:solidFill>
                      <a:srgbClr val="F3F4F6"/>
                    </a:solidFill>
                  </a:tcPr>
                </a:tc>
                <a:tc>
                  <a:txBody>
                    <a:bodyPr/>
                    <a:lstStyle/>
                    <a:p>
                      <a:r>
                        <a:rPr sz="1100" b="0">
                          <a:solidFill>
                            <a:srgbClr val="1F2A44"/>
                          </a:solidFill>
                          <a:latin typeface="Calibri"/>
                        </a:rPr>
                        <a:t>İç rotasyon, adduksiyon, ekstansiyon</a:t>
                      </a:r>
                    </a:p>
                  </a:txBody>
                  <a:tcPr>
                    <a:solidFill>
                      <a:srgbClr val="F3F4F6"/>
                    </a:solidFill>
                  </a:tcPr>
                </a:tc>
              </a:tr>
              <a:tr h="646614">
                <a:tc>
                  <a:txBody>
                    <a:bodyPr/>
                    <a:lstStyle/>
                    <a:p>
                      <a:r>
                        <a:rPr sz="1100" b="1">
                          <a:solidFill>
                            <a:srgbClr val="1F2A44"/>
                          </a:solidFill>
                          <a:latin typeface="Calibri"/>
                        </a:rPr>
                        <a:t>M. subscapularis</a:t>
                      </a:r>
                    </a:p>
                  </a:txBody>
                  <a:tcPr>
                    <a:solidFill>
                      <a:srgbClr val="FFFFFF"/>
                    </a:solidFill>
                  </a:tcPr>
                </a:tc>
                <a:tc>
                  <a:txBody>
                    <a:bodyPr/>
                    <a:lstStyle/>
                    <a:p>
                      <a:r>
                        <a:rPr sz="1100" b="0">
                          <a:solidFill>
                            <a:srgbClr val="1F2A44"/>
                          </a:solidFill>
                          <a:latin typeface="Calibri"/>
                        </a:rPr>
                        <a:t>Fossa subscapularis</a:t>
                      </a:r>
                    </a:p>
                  </a:txBody>
                  <a:tcPr>
                    <a:solidFill>
                      <a:srgbClr val="FFFFFF"/>
                    </a:solidFill>
                  </a:tcPr>
                </a:tc>
                <a:tc>
                  <a:txBody>
                    <a:bodyPr/>
                    <a:lstStyle/>
                    <a:p>
                      <a:r>
                        <a:rPr sz="1100" b="0">
                          <a:solidFill>
                            <a:srgbClr val="1F2A44"/>
                          </a:solidFill>
                          <a:latin typeface="Calibri"/>
                        </a:rPr>
                        <a:t>Tuberculum minus</a:t>
                      </a:r>
                    </a:p>
                  </a:txBody>
                  <a:tcPr>
                    <a:solidFill>
                      <a:srgbClr val="FFFFFF"/>
                    </a:solidFill>
                  </a:tcPr>
                </a:tc>
                <a:tc>
                  <a:txBody>
                    <a:bodyPr/>
                    <a:lstStyle/>
                    <a:p>
                      <a:r>
                        <a:rPr sz="1100" b="0">
                          <a:solidFill>
                            <a:srgbClr val="1F2A44"/>
                          </a:solidFill>
                          <a:latin typeface="Calibri"/>
                        </a:rPr>
                        <a:t>Nn. subscapulares sup. et inf. (C5–C7)</a:t>
                      </a:r>
                    </a:p>
                  </a:txBody>
                  <a:tcPr>
                    <a:solidFill>
                      <a:srgbClr val="FFFFFF"/>
                    </a:solidFill>
                  </a:tcPr>
                </a:tc>
                <a:tc>
                  <a:txBody>
                    <a:bodyPr/>
                    <a:lstStyle/>
                    <a:p>
                      <a:r>
                        <a:rPr sz="1100" b="0">
                          <a:solidFill>
                            <a:srgbClr val="1F2A44"/>
                          </a:solidFill>
                          <a:latin typeface="Calibri"/>
                        </a:rPr>
                        <a:t>İç rotasyon</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Rotator manşet ve subakromiyal boşluk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supraspinatus, m. infraspinatus, m. teres minor, m. subscapularis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Dört kasın tendonları kapsülle kaynaşarak caput humeri'yi saran bir </a:t>
            </a:r>
            <a:r>
              <a:rPr sz="1300" b="0" i="0">
                <a:solidFill>
                  <a:srgbClr val="1F2A44"/>
                </a:solidFill>
                <a:latin typeface="Calibri"/>
              </a:rPr>
              <a:t>manşet</a:t>
            </a:r>
            <a:r>
              <a:rPr sz="1300" b="0" i="0">
                <a:solidFill>
                  <a:srgbClr val="1F2A44"/>
                </a:solidFill>
                <a:latin typeface="Calibri"/>
              </a:rPr>
              <a:t> oluşturur ve glenohumeral eklemin </a:t>
            </a:r>
            <a:r>
              <a:rPr sz="1300" b="0" i="0">
                <a:solidFill>
                  <a:srgbClr val="1F2A44"/>
                </a:solidFill>
                <a:latin typeface="Calibri"/>
              </a:rPr>
              <a:t>dinamik stabilizatörü</a:t>
            </a:r>
            <a:r>
              <a:rPr sz="1300" b="0" i="0">
                <a:solidFill>
                  <a:srgbClr val="1F2A44"/>
                </a:solidFill>
                <a:latin typeface="Calibri"/>
              </a:rPr>
              <a:t>dür.</a:t>
            </a:r>
          </a:p>
          <a:p>
            <a:pPr algn="l">
              <a:spcAft>
                <a:spcPts val="300"/>
              </a:spcAft>
            </a:pPr>
            <a:r>
              <a:rPr sz="1300" b="0" i="0">
                <a:solidFill>
                  <a:srgbClr val="1F2A44"/>
                </a:solidFill>
                <a:latin typeface="Calibri"/>
              </a:rPr>
              <a:t>• </a:t>
            </a:r>
            <a:r>
              <a:rPr sz="1300" b="0" i="0">
                <a:solidFill>
                  <a:srgbClr val="1F2A44"/>
                </a:solidFill>
                <a:latin typeface="Calibri"/>
              </a:rPr>
              <a:t>Arcus coracoacromialis</a:t>
            </a:r>
            <a:r>
              <a:rPr sz="1300" b="0" i="0">
                <a:solidFill>
                  <a:srgbClr val="1F2A44"/>
                </a:solidFill>
                <a:latin typeface="Calibri"/>
              </a:rPr>
              <a:t> (acromion, lig. coracoacromiale, processus coracoideus) caput humeri'nin yukarı kaymasını sınırlar; altındaki boşlukta </a:t>
            </a:r>
            <a:r>
              <a:rPr sz="1300" b="0" i="0">
                <a:solidFill>
                  <a:srgbClr val="1F2A44"/>
                </a:solidFill>
                <a:latin typeface="Calibri"/>
              </a:rPr>
              <a:t>m. supraspinatus tendonu</a:t>
            </a:r>
            <a:r>
              <a:rPr sz="1300" b="0" i="0">
                <a:solidFill>
                  <a:srgbClr val="1F2A44"/>
                </a:solidFill>
                <a:latin typeface="Calibri"/>
              </a:rPr>
              <a:t> ve </a:t>
            </a:r>
            <a:r>
              <a:rPr sz="1300" b="0" i="0">
                <a:solidFill>
                  <a:srgbClr val="1F2A44"/>
                </a:solidFill>
                <a:latin typeface="Calibri"/>
              </a:rPr>
              <a:t>bursa subacromialis/subdeltoidea</a:t>
            </a:r>
            <a:r>
              <a:rPr sz="1300" b="0" i="0">
                <a:solidFill>
                  <a:srgbClr val="1F2A44"/>
                </a:solidFill>
                <a:latin typeface="Calibri"/>
              </a:rPr>
              <a:t> bulunur.</a:t>
            </a:r>
          </a:p>
          <a:p>
            <a:pPr algn="l">
              <a:spcAft>
                <a:spcPts val="300"/>
              </a:spcAft>
            </a:pPr>
            <a:r>
              <a:rPr sz="1300" b="0" i="0">
                <a:solidFill>
                  <a:srgbClr val="1F2A44"/>
                </a:solidFill>
                <a:latin typeface="Calibri"/>
              </a:rPr>
              <a:t>• Abduksiyonda bu boşluk daralır → </a:t>
            </a:r>
            <a:r>
              <a:rPr sz="1300" b="0" i="0">
                <a:solidFill>
                  <a:srgbClr val="1F2A44"/>
                </a:solidFill>
                <a:latin typeface="Calibri"/>
              </a:rPr>
              <a:t>subakromiyal sıkışma</a:t>
            </a:r>
            <a:r>
              <a:rPr sz="1300" b="0" i="0">
                <a:solidFill>
                  <a:srgbClr val="1F2A44"/>
                </a:solidFill>
                <a:latin typeface="Calibri"/>
              </a:rPr>
              <a:t>; en sık yırtılan tendon m. supraspinatus'unkidir (özellikle yapışmaya yakın, kanlanması zayıf 'kritik bölge').</a:t>
            </a:r>
          </a:p>
          <a:p>
            <a:pPr algn="l">
              <a:spcAft>
                <a:spcPts val="300"/>
              </a:spcAft>
            </a:pPr>
            <a:r>
              <a:rPr sz="1300" b="0" i="0">
                <a:solidFill>
                  <a:srgbClr val="1F2A44"/>
                </a:solidFill>
                <a:latin typeface="Calibri"/>
              </a:rPr>
              <a:t>• Kesitlerde: m. subscapularis scapula'nın önünde, m. infraspinatus ve m. teres minor arkasında, m. supraspinatus spina scapulae'nin üstünde izlenir (bkz. VHP 1290 ve 1320).</a:t>
            </a:r>
          </a:p>
        </p:txBody>
      </p:sp>
      <p:pic>
        <p:nvPicPr>
          <p:cNvPr id="8" name="Picture 7" descr="cryo_1290_R.jpg"/>
          <p:cNvPicPr>
            <a:picLocks noChangeAspect="1"/>
          </p:cNvPicPr>
          <p:nvPr/>
        </p:nvPicPr>
        <p:blipFill>
          <a:blip r:embed="rId2"/>
          <a:stretch>
            <a:fillRect/>
          </a:stretch>
        </p:blipFill>
        <p:spPr>
          <a:xfrm>
            <a:off x="7040880" y="1768988"/>
            <a:ext cx="4892040" cy="3685783"/>
          </a:xfrm>
          <a:prstGeom prst="rect">
            <a:avLst/>
          </a:prstGeom>
        </p:spPr>
      </p:pic>
      <p:sp>
        <p:nvSpPr>
          <p:cNvPr id="9" name="TextBox 8"/>
          <p:cNvSpPr txBox="1"/>
          <p:nvPr/>
        </p:nvSpPr>
        <p:spPr>
          <a:xfrm>
            <a:off x="6949440" y="5454771"/>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1290 – m. supraspinatus ve spina scapulae</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kuşağını gövdeye bağlayan kaslar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Ön ve arka aksiyoapendiküler kaslar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45262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46611">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Klinik not</a:t>
                      </a:r>
                    </a:p>
                  </a:txBody>
                  <a:tcPr>
                    <a:solidFill>
                      <a:srgbClr val="1F2A44"/>
                    </a:solidFill>
                  </a:tcPr>
                </a:tc>
              </a:tr>
              <a:tr h="646611">
                <a:tc>
                  <a:txBody>
                    <a:bodyPr/>
                    <a:lstStyle/>
                    <a:p>
                      <a:r>
                        <a:rPr sz="1100" b="1">
                          <a:solidFill>
                            <a:srgbClr val="1F2A44"/>
                          </a:solidFill>
                          <a:latin typeface="Calibri"/>
                        </a:rPr>
                        <a:t>M. pectoralis major</a:t>
                      </a:r>
                    </a:p>
                  </a:txBody>
                  <a:tcPr>
                    <a:solidFill>
                      <a:srgbClr val="F3F4F6"/>
                    </a:solidFill>
                  </a:tcPr>
                </a:tc>
                <a:tc>
                  <a:txBody>
                    <a:bodyPr/>
                    <a:lstStyle/>
                    <a:p>
                      <a:r>
                        <a:rPr sz="1100" b="0">
                          <a:solidFill>
                            <a:srgbClr val="1F2A44"/>
                          </a:solidFill>
                          <a:latin typeface="Calibri"/>
                        </a:rPr>
                        <a:t>Clavicula, sternum, kıkırdak kostalar, rectus kılıfı</a:t>
                      </a:r>
                    </a:p>
                  </a:txBody>
                  <a:tcPr>
                    <a:solidFill>
                      <a:srgbClr val="F3F4F6"/>
                    </a:solidFill>
                  </a:tcPr>
                </a:tc>
                <a:tc>
                  <a:txBody>
                    <a:bodyPr/>
                    <a:lstStyle/>
                    <a:p>
                      <a:r>
                        <a:rPr sz="1100" b="0">
                          <a:solidFill>
                            <a:srgbClr val="1F2A44"/>
                          </a:solidFill>
                          <a:latin typeface="Calibri"/>
                        </a:rPr>
                        <a:t>Crista tuberculi majoris</a:t>
                      </a:r>
                    </a:p>
                  </a:txBody>
                  <a:tcPr>
                    <a:solidFill>
                      <a:srgbClr val="F3F4F6"/>
                    </a:solidFill>
                  </a:tcPr>
                </a:tc>
                <a:tc>
                  <a:txBody>
                    <a:bodyPr/>
                    <a:lstStyle/>
                    <a:p>
                      <a:r>
                        <a:rPr sz="1100" b="0">
                          <a:solidFill>
                            <a:srgbClr val="1F2A44"/>
                          </a:solidFill>
                          <a:latin typeface="Calibri"/>
                        </a:rPr>
                        <a:t>Nn. pectorales lat. et med.</a:t>
                      </a:r>
                    </a:p>
                  </a:txBody>
                  <a:tcPr>
                    <a:solidFill>
                      <a:srgbClr val="F3F4F6"/>
                    </a:solidFill>
                  </a:tcPr>
                </a:tc>
                <a:tc>
                  <a:txBody>
                    <a:bodyPr/>
                    <a:lstStyle/>
                    <a:p>
                      <a:r>
                        <a:rPr sz="1100" b="0">
                          <a:solidFill>
                            <a:srgbClr val="1F2A44"/>
                          </a:solidFill>
                          <a:latin typeface="Calibri"/>
                        </a:rPr>
                        <a:t>Aksillanın ön duvarı</a:t>
                      </a:r>
                    </a:p>
                  </a:txBody>
                  <a:tcPr>
                    <a:solidFill>
                      <a:srgbClr val="F3F4F6"/>
                    </a:solidFill>
                  </a:tcPr>
                </a:tc>
              </a:tr>
              <a:tr h="646611">
                <a:tc>
                  <a:txBody>
                    <a:bodyPr/>
                    <a:lstStyle/>
                    <a:p>
                      <a:r>
                        <a:rPr sz="1100" b="1">
                          <a:solidFill>
                            <a:srgbClr val="1F2A44"/>
                          </a:solidFill>
                          <a:latin typeface="Calibri"/>
                        </a:rPr>
                        <a:t>M. pectoralis minor</a:t>
                      </a:r>
                    </a:p>
                  </a:txBody>
                  <a:tcPr>
                    <a:solidFill>
                      <a:srgbClr val="FFFFFF"/>
                    </a:solidFill>
                  </a:tcPr>
                </a:tc>
                <a:tc>
                  <a:txBody>
                    <a:bodyPr/>
                    <a:lstStyle/>
                    <a:p>
                      <a:r>
                        <a:rPr sz="1100" b="0">
                          <a:solidFill>
                            <a:srgbClr val="1F2A44"/>
                          </a:solidFill>
                          <a:latin typeface="Calibri"/>
                        </a:rPr>
                        <a:t>Kosta III–V</a:t>
                      </a:r>
                    </a:p>
                  </a:txBody>
                  <a:tcPr>
                    <a:solidFill>
                      <a:srgbClr val="FFFFFF"/>
                    </a:solidFill>
                  </a:tcPr>
                </a:tc>
                <a:tc>
                  <a:txBody>
                    <a:bodyPr/>
                    <a:lstStyle/>
                    <a:p>
                      <a:r>
                        <a:rPr sz="1100" b="0">
                          <a:solidFill>
                            <a:srgbClr val="1F2A44"/>
                          </a:solidFill>
                          <a:latin typeface="Calibri"/>
                        </a:rPr>
                        <a:t>Proc. coracoideus</a:t>
                      </a:r>
                    </a:p>
                  </a:txBody>
                  <a:tcPr>
                    <a:solidFill>
                      <a:srgbClr val="FFFFFF"/>
                    </a:solidFill>
                  </a:tcPr>
                </a:tc>
                <a:tc>
                  <a:txBody>
                    <a:bodyPr/>
                    <a:lstStyle/>
                    <a:p>
                      <a:r>
                        <a:rPr sz="1100" b="0">
                          <a:solidFill>
                            <a:srgbClr val="1F2A44"/>
                          </a:solidFill>
                          <a:latin typeface="Calibri"/>
                        </a:rPr>
                        <a:t>N. pectoralis medialis</a:t>
                      </a:r>
                    </a:p>
                  </a:txBody>
                  <a:tcPr>
                    <a:solidFill>
                      <a:srgbClr val="FFFFFF"/>
                    </a:solidFill>
                  </a:tcPr>
                </a:tc>
                <a:tc>
                  <a:txBody>
                    <a:bodyPr/>
                    <a:lstStyle/>
                    <a:p>
                      <a:r>
                        <a:rPr sz="1100" b="0">
                          <a:solidFill>
                            <a:srgbClr val="1F2A44"/>
                          </a:solidFill>
                          <a:latin typeface="Calibri"/>
                        </a:rPr>
                        <a:t>A. axillaris'i 3 bölüme ayırır</a:t>
                      </a:r>
                    </a:p>
                  </a:txBody>
                  <a:tcPr>
                    <a:solidFill>
                      <a:srgbClr val="FFFFFF"/>
                    </a:solidFill>
                  </a:tcPr>
                </a:tc>
              </a:tr>
              <a:tr h="646611">
                <a:tc>
                  <a:txBody>
                    <a:bodyPr/>
                    <a:lstStyle/>
                    <a:p>
                      <a:r>
                        <a:rPr sz="1100" b="1">
                          <a:solidFill>
                            <a:srgbClr val="1F2A44"/>
                          </a:solidFill>
                          <a:latin typeface="Calibri"/>
                        </a:rPr>
                        <a:t>M. serratus anterior</a:t>
                      </a:r>
                    </a:p>
                  </a:txBody>
                  <a:tcPr>
                    <a:solidFill>
                      <a:srgbClr val="F3F4F6"/>
                    </a:solidFill>
                  </a:tcPr>
                </a:tc>
                <a:tc>
                  <a:txBody>
                    <a:bodyPr/>
                    <a:lstStyle/>
                    <a:p>
                      <a:r>
                        <a:rPr sz="1100" b="0">
                          <a:solidFill>
                            <a:srgbClr val="1F2A44"/>
                          </a:solidFill>
                          <a:latin typeface="Calibri"/>
                        </a:rPr>
                        <a:t>Kosta I–VIII</a:t>
                      </a:r>
                    </a:p>
                  </a:txBody>
                  <a:tcPr>
                    <a:solidFill>
                      <a:srgbClr val="F3F4F6"/>
                    </a:solidFill>
                  </a:tcPr>
                </a:tc>
                <a:tc>
                  <a:txBody>
                    <a:bodyPr/>
                    <a:lstStyle/>
                    <a:p>
                      <a:r>
                        <a:rPr sz="1100" b="0">
                          <a:solidFill>
                            <a:srgbClr val="1F2A44"/>
                          </a:solidFill>
                          <a:latin typeface="Calibri"/>
                        </a:rPr>
                        <a:t>Margo medialis scapulae</a:t>
                      </a:r>
                    </a:p>
                  </a:txBody>
                  <a:tcPr>
                    <a:solidFill>
                      <a:srgbClr val="F3F4F6"/>
                    </a:solidFill>
                  </a:tcPr>
                </a:tc>
                <a:tc>
                  <a:txBody>
                    <a:bodyPr/>
                    <a:lstStyle/>
                    <a:p>
                      <a:r>
                        <a:rPr sz="1100" b="0">
                          <a:solidFill>
                            <a:srgbClr val="1F2A44"/>
                          </a:solidFill>
                          <a:latin typeface="Calibri"/>
                        </a:rPr>
                        <a:t>N. thoracicus longus (C5–C7)</a:t>
                      </a:r>
                    </a:p>
                  </a:txBody>
                  <a:tcPr>
                    <a:solidFill>
                      <a:srgbClr val="F3F4F6"/>
                    </a:solidFill>
                  </a:tcPr>
                </a:tc>
                <a:tc>
                  <a:txBody>
                    <a:bodyPr/>
                    <a:lstStyle/>
                    <a:p>
                      <a:r>
                        <a:rPr sz="1100" b="0">
                          <a:solidFill>
                            <a:srgbClr val="1F2A44"/>
                          </a:solidFill>
                          <a:latin typeface="Calibri"/>
                        </a:rPr>
                        <a:t>Felcinde kanatlı skapula</a:t>
                      </a:r>
                    </a:p>
                  </a:txBody>
                  <a:tcPr>
                    <a:solidFill>
                      <a:srgbClr val="F3F4F6"/>
                    </a:solidFill>
                  </a:tcPr>
                </a:tc>
              </a:tr>
              <a:tr h="646611">
                <a:tc>
                  <a:txBody>
                    <a:bodyPr/>
                    <a:lstStyle/>
                    <a:p>
                      <a:r>
                        <a:rPr sz="1100" b="1">
                          <a:solidFill>
                            <a:srgbClr val="1F2A44"/>
                          </a:solidFill>
                          <a:latin typeface="Calibri"/>
                        </a:rPr>
                        <a:t>M. trapezius</a:t>
                      </a:r>
                    </a:p>
                  </a:txBody>
                  <a:tcPr>
                    <a:solidFill>
                      <a:srgbClr val="FFFFFF"/>
                    </a:solidFill>
                  </a:tcPr>
                </a:tc>
                <a:tc>
                  <a:txBody>
                    <a:bodyPr/>
                    <a:lstStyle/>
                    <a:p>
                      <a:r>
                        <a:rPr sz="1100" b="0">
                          <a:solidFill>
                            <a:srgbClr val="1F2A44"/>
                          </a:solidFill>
                          <a:latin typeface="Calibri"/>
                        </a:rPr>
                        <a:t>Os occipitale, lig. nuchae, C7–T12</a:t>
                      </a:r>
                    </a:p>
                  </a:txBody>
                  <a:tcPr>
                    <a:solidFill>
                      <a:srgbClr val="FFFFFF"/>
                    </a:solidFill>
                  </a:tcPr>
                </a:tc>
                <a:tc>
                  <a:txBody>
                    <a:bodyPr/>
                    <a:lstStyle/>
                    <a:p>
                      <a:r>
                        <a:rPr sz="1100" b="0">
                          <a:solidFill>
                            <a:srgbClr val="1F2A44"/>
                          </a:solidFill>
                          <a:latin typeface="Calibri"/>
                        </a:rPr>
                        <a:t>Clavicula lat. 1/3, acromion, spina</a:t>
                      </a:r>
                    </a:p>
                  </a:txBody>
                  <a:tcPr>
                    <a:solidFill>
                      <a:srgbClr val="FFFFFF"/>
                    </a:solidFill>
                  </a:tcPr>
                </a:tc>
                <a:tc>
                  <a:txBody>
                    <a:bodyPr/>
                    <a:lstStyle/>
                    <a:p>
                      <a:r>
                        <a:rPr sz="1100" b="0">
                          <a:solidFill>
                            <a:srgbClr val="1F2A44"/>
                          </a:solidFill>
                          <a:latin typeface="Calibri"/>
                        </a:rPr>
                        <a:t>N. accessorius (XI)</a:t>
                      </a:r>
                    </a:p>
                  </a:txBody>
                  <a:tcPr>
                    <a:solidFill>
                      <a:srgbClr val="FFFFFF"/>
                    </a:solidFill>
                  </a:tcPr>
                </a:tc>
                <a:tc>
                  <a:txBody>
                    <a:bodyPr/>
                    <a:lstStyle/>
                    <a:p>
                      <a:r>
                        <a:rPr sz="1100" b="0">
                          <a:solidFill>
                            <a:srgbClr val="1F2A44"/>
                          </a:solidFill>
                          <a:latin typeface="Calibri"/>
                        </a:rPr>
                        <a:t>Omuz düşmesi</a:t>
                      </a:r>
                    </a:p>
                  </a:txBody>
                  <a:tcPr>
                    <a:solidFill>
                      <a:srgbClr val="FFFFFF"/>
                    </a:solidFill>
                  </a:tcPr>
                </a:tc>
              </a:tr>
              <a:tr h="646611">
                <a:tc>
                  <a:txBody>
                    <a:bodyPr/>
                    <a:lstStyle/>
                    <a:p>
                      <a:r>
                        <a:rPr sz="1100" b="1">
                          <a:solidFill>
                            <a:srgbClr val="1F2A44"/>
                          </a:solidFill>
                          <a:latin typeface="Calibri"/>
                        </a:rPr>
                        <a:t>M. latissimus dorsi</a:t>
                      </a:r>
                    </a:p>
                  </a:txBody>
                  <a:tcPr>
                    <a:solidFill>
                      <a:srgbClr val="F3F4F6"/>
                    </a:solidFill>
                  </a:tcPr>
                </a:tc>
                <a:tc>
                  <a:txBody>
                    <a:bodyPr/>
                    <a:lstStyle/>
                    <a:p>
                      <a:r>
                        <a:rPr sz="1100" b="0">
                          <a:solidFill>
                            <a:srgbClr val="1F2A44"/>
                          </a:solidFill>
                          <a:latin typeface="Calibri"/>
                        </a:rPr>
                        <a:t>T7–L5, fascia thoracolumbalis, crista iliaca</a:t>
                      </a:r>
                    </a:p>
                  </a:txBody>
                  <a:tcPr>
                    <a:solidFill>
                      <a:srgbClr val="F3F4F6"/>
                    </a:solidFill>
                  </a:tcPr>
                </a:tc>
                <a:tc>
                  <a:txBody>
                    <a:bodyPr/>
                    <a:lstStyle/>
                    <a:p>
                      <a:r>
                        <a:rPr sz="1100" b="0">
                          <a:solidFill>
                            <a:srgbClr val="1F2A44"/>
                          </a:solidFill>
                          <a:latin typeface="Calibri"/>
                        </a:rPr>
                        <a:t>Sulcus intertubercularis tabanı</a:t>
                      </a:r>
                    </a:p>
                  </a:txBody>
                  <a:tcPr>
                    <a:solidFill>
                      <a:srgbClr val="F3F4F6"/>
                    </a:solidFill>
                  </a:tcPr>
                </a:tc>
                <a:tc>
                  <a:txBody>
                    <a:bodyPr/>
                    <a:lstStyle/>
                    <a:p>
                      <a:r>
                        <a:rPr sz="1100" b="0">
                          <a:solidFill>
                            <a:srgbClr val="1F2A44"/>
                          </a:solidFill>
                          <a:latin typeface="Calibri"/>
                        </a:rPr>
                        <a:t>N. thoracodorsalis (C6–C8)</a:t>
                      </a:r>
                    </a:p>
                  </a:txBody>
                  <a:tcPr>
                    <a:solidFill>
                      <a:srgbClr val="F3F4F6"/>
                    </a:solidFill>
                  </a:tcPr>
                </a:tc>
                <a:tc>
                  <a:txBody>
                    <a:bodyPr/>
                    <a:lstStyle/>
                    <a:p>
                      <a:r>
                        <a:rPr sz="1100" b="0">
                          <a:solidFill>
                            <a:srgbClr val="1F2A44"/>
                          </a:solidFill>
                          <a:latin typeface="Calibri"/>
                        </a:rPr>
                        <a:t>Aksilla arka duvarı; flep kası</a:t>
                      </a:r>
                    </a:p>
                  </a:txBody>
                  <a:tcPr>
                    <a:solidFill>
                      <a:srgbClr val="F3F4F6"/>
                    </a:solidFill>
                  </a:tcPr>
                </a:tc>
              </a:tr>
              <a:tr h="646614">
                <a:tc>
                  <a:txBody>
                    <a:bodyPr/>
                    <a:lstStyle/>
                    <a:p>
                      <a:r>
                        <a:rPr sz="1100" b="1">
                          <a:solidFill>
                            <a:srgbClr val="1F2A44"/>
                          </a:solidFill>
                          <a:latin typeface="Calibri"/>
                        </a:rPr>
                        <a:t>M. levator scapulae / mm. rhomboidei</a:t>
                      </a:r>
                    </a:p>
                  </a:txBody>
                  <a:tcPr>
                    <a:solidFill>
                      <a:srgbClr val="FFFFFF"/>
                    </a:solidFill>
                  </a:tcPr>
                </a:tc>
                <a:tc>
                  <a:txBody>
                    <a:bodyPr/>
                    <a:lstStyle/>
                    <a:p>
                      <a:r>
                        <a:rPr sz="1100" b="0">
                          <a:solidFill>
                            <a:srgbClr val="1F2A44"/>
                          </a:solidFill>
                          <a:latin typeface="Calibri"/>
                        </a:rPr>
                        <a:t>C1–C4 / C7–T5</a:t>
                      </a:r>
                    </a:p>
                  </a:txBody>
                  <a:tcPr>
                    <a:solidFill>
                      <a:srgbClr val="FFFFFF"/>
                    </a:solidFill>
                  </a:tcPr>
                </a:tc>
                <a:tc>
                  <a:txBody>
                    <a:bodyPr/>
                    <a:lstStyle/>
                    <a:p>
                      <a:r>
                        <a:rPr sz="1100" b="0">
                          <a:solidFill>
                            <a:srgbClr val="1F2A44"/>
                          </a:solidFill>
                          <a:latin typeface="Calibri"/>
                        </a:rPr>
                        <a:t>Margo medialis scapulae</a:t>
                      </a:r>
                    </a:p>
                  </a:txBody>
                  <a:tcPr>
                    <a:solidFill>
                      <a:srgbClr val="FFFFFF"/>
                    </a:solidFill>
                  </a:tcPr>
                </a:tc>
                <a:tc>
                  <a:txBody>
                    <a:bodyPr/>
                    <a:lstStyle/>
                    <a:p>
                      <a:r>
                        <a:rPr sz="1100" b="0">
                          <a:solidFill>
                            <a:srgbClr val="1F2A44"/>
                          </a:solidFill>
                          <a:latin typeface="Calibri"/>
                        </a:rPr>
                        <a:t>N. dorsalis scapulae (C5)</a:t>
                      </a:r>
                    </a:p>
                  </a:txBody>
                  <a:tcPr>
                    <a:solidFill>
                      <a:srgbClr val="FFFFFF"/>
                    </a:solidFill>
                  </a:tcPr>
                </a:tc>
                <a:tc>
                  <a:txBody>
                    <a:bodyPr/>
                    <a:lstStyle/>
                    <a:p>
                      <a:r>
                        <a:rPr sz="1100" b="0">
                          <a:solidFill>
                            <a:srgbClr val="1F2A44"/>
                          </a:solidFill>
                          <a:latin typeface="Calibri"/>
                        </a:rPr>
                        <a:t>Skapulayı yukarı-mediale çeker</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Fossa axillaris: duvarlar ve içerik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Boyun ile kol arasındaki piramidal geçiş bölgesi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Apeks (canalis cervicoaxillaris):</a:t>
            </a:r>
            <a:r>
              <a:rPr sz="1300" b="0" i="0">
                <a:solidFill>
                  <a:srgbClr val="1F2A44"/>
                </a:solidFill>
                <a:latin typeface="Calibri"/>
              </a:rPr>
              <a:t> clavicula, kosta I ve scapula'nın üst kenarı arasında – boyun ile aksilla arasındaki geçit.</a:t>
            </a:r>
          </a:p>
          <a:p>
            <a:pPr algn="l">
              <a:spcAft>
                <a:spcPts val="300"/>
              </a:spcAft>
            </a:pPr>
            <a:r>
              <a:rPr sz="1300" b="0" i="0">
                <a:solidFill>
                  <a:srgbClr val="1F2A44"/>
                </a:solidFill>
                <a:latin typeface="Calibri"/>
              </a:rPr>
              <a:t>• </a:t>
            </a:r>
            <a:r>
              <a:rPr sz="1300" b="0" i="0">
                <a:solidFill>
                  <a:srgbClr val="1F2A44"/>
                </a:solidFill>
                <a:latin typeface="Calibri"/>
              </a:rPr>
              <a:t>Ön duvar:</a:t>
            </a:r>
            <a:r>
              <a:rPr sz="1300" b="0" i="0">
                <a:solidFill>
                  <a:srgbClr val="1F2A44"/>
                </a:solidFill>
                <a:latin typeface="Calibri"/>
              </a:rPr>
              <a:t> m. pectoralis major, m. pectoralis minor, m. subclavius ve fascia clavipectoralis. </a:t>
            </a:r>
            <a:r>
              <a:rPr sz="1300" b="0" i="0">
                <a:solidFill>
                  <a:srgbClr val="1F2A44"/>
                </a:solidFill>
                <a:latin typeface="Calibri"/>
              </a:rPr>
              <a:t>Arka duvar:</a:t>
            </a:r>
            <a:r>
              <a:rPr sz="1300" b="0" i="0">
                <a:solidFill>
                  <a:srgbClr val="1F2A44"/>
                </a:solidFill>
                <a:latin typeface="Calibri"/>
              </a:rPr>
              <a:t> m. subscapularis, m. teres major, m. latissimus dorsi.</a:t>
            </a:r>
          </a:p>
          <a:p>
            <a:pPr algn="l">
              <a:spcAft>
                <a:spcPts val="300"/>
              </a:spcAft>
            </a:pPr>
            <a:r>
              <a:rPr sz="1300" b="0" i="0">
                <a:solidFill>
                  <a:srgbClr val="1F2A44"/>
                </a:solidFill>
                <a:latin typeface="Calibri"/>
              </a:rPr>
              <a:t>• </a:t>
            </a:r>
            <a:r>
              <a:rPr sz="1300" b="0" i="0">
                <a:solidFill>
                  <a:srgbClr val="1F2A44"/>
                </a:solidFill>
                <a:latin typeface="Calibri"/>
              </a:rPr>
              <a:t>Medial duvar:</a:t>
            </a:r>
            <a:r>
              <a:rPr sz="1300" b="0" i="0">
                <a:solidFill>
                  <a:srgbClr val="1F2A44"/>
                </a:solidFill>
                <a:latin typeface="Calibri"/>
              </a:rPr>
              <a:t> m. serratus anterior ve kosta I–IV. </a:t>
            </a:r>
            <a:r>
              <a:rPr sz="1300" b="0" i="0">
                <a:solidFill>
                  <a:srgbClr val="1F2A44"/>
                </a:solidFill>
                <a:latin typeface="Calibri"/>
              </a:rPr>
              <a:t>Lateral duvar:</a:t>
            </a:r>
            <a:r>
              <a:rPr sz="1300" b="0" i="0">
                <a:solidFill>
                  <a:srgbClr val="1F2A44"/>
                </a:solidFill>
                <a:latin typeface="Calibri"/>
              </a:rPr>
              <a:t> sulcus intertubercularis; m. coracobrachialis ve caput breve m. bicipitis brachii. </a:t>
            </a:r>
            <a:r>
              <a:rPr sz="1300" b="0" i="0">
                <a:solidFill>
                  <a:srgbClr val="1F2A44"/>
                </a:solidFill>
                <a:latin typeface="Calibri"/>
              </a:rPr>
              <a:t>Taban:</a:t>
            </a:r>
            <a:r>
              <a:rPr sz="1300" b="0" i="0">
                <a:solidFill>
                  <a:srgbClr val="1F2A44"/>
                </a:solidFill>
                <a:latin typeface="Calibri"/>
              </a:rPr>
              <a:t> fascia axillaris ve deri.</a:t>
            </a:r>
          </a:p>
          <a:p>
            <a:pPr algn="l">
              <a:spcAft>
                <a:spcPts val="300"/>
              </a:spcAft>
            </a:pPr>
            <a:r>
              <a:rPr sz="1300" b="0" i="0">
                <a:solidFill>
                  <a:srgbClr val="1F2A44"/>
                </a:solidFill>
                <a:latin typeface="Calibri"/>
              </a:rPr>
              <a:t>• </a:t>
            </a:r>
            <a:r>
              <a:rPr sz="1300" b="0" i="0">
                <a:solidFill>
                  <a:srgbClr val="1F2A44"/>
                </a:solidFill>
                <a:latin typeface="Calibri"/>
              </a:rPr>
              <a:t>İçerik:</a:t>
            </a:r>
            <a:r>
              <a:rPr sz="1300" b="0" i="0">
                <a:solidFill>
                  <a:srgbClr val="1F2A44"/>
                </a:solidFill>
                <a:latin typeface="Calibri"/>
              </a:rPr>
              <a:t> a. ve v. axillaris, plexus brachialis'in infraklavikular bölümü, nodi lymphoidei axillares ve yağ dokusu; damar–sinir yapıları </a:t>
            </a:r>
            <a:r>
              <a:rPr sz="1300" b="0" i="0">
                <a:solidFill>
                  <a:srgbClr val="1F2A44"/>
                </a:solidFill>
                <a:latin typeface="Calibri"/>
              </a:rPr>
              <a:t>vagina axillaris</a:t>
            </a:r>
            <a:r>
              <a:rPr sz="1300" b="0" i="0">
                <a:solidFill>
                  <a:srgbClr val="1F2A44"/>
                </a:solidFill>
                <a:latin typeface="Calibri"/>
              </a:rPr>
              <a:t> ile sarılıdır (aksiller blok bu kılıfa yapılır).</a:t>
            </a:r>
          </a:p>
        </p:txBody>
      </p:sp>
      <p:pic>
        <p:nvPicPr>
          <p:cNvPr id="8" name="Picture 7" descr="cryo_1340_R.jpg"/>
          <p:cNvPicPr>
            <a:picLocks noChangeAspect="1"/>
          </p:cNvPicPr>
          <p:nvPr/>
        </p:nvPicPr>
        <p:blipFill>
          <a:blip r:embed="rId2"/>
          <a:stretch>
            <a:fillRect/>
          </a:stretch>
        </p:blipFill>
        <p:spPr>
          <a:xfrm>
            <a:off x="7040880" y="1426768"/>
            <a:ext cx="4892040" cy="4370222"/>
          </a:xfrm>
          <a:prstGeom prst="rect">
            <a:avLst/>
          </a:prstGeom>
        </p:spPr>
      </p:pic>
      <p:sp>
        <p:nvSpPr>
          <p:cNvPr id="9" name="TextBox 8"/>
          <p:cNvSpPr txBox="1"/>
          <p:nvPr/>
        </p:nvSpPr>
        <p:spPr>
          <a:xfrm>
            <a:off x="6949440" y="5796991"/>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1340 – fossa axillaris ve duvarları</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 axillaris: üç bölüm ve dalları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pectoralis minor arterin önünden geçerek onu üç bölüme ayırır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1. bölüm</a:t>
            </a:r>
            <a:r>
              <a:rPr sz="1300" b="0" i="0">
                <a:solidFill>
                  <a:srgbClr val="1F2A44"/>
                </a:solidFill>
                <a:latin typeface="Calibri"/>
              </a:rPr>
              <a:t> (kosta I – m. pectoralis minor'ün medial kenarı): </a:t>
            </a:r>
            <a:r>
              <a:rPr sz="1300" b="0" i="0">
                <a:solidFill>
                  <a:srgbClr val="1F2A44"/>
                </a:solidFill>
                <a:latin typeface="Calibri"/>
              </a:rPr>
              <a:t>a. thoracica superior</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2. bölüm</a:t>
            </a:r>
            <a:r>
              <a:rPr sz="1300" b="0" i="0">
                <a:solidFill>
                  <a:srgbClr val="1F2A44"/>
                </a:solidFill>
                <a:latin typeface="Calibri"/>
              </a:rPr>
              <a:t> (m. pectoralis minor arkasında): </a:t>
            </a:r>
            <a:r>
              <a:rPr sz="1300" b="0" i="0">
                <a:solidFill>
                  <a:srgbClr val="1F2A44"/>
                </a:solidFill>
                <a:latin typeface="Calibri"/>
              </a:rPr>
              <a:t>a. thoracoacromialis</a:t>
            </a:r>
            <a:r>
              <a:rPr sz="1300" b="0" i="0">
                <a:solidFill>
                  <a:srgbClr val="1F2A44"/>
                </a:solidFill>
                <a:latin typeface="Calibri"/>
              </a:rPr>
              <a:t> (pectoral, deltoid, acromial, clavicular dallar) ve </a:t>
            </a:r>
            <a:r>
              <a:rPr sz="1300" b="0" i="0">
                <a:solidFill>
                  <a:srgbClr val="1F2A44"/>
                </a:solidFill>
                <a:latin typeface="Calibri"/>
              </a:rPr>
              <a:t>a. thoracica lateralis</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3. bölüm</a:t>
            </a:r>
            <a:r>
              <a:rPr sz="1300" b="0" i="0">
                <a:solidFill>
                  <a:srgbClr val="1F2A44"/>
                </a:solidFill>
                <a:latin typeface="Calibri"/>
              </a:rPr>
              <a:t> (m. pectoralis minor – m. teres major alt kenarı): </a:t>
            </a:r>
            <a:r>
              <a:rPr sz="1300" b="0" i="0">
                <a:solidFill>
                  <a:srgbClr val="1F2A44"/>
                </a:solidFill>
                <a:latin typeface="Calibri"/>
              </a:rPr>
              <a:t>a. subscapularis</a:t>
            </a:r>
            <a:r>
              <a:rPr sz="1300" b="0" i="0">
                <a:solidFill>
                  <a:srgbClr val="1F2A44"/>
                </a:solidFill>
                <a:latin typeface="Calibri"/>
              </a:rPr>
              <a:t> (a. circumflexa scapulae + a. thoracodorsalis), </a:t>
            </a:r>
            <a:r>
              <a:rPr sz="1300" b="0" i="0">
                <a:solidFill>
                  <a:srgbClr val="1F2A44"/>
                </a:solidFill>
                <a:latin typeface="Calibri"/>
              </a:rPr>
              <a:t>a. circumflexa humeri anterior</a:t>
            </a:r>
            <a:r>
              <a:rPr sz="1300" b="0" i="0">
                <a:solidFill>
                  <a:srgbClr val="1F2A44"/>
                </a:solidFill>
                <a:latin typeface="Calibri"/>
              </a:rPr>
              <a:t> ve </a:t>
            </a:r>
            <a:r>
              <a:rPr sz="1300" b="0" i="0">
                <a:solidFill>
                  <a:srgbClr val="1F2A44"/>
                </a:solidFill>
                <a:latin typeface="Calibri"/>
              </a:rPr>
              <a:t>posterior</a:t>
            </a:r>
            <a:r>
              <a:rPr sz="1300" b="0" i="0">
                <a:solidFill>
                  <a:srgbClr val="1F2A44"/>
                </a:solidFill>
                <a:latin typeface="Calibri"/>
              </a:rPr>
              <a:t>.</a:t>
            </a:r>
          </a:p>
          <a:p>
            <a:pPr algn="l">
              <a:spcAft>
                <a:spcPts val="300"/>
              </a:spcAft>
            </a:pPr>
            <a:r>
              <a:rPr sz="1300" b="0" i="0">
                <a:solidFill>
                  <a:srgbClr val="1F2A44"/>
                </a:solidFill>
                <a:latin typeface="Calibri"/>
              </a:rPr>
              <a:t>• A. circumflexa humeri posterior, n. axillaris ile birlikte spatium axillare laterale'den geçer. Dal dizilimi sık değişkenlik gösterir – bölüm sonundaki varyasyon literatürüne bakınız.</a:t>
            </a:r>
          </a:p>
        </p:txBody>
      </p:sp>
      <p:pic>
        <p:nvPicPr>
          <p:cNvPr id="8" name="Picture 7" descr="BJBMS-20-502-g001.jpg"/>
          <p:cNvPicPr>
            <a:picLocks noChangeAspect="1"/>
          </p:cNvPicPr>
          <p:nvPr/>
        </p:nvPicPr>
        <p:blipFill>
          <a:blip r:embed="rId2"/>
          <a:stretch>
            <a:fillRect/>
          </a:stretch>
        </p:blipFill>
        <p:spPr>
          <a:xfrm>
            <a:off x="7040880" y="2010687"/>
            <a:ext cx="4892039" cy="3202384"/>
          </a:xfrm>
          <a:prstGeom prst="rect">
            <a:avLst/>
          </a:prstGeom>
        </p:spPr>
      </p:pic>
      <p:sp>
        <p:nvSpPr>
          <p:cNvPr id="9" name="TextBox 8"/>
          <p:cNvSpPr txBox="1"/>
          <p:nvPr/>
        </p:nvSpPr>
        <p:spPr>
          <a:xfrm>
            <a:off x="6949440" y="5213072"/>
            <a:ext cx="507491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Konarik Marek ve ark., 2020 (PMC7664784,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Konarik Marek, Musil Vladimir, Baca Vaclav et al. Upper limb principal arteries variations: A cadaveric study with terminological implication. Bosn J Basic Med Sci. 2020 Nov;20(4):502–13. doi: 10.17305/bjbms.2020.4643 PMCID: PMC7664784.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brachialis'in dalları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Supraklavikular ve infraklavikular dallar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Supraklavikular:</a:t>
            </a:r>
            <a:r>
              <a:rPr sz="1300" b="0" i="0">
                <a:solidFill>
                  <a:srgbClr val="1F2A44"/>
                </a:solidFill>
                <a:latin typeface="Calibri"/>
              </a:rPr>
              <a:t> n. dorsalis scapulae (C5 – mm. rhomboidei, m. levator scapulae), </a:t>
            </a:r>
            <a:r>
              <a:rPr sz="1300" b="0" i="0">
                <a:solidFill>
                  <a:srgbClr val="1F2A44"/>
                </a:solidFill>
                <a:latin typeface="Calibri"/>
              </a:rPr>
              <a:t>n. thoracicus longus</a:t>
            </a:r>
            <a:r>
              <a:rPr sz="1300" b="0" i="0">
                <a:solidFill>
                  <a:srgbClr val="1F2A44"/>
                </a:solidFill>
                <a:latin typeface="Calibri"/>
              </a:rPr>
              <a:t> (C5–C7 – m. serratus anterior), </a:t>
            </a:r>
            <a:r>
              <a:rPr sz="1300" b="0" i="0">
                <a:solidFill>
                  <a:srgbClr val="1F2A44"/>
                </a:solidFill>
                <a:latin typeface="Calibri"/>
              </a:rPr>
              <a:t>n. suprascapularis</a:t>
            </a:r>
            <a:r>
              <a:rPr sz="1300" b="0" i="0">
                <a:solidFill>
                  <a:srgbClr val="1F2A44"/>
                </a:solidFill>
                <a:latin typeface="Calibri"/>
              </a:rPr>
              <a:t> (C5–C6, truncus superior – m. supraspinatus/infraspinatus), n. subclavius.</a:t>
            </a:r>
          </a:p>
          <a:p>
            <a:pPr algn="l">
              <a:spcAft>
                <a:spcPts val="300"/>
              </a:spcAft>
            </a:pPr>
            <a:r>
              <a:rPr sz="1300" b="0" i="0">
                <a:solidFill>
                  <a:srgbClr val="1F2A44"/>
                </a:solidFill>
                <a:latin typeface="Calibri"/>
              </a:rPr>
              <a:t>• </a:t>
            </a:r>
            <a:r>
              <a:rPr sz="1300" b="0" i="0">
                <a:solidFill>
                  <a:srgbClr val="1F2A44"/>
                </a:solidFill>
                <a:latin typeface="Calibri"/>
              </a:rPr>
              <a:t>Fasciculus lateralis:</a:t>
            </a:r>
            <a:r>
              <a:rPr sz="1300" b="0" i="0">
                <a:solidFill>
                  <a:srgbClr val="1F2A44"/>
                </a:solidFill>
                <a:latin typeface="Calibri"/>
              </a:rPr>
              <a:t> n. pectoralis lateralis, </a:t>
            </a:r>
            <a:r>
              <a:rPr sz="1300" b="0" i="0">
                <a:solidFill>
                  <a:srgbClr val="1F2A44"/>
                </a:solidFill>
                <a:latin typeface="Calibri"/>
              </a:rPr>
              <a:t>n. musculocutaneus</a:t>
            </a:r>
            <a:r>
              <a:rPr sz="1300" b="0" i="0">
                <a:solidFill>
                  <a:srgbClr val="1F2A44"/>
                </a:solidFill>
                <a:latin typeface="Calibri"/>
              </a:rPr>
              <a:t>, radix lateralis n. mediani.</a:t>
            </a:r>
          </a:p>
          <a:p>
            <a:pPr algn="l">
              <a:spcAft>
                <a:spcPts val="300"/>
              </a:spcAft>
            </a:pPr>
            <a:r>
              <a:rPr sz="1300" b="0" i="0">
                <a:solidFill>
                  <a:srgbClr val="1F2A44"/>
                </a:solidFill>
                <a:latin typeface="Calibri"/>
              </a:rPr>
              <a:t>• </a:t>
            </a:r>
            <a:r>
              <a:rPr sz="1300" b="0" i="0">
                <a:solidFill>
                  <a:srgbClr val="1F2A44"/>
                </a:solidFill>
                <a:latin typeface="Calibri"/>
              </a:rPr>
              <a:t>Fasciculus medialis:</a:t>
            </a:r>
            <a:r>
              <a:rPr sz="1300" b="0" i="0">
                <a:solidFill>
                  <a:srgbClr val="1F2A44"/>
                </a:solidFill>
                <a:latin typeface="Calibri"/>
              </a:rPr>
              <a:t> n. pectoralis medialis, n. cutaneus brachii medialis, n. cutaneus antebrachii medialis, </a:t>
            </a:r>
            <a:r>
              <a:rPr sz="1300" b="0" i="0">
                <a:solidFill>
                  <a:srgbClr val="1F2A44"/>
                </a:solidFill>
                <a:latin typeface="Calibri"/>
              </a:rPr>
              <a:t>n. ulnaris</a:t>
            </a:r>
            <a:r>
              <a:rPr sz="1300" b="0" i="0">
                <a:solidFill>
                  <a:srgbClr val="1F2A44"/>
                </a:solidFill>
                <a:latin typeface="Calibri"/>
              </a:rPr>
              <a:t>, radix medialis n. mediani.</a:t>
            </a:r>
          </a:p>
          <a:p>
            <a:pPr algn="l">
              <a:spcAft>
                <a:spcPts val="300"/>
              </a:spcAft>
            </a:pPr>
            <a:r>
              <a:rPr sz="1300" b="0" i="0">
                <a:solidFill>
                  <a:srgbClr val="1F2A44"/>
                </a:solidFill>
                <a:latin typeface="Calibri"/>
              </a:rPr>
              <a:t>• </a:t>
            </a:r>
            <a:r>
              <a:rPr sz="1300" b="0" i="0">
                <a:solidFill>
                  <a:srgbClr val="1F2A44"/>
                </a:solidFill>
                <a:latin typeface="Calibri"/>
              </a:rPr>
              <a:t>Fasciculus posterior:</a:t>
            </a:r>
            <a:r>
              <a:rPr sz="1300" b="0" i="0">
                <a:solidFill>
                  <a:srgbClr val="1F2A44"/>
                </a:solidFill>
                <a:latin typeface="Calibri"/>
              </a:rPr>
              <a:t> nn. subscapulares sup./inf., </a:t>
            </a:r>
            <a:r>
              <a:rPr sz="1300" b="0" i="0">
                <a:solidFill>
                  <a:srgbClr val="1F2A44"/>
                </a:solidFill>
                <a:latin typeface="Calibri"/>
              </a:rPr>
              <a:t>n. thoracodorsalis</a:t>
            </a:r>
            <a:r>
              <a:rPr sz="1300" b="0" i="0">
                <a:solidFill>
                  <a:srgbClr val="1F2A44"/>
                </a:solidFill>
                <a:latin typeface="Calibri"/>
              </a:rPr>
              <a:t>, </a:t>
            </a:r>
            <a:r>
              <a:rPr sz="1300" b="0" i="0">
                <a:solidFill>
                  <a:srgbClr val="1F2A44"/>
                </a:solidFill>
                <a:latin typeface="Calibri"/>
              </a:rPr>
              <a:t>n. axillaris</a:t>
            </a:r>
            <a:r>
              <a:rPr sz="1300" b="0" i="0">
                <a:solidFill>
                  <a:srgbClr val="1F2A44"/>
                </a:solidFill>
                <a:latin typeface="Calibri"/>
              </a:rPr>
              <a:t>, </a:t>
            </a:r>
            <a:r>
              <a:rPr sz="1300" b="0" i="0">
                <a:solidFill>
                  <a:srgbClr val="1F2A44"/>
                </a:solidFill>
                <a:latin typeface="Calibri"/>
              </a:rPr>
              <a:t>n. radialis</a:t>
            </a:r>
            <a:r>
              <a:rPr sz="1300" b="0" i="0">
                <a:solidFill>
                  <a:srgbClr val="1F2A44"/>
                </a:solidFill>
                <a:latin typeface="Calibri"/>
              </a:rPr>
              <a:t>.</a:t>
            </a:r>
          </a:p>
          <a:p>
            <a:pPr algn="l">
              <a:spcAft>
                <a:spcPts val="300"/>
              </a:spcAft>
            </a:pPr>
            <a:r>
              <a:rPr sz="1300" b="0" i="0">
                <a:solidFill>
                  <a:srgbClr val="1F2A44"/>
                </a:solidFill>
                <a:latin typeface="Calibri"/>
              </a:rPr>
              <a:t>• İki radix a. axillaris'in önünde birleşerek </a:t>
            </a:r>
            <a:r>
              <a:rPr sz="1300" b="0" i="0">
                <a:solidFill>
                  <a:srgbClr val="1F2A44"/>
                </a:solidFill>
                <a:latin typeface="Calibri"/>
              </a:rPr>
              <a:t>n. medianus</a:t>
            </a:r>
            <a:r>
              <a:rPr sz="1300" b="0" i="0">
                <a:solidFill>
                  <a:srgbClr val="1F2A44"/>
                </a:solidFill>
                <a:latin typeface="Calibri"/>
              </a:rPr>
              <a:t>'u oluşturur ('M' harfi görünümü).</a:t>
            </a:r>
          </a:p>
        </p:txBody>
      </p:sp>
      <p:pic>
        <p:nvPicPr>
          <p:cNvPr id="8" name="Picture 7" descr="BMRI-2025-6650184-g012.jpg"/>
          <p:cNvPicPr>
            <a:picLocks noChangeAspect="1"/>
          </p:cNvPicPr>
          <p:nvPr/>
        </p:nvPicPr>
        <p:blipFill>
          <a:blip r:embed="rId2"/>
          <a:stretch>
            <a:fillRect/>
          </a:stretch>
        </p:blipFill>
        <p:spPr>
          <a:xfrm>
            <a:off x="7040880" y="2286952"/>
            <a:ext cx="4892040" cy="2649855"/>
          </a:xfrm>
          <a:prstGeom prst="rect">
            <a:avLst/>
          </a:prstGeom>
        </p:spPr>
      </p:pic>
      <p:sp>
        <p:nvSpPr>
          <p:cNvPr id="9" name="TextBox 8"/>
          <p:cNvSpPr txBox="1"/>
          <p:nvPr/>
        </p:nvSpPr>
        <p:spPr>
          <a:xfrm>
            <a:off x="6949440" y="4936807"/>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Bozhikova E. ve ark., 2025 (PMC12578619,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Bozhikova E., Davis J. C., Moon P. H. et al. A Cadaveric Study on the Variations in the Infraclavicular Part of Brachial Plexus in Axillary Region and Upper Arm. Biomed Res Int. 2025 Oct 31;2025:6650184. doi: 10.1155/bmri/6650184 PMCID: PMC12578619.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Spatium axillare laterale, mediale ve triangular aralık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Aksillanın arka duvarındaki geçitler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Spatium axillare laterale (dörtgen boşluk):</a:t>
            </a:r>
            <a:r>
              <a:rPr sz="1300" b="0" i="0">
                <a:solidFill>
                  <a:srgbClr val="1F2A44"/>
                </a:solidFill>
                <a:latin typeface="Calibri"/>
              </a:rPr>
              <a:t> yukarıda m. teres minor, aşağıda m. teres major, medialde caput longum m. tricipitis, lateralde collum chirurgicum humeri. İçerik: </a:t>
            </a:r>
            <a:r>
              <a:rPr sz="1300" b="0" i="0">
                <a:solidFill>
                  <a:srgbClr val="1F2A44"/>
                </a:solidFill>
                <a:latin typeface="Calibri"/>
              </a:rPr>
              <a:t>n. axillaris</a:t>
            </a:r>
            <a:r>
              <a:rPr sz="1300" b="0" i="0">
                <a:solidFill>
                  <a:srgbClr val="1F2A44"/>
                </a:solidFill>
                <a:latin typeface="Calibri"/>
              </a:rPr>
              <a:t> ve </a:t>
            </a:r>
            <a:r>
              <a:rPr sz="1300" b="0" i="0">
                <a:solidFill>
                  <a:srgbClr val="1F2A44"/>
                </a:solidFill>
                <a:latin typeface="Calibri"/>
              </a:rPr>
              <a:t>a./v. circumflexa humeri posterior</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Spatium axillare mediale (üçgen boşluk):</a:t>
            </a:r>
            <a:r>
              <a:rPr sz="1300" b="0" i="0">
                <a:solidFill>
                  <a:srgbClr val="1F2A44"/>
                </a:solidFill>
                <a:latin typeface="Calibri"/>
              </a:rPr>
              <a:t> m. teres minor, m. teres major ve caput longum m. tricipitis arasında; içerik </a:t>
            </a:r>
            <a:r>
              <a:rPr sz="1300" b="0" i="0">
                <a:solidFill>
                  <a:srgbClr val="1F2A44"/>
                </a:solidFill>
                <a:latin typeface="Calibri"/>
              </a:rPr>
              <a:t>a. circumflexa scapulae</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Triangular aralık (trigonum / 'interval'):</a:t>
            </a:r>
            <a:r>
              <a:rPr sz="1300" b="0" i="0">
                <a:solidFill>
                  <a:srgbClr val="1F2A44"/>
                </a:solidFill>
                <a:latin typeface="Calibri"/>
              </a:rPr>
              <a:t> m. teres major (yukarı), caput longum (medial) ve humerus (lateral) arasında; içerik </a:t>
            </a:r>
            <a:r>
              <a:rPr sz="1300" b="0" i="0">
                <a:solidFill>
                  <a:srgbClr val="1F2A44"/>
                </a:solidFill>
                <a:latin typeface="Calibri"/>
              </a:rPr>
              <a:t>n. radialis</a:t>
            </a:r>
            <a:r>
              <a:rPr sz="1300" b="0" i="0">
                <a:solidFill>
                  <a:srgbClr val="1F2A44"/>
                </a:solidFill>
                <a:latin typeface="Calibri"/>
              </a:rPr>
              <a:t> ve </a:t>
            </a:r>
            <a:r>
              <a:rPr sz="1300" b="0" i="0">
                <a:solidFill>
                  <a:srgbClr val="1F2A44"/>
                </a:solidFill>
                <a:latin typeface="Calibri"/>
              </a:rPr>
              <a:t>a. profunda brachii</a:t>
            </a:r>
            <a:r>
              <a:rPr sz="1300" b="0" i="0">
                <a:solidFill>
                  <a:srgbClr val="1F2A44"/>
                </a:solidFill>
                <a:latin typeface="Calibri"/>
              </a:rPr>
              <a:t>.</a:t>
            </a:r>
          </a:p>
          <a:p>
            <a:pPr algn="l">
              <a:spcAft>
                <a:spcPts val="300"/>
              </a:spcAft>
            </a:pPr>
            <a:r>
              <a:rPr sz="1300" b="0" i="0">
                <a:solidFill>
                  <a:srgbClr val="1F2A44"/>
                </a:solidFill>
                <a:latin typeface="Calibri"/>
              </a:rPr>
              <a:t>• Klinik: dörtgen boşluk sendromu (n. axillaris sıkışması), collum chirurgicum kırığı ve ön omuz çıkığında n. axillaris hasarı.</a:t>
            </a:r>
          </a:p>
        </p:txBody>
      </p:sp>
      <p:pic>
        <p:nvPicPr>
          <p:cNvPr id="8" name="Picture 7" descr="acb-51-93-g002.jpg"/>
          <p:cNvPicPr>
            <a:picLocks noChangeAspect="1"/>
          </p:cNvPicPr>
          <p:nvPr/>
        </p:nvPicPr>
        <p:blipFill>
          <a:blip r:embed="rId2"/>
          <a:stretch>
            <a:fillRect/>
          </a:stretch>
        </p:blipFill>
        <p:spPr>
          <a:xfrm>
            <a:off x="7656455" y="1188720"/>
            <a:ext cx="3660889" cy="4846320"/>
          </a:xfrm>
          <a:prstGeom prst="rect">
            <a:avLst/>
          </a:prstGeom>
        </p:spPr>
      </p:pic>
      <p:sp>
        <p:nvSpPr>
          <p:cNvPr id="9" name="TextBox 8"/>
          <p:cNvSpPr txBox="1"/>
          <p:nvPr/>
        </p:nvSpPr>
        <p:spPr>
          <a:xfrm>
            <a:off x="7565015" y="6035040"/>
            <a:ext cx="384376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Patra Apurba ve ark., 2018 (PMC6026816, CC BY-NC)</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Patra Apurba, Singh Manjit, Kaur Harsimarjit et al. Re-definition of position and calculation of safe area for axillary nerve in deltoid muscle with its clinical relevance: a cadaveric study. Anat Cell Biol. 2018 Jun 27;51(2):93–7. doi: 10.5115/acb.2018.51.2.93 PMCID: PMC6026816. Lisans: CC BY-NC.</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suprascapularis'in seyri: incisura scapulae ve incisura spinoglenoidalis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Lig. transversum scapulae superius ile ilişki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N. suprascapularis truncus superior'dan (C5–C6) çıkar, m. omohyoideus'a paralel seyrederek </a:t>
            </a:r>
            <a:r>
              <a:rPr sz="1300" b="0" i="0">
                <a:solidFill>
                  <a:srgbClr val="1F2A44"/>
                </a:solidFill>
                <a:latin typeface="Calibri"/>
              </a:rPr>
              <a:t>incisura scapulae</a:t>
            </a:r>
            <a:r>
              <a:rPr sz="1300" b="0" i="0">
                <a:solidFill>
                  <a:srgbClr val="1F2A44"/>
                </a:solidFill>
                <a:latin typeface="Calibri"/>
              </a:rPr>
              <a:t>'ya ulaşır; tipik olarak sinir </a:t>
            </a:r>
            <a:r>
              <a:rPr sz="1300" b="0" i="0">
                <a:solidFill>
                  <a:srgbClr val="1F2A44"/>
                </a:solidFill>
                <a:latin typeface="Calibri"/>
              </a:rPr>
              <a:t>ligamentin altından</a:t>
            </a:r>
            <a:r>
              <a:rPr sz="1300" b="0" i="0">
                <a:solidFill>
                  <a:srgbClr val="1F2A44"/>
                </a:solidFill>
                <a:latin typeface="Calibri"/>
              </a:rPr>
              <a:t>, a. suprascapularis </a:t>
            </a:r>
            <a:r>
              <a:rPr sz="1300" b="0" i="0">
                <a:solidFill>
                  <a:srgbClr val="1F2A44"/>
                </a:solidFill>
                <a:latin typeface="Calibri"/>
              </a:rPr>
              <a:t>üstünden</a:t>
            </a:r>
            <a:r>
              <a:rPr sz="1300" b="0" i="0">
                <a:solidFill>
                  <a:srgbClr val="1F2A44"/>
                </a:solidFill>
                <a:latin typeface="Calibri"/>
              </a:rPr>
              <a:t> geçer.</a:t>
            </a:r>
          </a:p>
          <a:p>
            <a:pPr algn="l">
              <a:spcAft>
                <a:spcPts val="300"/>
              </a:spcAft>
            </a:pPr>
            <a:r>
              <a:rPr sz="1300" b="0" i="0">
                <a:solidFill>
                  <a:srgbClr val="1F2A44"/>
                </a:solidFill>
                <a:latin typeface="Calibri"/>
              </a:rPr>
              <a:t>• Fossa supraspinata'da m. supraspinatus'a dal verir, sonra </a:t>
            </a:r>
            <a:r>
              <a:rPr sz="1300" b="0" i="0">
                <a:solidFill>
                  <a:srgbClr val="1F2A44"/>
                </a:solidFill>
                <a:latin typeface="Calibri"/>
              </a:rPr>
              <a:t>incisura spinoglenoidalis</a:t>
            </a:r>
            <a:r>
              <a:rPr sz="1300" b="0" i="0">
                <a:solidFill>
                  <a:srgbClr val="1F2A44"/>
                </a:solidFill>
                <a:latin typeface="Calibri"/>
              </a:rPr>
              <a:t>'i dolanarak m. infraspinatus'a gider.</a:t>
            </a:r>
          </a:p>
          <a:p>
            <a:pPr algn="l">
              <a:spcAft>
                <a:spcPts val="300"/>
              </a:spcAft>
            </a:pPr>
            <a:r>
              <a:rPr sz="1300" b="0" i="0">
                <a:solidFill>
                  <a:srgbClr val="1F2A44"/>
                </a:solidFill>
                <a:latin typeface="Calibri"/>
              </a:rPr>
              <a:t>• İncisura scapulae'de sıkışma → supraspinatus + infraspinatus güçsüzlüğü; incisura spinoglenoidalis'te (ör. labral kist) sıkışma → </a:t>
            </a:r>
            <a:r>
              <a:rPr sz="1300" b="0" i="0">
                <a:solidFill>
                  <a:srgbClr val="1F2A44"/>
                </a:solidFill>
                <a:latin typeface="Calibri"/>
              </a:rPr>
              <a:t>izole infraspinatus atrofisi</a:t>
            </a:r>
            <a:r>
              <a:rPr sz="1300" b="0" i="0">
                <a:solidFill>
                  <a:srgbClr val="1F2A44"/>
                </a:solidFill>
                <a:latin typeface="Calibri"/>
              </a:rPr>
              <a:t>.</a:t>
            </a:r>
          </a:p>
          <a:p>
            <a:pPr algn="l">
              <a:spcAft>
                <a:spcPts val="300"/>
              </a:spcAft>
            </a:pPr>
            <a:r>
              <a:rPr sz="1300" b="0" i="0">
                <a:solidFill>
                  <a:srgbClr val="1F2A44"/>
                </a:solidFill>
                <a:latin typeface="Calibri"/>
              </a:rPr>
              <a:t>• Lig. transversum scapulae superius'un kemikleşmesi incisura'yı foramen'e çevirebilir (bkz. varyasyonlar).</a:t>
            </a:r>
          </a:p>
        </p:txBody>
      </p:sp>
      <p:pic>
        <p:nvPicPr>
          <p:cNvPr id="8" name="Picture 7" descr="167_2014_2937_Fig2_HTML.jpg"/>
          <p:cNvPicPr>
            <a:picLocks noChangeAspect="1"/>
          </p:cNvPicPr>
          <p:nvPr/>
        </p:nvPicPr>
        <p:blipFill>
          <a:blip r:embed="rId2"/>
          <a:stretch>
            <a:fillRect/>
          </a:stretch>
        </p:blipFill>
        <p:spPr>
          <a:xfrm>
            <a:off x="7683509" y="1188720"/>
            <a:ext cx="3606780" cy="4846320"/>
          </a:xfrm>
          <a:prstGeom prst="rect">
            <a:avLst/>
          </a:prstGeom>
        </p:spPr>
      </p:pic>
      <p:sp>
        <p:nvSpPr>
          <p:cNvPr id="9" name="TextBox 8"/>
          <p:cNvSpPr txBox="1"/>
          <p:nvPr/>
        </p:nvSpPr>
        <p:spPr>
          <a:xfrm>
            <a:off x="7592069" y="6035040"/>
            <a:ext cx="378966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Polguj Michał ve ark., 2014 (PMC4555201,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Polguj Michał, Rożniecki Jacek, Sibiński Marcin et al. The variable morphology of suprascapular nerve and vessels at suprascapular notch: a proposal for classification and its potential clinical implications. Knee Surg Sports Traumatol Arthrosc. 2014 Mar 18;23(5):1542–8. doi: 10.1007/s00167-014-2937-1 PMCID: PMC4555201.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Rotator manşet kasları ve eklem kapsülü</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Akromion ve proc. coracoideus kısmen çıkarılmış sağ omuz</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40634_2018_134_Fig1_HTML.jpg"/>
          <p:cNvPicPr>
            <a:picLocks noChangeAspect="1"/>
          </p:cNvPicPr>
          <p:nvPr/>
        </p:nvPicPr>
        <p:blipFill>
          <a:blip r:embed="rId2"/>
          <a:stretch>
            <a:fillRect/>
          </a:stretch>
        </p:blipFill>
        <p:spPr>
          <a:xfrm>
            <a:off x="2011239" y="1188720"/>
            <a:ext cx="3612761" cy="1510290"/>
          </a:xfrm>
          <a:prstGeom prst="rect">
            <a:avLst/>
          </a:prstGeom>
        </p:spPr>
      </p:pic>
      <p:sp>
        <p:nvSpPr>
          <p:cNvPr id="8" name="TextBox 7"/>
          <p:cNvSpPr txBox="1"/>
          <p:nvPr/>
        </p:nvSpPr>
        <p:spPr>
          <a:xfrm>
            <a:off x="1919799" y="2699010"/>
            <a:ext cx="379564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Momma Daisuke ve ark., 2018 (PMC5992113, CC BY)</a:t>
            </a:r>
          </a:p>
        </p:txBody>
      </p:sp>
      <p:pic>
        <p:nvPicPr>
          <p:cNvPr id="9" name="Picture 8" descr="40634_2018_134_Fig2_HTML.jpg"/>
          <p:cNvPicPr>
            <a:picLocks noChangeAspect="1"/>
          </p:cNvPicPr>
          <p:nvPr/>
        </p:nvPicPr>
        <p:blipFill>
          <a:blip r:embed="rId3"/>
          <a:stretch>
            <a:fillRect/>
          </a:stretch>
        </p:blipFill>
        <p:spPr>
          <a:xfrm>
            <a:off x="2011239" y="2973330"/>
            <a:ext cx="3612761" cy="3015989"/>
          </a:xfrm>
          <a:prstGeom prst="rect">
            <a:avLst/>
          </a:prstGeom>
        </p:spPr>
      </p:pic>
      <p:sp>
        <p:nvSpPr>
          <p:cNvPr id="10" name="TextBox 9"/>
          <p:cNvSpPr txBox="1"/>
          <p:nvPr/>
        </p:nvSpPr>
        <p:spPr>
          <a:xfrm>
            <a:off x="1919799" y="5989320"/>
            <a:ext cx="379564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Momma Daisuke ve ark., 2018 (PMC5992113,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1: Subscapularis m. subscapularis; Supraspinatus; Infraspinatus; Teres minor; </a:t>
            </a:r>
            <a:r>
              <a:rPr sz="1050" b="0" i="0">
                <a:solidFill>
                  <a:srgbClr val="1F2A44"/>
                </a:solidFill>
                <a:latin typeface="Calibri"/>
              </a:rPr>
              <a:t>CP</a:t>
            </a:r>
            <a:r>
              <a:rPr sz="1050" b="0" i="0">
                <a:solidFill>
                  <a:srgbClr val="1F2A44"/>
                </a:solidFill>
                <a:latin typeface="Calibri"/>
              </a:rPr>
              <a:t> processus coracoideus</a:t>
            </a:r>
          </a:p>
          <a:p>
            <a:pPr algn="l">
              <a:spcAft>
                <a:spcPts val="300"/>
              </a:spcAft>
            </a:pPr>
            <a:r>
              <a:rPr sz="1050" b="0" i="0">
                <a:solidFill>
                  <a:srgbClr val="1F2A44"/>
                </a:solidFill>
                <a:latin typeface="Calibri"/>
              </a:rPr>
              <a:t>• Şekil 2: </a:t>
            </a:r>
            <a:r>
              <a:rPr sz="1050" b="0" i="0">
                <a:solidFill>
                  <a:srgbClr val="1F2A44"/>
                </a:solidFill>
                <a:latin typeface="Calibri"/>
              </a:rPr>
              <a:t>SSC</a:t>
            </a:r>
            <a:r>
              <a:rPr sz="1050" b="0" i="0">
                <a:solidFill>
                  <a:srgbClr val="1F2A44"/>
                </a:solidFill>
                <a:latin typeface="Calibri"/>
              </a:rPr>
              <a:t> m. subscapularis; </a:t>
            </a:r>
            <a:r>
              <a:rPr sz="1050" b="0" i="0">
                <a:solidFill>
                  <a:srgbClr val="1F2A44"/>
                </a:solidFill>
                <a:latin typeface="Calibri"/>
              </a:rPr>
              <a:t>SSP</a:t>
            </a:r>
            <a:r>
              <a:rPr sz="1050" b="0" i="0">
                <a:solidFill>
                  <a:srgbClr val="1F2A44"/>
                </a:solidFill>
                <a:latin typeface="Calibri"/>
              </a:rPr>
              <a:t> m. supraspinatus; </a:t>
            </a:r>
            <a:r>
              <a:rPr sz="1050" b="0" i="0">
                <a:solidFill>
                  <a:srgbClr val="1F2A44"/>
                </a:solidFill>
                <a:latin typeface="Calibri"/>
              </a:rPr>
              <a:t>ISP</a:t>
            </a:r>
            <a:r>
              <a:rPr sz="1050" b="0" i="0">
                <a:solidFill>
                  <a:srgbClr val="1F2A44"/>
                </a:solidFill>
                <a:latin typeface="Calibri"/>
              </a:rPr>
              <a:t> m. infraspinatus; </a:t>
            </a:r>
            <a:r>
              <a:rPr sz="1050" b="0" i="0">
                <a:solidFill>
                  <a:srgbClr val="1F2A44"/>
                </a:solidFill>
                <a:latin typeface="Calibri"/>
              </a:rPr>
              <a:t>TMi</a:t>
            </a:r>
            <a:r>
              <a:rPr sz="1050" b="0" i="0">
                <a:solidFill>
                  <a:srgbClr val="1F2A44"/>
                </a:solidFill>
                <a:latin typeface="Calibri"/>
              </a:rPr>
              <a:t> m. teres minor; </a:t>
            </a:r>
            <a:r>
              <a:rPr sz="1050" b="0" i="0">
                <a:solidFill>
                  <a:srgbClr val="1F2A44"/>
                </a:solidFill>
                <a:latin typeface="Calibri"/>
              </a:rPr>
              <a:t>TRI</a:t>
            </a:r>
            <a:r>
              <a:rPr sz="1050" b="0" i="0">
                <a:solidFill>
                  <a:srgbClr val="1F2A44"/>
                </a:solidFill>
                <a:latin typeface="Calibri"/>
              </a:rPr>
              <a:t> m. triceps brachii; Capsule = capsula articularis; kesikli çizgiler = kas yapışma alanları (footprint)</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13 omuzluk çalışmada kapsül, rotator manşetin örtmediği alanlarda humerus'a geniş tutunur; en geniş tutunma (17,3 ± 0,9 mm) </a:t>
            </a:r>
            <a:r>
              <a:rPr sz="1050" b="0" i="0">
                <a:solidFill>
                  <a:srgbClr val="1F2A44"/>
                </a:solidFill>
                <a:latin typeface="Calibri"/>
              </a:rPr>
              <a:t>recessus axillaris</a:t>
            </a:r>
            <a:r>
              <a:rPr sz="1050" b="0" i="0">
                <a:solidFill>
                  <a:srgbClr val="1F2A44"/>
                </a:solidFill>
                <a:latin typeface="Calibri"/>
              </a:rPr>
              <a:t>'tedir.</a:t>
            </a:r>
          </a:p>
          <a:p>
            <a:pPr algn="l">
              <a:spcAft>
                <a:spcPts val="300"/>
              </a:spcAft>
            </a:pPr>
            <a:r>
              <a:rPr sz="1050" b="0" i="0">
                <a:solidFill>
                  <a:srgbClr val="1F2A44"/>
                </a:solidFill>
                <a:latin typeface="Calibri"/>
              </a:rPr>
              <a:t>• Alt kapsül üst kapsülden belirgin şekilde kalındır – ön-alt çıkıkta gerilen bölge.</a:t>
            </a:r>
          </a:p>
          <a:p>
            <a:pPr algn="l">
              <a:spcAft>
                <a:spcPts val="300"/>
              </a:spcAft>
            </a:pPr>
            <a:r>
              <a:rPr sz="1050" b="0" i="0">
                <a:solidFill>
                  <a:srgbClr val="1F2A44"/>
                </a:solidFill>
                <a:latin typeface="Calibri"/>
              </a:rPr>
              <a:t>• M. subscapularis'in en üst kısmı kapsül ve lig. coracohumerale ile sıkıca kaynaşmıştır.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Momma Daisuke, Nimura Akimoto, Muro Satoru et al. Anatomic analysis of the whole articular capsule of the shoulder joint, with reference to the capsular attachment and thickness. J Exp Orthop. 2018 Jun 7;5:16. doi: 10.1186/s40634-018-0134-8 PMCID: PMC5992113.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Plexus brachialis trunkusları – interskalen bölge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scalenus anterior ve medius arasında klasik düzen</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diagnostics-07-00040-g001.jpg"/>
          <p:cNvPicPr>
            <a:picLocks noChangeAspect="1"/>
          </p:cNvPicPr>
          <p:nvPr/>
        </p:nvPicPr>
        <p:blipFill>
          <a:blip r:embed="rId2"/>
          <a:stretch>
            <a:fillRect/>
          </a:stretch>
        </p:blipFill>
        <p:spPr>
          <a:xfrm>
            <a:off x="1368953" y="1188720"/>
            <a:ext cx="4897333" cy="4846320"/>
          </a:xfrm>
          <a:prstGeom prst="rect">
            <a:avLst/>
          </a:prstGeom>
        </p:spPr>
      </p:pic>
      <p:sp>
        <p:nvSpPr>
          <p:cNvPr id="8" name="TextBox 7"/>
          <p:cNvSpPr txBox="1"/>
          <p:nvPr/>
        </p:nvSpPr>
        <p:spPr>
          <a:xfrm>
            <a:off x="1277513" y="6035040"/>
            <a:ext cx="5080213"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Leonhard Vanessa ve ark., 2017 (PMC5617940,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AS</a:t>
            </a:r>
            <a:r>
              <a:rPr sz="1050" b="0" i="0">
                <a:solidFill>
                  <a:srgbClr val="1F2A44"/>
                </a:solidFill>
                <a:latin typeface="Calibri"/>
              </a:rPr>
              <a:t> m. scalenus anterior; </a:t>
            </a:r>
            <a:r>
              <a:rPr sz="1050" b="0" i="0">
                <a:solidFill>
                  <a:srgbClr val="1F2A44"/>
                </a:solidFill>
                <a:latin typeface="Calibri"/>
              </a:rPr>
              <a:t>MS</a:t>
            </a:r>
            <a:r>
              <a:rPr sz="1050" b="0" i="0">
                <a:solidFill>
                  <a:srgbClr val="1F2A44"/>
                </a:solidFill>
                <a:latin typeface="Calibri"/>
              </a:rPr>
              <a:t> m. scalenus medius; </a:t>
            </a:r>
            <a:r>
              <a:rPr sz="1050" b="0" i="0">
                <a:solidFill>
                  <a:srgbClr val="1F2A44"/>
                </a:solidFill>
                <a:latin typeface="Calibri"/>
              </a:rPr>
              <a:t>ST</a:t>
            </a:r>
            <a:r>
              <a:rPr sz="1050" b="0" i="0">
                <a:solidFill>
                  <a:srgbClr val="1F2A44"/>
                </a:solidFill>
                <a:latin typeface="Calibri"/>
              </a:rPr>
              <a:t> truncus superior; </a:t>
            </a:r>
            <a:r>
              <a:rPr sz="1050" b="0" i="0">
                <a:solidFill>
                  <a:srgbClr val="1F2A44"/>
                </a:solidFill>
                <a:latin typeface="Calibri"/>
              </a:rPr>
              <a:t>MT</a:t>
            </a:r>
            <a:r>
              <a:rPr sz="1050" b="0" i="0">
                <a:solidFill>
                  <a:srgbClr val="1F2A44"/>
                </a:solidFill>
                <a:latin typeface="Calibri"/>
              </a:rPr>
              <a:t> truncus medius; </a:t>
            </a:r>
            <a:r>
              <a:rPr sz="1050" b="0" i="0">
                <a:solidFill>
                  <a:srgbClr val="1F2A44"/>
                </a:solidFill>
                <a:latin typeface="Calibri"/>
              </a:rPr>
              <a:t>IT</a:t>
            </a:r>
            <a:r>
              <a:rPr sz="1050" b="0" i="0">
                <a:solidFill>
                  <a:srgbClr val="1F2A44"/>
                </a:solidFill>
                <a:latin typeface="Calibri"/>
              </a:rPr>
              <a:t> truncus inferior; </a:t>
            </a:r>
            <a:r>
              <a:rPr sz="1050" b="0" i="0">
                <a:solidFill>
                  <a:srgbClr val="1F2A44"/>
                </a:solidFill>
                <a:latin typeface="Calibri"/>
              </a:rPr>
              <a:t>SA</a:t>
            </a:r>
            <a:r>
              <a:rPr sz="1050" b="0" i="0">
                <a:solidFill>
                  <a:srgbClr val="1F2A44"/>
                </a:solidFill>
                <a:latin typeface="Calibri"/>
              </a:rPr>
              <a:t> a. subclavia</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Trunkuslar ve a. subclavia </a:t>
            </a:r>
            <a:r>
              <a:rPr sz="1050" b="0" i="0">
                <a:solidFill>
                  <a:srgbClr val="1F2A44"/>
                </a:solidFill>
                <a:latin typeface="Calibri"/>
              </a:rPr>
              <a:t>fissura scalenorum</a:t>
            </a:r>
            <a:r>
              <a:rPr sz="1050" b="0" i="0">
                <a:solidFill>
                  <a:srgbClr val="1F2A44"/>
                </a:solidFill>
                <a:latin typeface="Calibri"/>
              </a:rPr>
              <a:t>'dan (m. scalenus anterior–medius arası) geçer; v. subclavia ise m. scalenus anterior'un önünden geçer.</a:t>
            </a:r>
          </a:p>
          <a:p>
            <a:pPr algn="l">
              <a:spcAft>
                <a:spcPts val="300"/>
              </a:spcAft>
            </a:pPr>
            <a:r>
              <a:rPr sz="1050" b="0" i="0">
                <a:solidFill>
                  <a:srgbClr val="1F2A44"/>
                </a:solidFill>
                <a:latin typeface="Calibri"/>
              </a:rPr>
              <a:t>• Bu bölge </a:t>
            </a:r>
            <a:r>
              <a:rPr sz="1050" b="0" i="0">
                <a:solidFill>
                  <a:srgbClr val="1F2A44"/>
                </a:solidFill>
                <a:latin typeface="Calibri"/>
              </a:rPr>
              <a:t>interskalen blok</a:t>
            </a:r>
            <a:r>
              <a:rPr sz="1050" b="0" i="0">
                <a:solidFill>
                  <a:srgbClr val="1F2A44"/>
                </a:solidFill>
                <a:latin typeface="Calibri"/>
              </a:rPr>
              <a:t> ve nörojenik torasik çıkış sendromu için temel referanstır.</a:t>
            </a:r>
          </a:p>
          <a:p>
            <a:pPr algn="l">
              <a:spcAft>
                <a:spcPts val="300"/>
              </a:spcAft>
            </a:pPr>
            <a:r>
              <a:rPr sz="1050" b="0" i="0">
                <a:solidFill>
                  <a:srgbClr val="1F2A44"/>
                </a:solidFill>
                <a:latin typeface="Calibri"/>
              </a:rPr>
              <a:t>• Aynı çalışmada 82 boyunda %62,1 oranında C5/truncus superior'un m. scalenus anterior'u deldiği saptanmıştır (bkz. varyasyonlar).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Leonhard Vanessa, Caldwell Gregory, Goh Mei et al. Ultrasonographic Diagnosis of Thoracic Outlet Syndrome Secondary to Brachial Plexus Piercing Variation. Diagnostics (Basel). 2017 Jul 4;7(3):40. doi: 10.3390/diagnostics7030040 PMCID: PMC5617940.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thoracicus longus ve m. serratus anterior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Göğüs yan duvarında sinirin seyri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09-00000001898-i02.jpg"/>
          <p:cNvPicPr>
            <a:picLocks noChangeAspect="1"/>
          </p:cNvPicPr>
          <p:nvPr/>
        </p:nvPicPr>
        <p:blipFill>
          <a:blip r:embed="rId2"/>
          <a:stretch>
            <a:fillRect/>
          </a:stretch>
        </p:blipFill>
        <p:spPr>
          <a:xfrm>
            <a:off x="274320" y="1188720"/>
            <a:ext cx="3884709" cy="3069077"/>
          </a:xfrm>
          <a:prstGeom prst="rect">
            <a:avLst/>
          </a:prstGeom>
        </p:spPr>
      </p:pic>
      <p:sp>
        <p:nvSpPr>
          <p:cNvPr id="8" name="TextBox 7"/>
          <p:cNvSpPr txBox="1"/>
          <p:nvPr/>
        </p:nvSpPr>
        <p:spPr>
          <a:xfrm>
            <a:off x="182879" y="4257797"/>
            <a:ext cx="406758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Louis Jr Robert G ve ark., 2017 (PMC5790210, CC BY)</a:t>
            </a:r>
          </a:p>
        </p:txBody>
      </p:sp>
      <p:pic>
        <p:nvPicPr>
          <p:cNvPr id="9" name="Picture 8" descr="cureus-0009-00000001898-i03.jpg"/>
          <p:cNvPicPr>
            <a:picLocks noChangeAspect="1"/>
          </p:cNvPicPr>
          <p:nvPr/>
        </p:nvPicPr>
        <p:blipFill>
          <a:blip r:embed="rId3"/>
          <a:stretch>
            <a:fillRect/>
          </a:stretch>
        </p:blipFill>
        <p:spPr>
          <a:xfrm>
            <a:off x="4296189" y="1188720"/>
            <a:ext cx="3064730" cy="3069077"/>
          </a:xfrm>
          <a:prstGeom prst="rect">
            <a:avLst/>
          </a:prstGeom>
        </p:spPr>
      </p:pic>
      <p:sp>
        <p:nvSpPr>
          <p:cNvPr id="10" name="TextBox 9"/>
          <p:cNvSpPr txBox="1"/>
          <p:nvPr/>
        </p:nvSpPr>
        <p:spPr>
          <a:xfrm>
            <a:off x="4204749" y="4257797"/>
            <a:ext cx="324761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Louis Jr Robert G ve ark., 2017 (PMC5790210,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Pectoral Fascia = fascia pectoralis; Pectoralis Major = m. pectoralis major; Serratus Anterior = m. serratus anterior; Long Thoracic Nerve = </a:t>
            </a:r>
            <a:r>
              <a:rPr sz="1050" b="0" i="0">
                <a:solidFill>
                  <a:srgbClr val="1F2A44"/>
                </a:solidFill>
                <a:latin typeface="Calibri"/>
              </a:rPr>
              <a:t>n. thoracicus longus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Sinir C5–C7 köklerinden çıkar, plexus'un arkasından iner ve m. serratus anterior'un </a:t>
            </a:r>
            <a:r>
              <a:rPr sz="1050" b="0" i="0">
                <a:solidFill>
                  <a:srgbClr val="1F2A44"/>
                </a:solidFill>
                <a:latin typeface="Calibri"/>
              </a:rPr>
              <a:t>dış yüzünde</a:t>
            </a:r>
            <a:r>
              <a:rPr sz="1050" b="0" i="0">
                <a:solidFill>
                  <a:srgbClr val="1F2A44"/>
                </a:solidFill>
                <a:latin typeface="Calibri"/>
              </a:rPr>
              <a:t>, linea axillaris media yakınında seyreder.</a:t>
            </a:r>
          </a:p>
          <a:p>
            <a:pPr algn="l">
              <a:spcAft>
                <a:spcPts val="300"/>
              </a:spcAft>
            </a:pPr>
            <a:r>
              <a:rPr sz="1050" b="0" i="0">
                <a:solidFill>
                  <a:srgbClr val="1F2A44"/>
                </a:solidFill>
                <a:latin typeface="Calibri"/>
              </a:rPr>
              <a:t>• 20 tarafta ortalama sinir çapı proksimalde 1,6 mm, distalde 1,1 mm ölçülmüştür.</a:t>
            </a:r>
          </a:p>
          <a:p>
            <a:pPr algn="l">
              <a:spcAft>
                <a:spcPts val="300"/>
              </a:spcAft>
            </a:pPr>
            <a:r>
              <a:rPr sz="1050" b="0" i="0">
                <a:solidFill>
                  <a:srgbClr val="1F2A44"/>
                </a:solidFill>
                <a:latin typeface="Calibri"/>
              </a:rPr>
              <a:t>• Yüzeyel seyri nedeniyle aksiller diseksiyon, göğüs tüpü ve yan torakotomide yaralanabilir → </a:t>
            </a:r>
            <a:r>
              <a:rPr sz="1050" b="0" i="0">
                <a:solidFill>
                  <a:srgbClr val="1F2A44"/>
                </a:solidFill>
                <a:latin typeface="Calibri"/>
              </a:rPr>
              <a:t>kanatlı skapula</a:t>
            </a:r>
            <a:r>
              <a:rPr sz="1050" b="0" i="0">
                <a:solidFill>
                  <a:srgbClr val="1F2A44"/>
                </a:solidFill>
                <a:latin typeface="Calibri"/>
              </a:rPr>
              <a:t>.</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Louis Jr Robert G, Whitesides Joshua D, Kollias Theofanis F et al. Intercostal Nerve to Long Thoracic Nerve Transfer for the Treatment of Winged Scapula: A Cadaveric Feasibility Study. Cureus. 2017 Nov 30;9(11):e1898. doi: 10.7759/cureus.1898 PMCID: PMC5790210.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Sulcus deltopectoralis: v. cephalica ve a. thoracoacromialis'in deltoid dalı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Yazar çizimi (802 hastalık klinik seri)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ŞEMA</a:t>
            </a:r>
          </a:p>
        </p:txBody>
      </p:sp>
      <p:pic>
        <p:nvPicPr>
          <p:cNvPr id="7" name="Picture 6" descr="medi-94-e728-g002.jpg"/>
          <p:cNvPicPr>
            <a:picLocks noChangeAspect="1"/>
          </p:cNvPicPr>
          <p:nvPr/>
        </p:nvPicPr>
        <p:blipFill>
          <a:blip r:embed="rId2"/>
          <a:stretch>
            <a:fillRect/>
          </a:stretch>
        </p:blipFill>
        <p:spPr>
          <a:xfrm>
            <a:off x="592115" y="1188720"/>
            <a:ext cx="6451008" cy="4846320"/>
          </a:xfrm>
          <a:prstGeom prst="rect">
            <a:avLst/>
          </a:prstGeom>
        </p:spPr>
      </p:pic>
      <p:sp>
        <p:nvSpPr>
          <p:cNvPr id="8" name="TextBox 7"/>
          <p:cNvSpPr txBox="1"/>
          <p:nvPr/>
        </p:nvSpPr>
        <p:spPr>
          <a:xfrm>
            <a:off x="500675" y="6035040"/>
            <a:ext cx="663388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Su Ta-Wei ve ark., 2015 (PMC4603045,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Deltoid br. of thoracoacromial artery/vein = a./v. thoracoacromialis'in r. deltoideus'u; Cephalic vein = v. cephalica; Deltoid muscle = m. deltoideus; Pectoralis major muscle = m. pectoralis major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Hastaların %93,6'sında deltoid dal tanımlanabilmiş; v. thoracoacromialis'in deltoid dalı çoğunlukla sulcus'un </a:t>
            </a:r>
            <a:r>
              <a:rPr sz="1050" b="0" i="0">
                <a:solidFill>
                  <a:srgbClr val="1F2A44"/>
                </a:solidFill>
                <a:latin typeface="Calibri"/>
              </a:rPr>
              <a:t>medial</a:t>
            </a:r>
            <a:r>
              <a:rPr sz="1050" b="0" i="0">
                <a:solidFill>
                  <a:srgbClr val="1F2A44"/>
                </a:solidFill>
                <a:latin typeface="Calibri"/>
              </a:rPr>
              <a:t> yanında, m. pectoralis major'ün altında (%85,8) yer almıştır.</a:t>
            </a:r>
          </a:p>
          <a:p>
            <a:pPr algn="l">
              <a:spcAft>
                <a:spcPts val="300"/>
              </a:spcAft>
            </a:pPr>
            <a:r>
              <a:rPr sz="1050" b="0" i="0">
                <a:solidFill>
                  <a:srgbClr val="1F2A44"/>
                </a:solidFill>
                <a:latin typeface="Calibri"/>
              </a:rPr>
              <a:t>• Sulcus deltopectoralis, v. cephalica ile deltopektoral cerrahi yaklaşımın ve port yerleştirmenin temel işaret noktasıdır.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Su Ta-Wei, Wu Ching-Feng, Fu Jui-Ying et al. Deltoid Branch of Thoracoacromial Vein. Medicine (Baltimore). 2015 May 1;94(17):e728. doi: 10.1097/MD.0000000000000728 PMCID: PMC4603045.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suprascapularis'in incisura scapulae'deki seyri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Sol omuz – sinirin motor dallarına ayrılması (varyant örnek)</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ijerph-19-07065-g001.jpg"/>
          <p:cNvPicPr>
            <a:picLocks noChangeAspect="1"/>
          </p:cNvPicPr>
          <p:nvPr/>
        </p:nvPicPr>
        <p:blipFill>
          <a:blip r:embed="rId2"/>
          <a:stretch>
            <a:fillRect/>
          </a:stretch>
        </p:blipFill>
        <p:spPr>
          <a:xfrm>
            <a:off x="274320" y="1214801"/>
            <a:ext cx="7086600" cy="4794156"/>
          </a:xfrm>
          <a:prstGeom prst="rect">
            <a:avLst/>
          </a:prstGeom>
        </p:spPr>
      </p:pic>
      <p:sp>
        <p:nvSpPr>
          <p:cNvPr id="8" name="TextBox 7"/>
          <p:cNvSpPr txBox="1"/>
          <p:nvPr/>
        </p:nvSpPr>
        <p:spPr>
          <a:xfrm>
            <a:off x="182879" y="6008958"/>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Montané-Blanchart Marta ve ark., 2022 (PMC9223225,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lig. transversum scapulae superius; </a:t>
            </a:r>
            <a:r>
              <a:rPr sz="1050" b="0" i="0">
                <a:solidFill>
                  <a:srgbClr val="1F2A44"/>
                </a:solidFill>
                <a:latin typeface="Calibri"/>
              </a:rPr>
              <a:t>2</a:t>
            </a:r>
            <a:r>
              <a:rPr sz="1050" b="0" i="0">
                <a:solidFill>
                  <a:srgbClr val="1F2A44"/>
                </a:solidFill>
                <a:latin typeface="Calibri"/>
              </a:rPr>
              <a:t> m. omohyoideus venter inferior; </a:t>
            </a:r>
            <a:r>
              <a:rPr sz="1050" b="0" i="0">
                <a:solidFill>
                  <a:srgbClr val="1F2A44"/>
                </a:solidFill>
                <a:latin typeface="Calibri"/>
              </a:rPr>
              <a:t>3</a:t>
            </a:r>
            <a:r>
              <a:rPr sz="1050" b="0" i="0">
                <a:solidFill>
                  <a:srgbClr val="1F2A44"/>
                </a:solidFill>
                <a:latin typeface="Calibri"/>
              </a:rPr>
              <a:t> n. suprascapularis; </a:t>
            </a:r>
            <a:r>
              <a:rPr sz="1050" b="0" i="0">
                <a:solidFill>
                  <a:srgbClr val="1F2A44"/>
                </a:solidFill>
                <a:latin typeface="Calibri"/>
              </a:rPr>
              <a:t>4</a:t>
            </a:r>
            <a:r>
              <a:rPr sz="1050" b="0" i="0">
                <a:solidFill>
                  <a:srgbClr val="1F2A44"/>
                </a:solidFill>
                <a:latin typeface="Calibri"/>
              </a:rPr>
              <a:t> art. acromioclavicularis'e duyusal dal; </a:t>
            </a:r>
            <a:r>
              <a:rPr sz="1050" b="0" i="0">
                <a:solidFill>
                  <a:srgbClr val="1F2A44"/>
                </a:solidFill>
                <a:latin typeface="Calibri"/>
              </a:rPr>
              <a:t>5</a:t>
            </a:r>
            <a:r>
              <a:rPr sz="1050" b="0" i="0">
                <a:solidFill>
                  <a:srgbClr val="1F2A44"/>
                </a:solidFill>
                <a:latin typeface="Calibri"/>
              </a:rPr>
              <a:t> m. supraspinatus motor dalı; </a:t>
            </a:r>
            <a:r>
              <a:rPr sz="1050" b="0" i="0">
                <a:solidFill>
                  <a:srgbClr val="1F2A44"/>
                </a:solidFill>
                <a:latin typeface="Calibri"/>
              </a:rPr>
              <a:t>6</a:t>
            </a:r>
            <a:r>
              <a:rPr sz="1050" b="0" i="0">
                <a:solidFill>
                  <a:srgbClr val="1F2A44"/>
                </a:solidFill>
                <a:latin typeface="Calibri"/>
              </a:rPr>
              <a:t> m. infraspinatus motor dalı</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Sinir tipik olarak ligamentin </a:t>
            </a:r>
            <a:r>
              <a:rPr sz="1050" b="0" i="0">
                <a:solidFill>
                  <a:srgbClr val="1F2A44"/>
                </a:solidFill>
                <a:latin typeface="Calibri"/>
              </a:rPr>
              <a:t>altından</a:t>
            </a:r>
            <a:r>
              <a:rPr sz="1050" b="0" i="0">
                <a:solidFill>
                  <a:srgbClr val="1F2A44"/>
                </a:solidFill>
                <a:latin typeface="Calibri"/>
              </a:rPr>
              <a:t> geçer; bu örnekte motor dallara ayrılma ligamentin proksimalinde gerçekleşmiştir.</a:t>
            </a:r>
          </a:p>
          <a:p>
            <a:pPr algn="l">
              <a:spcAft>
                <a:spcPts val="300"/>
              </a:spcAft>
            </a:pPr>
            <a:r>
              <a:rPr sz="1050" b="0" i="0">
                <a:solidFill>
                  <a:srgbClr val="1F2A44"/>
                </a:solidFill>
                <a:latin typeface="Calibri"/>
              </a:rPr>
              <a:t>• 6 kadavranın 12 omzunun 2 olguda bu proksimal bölünme görülmüştür – sıkışma tablosunun yorumunu değiştirir.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Montané-Blanchart Marta, Miguel-Pérez Maribel, Rodero-de-Lamo Lourdes et al. Variations in the Course and Diameter of the Suprascapular Nerve: Anatomical Study. Int J Environ Res Public Health. 2022 Jun 9;19(12):7065. doi: 10.3390/ijerph19127065 PMCID: PMC9223225.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Spatium axillare laterale – arka ve ön yaklaşım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axillaris ve a. circumflexa humeri posterior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4-00000022619-i04.jpg"/>
          <p:cNvPicPr>
            <a:picLocks noChangeAspect="1"/>
          </p:cNvPicPr>
          <p:nvPr/>
        </p:nvPicPr>
        <p:blipFill>
          <a:blip r:embed="rId2"/>
          <a:stretch>
            <a:fillRect/>
          </a:stretch>
        </p:blipFill>
        <p:spPr>
          <a:xfrm>
            <a:off x="274320" y="1188720"/>
            <a:ext cx="3673864" cy="4673155"/>
          </a:xfrm>
          <a:prstGeom prst="rect">
            <a:avLst/>
          </a:prstGeom>
        </p:spPr>
      </p:pic>
      <p:sp>
        <p:nvSpPr>
          <p:cNvPr id="8" name="TextBox 7"/>
          <p:cNvSpPr txBox="1"/>
          <p:nvPr/>
        </p:nvSpPr>
        <p:spPr>
          <a:xfrm>
            <a:off x="182880" y="5861875"/>
            <a:ext cx="385674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4 – Charmode Sundip ve ark., 2022 (PMC8958867, CC BY)</a:t>
            </a:r>
          </a:p>
        </p:txBody>
      </p:sp>
      <p:pic>
        <p:nvPicPr>
          <p:cNvPr id="9" name="Picture 8" descr="cureus-0014-00000022619-i03.jpg"/>
          <p:cNvPicPr>
            <a:picLocks noChangeAspect="1"/>
          </p:cNvPicPr>
          <p:nvPr/>
        </p:nvPicPr>
        <p:blipFill>
          <a:blip r:embed="rId3"/>
          <a:stretch>
            <a:fillRect/>
          </a:stretch>
        </p:blipFill>
        <p:spPr>
          <a:xfrm>
            <a:off x="4085344" y="1188720"/>
            <a:ext cx="3275575" cy="4673155"/>
          </a:xfrm>
          <a:prstGeom prst="rect">
            <a:avLst/>
          </a:prstGeom>
        </p:spPr>
      </p:pic>
      <p:sp>
        <p:nvSpPr>
          <p:cNvPr id="10" name="TextBox 9"/>
          <p:cNvSpPr txBox="1"/>
          <p:nvPr/>
        </p:nvSpPr>
        <p:spPr>
          <a:xfrm>
            <a:off x="3993904" y="5861875"/>
            <a:ext cx="345845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Charmode Sundip ve ark., 2022 (PMC8958867,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AXN</a:t>
            </a:r>
            <a:r>
              <a:rPr sz="1050" b="0" i="0">
                <a:solidFill>
                  <a:srgbClr val="1F2A44"/>
                </a:solidFill>
                <a:latin typeface="Calibri"/>
              </a:rPr>
              <a:t> n. axillaris; </a:t>
            </a:r>
            <a:r>
              <a:rPr sz="1050" b="0" i="0">
                <a:solidFill>
                  <a:srgbClr val="1F2A44"/>
                </a:solidFill>
                <a:latin typeface="Calibri"/>
              </a:rPr>
              <a:t>PHCA</a:t>
            </a:r>
            <a:r>
              <a:rPr sz="1050" b="0" i="0">
                <a:solidFill>
                  <a:srgbClr val="1F2A44"/>
                </a:solidFill>
                <a:latin typeface="Calibri"/>
              </a:rPr>
              <a:t> a. circumflexa humeri posterior; Deltoid = m. deltoideus; Teres Minor/Major = m. teres minor/major; Long Head of Triceps = caput longum m. tricipitis; Surgical neck… = collum chirurgicum humeri</a:t>
            </a:r>
          </a:p>
          <a:p>
            <a:pPr algn="l">
              <a:spcAft>
                <a:spcPts val="300"/>
              </a:spcAft>
            </a:pPr>
            <a:r>
              <a:rPr sz="1050" b="0" i="0">
                <a:solidFill>
                  <a:srgbClr val="1F2A44"/>
                </a:solidFill>
                <a:latin typeface="Calibri"/>
              </a:rPr>
              <a:t>• Ön yaklaşım: Cephalic vein = v. cephalica; Pectoralis Major; Conjoint tendon = m. coracobrachialis + caput breve m. bicipitis ortak tendonu</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8 ekstremitede arka yaklaşım daha kolay ve hızlı bulunmuş; ön (deltopektoral) yaklaşım ise daha az morbidite ile ilişkilendirilmiştir.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Charmode Sundip, Mehra Simmi, Kushwaha Sudhir Revisiting the Surgical Approaches to Decompression in Quadrilateral Space Syndrome: A Cadaveric Study. Cureus. 2022 Feb 26;14(2):e22619. doi: 10.7759/cureus.22619 PMCID: PMC8958867.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bölgesi – klinik bağlantılar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Topografinin klinik karşılıkları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26A00"/>
          </a:solidFill>
        </p:spPr>
        <p:txBody>
          <a:bodyPr wrap="square" anchor="ctr" lIns="45720" rIns="45720" tIns="18288" bIns="18288">
            <a:spAutoFit/>
          </a:bodyPr>
          <a:lstStyle/>
          <a:p>
            <a:pPr algn="ctr"/>
            <a:r>
              <a:rPr sz="950" b="1" i="0">
                <a:solidFill>
                  <a:srgbClr val="FFFFFF"/>
                </a:solidFill>
                <a:latin typeface="Calibri"/>
              </a:rPr>
              <a:t>KLİNİK BAĞLANTI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Ön omuz çıkığı:</a:t>
            </a:r>
            <a:r>
              <a:rPr sz="1650" b="0" i="0">
                <a:solidFill>
                  <a:srgbClr val="1F2A44"/>
                </a:solidFill>
                <a:latin typeface="Calibri"/>
              </a:rPr>
              <a:t> caput humeri ön-alta yer değiştirir; </a:t>
            </a:r>
            <a:r>
              <a:rPr sz="1650" b="0" i="0">
                <a:solidFill>
                  <a:srgbClr val="1F2A44"/>
                </a:solidFill>
                <a:latin typeface="Calibri"/>
              </a:rPr>
              <a:t>n. axillaris</a:t>
            </a:r>
            <a:r>
              <a:rPr sz="1650" b="0" i="0">
                <a:solidFill>
                  <a:srgbClr val="1F2A44"/>
                </a:solidFill>
                <a:latin typeface="Calibri"/>
              </a:rPr>
              <a:t> gerilerek yaralanabilir → m. deltoideus güçsüzlüğü ve 'polis rozeti' bölgesinde duyu kaybı.</a:t>
            </a:r>
          </a:p>
          <a:p>
            <a:pPr algn="l">
              <a:spcAft>
                <a:spcPts val="300"/>
              </a:spcAft>
            </a:pPr>
            <a:r>
              <a:rPr sz="1650" b="0" i="0">
                <a:solidFill>
                  <a:srgbClr val="1F2A44"/>
                </a:solidFill>
                <a:latin typeface="Calibri"/>
              </a:rPr>
              <a:t>• </a:t>
            </a:r>
            <a:r>
              <a:rPr sz="1650" b="0" i="0">
                <a:solidFill>
                  <a:srgbClr val="1F2A44"/>
                </a:solidFill>
                <a:latin typeface="Calibri"/>
              </a:rPr>
              <a:t>Collum chirurgicum kırığı:</a:t>
            </a:r>
            <a:r>
              <a:rPr sz="1650" b="0" i="0">
                <a:solidFill>
                  <a:srgbClr val="1F2A44"/>
                </a:solidFill>
                <a:latin typeface="Calibri"/>
              </a:rPr>
              <a:t> n. axillaris ve a. circumflexa humeri posterior risk altında.</a:t>
            </a:r>
          </a:p>
          <a:p>
            <a:pPr algn="l">
              <a:spcAft>
                <a:spcPts val="300"/>
              </a:spcAft>
            </a:pPr>
            <a:r>
              <a:rPr sz="1650" b="0" i="0">
                <a:solidFill>
                  <a:srgbClr val="1F2A44"/>
                </a:solidFill>
                <a:latin typeface="Calibri"/>
              </a:rPr>
              <a:t>• </a:t>
            </a:r>
            <a:r>
              <a:rPr sz="1650" b="0" i="0">
                <a:solidFill>
                  <a:srgbClr val="1F2A44"/>
                </a:solidFill>
                <a:latin typeface="Calibri"/>
              </a:rPr>
              <a:t>Üst plexus yaralanması (Erb–Duchenne, C5–C6):</a:t>
            </a:r>
            <a:r>
              <a:rPr sz="1650" b="0" i="0">
                <a:solidFill>
                  <a:srgbClr val="1F2A44"/>
                </a:solidFill>
                <a:latin typeface="Calibri"/>
              </a:rPr>
              <a:t> kol iç rotasyon ve addüksiyonda, önkol pronasyonda – 'garson bahşiş eli'.</a:t>
            </a:r>
          </a:p>
          <a:p>
            <a:pPr algn="l">
              <a:spcAft>
                <a:spcPts val="300"/>
              </a:spcAft>
            </a:pPr>
            <a:r>
              <a:rPr sz="1650" b="0" i="0">
                <a:solidFill>
                  <a:srgbClr val="1F2A44"/>
                </a:solidFill>
                <a:latin typeface="Calibri"/>
              </a:rPr>
              <a:t>• </a:t>
            </a:r>
            <a:r>
              <a:rPr sz="1650" b="0" i="0">
                <a:solidFill>
                  <a:srgbClr val="1F2A44"/>
                </a:solidFill>
                <a:latin typeface="Calibri"/>
              </a:rPr>
              <a:t>Alt plexus yaralanması (Klumpke, C8–T1):</a:t>
            </a:r>
            <a:r>
              <a:rPr sz="1650" b="0" i="0">
                <a:solidFill>
                  <a:srgbClr val="1F2A44"/>
                </a:solidFill>
                <a:latin typeface="Calibri"/>
              </a:rPr>
              <a:t> el intrinsik kas felci, pençe el; T1 tutulursa Horner sendromu eşlik edebilir.</a:t>
            </a:r>
          </a:p>
          <a:p>
            <a:pPr algn="l">
              <a:spcAft>
                <a:spcPts val="300"/>
              </a:spcAft>
            </a:pPr>
            <a:r>
              <a:rPr sz="1650" b="0" i="0">
                <a:solidFill>
                  <a:srgbClr val="1F2A44"/>
                </a:solidFill>
                <a:latin typeface="Calibri"/>
              </a:rPr>
              <a:t>• </a:t>
            </a:r>
            <a:r>
              <a:rPr sz="1650" b="0" i="0">
                <a:solidFill>
                  <a:srgbClr val="1F2A44"/>
                </a:solidFill>
                <a:latin typeface="Calibri"/>
              </a:rPr>
              <a:t>Kanatlı skapula:</a:t>
            </a:r>
            <a:r>
              <a:rPr sz="1650" b="0" i="0">
                <a:solidFill>
                  <a:srgbClr val="1F2A44"/>
                </a:solidFill>
                <a:latin typeface="Calibri"/>
              </a:rPr>
              <a:t> n. thoracicus longus hasarı (aksiller cerrahi, mastektomi) → m. serratus anterior felci.</a:t>
            </a:r>
          </a:p>
          <a:p>
            <a:pPr algn="l">
              <a:spcAft>
                <a:spcPts val="300"/>
              </a:spcAft>
            </a:pPr>
            <a:r>
              <a:rPr sz="1650" b="0" i="0">
                <a:solidFill>
                  <a:srgbClr val="1F2A44"/>
                </a:solidFill>
                <a:latin typeface="Calibri"/>
              </a:rPr>
              <a:t>• </a:t>
            </a:r>
            <a:r>
              <a:rPr sz="1650" b="0" i="0">
                <a:solidFill>
                  <a:srgbClr val="1F2A44"/>
                </a:solidFill>
                <a:latin typeface="Calibri"/>
              </a:rPr>
              <a:t>Aksiller lenf nodu diseksiyonu:</a:t>
            </a:r>
            <a:r>
              <a:rPr sz="1650" b="0" i="0">
                <a:solidFill>
                  <a:srgbClr val="1F2A44"/>
                </a:solidFill>
                <a:latin typeface="Calibri"/>
              </a:rPr>
              <a:t> n. thoracicus longus ve n. thoracodorsalis korunmalıdır; aksiller kemer kası (Langer) varlığı diseksiyonu yanıltabilir.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bölgesi varyasyonları – literatür taraması (1/2)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84632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07720">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07720">
                <a:tc>
                  <a:txBody>
                    <a:bodyPr/>
                    <a:lstStyle/>
                    <a:p>
                      <a:r>
                        <a:rPr sz="1150" b="1">
                          <a:solidFill>
                            <a:srgbClr val="1F2A44"/>
                          </a:solidFill>
                          <a:latin typeface="Calibri"/>
                        </a:rPr>
                        <a:t>M. arcus axillaris (Langer)</a:t>
                      </a:r>
                    </a:p>
                  </a:txBody>
                  <a:tcPr>
                    <a:solidFill>
                      <a:srgbClr val="F3F4F6"/>
                    </a:solidFill>
                  </a:tcPr>
                </a:tc>
                <a:tc>
                  <a:txBody>
                    <a:bodyPr/>
                    <a:lstStyle/>
                    <a:p>
                      <a:r>
                        <a:rPr sz="1150" b="0">
                          <a:solidFill>
                            <a:srgbClr val="1F2A44"/>
                          </a:solidFill>
                          <a:latin typeface="Calibri"/>
                        </a:rPr>
                        <a:t>Ara &amp; Fakoya 2025</a:t>
                      </a:r>
                    </a:p>
                  </a:txBody>
                  <a:tcPr>
                    <a:solidFill>
                      <a:srgbClr val="F3F4F6"/>
                    </a:solidFill>
                  </a:tcPr>
                </a:tc>
                <a:tc>
                  <a:txBody>
                    <a:bodyPr/>
                    <a:lstStyle/>
                    <a:p>
                      <a:r>
                        <a:rPr sz="1150" b="0">
                          <a:solidFill>
                            <a:srgbClr val="1F2A44"/>
                          </a:solidFill>
                          <a:latin typeface="Calibri"/>
                        </a:rPr>
                        <a:t>1 kadavra (bilateral)</a:t>
                      </a:r>
                    </a:p>
                  </a:txBody>
                  <a:tcPr>
                    <a:solidFill>
                      <a:srgbClr val="F3F4F6"/>
                    </a:solidFill>
                  </a:tcPr>
                </a:tc>
                <a:tc>
                  <a:txBody>
                    <a:bodyPr/>
                    <a:lstStyle/>
                    <a:p>
                      <a:r>
                        <a:rPr sz="1150" b="0">
                          <a:solidFill>
                            <a:srgbClr val="1F2A44"/>
                          </a:solidFill>
                          <a:latin typeface="Calibri"/>
                        </a:rPr>
                        <a:t>Sağda m. biceps caput breve + deltoid + coracobrachialis'e, solda fasyaya yapışma</a:t>
                      </a:r>
                    </a:p>
                  </a:txBody>
                  <a:tcPr>
                    <a:solidFill>
                      <a:srgbClr val="F3F4F6"/>
                    </a:solidFill>
                  </a:tcPr>
                </a:tc>
                <a:tc>
                  <a:txBody>
                    <a:bodyPr/>
                    <a:lstStyle/>
                    <a:p>
                      <a:r>
                        <a:rPr sz="1150" b="0">
                          <a:solidFill>
                            <a:srgbClr val="1F2A44"/>
                          </a:solidFill>
                          <a:latin typeface="Calibri"/>
                        </a:rPr>
                        <a:t>Aksiller damar–sinir basısı; aksiller diseksiyonda yanıltıcı</a:t>
                      </a:r>
                    </a:p>
                  </a:txBody>
                  <a:tcPr>
                    <a:solidFill>
                      <a:srgbClr val="F3F4F6"/>
                    </a:solidFill>
                  </a:tcPr>
                </a:tc>
              </a:tr>
              <a:tr h="807720">
                <a:tc>
                  <a:txBody>
                    <a:bodyPr/>
                    <a:lstStyle/>
                    <a:p>
                      <a:r>
                        <a:rPr sz="1150" b="1">
                          <a:solidFill>
                            <a:srgbClr val="1F2A44"/>
                          </a:solidFill>
                          <a:latin typeface="Calibri"/>
                        </a:rPr>
                        <a:t>A. axillaris dal düzeni</a:t>
                      </a:r>
                    </a:p>
                  </a:txBody>
                  <a:tcPr>
                    <a:solidFill>
                      <a:srgbClr val="FFFFFF"/>
                    </a:solidFill>
                  </a:tcPr>
                </a:tc>
                <a:tc>
                  <a:txBody>
                    <a:bodyPr/>
                    <a:lstStyle/>
                    <a:p>
                      <a:r>
                        <a:rPr sz="1150" b="0">
                          <a:solidFill>
                            <a:srgbClr val="1F2A44"/>
                          </a:solidFill>
                          <a:latin typeface="Calibri"/>
                        </a:rPr>
                        <a:t>Konarik ve ark. 2020</a:t>
                      </a:r>
                    </a:p>
                  </a:txBody>
                  <a:tcPr>
                    <a:solidFill>
                      <a:srgbClr val="FFFFFF"/>
                    </a:solidFill>
                  </a:tcPr>
                </a:tc>
                <a:tc>
                  <a:txBody>
                    <a:bodyPr/>
                    <a:lstStyle/>
                    <a:p>
                      <a:r>
                        <a:rPr sz="1150" b="0">
                          <a:solidFill>
                            <a:srgbClr val="1F2A44"/>
                          </a:solidFill>
                          <a:latin typeface="Calibri"/>
                        </a:rPr>
                        <a:t>423 ekstremite</a:t>
                      </a:r>
                    </a:p>
                  </a:txBody>
                  <a:tcPr>
                    <a:solidFill>
                      <a:srgbClr val="FFFFFF"/>
                    </a:solidFill>
                  </a:tcPr>
                </a:tc>
                <a:tc>
                  <a:txBody>
                    <a:bodyPr/>
                    <a:lstStyle/>
                    <a:p>
                      <a:r>
                        <a:rPr sz="1150" b="0">
                          <a:solidFill>
                            <a:srgbClr val="1F2A44"/>
                          </a:solidFill>
                          <a:latin typeface="Calibri"/>
                        </a:rPr>
                        <a:t>Truncus subscapulocircumflexus %22,9; profundocircumflexus %13,75; bicircumflexus %13,95; aberran a. thoracodorsalis %5,91</a:t>
                      </a:r>
                    </a:p>
                  </a:txBody>
                  <a:tcPr>
                    <a:solidFill>
                      <a:srgbClr val="FFFFFF"/>
                    </a:solidFill>
                  </a:tcPr>
                </a:tc>
                <a:tc>
                  <a:txBody>
                    <a:bodyPr/>
                    <a:lstStyle/>
                    <a:p>
                      <a:r>
                        <a:rPr sz="1150" b="0">
                          <a:solidFill>
                            <a:srgbClr val="1F2A44"/>
                          </a:solidFill>
                          <a:latin typeface="Calibri"/>
                        </a:rPr>
                        <a:t>Kateterizasyon ve flep planlaması</a:t>
                      </a:r>
                    </a:p>
                  </a:txBody>
                  <a:tcPr>
                    <a:solidFill>
                      <a:srgbClr val="FFFFFF"/>
                    </a:solidFill>
                  </a:tcPr>
                </a:tc>
              </a:tr>
              <a:tr h="807720">
                <a:tc>
                  <a:txBody>
                    <a:bodyPr/>
                    <a:lstStyle/>
                    <a:p>
                      <a:r>
                        <a:rPr sz="1150" b="1">
                          <a:solidFill>
                            <a:srgbClr val="1F2A44"/>
                          </a:solidFill>
                          <a:latin typeface="Calibri"/>
                        </a:rPr>
                        <a:t>A. axillaris seyri/dalları</a:t>
                      </a:r>
                    </a:p>
                  </a:txBody>
                  <a:tcPr>
                    <a:solidFill>
                      <a:srgbClr val="F3F4F6"/>
                    </a:solidFill>
                  </a:tcPr>
                </a:tc>
                <a:tc>
                  <a:txBody>
                    <a:bodyPr/>
                    <a:lstStyle/>
                    <a:p>
                      <a:r>
                        <a:rPr sz="1150" b="0">
                          <a:solidFill>
                            <a:srgbClr val="1F2A44"/>
                          </a:solidFill>
                          <a:latin typeface="Calibri"/>
                        </a:rPr>
                        <a:t>Oza ve ark. 2023</a:t>
                      </a:r>
                    </a:p>
                  </a:txBody>
                  <a:tcPr>
                    <a:solidFill>
                      <a:srgbClr val="F3F4F6"/>
                    </a:solidFill>
                  </a:tcPr>
                </a:tc>
                <a:tc>
                  <a:txBody>
                    <a:bodyPr/>
                    <a:lstStyle/>
                    <a:p>
                      <a:r>
                        <a:rPr sz="1150" b="0">
                          <a:solidFill>
                            <a:srgbClr val="1F2A44"/>
                          </a:solidFill>
                          <a:latin typeface="Calibri"/>
                        </a:rPr>
                        <a:t>1 donör</a:t>
                      </a:r>
                    </a:p>
                  </a:txBody>
                  <a:tcPr>
                    <a:solidFill>
                      <a:srgbClr val="F3F4F6"/>
                    </a:solidFill>
                  </a:tcPr>
                </a:tc>
                <a:tc>
                  <a:txBody>
                    <a:bodyPr/>
                    <a:lstStyle/>
                    <a:p>
                      <a:r>
                        <a:rPr sz="1150" b="0">
                          <a:solidFill>
                            <a:srgbClr val="1F2A44"/>
                          </a:solidFill>
                          <a:latin typeface="Calibri"/>
                        </a:rPr>
                        <a:t>Plexus'a göre anteromedial seyir; 2. bölümden 4 dal, 3. bölümden dal yok</a:t>
                      </a:r>
                    </a:p>
                  </a:txBody>
                  <a:tcPr>
                    <a:solidFill>
                      <a:srgbClr val="F3F4F6"/>
                    </a:solidFill>
                  </a:tcPr>
                </a:tc>
                <a:tc>
                  <a:txBody>
                    <a:bodyPr/>
                    <a:lstStyle/>
                    <a:p>
                      <a:r>
                        <a:rPr sz="1150" b="0">
                          <a:solidFill>
                            <a:srgbClr val="1F2A44"/>
                          </a:solidFill>
                          <a:latin typeface="Calibri"/>
                        </a:rPr>
                        <a:t>Aksiller blok ve cerrahi</a:t>
                      </a:r>
                    </a:p>
                  </a:txBody>
                  <a:tcPr>
                    <a:solidFill>
                      <a:srgbClr val="F3F4F6"/>
                    </a:solidFill>
                  </a:tcPr>
                </a:tc>
              </a:tr>
              <a:tr h="807720">
                <a:tc>
                  <a:txBody>
                    <a:bodyPr/>
                    <a:lstStyle/>
                    <a:p>
                      <a:r>
                        <a:rPr sz="1150" b="1">
                          <a:solidFill>
                            <a:srgbClr val="1F2A44"/>
                          </a:solidFill>
                          <a:latin typeface="Calibri"/>
                        </a:rPr>
                        <a:t>A. dorsalis scapulae kökeni</a:t>
                      </a:r>
                    </a:p>
                  </a:txBody>
                  <a:tcPr>
                    <a:solidFill>
                      <a:srgbClr val="FFFFFF"/>
                    </a:solidFill>
                  </a:tcPr>
                </a:tc>
                <a:tc>
                  <a:txBody>
                    <a:bodyPr/>
                    <a:lstStyle/>
                    <a:p>
                      <a:r>
                        <a:rPr sz="1150" b="0">
                          <a:solidFill>
                            <a:srgbClr val="1F2A44"/>
                          </a:solidFill>
                          <a:latin typeface="Calibri"/>
                        </a:rPr>
                        <a:t>Lai &amp; Ho 2023</a:t>
                      </a:r>
                    </a:p>
                  </a:txBody>
                  <a:tcPr>
                    <a:solidFill>
                      <a:srgbClr val="FFFFFF"/>
                    </a:solidFill>
                  </a:tcPr>
                </a:tc>
                <a:tc>
                  <a:txBody>
                    <a:bodyPr/>
                    <a:lstStyle/>
                    <a:p>
                      <a:r>
                        <a:rPr sz="1150" b="0">
                          <a:solidFill>
                            <a:srgbClr val="1F2A44"/>
                          </a:solidFill>
                          <a:latin typeface="Calibri"/>
                        </a:rPr>
                        <a:t>79 taraf (41 kadavra)</a:t>
                      </a:r>
                    </a:p>
                  </a:txBody>
                  <a:tcPr>
                    <a:solidFill>
                      <a:srgbClr val="FFFFFF"/>
                    </a:solidFill>
                  </a:tcPr>
                </a:tc>
                <a:tc>
                  <a:txBody>
                    <a:bodyPr/>
                    <a:lstStyle/>
                    <a:p>
                      <a:r>
                        <a:rPr sz="1150" b="0">
                          <a:solidFill>
                            <a:srgbClr val="1F2A44"/>
                          </a:solidFill>
                          <a:latin typeface="Calibri"/>
                        </a:rPr>
                        <a:t>a. transversa cervicis %48; a. subclavia 3. bölüm %25, 2. bölüm %22; a. axillaris %5</a:t>
                      </a:r>
                    </a:p>
                  </a:txBody>
                  <a:tcPr>
                    <a:solidFill>
                      <a:srgbClr val="FFFFFF"/>
                    </a:solidFill>
                  </a:tcPr>
                </a:tc>
                <a:tc>
                  <a:txBody>
                    <a:bodyPr/>
                    <a:lstStyle/>
                    <a:p>
                      <a:r>
                        <a:rPr sz="1150" b="0">
                          <a:solidFill>
                            <a:srgbClr val="1F2A44"/>
                          </a:solidFill>
                          <a:latin typeface="Calibri"/>
                        </a:rPr>
                        <a:t>Supraklaviküler blok, flep cerrahisi</a:t>
                      </a:r>
                    </a:p>
                  </a:txBody>
                  <a:tcPr>
                    <a:solidFill>
                      <a:srgbClr val="FFFFFF"/>
                    </a:solidFill>
                  </a:tcPr>
                </a:tc>
              </a:tr>
              <a:tr h="807720">
                <a:tc>
                  <a:txBody>
                    <a:bodyPr/>
                    <a:lstStyle/>
                    <a:p>
                      <a:r>
                        <a:rPr sz="1150" b="1">
                          <a:solidFill>
                            <a:srgbClr val="1F2A44"/>
                          </a:solidFill>
                          <a:latin typeface="Calibri"/>
                        </a:rPr>
                        <a:t>Fasciculus posterior varyasyonları</a:t>
                      </a:r>
                    </a:p>
                  </a:txBody>
                  <a:tcPr>
                    <a:solidFill>
                      <a:srgbClr val="F3F4F6"/>
                    </a:solidFill>
                  </a:tcPr>
                </a:tc>
                <a:tc>
                  <a:txBody>
                    <a:bodyPr/>
                    <a:lstStyle/>
                    <a:p>
                      <a:r>
                        <a:rPr sz="1150" b="0">
                          <a:solidFill>
                            <a:srgbClr val="1F2A44"/>
                          </a:solidFill>
                          <a:latin typeface="Calibri"/>
                        </a:rPr>
                        <a:t>Rastogi ve ark. 2013</a:t>
                      </a:r>
                    </a:p>
                  </a:txBody>
                  <a:tcPr>
                    <a:solidFill>
                      <a:srgbClr val="F3F4F6"/>
                    </a:solidFill>
                  </a:tcPr>
                </a:tc>
                <a:tc>
                  <a:txBody>
                    <a:bodyPr/>
                    <a:lstStyle/>
                    <a:p>
                      <a:r>
                        <a:rPr sz="1150" b="0">
                          <a:solidFill>
                            <a:srgbClr val="1F2A44"/>
                          </a:solidFill>
                          <a:latin typeface="Calibri"/>
                        </a:rPr>
                        <a:t>74 ekstremite</a:t>
                      </a:r>
                    </a:p>
                  </a:txBody>
                  <a:tcPr>
                    <a:solidFill>
                      <a:srgbClr val="F3F4F6"/>
                    </a:solidFill>
                  </a:tcPr>
                </a:tc>
                <a:tc>
                  <a:txBody>
                    <a:bodyPr/>
                    <a:lstStyle/>
                    <a:p>
                      <a:r>
                        <a:rPr sz="1150" b="0">
                          <a:solidFill>
                            <a:srgbClr val="1F2A44"/>
                          </a:solidFill>
                          <a:latin typeface="Calibri"/>
                        </a:rPr>
                        <a:t>N. axillaris truncus superior arka divisiosundan %10,8; n. thoracodorsalis n. axillaris'ten %22,9</a:t>
                      </a:r>
                    </a:p>
                  </a:txBody>
                  <a:tcPr>
                    <a:solidFill>
                      <a:srgbClr val="F3F4F6"/>
                    </a:solidFill>
                  </a:tcPr>
                </a:tc>
                <a:tc>
                  <a:txBody>
                    <a:bodyPr/>
                    <a:lstStyle/>
                    <a:p>
                      <a:r>
                        <a:rPr sz="1150" b="0">
                          <a:solidFill>
                            <a:srgbClr val="1F2A44"/>
                          </a:solidFill>
                          <a:latin typeface="Calibri"/>
                        </a:rPr>
                        <a:t>Aksilla cerrahisinde sinir yaralanması</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Omuz bölgesi varyasyonları – literatür taraması (2/2)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06908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13816">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13816">
                <a:tc>
                  <a:txBody>
                    <a:bodyPr/>
                    <a:lstStyle/>
                    <a:p>
                      <a:r>
                        <a:rPr sz="1150" b="1">
                          <a:solidFill>
                            <a:srgbClr val="1F2A44"/>
                          </a:solidFill>
                          <a:latin typeface="Calibri"/>
                        </a:rPr>
                        <a:t>Aksesuar n. subscapularis</a:t>
                      </a:r>
                    </a:p>
                  </a:txBody>
                  <a:tcPr>
                    <a:solidFill>
                      <a:srgbClr val="F3F4F6"/>
                    </a:solidFill>
                  </a:tcPr>
                </a:tc>
                <a:tc>
                  <a:txBody>
                    <a:bodyPr/>
                    <a:lstStyle/>
                    <a:p>
                      <a:r>
                        <a:rPr sz="1150" b="0">
                          <a:solidFill>
                            <a:srgbClr val="1F2A44"/>
                          </a:solidFill>
                          <a:latin typeface="Calibri"/>
                        </a:rPr>
                        <a:t>Siwetz ve ark. 2020</a:t>
                      </a:r>
                    </a:p>
                  </a:txBody>
                  <a:tcPr>
                    <a:solidFill>
                      <a:srgbClr val="F3F4F6"/>
                    </a:solidFill>
                  </a:tcPr>
                </a:tc>
                <a:tc>
                  <a:txBody>
                    <a:bodyPr/>
                    <a:lstStyle/>
                    <a:p>
                      <a:r>
                        <a:rPr sz="1150" b="0">
                          <a:solidFill>
                            <a:srgbClr val="1F2A44"/>
                          </a:solidFill>
                          <a:latin typeface="Calibri"/>
                        </a:rPr>
                        <a:t>31 örnek</a:t>
                      </a:r>
                    </a:p>
                  </a:txBody>
                  <a:tcPr>
                    <a:solidFill>
                      <a:srgbClr val="F3F4F6"/>
                    </a:solidFill>
                  </a:tcPr>
                </a:tc>
                <a:tc>
                  <a:txBody>
                    <a:bodyPr/>
                    <a:lstStyle/>
                    <a:p>
                      <a:r>
                        <a:rPr sz="1150" b="0">
                          <a:solidFill>
                            <a:srgbClr val="1F2A44"/>
                          </a:solidFill>
                          <a:latin typeface="Calibri"/>
                        </a:rPr>
                        <a:t>Aksesuar üst n. subscapularis %9,7</a:t>
                      </a:r>
                    </a:p>
                  </a:txBody>
                  <a:tcPr>
                    <a:solidFill>
                      <a:srgbClr val="F3F4F6"/>
                    </a:solidFill>
                  </a:tcPr>
                </a:tc>
                <a:tc>
                  <a:txBody>
                    <a:bodyPr/>
                    <a:lstStyle/>
                    <a:p>
                      <a:r>
                        <a:rPr sz="1150" b="0">
                          <a:solidFill>
                            <a:srgbClr val="1F2A44"/>
                          </a:solidFill>
                          <a:latin typeface="Calibri"/>
                        </a:rPr>
                        <a:t>Cerrahi, blok, görüntüleme</a:t>
                      </a:r>
                    </a:p>
                  </a:txBody>
                  <a:tcPr>
                    <a:solidFill>
                      <a:srgbClr val="F3F4F6"/>
                    </a:solidFill>
                  </a:tcPr>
                </a:tc>
              </a:tr>
              <a:tr h="813816">
                <a:tc>
                  <a:txBody>
                    <a:bodyPr/>
                    <a:lstStyle/>
                    <a:p>
                      <a:r>
                        <a:rPr sz="1150" b="1">
                          <a:solidFill>
                            <a:srgbClr val="1F2A44"/>
                          </a:solidFill>
                          <a:latin typeface="Calibri"/>
                        </a:rPr>
                        <a:t>N. medianus kök varyasyonları</a:t>
                      </a:r>
                    </a:p>
                  </a:txBody>
                  <a:tcPr>
                    <a:solidFill>
                      <a:srgbClr val="FFFFFF"/>
                    </a:solidFill>
                  </a:tcPr>
                </a:tc>
                <a:tc>
                  <a:txBody>
                    <a:bodyPr/>
                    <a:lstStyle/>
                    <a:p>
                      <a:r>
                        <a:rPr sz="1150" b="0">
                          <a:solidFill>
                            <a:srgbClr val="1F2A44"/>
                          </a:solidFill>
                          <a:latin typeface="Calibri"/>
                        </a:rPr>
                        <a:t>Bozhikova ve ark. 2025</a:t>
                      </a:r>
                    </a:p>
                  </a:txBody>
                  <a:tcPr>
                    <a:solidFill>
                      <a:srgbClr val="FFFFFF"/>
                    </a:solidFill>
                  </a:tcPr>
                </a:tc>
                <a:tc>
                  <a:txBody>
                    <a:bodyPr/>
                    <a:lstStyle/>
                    <a:p>
                      <a:r>
                        <a:rPr sz="1150" b="0">
                          <a:solidFill>
                            <a:srgbClr val="1F2A44"/>
                          </a:solidFill>
                          <a:latin typeface="Calibri"/>
                        </a:rPr>
                        <a:t>36 ekstremite</a:t>
                      </a:r>
                    </a:p>
                  </a:txBody>
                  <a:tcPr>
                    <a:solidFill>
                      <a:srgbClr val="FFFFFF"/>
                    </a:solidFill>
                  </a:tcPr>
                </a:tc>
                <a:tc>
                  <a:txBody>
                    <a:bodyPr/>
                    <a:lstStyle/>
                    <a:p>
                      <a:r>
                        <a:rPr sz="1150" b="0">
                          <a:solidFill>
                            <a:srgbClr val="1F2A44"/>
                          </a:solidFill>
                          <a:latin typeface="Calibri"/>
                        </a:rPr>
                        <a:t>Plexus varyasyonu %44,4 (16/36); bilateral %77,8</a:t>
                      </a:r>
                    </a:p>
                  </a:txBody>
                  <a:tcPr>
                    <a:solidFill>
                      <a:srgbClr val="FFFFFF"/>
                    </a:solidFill>
                  </a:tcPr>
                </a:tc>
                <a:tc>
                  <a:txBody>
                    <a:bodyPr/>
                    <a:lstStyle/>
                    <a:p>
                      <a:r>
                        <a:rPr sz="1150" b="0">
                          <a:solidFill>
                            <a:srgbClr val="1F2A44"/>
                          </a:solidFill>
                          <a:latin typeface="Calibri"/>
                        </a:rPr>
                        <a:t>Aksiller cerrahi ve blok</a:t>
                      </a:r>
                    </a:p>
                  </a:txBody>
                  <a:tcPr>
                    <a:solidFill>
                      <a:srgbClr val="FFFFFF"/>
                    </a:solidFill>
                  </a:tcPr>
                </a:tc>
              </a:tr>
              <a:tr h="813816">
                <a:tc>
                  <a:txBody>
                    <a:bodyPr/>
                    <a:lstStyle/>
                    <a:p>
                      <a:r>
                        <a:rPr sz="1150" b="1">
                          <a:solidFill>
                            <a:srgbClr val="1F2A44"/>
                          </a:solidFill>
                          <a:latin typeface="Calibri"/>
                        </a:rPr>
                        <a:t>Ektopik m. pectoralis minor tendonu</a:t>
                      </a:r>
                    </a:p>
                  </a:txBody>
                  <a:tcPr>
                    <a:solidFill>
                      <a:srgbClr val="F3F4F6"/>
                    </a:solidFill>
                  </a:tcPr>
                </a:tc>
                <a:tc>
                  <a:txBody>
                    <a:bodyPr/>
                    <a:lstStyle/>
                    <a:p>
                      <a:r>
                        <a:rPr sz="1150" b="0">
                          <a:solidFill>
                            <a:srgbClr val="1F2A44"/>
                          </a:solidFill>
                          <a:latin typeface="Calibri"/>
                        </a:rPr>
                        <a:t>Schwarz &amp; Hirtler 2019</a:t>
                      </a:r>
                    </a:p>
                  </a:txBody>
                  <a:tcPr>
                    <a:solidFill>
                      <a:srgbClr val="F3F4F6"/>
                    </a:solidFill>
                  </a:tcPr>
                </a:tc>
                <a:tc>
                  <a:txBody>
                    <a:bodyPr/>
                    <a:lstStyle/>
                    <a:p>
                      <a:r>
                        <a:rPr sz="1150" b="0">
                          <a:solidFill>
                            <a:srgbClr val="1F2A44"/>
                          </a:solidFill>
                          <a:latin typeface="Calibri"/>
                        </a:rPr>
                        <a:t>45 omuz</a:t>
                      </a:r>
                    </a:p>
                  </a:txBody>
                  <a:tcPr>
                    <a:solidFill>
                      <a:srgbClr val="F3F4F6"/>
                    </a:solidFill>
                  </a:tcPr>
                </a:tc>
                <a:tc>
                  <a:txBody>
                    <a:bodyPr/>
                    <a:lstStyle/>
                    <a:p>
                      <a:r>
                        <a:rPr sz="1150" b="0">
                          <a:solidFill>
                            <a:srgbClr val="1F2A44"/>
                          </a:solidFill>
                          <a:latin typeface="Calibri"/>
                        </a:rPr>
                        <a:t>Varyasyon prevalansı %37,84</a:t>
                      </a:r>
                    </a:p>
                  </a:txBody>
                  <a:tcPr>
                    <a:solidFill>
                      <a:srgbClr val="F3F4F6"/>
                    </a:solidFill>
                  </a:tcPr>
                </a:tc>
                <a:tc>
                  <a:txBody>
                    <a:bodyPr/>
                    <a:lstStyle/>
                    <a:p>
                      <a:r>
                        <a:rPr sz="1150" b="0">
                          <a:solidFill>
                            <a:srgbClr val="1F2A44"/>
                          </a:solidFill>
                          <a:latin typeface="Calibri"/>
                        </a:rPr>
                        <a:t>Açıklanamayan omuz ağrısı/hareket kısıtlılığı</a:t>
                      </a:r>
                    </a:p>
                  </a:txBody>
                  <a:tcPr>
                    <a:solidFill>
                      <a:srgbClr val="F3F4F6"/>
                    </a:solidFill>
                  </a:tcPr>
                </a:tc>
              </a:tr>
              <a:tr h="813816">
                <a:tc>
                  <a:txBody>
                    <a:bodyPr/>
                    <a:lstStyle/>
                    <a:p>
                      <a:r>
                        <a:rPr sz="1150" b="1">
                          <a:solidFill>
                            <a:srgbClr val="1F2A44"/>
                          </a:solidFill>
                          <a:latin typeface="Calibri"/>
                        </a:rPr>
                        <a:t>Incisura scapulae tipi / lig. kemikleşmesi</a:t>
                      </a:r>
                    </a:p>
                  </a:txBody>
                  <a:tcPr>
                    <a:solidFill>
                      <a:srgbClr val="FFFFFF"/>
                    </a:solidFill>
                  </a:tcPr>
                </a:tc>
                <a:tc>
                  <a:txBody>
                    <a:bodyPr/>
                    <a:lstStyle/>
                    <a:p>
                      <a:r>
                        <a:rPr sz="1150" b="0">
                          <a:solidFill>
                            <a:srgbClr val="1F2A44"/>
                          </a:solidFill>
                          <a:latin typeface="Calibri"/>
                        </a:rPr>
                        <a:t>Polguj ve ark. 2014; Adewale ve ark. 2020</a:t>
                      </a:r>
                    </a:p>
                  </a:txBody>
                  <a:tcPr>
                    <a:solidFill>
                      <a:srgbClr val="FFFFFF"/>
                    </a:solidFill>
                  </a:tcPr>
                </a:tc>
                <a:tc>
                  <a:txBody>
                    <a:bodyPr/>
                    <a:lstStyle/>
                    <a:p>
                      <a:r>
                        <a:rPr sz="1150" b="0">
                          <a:solidFill>
                            <a:srgbClr val="1F2A44"/>
                          </a:solidFill>
                          <a:latin typeface="Calibri"/>
                        </a:rPr>
                        <a:t>106 omuz; 50 kuru skapula</a:t>
                      </a:r>
                    </a:p>
                  </a:txBody>
                  <a:tcPr>
                    <a:solidFill>
                      <a:srgbClr val="FFFFFF"/>
                    </a:solidFill>
                  </a:tcPr>
                </a:tc>
                <a:tc>
                  <a:txBody>
                    <a:bodyPr/>
                    <a:lstStyle/>
                    <a:p>
                      <a:r>
                        <a:rPr sz="1150" b="0">
                          <a:solidFill>
                            <a:srgbClr val="1F2A44"/>
                          </a:solidFill>
                          <a:latin typeface="Calibri"/>
                        </a:rPr>
                        <a:t>Tip I damar–sinir düzeni %61,3; ligament tam kemikleşmesi %8</a:t>
                      </a:r>
                    </a:p>
                  </a:txBody>
                  <a:tcPr>
                    <a:solidFill>
                      <a:srgbClr val="FFFFFF"/>
                    </a:solidFill>
                  </a:tcPr>
                </a:tc>
                <a:tc>
                  <a:txBody>
                    <a:bodyPr/>
                    <a:lstStyle/>
                    <a:p>
                      <a:r>
                        <a:rPr sz="1150" b="0">
                          <a:solidFill>
                            <a:srgbClr val="1F2A44"/>
                          </a:solidFill>
                          <a:latin typeface="Calibri"/>
                        </a:rPr>
                        <a:t>N. suprascapularis sıkışması</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arcus axillaris (Langer kası)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Ara &amp; Fakoya, Cureus 2025 – bilateral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7-00000085096-i01.jpg"/>
          <p:cNvPicPr>
            <a:picLocks noChangeAspect="1"/>
          </p:cNvPicPr>
          <p:nvPr/>
        </p:nvPicPr>
        <p:blipFill>
          <a:blip r:embed="rId2"/>
          <a:stretch>
            <a:fillRect/>
          </a:stretch>
        </p:blipFill>
        <p:spPr>
          <a:xfrm>
            <a:off x="274320" y="1188720"/>
            <a:ext cx="3483597" cy="4533321"/>
          </a:xfrm>
          <a:prstGeom prst="rect">
            <a:avLst/>
          </a:prstGeom>
        </p:spPr>
      </p:pic>
      <p:sp>
        <p:nvSpPr>
          <p:cNvPr id="8" name="TextBox 7"/>
          <p:cNvSpPr txBox="1"/>
          <p:nvPr/>
        </p:nvSpPr>
        <p:spPr>
          <a:xfrm>
            <a:off x="182879" y="5722041"/>
            <a:ext cx="366647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Ara Hosne ve ark., 2025 (PMC12206543, CC BY)</a:t>
            </a:r>
          </a:p>
        </p:txBody>
      </p:sp>
      <p:pic>
        <p:nvPicPr>
          <p:cNvPr id="9" name="Picture 8" descr="cureus-0017-00000085096-i02.jpg"/>
          <p:cNvPicPr>
            <a:picLocks noChangeAspect="1"/>
          </p:cNvPicPr>
          <p:nvPr/>
        </p:nvPicPr>
        <p:blipFill>
          <a:blip r:embed="rId3"/>
          <a:stretch>
            <a:fillRect/>
          </a:stretch>
        </p:blipFill>
        <p:spPr>
          <a:xfrm>
            <a:off x="3895077" y="1188720"/>
            <a:ext cx="3465842" cy="4533321"/>
          </a:xfrm>
          <a:prstGeom prst="rect">
            <a:avLst/>
          </a:prstGeom>
        </p:spPr>
      </p:pic>
      <p:sp>
        <p:nvSpPr>
          <p:cNvPr id="10" name="TextBox 9"/>
          <p:cNvSpPr txBox="1"/>
          <p:nvPr/>
        </p:nvSpPr>
        <p:spPr>
          <a:xfrm>
            <a:off x="3803637" y="5722041"/>
            <a:ext cx="364872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Ara Hosne ve ark., 2025 (PMC12206543,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Axillary arch = m. arcus axillaris; Latissimus Dorsi = m. latissimus dorsi; Short head of biceps = caput breve m. bicipitis; Coracobrachialis; Deltoid</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Kemer m. latissimus dorsi'nin ön kenarından başlar, a. axillaris ve plexus dallarının </a:t>
            </a:r>
            <a:r>
              <a:rPr sz="1050" b="0" i="0">
                <a:solidFill>
                  <a:srgbClr val="1F2A44"/>
                </a:solidFill>
                <a:latin typeface="Calibri"/>
              </a:rPr>
              <a:t>önünden</a:t>
            </a:r>
            <a:r>
              <a:rPr sz="1050" b="0" i="0">
                <a:solidFill>
                  <a:srgbClr val="1F2A44"/>
                </a:solidFill>
                <a:latin typeface="Calibri"/>
              </a:rPr>
              <a:t> geçer.</a:t>
            </a:r>
          </a:p>
          <a:p>
            <a:pPr algn="l">
              <a:spcAft>
                <a:spcPts val="300"/>
              </a:spcAft>
            </a:pPr>
            <a:r>
              <a:rPr sz="1050" b="0" i="0">
                <a:solidFill>
                  <a:srgbClr val="1F2A44"/>
                </a:solidFill>
                <a:latin typeface="Calibri"/>
              </a:rPr>
              <a:t>• Sağda caput breve m. bicipitis'e tutunup 'T' şeklinde m. coracobrachialis ve m. deltoideus'a demet verir; solda tek ince demetle fasyaya tutunur.</a:t>
            </a:r>
          </a:p>
          <a:p>
            <a:pPr algn="l">
              <a:spcAft>
                <a:spcPts val="300"/>
              </a:spcAft>
            </a:pPr>
            <a:r>
              <a:rPr sz="1050" b="0" i="0">
                <a:solidFill>
                  <a:srgbClr val="1F2A44"/>
                </a:solidFill>
                <a:latin typeface="Calibri"/>
              </a:rPr>
              <a:t>• Klinik: aksiller damar–sinir basısı, sentinel/aksiller lenf nodu cerrahisinde yanıltıcı yapı.</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Ara Hosne, Fakoya Adegbenro O Rare Bilateral Axillary Arch With Its Novel Insertion Into the Deltoid and Unilateral Supernumerary Head of the Sternocleidomastoid Muscle in a Single Cadaver. Cureus. 2025 May 30;17(5):e85096. doi: 10.7759/cureus.85096 PMCID: PMC12206543.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axillaris dallarının ortak gövdeleri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Konarik ve ark., Bosn J Basic Med Sci 2020 – 423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BJBMS-20-502-g008.jpg"/>
          <p:cNvPicPr>
            <a:picLocks noChangeAspect="1"/>
          </p:cNvPicPr>
          <p:nvPr/>
        </p:nvPicPr>
        <p:blipFill>
          <a:blip r:embed="rId2"/>
          <a:stretch>
            <a:fillRect/>
          </a:stretch>
        </p:blipFill>
        <p:spPr>
          <a:xfrm>
            <a:off x="274320" y="1188720"/>
            <a:ext cx="2725857" cy="4639991"/>
          </a:xfrm>
          <a:prstGeom prst="rect">
            <a:avLst/>
          </a:prstGeom>
        </p:spPr>
      </p:pic>
      <p:sp>
        <p:nvSpPr>
          <p:cNvPr id="8" name="TextBox 7"/>
          <p:cNvSpPr txBox="1"/>
          <p:nvPr/>
        </p:nvSpPr>
        <p:spPr>
          <a:xfrm>
            <a:off x="182880" y="5828711"/>
            <a:ext cx="290873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Konarik Marek ve ark., 2020 (PMC7664784, CC BY)</a:t>
            </a:r>
          </a:p>
        </p:txBody>
      </p:sp>
      <p:pic>
        <p:nvPicPr>
          <p:cNvPr id="9" name="Picture 8" descr="BJBMS-20-502-g010.jpg"/>
          <p:cNvPicPr>
            <a:picLocks noChangeAspect="1"/>
          </p:cNvPicPr>
          <p:nvPr/>
        </p:nvPicPr>
        <p:blipFill>
          <a:blip r:embed="rId3"/>
          <a:stretch>
            <a:fillRect/>
          </a:stretch>
        </p:blipFill>
        <p:spPr>
          <a:xfrm>
            <a:off x="3137337" y="1188720"/>
            <a:ext cx="4223582" cy="4639991"/>
          </a:xfrm>
          <a:prstGeom prst="rect">
            <a:avLst/>
          </a:prstGeom>
        </p:spPr>
      </p:pic>
      <p:sp>
        <p:nvSpPr>
          <p:cNvPr id="10" name="TextBox 9"/>
          <p:cNvSpPr txBox="1"/>
          <p:nvPr/>
        </p:nvSpPr>
        <p:spPr>
          <a:xfrm>
            <a:off x="3045897" y="5828711"/>
            <a:ext cx="440646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4 – Konarik Marek ve ark., 2020 (PMC7664784,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AA</a:t>
            </a:r>
            <a:r>
              <a:rPr sz="1050" b="0" i="0">
                <a:solidFill>
                  <a:srgbClr val="1F2A44"/>
                </a:solidFill>
                <a:latin typeface="Calibri"/>
              </a:rPr>
              <a:t> a. axillaris; </a:t>
            </a:r>
            <a:r>
              <a:rPr sz="1050" b="0" i="0">
                <a:solidFill>
                  <a:srgbClr val="1F2A44"/>
                </a:solidFill>
                <a:latin typeface="Calibri"/>
              </a:rPr>
              <a:t>ACHA</a:t>
            </a:r>
            <a:r>
              <a:rPr sz="1050" b="0" i="0">
                <a:solidFill>
                  <a:srgbClr val="1F2A44"/>
                </a:solidFill>
                <a:latin typeface="Calibri"/>
              </a:rPr>
              <a:t> a. circumflexa humeri anterior; </a:t>
            </a:r>
            <a:r>
              <a:rPr sz="1050" b="0" i="0">
                <a:solidFill>
                  <a:srgbClr val="1F2A44"/>
                </a:solidFill>
                <a:latin typeface="Calibri"/>
              </a:rPr>
              <a:t>ACHP</a:t>
            </a:r>
            <a:r>
              <a:rPr sz="1050" b="0" i="0">
                <a:solidFill>
                  <a:srgbClr val="1F2A44"/>
                </a:solidFill>
                <a:latin typeface="Calibri"/>
              </a:rPr>
              <a:t> a. circumflexa humeri posterior;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APB</a:t>
            </a:r>
            <a:r>
              <a:rPr sz="1050" b="0" i="0">
                <a:solidFill>
                  <a:srgbClr val="1F2A44"/>
                </a:solidFill>
                <a:latin typeface="Calibri"/>
              </a:rPr>
              <a:t> a. profunda brachii; </a:t>
            </a:r>
            <a:r>
              <a:rPr sz="1050" b="0" i="0">
                <a:solidFill>
                  <a:srgbClr val="1F2A44"/>
                </a:solidFill>
                <a:latin typeface="Calibri"/>
              </a:rPr>
              <a:t>ASS</a:t>
            </a:r>
            <a:r>
              <a:rPr sz="1050" b="0" i="0">
                <a:solidFill>
                  <a:srgbClr val="1F2A44"/>
                </a:solidFill>
                <a:latin typeface="Calibri"/>
              </a:rPr>
              <a:t> a. subscapularis; </a:t>
            </a:r>
            <a:r>
              <a:rPr sz="1050" b="0" i="0">
                <a:solidFill>
                  <a:srgbClr val="1F2A44"/>
                </a:solidFill>
                <a:latin typeface="Calibri"/>
              </a:rPr>
              <a:t>ABS</a:t>
            </a:r>
            <a:r>
              <a:rPr sz="1050" b="0" i="0">
                <a:solidFill>
                  <a:srgbClr val="1F2A44"/>
                </a:solidFill>
                <a:latin typeface="Calibri"/>
              </a:rPr>
              <a:t> a. brachialis superficialis; TPC truncus profundocircumflexus; MCB n. musculocutaneus; FT/T ortak gövde</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Truncus subscapulocircumflexus %22,9</a:t>
            </a:r>
            <a:r>
              <a:rPr sz="1050" b="0" i="0">
                <a:solidFill>
                  <a:srgbClr val="1F2A44"/>
                </a:solidFill>
                <a:latin typeface="Calibri"/>
              </a:rPr>
              <a:t>, truncus profundocircumflexus %13,75, truncus bicircumflexus %13,95.</a:t>
            </a:r>
          </a:p>
          <a:p>
            <a:pPr algn="l">
              <a:spcAft>
                <a:spcPts val="300"/>
              </a:spcAft>
            </a:pPr>
            <a:r>
              <a:rPr sz="1050" b="0" i="0">
                <a:solidFill>
                  <a:srgbClr val="1F2A44"/>
                </a:solidFill>
                <a:latin typeface="Calibri"/>
              </a:rPr>
              <a:t>• Aberran a. thoracodorsalis %5,91 (25/423); a. brachialis superficialis %9,5.</a:t>
            </a:r>
          </a:p>
          <a:p>
            <a:pPr algn="l">
              <a:spcAft>
                <a:spcPts val="300"/>
              </a:spcAft>
            </a:pPr>
            <a:r>
              <a:rPr sz="1050" b="0" i="0">
                <a:solidFill>
                  <a:srgbClr val="1F2A44"/>
                </a:solidFill>
                <a:latin typeface="Calibri"/>
              </a:rPr>
              <a:t>• Yazarlar bu ortak gövdeler için standart terminoloji önermektedir – anjiyografi ve flep planlamasında önemlidir.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Konarik Marek, Musil Vladimir, Baca Vaclav et al. Upper limb principal arteries variations: A cadaveric study with terminological implication. Bosn J Basic Med Sci. 2020 Nov;20(4):502–13. doi: 10.17305/bjbms.2020.4643 PMCID: PMC7664784.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axillaris'in anteromedial seyri ve dal düzeni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Oza ve ark., Cureus 2023 –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5-00000040852-i01.jpg"/>
          <p:cNvPicPr>
            <a:picLocks noChangeAspect="1"/>
          </p:cNvPicPr>
          <p:nvPr/>
        </p:nvPicPr>
        <p:blipFill>
          <a:blip r:embed="rId2"/>
          <a:stretch>
            <a:fillRect/>
          </a:stretch>
        </p:blipFill>
        <p:spPr>
          <a:xfrm>
            <a:off x="274320" y="1188720"/>
            <a:ext cx="3526840" cy="2779150"/>
          </a:xfrm>
          <a:prstGeom prst="rect">
            <a:avLst/>
          </a:prstGeom>
        </p:spPr>
      </p:pic>
      <p:sp>
        <p:nvSpPr>
          <p:cNvPr id="8" name="TextBox 7"/>
          <p:cNvSpPr txBox="1"/>
          <p:nvPr/>
        </p:nvSpPr>
        <p:spPr>
          <a:xfrm>
            <a:off x="182880" y="3967870"/>
            <a:ext cx="37097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Oza Palak P ve ark., 2023 (PMC10363335, CC BY)</a:t>
            </a:r>
          </a:p>
        </p:txBody>
      </p:sp>
      <p:pic>
        <p:nvPicPr>
          <p:cNvPr id="9" name="Picture 8" descr="cureus-0015-00000040852-i02.jpg"/>
          <p:cNvPicPr>
            <a:picLocks noChangeAspect="1"/>
          </p:cNvPicPr>
          <p:nvPr/>
        </p:nvPicPr>
        <p:blipFill>
          <a:blip r:embed="rId3"/>
          <a:stretch>
            <a:fillRect/>
          </a:stretch>
        </p:blipFill>
        <p:spPr>
          <a:xfrm>
            <a:off x="3938320" y="1188720"/>
            <a:ext cx="3422599" cy="2779150"/>
          </a:xfrm>
          <a:prstGeom prst="rect">
            <a:avLst/>
          </a:prstGeom>
        </p:spPr>
      </p:pic>
      <p:sp>
        <p:nvSpPr>
          <p:cNvPr id="10" name="TextBox 9"/>
          <p:cNvSpPr txBox="1"/>
          <p:nvPr/>
        </p:nvSpPr>
        <p:spPr>
          <a:xfrm>
            <a:off x="3846880" y="3967870"/>
            <a:ext cx="360547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Oza Palak P ve ark., 2023 (PMC10363335,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Sinirler sarıya, arterler kırmızıya boyanmıştır; mavi kesikli çizgiler a. axillaris'in üç bölümünün sınırlarıdır. Yıldız (*) diseksiyonda kesilen dalları gösterir. Şekil 2 aynı varyasyonun şemasıdır.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 axillaris plexus brachialis'in divisiolarına ve fasciküllerine göre </a:t>
            </a:r>
            <a:r>
              <a:rPr sz="1050" b="0" i="0">
                <a:solidFill>
                  <a:srgbClr val="1F2A44"/>
                </a:solidFill>
                <a:latin typeface="Calibri"/>
              </a:rPr>
              <a:t>anteromedial</a:t>
            </a:r>
            <a:r>
              <a:rPr sz="1050" b="0" i="0">
                <a:solidFill>
                  <a:srgbClr val="1F2A44"/>
                </a:solidFill>
                <a:latin typeface="Calibri"/>
              </a:rPr>
              <a:t> seyretmiştir.</a:t>
            </a:r>
          </a:p>
          <a:p>
            <a:pPr algn="l">
              <a:spcAft>
                <a:spcPts val="300"/>
              </a:spcAft>
            </a:pPr>
            <a:r>
              <a:rPr sz="1050" b="0" i="0">
                <a:solidFill>
                  <a:srgbClr val="1F2A44"/>
                </a:solidFill>
                <a:latin typeface="Calibri"/>
              </a:rPr>
              <a:t>• 2. bölümden 4 dal çıkmış, 3. bölümden dal çıkmamıştır.</a:t>
            </a:r>
          </a:p>
          <a:p>
            <a:pPr algn="l">
              <a:spcAft>
                <a:spcPts val="300"/>
              </a:spcAft>
            </a:pPr>
            <a:r>
              <a:rPr sz="1050" b="0" i="0">
                <a:solidFill>
                  <a:srgbClr val="1F2A44"/>
                </a:solidFill>
                <a:latin typeface="Calibri"/>
              </a:rPr>
              <a:t>• Literatürde a. axillaris ile plexus arasındaki anormal pozisyonel ilişki %2,0 olarak aktarılmıştır.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Oza Palak P, Yung Halley C, Vaz Grace Kiran Variations in the Branching Pattern and Course of the Left Axillary Artery: A Cadaveric Case Report. Cureus. 2023 Jun 23;15(6):e40852. doi: 10.7759/cureus.40852 PMCID: PMC10363335.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dorsalis scapulae'nin kökeni ve plexus ile ilişkisi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Lai &amp; Ho, Sci Rep 2023 – 41 kadavra, 79 taraf</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41598_2023_35054_Fig1_HTML.jpg"/>
          <p:cNvPicPr>
            <a:picLocks noChangeAspect="1"/>
          </p:cNvPicPr>
          <p:nvPr/>
        </p:nvPicPr>
        <p:blipFill>
          <a:blip r:embed="rId2"/>
          <a:stretch>
            <a:fillRect/>
          </a:stretch>
        </p:blipFill>
        <p:spPr>
          <a:xfrm>
            <a:off x="1995094" y="1188720"/>
            <a:ext cx="3645051" cy="4846320"/>
          </a:xfrm>
          <a:prstGeom prst="rect">
            <a:avLst/>
          </a:prstGeom>
        </p:spPr>
      </p:pic>
      <p:sp>
        <p:nvSpPr>
          <p:cNvPr id="8" name="TextBox 7"/>
          <p:cNvSpPr txBox="1"/>
          <p:nvPr/>
        </p:nvSpPr>
        <p:spPr>
          <a:xfrm>
            <a:off x="1903654" y="6035040"/>
            <a:ext cx="382793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Lai Kuen-Cherng ve ark., 2023 (PMC10183034,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 a. dorsalis scapulae; </a:t>
            </a:r>
            <a:r>
              <a:rPr sz="1050" b="0" i="0">
                <a:solidFill>
                  <a:srgbClr val="1F2A44"/>
                </a:solidFill>
                <a:latin typeface="Calibri"/>
              </a:rPr>
              <a:t>●</a:t>
            </a:r>
            <a:r>
              <a:rPr sz="1050" b="0" i="0">
                <a:solidFill>
                  <a:srgbClr val="1F2A44"/>
                </a:solidFill>
                <a:latin typeface="Calibri"/>
              </a:rPr>
              <a:t> a. suprascapularis; </a:t>
            </a:r>
            <a:r>
              <a:rPr sz="1050" b="0" i="0">
                <a:solidFill>
                  <a:srgbClr val="1F2A44"/>
                </a:solidFill>
                <a:latin typeface="Calibri"/>
              </a:rPr>
              <a:t>TCA</a:t>
            </a:r>
            <a:r>
              <a:rPr sz="1050" b="0" i="0">
                <a:solidFill>
                  <a:srgbClr val="1F2A44"/>
                </a:solidFill>
                <a:latin typeface="Calibri"/>
              </a:rPr>
              <a:t> a. transversa cervicis; </a:t>
            </a:r>
            <a:r>
              <a:rPr sz="1050" b="0" i="0">
                <a:solidFill>
                  <a:srgbClr val="1F2A44"/>
                </a:solidFill>
                <a:latin typeface="Calibri"/>
              </a:rPr>
              <a:t>AS</a:t>
            </a:r>
            <a:r>
              <a:rPr sz="1050" b="0" i="0">
                <a:solidFill>
                  <a:srgbClr val="1F2A44"/>
                </a:solidFill>
                <a:latin typeface="Calibri"/>
              </a:rPr>
              <a:t> m. scalenus anterior; </a:t>
            </a:r>
            <a:r>
              <a:rPr sz="1050" b="0" i="0">
                <a:solidFill>
                  <a:srgbClr val="1F2A44"/>
                </a:solidFill>
                <a:latin typeface="Calibri"/>
              </a:rPr>
              <a:t>SA</a:t>
            </a:r>
            <a:r>
              <a:rPr sz="1050" b="0" i="0">
                <a:solidFill>
                  <a:srgbClr val="1F2A44"/>
                </a:solidFill>
                <a:latin typeface="Calibri"/>
              </a:rPr>
              <a:t> a. subclavia; </a:t>
            </a:r>
            <a:r>
              <a:rPr sz="1050" b="0" i="0">
                <a:solidFill>
                  <a:srgbClr val="1F2A44"/>
                </a:solidFill>
                <a:latin typeface="Calibri"/>
              </a:rPr>
              <a:t>T</a:t>
            </a:r>
            <a:r>
              <a:rPr sz="1050" b="0" i="0">
                <a:solidFill>
                  <a:srgbClr val="1F2A44"/>
                </a:solidFill>
                <a:latin typeface="Calibri"/>
              </a:rPr>
              <a:t> truncus thyrocervicalis; </a:t>
            </a:r>
            <a:r>
              <a:rPr sz="1050" b="0" i="0">
                <a:solidFill>
                  <a:srgbClr val="1F2A44"/>
                </a:solidFill>
                <a:latin typeface="Calibri"/>
              </a:rPr>
              <a:t>S/M/I** truncus superior/medius/inferior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Köken: a. transversa cervicis </a:t>
            </a:r>
            <a:r>
              <a:rPr sz="1050" b="0" i="0">
                <a:solidFill>
                  <a:srgbClr val="1F2A44"/>
                </a:solidFill>
                <a:latin typeface="Calibri"/>
              </a:rPr>
              <a:t>%48</a:t>
            </a:r>
            <a:r>
              <a:rPr sz="1050" b="0" i="0">
                <a:solidFill>
                  <a:srgbClr val="1F2A44"/>
                </a:solidFill>
                <a:latin typeface="Calibri"/>
              </a:rPr>
              <a:t>, a. subclavia 3. bölüm %25, 2. bölüm %22, a. axillaris %5.</a:t>
            </a:r>
          </a:p>
          <a:p>
            <a:pPr algn="l">
              <a:spcAft>
                <a:spcPts val="300"/>
              </a:spcAft>
            </a:pPr>
            <a:r>
              <a:rPr sz="1050" b="0" i="0">
                <a:solidFill>
                  <a:srgbClr val="1F2A44"/>
                </a:solidFill>
                <a:latin typeface="Calibri"/>
              </a:rPr>
              <a:t>• A. transversa cervicis kökenli olanların yalnızca %3'ü plexus'un içinden geçerken, 2. ve 3. bölüm kökenlilerde bu oran %100 ve %75'tir.</a:t>
            </a:r>
          </a:p>
          <a:p>
            <a:pPr algn="l">
              <a:spcAft>
                <a:spcPts val="300"/>
              </a:spcAft>
            </a:pPr>
            <a:r>
              <a:rPr sz="1050" b="0" i="0">
                <a:solidFill>
                  <a:srgbClr val="1F2A44"/>
                </a:solidFill>
                <a:latin typeface="Calibri"/>
              </a:rPr>
              <a:t>• Supraklaviküler blok ve baş–boyun rekonstrüksiyon flepleri için önemlidir.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Lai Kuen-Cherng, Ho Han-Chen Origin variations and brachial plexus relationship of the dorsal scapular artery. Sci Rep. 2023 May 13;13:7803. doi: 10.1038/s41598-023-35054-2 PMCID: PMC10183034.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Fasciculus posterior ve dallarının oluşumu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Rastogi ve ark., ISRN Anatomy 2013 – 37 kadavra, 74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ISRN.ANATOMY2013-501813.002.jpg"/>
          <p:cNvPicPr>
            <a:picLocks noChangeAspect="1"/>
          </p:cNvPicPr>
          <p:nvPr/>
        </p:nvPicPr>
        <p:blipFill>
          <a:blip r:embed="rId2"/>
          <a:stretch>
            <a:fillRect/>
          </a:stretch>
        </p:blipFill>
        <p:spPr>
          <a:xfrm>
            <a:off x="2157479" y="1188720"/>
            <a:ext cx="3320281" cy="2184926"/>
          </a:xfrm>
          <a:prstGeom prst="rect">
            <a:avLst/>
          </a:prstGeom>
        </p:spPr>
      </p:pic>
      <p:sp>
        <p:nvSpPr>
          <p:cNvPr id="8" name="TextBox 7"/>
          <p:cNvSpPr txBox="1"/>
          <p:nvPr/>
        </p:nvSpPr>
        <p:spPr>
          <a:xfrm>
            <a:off x="2066039" y="3373646"/>
            <a:ext cx="350316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Rastogi Rakhi ve ark., 2013 (PMC4392958, CC BY)</a:t>
            </a:r>
          </a:p>
        </p:txBody>
      </p:sp>
      <p:pic>
        <p:nvPicPr>
          <p:cNvPr id="9" name="Picture 8" descr="ISRN.ANATOMY2013-501813.003.jpg"/>
          <p:cNvPicPr>
            <a:picLocks noChangeAspect="1"/>
          </p:cNvPicPr>
          <p:nvPr/>
        </p:nvPicPr>
        <p:blipFill>
          <a:blip r:embed="rId3"/>
          <a:stretch>
            <a:fillRect/>
          </a:stretch>
        </p:blipFill>
        <p:spPr>
          <a:xfrm>
            <a:off x="2157479" y="3647966"/>
            <a:ext cx="3320281" cy="2341353"/>
          </a:xfrm>
          <a:prstGeom prst="rect">
            <a:avLst/>
          </a:prstGeom>
        </p:spPr>
      </p:pic>
      <p:sp>
        <p:nvSpPr>
          <p:cNvPr id="10" name="TextBox 9"/>
          <p:cNvSpPr txBox="1"/>
          <p:nvPr/>
        </p:nvSpPr>
        <p:spPr>
          <a:xfrm>
            <a:off x="2066039" y="5989320"/>
            <a:ext cx="350316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Rastogi Rakhi ve ark., 2013 (PMC4392958,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AN</a:t>
            </a:r>
            <a:r>
              <a:rPr sz="1050" b="0" i="0">
                <a:solidFill>
                  <a:srgbClr val="1F2A44"/>
                </a:solidFill>
                <a:latin typeface="Calibri"/>
              </a:rPr>
              <a:t> n. axillaris; </a:t>
            </a:r>
            <a:r>
              <a:rPr sz="1050" b="0" i="0">
                <a:solidFill>
                  <a:srgbClr val="1F2A44"/>
                </a:solidFill>
                <a:latin typeface="Calibri"/>
              </a:rPr>
              <a:t>RN</a:t>
            </a:r>
            <a:r>
              <a:rPr sz="1050" b="0" i="0">
                <a:solidFill>
                  <a:srgbClr val="1F2A44"/>
                </a:solidFill>
                <a:latin typeface="Calibri"/>
              </a:rPr>
              <a:t> n. radialis; </a:t>
            </a:r>
            <a:r>
              <a:rPr sz="1050" b="0" i="0">
                <a:solidFill>
                  <a:srgbClr val="1F2A44"/>
                </a:solidFill>
                <a:latin typeface="Calibri"/>
              </a:rPr>
              <a:t>PC</a:t>
            </a:r>
            <a:r>
              <a:rPr sz="1050" b="0" i="0">
                <a:solidFill>
                  <a:srgbClr val="1F2A44"/>
                </a:solidFill>
                <a:latin typeface="Calibri"/>
              </a:rPr>
              <a:t> fasciculus posterior;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AA</a:t>
            </a:r>
            <a:r>
              <a:rPr sz="1050" b="0" i="0">
                <a:solidFill>
                  <a:srgbClr val="1F2A44"/>
                </a:solidFill>
                <a:latin typeface="Calibri"/>
              </a:rPr>
              <a:t> a. axillaris; </a:t>
            </a:r>
            <a:r>
              <a:rPr sz="1050" b="0" i="0">
                <a:solidFill>
                  <a:srgbClr val="1F2A44"/>
                </a:solidFill>
                <a:latin typeface="Calibri"/>
              </a:rPr>
              <a:t>LC</a:t>
            </a:r>
            <a:r>
              <a:rPr sz="1050" b="0" i="0">
                <a:solidFill>
                  <a:srgbClr val="1F2A44"/>
                </a:solidFill>
                <a:latin typeface="Calibri"/>
              </a:rPr>
              <a:t> fasciculus lateralis;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TDN</a:t>
            </a:r>
            <a:r>
              <a:rPr sz="1050" b="0" i="0">
                <a:solidFill>
                  <a:srgbClr val="1F2A44"/>
                </a:solidFill>
                <a:latin typeface="Calibri"/>
              </a:rPr>
              <a:t> n. thoracodorsalis; UT/MT/LT truncus superior/medius/inferior; C5–T1 kökler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Fasciculus posterior truncus superior katılımı olmadan oluşma </a:t>
            </a:r>
            <a:r>
              <a:rPr sz="1050" b="0" i="0">
                <a:solidFill>
                  <a:srgbClr val="1F2A44"/>
                </a:solidFill>
                <a:latin typeface="Calibri"/>
              </a:rPr>
              <a:t>%16,2</a:t>
            </a:r>
            <a:r>
              <a:rPr sz="1050" b="0" i="0">
                <a:solidFill>
                  <a:srgbClr val="1F2A44"/>
                </a:solidFill>
                <a:latin typeface="Calibri"/>
              </a:rPr>
              <a:t>; a. axillaris 2. bölümünün lateralinde yer alma %18,9.</a:t>
            </a:r>
          </a:p>
          <a:p>
            <a:pPr algn="l">
              <a:spcAft>
                <a:spcPts val="300"/>
              </a:spcAft>
            </a:pPr>
            <a:r>
              <a:rPr sz="1050" b="0" i="0">
                <a:solidFill>
                  <a:srgbClr val="1F2A44"/>
                </a:solidFill>
                <a:latin typeface="Calibri"/>
              </a:rPr>
              <a:t>• N. axillaris'in truncus superior arka divisiosundan çıkışı %10,8; </a:t>
            </a:r>
            <a:r>
              <a:rPr sz="1050" b="0" i="0">
                <a:solidFill>
                  <a:srgbClr val="1F2A44"/>
                </a:solidFill>
                <a:latin typeface="Calibri"/>
              </a:rPr>
              <a:t>n. thoracodorsalis'in n. axillaris'ten çıkışı %22,9</a:t>
            </a:r>
            <a:r>
              <a:rPr sz="1050" b="0" i="0">
                <a:solidFill>
                  <a:srgbClr val="1F2A44"/>
                </a:solidFill>
                <a:latin typeface="Calibri"/>
              </a:rPr>
              <a:t>.</a:t>
            </a:r>
          </a:p>
          <a:p>
            <a:pPr algn="l">
              <a:spcAft>
                <a:spcPts val="300"/>
              </a:spcAft>
            </a:pPr>
            <a:r>
              <a:rPr sz="1050" b="0" i="0">
                <a:solidFill>
                  <a:srgbClr val="1F2A44"/>
                </a:solidFill>
                <a:latin typeface="Calibri"/>
              </a:rPr>
              <a:t>• Aksilla cerrahisinde bu sinirler beklenmedik konumda yaralanabilir.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Rastogi Rakhi, Budhiraja Virendra, Bansal Kshitij Posterior Cord of Brachial Plexus and Its Branches: Anatomical Variations and Clinical Implication. ISRN Anat. 2013 Sep 26;2013:501813. doi: 10.5402/2013/501813 PMCID: PMC4392958.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Aksesuar nn. subscapulares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Siwetz ve ark., Medicina 2020 – 31 örnek</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medicina-56-00532-g001.jpg"/>
          <p:cNvPicPr>
            <a:picLocks noChangeAspect="1"/>
          </p:cNvPicPr>
          <p:nvPr/>
        </p:nvPicPr>
        <p:blipFill>
          <a:blip r:embed="rId2"/>
          <a:stretch>
            <a:fillRect/>
          </a:stretch>
        </p:blipFill>
        <p:spPr>
          <a:xfrm>
            <a:off x="611592" y="1188720"/>
            <a:ext cx="6412054" cy="4846320"/>
          </a:xfrm>
          <a:prstGeom prst="rect">
            <a:avLst/>
          </a:prstGeom>
        </p:spPr>
      </p:pic>
      <p:sp>
        <p:nvSpPr>
          <p:cNvPr id="8" name="TextBox 7"/>
          <p:cNvSpPr txBox="1"/>
          <p:nvPr/>
        </p:nvSpPr>
        <p:spPr>
          <a:xfrm>
            <a:off x="520152" y="6035040"/>
            <a:ext cx="659493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Siwetz Martin ve ark., 2020 (PMC7601857,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PC</a:t>
            </a:r>
            <a:r>
              <a:rPr sz="1050" b="0" i="0">
                <a:solidFill>
                  <a:srgbClr val="1F2A44"/>
                </a:solidFill>
                <a:latin typeface="Calibri"/>
              </a:rPr>
              <a:t> fasciculus posterior; </a:t>
            </a:r>
            <a:r>
              <a:rPr sz="1050" b="0" i="0">
                <a:solidFill>
                  <a:srgbClr val="1F2A44"/>
                </a:solidFill>
                <a:latin typeface="Calibri"/>
              </a:rPr>
              <a:t>U1</a:t>
            </a:r>
            <a:r>
              <a:rPr sz="1050" b="0" i="0">
                <a:solidFill>
                  <a:srgbClr val="1F2A44"/>
                </a:solidFill>
                <a:latin typeface="Calibri"/>
              </a:rPr>
              <a:t> 1. n. subscapularis superior; </a:t>
            </a:r>
            <a:r>
              <a:rPr sz="1050" b="0" i="0">
                <a:solidFill>
                  <a:srgbClr val="1F2A44"/>
                </a:solidFill>
                <a:latin typeface="Calibri"/>
              </a:rPr>
              <a:t>U2</a:t>
            </a:r>
            <a:r>
              <a:rPr sz="1050" b="0" i="0">
                <a:solidFill>
                  <a:srgbClr val="1F2A44"/>
                </a:solidFill>
                <a:latin typeface="Calibri"/>
              </a:rPr>
              <a:t> 2. (aksesuar) n. subscapularis superior; </a:t>
            </a:r>
            <a:r>
              <a:rPr sz="1050" b="0" i="0">
                <a:solidFill>
                  <a:srgbClr val="1F2A44"/>
                </a:solidFill>
                <a:latin typeface="Calibri"/>
              </a:rPr>
              <a:t>L</a:t>
            </a:r>
            <a:r>
              <a:rPr sz="1050" b="0" i="0">
                <a:solidFill>
                  <a:srgbClr val="1F2A44"/>
                </a:solidFill>
                <a:latin typeface="Calibri"/>
              </a:rPr>
              <a:t> n. subscapularis inferior; </a:t>
            </a:r>
            <a:r>
              <a:rPr sz="1050" b="0" i="0">
                <a:solidFill>
                  <a:srgbClr val="1F2A44"/>
                </a:solidFill>
                <a:latin typeface="Calibri"/>
              </a:rPr>
              <a:t>SSC</a:t>
            </a:r>
            <a:r>
              <a:rPr sz="1050" b="0" i="0">
                <a:solidFill>
                  <a:srgbClr val="1F2A44"/>
                </a:solidFill>
                <a:latin typeface="Calibri"/>
              </a:rPr>
              <a:t> m. subscapularis; ** clavicula; cd/cr kaudal/kranial; m/l medial/lateral</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Aksesuar n. subscapularis </a:t>
            </a:r>
            <a:r>
              <a:rPr sz="1050" b="0" i="0">
                <a:solidFill>
                  <a:srgbClr val="1F2A44"/>
                </a:solidFill>
                <a:latin typeface="Calibri"/>
              </a:rPr>
              <a:t>3 olguda (%9,7)</a:t>
            </a:r>
            <a:r>
              <a:rPr sz="1050" b="0" i="0">
                <a:solidFill>
                  <a:srgbClr val="1F2A44"/>
                </a:solidFill>
                <a:latin typeface="Calibri"/>
              </a:rPr>
              <a:t> bulunmuş; üçü de aksesuar üst sinirdir, aksesuar alt sinir görülmemiştir.</a:t>
            </a:r>
          </a:p>
          <a:p>
            <a:pPr algn="l">
              <a:spcAft>
                <a:spcPts val="300"/>
              </a:spcAft>
            </a:pPr>
            <a:r>
              <a:rPr sz="1050" b="0" i="0">
                <a:solidFill>
                  <a:srgbClr val="1F2A44"/>
                </a:solidFill>
                <a:latin typeface="Calibri"/>
              </a:rPr>
              <a:t>• M. subscapularis'in çoklu innervasyonu omuz cerrahisi, sinir blokları ve EMG yorumunda dikkate alınmalıdır.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Siwetz Martin, Hammer Niels, Ondruschka Benjamin et al. Variations in Subscapularis Muscle Innervation—A Report on Case Series. Medicina (Kaunas). 2020 Oct 12;56(10):532. doi: 10.3390/medicina56100532 PMCID: PMC7601857.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medianus kökleri ve fasciculus posterior dallanması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Bozhikova ve ark., Biomed Res Int 2025 – 18 donör, 36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BMRI-2025-6650184-g011.jpg"/>
          <p:cNvPicPr>
            <a:picLocks noChangeAspect="1"/>
          </p:cNvPicPr>
          <p:nvPr/>
        </p:nvPicPr>
        <p:blipFill>
          <a:blip r:embed="rId2"/>
          <a:stretch>
            <a:fillRect/>
          </a:stretch>
        </p:blipFill>
        <p:spPr>
          <a:xfrm>
            <a:off x="274320" y="1188720"/>
            <a:ext cx="3132813" cy="2506251"/>
          </a:xfrm>
          <a:prstGeom prst="rect">
            <a:avLst/>
          </a:prstGeom>
        </p:spPr>
      </p:pic>
      <p:sp>
        <p:nvSpPr>
          <p:cNvPr id="8" name="TextBox 7"/>
          <p:cNvSpPr txBox="1"/>
          <p:nvPr/>
        </p:nvSpPr>
        <p:spPr>
          <a:xfrm>
            <a:off x="182879" y="3694971"/>
            <a:ext cx="3315693"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Bozhikova E. ve ark., 2025 (PMC12578619, CC BY)</a:t>
            </a:r>
          </a:p>
        </p:txBody>
      </p:sp>
      <p:pic>
        <p:nvPicPr>
          <p:cNvPr id="9" name="Picture 8" descr="BMRI-2025-6650184-g001.jpg"/>
          <p:cNvPicPr>
            <a:picLocks noChangeAspect="1"/>
          </p:cNvPicPr>
          <p:nvPr/>
        </p:nvPicPr>
        <p:blipFill>
          <a:blip r:embed="rId3"/>
          <a:stretch>
            <a:fillRect/>
          </a:stretch>
        </p:blipFill>
        <p:spPr>
          <a:xfrm>
            <a:off x="3544293" y="1188720"/>
            <a:ext cx="3816626" cy="2506251"/>
          </a:xfrm>
          <a:prstGeom prst="rect">
            <a:avLst/>
          </a:prstGeom>
        </p:spPr>
      </p:pic>
      <p:sp>
        <p:nvSpPr>
          <p:cNvPr id="10" name="TextBox 9"/>
          <p:cNvSpPr txBox="1"/>
          <p:nvPr/>
        </p:nvSpPr>
        <p:spPr>
          <a:xfrm>
            <a:off x="3452853" y="3694971"/>
            <a:ext cx="399950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12 – Bozhikova E. ve ark., 2025 (PMC12578619,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2A: 1 fasc. lateralis; 2 radix lateralis; 3 aksesuar radix lateralis; 4 radix medialis; 5 a. axillaris; 6 n. musculocutaneus; 7 aberran a. axillaris; 8 n. ulnaris; 9 n. medianus. 2B: 1 n. medianus; 2 radix medialis; 3 iletişim dalı; 4 radix lateralis</a:t>
            </a:r>
          </a:p>
          <a:p>
            <a:pPr algn="l">
              <a:spcAft>
                <a:spcPts val="300"/>
              </a:spcAft>
            </a:pPr>
            <a:r>
              <a:rPr sz="1050" b="0" i="0">
                <a:solidFill>
                  <a:srgbClr val="1F2A44"/>
                </a:solidFill>
                <a:latin typeface="Calibri"/>
              </a:rPr>
              <a:t>• Şekil 12: fasciculus posterior'un üçe (A: 1 n. radialis, 2 n. axillaris, 3 n. thoracodorsalis) ve dörde ayrılması (B)</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Plexus brachialis'lerin </a:t>
            </a:r>
            <a:r>
              <a:rPr sz="1050" b="0" i="0">
                <a:solidFill>
                  <a:srgbClr val="1F2A44"/>
                </a:solidFill>
                <a:latin typeface="Calibri"/>
              </a:rPr>
              <a:t>%44,4</a:t>
            </a:r>
            <a:r>
              <a:rPr sz="1050" b="0" i="0">
                <a:solidFill>
                  <a:srgbClr val="1F2A44"/>
                </a:solidFill>
                <a:latin typeface="Calibri"/>
              </a:rPr>
              <a:t>'ünde (16/36) toplam 32 varyasyon; bilateral varyasyon %77,8.</a:t>
            </a:r>
          </a:p>
          <a:p>
            <a:pPr algn="l">
              <a:spcAft>
                <a:spcPts val="300"/>
              </a:spcAft>
            </a:pPr>
            <a:r>
              <a:rPr sz="1050" b="0" i="0">
                <a:solidFill>
                  <a:srgbClr val="1F2A44"/>
                </a:solidFill>
                <a:latin typeface="Calibri"/>
              </a:rPr>
              <a:t>• Literatürde plexus değişkenliği </a:t>
            </a:r>
            <a:r>
              <a:rPr sz="1050" b="0" i="0">
                <a:solidFill>
                  <a:srgbClr val="1F2A44"/>
                </a:solidFill>
                <a:latin typeface="Calibri"/>
              </a:rPr>
              <a:t>%13,3–%90</a:t>
            </a:r>
            <a:r>
              <a:rPr sz="1050" b="0" i="0">
                <a:solidFill>
                  <a:srgbClr val="1F2A44"/>
                </a:solidFill>
                <a:latin typeface="Calibri"/>
              </a:rPr>
              <a:t> aralığında bildirilmiştir.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Bozhikova E., Davis J. C., Moon P. H. et al. A Cadaveric Study on the Variations in the Infraclavicular Part of Brachial Plexus in Axillary Region and Upper Arm. Biomed Res Int. 2025 Oct 31;2025:6650184. doi: 10.1155/bmri/6650184 PMCID: PMC12578619.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Ektopik m. pectoralis minor tendonu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Schwarz &amp; Hirtler, PLoS ONE 2019 – 45 omuz</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pone.0218715.g002.jpg"/>
          <p:cNvPicPr>
            <a:picLocks noChangeAspect="1"/>
          </p:cNvPicPr>
          <p:nvPr/>
        </p:nvPicPr>
        <p:blipFill>
          <a:blip r:embed="rId2"/>
          <a:stretch>
            <a:fillRect/>
          </a:stretch>
        </p:blipFill>
        <p:spPr>
          <a:xfrm>
            <a:off x="274320" y="1188720"/>
            <a:ext cx="3509521" cy="3657811"/>
          </a:xfrm>
          <a:prstGeom prst="rect">
            <a:avLst/>
          </a:prstGeom>
        </p:spPr>
      </p:pic>
      <p:sp>
        <p:nvSpPr>
          <p:cNvPr id="8" name="TextBox 7"/>
          <p:cNvSpPr txBox="1"/>
          <p:nvPr/>
        </p:nvSpPr>
        <p:spPr>
          <a:xfrm>
            <a:off x="182879" y="4846531"/>
            <a:ext cx="369240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Schwarz Gilbert M. ve ark., 2019 (PMC6588231, CC BY)</a:t>
            </a:r>
          </a:p>
        </p:txBody>
      </p:sp>
      <p:pic>
        <p:nvPicPr>
          <p:cNvPr id="9" name="Picture 8" descr="pone.0218715.g003.jpg"/>
          <p:cNvPicPr>
            <a:picLocks noChangeAspect="1"/>
          </p:cNvPicPr>
          <p:nvPr/>
        </p:nvPicPr>
        <p:blipFill>
          <a:blip r:embed="rId3"/>
          <a:stretch>
            <a:fillRect/>
          </a:stretch>
        </p:blipFill>
        <p:spPr>
          <a:xfrm>
            <a:off x="3921001" y="1188720"/>
            <a:ext cx="3439918" cy="3657811"/>
          </a:xfrm>
          <a:prstGeom prst="rect">
            <a:avLst/>
          </a:prstGeom>
        </p:spPr>
      </p:pic>
      <p:sp>
        <p:nvSpPr>
          <p:cNvPr id="10" name="TextBox 9"/>
          <p:cNvSpPr txBox="1"/>
          <p:nvPr/>
        </p:nvSpPr>
        <p:spPr>
          <a:xfrm>
            <a:off x="3829561" y="4846531"/>
            <a:ext cx="362279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Schwarz Gilbert M. ve ark., 2019 (PMC6588231,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 ektopik tendon; </a:t>
            </a:r>
            <a:r>
              <a:rPr sz="1050" b="0" i="0">
                <a:solidFill>
                  <a:srgbClr val="1F2A44"/>
                </a:solidFill>
                <a:latin typeface="Calibri"/>
              </a:rPr>
              <a:t>A</a:t>
            </a:r>
            <a:r>
              <a:rPr sz="1050" b="0" i="0">
                <a:solidFill>
                  <a:srgbClr val="1F2A44"/>
                </a:solidFill>
                <a:latin typeface="Calibri"/>
              </a:rPr>
              <a:t> acromion; </a:t>
            </a:r>
            <a:r>
              <a:rPr sz="1050" b="0" i="0">
                <a:solidFill>
                  <a:srgbClr val="1F2A44"/>
                </a:solidFill>
                <a:latin typeface="Calibri"/>
              </a:rPr>
              <a:t>CAL</a:t>
            </a:r>
            <a:r>
              <a:rPr sz="1050" b="0" i="0">
                <a:solidFill>
                  <a:srgbClr val="1F2A44"/>
                </a:solidFill>
                <a:latin typeface="Calibri"/>
              </a:rPr>
              <a:t> lig. coracoacromiale; </a:t>
            </a:r>
            <a:r>
              <a:rPr sz="1050" b="0" i="0">
                <a:solidFill>
                  <a:srgbClr val="1F2A44"/>
                </a:solidFill>
                <a:latin typeface="Calibri"/>
              </a:rPr>
              <a:t>CP</a:t>
            </a:r>
            <a:r>
              <a:rPr sz="1050" b="0" i="0">
                <a:solidFill>
                  <a:srgbClr val="1F2A44"/>
                </a:solidFill>
                <a:latin typeface="Calibri"/>
              </a:rPr>
              <a:t> processus coracoideus; </a:t>
            </a:r>
            <a:r>
              <a:rPr sz="1050" b="0" i="0">
                <a:solidFill>
                  <a:srgbClr val="1F2A44"/>
                </a:solidFill>
                <a:latin typeface="Calibri"/>
              </a:rPr>
              <a:t>PMM</a:t>
            </a:r>
            <a:r>
              <a:rPr sz="1050" b="0" i="0">
                <a:solidFill>
                  <a:srgbClr val="1F2A44"/>
                </a:solidFill>
                <a:latin typeface="Calibri"/>
              </a:rPr>
              <a:t> m. pectoralis minor; </a:t>
            </a:r>
            <a:r>
              <a:rPr sz="1050" b="0" i="0">
                <a:solidFill>
                  <a:srgbClr val="1F2A44"/>
                </a:solidFill>
                <a:latin typeface="Calibri"/>
              </a:rPr>
              <a:t>H</a:t>
            </a:r>
            <a:r>
              <a:rPr sz="1050" b="0" i="0">
                <a:solidFill>
                  <a:srgbClr val="1F2A44"/>
                </a:solidFill>
                <a:latin typeface="Calibri"/>
              </a:rPr>
              <a:t> humerus; </a:t>
            </a:r>
            <a:r>
              <a:rPr sz="1050" b="0" i="0">
                <a:solidFill>
                  <a:srgbClr val="1F2A44"/>
                </a:solidFill>
                <a:latin typeface="Calibri"/>
              </a:rPr>
              <a:t>SSM** m. supraspinatus. Şekil 3'te renk kodlu alanlar tutunma bölgelerini gösterir.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Tendon proc. coracoideus'un </a:t>
            </a:r>
            <a:r>
              <a:rPr sz="1050" b="0" i="0">
                <a:solidFill>
                  <a:srgbClr val="1F2A44"/>
                </a:solidFill>
                <a:latin typeface="Calibri"/>
              </a:rPr>
              <a:t>üzerinden</a:t>
            </a:r>
            <a:r>
              <a:rPr sz="1050" b="0" i="0">
                <a:solidFill>
                  <a:srgbClr val="1F2A44"/>
                </a:solidFill>
                <a:latin typeface="Calibri"/>
              </a:rPr>
              <a:t> ve lig. coracoacromiale dalları arasından geçerek humerus'a/kapsüle uzanır.</a:t>
            </a:r>
          </a:p>
          <a:p>
            <a:pPr algn="l">
              <a:spcAft>
                <a:spcPts val="300"/>
              </a:spcAft>
            </a:pPr>
            <a:r>
              <a:rPr sz="1050" b="0" i="0">
                <a:solidFill>
                  <a:srgbClr val="1F2A44"/>
                </a:solidFill>
                <a:latin typeface="Calibri"/>
              </a:rPr>
              <a:t>• Varyasyon prevalansı </a:t>
            </a:r>
            <a:r>
              <a:rPr sz="1050" b="0" i="0">
                <a:solidFill>
                  <a:srgbClr val="1F2A44"/>
                </a:solidFill>
                <a:latin typeface="Calibri"/>
              </a:rPr>
              <a:t>%37,84</a:t>
            </a:r>
            <a:r>
              <a:rPr sz="1050" b="0" i="0">
                <a:solidFill>
                  <a:srgbClr val="1F2A44"/>
                </a:solidFill>
                <a:latin typeface="Calibri"/>
              </a:rPr>
              <a:t>; varyasyonlu omuzlarda korakopektoral mesafe daha kısa (p&lt;0,001), tutunma alanı daha geniş (p&lt;0,003).</a:t>
            </a:r>
          </a:p>
          <a:p>
            <a:pPr algn="l">
              <a:spcAft>
                <a:spcPts val="300"/>
              </a:spcAft>
            </a:pPr>
            <a:r>
              <a:rPr sz="1050" b="0" i="0">
                <a:solidFill>
                  <a:srgbClr val="1F2A44"/>
                </a:solidFill>
                <a:latin typeface="Calibri"/>
              </a:rPr>
              <a:t>• Sık nedenler dışlandığında açıklanamayan omuz ağrısı ve sertlikte akla gelmelidir; görüntüleme duyarlılığı düşüktür.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Schwarz Gilbert M., Hirtler Lena Ectopic tendons of the pectoralis minor muscle as cause for shoulder pain and motion inhibition—Explaining clinically important variabilities through phylogenesis. PLoS One. 2019 Jun 21;14(6):e0218715. doi: 10.1371/journal.pone.0218715 PMCID: PMC6588231.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Incisura scapulae tipleri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Adewale ve ark., BMC Musculoskelet Disord 2020 (kuru kemik) ve Polguj ve ark. 2014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1 · OMUZ</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2891_2020_3769_Fig1_HTML.jpg"/>
          <p:cNvPicPr>
            <a:picLocks noChangeAspect="1"/>
          </p:cNvPicPr>
          <p:nvPr/>
        </p:nvPicPr>
        <p:blipFill>
          <a:blip r:embed="rId2"/>
          <a:stretch>
            <a:fillRect/>
          </a:stretch>
        </p:blipFill>
        <p:spPr>
          <a:xfrm>
            <a:off x="274320" y="1188720"/>
            <a:ext cx="4884289" cy="2774879"/>
          </a:xfrm>
          <a:prstGeom prst="rect">
            <a:avLst/>
          </a:prstGeom>
        </p:spPr>
      </p:pic>
      <p:sp>
        <p:nvSpPr>
          <p:cNvPr id="8" name="TextBox 7"/>
          <p:cNvSpPr txBox="1"/>
          <p:nvPr/>
        </p:nvSpPr>
        <p:spPr>
          <a:xfrm>
            <a:off x="182879" y="3963599"/>
            <a:ext cx="506716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Adewale Adesanya Olamide ve ark., 2020 (PMC7656716, CC BY)</a:t>
            </a:r>
          </a:p>
        </p:txBody>
      </p:sp>
      <p:pic>
        <p:nvPicPr>
          <p:cNvPr id="9" name="Picture 8" descr="167_2014_2937_Fig2_HTML.jpg"/>
          <p:cNvPicPr>
            <a:picLocks noChangeAspect="1"/>
          </p:cNvPicPr>
          <p:nvPr/>
        </p:nvPicPr>
        <p:blipFill>
          <a:blip r:embed="rId3"/>
          <a:stretch>
            <a:fillRect/>
          </a:stretch>
        </p:blipFill>
        <p:spPr>
          <a:xfrm>
            <a:off x="5295769" y="1188720"/>
            <a:ext cx="2065150" cy="2774879"/>
          </a:xfrm>
          <a:prstGeom prst="rect">
            <a:avLst/>
          </a:prstGeom>
        </p:spPr>
      </p:pic>
      <p:sp>
        <p:nvSpPr>
          <p:cNvPr id="10" name="TextBox 9"/>
          <p:cNvSpPr txBox="1"/>
          <p:nvPr/>
        </p:nvSpPr>
        <p:spPr>
          <a:xfrm>
            <a:off x="5204329" y="3963599"/>
            <a:ext cx="224803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Polguj Michał ve ark., 2014 (PMC4555201,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Sol: Type 1–6 = incisura scapulae morfolojik tipleri (kuru skapula)</a:t>
            </a:r>
          </a:p>
          <a:p>
            <a:pPr algn="l">
              <a:spcAft>
                <a:spcPts val="300"/>
              </a:spcAft>
            </a:pPr>
            <a:r>
              <a:rPr sz="1050" b="0" i="0">
                <a:solidFill>
                  <a:srgbClr val="1F2A44"/>
                </a:solidFill>
                <a:latin typeface="Calibri"/>
              </a:rPr>
              <a:t>• Sağ: 1 a. suprascapularis; 2 v. suprascapularis; 3 n. suprascapularis; 4 lig. transversum scapulae superius (A kadavra, B şema)</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50 kuru skapulada lig. transversum scapulae superius </a:t>
            </a:r>
            <a:r>
              <a:rPr sz="1050" b="0" i="0">
                <a:solidFill>
                  <a:srgbClr val="1F2A44"/>
                </a:solidFill>
                <a:latin typeface="Calibri"/>
              </a:rPr>
              <a:t>%8 tam kemikleşmiş</a:t>
            </a:r>
            <a:r>
              <a:rPr sz="1050" b="0" i="0">
                <a:solidFill>
                  <a:srgbClr val="1F2A44"/>
                </a:solidFill>
                <a:latin typeface="Calibri"/>
              </a:rPr>
              <a:t> – incisura bir foramene dönüşür.</a:t>
            </a:r>
          </a:p>
          <a:p>
            <a:pPr algn="l">
              <a:spcAft>
                <a:spcPts val="300"/>
              </a:spcAft>
            </a:pPr>
            <a:r>
              <a:rPr sz="1050" b="0" i="0">
                <a:solidFill>
                  <a:srgbClr val="1F2A44"/>
                </a:solidFill>
                <a:latin typeface="Calibri"/>
              </a:rPr>
              <a:t>• 106 kadavra omzunda damar–sinir düzeni: </a:t>
            </a:r>
            <a:r>
              <a:rPr sz="1050" b="0" i="0">
                <a:solidFill>
                  <a:srgbClr val="1F2A44"/>
                </a:solidFill>
                <a:latin typeface="Calibri"/>
              </a:rPr>
              <a:t>Tip I %61,3</a:t>
            </a:r>
            <a:r>
              <a:rPr sz="1050" b="0" i="0">
                <a:solidFill>
                  <a:srgbClr val="1F2A44"/>
                </a:solidFill>
                <a:latin typeface="Calibri"/>
              </a:rPr>
              <a:t> (arter bağın üstünde), Tip II %17, Tip III %12,3, Tip IV %9,4.</a:t>
            </a:r>
          </a:p>
          <a:p>
            <a:pPr algn="l">
              <a:spcAft>
                <a:spcPts val="300"/>
              </a:spcAft>
            </a:pPr>
            <a:r>
              <a:rPr sz="1050" b="0" i="0">
                <a:solidFill>
                  <a:srgbClr val="1F2A44"/>
                </a:solidFill>
                <a:latin typeface="Calibri"/>
              </a:rPr>
              <a:t>• Dar/kemikleşmiş incisura n. suprascapularis sıkışmasının en önemli anatomik risk faktörüdür.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Adewale Adesanya Olamide, Segun Okeniran Olatayo, Usman Ibe Michael et al. Morphometric study of suprascapular notch and scapular dimensions in Ugandan dry scapulae with specific reference to the incidence of completely ossified superior transverse scapular ligament. BMC Musculoskelet Disord. 2020 Nov 10;21:733. doi: 10.1186/s12891-020-03769-2 PMCID: PMC7656716. Lisans: CC BY.  •  Polguj Michał, Rożniecki Jacek, Sibiński Marcin et al. The variable morphology of suprascapular nerve and vessels at suprascapular notch: a proposal for classification and its potential clinical implications. Knee Surg Sports Traumatol Arthrosc. 2014 Mar 18;23(5):1542–8. doi: 10.1007/s00167-014-2937-1 PMCID: PMC4555201.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5760720" cy="548640"/>
          </a:xfrm>
          <a:prstGeom prst="rect">
            <a:avLst/>
          </a:prstGeom>
          <a:noFill/>
        </p:spPr>
        <p:txBody>
          <a:bodyPr wrap="square" anchor="t" lIns="45720" rIns="45720" tIns="18288" bIns="18288">
            <a:spAutoFit/>
          </a:bodyPr>
          <a:lstStyle/>
          <a:p>
            <a:pPr algn="l"/>
            <a:r>
              <a:rPr sz="1800" b="1" i="0">
                <a:solidFill>
                  <a:srgbClr val="C8D1E6"/>
                </a:solidFill>
                <a:latin typeface="Calibri"/>
              </a:rPr>
              <a:t>BÖLÜM 2</a:t>
            </a:r>
          </a:p>
        </p:txBody>
      </p:sp>
      <p:sp>
        <p:nvSpPr>
          <p:cNvPr id="4" name="TextBox 3"/>
          <p:cNvSpPr txBox="1"/>
          <p:nvPr/>
        </p:nvSpPr>
        <p:spPr>
          <a:xfrm>
            <a:off x="548640" y="132588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KOL</a:t>
            </a:r>
          </a:p>
        </p:txBody>
      </p:sp>
      <p:sp>
        <p:nvSpPr>
          <p:cNvPr id="5" name="TextBox 4"/>
          <p:cNvSpPr txBox="1"/>
          <p:nvPr/>
        </p:nvSpPr>
        <p:spPr>
          <a:xfrm>
            <a:off x="548640" y="2377440"/>
            <a:ext cx="5760720" cy="822960"/>
          </a:xfrm>
          <a:prstGeom prst="rect">
            <a:avLst/>
          </a:prstGeom>
          <a:noFill/>
        </p:spPr>
        <p:txBody>
          <a:bodyPr wrap="square" anchor="t" lIns="45720" rIns="45720" tIns="18288" bIns="18288">
            <a:spAutoFit/>
          </a:bodyPr>
          <a:lstStyle/>
          <a:p>
            <a:pPr algn="l"/>
            <a:r>
              <a:rPr sz="1600" b="0" i="0">
                <a:solidFill>
                  <a:srgbClr val="C8D1E6"/>
                </a:solidFill>
                <a:latin typeface="Calibri"/>
              </a:rPr>
              <a:t>Kol bölgesi</a:t>
            </a:r>
          </a:p>
          <a:p>
            <a:pPr algn="l"/>
            <a:r>
              <a:rPr sz="1600" b="0" i="0">
                <a:solidFill>
                  <a:srgbClr val="C8D1E6"/>
                </a:solidFill>
                <a:latin typeface="Calibri"/>
              </a:rPr>
              <a:t>Regio brachii anterior et posterior</a:t>
            </a:r>
          </a:p>
        </p:txBody>
      </p:sp>
      <p:sp>
        <p:nvSpPr>
          <p:cNvPr id="6" name="TextBox 5"/>
          <p:cNvSpPr txBox="1"/>
          <p:nvPr/>
        </p:nvSpPr>
        <p:spPr>
          <a:xfrm>
            <a:off x="548640" y="3429000"/>
            <a:ext cx="5760720" cy="2926080"/>
          </a:xfrm>
          <a:prstGeom prst="rect">
            <a:avLst/>
          </a:prstGeom>
          <a:noFill/>
        </p:spPr>
        <p:txBody>
          <a:bodyPr wrap="square">
            <a:spAutoFit/>
          </a:bodyPr>
          <a:lstStyle/>
          <a:p>
            <a:pPr algn="l">
              <a:spcAft>
                <a:spcPts val="300"/>
              </a:spcAft>
            </a:pPr>
            <a:r>
              <a:rPr sz="1300" b="0" i="0">
                <a:solidFill>
                  <a:srgbClr val="FFFFFF"/>
                </a:solidFill>
                <a:latin typeface="Calibri"/>
              </a:rPr>
              <a:t>• Humerus</a:t>
            </a:r>
          </a:p>
          <a:p>
            <a:pPr algn="l">
              <a:spcAft>
                <a:spcPts val="300"/>
              </a:spcAft>
            </a:pPr>
            <a:r>
              <a:rPr sz="1300" b="0" i="0">
                <a:solidFill>
                  <a:srgbClr val="FFFFFF"/>
                </a:solidFill>
                <a:latin typeface="Calibri"/>
              </a:rPr>
              <a:t>• Fasya ve kompartmanlar</a:t>
            </a:r>
          </a:p>
          <a:p>
            <a:pPr algn="l">
              <a:spcAft>
                <a:spcPts val="300"/>
              </a:spcAft>
            </a:pPr>
            <a:r>
              <a:rPr sz="1300" b="0" i="0">
                <a:solidFill>
                  <a:srgbClr val="FFFFFF"/>
                </a:solidFill>
                <a:latin typeface="Calibri"/>
              </a:rPr>
              <a:t>• Ön ve arka kompartman kasları</a:t>
            </a:r>
          </a:p>
          <a:p>
            <a:pPr algn="l">
              <a:spcAft>
                <a:spcPts val="300"/>
              </a:spcAft>
            </a:pPr>
            <a:r>
              <a:rPr sz="1300" b="0" i="0">
                <a:solidFill>
                  <a:srgbClr val="FFFFFF"/>
                </a:solidFill>
                <a:latin typeface="Calibri"/>
              </a:rPr>
              <a:t>• A. brachialis</a:t>
            </a:r>
          </a:p>
          <a:p>
            <a:pPr algn="l">
              <a:spcAft>
                <a:spcPts val="300"/>
              </a:spcAft>
            </a:pPr>
            <a:r>
              <a:rPr sz="1300" b="0" i="0">
                <a:solidFill>
                  <a:srgbClr val="FFFFFF"/>
                </a:solidFill>
                <a:latin typeface="Calibri"/>
              </a:rPr>
              <a:t>• Kolun sinirleri</a:t>
            </a:r>
          </a:p>
          <a:p>
            <a:pPr algn="l">
              <a:spcAft>
                <a:spcPts val="300"/>
              </a:spcAft>
            </a:pPr>
            <a:r>
              <a:rPr sz="1300" b="0" i="0">
                <a:solidFill>
                  <a:srgbClr val="FFFFFF"/>
                </a:solidFill>
                <a:latin typeface="Calibri"/>
              </a:rPr>
              <a:t>• Yüzeyel yapılar</a:t>
            </a:r>
          </a:p>
          <a:p>
            <a:pPr algn="l">
              <a:spcAft>
                <a:spcPts val="300"/>
              </a:spcAft>
            </a:pPr>
            <a:r>
              <a:rPr sz="1300" b="0" i="0">
                <a:solidFill>
                  <a:srgbClr val="FFFFFF"/>
                </a:solidFill>
                <a:latin typeface="Calibri"/>
              </a:rPr>
              <a:t>• Klinik bağlantılar</a:t>
            </a:r>
          </a:p>
          <a:p>
            <a:pPr algn="l">
              <a:spcAft>
                <a:spcPts val="300"/>
              </a:spcAft>
            </a:pPr>
            <a:r>
              <a:rPr sz="1300" b="0" i="0">
                <a:solidFill>
                  <a:srgbClr val="FFFFFF"/>
                </a:solidFill>
                <a:latin typeface="Calibri"/>
              </a:rPr>
              <a:t>• Varyasyon literatürü</a:t>
            </a:r>
          </a:p>
        </p:txBody>
      </p:sp>
      <p:pic>
        <p:nvPicPr>
          <p:cNvPr id="7" name="Picture 6" descr="cryo_1490_R.jpg"/>
          <p:cNvPicPr>
            <a:picLocks noChangeAspect="1"/>
          </p:cNvPicPr>
          <p:nvPr/>
        </p:nvPicPr>
        <p:blipFill>
          <a:blip r:embed="rId2"/>
          <a:stretch>
            <a:fillRect/>
          </a:stretch>
        </p:blipFill>
        <p:spPr>
          <a:xfrm>
            <a:off x="8001622" y="365760"/>
            <a:ext cx="2741954" cy="3186596"/>
          </a:xfrm>
          <a:prstGeom prst="rect">
            <a:avLst/>
          </a:prstGeom>
        </p:spPr>
      </p:pic>
      <p:sp>
        <p:nvSpPr>
          <p:cNvPr id="8" name="TextBox 7"/>
          <p:cNvSpPr txBox="1"/>
          <p:nvPr/>
        </p:nvSpPr>
        <p:spPr>
          <a:xfrm>
            <a:off x="7910182" y="3552356"/>
            <a:ext cx="2924834"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1490</a:t>
            </a:r>
          </a:p>
        </p:txBody>
      </p:sp>
      <p:pic>
        <p:nvPicPr>
          <p:cNvPr id="9" name="Picture 8" descr="276_2023_3207_Fig3_HTML.jpg"/>
          <p:cNvPicPr>
            <a:picLocks noChangeAspect="1"/>
          </p:cNvPicPr>
          <p:nvPr/>
        </p:nvPicPr>
        <p:blipFill>
          <a:blip r:embed="rId3"/>
          <a:stretch>
            <a:fillRect/>
          </a:stretch>
        </p:blipFill>
        <p:spPr>
          <a:xfrm>
            <a:off x="8001622" y="3826676"/>
            <a:ext cx="2741954" cy="2025483"/>
          </a:xfrm>
          <a:prstGeom prst="rect">
            <a:avLst/>
          </a:prstGeom>
        </p:spPr>
      </p:pic>
      <p:sp>
        <p:nvSpPr>
          <p:cNvPr id="10" name="TextBox 9"/>
          <p:cNvSpPr txBox="1"/>
          <p:nvPr/>
        </p:nvSpPr>
        <p:spPr>
          <a:xfrm>
            <a:off x="7910182" y="5852160"/>
            <a:ext cx="292483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Piagkou Maria ve ark., 2023 (PMC10514118,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00" b="0" i="0">
                <a:solidFill>
                  <a:srgbClr val="555B66"/>
                </a:solidFill>
                <a:latin typeface="Calibri"/>
              </a:rPr>
              <a:t>Görüntü: NLM Visible Human Project – Visible Human Male (NCI Imaging Data Commons, doi:10.5281/zenodo.12690049; NLM Terms and Conditions 2019). İşleme/kırpma: bu proje.  •  Piagkou Maria, Tsakotos George, Triantafyllou George et al. Coracobrachialis muscle morphology and coexisted neural variants: a cadaveric case series. Surg Radiol Anat. 2023 Jul 18;45(9):1117–24. doi: 10.1007/s00276-023-03207-7 PMCID: PMC10514118.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Humerus: corpus ve distal uç</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Kırık düzeylerine göre risk altındaki sinirler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Corpus:</a:t>
            </a:r>
            <a:r>
              <a:rPr sz="1300" b="0" i="0">
                <a:solidFill>
                  <a:srgbClr val="1F2A44"/>
                </a:solidFill>
                <a:latin typeface="Calibri"/>
              </a:rPr>
              <a:t> tuberositas deltoidea (lateral, orta), arka yüzde </a:t>
            </a:r>
            <a:r>
              <a:rPr sz="1300" b="0" i="0">
                <a:solidFill>
                  <a:srgbClr val="1F2A44"/>
                </a:solidFill>
                <a:latin typeface="Calibri"/>
              </a:rPr>
              <a:t>sulcus nervi radialis</a:t>
            </a:r>
            <a:r>
              <a:rPr sz="1300" b="0" i="0">
                <a:solidFill>
                  <a:srgbClr val="1F2A44"/>
                </a:solidFill>
                <a:latin typeface="Calibri"/>
              </a:rPr>
              <a:t> (n. radialis + a. profunda brachii).</a:t>
            </a:r>
          </a:p>
          <a:p>
            <a:pPr algn="l">
              <a:spcAft>
                <a:spcPts val="300"/>
              </a:spcAft>
            </a:pPr>
            <a:r>
              <a:rPr sz="1300" b="0" i="0">
                <a:solidFill>
                  <a:srgbClr val="1F2A44"/>
                </a:solidFill>
                <a:latin typeface="Calibri"/>
              </a:rPr>
              <a:t>• </a:t>
            </a:r>
            <a:r>
              <a:rPr sz="1300" b="0" i="0">
                <a:solidFill>
                  <a:srgbClr val="1F2A44"/>
                </a:solidFill>
                <a:latin typeface="Calibri"/>
              </a:rPr>
              <a:t>Distal uç:</a:t>
            </a:r>
            <a:r>
              <a:rPr sz="1300" b="0" i="0">
                <a:solidFill>
                  <a:srgbClr val="1F2A44"/>
                </a:solidFill>
                <a:latin typeface="Calibri"/>
              </a:rPr>
              <a:t> epicondylus medialis (arkasında sulcus nervi ulnaris) ve lateralis, </a:t>
            </a:r>
            <a:r>
              <a:rPr sz="1300" b="0" i="0">
                <a:solidFill>
                  <a:srgbClr val="1F2A44"/>
                </a:solidFill>
                <a:latin typeface="Calibri"/>
              </a:rPr>
              <a:t>trochlea</a:t>
            </a:r>
            <a:r>
              <a:rPr sz="1300" b="0" i="0">
                <a:solidFill>
                  <a:srgbClr val="1F2A44"/>
                </a:solidFill>
                <a:latin typeface="Calibri"/>
              </a:rPr>
              <a:t> (ulna ile), </a:t>
            </a:r>
            <a:r>
              <a:rPr sz="1300" b="0" i="0">
                <a:solidFill>
                  <a:srgbClr val="1F2A44"/>
                </a:solidFill>
                <a:latin typeface="Calibri"/>
              </a:rPr>
              <a:t>capitulum</a:t>
            </a:r>
            <a:r>
              <a:rPr sz="1300" b="0" i="0">
                <a:solidFill>
                  <a:srgbClr val="1F2A44"/>
                </a:solidFill>
                <a:latin typeface="Calibri"/>
              </a:rPr>
              <a:t> (radius ile); önde fossa coronoidea ve radialis, arkada fossa olecrani.</a:t>
            </a:r>
          </a:p>
          <a:p>
            <a:pPr algn="l">
              <a:spcAft>
                <a:spcPts val="300"/>
              </a:spcAft>
            </a:pPr>
            <a:r>
              <a:rPr sz="1300" b="0" i="0">
                <a:solidFill>
                  <a:srgbClr val="1F2A44"/>
                </a:solidFill>
                <a:latin typeface="Calibri"/>
              </a:rPr>
              <a:t>• </a:t>
            </a:r>
            <a:r>
              <a:rPr sz="1300" b="0" i="0">
                <a:solidFill>
                  <a:srgbClr val="1F2A44"/>
                </a:solidFill>
                <a:latin typeface="Calibri"/>
              </a:rPr>
              <a:t>Kırık düzeyi → risk altındaki yapı:</a:t>
            </a:r>
            <a:r>
              <a:rPr sz="1300" b="0" i="0">
                <a:solidFill>
                  <a:srgbClr val="1F2A44"/>
                </a:solidFill>
                <a:latin typeface="Calibri"/>
              </a:rPr>
              <a:t> collum chirurgicum → n. axillaris; corpus (sulcus) → </a:t>
            </a:r>
            <a:r>
              <a:rPr sz="1300" b="0" i="0">
                <a:solidFill>
                  <a:srgbClr val="1F2A44"/>
                </a:solidFill>
                <a:latin typeface="Calibri"/>
              </a:rPr>
              <a:t>n. radialis</a:t>
            </a:r>
            <a:r>
              <a:rPr sz="1300" b="0" i="0">
                <a:solidFill>
                  <a:srgbClr val="1F2A44"/>
                </a:solidFill>
                <a:latin typeface="Calibri"/>
              </a:rPr>
              <a:t>; suprakondiler → </a:t>
            </a:r>
            <a:r>
              <a:rPr sz="1300" b="0" i="0">
                <a:solidFill>
                  <a:srgbClr val="1F2A44"/>
                </a:solidFill>
                <a:latin typeface="Calibri"/>
              </a:rPr>
              <a:t>a. brachialis</a:t>
            </a:r>
            <a:r>
              <a:rPr sz="1300" b="0" i="0">
                <a:solidFill>
                  <a:srgbClr val="1F2A44"/>
                </a:solidFill>
                <a:latin typeface="Calibri"/>
              </a:rPr>
              <a:t> ve n. medianus; epicondylus medialis → </a:t>
            </a:r>
            <a:r>
              <a:rPr sz="1300" b="0" i="0">
                <a:solidFill>
                  <a:srgbClr val="1F2A44"/>
                </a:solidFill>
                <a:latin typeface="Calibri"/>
              </a:rPr>
              <a:t>n. ulnaris</a:t>
            </a:r>
            <a:r>
              <a:rPr sz="1300" b="0" i="0">
                <a:solidFill>
                  <a:srgbClr val="1F2A44"/>
                </a:solidFill>
                <a:latin typeface="Calibri"/>
              </a:rPr>
              <a:t>.</a:t>
            </a:r>
          </a:p>
          <a:p>
            <a:pPr algn="l">
              <a:spcAft>
                <a:spcPts val="300"/>
              </a:spcAft>
            </a:pPr>
            <a:r>
              <a:rPr sz="1300" b="0" i="0">
                <a:solidFill>
                  <a:srgbClr val="1F2A44"/>
                </a:solidFill>
                <a:latin typeface="Calibri"/>
              </a:rPr>
              <a:t>• Humerus cisim kırığında n. radialis hasarında m. triceps brachii genellikle korunur, çünkü triceps dalları sinir sulcus'a girmeden önce ayrılır.</a:t>
            </a:r>
          </a:p>
        </p:txBody>
      </p:sp>
      <p:pic>
        <p:nvPicPr>
          <p:cNvPr id="8" name="Picture 7" descr="cpr_coronal_levels.jpg"/>
          <p:cNvPicPr>
            <a:picLocks noChangeAspect="1"/>
          </p:cNvPicPr>
          <p:nvPr/>
        </p:nvPicPr>
        <p:blipFill>
          <a:blip r:embed="rId2"/>
          <a:stretch>
            <a:fillRect/>
          </a:stretch>
        </p:blipFill>
        <p:spPr>
          <a:xfrm>
            <a:off x="8715192" y="1188720"/>
            <a:ext cx="1543414" cy="4846320"/>
          </a:xfrm>
          <a:prstGeom prst="rect">
            <a:avLst/>
          </a:prstGeom>
        </p:spPr>
      </p:pic>
      <p:sp>
        <p:nvSpPr>
          <p:cNvPr id="9" name="TextBox 8"/>
          <p:cNvSpPr txBox="1"/>
          <p:nvPr/>
        </p:nvSpPr>
        <p:spPr>
          <a:xfrm>
            <a:off x="8623752" y="6035040"/>
            <a:ext cx="1726294"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 humerus boyunca boylamsal reformat</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fasyası ve kompartmanları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Fascia brachii, septum intermusculare brachii mediale et laterale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Fascia brachii</a:t>
            </a:r>
            <a:r>
              <a:rPr sz="1300" b="0" i="0">
                <a:solidFill>
                  <a:srgbClr val="1F2A44"/>
                </a:solidFill>
                <a:latin typeface="Calibri"/>
              </a:rPr>
              <a:t> kolu bir kılıf gibi sarar; humerus'un medial ve lateral suprakondiler kenarlarına tutunan </a:t>
            </a:r>
            <a:r>
              <a:rPr sz="1300" b="0" i="0">
                <a:solidFill>
                  <a:srgbClr val="1F2A44"/>
                </a:solidFill>
                <a:latin typeface="Calibri"/>
              </a:rPr>
              <a:t>septa intermuscularia</a:t>
            </a:r>
            <a:r>
              <a:rPr sz="1300" b="0" i="0">
                <a:solidFill>
                  <a:srgbClr val="1F2A44"/>
                </a:solidFill>
                <a:latin typeface="Calibri"/>
              </a:rPr>
              <a:t> kolu iki kompartmana ayırır.</a:t>
            </a:r>
          </a:p>
          <a:p>
            <a:pPr algn="l">
              <a:spcAft>
                <a:spcPts val="300"/>
              </a:spcAft>
            </a:pPr>
            <a:r>
              <a:rPr sz="1300" b="0" i="0">
                <a:solidFill>
                  <a:srgbClr val="1F2A44"/>
                </a:solidFill>
                <a:latin typeface="Calibri"/>
              </a:rPr>
              <a:t>• </a:t>
            </a:r>
            <a:r>
              <a:rPr sz="1300" b="0" i="0">
                <a:solidFill>
                  <a:srgbClr val="1F2A44"/>
                </a:solidFill>
                <a:latin typeface="Calibri"/>
              </a:rPr>
              <a:t>Ön (fleksör) kompartman:</a:t>
            </a:r>
            <a:r>
              <a:rPr sz="1300" b="0" i="0">
                <a:solidFill>
                  <a:srgbClr val="1F2A44"/>
                </a:solidFill>
                <a:latin typeface="Calibri"/>
              </a:rPr>
              <a:t> m. biceps brachii, m. brachialis, m. coracobrachialis – </a:t>
            </a:r>
            <a:r>
              <a:rPr sz="1300" b="0" i="0">
                <a:solidFill>
                  <a:srgbClr val="1F2A44"/>
                </a:solidFill>
                <a:latin typeface="Calibri"/>
              </a:rPr>
              <a:t>n. musculocutaneus</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Arka (ekstensör) kompartman:</a:t>
            </a:r>
            <a:r>
              <a:rPr sz="1300" b="0" i="0">
                <a:solidFill>
                  <a:srgbClr val="1F2A44"/>
                </a:solidFill>
                <a:latin typeface="Calibri"/>
              </a:rPr>
              <a:t> m. triceps brachii (ve distalde m. anconeus) – </a:t>
            </a:r>
            <a:r>
              <a:rPr sz="1300" b="0" i="0">
                <a:solidFill>
                  <a:srgbClr val="1F2A44"/>
                </a:solidFill>
                <a:latin typeface="Calibri"/>
              </a:rPr>
              <a:t>n. radialis</a:t>
            </a:r>
            <a:r>
              <a:rPr sz="1300" b="0" i="0">
                <a:solidFill>
                  <a:srgbClr val="1F2A44"/>
                </a:solidFill>
                <a:latin typeface="Calibri"/>
              </a:rPr>
              <a:t>.</a:t>
            </a:r>
          </a:p>
          <a:p>
            <a:pPr algn="l">
              <a:spcAft>
                <a:spcPts val="300"/>
              </a:spcAft>
            </a:pPr>
            <a:r>
              <a:rPr sz="1300" b="0" i="0">
                <a:solidFill>
                  <a:srgbClr val="1F2A44"/>
                </a:solidFill>
                <a:latin typeface="Calibri"/>
              </a:rPr>
              <a:t>• Medial damar–sinir demeti (a. brachialis, vv. brachiales, n. medianus; proksimalde n. ulnaris) septum mediale boyunca, </a:t>
            </a:r>
            <a:r>
              <a:rPr sz="1300" b="0" i="0">
                <a:solidFill>
                  <a:srgbClr val="1F2A44"/>
                </a:solidFill>
                <a:latin typeface="Calibri"/>
              </a:rPr>
              <a:t>sulcus bicipitalis medialis</a:t>
            </a:r>
            <a:r>
              <a:rPr sz="1300" b="0" i="0">
                <a:solidFill>
                  <a:srgbClr val="1F2A44"/>
                </a:solidFill>
                <a:latin typeface="Calibri"/>
              </a:rPr>
              <a:t>'te seyreder.</a:t>
            </a:r>
          </a:p>
          <a:p>
            <a:pPr algn="l">
              <a:spcAft>
                <a:spcPts val="300"/>
              </a:spcAft>
            </a:pPr>
            <a:r>
              <a:rPr sz="1300" b="0" i="0">
                <a:solidFill>
                  <a:srgbClr val="1F2A44"/>
                </a:solidFill>
                <a:latin typeface="Calibri"/>
              </a:rPr>
              <a:t>• Kesitsel görünüm için VHP 1490 kesitine bakınız: humerus merkezde, ön ve arka kas kitleleri ve medial damar–sinir demeti.</a:t>
            </a:r>
          </a:p>
        </p:txBody>
      </p:sp>
      <p:pic>
        <p:nvPicPr>
          <p:cNvPr id="8" name="Picture 7" descr="cryo_1490_R.jpg"/>
          <p:cNvPicPr>
            <a:picLocks noChangeAspect="1"/>
          </p:cNvPicPr>
          <p:nvPr/>
        </p:nvPicPr>
        <p:blipFill>
          <a:blip r:embed="rId2"/>
          <a:stretch>
            <a:fillRect/>
          </a:stretch>
        </p:blipFill>
        <p:spPr>
          <a:xfrm>
            <a:off x="7401855" y="1188720"/>
            <a:ext cx="4170089" cy="4846320"/>
          </a:xfrm>
          <a:prstGeom prst="rect">
            <a:avLst/>
          </a:prstGeom>
        </p:spPr>
      </p:pic>
      <p:sp>
        <p:nvSpPr>
          <p:cNvPr id="9" name="TextBox 8"/>
          <p:cNvSpPr txBox="1"/>
          <p:nvPr/>
        </p:nvSpPr>
        <p:spPr>
          <a:xfrm>
            <a:off x="7310415" y="6035040"/>
            <a:ext cx="4352969"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1490 – kol orta 1/3, kompartmanlar</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ön kompartman kasları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Tümü n. musculocutaneus tarafından innerve edilir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31546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30936">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İşlev</a:t>
                      </a:r>
                    </a:p>
                  </a:txBody>
                  <a:tcPr>
                    <a:solidFill>
                      <a:srgbClr val="1F2A44"/>
                    </a:solidFill>
                  </a:tcPr>
                </a:tc>
              </a:tr>
              <a:tr h="630936">
                <a:tc>
                  <a:txBody>
                    <a:bodyPr/>
                    <a:lstStyle/>
                    <a:p>
                      <a:r>
                        <a:rPr sz="1100" b="1">
                          <a:solidFill>
                            <a:srgbClr val="1F2A44"/>
                          </a:solidFill>
                          <a:latin typeface="Calibri"/>
                        </a:rPr>
                        <a:t>M. biceps brachii – caput longum</a:t>
                      </a:r>
                    </a:p>
                  </a:txBody>
                  <a:tcPr>
                    <a:solidFill>
                      <a:srgbClr val="F3F4F6"/>
                    </a:solidFill>
                  </a:tcPr>
                </a:tc>
                <a:tc>
                  <a:txBody>
                    <a:bodyPr/>
                    <a:lstStyle/>
                    <a:p>
                      <a:r>
                        <a:rPr sz="1100" b="0">
                          <a:solidFill>
                            <a:srgbClr val="1F2A44"/>
                          </a:solidFill>
                          <a:latin typeface="Calibri"/>
                        </a:rPr>
                        <a:t>Tuberculum supraglenoidale</a:t>
                      </a:r>
                    </a:p>
                  </a:txBody>
                  <a:tcPr>
                    <a:solidFill>
                      <a:srgbClr val="F3F4F6"/>
                    </a:solidFill>
                  </a:tcPr>
                </a:tc>
                <a:tc>
                  <a:txBody>
                    <a:bodyPr/>
                    <a:lstStyle/>
                    <a:p>
                      <a:r>
                        <a:rPr sz="1100" b="0">
                          <a:solidFill>
                            <a:srgbClr val="1F2A44"/>
                          </a:solidFill>
                          <a:latin typeface="Calibri"/>
                        </a:rPr>
                        <a:t>Tuberositas radii + aponeurosis bicipitalis</a:t>
                      </a:r>
                    </a:p>
                  </a:txBody>
                  <a:tcPr>
                    <a:solidFill>
                      <a:srgbClr val="F3F4F6"/>
                    </a:solidFill>
                  </a:tcPr>
                </a:tc>
                <a:tc>
                  <a:txBody>
                    <a:bodyPr/>
                    <a:lstStyle/>
                    <a:p>
                      <a:r>
                        <a:rPr sz="1100" b="0">
                          <a:solidFill>
                            <a:srgbClr val="1F2A44"/>
                          </a:solidFill>
                          <a:latin typeface="Calibri"/>
                        </a:rPr>
                        <a:t>N. musculocutaneus (C5–C6)</a:t>
                      </a:r>
                    </a:p>
                  </a:txBody>
                  <a:tcPr>
                    <a:solidFill>
                      <a:srgbClr val="F3F4F6"/>
                    </a:solidFill>
                  </a:tcPr>
                </a:tc>
                <a:tc>
                  <a:txBody>
                    <a:bodyPr/>
                    <a:lstStyle/>
                    <a:p>
                      <a:r>
                        <a:rPr sz="1100" b="0">
                          <a:solidFill>
                            <a:srgbClr val="1F2A44"/>
                          </a:solidFill>
                          <a:latin typeface="Calibri"/>
                        </a:rPr>
                        <a:t>Dirsek fleksiyonu, güçlü supinasyon</a:t>
                      </a:r>
                    </a:p>
                  </a:txBody>
                  <a:tcPr>
                    <a:solidFill>
                      <a:srgbClr val="F3F4F6"/>
                    </a:solidFill>
                  </a:tcPr>
                </a:tc>
              </a:tr>
              <a:tr h="630936">
                <a:tc>
                  <a:txBody>
                    <a:bodyPr/>
                    <a:lstStyle/>
                    <a:p>
                      <a:r>
                        <a:rPr sz="1100" b="1">
                          <a:solidFill>
                            <a:srgbClr val="1F2A44"/>
                          </a:solidFill>
                          <a:latin typeface="Calibri"/>
                        </a:rPr>
                        <a:t>M. biceps brachii – caput breve</a:t>
                      </a:r>
                    </a:p>
                  </a:txBody>
                  <a:tcPr>
                    <a:solidFill>
                      <a:srgbClr val="FFFFFF"/>
                    </a:solidFill>
                  </a:tcPr>
                </a:tc>
                <a:tc>
                  <a:txBody>
                    <a:bodyPr/>
                    <a:lstStyle/>
                    <a:p>
                      <a:r>
                        <a:rPr sz="1100" b="0">
                          <a:solidFill>
                            <a:srgbClr val="1F2A44"/>
                          </a:solidFill>
                          <a:latin typeface="Calibri"/>
                        </a:rPr>
                        <a:t>Processus coracoideus</a:t>
                      </a:r>
                    </a:p>
                  </a:txBody>
                  <a:tcPr>
                    <a:solidFill>
                      <a:srgbClr val="FFFFFF"/>
                    </a:solidFill>
                  </a:tcPr>
                </a:tc>
                <a:tc>
                  <a:txBody>
                    <a:bodyPr/>
                    <a:lstStyle/>
                    <a:p>
                      <a:r>
                        <a:rPr sz="1100" b="0">
                          <a:solidFill>
                            <a:srgbClr val="1F2A44"/>
                          </a:solidFill>
                          <a:latin typeface="Calibri"/>
                        </a:rPr>
                        <a:t>(ortak tendon)</a:t>
                      </a:r>
                    </a:p>
                  </a:txBody>
                  <a:tcPr>
                    <a:solidFill>
                      <a:srgbClr val="FFFFFF"/>
                    </a:solidFill>
                  </a:tcPr>
                </a:tc>
                <a:tc>
                  <a:txBody>
                    <a:bodyPr/>
                    <a:lstStyle/>
                    <a:p>
                      <a:r>
                        <a:rPr sz="1100" b="0">
                          <a:solidFill>
                            <a:srgbClr val="1F2A44"/>
                          </a:solidFill>
                          <a:latin typeface="Calibri"/>
                        </a:rPr>
                        <a:t>N. musculocutaneus (C5–C6)</a:t>
                      </a:r>
                    </a:p>
                  </a:txBody>
                  <a:tcPr>
                    <a:solidFill>
                      <a:srgbClr val="FFFFFF"/>
                    </a:solidFill>
                  </a:tcPr>
                </a:tc>
                <a:tc>
                  <a:txBody>
                    <a:bodyPr/>
                    <a:lstStyle/>
                    <a:p>
                      <a:r>
                        <a:rPr sz="1100" b="0">
                          <a:solidFill>
                            <a:srgbClr val="1F2A44"/>
                          </a:solidFill>
                          <a:latin typeface="Calibri"/>
                        </a:rPr>
                        <a:t>Omuz fleksiyonuna katkı</a:t>
                      </a:r>
                    </a:p>
                  </a:txBody>
                  <a:tcPr>
                    <a:solidFill>
                      <a:srgbClr val="FFFFFF"/>
                    </a:solidFill>
                  </a:tcPr>
                </a:tc>
              </a:tr>
              <a:tr h="630936">
                <a:tc>
                  <a:txBody>
                    <a:bodyPr/>
                    <a:lstStyle/>
                    <a:p>
                      <a:r>
                        <a:rPr sz="1100" b="1">
                          <a:solidFill>
                            <a:srgbClr val="1F2A44"/>
                          </a:solidFill>
                          <a:latin typeface="Calibri"/>
                        </a:rPr>
                        <a:t>M. brachialis</a:t>
                      </a:r>
                    </a:p>
                  </a:txBody>
                  <a:tcPr>
                    <a:solidFill>
                      <a:srgbClr val="F3F4F6"/>
                    </a:solidFill>
                  </a:tcPr>
                </a:tc>
                <a:tc>
                  <a:txBody>
                    <a:bodyPr/>
                    <a:lstStyle/>
                    <a:p>
                      <a:r>
                        <a:rPr sz="1100" b="0">
                          <a:solidFill>
                            <a:srgbClr val="1F2A44"/>
                          </a:solidFill>
                          <a:latin typeface="Calibri"/>
                        </a:rPr>
                        <a:t>Humerus ön yüzü, distal yarı</a:t>
                      </a:r>
                    </a:p>
                  </a:txBody>
                  <a:tcPr>
                    <a:solidFill>
                      <a:srgbClr val="F3F4F6"/>
                    </a:solidFill>
                  </a:tcPr>
                </a:tc>
                <a:tc>
                  <a:txBody>
                    <a:bodyPr/>
                    <a:lstStyle/>
                    <a:p>
                      <a:r>
                        <a:rPr sz="1100" b="0">
                          <a:solidFill>
                            <a:srgbClr val="1F2A44"/>
                          </a:solidFill>
                          <a:latin typeface="Calibri"/>
                        </a:rPr>
                        <a:t>Tuberositas ulnae, proc. coronoideus</a:t>
                      </a:r>
                    </a:p>
                  </a:txBody>
                  <a:tcPr>
                    <a:solidFill>
                      <a:srgbClr val="F3F4F6"/>
                    </a:solidFill>
                  </a:tcPr>
                </a:tc>
                <a:tc>
                  <a:txBody>
                    <a:bodyPr/>
                    <a:lstStyle/>
                    <a:p>
                      <a:r>
                        <a:rPr sz="1100" b="0">
                          <a:solidFill>
                            <a:srgbClr val="1F2A44"/>
                          </a:solidFill>
                          <a:latin typeface="Calibri"/>
                        </a:rPr>
                        <a:t>N. musculocutaneus (+ n. radialis'ten küçük dal)</a:t>
                      </a:r>
                    </a:p>
                  </a:txBody>
                  <a:tcPr>
                    <a:solidFill>
                      <a:srgbClr val="F3F4F6"/>
                    </a:solidFill>
                  </a:tcPr>
                </a:tc>
                <a:tc>
                  <a:txBody>
                    <a:bodyPr/>
                    <a:lstStyle/>
                    <a:p>
                      <a:r>
                        <a:rPr sz="1100" b="0">
                          <a:solidFill>
                            <a:srgbClr val="1F2A44"/>
                          </a:solidFill>
                          <a:latin typeface="Calibri"/>
                        </a:rPr>
                        <a:t>Dirseğin ana fleksörü</a:t>
                      </a:r>
                    </a:p>
                  </a:txBody>
                  <a:tcPr>
                    <a:solidFill>
                      <a:srgbClr val="F3F4F6"/>
                    </a:solidFill>
                  </a:tcPr>
                </a:tc>
              </a:tr>
              <a:tr h="630936">
                <a:tc>
                  <a:txBody>
                    <a:bodyPr/>
                    <a:lstStyle/>
                    <a:p>
                      <a:r>
                        <a:rPr sz="1100" b="1">
                          <a:solidFill>
                            <a:srgbClr val="1F2A44"/>
                          </a:solidFill>
                          <a:latin typeface="Calibri"/>
                        </a:rPr>
                        <a:t>M. coracobrachialis</a:t>
                      </a:r>
                    </a:p>
                  </a:txBody>
                  <a:tcPr>
                    <a:solidFill>
                      <a:srgbClr val="FFFFFF"/>
                    </a:solidFill>
                  </a:tcPr>
                </a:tc>
                <a:tc>
                  <a:txBody>
                    <a:bodyPr/>
                    <a:lstStyle/>
                    <a:p>
                      <a:r>
                        <a:rPr sz="1100" b="0">
                          <a:solidFill>
                            <a:srgbClr val="1F2A44"/>
                          </a:solidFill>
                          <a:latin typeface="Calibri"/>
                        </a:rPr>
                        <a:t>Processus coracoideus</a:t>
                      </a:r>
                    </a:p>
                  </a:txBody>
                  <a:tcPr>
                    <a:solidFill>
                      <a:srgbClr val="FFFFFF"/>
                    </a:solidFill>
                  </a:tcPr>
                </a:tc>
                <a:tc>
                  <a:txBody>
                    <a:bodyPr/>
                    <a:lstStyle/>
                    <a:p>
                      <a:r>
                        <a:rPr sz="1100" b="0">
                          <a:solidFill>
                            <a:srgbClr val="1F2A44"/>
                          </a:solidFill>
                          <a:latin typeface="Calibri"/>
                        </a:rPr>
                        <a:t>Humerus medial yüzü, orta 1/3</a:t>
                      </a:r>
                    </a:p>
                  </a:txBody>
                  <a:tcPr>
                    <a:solidFill>
                      <a:srgbClr val="FFFFFF"/>
                    </a:solidFill>
                  </a:tcPr>
                </a:tc>
                <a:tc>
                  <a:txBody>
                    <a:bodyPr/>
                    <a:lstStyle/>
                    <a:p>
                      <a:r>
                        <a:rPr sz="1100" b="0">
                          <a:solidFill>
                            <a:srgbClr val="1F2A44"/>
                          </a:solidFill>
                          <a:latin typeface="Calibri"/>
                        </a:rPr>
                        <a:t>N. musculocutaneus (C5–C7)</a:t>
                      </a:r>
                    </a:p>
                  </a:txBody>
                  <a:tcPr>
                    <a:solidFill>
                      <a:srgbClr val="FFFFFF"/>
                    </a:solidFill>
                  </a:tcPr>
                </a:tc>
                <a:tc>
                  <a:txBody>
                    <a:bodyPr/>
                    <a:lstStyle/>
                    <a:p>
                      <a:r>
                        <a:rPr sz="1100" b="0">
                          <a:solidFill>
                            <a:srgbClr val="1F2A44"/>
                          </a:solidFill>
                          <a:latin typeface="Calibri"/>
                        </a:rPr>
                        <a:t>Kolu fleksiyon ve addüksiyon</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arka kompartman kasları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radialis tarafından innerve edilir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31546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30936">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İşlev</a:t>
                      </a:r>
                    </a:p>
                  </a:txBody>
                  <a:tcPr>
                    <a:solidFill>
                      <a:srgbClr val="1F2A44"/>
                    </a:solidFill>
                  </a:tcPr>
                </a:tc>
              </a:tr>
              <a:tr h="630936">
                <a:tc>
                  <a:txBody>
                    <a:bodyPr/>
                    <a:lstStyle/>
                    <a:p>
                      <a:r>
                        <a:rPr sz="1100" b="1">
                          <a:solidFill>
                            <a:srgbClr val="1F2A44"/>
                          </a:solidFill>
                          <a:latin typeface="Calibri"/>
                        </a:rPr>
                        <a:t>M. triceps brachii – caput longum</a:t>
                      </a:r>
                    </a:p>
                  </a:txBody>
                  <a:tcPr>
                    <a:solidFill>
                      <a:srgbClr val="F3F4F6"/>
                    </a:solidFill>
                  </a:tcPr>
                </a:tc>
                <a:tc>
                  <a:txBody>
                    <a:bodyPr/>
                    <a:lstStyle/>
                    <a:p>
                      <a:r>
                        <a:rPr sz="1100" b="0">
                          <a:solidFill>
                            <a:srgbClr val="1F2A44"/>
                          </a:solidFill>
                          <a:latin typeface="Calibri"/>
                        </a:rPr>
                        <a:t>Tuberculum infraglenoidale</a:t>
                      </a:r>
                    </a:p>
                  </a:txBody>
                  <a:tcPr>
                    <a:solidFill>
                      <a:srgbClr val="F3F4F6"/>
                    </a:solidFill>
                  </a:tcPr>
                </a:tc>
                <a:tc>
                  <a:txBody>
                    <a:bodyPr/>
                    <a:lstStyle/>
                    <a:p>
                      <a:r>
                        <a:rPr sz="1100" b="0">
                          <a:solidFill>
                            <a:srgbClr val="1F2A44"/>
                          </a:solidFill>
                          <a:latin typeface="Calibri"/>
                        </a:rPr>
                        <a:t>Olecranon</a:t>
                      </a:r>
                    </a:p>
                  </a:txBody>
                  <a:tcPr>
                    <a:solidFill>
                      <a:srgbClr val="F3F4F6"/>
                    </a:solidFill>
                  </a:tcPr>
                </a:tc>
                <a:tc>
                  <a:txBody>
                    <a:bodyPr/>
                    <a:lstStyle/>
                    <a:p>
                      <a:r>
                        <a:rPr sz="1100" b="0">
                          <a:solidFill>
                            <a:srgbClr val="1F2A44"/>
                          </a:solidFill>
                          <a:latin typeface="Calibri"/>
                        </a:rPr>
                        <a:t>N. radialis (C6–C8)</a:t>
                      </a:r>
                    </a:p>
                  </a:txBody>
                  <a:tcPr>
                    <a:solidFill>
                      <a:srgbClr val="F3F4F6"/>
                    </a:solidFill>
                  </a:tcPr>
                </a:tc>
                <a:tc>
                  <a:txBody>
                    <a:bodyPr/>
                    <a:lstStyle/>
                    <a:p>
                      <a:r>
                        <a:rPr sz="1100" b="0">
                          <a:solidFill>
                            <a:srgbClr val="1F2A44"/>
                          </a:solidFill>
                          <a:latin typeface="Calibri"/>
                        </a:rPr>
                        <a:t>Dirsek ekstansiyonu; omuz ekstansiyonuna katkı</a:t>
                      </a:r>
                    </a:p>
                  </a:txBody>
                  <a:tcPr>
                    <a:solidFill>
                      <a:srgbClr val="F3F4F6"/>
                    </a:solidFill>
                  </a:tcPr>
                </a:tc>
              </a:tr>
              <a:tr h="630936">
                <a:tc>
                  <a:txBody>
                    <a:bodyPr/>
                    <a:lstStyle/>
                    <a:p>
                      <a:r>
                        <a:rPr sz="1100" b="1">
                          <a:solidFill>
                            <a:srgbClr val="1F2A44"/>
                          </a:solidFill>
                          <a:latin typeface="Calibri"/>
                        </a:rPr>
                        <a:t>M. triceps brachii – caput laterale</a:t>
                      </a:r>
                    </a:p>
                  </a:txBody>
                  <a:tcPr>
                    <a:solidFill>
                      <a:srgbClr val="FFFFFF"/>
                    </a:solidFill>
                  </a:tcPr>
                </a:tc>
                <a:tc>
                  <a:txBody>
                    <a:bodyPr/>
                    <a:lstStyle/>
                    <a:p>
                      <a:r>
                        <a:rPr sz="1100" b="0">
                          <a:solidFill>
                            <a:srgbClr val="1F2A44"/>
                          </a:solidFill>
                          <a:latin typeface="Calibri"/>
                        </a:rPr>
                        <a:t>Humerus arka yüzü, sulcus n. radialis'in üstü</a:t>
                      </a:r>
                    </a:p>
                  </a:txBody>
                  <a:tcPr>
                    <a:solidFill>
                      <a:srgbClr val="FFFFFF"/>
                    </a:solidFill>
                  </a:tcPr>
                </a:tc>
                <a:tc>
                  <a:txBody>
                    <a:bodyPr/>
                    <a:lstStyle/>
                    <a:p>
                      <a:r>
                        <a:rPr sz="1100" b="0">
                          <a:solidFill>
                            <a:srgbClr val="1F2A44"/>
                          </a:solidFill>
                          <a:latin typeface="Calibri"/>
                        </a:rPr>
                        <a:t>Olecranon</a:t>
                      </a:r>
                    </a:p>
                  </a:txBody>
                  <a:tcPr>
                    <a:solidFill>
                      <a:srgbClr val="FFFFFF"/>
                    </a:solidFill>
                  </a:tcPr>
                </a:tc>
                <a:tc>
                  <a:txBody>
                    <a:bodyPr/>
                    <a:lstStyle/>
                    <a:p>
                      <a:r>
                        <a:rPr sz="1100" b="0">
                          <a:solidFill>
                            <a:srgbClr val="1F2A44"/>
                          </a:solidFill>
                          <a:latin typeface="Calibri"/>
                        </a:rPr>
                        <a:t>N. radialis</a:t>
                      </a:r>
                    </a:p>
                  </a:txBody>
                  <a:tcPr>
                    <a:solidFill>
                      <a:srgbClr val="FFFFFF"/>
                    </a:solidFill>
                  </a:tcPr>
                </a:tc>
                <a:tc>
                  <a:txBody>
                    <a:bodyPr/>
                    <a:lstStyle/>
                    <a:p>
                      <a:r>
                        <a:rPr sz="1100" b="0">
                          <a:solidFill>
                            <a:srgbClr val="1F2A44"/>
                          </a:solidFill>
                          <a:latin typeface="Calibri"/>
                        </a:rPr>
                        <a:t>Dirsek ekstansiyonu</a:t>
                      </a:r>
                    </a:p>
                  </a:txBody>
                  <a:tcPr>
                    <a:solidFill>
                      <a:srgbClr val="FFFFFF"/>
                    </a:solidFill>
                  </a:tcPr>
                </a:tc>
              </a:tr>
              <a:tr h="630936">
                <a:tc>
                  <a:txBody>
                    <a:bodyPr/>
                    <a:lstStyle/>
                    <a:p>
                      <a:r>
                        <a:rPr sz="1100" b="1">
                          <a:solidFill>
                            <a:srgbClr val="1F2A44"/>
                          </a:solidFill>
                          <a:latin typeface="Calibri"/>
                        </a:rPr>
                        <a:t>M. triceps brachii – caput mediale</a:t>
                      </a:r>
                    </a:p>
                  </a:txBody>
                  <a:tcPr>
                    <a:solidFill>
                      <a:srgbClr val="F3F4F6"/>
                    </a:solidFill>
                  </a:tcPr>
                </a:tc>
                <a:tc>
                  <a:txBody>
                    <a:bodyPr/>
                    <a:lstStyle/>
                    <a:p>
                      <a:r>
                        <a:rPr sz="1100" b="0">
                          <a:solidFill>
                            <a:srgbClr val="1F2A44"/>
                          </a:solidFill>
                          <a:latin typeface="Calibri"/>
                        </a:rPr>
                        <a:t>Humerus arka yüzü, sulcus'un altı</a:t>
                      </a:r>
                    </a:p>
                  </a:txBody>
                  <a:tcPr>
                    <a:solidFill>
                      <a:srgbClr val="F3F4F6"/>
                    </a:solidFill>
                  </a:tcPr>
                </a:tc>
                <a:tc>
                  <a:txBody>
                    <a:bodyPr/>
                    <a:lstStyle/>
                    <a:p>
                      <a:r>
                        <a:rPr sz="1100" b="0">
                          <a:solidFill>
                            <a:srgbClr val="1F2A44"/>
                          </a:solidFill>
                          <a:latin typeface="Calibri"/>
                        </a:rPr>
                        <a:t>Olecranon</a:t>
                      </a:r>
                    </a:p>
                  </a:txBody>
                  <a:tcPr>
                    <a:solidFill>
                      <a:srgbClr val="F3F4F6"/>
                    </a:solidFill>
                  </a:tcPr>
                </a:tc>
                <a:tc>
                  <a:txBody>
                    <a:bodyPr/>
                    <a:lstStyle/>
                    <a:p>
                      <a:r>
                        <a:rPr sz="1100" b="0">
                          <a:solidFill>
                            <a:srgbClr val="1F2A44"/>
                          </a:solidFill>
                          <a:latin typeface="Calibri"/>
                        </a:rPr>
                        <a:t>N. radialis</a:t>
                      </a:r>
                    </a:p>
                  </a:txBody>
                  <a:tcPr>
                    <a:solidFill>
                      <a:srgbClr val="F3F4F6"/>
                    </a:solidFill>
                  </a:tcPr>
                </a:tc>
                <a:tc>
                  <a:txBody>
                    <a:bodyPr/>
                    <a:lstStyle/>
                    <a:p>
                      <a:r>
                        <a:rPr sz="1100" b="0">
                          <a:solidFill>
                            <a:srgbClr val="1F2A44"/>
                          </a:solidFill>
                          <a:latin typeface="Calibri"/>
                        </a:rPr>
                        <a:t>Dirsek ekstansiyonu</a:t>
                      </a:r>
                    </a:p>
                  </a:txBody>
                  <a:tcPr>
                    <a:solidFill>
                      <a:srgbClr val="F3F4F6"/>
                    </a:solidFill>
                  </a:tcPr>
                </a:tc>
              </a:tr>
              <a:tr h="630936">
                <a:tc>
                  <a:txBody>
                    <a:bodyPr/>
                    <a:lstStyle/>
                    <a:p>
                      <a:r>
                        <a:rPr sz="1100" b="1">
                          <a:solidFill>
                            <a:srgbClr val="1F2A44"/>
                          </a:solidFill>
                          <a:latin typeface="Calibri"/>
                        </a:rPr>
                        <a:t>M. anconeus</a:t>
                      </a:r>
                    </a:p>
                  </a:txBody>
                  <a:tcPr>
                    <a:solidFill>
                      <a:srgbClr val="FFFFFF"/>
                    </a:solidFill>
                  </a:tcPr>
                </a:tc>
                <a:tc>
                  <a:txBody>
                    <a:bodyPr/>
                    <a:lstStyle/>
                    <a:p>
                      <a:r>
                        <a:rPr sz="1100" b="0">
                          <a:solidFill>
                            <a:srgbClr val="1F2A44"/>
                          </a:solidFill>
                          <a:latin typeface="Calibri"/>
                        </a:rPr>
                        <a:t>Epicondylus lateralis</a:t>
                      </a:r>
                    </a:p>
                  </a:txBody>
                  <a:tcPr>
                    <a:solidFill>
                      <a:srgbClr val="FFFFFF"/>
                    </a:solidFill>
                  </a:tcPr>
                </a:tc>
                <a:tc>
                  <a:txBody>
                    <a:bodyPr/>
                    <a:lstStyle/>
                    <a:p>
                      <a:r>
                        <a:rPr sz="1100" b="0">
                          <a:solidFill>
                            <a:srgbClr val="1F2A44"/>
                          </a:solidFill>
                          <a:latin typeface="Calibri"/>
                        </a:rPr>
                        <a:t>Olecranon lateral yüzü</a:t>
                      </a:r>
                    </a:p>
                  </a:txBody>
                  <a:tcPr>
                    <a:solidFill>
                      <a:srgbClr val="FFFFFF"/>
                    </a:solidFill>
                  </a:tcPr>
                </a:tc>
                <a:tc>
                  <a:txBody>
                    <a:bodyPr/>
                    <a:lstStyle/>
                    <a:p>
                      <a:r>
                        <a:rPr sz="1100" b="0">
                          <a:solidFill>
                            <a:srgbClr val="1F2A44"/>
                          </a:solidFill>
                          <a:latin typeface="Calibri"/>
                        </a:rPr>
                        <a:t>N. radialis</a:t>
                      </a:r>
                    </a:p>
                  </a:txBody>
                  <a:tcPr>
                    <a:solidFill>
                      <a:srgbClr val="FFFFFF"/>
                    </a:solidFill>
                  </a:tcPr>
                </a:tc>
                <a:tc>
                  <a:txBody>
                    <a:bodyPr/>
                    <a:lstStyle/>
                    <a:p>
                      <a:r>
                        <a:rPr sz="1100" b="0">
                          <a:solidFill>
                            <a:srgbClr val="1F2A44"/>
                          </a:solidFill>
                          <a:latin typeface="Calibri"/>
                        </a:rPr>
                        <a:t>Ekstansiyona yardım, dirsek kapsülünü gerer</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 brachialis ve dalları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 teres major alt kenarından fossa cubiti'ye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M. teres major'ün alt kenarında a. axillaris'in devamı olarak başlar; </a:t>
            </a:r>
            <a:r>
              <a:rPr sz="1300" b="0" i="0">
                <a:solidFill>
                  <a:srgbClr val="1F2A44"/>
                </a:solidFill>
                <a:latin typeface="Calibri"/>
              </a:rPr>
              <a:t>sulcus bicipitalis medialis</a:t>
            </a:r>
            <a:r>
              <a:rPr sz="1300" b="0" i="0">
                <a:solidFill>
                  <a:srgbClr val="1F2A44"/>
                </a:solidFill>
                <a:latin typeface="Calibri"/>
              </a:rPr>
              <a:t>'te n. medianus ile birlikte seyreder. </a:t>
            </a:r>
            <a:r>
              <a:rPr sz="1300" b="0" i="0">
                <a:solidFill>
                  <a:srgbClr val="1F2A44"/>
                </a:solidFill>
                <a:latin typeface="Calibri"/>
              </a:rPr>
              <a:t>N. medianus arteri lateralden mediale çaprazlar</a:t>
            </a:r>
            <a:r>
              <a:rPr sz="1300" b="0" i="0">
                <a:solidFill>
                  <a:srgbClr val="1F2A44"/>
                </a:solidFill>
                <a:latin typeface="Calibri"/>
              </a:rPr>
              <a:t> (proksimalde lateralde, distalde medialde).</a:t>
            </a:r>
          </a:p>
          <a:p>
            <a:pPr algn="l">
              <a:spcAft>
                <a:spcPts val="300"/>
              </a:spcAft>
            </a:pPr>
            <a:r>
              <a:rPr sz="1300" b="0" i="0">
                <a:solidFill>
                  <a:srgbClr val="1F2A44"/>
                </a:solidFill>
                <a:latin typeface="Calibri"/>
              </a:rPr>
              <a:t>• </a:t>
            </a:r>
            <a:r>
              <a:rPr sz="1300" b="0" i="0">
                <a:solidFill>
                  <a:srgbClr val="1F2A44"/>
                </a:solidFill>
                <a:latin typeface="Calibri"/>
              </a:rPr>
              <a:t>Dallar:</a:t>
            </a:r>
            <a:r>
              <a:rPr sz="1300" b="0" i="0">
                <a:solidFill>
                  <a:srgbClr val="1F2A44"/>
                </a:solidFill>
                <a:latin typeface="Calibri"/>
              </a:rPr>
              <a:t> a. profunda brachii (n. radialis ile sulcus'ta), </a:t>
            </a:r>
            <a:r>
              <a:rPr sz="1300" b="0" i="0">
                <a:solidFill>
                  <a:srgbClr val="1F2A44"/>
                </a:solidFill>
                <a:latin typeface="Calibri"/>
              </a:rPr>
              <a:t>a. collateralis ulnaris superior</a:t>
            </a:r>
            <a:r>
              <a:rPr sz="1300" b="0" i="0">
                <a:solidFill>
                  <a:srgbClr val="1F2A44"/>
                </a:solidFill>
                <a:latin typeface="Calibri"/>
              </a:rPr>
              <a:t> (n. ulnaris'e eşlik eder), </a:t>
            </a:r>
            <a:r>
              <a:rPr sz="1300" b="0" i="0">
                <a:solidFill>
                  <a:srgbClr val="1F2A44"/>
                </a:solidFill>
                <a:latin typeface="Calibri"/>
              </a:rPr>
              <a:t>a. collateralis ulnaris inferior</a:t>
            </a:r>
            <a:r>
              <a:rPr sz="1300" b="0" i="0">
                <a:solidFill>
                  <a:srgbClr val="1F2A44"/>
                </a:solidFill>
                <a:latin typeface="Calibri"/>
              </a:rPr>
              <a:t>, a. nutricia humeri ve kas dalları.</a:t>
            </a:r>
          </a:p>
          <a:p>
            <a:pPr algn="l">
              <a:spcAft>
                <a:spcPts val="300"/>
              </a:spcAft>
            </a:pPr>
            <a:r>
              <a:rPr sz="1300" b="0" i="0">
                <a:solidFill>
                  <a:srgbClr val="1F2A44"/>
                </a:solidFill>
                <a:latin typeface="Calibri"/>
              </a:rPr>
              <a:t>• Fossa cubiti'de aponeurosis bicipitalis'in altında, tendo m. bicipitis'in medialinde yer alır; collum radii düzeyinde </a:t>
            </a:r>
            <a:r>
              <a:rPr sz="1300" b="0" i="0">
                <a:solidFill>
                  <a:srgbClr val="1F2A44"/>
                </a:solidFill>
                <a:latin typeface="Calibri"/>
              </a:rPr>
              <a:t>a. radialis</a:t>
            </a:r>
            <a:r>
              <a:rPr sz="1300" b="0" i="0">
                <a:solidFill>
                  <a:srgbClr val="1F2A44"/>
                </a:solidFill>
                <a:latin typeface="Calibri"/>
              </a:rPr>
              <a:t> ve </a:t>
            </a:r>
            <a:r>
              <a:rPr sz="1300" b="0" i="0">
                <a:solidFill>
                  <a:srgbClr val="1F2A44"/>
                </a:solidFill>
                <a:latin typeface="Calibri"/>
              </a:rPr>
              <a:t>a. ulnaris</a:t>
            </a:r>
            <a:r>
              <a:rPr sz="1300" b="0" i="0">
                <a:solidFill>
                  <a:srgbClr val="1F2A44"/>
                </a:solidFill>
                <a:latin typeface="Calibri"/>
              </a:rPr>
              <a:t>'e ayrılır.</a:t>
            </a:r>
          </a:p>
          <a:p>
            <a:pPr algn="l">
              <a:spcAft>
                <a:spcPts val="300"/>
              </a:spcAft>
            </a:pPr>
            <a:r>
              <a:rPr sz="1300" b="0" i="0">
                <a:solidFill>
                  <a:srgbClr val="1F2A44"/>
                </a:solidFill>
                <a:latin typeface="Calibri"/>
              </a:rPr>
              <a:t>• </a:t>
            </a:r>
            <a:r>
              <a:rPr sz="1300" b="0" i="0">
                <a:solidFill>
                  <a:srgbClr val="1F2A44"/>
                </a:solidFill>
                <a:latin typeface="Calibri"/>
              </a:rPr>
              <a:t>Klinik:</a:t>
            </a:r>
            <a:r>
              <a:rPr sz="1300" b="0" i="0">
                <a:solidFill>
                  <a:srgbClr val="1F2A44"/>
                </a:solidFill>
                <a:latin typeface="Calibri"/>
              </a:rPr>
              <a:t> kan basıncı ölçümü (fossa cubiti), kolun ortasında humerus'a karşı kompresyon ile kanama kontrolü; suprakondiler kırıkta yaralanma → </a:t>
            </a:r>
            <a:r>
              <a:rPr sz="1300" b="0" i="0">
                <a:solidFill>
                  <a:srgbClr val="1F2A44"/>
                </a:solidFill>
                <a:latin typeface="Calibri"/>
              </a:rPr>
              <a:t>Volkmann iskemik kontraktürü</a:t>
            </a:r>
            <a:r>
              <a:rPr sz="1300" b="0" i="0">
                <a:solidFill>
                  <a:srgbClr val="1F2A44"/>
                </a:solidFill>
                <a:latin typeface="Calibri"/>
              </a:rPr>
              <a:t>.</a:t>
            </a:r>
          </a:p>
        </p:txBody>
      </p:sp>
      <p:pic>
        <p:nvPicPr>
          <p:cNvPr id="8" name="Picture 7" descr="cureus-0015-00000051350-i05.jpg"/>
          <p:cNvPicPr>
            <a:picLocks noChangeAspect="1"/>
          </p:cNvPicPr>
          <p:nvPr/>
        </p:nvPicPr>
        <p:blipFill>
          <a:blip r:embed="rId2"/>
          <a:stretch>
            <a:fillRect/>
          </a:stretch>
        </p:blipFill>
        <p:spPr>
          <a:xfrm>
            <a:off x="7040880" y="2141006"/>
            <a:ext cx="4892040" cy="2941746"/>
          </a:xfrm>
          <a:prstGeom prst="rect">
            <a:avLst/>
          </a:prstGeom>
        </p:spPr>
      </p:pic>
      <p:sp>
        <p:nvSpPr>
          <p:cNvPr id="9" name="TextBox 8"/>
          <p:cNvSpPr txBox="1"/>
          <p:nvPr/>
        </p:nvSpPr>
        <p:spPr>
          <a:xfrm>
            <a:off x="6949440" y="5082753"/>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5 – Rajaram-Gilkes Mathangi ve ark., 2023 (PMC10823296,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Rajaram-Gilkes Mathangi, Burwell Julian, Barr Kelly et al. Bilateral Median Nerve and Brachial Artery Variations in the Arm: A Case Report. Cureus. 2023 Dec 30;15(12):e51350. doi: 10.7759/cureus.51350 PMCID: PMC10823296.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sinirleri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musculocutaneus, n. medianus, n. ulnaris ve n. radialis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N. musculocutaneus:</a:t>
            </a:r>
            <a:r>
              <a:rPr sz="1300" b="0" i="0">
                <a:solidFill>
                  <a:srgbClr val="1F2A44"/>
                </a:solidFill>
                <a:latin typeface="Calibri"/>
              </a:rPr>
              <a:t> m. coracobrachialis'i deler, m. biceps ile m. brachialis arasında seyreder; tüm ön kompartmanı innerve eder ve </a:t>
            </a:r>
            <a:r>
              <a:rPr sz="1300" b="0" i="0">
                <a:solidFill>
                  <a:srgbClr val="1F2A44"/>
                </a:solidFill>
                <a:latin typeface="Calibri"/>
              </a:rPr>
              <a:t>n. cutaneus antebrachii lateralis</a:t>
            </a:r>
            <a:r>
              <a:rPr sz="1300" b="0" i="0">
                <a:solidFill>
                  <a:srgbClr val="1F2A44"/>
                </a:solidFill>
                <a:latin typeface="Calibri"/>
              </a:rPr>
              <a:t> olarak sonlanır.</a:t>
            </a:r>
          </a:p>
          <a:p>
            <a:pPr algn="l">
              <a:spcAft>
                <a:spcPts val="300"/>
              </a:spcAft>
            </a:pPr>
            <a:r>
              <a:rPr sz="1300" b="0" i="0">
                <a:solidFill>
                  <a:srgbClr val="1F2A44"/>
                </a:solidFill>
                <a:latin typeface="Calibri"/>
              </a:rPr>
              <a:t>• </a:t>
            </a:r>
            <a:r>
              <a:rPr sz="1300" b="0" i="0">
                <a:solidFill>
                  <a:srgbClr val="1F2A44"/>
                </a:solidFill>
                <a:latin typeface="Calibri"/>
              </a:rPr>
              <a:t>N. medianus:</a:t>
            </a:r>
            <a:r>
              <a:rPr sz="1300" b="0" i="0">
                <a:solidFill>
                  <a:srgbClr val="1F2A44"/>
                </a:solidFill>
                <a:latin typeface="Calibri"/>
              </a:rPr>
              <a:t> kolda dal vermez; a. brachialis ile birlikte iner.</a:t>
            </a:r>
          </a:p>
          <a:p>
            <a:pPr algn="l">
              <a:spcAft>
                <a:spcPts val="300"/>
              </a:spcAft>
            </a:pPr>
            <a:r>
              <a:rPr sz="1300" b="0" i="0">
                <a:solidFill>
                  <a:srgbClr val="1F2A44"/>
                </a:solidFill>
                <a:latin typeface="Calibri"/>
              </a:rPr>
              <a:t>• </a:t>
            </a:r>
            <a:r>
              <a:rPr sz="1300" b="0" i="0">
                <a:solidFill>
                  <a:srgbClr val="1F2A44"/>
                </a:solidFill>
                <a:latin typeface="Calibri"/>
              </a:rPr>
              <a:t>N. ulnaris:</a:t>
            </a:r>
            <a:r>
              <a:rPr sz="1300" b="0" i="0">
                <a:solidFill>
                  <a:srgbClr val="1F2A44"/>
                </a:solidFill>
                <a:latin typeface="Calibri"/>
              </a:rPr>
              <a:t> kolun ortasında septum intermusculare mediale'yi delerek arka kompartmana geçer; m. triceps'in caput mediale'si önünde, </a:t>
            </a:r>
            <a:r>
              <a:rPr sz="1300" b="0" i="0">
                <a:solidFill>
                  <a:srgbClr val="1F2A44"/>
                </a:solidFill>
                <a:latin typeface="Calibri"/>
              </a:rPr>
              <a:t>epicondylus medialis'in arkasına</a:t>
            </a:r>
            <a:r>
              <a:rPr sz="1300" b="0" i="0">
                <a:solidFill>
                  <a:srgbClr val="1F2A44"/>
                </a:solidFill>
                <a:latin typeface="Calibri"/>
              </a:rPr>
              <a:t> iner – kolda dal vermez.</a:t>
            </a:r>
          </a:p>
          <a:p>
            <a:pPr algn="l">
              <a:spcAft>
                <a:spcPts val="300"/>
              </a:spcAft>
            </a:pPr>
            <a:r>
              <a:rPr sz="1300" b="0" i="0">
                <a:solidFill>
                  <a:srgbClr val="1F2A44"/>
                </a:solidFill>
                <a:latin typeface="Calibri"/>
              </a:rPr>
              <a:t>• </a:t>
            </a:r>
            <a:r>
              <a:rPr sz="1300" b="0" i="0">
                <a:solidFill>
                  <a:srgbClr val="1F2A44"/>
                </a:solidFill>
                <a:latin typeface="Calibri"/>
              </a:rPr>
              <a:t>N. radialis:</a:t>
            </a:r>
            <a:r>
              <a:rPr sz="1300" b="0" i="0">
                <a:solidFill>
                  <a:srgbClr val="1F2A44"/>
                </a:solidFill>
                <a:latin typeface="Calibri"/>
              </a:rPr>
              <a:t> triangular aralıktan arkaya geçer, a. profunda brachii ile </a:t>
            </a:r>
            <a:r>
              <a:rPr sz="1300" b="0" i="0">
                <a:solidFill>
                  <a:srgbClr val="1F2A44"/>
                </a:solidFill>
                <a:latin typeface="Calibri"/>
              </a:rPr>
              <a:t>sulcus nervi radialis</a:t>
            </a:r>
            <a:r>
              <a:rPr sz="1300" b="0" i="0">
                <a:solidFill>
                  <a:srgbClr val="1F2A44"/>
                </a:solidFill>
                <a:latin typeface="Calibri"/>
              </a:rPr>
              <a:t>'te seyreder; kolun distal 1/3'ünde </a:t>
            </a:r>
            <a:r>
              <a:rPr sz="1300" b="0" i="0">
                <a:solidFill>
                  <a:srgbClr val="1F2A44"/>
                </a:solidFill>
                <a:latin typeface="Calibri"/>
              </a:rPr>
              <a:t>septum intermusculare laterale</a:t>
            </a:r>
            <a:r>
              <a:rPr sz="1300" b="0" i="0">
                <a:solidFill>
                  <a:srgbClr val="1F2A44"/>
                </a:solidFill>
                <a:latin typeface="Calibri"/>
              </a:rPr>
              <a:t>'yi delerek öne geçer ve m. brachialis ile m. brachioradialis arasında epicondylus lateralis önüne ulaşır.</a:t>
            </a:r>
          </a:p>
          <a:p>
            <a:pPr algn="l">
              <a:spcAft>
                <a:spcPts val="300"/>
              </a:spcAft>
            </a:pPr>
            <a:r>
              <a:rPr sz="1300" b="0" i="0">
                <a:solidFill>
                  <a:srgbClr val="1F2A44"/>
                </a:solidFill>
                <a:latin typeface="Calibri"/>
              </a:rPr>
              <a:t>• Kesitlerde n. ulnaris ve n. radialis'in yeri: bkz. kesitsel sunum, kol düzeyleri.</a:t>
            </a:r>
          </a:p>
        </p:txBody>
      </p:sp>
      <p:pic>
        <p:nvPicPr>
          <p:cNvPr id="8" name="Picture 7" descr="1806-9460-spmj-126-05-288-gf2.jpg"/>
          <p:cNvPicPr>
            <a:picLocks noChangeAspect="1"/>
          </p:cNvPicPr>
          <p:nvPr/>
        </p:nvPicPr>
        <p:blipFill>
          <a:blip r:embed="rId2"/>
          <a:stretch>
            <a:fillRect/>
          </a:stretch>
        </p:blipFill>
        <p:spPr>
          <a:xfrm>
            <a:off x="7598685" y="1188720"/>
            <a:ext cx="3776428" cy="4846320"/>
          </a:xfrm>
          <a:prstGeom prst="rect">
            <a:avLst/>
          </a:prstGeom>
        </p:spPr>
      </p:pic>
      <p:sp>
        <p:nvSpPr>
          <p:cNvPr id="9" name="TextBox 8"/>
          <p:cNvSpPr txBox="1"/>
          <p:nvPr/>
        </p:nvSpPr>
        <p:spPr>
          <a:xfrm>
            <a:off x="7507245" y="6035040"/>
            <a:ext cx="395930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Fregnani José Humberto Tavares Guerreiro ve ark., 2008 (PMC11026042,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Fregnani José Humberto Tavares Guerreiro, Macéa Maria Inez Marcondes, Pereira Celina Siqueira Barbosa et al. Absence of the musculocutaneous nerve: a rare anatomical variation with possible clinical-surgical implications. Sao Paulo Med J. 2008 Sep 4;126(5):288–90. doi: 10.1590/S1516-31802008000500009 PMCID: PMC11026042.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yüzeyel yapıları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Yüzeyel venler ve deri sinirleri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V. cephalica</a:t>
            </a:r>
            <a:r>
              <a:rPr sz="1300" b="0" i="0">
                <a:solidFill>
                  <a:srgbClr val="1F2A44"/>
                </a:solidFill>
                <a:latin typeface="Calibri"/>
              </a:rPr>
              <a:t> sulcus bicipitalis lateralis'te, </a:t>
            </a:r>
            <a:r>
              <a:rPr sz="1300" b="0" i="0">
                <a:solidFill>
                  <a:srgbClr val="1F2A44"/>
                </a:solidFill>
                <a:latin typeface="Calibri"/>
              </a:rPr>
              <a:t>v. basilica</a:t>
            </a:r>
            <a:r>
              <a:rPr sz="1300" b="0" i="0">
                <a:solidFill>
                  <a:srgbClr val="1F2A44"/>
                </a:solidFill>
                <a:latin typeface="Calibri"/>
              </a:rPr>
              <a:t> sulcus bicipitalis medialis'te seyreder; v. basilica kolun ortasında derin fasyayı deler.</a:t>
            </a:r>
          </a:p>
          <a:p>
            <a:pPr algn="l">
              <a:spcAft>
                <a:spcPts val="300"/>
              </a:spcAft>
            </a:pPr>
            <a:r>
              <a:rPr sz="1300" b="0" i="0">
                <a:solidFill>
                  <a:srgbClr val="1F2A44"/>
                </a:solidFill>
                <a:latin typeface="Calibri"/>
              </a:rPr>
              <a:t>• </a:t>
            </a:r>
            <a:r>
              <a:rPr sz="1300" b="0" i="0">
                <a:solidFill>
                  <a:srgbClr val="1F2A44"/>
                </a:solidFill>
                <a:latin typeface="Calibri"/>
              </a:rPr>
              <a:t>Deri sinirleri:</a:t>
            </a:r>
            <a:r>
              <a:rPr sz="1300" b="0" i="0">
                <a:solidFill>
                  <a:srgbClr val="1F2A44"/>
                </a:solidFill>
                <a:latin typeface="Calibri"/>
              </a:rPr>
              <a:t> n. cutaneus brachii lateralis superior (n. axillaris), n. cutaneus brachii lateralis inferior ve posterior (n. radialis), n. cutaneus brachii medialis ve n. intercostobrachialis (T2).</a:t>
            </a:r>
          </a:p>
          <a:p>
            <a:pPr algn="l">
              <a:spcAft>
                <a:spcPts val="300"/>
              </a:spcAft>
            </a:pPr>
            <a:r>
              <a:rPr sz="1300" b="0" i="0">
                <a:solidFill>
                  <a:srgbClr val="1F2A44"/>
                </a:solidFill>
                <a:latin typeface="Calibri"/>
              </a:rPr>
              <a:t>• N. intercostobrachialis aksiller diseksiyonda sık yaralanır → kolun iç-arka yüzünde uyuşukluk.</a:t>
            </a:r>
          </a:p>
          <a:p>
            <a:pPr algn="l">
              <a:spcAft>
                <a:spcPts val="300"/>
              </a:spcAft>
            </a:pPr>
            <a:r>
              <a:rPr sz="1300" b="0" i="0">
                <a:solidFill>
                  <a:srgbClr val="1F2A44"/>
                </a:solidFill>
                <a:latin typeface="Calibri"/>
              </a:rPr>
              <a:t>• Kriyokesitlerde yüzeyel venler cilt altı yağ dokusu içinde siyah (boş) lümenler olarak görülür.</a:t>
            </a:r>
          </a:p>
        </p:txBody>
      </p:sp>
      <p:pic>
        <p:nvPicPr>
          <p:cNvPr id="8" name="Picture 7" descr="cryo_1530_R.jpg"/>
          <p:cNvPicPr>
            <a:picLocks noChangeAspect="1"/>
          </p:cNvPicPr>
          <p:nvPr/>
        </p:nvPicPr>
        <p:blipFill>
          <a:blip r:embed="rId2"/>
          <a:stretch>
            <a:fillRect/>
          </a:stretch>
        </p:blipFill>
        <p:spPr>
          <a:xfrm>
            <a:off x="7331467" y="1188720"/>
            <a:ext cx="4310865" cy="4846320"/>
          </a:xfrm>
          <a:prstGeom prst="rect">
            <a:avLst/>
          </a:prstGeom>
        </p:spPr>
      </p:pic>
      <p:sp>
        <p:nvSpPr>
          <p:cNvPr id="9" name="TextBox 8"/>
          <p:cNvSpPr txBox="1"/>
          <p:nvPr/>
        </p:nvSpPr>
        <p:spPr>
          <a:xfrm>
            <a:off x="7240027" y="6035040"/>
            <a:ext cx="4493745"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1530 – cilt altı yağ dokusu ve medial damar–sinir demeti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musculocutaneus ve m. coracobrachialis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Sol kol ön-medial görünüm ve kolun uzun ekseni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276_2023_3207_Fig1_HTML.jpg"/>
          <p:cNvPicPr>
            <a:picLocks noChangeAspect="1"/>
          </p:cNvPicPr>
          <p:nvPr/>
        </p:nvPicPr>
        <p:blipFill>
          <a:blip r:embed="rId2"/>
          <a:stretch>
            <a:fillRect/>
          </a:stretch>
        </p:blipFill>
        <p:spPr>
          <a:xfrm>
            <a:off x="274320" y="1188720"/>
            <a:ext cx="2639492" cy="3183760"/>
          </a:xfrm>
          <a:prstGeom prst="rect">
            <a:avLst/>
          </a:prstGeom>
        </p:spPr>
      </p:pic>
      <p:sp>
        <p:nvSpPr>
          <p:cNvPr id="8" name="TextBox 7"/>
          <p:cNvSpPr txBox="1"/>
          <p:nvPr/>
        </p:nvSpPr>
        <p:spPr>
          <a:xfrm>
            <a:off x="182879" y="4372480"/>
            <a:ext cx="282237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Piagkou Maria ve ark., 2023 (PMC10514118, CC BY)</a:t>
            </a:r>
          </a:p>
        </p:txBody>
      </p:sp>
      <p:pic>
        <p:nvPicPr>
          <p:cNvPr id="9" name="Picture 8" descr="276_2023_3207_Fig3_HTML.jpg"/>
          <p:cNvPicPr>
            <a:picLocks noChangeAspect="1"/>
          </p:cNvPicPr>
          <p:nvPr/>
        </p:nvPicPr>
        <p:blipFill>
          <a:blip r:embed="rId3"/>
          <a:stretch>
            <a:fillRect/>
          </a:stretch>
        </p:blipFill>
        <p:spPr>
          <a:xfrm>
            <a:off x="3050972" y="1188720"/>
            <a:ext cx="4309947" cy="3183760"/>
          </a:xfrm>
          <a:prstGeom prst="rect">
            <a:avLst/>
          </a:prstGeom>
        </p:spPr>
      </p:pic>
      <p:sp>
        <p:nvSpPr>
          <p:cNvPr id="10" name="TextBox 9"/>
          <p:cNvSpPr txBox="1"/>
          <p:nvPr/>
        </p:nvSpPr>
        <p:spPr>
          <a:xfrm>
            <a:off x="2959532" y="4372480"/>
            <a:ext cx="449282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Piagkou Maria ve ark., 2023 (PMC10514118,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1: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CB</a:t>
            </a:r>
            <a:r>
              <a:rPr sz="1050" b="0" i="0">
                <a:solidFill>
                  <a:srgbClr val="1F2A44"/>
                </a:solidFill>
                <a:latin typeface="Calibri"/>
              </a:rPr>
              <a:t> m. coracobrachialis; sarı yıldızlar m. coracobrachialis'e giden proksimal dallar</a:t>
            </a:r>
          </a:p>
          <a:p>
            <a:pPr algn="l">
              <a:spcAft>
                <a:spcPts val="300"/>
              </a:spcAft>
            </a:pPr>
            <a:r>
              <a:rPr sz="1050" b="0" i="0">
                <a:solidFill>
                  <a:srgbClr val="1F2A44"/>
                </a:solidFill>
                <a:latin typeface="Calibri"/>
              </a:rPr>
              <a:t>• Şekil 3: </a:t>
            </a:r>
            <a:r>
              <a:rPr sz="1050" b="0" i="0">
                <a:solidFill>
                  <a:srgbClr val="1F2A44"/>
                </a:solidFill>
                <a:latin typeface="Calibri"/>
              </a:rPr>
              <a:t>CB</a:t>
            </a:r>
            <a:r>
              <a:rPr sz="1050" b="0" i="0">
                <a:solidFill>
                  <a:srgbClr val="1F2A44"/>
                </a:solidFill>
                <a:latin typeface="Calibri"/>
              </a:rPr>
              <a:t> m. coracobrachialis;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LR</a:t>
            </a:r>
            <a:r>
              <a:rPr sz="1050" b="0" i="0">
                <a:solidFill>
                  <a:srgbClr val="1F2A44"/>
                </a:solidFill>
                <a:latin typeface="Calibri"/>
              </a:rPr>
              <a:t> radix lateralis n. mediani; </a:t>
            </a:r>
            <a:r>
              <a:rPr sz="1050" b="0" i="0">
                <a:solidFill>
                  <a:srgbClr val="1F2A44"/>
                </a:solidFill>
                <a:latin typeface="Calibri"/>
              </a:rPr>
              <a:t>MR</a:t>
            </a:r>
            <a:r>
              <a:rPr sz="1050" b="0" i="0">
                <a:solidFill>
                  <a:srgbClr val="1F2A44"/>
                </a:solidFill>
                <a:latin typeface="Calibri"/>
              </a:rPr>
              <a:t> radix medialis n. mediani;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BBsh</a:t>
            </a:r>
            <a:r>
              <a:rPr sz="1050" b="0" i="0">
                <a:solidFill>
                  <a:srgbClr val="1F2A44"/>
                </a:solidFill>
                <a:latin typeface="Calibri"/>
              </a:rPr>
              <a:t> caput breve m. bicipitis brachii; </a:t>
            </a:r>
            <a:r>
              <a:rPr sz="1050" b="0" i="0">
                <a:solidFill>
                  <a:srgbClr val="1F2A44"/>
                </a:solidFill>
                <a:latin typeface="Calibri"/>
              </a:rPr>
              <a:t>BBlh</a:t>
            </a:r>
            <a:r>
              <a:rPr sz="1050" b="0" i="0">
                <a:solidFill>
                  <a:srgbClr val="1F2A44"/>
                </a:solidFill>
                <a:latin typeface="Calibri"/>
              </a:rPr>
              <a:t> caput longum m. bicipitis brachii; </a:t>
            </a:r>
            <a:r>
              <a:rPr sz="1050" b="0" i="0">
                <a:solidFill>
                  <a:srgbClr val="1F2A44"/>
                </a:solidFill>
                <a:latin typeface="Calibri"/>
              </a:rPr>
              <a:t>BT</a:t>
            </a:r>
            <a:r>
              <a:rPr sz="1050" b="0" i="0">
                <a:solidFill>
                  <a:srgbClr val="1F2A44"/>
                </a:solidFill>
                <a:latin typeface="Calibri"/>
              </a:rPr>
              <a:t> tendo m. bicipitis; 1–3 m. biceps başları ve m. brachialis dalları; beyaz yıldız MCN–MN iletişimi</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 musculocutaneus m. coracobrachialis'i delmeden önce ona 3 proksimal dal vermektedir.</a:t>
            </a:r>
          </a:p>
          <a:p>
            <a:pPr algn="l">
              <a:spcAft>
                <a:spcPts val="300"/>
              </a:spcAft>
            </a:pPr>
            <a:r>
              <a:rPr sz="1050" b="0" i="0">
                <a:solidFill>
                  <a:srgbClr val="1F2A44"/>
                </a:solidFill>
                <a:latin typeface="Calibri"/>
              </a:rPr>
              <a:t>• 27 kolda m. coracobrachialis %62,96 iki başlı, %22,2 üç başlı, %11,1 tek başlı, %3,7 dört başlı; çok başlı kaslarda sinir </a:t>
            </a:r>
            <a:r>
              <a:rPr sz="1050" b="0" i="0">
                <a:solidFill>
                  <a:srgbClr val="1F2A44"/>
                </a:solidFill>
                <a:latin typeface="Calibri"/>
              </a:rPr>
              <a:t>%100</a:t>
            </a:r>
            <a:r>
              <a:rPr sz="1050" b="0" i="0">
                <a:solidFill>
                  <a:srgbClr val="1F2A44"/>
                </a:solidFill>
                <a:latin typeface="Calibri"/>
              </a:rPr>
              <a:t> yüzeyel ve derin başlar arasından geçmiştir.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Piagkou Maria, Tsakotos George, Triantafyllou George et al. Coracobrachialis muscle morphology and coexisted neural variants: a cadaveric case series. Surg Radiol Anat. 2023 Jul 18;45(9):1117–24. doi: 10.1007/s00276-023-03207-7 PMCID: PMC10514118.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medial yüzü: damar–sinir demeti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Sulcus bicipitalis medialis – fenestre v. basilica olgusu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7-00000094802-i01.jpg"/>
          <p:cNvPicPr>
            <a:picLocks noChangeAspect="1"/>
          </p:cNvPicPr>
          <p:nvPr/>
        </p:nvPicPr>
        <p:blipFill>
          <a:blip r:embed="rId2"/>
          <a:stretch>
            <a:fillRect/>
          </a:stretch>
        </p:blipFill>
        <p:spPr>
          <a:xfrm>
            <a:off x="1068194" y="1188720"/>
            <a:ext cx="5498850" cy="4846320"/>
          </a:xfrm>
          <a:prstGeom prst="rect">
            <a:avLst/>
          </a:prstGeom>
        </p:spPr>
      </p:pic>
      <p:sp>
        <p:nvSpPr>
          <p:cNvPr id="8" name="TextBox 7"/>
          <p:cNvSpPr txBox="1"/>
          <p:nvPr/>
        </p:nvSpPr>
        <p:spPr>
          <a:xfrm>
            <a:off x="976754" y="6035040"/>
            <a:ext cx="568173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Triantafyllou George ve ark., 2025 (PMC12619963,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BaV</a:t>
            </a:r>
            <a:r>
              <a:rPr sz="1050" b="0" i="0">
                <a:solidFill>
                  <a:srgbClr val="1F2A44"/>
                </a:solidFill>
                <a:latin typeface="Calibri"/>
              </a:rPr>
              <a:t> v. basilica; </a:t>
            </a:r>
            <a:r>
              <a:rPr sz="1050" b="0" i="0">
                <a:solidFill>
                  <a:srgbClr val="1F2A44"/>
                </a:solidFill>
                <a:latin typeface="Calibri"/>
              </a:rPr>
              <a:t>BrV</a:t>
            </a:r>
            <a:r>
              <a:rPr sz="1050" b="0" i="0">
                <a:solidFill>
                  <a:srgbClr val="1F2A44"/>
                </a:solidFill>
                <a:latin typeface="Calibri"/>
              </a:rPr>
              <a:t> vv. brachiales; </a:t>
            </a:r>
            <a:r>
              <a:rPr sz="1050" b="0" i="0">
                <a:solidFill>
                  <a:srgbClr val="1F2A44"/>
                </a:solidFill>
                <a:latin typeface="Calibri"/>
              </a:rPr>
              <a:t>MBCN</a:t>
            </a:r>
            <a:r>
              <a:rPr sz="1050" b="0" i="0">
                <a:solidFill>
                  <a:srgbClr val="1F2A44"/>
                </a:solidFill>
                <a:latin typeface="Calibri"/>
              </a:rPr>
              <a:t> n. cutaneus brachii medialis; </a:t>
            </a:r>
            <a:r>
              <a:rPr sz="1050" b="0" i="0">
                <a:solidFill>
                  <a:srgbClr val="1F2A44"/>
                </a:solidFill>
                <a:latin typeface="Calibri"/>
              </a:rPr>
              <a:t>PMi</a:t>
            </a:r>
            <a:r>
              <a:rPr sz="1050" b="0" i="0">
                <a:solidFill>
                  <a:srgbClr val="1F2A44"/>
                </a:solidFill>
                <a:latin typeface="Calibri"/>
              </a:rPr>
              <a:t> m. pectoralis minor; BaV-ml / BaV-ll v. basilica'nın medial / lateral kolu; MBCN-UN* n. cutaneus brachii medialis – n. ulnaris iletişimi</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Normal düzen: a. brachialis vv. brachiales ile birlikte, n. medianus önde-lateralde, n. ulnaris medialde seyreder; v. basilica kolun ortasında derin fasyayı deler.</a:t>
            </a:r>
          </a:p>
          <a:p>
            <a:pPr algn="l">
              <a:spcAft>
                <a:spcPts val="300"/>
              </a:spcAft>
            </a:pPr>
            <a:r>
              <a:rPr sz="1050" b="0" i="0">
                <a:solidFill>
                  <a:srgbClr val="1F2A44"/>
                </a:solidFill>
                <a:latin typeface="Calibri"/>
              </a:rPr>
              <a:t>• Bu olguda v. basilica m. pectoralis minor alt kenarının ~12,7 mm distalinde 17,6 mm uzunluğunda </a:t>
            </a:r>
            <a:r>
              <a:rPr sz="1050" b="0" i="0">
                <a:solidFill>
                  <a:srgbClr val="1F2A44"/>
                </a:solidFill>
                <a:latin typeface="Calibri"/>
              </a:rPr>
              <a:t>fenestrasyon</a:t>
            </a:r>
            <a:r>
              <a:rPr sz="1050" b="0" i="0">
                <a:solidFill>
                  <a:srgbClr val="1F2A44"/>
                </a:solidFill>
                <a:latin typeface="Calibri"/>
              </a:rPr>
              <a:t> göstermekte ve içinden bir sinir iletişim dalı geçmektedir.</a:t>
            </a:r>
          </a:p>
          <a:p>
            <a:pPr algn="l">
              <a:spcAft>
                <a:spcPts val="300"/>
              </a:spcAft>
            </a:pPr>
            <a:r>
              <a:rPr sz="1050" b="0" i="0">
                <a:solidFill>
                  <a:srgbClr val="1F2A44"/>
                </a:solidFill>
                <a:latin typeface="Calibri"/>
              </a:rPr>
              <a:t>• Santral venöz kateter ve aksiller ven girişimlerinde dikkat edilmelidir.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Triantafyllou George, Tsakotos George, Samolis Alexandros et al. Fenestrated Basilic Vein Traversed by a Rare Variant of the Medial Brachial Cutaneous Nerve. Cureus. 2025 Oct 17;17(10):e94802. doi: 10.7759/cureus.94802 PMCID: PMC12619963.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Kolun distali ve fossa cubiti – etiketli diseksiyon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Yüksek a. brachialis bölünmesi gösteren örnek (42 ekstremitelik seri)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jvb-20-e20210008-g03.jpg"/>
          <p:cNvPicPr>
            <a:picLocks noChangeAspect="1"/>
          </p:cNvPicPr>
          <p:nvPr/>
        </p:nvPicPr>
        <p:blipFill>
          <a:blip r:embed="rId2"/>
          <a:stretch>
            <a:fillRect/>
          </a:stretch>
        </p:blipFill>
        <p:spPr>
          <a:xfrm>
            <a:off x="2606039" y="1188720"/>
            <a:ext cx="2423160" cy="4846320"/>
          </a:xfrm>
          <a:prstGeom prst="rect">
            <a:avLst/>
          </a:prstGeom>
        </p:spPr>
      </p:pic>
      <p:sp>
        <p:nvSpPr>
          <p:cNvPr id="8" name="TextBox 7"/>
          <p:cNvSpPr txBox="1"/>
          <p:nvPr/>
        </p:nvSpPr>
        <p:spPr>
          <a:xfrm>
            <a:off x="2514599" y="6035040"/>
            <a:ext cx="260604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Sophia Laishram ve ark., 2021 (PMC8210643,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BRACHIAL ARTERY = a. brachialis; RADIAL/ULNAR ARTERY = a. radialis/ulnaris; BICEPS BRACHII; BRACHIALIS; MEDIAN NERVE = n. medianus; BICIPITAL APONEUROSIS = aponeurosis bicipitalis; BRACHIORADIALIS; PRONATOR TERES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42 ekstremitede a. brachialis'in yüksek bölünmesi </a:t>
            </a:r>
            <a:r>
              <a:rPr sz="1050" b="0" i="0">
                <a:solidFill>
                  <a:srgbClr val="1F2A44"/>
                </a:solidFill>
                <a:latin typeface="Calibri"/>
              </a:rPr>
              <a:t>%7,1</a:t>
            </a:r>
            <a:r>
              <a:rPr sz="1050" b="0" i="0">
                <a:solidFill>
                  <a:srgbClr val="1F2A44"/>
                </a:solidFill>
                <a:latin typeface="Calibri"/>
              </a:rPr>
              <a:t> (3/42), pentafurkasyon %2,4, eksik arcus palmaris superficialis %7,1, a. mediana %4,8.</a:t>
            </a:r>
          </a:p>
          <a:p>
            <a:pPr algn="l">
              <a:spcAft>
                <a:spcPts val="300"/>
              </a:spcAft>
            </a:pPr>
            <a:r>
              <a:rPr sz="1050" b="0" i="0">
                <a:solidFill>
                  <a:srgbClr val="1F2A44"/>
                </a:solidFill>
                <a:latin typeface="Calibri"/>
              </a:rPr>
              <a:t>• Aponeurosis bicipitalis medialdeki a. brachialis ve n. medianus'u örter; fossa cubiti'nin çatısıdır.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Sophia Laishram, Singh Darshita, Xalxo Neha et al. Upper limb arterial pattern: clinical correlation and embryological perspective. J Vasc Bras. 2021 Jun 11;20:e20210008. doi: 10.1590/1677-5449.210008 PMCID: PMC8210643.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radialis'in sulcus'taki seyri – arka yaklaşım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Tuberositas deltoidea ve triceps aponevrozu ile ilişki (32 taze donmuş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gr2.jpg"/>
          <p:cNvPicPr>
            <a:picLocks noChangeAspect="1"/>
          </p:cNvPicPr>
          <p:nvPr/>
        </p:nvPicPr>
        <p:blipFill>
          <a:blip r:embed="rId2"/>
          <a:stretch>
            <a:fillRect/>
          </a:stretch>
        </p:blipFill>
        <p:spPr>
          <a:xfrm>
            <a:off x="274320" y="1188720"/>
            <a:ext cx="2205605" cy="3885758"/>
          </a:xfrm>
          <a:prstGeom prst="rect">
            <a:avLst/>
          </a:prstGeom>
        </p:spPr>
      </p:pic>
      <p:sp>
        <p:nvSpPr>
          <p:cNvPr id="8" name="TextBox 7"/>
          <p:cNvSpPr txBox="1"/>
          <p:nvPr/>
        </p:nvSpPr>
        <p:spPr>
          <a:xfrm>
            <a:off x="182879" y="5074478"/>
            <a:ext cx="238848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Qawasmi Feras ve ark., 2024 (PMC11401578, CC BY)</a:t>
            </a:r>
          </a:p>
        </p:txBody>
      </p:sp>
      <p:pic>
        <p:nvPicPr>
          <p:cNvPr id="9" name="Picture 8" descr="gr1.jpg"/>
          <p:cNvPicPr>
            <a:picLocks noChangeAspect="1"/>
          </p:cNvPicPr>
          <p:nvPr/>
        </p:nvPicPr>
        <p:blipFill>
          <a:blip r:embed="rId3"/>
          <a:stretch>
            <a:fillRect/>
          </a:stretch>
        </p:blipFill>
        <p:spPr>
          <a:xfrm>
            <a:off x="2617085" y="1188720"/>
            <a:ext cx="4743834" cy="3885758"/>
          </a:xfrm>
          <a:prstGeom prst="rect">
            <a:avLst/>
          </a:prstGeom>
        </p:spPr>
      </p:pic>
      <p:sp>
        <p:nvSpPr>
          <p:cNvPr id="10" name="TextBox 9"/>
          <p:cNvSpPr txBox="1"/>
          <p:nvPr/>
        </p:nvSpPr>
        <p:spPr>
          <a:xfrm>
            <a:off x="2525645" y="5074478"/>
            <a:ext cx="492671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Qawasmi Feras ve ark., 2024 (PMC11401578,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2 (yazar çizimi): sarı = n. radialis; kırmızı yıldız tuberositas deltoidea distal ucu; Deltoid = m. deltoideus</a:t>
            </a:r>
          </a:p>
          <a:p>
            <a:pPr algn="l">
              <a:spcAft>
                <a:spcPts val="300"/>
              </a:spcAft>
            </a:pPr>
            <a:r>
              <a:rPr sz="1050" b="0" i="0">
                <a:solidFill>
                  <a:srgbClr val="1F2A44"/>
                </a:solidFill>
                <a:latin typeface="Calibri"/>
              </a:rPr>
              <a:t>• Şekil 1: triceps aponevrozu (kesikli çizgi kenarlarını birleştirir); yeşil yıldız aponevroz tepesi</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Aponevroz tepesi ile n. radialis arası ortalama </a:t>
            </a:r>
            <a:r>
              <a:rPr sz="1050" b="0" i="0">
                <a:solidFill>
                  <a:srgbClr val="1F2A44"/>
                </a:solidFill>
                <a:latin typeface="Calibri"/>
              </a:rPr>
              <a:t>40,3 mm</a:t>
            </a:r>
            <a:r>
              <a:rPr sz="1050" b="0" i="0">
                <a:solidFill>
                  <a:srgbClr val="1F2A44"/>
                </a:solidFill>
                <a:latin typeface="Calibri"/>
              </a:rPr>
              <a:t> (28–60 mm).</a:t>
            </a:r>
          </a:p>
          <a:p>
            <a:pPr algn="l">
              <a:spcAft>
                <a:spcPts val="300"/>
              </a:spcAft>
            </a:pPr>
            <a:r>
              <a:rPr sz="1050" b="0" i="0">
                <a:solidFill>
                  <a:srgbClr val="1F2A44"/>
                </a:solidFill>
                <a:latin typeface="Calibri"/>
              </a:rPr>
              <a:t>• Sinir tüm örneklerde tuberositas deltoidea'nın distal ucu hizasında humerus'un arka orta eksenindedir – humerus cisim kırığı cerrahisinde güvenilir işaret noktası.</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Qawasmi Feras, Qawasmi Lena, Safadi Hazem et al. Triceps aponeurosis and deltoid tuberosity as a landmarks for radial nerve dissection: a cadaveric study. JSES Int. 2024 Apr 13;8(5):1122–5. doi: 10.1016/j.jseint.2024.03.017 PMCID: PMC11401578.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bölgesi – klinik bağlantılar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Topografinin klinik karşılıkları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26A00"/>
          </a:solidFill>
        </p:spPr>
        <p:txBody>
          <a:bodyPr wrap="square" anchor="ctr" lIns="45720" rIns="45720" tIns="18288" bIns="18288">
            <a:spAutoFit/>
          </a:bodyPr>
          <a:lstStyle/>
          <a:p>
            <a:pPr algn="ctr"/>
            <a:r>
              <a:rPr sz="950" b="1" i="0">
                <a:solidFill>
                  <a:srgbClr val="FFFFFF"/>
                </a:solidFill>
                <a:latin typeface="Calibri"/>
              </a:rPr>
              <a:t>KLİNİK BAĞLANTI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Humerus cisim kırığı:</a:t>
            </a:r>
            <a:r>
              <a:rPr sz="1650" b="0" i="0">
                <a:solidFill>
                  <a:srgbClr val="1F2A44"/>
                </a:solidFill>
                <a:latin typeface="Calibri"/>
              </a:rPr>
              <a:t> n. radialis hasarı → </a:t>
            </a:r>
            <a:r>
              <a:rPr sz="1650" b="0" i="0">
                <a:solidFill>
                  <a:srgbClr val="1F2A44"/>
                </a:solidFill>
                <a:latin typeface="Calibri"/>
              </a:rPr>
              <a:t>düşük el</a:t>
            </a:r>
            <a:r>
              <a:rPr sz="1650" b="0" i="0">
                <a:solidFill>
                  <a:srgbClr val="1F2A44"/>
                </a:solidFill>
                <a:latin typeface="Calibri"/>
              </a:rPr>
              <a:t> (el bileği ve parmak ekstansörleri felci), el sırtı radial yarıda duyu kaybı; triceps genellikle korunur.</a:t>
            </a:r>
          </a:p>
          <a:p>
            <a:pPr algn="l">
              <a:spcAft>
                <a:spcPts val="300"/>
              </a:spcAft>
            </a:pPr>
            <a:r>
              <a:rPr sz="1650" b="0" i="0">
                <a:solidFill>
                  <a:srgbClr val="1F2A44"/>
                </a:solidFill>
                <a:latin typeface="Calibri"/>
              </a:rPr>
              <a:t>• </a:t>
            </a:r>
            <a:r>
              <a:rPr sz="1650" b="0" i="0">
                <a:solidFill>
                  <a:srgbClr val="1F2A44"/>
                </a:solidFill>
                <a:latin typeface="Calibri"/>
              </a:rPr>
              <a:t>'Cumartesi gecesi felci':</a:t>
            </a:r>
            <a:r>
              <a:rPr sz="1650" b="0" i="0">
                <a:solidFill>
                  <a:srgbClr val="1F2A44"/>
                </a:solidFill>
                <a:latin typeface="Calibri"/>
              </a:rPr>
              <a:t> n. radialis'in sulcus'ta uzun süreli basısı.</a:t>
            </a:r>
          </a:p>
          <a:p>
            <a:pPr algn="l">
              <a:spcAft>
                <a:spcPts val="300"/>
              </a:spcAft>
            </a:pPr>
            <a:r>
              <a:rPr sz="1650" b="0" i="0">
                <a:solidFill>
                  <a:srgbClr val="1F2A44"/>
                </a:solidFill>
                <a:latin typeface="Calibri"/>
              </a:rPr>
              <a:t>• </a:t>
            </a:r>
            <a:r>
              <a:rPr sz="1650" b="0" i="0">
                <a:solidFill>
                  <a:srgbClr val="1F2A44"/>
                </a:solidFill>
                <a:latin typeface="Calibri"/>
              </a:rPr>
              <a:t>Suprakondiler kırık (çocuk):</a:t>
            </a:r>
            <a:r>
              <a:rPr sz="1650" b="0" i="0">
                <a:solidFill>
                  <a:srgbClr val="1F2A44"/>
                </a:solidFill>
                <a:latin typeface="Calibri"/>
              </a:rPr>
              <a:t> a. brachialis ve n. medianus (özellikle n. interosseus anterior) yaralanması; kompartman sendromu → Volkmann kontraktürü.</a:t>
            </a:r>
          </a:p>
          <a:p>
            <a:pPr algn="l">
              <a:spcAft>
                <a:spcPts val="300"/>
              </a:spcAft>
            </a:pPr>
            <a:r>
              <a:rPr sz="1650" b="0" i="0">
                <a:solidFill>
                  <a:srgbClr val="1F2A44"/>
                </a:solidFill>
                <a:latin typeface="Calibri"/>
              </a:rPr>
              <a:t>• </a:t>
            </a:r>
            <a:r>
              <a:rPr sz="1650" b="0" i="0">
                <a:solidFill>
                  <a:srgbClr val="1F2A44"/>
                </a:solidFill>
                <a:latin typeface="Calibri"/>
              </a:rPr>
              <a:t>Distal biceps tendon rüptürü:</a:t>
            </a:r>
            <a:r>
              <a:rPr sz="1650" b="0" i="0">
                <a:solidFill>
                  <a:srgbClr val="1F2A44"/>
                </a:solidFill>
                <a:latin typeface="Calibri"/>
              </a:rPr>
              <a:t> supinasyon gücünde belirgin kayıp; proksimal (caput longum) rüptürde 'Popeye' görünümü.</a:t>
            </a:r>
          </a:p>
          <a:p>
            <a:pPr algn="l">
              <a:spcAft>
                <a:spcPts val="300"/>
              </a:spcAft>
            </a:pPr>
            <a:r>
              <a:rPr sz="1650" b="0" i="0">
                <a:solidFill>
                  <a:srgbClr val="1F2A44"/>
                </a:solidFill>
                <a:latin typeface="Calibri"/>
              </a:rPr>
              <a:t>• </a:t>
            </a:r>
            <a:r>
              <a:rPr sz="1650" b="0" i="0">
                <a:solidFill>
                  <a:srgbClr val="1F2A44"/>
                </a:solidFill>
                <a:latin typeface="Calibri"/>
              </a:rPr>
              <a:t>N. musculocutaneus hasarı:</a:t>
            </a:r>
            <a:r>
              <a:rPr sz="1650" b="0" i="0">
                <a:solidFill>
                  <a:srgbClr val="1F2A44"/>
                </a:solidFill>
                <a:latin typeface="Calibri"/>
              </a:rPr>
              <a:t> dirsek fleksiyonu zayıflar (m. brachioradialis ve n. radialis dalı ile kısmen korunur), önkol lateralinde duyu kaybı.</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bölgesi varyasyonları – literatür taraması (1/2)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84632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07720">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07720">
                <a:tc>
                  <a:txBody>
                    <a:bodyPr/>
                    <a:lstStyle/>
                    <a:p>
                      <a:r>
                        <a:rPr sz="1150" b="1">
                          <a:solidFill>
                            <a:srgbClr val="1F2A44"/>
                          </a:solidFill>
                          <a:latin typeface="Calibri"/>
                        </a:rPr>
                        <a:t>M. biceps brachii aksesuar başı</a:t>
                      </a:r>
                    </a:p>
                  </a:txBody>
                  <a:tcPr>
                    <a:solidFill>
                      <a:srgbClr val="F3F4F6"/>
                    </a:solidFill>
                  </a:tcPr>
                </a:tc>
                <a:tc>
                  <a:txBody>
                    <a:bodyPr/>
                    <a:lstStyle/>
                    <a:p>
                      <a:r>
                        <a:rPr sz="1150" b="0">
                          <a:solidFill>
                            <a:srgbClr val="1F2A44"/>
                          </a:solidFill>
                          <a:latin typeface="Calibri"/>
                        </a:rPr>
                        <a:t>Heo ve ark. 2024</a:t>
                      </a:r>
                    </a:p>
                  </a:txBody>
                  <a:tcPr>
                    <a:solidFill>
                      <a:srgbClr val="F3F4F6"/>
                    </a:solidFill>
                  </a:tcPr>
                </a:tc>
                <a:tc>
                  <a:txBody>
                    <a:bodyPr/>
                    <a:lstStyle/>
                    <a:p>
                      <a:r>
                        <a:rPr sz="1150" b="0">
                          <a:solidFill>
                            <a:srgbClr val="1F2A44"/>
                          </a:solidFill>
                          <a:latin typeface="Calibri"/>
                        </a:rPr>
                        <a:t>103 ekstremite</a:t>
                      </a:r>
                    </a:p>
                  </a:txBody>
                  <a:tcPr>
                    <a:solidFill>
                      <a:srgbClr val="F3F4F6"/>
                    </a:solidFill>
                  </a:tcPr>
                </a:tc>
                <a:tc>
                  <a:txBody>
                    <a:bodyPr/>
                    <a:lstStyle/>
                    <a:p>
                      <a:r>
                        <a:rPr sz="1150" b="0">
                          <a:solidFill>
                            <a:srgbClr val="1F2A44"/>
                          </a:solidFill>
                          <a:latin typeface="Calibri"/>
                        </a:rPr>
                        <a:t>%11,65 (12/103); daha uzun üst ekstremite ile ilişkili</a:t>
                      </a:r>
                    </a:p>
                  </a:txBody>
                  <a:tcPr>
                    <a:solidFill>
                      <a:srgbClr val="F3F4F6"/>
                    </a:solidFill>
                  </a:tcPr>
                </a:tc>
                <a:tc>
                  <a:txBody>
                    <a:bodyPr/>
                    <a:lstStyle/>
                    <a:p>
                      <a:r>
                        <a:rPr sz="1150" b="0">
                          <a:solidFill>
                            <a:srgbClr val="1F2A44"/>
                          </a:solidFill>
                          <a:latin typeface="Calibri"/>
                        </a:rPr>
                        <a:t>Topografiyi (CBM yapışması, BBM uzunluğu) değiştirir</a:t>
                      </a:r>
                    </a:p>
                  </a:txBody>
                  <a:tcPr>
                    <a:solidFill>
                      <a:srgbClr val="F3F4F6"/>
                    </a:solidFill>
                  </a:tcPr>
                </a:tc>
              </a:tr>
              <a:tr h="807720">
                <a:tc>
                  <a:txBody>
                    <a:bodyPr/>
                    <a:lstStyle/>
                    <a:p>
                      <a:r>
                        <a:rPr sz="1150" b="1">
                          <a:solidFill>
                            <a:srgbClr val="1F2A44"/>
                          </a:solidFill>
                          <a:latin typeface="Calibri"/>
                        </a:rPr>
                        <a:t>M. biceps 3. başı (bilateral)</a:t>
                      </a:r>
                    </a:p>
                  </a:txBody>
                  <a:tcPr>
                    <a:solidFill>
                      <a:srgbClr val="FFFFFF"/>
                    </a:solidFill>
                  </a:tcPr>
                </a:tc>
                <a:tc>
                  <a:txBody>
                    <a:bodyPr/>
                    <a:lstStyle/>
                    <a:p>
                      <a:r>
                        <a:rPr sz="1150" b="0">
                          <a:solidFill>
                            <a:srgbClr val="1F2A44"/>
                          </a:solidFill>
                          <a:latin typeface="Calibri"/>
                        </a:rPr>
                        <a:t>Saluja ve ark. 2017</a:t>
                      </a:r>
                    </a:p>
                  </a:txBody>
                  <a:tcPr>
                    <a:solidFill>
                      <a:srgbClr val="FFFFFF"/>
                    </a:solidFill>
                  </a:tcPr>
                </a:tc>
                <a:tc>
                  <a:txBody>
                    <a:bodyPr/>
                    <a:lstStyle/>
                    <a:p>
                      <a:r>
                        <a:rPr sz="1150" b="0">
                          <a:solidFill>
                            <a:srgbClr val="1F2A44"/>
                          </a:solidFill>
                          <a:latin typeface="Calibri"/>
                        </a:rPr>
                        <a:t>Olgu (CC BY-NC-SA)</a:t>
                      </a:r>
                    </a:p>
                  </a:txBody>
                  <a:tcPr>
                    <a:solidFill>
                      <a:srgbClr val="FFFFFF"/>
                    </a:solidFill>
                  </a:tcPr>
                </a:tc>
                <a:tc>
                  <a:txBody>
                    <a:bodyPr/>
                    <a:lstStyle/>
                    <a:p>
                      <a:r>
                        <a:rPr sz="1150" b="0">
                          <a:solidFill>
                            <a:srgbClr val="1F2A44"/>
                          </a:solidFill>
                          <a:latin typeface="Calibri"/>
                        </a:rPr>
                        <a:t>M. brachialis fasyasından köken; MCN m. coracobrachialis'i delmiyor</a:t>
                      </a:r>
                    </a:p>
                  </a:txBody>
                  <a:tcPr>
                    <a:solidFill>
                      <a:srgbClr val="FFFFFF"/>
                    </a:solidFill>
                  </a:tcPr>
                </a:tc>
                <a:tc>
                  <a:txBody>
                    <a:bodyPr/>
                    <a:lstStyle/>
                    <a:p>
                      <a:r>
                        <a:rPr sz="1150" b="0">
                          <a:solidFill>
                            <a:srgbClr val="1F2A44"/>
                          </a:solidFill>
                          <a:latin typeface="Calibri"/>
                        </a:rPr>
                        <a:t>Görüntülemede kitle ile karışabilir</a:t>
                      </a:r>
                    </a:p>
                  </a:txBody>
                  <a:tcPr>
                    <a:solidFill>
                      <a:srgbClr val="FFFFFF"/>
                    </a:solidFill>
                  </a:tcPr>
                </a:tc>
              </a:tr>
              <a:tr h="807720">
                <a:tc>
                  <a:txBody>
                    <a:bodyPr/>
                    <a:lstStyle/>
                    <a:p>
                      <a:r>
                        <a:rPr sz="1150" b="1">
                          <a:solidFill>
                            <a:srgbClr val="1F2A44"/>
                          </a:solidFill>
                          <a:latin typeface="Calibri"/>
                        </a:rPr>
                        <a:t>M. coracobrachialis tipleri ve innervasyonu</a:t>
                      </a:r>
                    </a:p>
                  </a:txBody>
                  <a:tcPr>
                    <a:solidFill>
                      <a:srgbClr val="F3F4F6"/>
                    </a:solidFill>
                  </a:tcPr>
                </a:tc>
                <a:tc>
                  <a:txBody>
                    <a:bodyPr/>
                    <a:lstStyle/>
                    <a:p>
                      <a:r>
                        <a:rPr sz="1150" b="0">
                          <a:solidFill>
                            <a:srgbClr val="1F2A44"/>
                          </a:solidFill>
                          <a:latin typeface="Calibri"/>
                        </a:rPr>
                        <a:t>Nasr &amp; Youssef 2024</a:t>
                      </a:r>
                    </a:p>
                  </a:txBody>
                  <a:tcPr>
                    <a:solidFill>
                      <a:srgbClr val="F3F4F6"/>
                    </a:solidFill>
                  </a:tcPr>
                </a:tc>
                <a:tc>
                  <a:txBody>
                    <a:bodyPr/>
                    <a:lstStyle/>
                    <a:p>
                      <a:r>
                        <a:rPr sz="1150" b="0">
                          <a:solidFill>
                            <a:srgbClr val="1F2A44"/>
                          </a:solidFill>
                          <a:latin typeface="Calibri"/>
                        </a:rPr>
                        <a:t>100 ekstremite</a:t>
                      </a:r>
                    </a:p>
                  </a:txBody>
                  <a:tcPr>
                    <a:solidFill>
                      <a:srgbClr val="F3F4F6"/>
                    </a:solidFill>
                  </a:tcPr>
                </a:tc>
                <a:tc>
                  <a:txBody>
                    <a:bodyPr/>
                    <a:lstStyle/>
                    <a:p>
                      <a:r>
                        <a:rPr sz="1150" b="0">
                          <a:solidFill>
                            <a:srgbClr val="1F2A44"/>
                          </a:solidFill>
                          <a:latin typeface="Calibri"/>
                        </a:rPr>
                        <a:t>İki başlı %63; tek %22; üç %12; dört %3; MCN innervasyonu %80</a:t>
                      </a:r>
                    </a:p>
                  </a:txBody>
                  <a:tcPr>
                    <a:solidFill>
                      <a:srgbClr val="F3F4F6"/>
                    </a:solidFill>
                  </a:tcPr>
                </a:tc>
                <a:tc>
                  <a:txBody>
                    <a:bodyPr/>
                    <a:lstStyle/>
                    <a:p>
                      <a:r>
                        <a:rPr sz="1150" b="0">
                          <a:solidFill>
                            <a:srgbClr val="1F2A44"/>
                          </a:solidFill>
                          <a:latin typeface="Calibri"/>
                        </a:rPr>
                        <a:t>MCN'nin seyrini değiştirir</a:t>
                      </a:r>
                    </a:p>
                  </a:txBody>
                  <a:tcPr>
                    <a:solidFill>
                      <a:srgbClr val="F3F4F6"/>
                    </a:solidFill>
                  </a:tcPr>
                </a:tc>
              </a:tr>
              <a:tr h="807720">
                <a:tc>
                  <a:txBody>
                    <a:bodyPr/>
                    <a:lstStyle/>
                    <a:p>
                      <a:r>
                        <a:rPr sz="1150" b="1">
                          <a:solidFill>
                            <a:srgbClr val="1F2A44"/>
                          </a:solidFill>
                          <a:latin typeface="Calibri"/>
                        </a:rPr>
                        <a:t>MCN–MN iletişimi</a:t>
                      </a:r>
                    </a:p>
                  </a:txBody>
                  <a:tcPr>
                    <a:solidFill>
                      <a:srgbClr val="FFFFFF"/>
                    </a:solidFill>
                  </a:tcPr>
                </a:tc>
                <a:tc>
                  <a:txBody>
                    <a:bodyPr/>
                    <a:lstStyle/>
                    <a:p>
                      <a:r>
                        <a:rPr sz="1150" b="0">
                          <a:solidFill>
                            <a:srgbClr val="1F2A44"/>
                          </a:solidFill>
                          <a:latin typeface="Calibri"/>
                        </a:rPr>
                        <a:t>Caetano ve ark. 2016; (+ CB serisi)</a:t>
                      </a:r>
                    </a:p>
                  </a:txBody>
                  <a:tcPr>
                    <a:solidFill>
                      <a:srgbClr val="FFFFFF"/>
                    </a:solidFill>
                  </a:tcPr>
                </a:tc>
                <a:tc>
                  <a:txBody>
                    <a:bodyPr/>
                    <a:lstStyle/>
                    <a:p>
                      <a:r>
                        <a:rPr sz="1150" b="0">
                          <a:solidFill>
                            <a:srgbClr val="1F2A44"/>
                          </a:solidFill>
                          <a:latin typeface="Calibri"/>
                        </a:rPr>
                        <a:t>40 fetal ekstremite; 27 kol</a:t>
                      </a:r>
                    </a:p>
                  </a:txBody>
                  <a:tcPr>
                    <a:solidFill>
                      <a:srgbClr val="FFFFFF"/>
                    </a:solidFill>
                  </a:tcPr>
                </a:tc>
                <a:tc>
                  <a:txBody>
                    <a:bodyPr/>
                    <a:lstStyle/>
                    <a:p>
                      <a:r>
                        <a:rPr sz="1150" b="0">
                          <a:solidFill>
                            <a:srgbClr val="1F2A44"/>
                          </a:solidFill>
                          <a:latin typeface="Calibri"/>
                        </a:rPr>
                        <a:t>Fetal %25 (Tip I 9, Tip II 1); erişkin %7,41</a:t>
                      </a:r>
                    </a:p>
                  </a:txBody>
                  <a:tcPr>
                    <a:solidFill>
                      <a:srgbClr val="FFFFFF"/>
                    </a:solidFill>
                  </a:tcPr>
                </a:tc>
                <a:tc>
                  <a:txBody>
                    <a:bodyPr/>
                    <a:lstStyle/>
                    <a:p>
                      <a:r>
                        <a:rPr sz="1150" b="0">
                          <a:solidFill>
                            <a:srgbClr val="1F2A44"/>
                          </a:solidFill>
                          <a:latin typeface="Calibri"/>
                        </a:rPr>
                        <a:t>Sinir yaralanması tablosunun yanlış yorumu</a:t>
                      </a:r>
                    </a:p>
                  </a:txBody>
                  <a:tcPr>
                    <a:solidFill>
                      <a:srgbClr val="FFFFFF"/>
                    </a:solidFill>
                  </a:tcPr>
                </a:tc>
              </a:tr>
              <a:tr h="807720">
                <a:tc>
                  <a:txBody>
                    <a:bodyPr/>
                    <a:lstStyle/>
                    <a:p>
                      <a:r>
                        <a:rPr sz="1150" b="1">
                          <a:solidFill>
                            <a:srgbClr val="1F2A44"/>
                          </a:solidFill>
                          <a:latin typeface="Calibri"/>
                        </a:rPr>
                        <a:t>N. musculocutaneus yokluğu</a:t>
                      </a:r>
                    </a:p>
                  </a:txBody>
                  <a:tcPr>
                    <a:solidFill>
                      <a:srgbClr val="F3F4F6"/>
                    </a:solidFill>
                  </a:tcPr>
                </a:tc>
                <a:tc>
                  <a:txBody>
                    <a:bodyPr/>
                    <a:lstStyle/>
                    <a:p>
                      <a:r>
                        <a:rPr sz="1150" b="0">
                          <a:solidFill>
                            <a:srgbClr val="1F2A44"/>
                          </a:solidFill>
                          <a:latin typeface="Calibri"/>
                        </a:rPr>
                        <a:t>Fregnani ve ark. 2008</a:t>
                      </a:r>
                    </a:p>
                  </a:txBody>
                  <a:tcPr>
                    <a:solidFill>
                      <a:srgbClr val="F3F4F6"/>
                    </a:solidFill>
                  </a:tcPr>
                </a:tc>
                <a:tc>
                  <a:txBody>
                    <a:bodyPr/>
                    <a:lstStyle/>
                    <a:p>
                      <a:r>
                        <a:rPr sz="1150" b="0">
                          <a:solidFill>
                            <a:srgbClr val="1F2A44"/>
                          </a:solidFill>
                          <a:latin typeface="Calibri"/>
                        </a:rPr>
                        <a:t>Olgu</a:t>
                      </a:r>
                    </a:p>
                  </a:txBody>
                  <a:tcPr>
                    <a:solidFill>
                      <a:srgbClr val="F3F4F6"/>
                    </a:solidFill>
                  </a:tcPr>
                </a:tc>
                <a:tc>
                  <a:txBody>
                    <a:bodyPr/>
                    <a:lstStyle/>
                    <a:p>
                      <a:r>
                        <a:rPr sz="1150" b="0">
                          <a:solidFill>
                            <a:srgbClr val="1F2A44"/>
                          </a:solidFill>
                          <a:latin typeface="Calibri"/>
                        </a:rPr>
                        <a:t>Kol fleksörlerini n. medianus innerve ediyor</a:t>
                      </a:r>
                    </a:p>
                  </a:txBody>
                  <a:tcPr>
                    <a:solidFill>
                      <a:srgbClr val="F3F4F6"/>
                    </a:solidFill>
                  </a:tcPr>
                </a:tc>
                <a:tc>
                  <a:txBody>
                    <a:bodyPr/>
                    <a:lstStyle/>
                    <a:p>
                      <a:r>
                        <a:rPr sz="1150" b="0">
                          <a:solidFill>
                            <a:srgbClr val="1F2A44"/>
                          </a:solidFill>
                          <a:latin typeface="Calibri"/>
                        </a:rPr>
                        <a:t>Aksiller cerrahi/blok</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Kol bölgesi varyasyonları – literatür taraması (2/2)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06908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13816">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13816">
                <a:tc>
                  <a:txBody>
                    <a:bodyPr/>
                    <a:lstStyle/>
                    <a:p>
                      <a:r>
                        <a:rPr sz="1150" b="1">
                          <a:solidFill>
                            <a:srgbClr val="1F2A44"/>
                          </a:solidFill>
                          <a:latin typeface="Calibri"/>
                        </a:rPr>
                        <a:t>A. brachialis superficialis / trifurkasyon</a:t>
                      </a:r>
                    </a:p>
                  </a:txBody>
                  <a:tcPr>
                    <a:solidFill>
                      <a:srgbClr val="F3F4F6"/>
                    </a:solidFill>
                  </a:tcPr>
                </a:tc>
                <a:tc>
                  <a:txBody>
                    <a:bodyPr/>
                    <a:lstStyle/>
                    <a:p>
                      <a:r>
                        <a:rPr sz="1150" b="0">
                          <a:solidFill>
                            <a:srgbClr val="1F2A44"/>
                          </a:solidFill>
                          <a:latin typeface="Calibri"/>
                        </a:rPr>
                        <a:t>Koutserimpas ve ark. 2023</a:t>
                      </a:r>
                    </a:p>
                  </a:txBody>
                  <a:tcPr>
                    <a:solidFill>
                      <a:srgbClr val="F3F4F6"/>
                    </a:solidFill>
                  </a:tcPr>
                </a:tc>
                <a:tc>
                  <a:txBody>
                    <a:bodyPr/>
                    <a:lstStyle/>
                    <a:p>
                      <a:r>
                        <a:rPr sz="1150" b="0">
                          <a:solidFill>
                            <a:srgbClr val="1F2A44"/>
                          </a:solidFill>
                          <a:latin typeface="Calibri"/>
                        </a:rPr>
                        <a:t>Olgu (+ literatür)</a:t>
                      </a:r>
                    </a:p>
                  </a:txBody>
                  <a:tcPr>
                    <a:solidFill>
                      <a:srgbClr val="F3F4F6"/>
                    </a:solidFill>
                  </a:tcPr>
                </a:tc>
                <a:tc>
                  <a:txBody>
                    <a:bodyPr/>
                    <a:lstStyle/>
                    <a:p>
                      <a:r>
                        <a:rPr sz="1150" b="0">
                          <a:solidFill>
                            <a:srgbClr val="1F2A44"/>
                          </a:solidFill>
                          <a:latin typeface="Calibri"/>
                        </a:rPr>
                        <a:t>SBA sıklığı %1,07–%19,7 (aktarılan)</a:t>
                      </a:r>
                    </a:p>
                  </a:txBody>
                  <a:tcPr>
                    <a:solidFill>
                      <a:srgbClr val="F3F4F6"/>
                    </a:solidFill>
                  </a:tcPr>
                </a:tc>
                <a:tc>
                  <a:txBody>
                    <a:bodyPr/>
                    <a:lstStyle/>
                    <a:p>
                      <a:r>
                        <a:rPr sz="1150" b="0">
                          <a:solidFill>
                            <a:srgbClr val="1F2A44"/>
                          </a:solidFill>
                          <a:latin typeface="Calibri"/>
                        </a:rPr>
                        <a:t>Yanlışlıkla arteriyel enjeksiyon</a:t>
                      </a:r>
                    </a:p>
                  </a:txBody>
                  <a:tcPr>
                    <a:solidFill>
                      <a:srgbClr val="F3F4F6"/>
                    </a:solidFill>
                  </a:tcPr>
                </a:tc>
              </a:tr>
              <a:tr h="813816">
                <a:tc>
                  <a:txBody>
                    <a:bodyPr/>
                    <a:lstStyle/>
                    <a:p>
                      <a:r>
                        <a:rPr sz="1150" b="1">
                          <a:solidFill>
                            <a:srgbClr val="1F2A44"/>
                          </a:solidFill>
                          <a:latin typeface="Calibri"/>
                        </a:rPr>
                        <a:t>A. brachialis yüksek bölünmesi</a:t>
                      </a:r>
                    </a:p>
                  </a:txBody>
                  <a:tcPr>
                    <a:solidFill>
                      <a:srgbClr val="FFFFFF"/>
                    </a:solidFill>
                  </a:tcPr>
                </a:tc>
                <a:tc>
                  <a:txBody>
                    <a:bodyPr/>
                    <a:lstStyle/>
                    <a:p>
                      <a:r>
                        <a:rPr sz="1150" b="0">
                          <a:solidFill>
                            <a:srgbClr val="1F2A44"/>
                          </a:solidFill>
                          <a:latin typeface="Calibri"/>
                        </a:rPr>
                        <a:t>Jangir ve ark. 2024; Sophia ve ark. 2021</a:t>
                      </a:r>
                    </a:p>
                  </a:txBody>
                  <a:tcPr>
                    <a:solidFill>
                      <a:srgbClr val="FFFFFF"/>
                    </a:solidFill>
                  </a:tcPr>
                </a:tc>
                <a:tc>
                  <a:txBody>
                    <a:bodyPr/>
                    <a:lstStyle/>
                    <a:p>
                      <a:r>
                        <a:rPr sz="1150" b="0">
                          <a:solidFill>
                            <a:srgbClr val="1F2A44"/>
                          </a:solidFill>
                          <a:latin typeface="Calibri"/>
                        </a:rPr>
                        <a:t>Olgu; 42 ekstremite</a:t>
                      </a:r>
                    </a:p>
                  </a:txBody>
                  <a:tcPr>
                    <a:solidFill>
                      <a:srgbClr val="FFFFFF"/>
                    </a:solidFill>
                  </a:tcPr>
                </a:tc>
                <a:tc>
                  <a:txBody>
                    <a:bodyPr/>
                    <a:lstStyle/>
                    <a:p>
                      <a:r>
                        <a:rPr sz="1150" b="0">
                          <a:solidFill>
                            <a:srgbClr val="1F2A44"/>
                          </a:solidFill>
                          <a:latin typeface="Calibri"/>
                        </a:rPr>
                        <a:t>Teres major'ün 7,5 cm altında bölünme; seride %7,1</a:t>
                      </a:r>
                    </a:p>
                  </a:txBody>
                  <a:tcPr>
                    <a:solidFill>
                      <a:srgbClr val="FFFFFF"/>
                    </a:solidFill>
                  </a:tcPr>
                </a:tc>
                <a:tc>
                  <a:txBody>
                    <a:bodyPr/>
                    <a:lstStyle/>
                    <a:p>
                      <a:r>
                        <a:rPr sz="1150" b="0">
                          <a:solidFill>
                            <a:srgbClr val="1F2A44"/>
                          </a:solidFill>
                          <a:latin typeface="Calibri"/>
                        </a:rPr>
                        <a:t>Suprakondiler kırık, distal biceps cerrahisi</a:t>
                      </a:r>
                    </a:p>
                  </a:txBody>
                  <a:tcPr>
                    <a:solidFill>
                      <a:srgbClr val="FFFFFF"/>
                    </a:solidFill>
                  </a:tcPr>
                </a:tc>
              </a:tr>
              <a:tr h="813816">
                <a:tc>
                  <a:txBody>
                    <a:bodyPr/>
                    <a:lstStyle/>
                    <a:p>
                      <a:r>
                        <a:rPr sz="1150" b="1">
                          <a:solidFill>
                            <a:srgbClr val="1F2A44"/>
                          </a:solidFill>
                          <a:latin typeface="Calibri"/>
                        </a:rPr>
                        <a:t>Yüksek çıkışlı a. radialis (a. brachioradialis)</a:t>
                      </a:r>
                    </a:p>
                  </a:txBody>
                  <a:tcPr>
                    <a:solidFill>
                      <a:srgbClr val="F3F4F6"/>
                    </a:solidFill>
                  </a:tcPr>
                </a:tc>
                <a:tc>
                  <a:txBody>
                    <a:bodyPr/>
                    <a:lstStyle/>
                    <a:p>
                      <a:r>
                        <a:rPr sz="1150" b="0">
                          <a:solidFill>
                            <a:srgbClr val="1F2A44"/>
                          </a:solidFill>
                          <a:latin typeface="Calibri"/>
                        </a:rPr>
                        <a:t>Haładaj ve ark. 2018</a:t>
                      </a:r>
                    </a:p>
                  </a:txBody>
                  <a:tcPr>
                    <a:solidFill>
                      <a:srgbClr val="F3F4F6"/>
                    </a:solidFill>
                  </a:tcPr>
                </a:tc>
                <a:tc>
                  <a:txBody>
                    <a:bodyPr/>
                    <a:lstStyle/>
                    <a:p>
                      <a:r>
                        <a:rPr sz="1150" b="0">
                          <a:solidFill>
                            <a:srgbClr val="1F2A44"/>
                          </a:solidFill>
                          <a:latin typeface="Calibri"/>
                        </a:rPr>
                        <a:t>120 ekstremite</a:t>
                      </a:r>
                    </a:p>
                  </a:txBody>
                  <a:tcPr>
                    <a:solidFill>
                      <a:srgbClr val="F3F4F6"/>
                    </a:solidFill>
                  </a:tcPr>
                </a:tc>
                <a:tc>
                  <a:txBody>
                    <a:bodyPr/>
                    <a:lstStyle/>
                    <a:p>
                      <a:r>
                        <a:rPr sz="1150" b="0">
                          <a:solidFill>
                            <a:srgbClr val="1F2A44"/>
                          </a:solidFill>
                          <a:latin typeface="Calibri"/>
                        </a:rPr>
                        <a:t>%9,2 (11/120): 2 a. axillaris, 9 a. brachialis kökenli</a:t>
                      </a:r>
                    </a:p>
                  </a:txBody>
                  <a:tcPr>
                    <a:solidFill>
                      <a:srgbClr val="F3F4F6"/>
                    </a:solidFill>
                  </a:tcPr>
                </a:tc>
                <a:tc>
                  <a:txBody>
                    <a:bodyPr/>
                    <a:lstStyle/>
                    <a:p>
                      <a:r>
                        <a:rPr sz="1150" b="0">
                          <a:solidFill>
                            <a:srgbClr val="1F2A44"/>
                          </a:solidFill>
                          <a:latin typeface="Calibri"/>
                        </a:rPr>
                        <a:t>Radial kateterizasyon, flep</a:t>
                      </a:r>
                    </a:p>
                  </a:txBody>
                  <a:tcPr>
                    <a:solidFill>
                      <a:srgbClr val="F3F4F6"/>
                    </a:solidFill>
                  </a:tcPr>
                </a:tc>
              </a:tr>
              <a:tr h="813816">
                <a:tc>
                  <a:txBody>
                    <a:bodyPr/>
                    <a:lstStyle/>
                    <a:p>
                      <a:r>
                        <a:rPr sz="1150" b="1">
                          <a:solidFill>
                            <a:srgbClr val="1F2A44"/>
                          </a:solidFill>
                          <a:latin typeface="Calibri"/>
                        </a:rPr>
                        <a:t>Lig. Struthers / proc. supracondylaris</a:t>
                      </a:r>
                    </a:p>
                  </a:txBody>
                  <a:tcPr>
                    <a:solidFill>
                      <a:srgbClr val="FFFFFF"/>
                    </a:solidFill>
                  </a:tcPr>
                </a:tc>
                <a:tc>
                  <a:txBody>
                    <a:bodyPr/>
                    <a:lstStyle/>
                    <a:p>
                      <a:r>
                        <a:rPr sz="1150" b="0">
                          <a:solidFill>
                            <a:srgbClr val="1F2A44"/>
                          </a:solidFill>
                          <a:latin typeface="Calibri"/>
                        </a:rPr>
                        <a:t>Caetano ve ark. 2017</a:t>
                      </a:r>
                    </a:p>
                  </a:txBody>
                  <a:tcPr>
                    <a:solidFill>
                      <a:srgbClr val="FFFFFF"/>
                    </a:solidFill>
                  </a:tcPr>
                </a:tc>
                <a:tc>
                  <a:txBody>
                    <a:bodyPr/>
                    <a:lstStyle/>
                    <a:p>
                      <a:r>
                        <a:rPr sz="1150" b="0">
                          <a:solidFill>
                            <a:srgbClr val="1F2A44"/>
                          </a:solidFill>
                          <a:latin typeface="Calibri"/>
                        </a:rPr>
                        <a:t>60 kol (CC BY-NC)</a:t>
                      </a:r>
                    </a:p>
                  </a:txBody>
                  <a:tcPr>
                    <a:solidFill>
                      <a:srgbClr val="FFFFFF"/>
                    </a:solidFill>
                  </a:tcPr>
                </a:tc>
                <a:tc>
                  <a:txBody>
                    <a:bodyPr/>
                    <a:lstStyle/>
                    <a:p>
                      <a:r>
                        <a:rPr sz="1150" b="0">
                          <a:solidFill>
                            <a:srgbClr val="1F2A44"/>
                          </a:solidFill>
                          <a:latin typeface="Calibri"/>
                        </a:rPr>
                        <a:t>Ligament 6 kolda; proc. supracondylaris 0/60</a:t>
                      </a:r>
                    </a:p>
                  </a:txBody>
                  <a:tcPr>
                    <a:solidFill>
                      <a:srgbClr val="FFFFFF"/>
                    </a:solidFill>
                  </a:tcPr>
                </a:tc>
                <a:tc>
                  <a:txBody>
                    <a:bodyPr/>
                    <a:lstStyle/>
                    <a:p>
                      <a:r>
                        <a:rPr sz="1150" b="0">
                          <a:solidFill>
                            <a:srgbClr val="1F2A44"/>
                          </a:solidFill>
                          <a:latin typeface="Calibri"/>
                        </a:rPr>
                        <a:t>N. medianus ve a. brachialis sıkışması</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biceps brachii'nin aksesuar (süpernümerer) başı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Heo ve ark., Medicina 2024 – 103 kadavra ekstremitesi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medicina-60-01726-g001.jpg"/>
          <p:cNvPicPr>
            <a:picLocks noChangeAspect="1"/>
          </p:cNvPicPr>
          <p:nvPr/>
        </p:nvPicPr>
        <p:blipFill>
          <a:blip r:embed="rId2"/>
          <a:stretch>
            <a:fillRect/>
          </a:stretch>
        </p:blipFill>
        <p:spPr>
          <a:xfrm>
            <a:off x="274320" y="1188720"/>
            <a:ext cx="4597015" cy="3300784"/>
          </a:xfrm>
          <a:prstGeom prst="rect">
            <a:avLst/>
          </a:prstGeom>
        </p:spPr>
      </p:pic>
      <p:sp>
        <p:nvSpPr>
          <p:cNvPr id="8" name="TextBox 7"/>
          <p:cNvSpPr txBox="1"/>
          <p:nvPr/>
        </p:nvSpPr>
        <p:spPr>
          <a:xfrm>
            <a:off x="182879" y="4489504"/>
            <a:ext cx="477989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Heo Yu-Ran ve ark., 2024 (PMC11596292, CC BY)</a:t>
            </a:r>
          </a:p>
        </p:txBody>
      </p:sp>
      <p:pic>
        <p:nvPicPr>
          <p:cNvPr id="9" name="Picture 8" descr="medicina-60-01726-g002.jpg"/>
          <p:cNvPicPr>
            <a:picLocks noChangeAspect="1"/>
          </p:cNvPicPr>
          <p:nvPr/>
        </p:nvPicPr>
        <p:blipFill>
          <a:blip r:embed="rId3"/>
          <a:stretch>
            <a:fillRect/>
          </a:stretch>
        </p:blipFill>
        <p:spPr>
          <a:xfrm>
            <a:off x="5008495" y="1188720"/>
            <a:ext cx="2352424" cy="3300784"/>
          </a:xfrm>
          <a:prstGeom prst="rect">
            <a:avLst/>
          </a:prstGeom>
        </p:spPr>
      </p:pic>
      <p:sp>
        <p:nvSpPr>
          <p:cNvPr id="10" name="TextBox 9"/>
          <p:cNvSpPr txBox="1"/>
          <p:nvPr/>
        </p:nvSpPr>
        <p:spPr>
          <a:xfrm>
            <a:off x="4917055" y="4489504"/>
            <a:ext cx="253530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Heo Yu-Ran ve ark., 2024 (PMC11596292,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TM</a:t>
            </a:r>
            <a:r>
              <a:rPr sz="1050" b="0" i="0">
                <a:solidFill>
                  <a:srgbClr val="1F2A44"/>
                </a:solidFill>
                <a:latin typeface="Calibri"/>
              </a:rPr>
              <a:t> m. teres major; </a:t>
            </a:r>
            <a:r>
              <a:rPr sz="1050" b="0" i="0">
                <a:solidFill>
                  <a:srgbClr val="1F2A44"/>
                </a:solidFill>
                <a:latin typeface="Calibri"/>
              </a:rPr>
              <a:t>LH</a:t>
            </a:r>
            <a:r>
              <a:rPr sz="1050" b="0" i="0">
                <a:solidFill>
                  <a:srgbClr val="1F2A44"/>
                </a:solidFill>
                <a:latin typeface="Calibri"/>
              </a:rPr>
              <a:t> caput longum m. bicipitis / caput laterale; </a:t>
            </a:r>
            <a:r>
              <a:rPr sz="1050" b="0" i="0">
                <a:solidFill>
                  <a:srgbClr val="1F2A44"/>
                </a:solidFill>
                <a:latin typeface="Calibri"/>
              </a:rPr>
              <a:t>SH</a:t>
            </a:r>
            <a:r>
              <a:rPr sz="1050" b="0" i="0">
                <a:solidFill>
                  <a:srgbClr val="1F2A44"/>
                </a:solidFill>
                <a:latin typeface="Calibri"/>
              </a:rPr>
              <a:t> caput breve m. bicipitis; B: </a:t>
            </a:r>
            <a:r>
              <a:rPr sz="1050" b="0" i="0">
                <a:solidFill>
                  <a:srgbClr val="1F2A44"/>
                </a:solidFill>
                <a:latin typeface="Calibri"/>
              </a:rPr>
              <a:t>CBM</a:t>
            </a:r>
            <a:r>
              <a:rPr sz="1050" b="0" i="0">
                <a:solidFill>
                  <a:srgbClr val="1F2A44"/>
                </a:solidFill>
                <a:latin typeface="Calibri"/>
              </a:rPr>
              <a:t> m. coracobrachialis; </a:t>
            </a:r>
            <a:r>
              <a:rPr sz="1050" b="0" i="0">
                <a:solidFill>
                  <a:srgbClr val="1F2A44"/>
                </a:solidFill>
                <a:latin typeface="Calibri"/>
              </a:rPr>
              <a:t>DBA</a:t>
            </a:r>
            <a:r>
              <a:rPr sz="1050" b="0" i="0">
                <a:solidFill>
                  <a:srgbClr val="1F2A44"/>
                </a:solidFill>
                <a:latin typeface="Calibri"/>
              </a:rPr>
              <a:t> a. profunda brachii;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MN</a:t>
            </a:r>
            <a:r>
              <a:rPr sz="1050" b="0" i="0">
                <a:solidFill>
                  <a:srgbClr val="1F2A44"/>
                </a:solidFill>
                <a:latin typeface="Calibri"/>
              </a:rPr>
              <a:t> n. medianus</a:t>
            </a:r>
          </a:p>
          <a:p>
            <a:pPr algn="l">
              <a:spcAft>
                <a:spcPts val="300"/>
              </a:spcAft>
            </a:pPr>
            <a:r>
              <a:rPr sz="1050" b="0" i="0">
                <a:solidFill>
                  <a:srgbClr val="1F2A44"/>
                </a:solidFill>
                <a:latin typeface="Calibri"/>
              </a:rPr>
              <a:t>• Şekil 2: proc. coracoideus'tan itibaren kol uzunluğuna göre yüzde (%) olarak işaretlenmiş yapılar (MNR, MCN delme noktası, a. profunda brachii, CBM yapışması)</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Aksesuar baş </a:t>
            </a:r>
            <a:r>
              <a:rPr sz="1050" b="0" i="0">
                <a:solidFill>
                  <a:srgbClr val="1F2A44"/>
                </a:solidFill>
                <a:latin typeface="Calibri"/>
              </a:rPr>
              <a:t>%11,65</a:t>
            </a:r>
            <a:r>
              <a:rPr sz="1050" b="0" i="0">
                <a:solidFill>
                  <a:srgbClr val="1F2A44"/>
                </a:solidFill>
                <a:latin typeface="Calibri"/>
              </a:rPr>
              <a:t> (12/103) ekstremitede; daha uzun üst ekstremite ile ilişkili (506,25 ± 32,55 mm vs 484,27 ± 30,41 mm, p = 0,022).</a:t>
            </a:r>
          </a:p>
          <a:p>
            <a:pPr algn="l">
              <a:spcAft>
                <a:spcPts val="300"/>
              </a:spcAft>
            </a:pPr>
            <a:r>
              <a:rPr sz="1050" b="0" i="0">
                <a:solidFill>
                  <a:srgbClr val="1F2A44"/>
                </a:solidFill>
                <a:latin typeface="Calibri"/>
              </a:rPr>
              <a:t>• Aksesuar baş varlığında CBM distal yapışması (%28,18 vs %30,59) ve BBM uzunluğu (%55,11 vs %58,18) anlamlı farklı.</a:t>
            </a:r>
          </a:p>
          <a:p>
            <a:pPr algn="l">
              <a:spcAft>
                <a:spcPts val="300"/>
              </a:spcAft>
            </a:pPr>
            <a:r>
              <a:rPr sz="1050" b="0" i="0">
                <a:solidFill>
                  <a:srgbClr val="1F2A44"/>
                </a:solidFill>
                <a:latin typeface="Calibri"/>
              </a:rPr>
              <a:t>• Not: şekillerde aksesuar baş ayrı bir etiketle işaretlenmemiştir; şekiller normal topografi referansı olarak da kullanılabilir.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Heo Yu-Ran, Lee Hyunsu, Lee Si-Wook et al. Supernumerary Head of the Biceps Brachii Muscle Influences the Topography of the Coracobrachialis and Biceps Brachii Muscles. Medicina (Kaunas). 2024 Oct 22;60(11):1726. doi: 10.3390/medicina60111726 PMCID: PMC11596292.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coracobrachialis tipleri ve n. musculocutaneus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Nasr &amp; Youssef, Anat Cell Biol 2024 – 50 kadavra, 100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acb-57-2-194-f1.jpg"/>
          <p:cNvPicPr>
            <a:picLocks noChangeAspect="1"/>
          </p:cNvPicPr>
          <p:nvPr/>
        </p:nvPicPr>
        <p:blipFill>
          <a:blip r:embed="rId2"/>
          <a:stretch>
            <a:fillRect/>
          </a:stretch>
        </p:blipFill>
        <p:spPr>
          <a:xfrm>
            <a:off x="274320" y="1188720"/>
            <a:ext cx="3474720" cy="2606040"/>
          </a:xfrm>
          <a:prstGeom prst="rect">
            <a:avLst/>
          </a:prstGeom>
        </p:spPr>
      </p:pic>
      <p:sp>
        <p:nvSpPr>
          <p:cNvPr id="8" name="TextBox 7"/>
          <p:cNvSpPr txBox="1"/>
          <p:nvPr/>
        </p:nvSpPr>
        <p:spPr>
          <a:xfrm>
            <a:off x="182879" y="3794760"/>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Nasr Ashraf Youssef ve ark., 2024 (PMC11184416, CC BY-NC)</a:t>
            </a:r>
          </a:p>
        </p:txBody>
      </p:sp>
      <p:pic>
        <p:nvPicPr>
          <p:cNvPr id="9" name="Picture 8" descr="acb-57-2-194-f4.jpg"/>
          <p:cNvPicPr>
            <a:picLocks noChangeAspect="1"/>
          </p:cNvPicPr>
          <p:nvPr/>
        </p:nvPicPr>
        <p:blipFill>
          <a:blip r:embed="rId3"/>
          <a:stretch>
            <a:fillRect/>
          </a:stretch>
        </p:blipFill>
        <p:spPr>
          <a:xfrm>
            <a:off x="3886200" y="1188720"/>
            <a:ext cx="3474720" cy="2606040"/>
          </a:xfrm>
          <a:prstGeom prst="rect">
            <a:avLst/>
          </a:prstGeom>
        </p:spPr>
      </p:pic>
      <p:sp>
        <p:nvSpPr>
          <p:cNvPr id="10" name="TextBox 9"/>
          <p:cNvSpPr txBox="1"/>
          <p:nvPr/>
        </p:nvSpPr>
        <p:spPr>
          <a:xfrm>
            <a:off x="3794760" y="3794760"/>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4 – Nasr Ashraf Youssef ve ark., 2024 (PMC11184416, CC BY-NC)</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CBM</a:t>
            </a:r>
            <a:r>
              <a:rPr sz="1050" b="0" i="0">
                <a:solidFill>
                  <a:srgbClr val="1F2A44"/>
                </a:solidFill>
                <a:latin typeface="Calibri"/>
              </a:rPr>
              <a:t> m. coracobrachialis;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LR</a:t>
            </a:r>
            <a:r>
              <a:rPr sz="1050" b="0" i="0">
                <a:solidFill>
                  <a:srgbClr val="1F2A44"/>
                </a:solidFill>
                <a:latin typeface="Calibri"/>
              </a:rPr>
              <a:t> radix lateralis n. mediani; </a:t>
            </a:r>
            <a:r>
              <a:rPr sz="1050" b="0" i="0">
                <a:solidFill>
                  <a:srgbClr val="1F2A44"/>
                </a:solidFill>
                <a:latin typeface="Calibri"/>
              </a:rPr>
              <a:t>MR</a:t>
            </a:r>
            <a:r>
              <a:rPr sz="1050" b="0" i="0">
                <a:solidFill>
                  <a:srgbClr val="1F2A44"/>
                </a:solidFill>
                <a:latin typeface="Calibri"/>
              </a:rPr>
              <a:t> radix medialis n. mediani; </a:t>
            </a:r>
            <a:r>
              <a:rPr sz="1050" b="0" i="0">
                <a:solidFill>
                  <a:srgbClr val="1F2A44"/>
                </a:solidFill>
                <a:latin typeface="Calibri"/>
              </a:rPr>
              <a:t>SH</a:t>
            </a:r>
            <a:r>
              <a:rPr sz="1050" b="0" i="0">
                <a:solidFill>
                  <a:srgbClr val="1F2A44"/>
                </a:solidFill>
                <a:latin typeface="Calibri"/>
              </a:rPr>
              <a:t> caput breve m. bicipitis; </a:t>
            </a:r>
            <a:r>
              <a:rPr sz="1050" b="0" i="0">
                <a:solidFill>
                  <a:srgbClr val="1F2A44"/>
                </a:solidFill>
                <a:latin typeface="Calibri"/>
              </a:rPr>
              <a:t>LH</a:t>
            </a:r>
            <a:r>
              <a:rPr sz="1050" b="0" i="0">
                <a:solidFill>
                  <a:srgbClr val="1F2A44"/>
                </a:solidFill>
                <a:latin typeface="Calibri"/>
              </a:rPr>
              <a:t> caput longum m. bicipitis / caput laterale; LC/MC fasciculus lateralis/medialis; AX n. axillaris; (I)–(IV) tipler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CBM </a:t>
            </a:r>
            <a:r>
              <a:rPr sz="1050" b="0" i="0">
                <a:solidFill>
                  <a:srgbClr val="1F2A44"/>
                </a:solidFill>
                <a:latin typeface="Calibri"/>
              </a:rPr>
              <a:t>iki başlı %63</a:t>
            </a:r>
            <a:r>
              <a:rPr sz="1050" b="0" i="0">
                <a:solidFill>
                  <a:srgbClr val="1F2A44"/>
                </a:solidFill>
                <a:latin typeface="Calibri"/>
              </a:rPr>
              <a:t>, tek karınlı %22, üç başlı %12, dört başlı %3; anormal yapışma %4.</a:t>
            </a:r>
          </a:p>
          <a:p>
            <a:pPr algn="l">
              <a:spcAft>
                <a:spcPts val="300"/>
              </a:spcAft>
            </a:pPr>
            <a:r>
              <a:rPr sz="1050" b="0" i="0">
                <a:solidFill>
                  <a:srgbClr val="1F2A44"/>
                </a:solidFill>
                <a:latin typeface="Calibri"/>
              </a:rPr>
              <a:t>• CBM innervasyonu: MCN %80, fasciculus lateralis %14, radix lateralis n. mediani %4, n. medianus %2.</a:t>
            </a:r>
          </a:p>
          <a:p>
            <a:pPr algn="l">
              <a:spcAft>
                <a:spcPts val="300"/>
              </a:spcAft>
            </a:pPr>
            <a:r>
              <a:rPr sz="1050" b="0" i="0">
                <a:solidFill>
                  <a:srgbClr val="1F2A44"/>
                </a:solidFill>
                <a:latin typeface="Calibri"/>
              </a:rPr>
              <a:t>• MCN tek karınlı CBM'nin yüzeyelinde %19, başları arasında %71 seyretmiştir.</a:t>
            </a:r>
          </a:p>
        </p:txBody>
      </p:sp>
      <p:sp>
        <p:nvSpPr>
          <p:cNvPr id="15" name="TextBox 14"/>
          <p:cNvSpPr txBox="1"/>
          <p:nvPr/>
        </p:nvSpPr>
        <p:spPr>
          <a:xfrm>
            <a:off x="7589520" y="6053328"/>
            <a:ext cx="4389120" cy="274320"/>
          </a:xfrm>
          <a:prstGeom prst="rect">
            <a:avLst/>
          </a:prstGeom>
          <a:noFill/>
        </p:spPr>
        <p:txBody>
          <a:bodyPr wrap="square" anchor="t" lIns="45720" rIns="45720" tIns="18288" bIns="18288">
            <a:spAutoFit/>
          </a:bodyPr>
          <a:lstStyle/>
          <a:p>
            <a:pPr algn="l"/>
            <a:r>
              <a:rPr sz="850" b="0" i="1">
                <a:solidFill>
                  <a:srgbClr val="C0392B"/>
                </a:solidFill>
                <a:latin typeface="Calibri"/>
              </a:rPr>
              <a:t>Lisans: CC BY-NC – yalnızca ticari olmayan eğitim amaçlı kullanım.</a:t>
            </a:r>
          </a:p>
        </p:txBody>
      </p:sp>
      <p:cxnSp>
        <p:nvCxnSpPr>
          <p:cNvPr id="16" name="Connector 1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Nasr Ashraf Youssef, Youssef Rawan Ashraf Morphological classification, anatomical variations, innervation patterns, musculocutaneous nerve relation of the coracobrachialis muscle: anatomical study and clinical significance. Anat Cell Biol. 2024 May 13;57(2):194–203. doi: 10.5115/acb.24.032 PMCID: PMC11184416. Lisans: CC BY-NC.</a:t>
            </a:r>
          </a:p>
        </p:txBody>
      </p:sp>
      <p:sp>
        <p:nvSpPr>
          <p:cNvPr id="18" name="TextBox 17"/>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musculocutaneus – n. medianus iletişimleri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Caetano ve ark., Acta Ortop Bras 2016 – 20 fetal kadavra, 40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413-7852-aob-24-04-00200-gf5.jpg"/>
          <p:cNvPicPr>
            <a:picLocks noChangeAspect="1"/>
          </p:cNvPicPr>
          <p:nvPr/>
        </p:nvPicPr>
        <p:blipFill>
          <a:blip r:embed="rId2"/>
          <a:stretch>
            <a:fillRect/>
          </a:stretch>
        </p:blipFill>
        <p:spPr>
          <a:xfrm>
            <a:off x="274320" y="1188720"/>
            <a:ext cx="2545746" cy="2293115"/>
          </a:xfrm>
          <a:prstGeom prst="rect">
            <a:avLst/>
          </a:prstGeom>
        </p:spPr>
      </p:pic>
      <p:sp>
        <p:nvSpPr>
          <p:cNvPr id="8" name="TextBox 7"/>
          <p:cNvSpPr txBox="1"/>
          <p:nvPr/>
        </p:nvSpPr>
        <p:spPr>
          <a:xfrm>
            <a:off x="182879" y="3481835"/>
            <a:ext cx="272862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5 – Caetano Edie Benedito ve ark., 2016 (PMC5035692, CC BY)</a:t>
            </a:r>
          </a:p>
        </p:txBody>
      </p:sp>
      <p:pic>
        <p:nvPicPr>
          <p:cNvPr id="9" name="Picture 8" descr="1413-7852-aob-24-04-00200-gf1.jpg"/>
          <p:cNvPicPr>
            <a:picLocks noChangeAspect="1"/>
          </p:cNvPicPr>
          <p:nvPr/>
        </p:nvPicPr>
        <p:blipFill>
          <a:blip r:embed="rId3"/>
          <a:stretch>
            <a:fillRect/>
          </a:stretch>
        </p:blipFill>
        <p:spPr>
          <a:xfrm>
            <a:off x="2957226" y="1188720"/>
            <a:ext cx="4403693" cy="2293115"/>
          </a:xfrm>
          <a:prstGeom prst="rect">
            <a:avLst/>
          </a:prstGeom>
        </p:spPr>
      </p:pic>
      <p:sp>
        <p:nvSpPr>
          <p:cNvPr id="10" name="TextBox 9"/>
          <p:cNvSpPr txBox="1"/>
          <p:nvPr/>
        </p:nvSpPr>
        <p:spPr>
          <a:xfrm>
            <a:off x="2865786" y="3481835"/>
            <a:ext cx="4586573"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Caetano Edie Benedito ve ark., 2016 (PMC5035692,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Musculocutaneous nerve = n. musculocutaneus; Median nerve = n. medianus; Anastomosis = iletişim dalı (sarı ok/çerçeve)</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İletişim dalı </a:t>
            </a:r>
            <a:r>
              <a:rPr sz="1050" b="0" i="0">
                <a:solidFill>
                  <a:srgbClr val="1F2A44"/>
                </a:solidFill>
                <a:latin typeface="Calibri"/>
              </a:rPr>
              <a:t>10/40 ekstremitede (%25)</a:t>
            </a:r>
            <a:r>
              <a:rPr sz="1050" b="0" i="0">
                <a:solidFill>
                  <a:srgbClr val="1F2A44"/>
                </a:solidFill>
                <a:latin typeface="Calibri"/>
              </a:rPr>
              <a:t>: 9'unda MCN→MN (Tip I), 1'inde MN→MCN (Tip II).</a:t>
            </a:r>
          </a:p>
          <a:p>
            <a:pPr algn="l">
              <a:spcAft>
                <a:spcPts val="300"/>
              </a:spcAft>
            </a:pPr>
            <a:r>
              <a:rPr sz="1050" b="0" i="0">
                <a:solidFill>
                  <a:srgbClr val="1F2A44"/>
                </a:solidFill>
                <a:latin typeface="Calibri"/>
              </a:rPr>
              <a:t>• Erişkin seride (Piagkou ve ark. 2023, 27 kol) MCN–MN iletişimi %7,41.</a:t>
            </a:r>
          </a:p>
          <a:p>
            <a:pPr algn="l">
              <a:spcAft>
                <a:spcPts val="300"/>
              </a:spcAft>
            </a:pPr>
            <a:r>
              <a:rPr sz="1050" b="0" i="0">
                <a:solidFill>
                  <a:srgbClr val="1F2A44"/>
                </a:solidFill>
                <a:latin typeface="Calibri"/>
              </a:rPr>
              <a:t>• Klinik: n. musculocutaneus veya n. medianus hasarında beklenmeyen motor/duyusal tablo; görüntüler düşük çözünürlüklüdür.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Caetano Edie Benedito, Vieira Luiz Ângelo, Cavalheiro Cristina Schmitt et al. ANATOMIC STUDY OF THE NERVOUS COMMUNICATION BETWEEN THE MEDIAN AND MUSCULOUCUTANEOUS NERVE. Acta Ortop Bras. 2016 Jul-Aug;24(4):200–3. doi: 10.1590/1413-785220162404159372 PMCID: PMC5035692.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musculocutaneus yokluğu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Fregnani ve ark., Sao Paulo Med J 2008 –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806-9460-spmj-126-05-288-gf1.jpg"/>
          <p:cNvPicPr>
            <a:picLocks noChangeAspect="1"/>
          </p:cNvPicPr>
          <p:nvPr/>
        </p:nvPicPr>
        <p:blipFill>
          <a:blip r:embed="rId2"/>
          <a:stretch>
            <a:fillRect/>
          </a:stretch>
        </p:blipFill>
        <p:spPr>
          <a:xfrm>
            <a:off x="274320" y="1188720"/>
            <a:ext cx="3476208" cy="4457224"/>
          </a:xfrm>
          <a:prstGeom prst="rect">
            <a:avLst/>
          </a:prstGeom>
        </p:spPr>
      </p:pic>
      <p:sp>
        <p:nvSpPr>
          <p:cNvPr id="8" name="TextBox 7"/>
          <p:cNvSpPr txBox="1"/>
          <p:nvPr/>
        </p:nvSpPr>
        <p:spPr>
          <a:xfrm>
            <a:off x="182879" y="5645944"/>
            <a:ext cx="365908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Fregnani José Humberto Tavares Guerreiro ve ark., 2008 (PMC11026042, CC BY)</a:t>
            </a:r>
          </a:p>
        </p:txBody>
      </p:sp>
      <p:pic>
        <p:nvPicPr>
          <p:cNvPr id="9" name="Picture 8" descr="1806-9460-spmj-126-05-288-gf2.jpg"/>
          <p:cNvPicPr>
            <a:picLocks noChangeAspect="1"/>
          </p:cNvPicPr>
          <p:nvPr/>
        </p:nvPicPr>
        <p:blipFill>
          <a:blip r:embed="rId3"/>
          <a:stretch>
            <a:fillRect/>
          </a:stretch>
        </p:blipFill>
        <p:spPr>
          <a:xfrm>
            <a:off x="3887688" y="1188720"/>
            <a:ext cx="3473231" cy="4457224"/>
          </a:xfrm>
          <a:prstGeom prst="rect">
            <a:avLst/>
          </a:prstGeom>
        </p:spPr>
      </p:pic>
      <p:sp>
        <p:nvSpPr>
          <p:cNvPr id="10" name="TextBox 9"/>
          <p:cNvSpPr txBox="1"/>
          <p:nvPr/>
        </p:nvSpPr>
        <p:spPr>
          <a:xfrm>
            <a:off x="3796248" y="5645944"/>
            <a:ext cx="365611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Fregnani José Humberto Tavares Guerreiro ve ark., 2008 (PMC11026042,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1: 1 m. pectoralis minor; 2 fasciculus lateralis; 3 radix lateralis n. mediani; 4 a. axillaris; 5 n. medianus; 6 radix medialis; 7 n. ulnaris; 8 n. cutaneus antebrachii medialis</a:t>
            </a:r>
          </a:p>
          <a:p>
            <a:pPr algn="l">
              <a:spcAft>
                <a:spcPts val="300"/>
              </a:spcAft>
            </a:pPr>
            <a:r>
              <a:rPr sz="1050" b="0" i="0">
                <a:solidFill>
                  <a:srgbClr val="1F2A44"/>
                </a:solidFill>
                <a:latin typeface="Calibri"/>
              </a:rPr>
              <a:t>• Şekil 2: 1 m. coracobrachialis; 2–3 n. medianus'tan m. biceps ve m. brachialis dalları; 4 m. biceps; 5 m. brachialis; 6 n. medianus; 7 a. brachialis; 8 n. cutaneus antebrachii medialis; 9 n. ulnaris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Fasciculus lateralis MCN vermeden doğrudan radix lateralis n. mediani olarak devam etmiştir.</a:t>
            </a:r>
          </a:p>
          <a:p>
            <a:pPr algn="l">
              <a:spcAft>
                <a:spcPts val="300"/>
              </a:spcAft>
            </a:pPr>
            <a:r>
              <a:rPr sz="1050" b="0" i="0">
                <a:solidFill>
                  <a:srgbClr val="1F2A44"/>
                </a:solidFill>
                <a:latin typeface="Calibri"/>
              </a:rPr>
              <a:t>• Aktarılan sıklık: Beheiry 60 kolda 1 (%1,7); Prasada Rao ve Chaudhary 24 kolda %8.</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Fregnani José Humberto Tavares Guerreiro, Macéa Maria Inez Marcondes, Pereira Celina Siqueira Barbosa et al. Absence of the musculocutaneous nerve: a rare anatomical variation with possible clinical-surgical implications. Sao Paulo Med J. 2008 Sep 4;126(5):288–90. doi: 10.1590/S1516-31802008000500009 PMCID: PMC11026042.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brachialis superficialis ve trifurkasyon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Koutserimpas ve ark., Cureus 2023</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5-00000045903-i01.jpg"/>
          <p:cNvPicPr>
            <a:picLocks noChangeAspect="1"/>
          </p:cNvPicPr>
          <p:nvPr/>
        </p:nvPicPr>
        <p:blipFill>
          <a:blip r:embed="rId2"/>
          <a:stretch>
            <a:fillRect/>
          </a:stretch>
        </p:blipFill>
        <p:spPr>
          <a:xfrm>
            <a:off x="589609" y="1188720"/>
            <a:ext cx="6456021" cy="4846320"/>
          </a:xfrm>
          <a:prstGeom prst="rect">
            <a:avLst/>
          </a:prstGeom>
        </p:spPr>
      </p:pic>
      <p:sp>
        <p:nvSpPr>
          <p:cNvPr id="8" name="TextBox 7"/>
          <p:cNvSpPr txBox="1"/>
          <p:nvPr/>
        </p:nvSpPr>
        <p:spPr>
          <a:xfrm>
            <a:off x="498169" y="6035040"/>
            <a:ext cx="663890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Koutserimpas Christos ve ark., 2023 (PMC10599095,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AA</a:t>
            </a:r>
            <a:r>
              <a:rPr sz="1050" b="0" i="0">
                <a:solidFill>
                  <a:srgbClr val="1F2A44"/>
                </a:solidFill>
                <a:latin typeface="Calibri"/>
              </a:rPr>
              <a:t> a. axillaris;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SBA</a:t>
            </a:r>
            <a:r>
              <a:rPr sz="1050" b="0" i="0">
                <a:solidFill>
                  <a:srgbClr val="1F2A44"/>
                </a:solidFill>
                <a:latin typeface="Calibri"/>
              </a:rPr>
              <a:t> a. brachialis superficialis;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AN</a:t>
            </a:r>
            <a:r>
              <a:rPr sz="1050" b="0" i="0">
                <a:solidFill>
                  <a:srgbClr val="1F2A44"/>
                </a:solidFill>
                <a:latin typeface="Calibri"/>
              </a:rPr>
              <a:t> n. axillaris; </a:t>
            </a:r>
            <a:r>
              <a:rPr sz="1050" b="0" i="0">
                <a:solidFill>
                  <a:srgbClr val="1F2A44"/>
                </a:solidFill>
                <a:latin typeface="Calibri"/>
              </a:rPr>
              <a:t>RN</a:t>
            </a:r>
            <a:r>
              <a:rPr sz="1050" b="0" i="0">
                <a:solidFill>
                  <a:srgbClr val="1F2A44"/>
                </a:solidFill>
                <a:latin typeface="Calibri"/>
              </a:rPr>
              <a:t> n. radialis; (1) aberran a. circumflexa humeri posterior, (2) a. nutricia humeri, (3) a. profunda brachii; LD m. latissimus dorsi tendonu; ACHA1/2 çift a. circumflexa humeri anterior; MCN n. musculocutaneus. Kırmızı/mavi yıldızlar ve 'CV' altyazıda tanımlanmamıştır.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SBA sıklığı </a:t>
            </a:r>
            <a:r>
              <a:rPr sz="1050" b="0" i="0">
                <a:solidFill>
                  <a:srgbClr val="1F2A44"/>
                </a:solidFill>
                <a:latin typeface="Calibri"/>
              </a:rPr>
              <a:t>%1,07–%19,7</a:t>
            </a:r>
            <a:r>
              <a:rPr sz="1050" b="0" i="0">
                <a:solidFill>
                  <a:srgbClr val="1F2A44"/>
                </a:solidFill>
                <a:latin typeface="Calibri"/>
              </a:rPr>
              <a:t>; De Garis ve Swartley'e göre Afrika kökenli Amerikalılarda %13,4, beyazlarda %4,6 (aktarılan).</a:t>
            </a:r>
          </a:p>
          <a:p>
            <a:pPr algn="l">
              <a:spcAft>
                <a:spcPts val="300"/>
              </a:spcAft>
            </a:pPr>
            <a:r>
              <a:rPr sz="1050" b="0" i="0">
                <a:solidFill>
                  <a:srgbClr val="1F2A44"/>
                </a:solidFill>
                <a:latin typeface="Calibri"/>
              </a:rPr>
              <a:t>• Yüzeyel arter venipunkturda yanlışlıkla arteriyel enjeksiyona ve travmada kolay yaralanmaya yol açabilir.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Koutserimpas Christos, Tsakotos George, Piagkou Maria et al. The Coexistence of the Superficial Brachial Artery With the Common Origin of the Posterior Circumflex Humeral Artery and the Deep Brachial Artery. Cureus. 2023 Sep 25;15(9):e45903. doi: 10.7759/cureus.45903 PMCID: PMC10599095.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brachialis'in yüksek bölünmesi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Jangir ve ark., Cureus 2024 –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6-00000055681-i01.jpg"/>
          <p:cNvPicPr>
            <a:picLocks noChangeAspect="1"/>
          </p:cNvPicPr>
          <p:nvPr/>
        </p:nvPicPr>
        <p:blipFill>
          <a:blip r:embed="rId2"/>
          <a:stretch>
            <a:fillRect/>
          </a:stretch>
        </p:blipFill>
        <p:spPr>
          <a:xfrm>
            <a:off x="274320" y="2227630"/>
            <a:ext cx="7086600" cy="2768498"/>
          </a:xfrm>
          <a:prstGeom prst="rect">
            <a:avLst/>
          </a:prstGeom>
        </p:spPr>
      </p:pic>
      <p:sp>
        <p:nvSpPr>
          <p:cNvPr id="8" name="TextBox 7"/>
          <p:cNvSpPr txBox="1"/>
          <p:nvPr/>
        </p:nvSpPr>
        <p:spPr>
          <a:xfrm>
            <a:off x="182879" y="4996129"/>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Jangir Kanchan ve ark., 2024 (PMC10997832,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MCN</a:t>
            </a:r>
            <a:r>
              <a:rPr sz="1050" b="0" i="0">
                <a:solidFill>
                  <a:srgbClr val="1F2A44"/>
                </a:solidFill>
                <a:latin typeface="Calibri"/>
              </a:rPr>
              <a:t> n. musculocutaneus;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BB</a:t>
            </a:r>
            <a:r>
              <a:rPr sz="1050" b="0" i="0">
                <a:solidFill>
                  <a:srgbClr val="1F2A44"/>
                </a:solidFill>
                <a:latin typeface="Calibri"/>
              </a:rPr>
              <a:t> m. biceps brachii;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UA</a:t>
            </a:r>
            <a:r>
              <a:rPr sz="1050" b="0" i="0">
                <a:solidFill>
                  <a:srgbClr val="1F2A44"/>
                </a:solidFill>
                <a:latin typeface="Calibri"/>
              </a:rPr>
              <a:t> a. ulnaris; </a:t>
            </a:r>
            <a:r>
              <a:rPr sz="1050" b="0" i="0">
                <a:solidFill>
                  <a:srgbClr val="1F2A44"/>
                </a:solidFill>
                <a:latin typeface="Calibri"/>
              </a:rPr>
              <a:t>MCNF</a:t>
            </a:r>
            <a:r>
              <a:rPr sz="1050" b="0" i="0">
                <a:solidFill>
                  <a:srgbClr val="1F2A44"/>
                </a:solidFill>
                <a:latin typeface="Calibri"/>
              </a:rPr>
              <a:t> n. cutaneus antebrachii medialis; </a:t>
            </a:r>
            <a:r>
              <a:rPr sz="1050" b="0" i="0">
                <a:solidFill>
                  <a:srgbClr val="1F2A44"/>
                </a:solidFill>
                <a:latin typeface="Calibri"/>
              </a:rPr>
              <a:t>RA</a:t>
            </a:r>
            <a:r>
              <a:rPr sz="1050" b="0" i="0">
                <a:solidFill>
                  <a:srgbClr val="1F2A44"/>
                </a:solidFill>
                <a:latin typeface="Calibri"/>
              </a:rPr>
              <a:t> a. radialis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 brachialis m. teres major alt kenarının </a:t>
            </a:r>
            <a:r>
              <a:rPr sz="1050" b="0" i="0">
                <a:solidFill>
                  <a:srgbClr val="1F2A44"/>
                </a:solidFill>
                <a:latin typeface="Calibri"/>
              </a:rPr>
              <a:t>7,5 cm</a:t>
            </a:r>
            <a:r>
              <a:rPr sz="1050" b="0" i="0">
                <a:solidFill>
                  <a:srgbClr val="1F2A44"/>
                </a:solidFill>
                <a:latin typeface="Calibri"/>
              </a:rPr>
              <a:t> distalinde bölünmüştür.</a:t>
            </a:r>
          </a:p>
          <a:p>
            <a:pPr algn="l">
              <a:spcAft>
                <a:spcPts val="300"/>
              </a:spcAft>
            </a:pPr>
            <a:r>
              <a:rPr sz="1050" b="0" i="0">
                <a:solidFill>
                  <a:srgbClr val="1F2A44"/>
                </a:solidFill>
                <a:latin typeface="Calibri"/>
              </a:rPr>
              <a:t>• Aktarılan sıklık %1–5; 42 ekstremitelik seride (Sophia ve ark. 2021) %7,1.</a:t>
            </a:r>
          </a:p>
          <a:p>
            <a:pPr algn="l">
              <a:spcAft>
                <a:spcPts val="300"/>
              </a:spcAft>
            </a:pPr>
            <a:r>
              <a:rPr sz="1050" b="0" i="0">
                <a:solidFill>
                  <a:srgbClr val="1F2A44"/>
                </a:solidFill>
                <a:latin typeface="Calibri"/>
              </a:rPr>
              <a:t>• Yerinden oynamış suprakondiler kırıklı çocukların ~%15'inde vasküler yaralanma görülür (yazarların aktarımı).</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Jangir Kanchan, Singh Brij Raj, Nair Nancy et al. An Unusual High Bifurcation of the Brachial Artery: A Cadaveric Case Report. Cureus. 2024 Mar 6;16(3):e55681. doi: 10.7759/cureus.55681 PMCID: PMC10997832.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Yüksek çıkışlı a. radialis (a. brachioradialis)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Haładaj ve ark., Biomed Res Int 2018 – 120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BMRI2018-1520929.002.jpg"/>
          <p:cNvPicPr>
            <a:picLocks noChangeAspect="1"/>
          </p:cNvPicPr>
          <p:nvPr/>
        </p:nvPicPr>
        <p:blipFill>
          <a:blip r:embed="rId2"/>
          <a:stretch>
            <a:fillRect/>
          </a:stretch>
        </p:blipFill>
        <p:spPr>
          <a:xfrm>
            <a:off x="2038341" y="1188720"/>
            <a:ext cx="3558557" cy="2829696"/>
          </a:xfrm>
          <a:prstGeom prst="rect">
            <a:avLst/>
          </a:prstGeom>
        </p:spPr>
      </p:pic>
      <p:sp>
        <p:nvSpPr>
          <p:cNvPr id="8" name="TextBox 7"/>
          <p:cNvSpPr txBox="1"/>
          <p:nvPr/>
        </p:nvSpPr>
        <p:spPr>
          <a:xfrm>
            <a:off x="1946901" y="4018416"/>
            <a:ext cx="374143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Haładaj Robert ve ark., 2018 (PMC6016218, CC BY)</a:t>
            </a:r>
          </a:p>
        </p:txBody>
      </p:sp>
      <p:pic>
        <p:nvPicPr>
          <p:cNvPr id="9" name="Picture 8" descr="BMRI2018-1520929.008.jpg"/>
          <p:cNvPicPr>
            <a:picLocks noChangeAspect="1"/>
          </p:cNvPicPr>
          <p:nvPr/>
        </p:nvPicPr>
        <p:blipFill>
          <a:blip r:embed="rId3"/>
          <a:stretch>
            <a:fillRect/>
          </a:stretch>
        </p:blipFill>
        <p:spPr>
          <a:xfrm>
            <a:off x="2038341" y="4292736"/>
            <a:ext cx="3558557" cy="1696583"/>
          </a:xfrm>
          <a:prstGeom prst="rect">
            <a:avLst/>
          </a:prstGeom>
        </p:spPr>
      </p:pic>
      <p:sp>
        <p:nvSpPr>
          <p:cNvPr id="10" name="TextBox 9"/>
          <p:cNvSpPr txBox="1"/>
          <p:nvPr/>
        </p:nvSpPr>
        <p:spPr>
          <a:xfrm>
            <a:off x="1946901" y="5989320"/>
            <a:ext cx="374143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8 – Haładaj Robert ve ark., 2018 (PMC6016218,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BV</a:t>
            </a:r>
            <a:r>
              <a:rPr sz="1050" b="0" i="0">
                <a:solidFill>
                  <a:srgbClr val="1F2A44"/>
                </a:solidFill>
                <a:latin typeface="Calibri"/>
              </a:rPr>
              <a:t> v. basilica; </a:t>
            </a:r>
            <a:r>
              <a:rPr sz="1050" b="0" i="0">
                <a:solidFill>
                  <a:srgbClr val="1F2A44"/>
                </a:solidFill>
                <a:latin typeface="Calibri"/>
              </a:rPr>
              <a:t>BRA</a:t>
            </a:r>
            <a:r>
              <a:rPr sz="1050" b="0" i="0">
                <a:solidFill>
                  <a:srgbClr val="1F2A44"/>
                </a:solidFill>
                <a:latin typeface="Calibri"/>
              </a:rPr>
              <a:t> a. brachioradialis (yüksek çıkışlı a. radialis); </a:t>
            </a:r>
            <a:r>
              <a:rPr sz="1050" b="0" i="0">
                <a:solidFill>
                  <a:srgbClr val="1F2A44"/>
                </a:solidFill>
                <a:latin typeface="Calibri"/>
              </a:rPr>
              <a:t>CV</a:t>
            </a:r>
            <a:r>
              <a:rPr sz="1050" b="0" i="0">
                <a:solidFill>
                  <a:srgbClr val="1F2A44"/>
                </a:solidFill>
                <a:latin typeface="Calibri"/>
              </a:rPr>
              <a:t> v. cephalica; </a:t>
            </a:r>
            <a:r>
              <a:rPr sz="1050" b="0" i="0">
                <a:solidFill>
                  <a:srgbClr val="1F2A44"/>
                </a:solidFill>
                <a:latin typeface="Calibri"/>
              </a:rPr>
              <a:t>MCV</a:t>
            </a:r>
            <a:r>
              <a:rPr sz="1050" b="0" i="0">
                <a:solidFill>
                  <a:srgbClr val="1F2A44"/>
                </a:solidFill>
                <a:latin typeface="Calibri"/>
              </a:rPr>
              <a:t> v. mediana cubiti; </a:t>
            </a:r>
            <a:r>
              <a:rPr sz="1050" b="0" i="0">
                <a:solidFill>
                  <a:srgbClr val="1F2A44"/>
                </a:solidFill>
                <a:latin typeface="Calibri"/>
              </a:rPr>
              <a:t>MCNF</a:t>
            </a:r>
            <a:r>
              <a:rPr sz="1050" b="0" i="0">
                <a:solidFill>
                  <a:srgbClr val="1F2A44"/>
                </a:solidFill>
                <a:latin typeface="Calibri"/>
              </a:rPr>
              <a:t> n. cutaneus antebrachii medialis; </a:t>
            </a:r>
            <a:r>
              <a:rPr sz="1050" b="0" i="0">
                <a:solidFill>
                  <a:srgbClr val="1F2A44"/>
                </a:solidFill>
                <a:latin typeface="Calibri"/>
              </a:rPr>
              <a:t>UN</a:t>
            </a:r>
            <a:r>
              <a:rPr sz="1050" b="0" i="0">
                <a:solidFill>
                  <a:srgbClr val="1F2A44"/>
                </a:solidFill>
                <a:latin typeface="Calibri"/>
              </a:rPr>
              <a:t> n. ulnaris; şemada RA/UA a. radialis/ulnaris, RRA/URA rekürren dallar, aRRA aksesuar a. recurrens radialis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Yüksek çıkışlı a. radialis </a:t>
            </a:r>
            <a:r>
              <a:rPr sz="1050" b="0" i="0">
                <a:solidFill>
                  <a:srgbClr val="1F2A44"/>
                </a:solidFill>
                <a:latin typeface="Calibri"/>
              </a:rPr>
              <a:t>%9,2</a:t>
            </a:r>
            <a:r>
              <a:rPr sz="1050" b="0" i="0">
                <a:solidFill>
                  <a:srgbClr val="1F2A44"/>
                </a:solidFill>
                <a:latin typeface="Calibri"/>
              </a:rPr>
              <a:t> (11/120): 2'si a. axillaris'ten, 9'u a. brachialis'ten.</a:t>
            </a:r>
          </a:p>
          <a:p>
            <a:pPr algn="l">
              <a:spcAft>
                <a:spcPts val="300"/>
              </a:spcAft>
            </a:pPr>
            <a:r>
              <a:rPr sz="1050" b="0" i="0">
                <a:solidFill>
                  <a:srgbClr val="1F2A44"/>
                </a:solidFill>
                <a:latin typeface="Calibri"/>
              </a:rPr>
              <a:t>• Kubital anastomoz bu olguların %54,55'inde; literatür aralığı %4,67–%15,6.</a:t>
            </a:r>
          </a:p>
          <a:p>
            <a:pPr algn="l">
              <a:spcAft>
                <a:spcPts val="300"/>
              </a:spcAft>
            </a:pPr>
            <a:r>
              <a:rPr sz="1050" b="0" i="0">
                <a:solidFill>
                  <a:srgbClr val="1F2A44"/>
                </a:solidFill>
                <a:latin typeface="Calibri"/>
              </a:rPr>
              <a:t>• Radial arter kateterizasyonu, fistül ve önkol flepleri öncesinde akılda tutulmalıdır.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Haładaj Robert, Wysiadecki Grzegorz, Dudkiewicz Zbigniew et al. The High Origin of the Radial Artery (Brachioradial Artery): Its Anatomical Variations, Clinical Significance, and Contribution to the Blood Supply of the Hand. Biomed Res Int. 2018 Jun 11;2018:1520929. doi: 10.1155/2018/1520929 PMCID: PMC6016218.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Lig. Struthers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Caetano ve ark., Acta Ortop Bras 2017 – 30 kadavra, 60 kol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2 · 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413-7852-aob-25-04-00137-gf1.jpg"/>
          <p:cNvPicPr>
            <a:picLocks noChangeAspect="1"/>
          </p:cNvPicPr>
          <p:nvPr/>
        </p:nvPicPr>
        <p:blipFill>
          <a:blip r:embed="rId2"/>
          <a:stretch>
            <a:fillRect/>
          </a:stretch>
        </p:blipFill>
        <p:spPr>
          <a:xfrm>
            <a:off x="274320" y="1188720"/>
            <a:ext cx="3581392" cy="4337768"/>
          </a:xfrm>
          <a:prstGeom prst="rect">
            <a:avLst/>
          </a:prstGeom>
        </p:spPr>
      </p:pic>
      <p:sp>
        <p:nvSpPr>
          <p:cNvPr id="8" name="TextBox 7"/>
          <p:cNvSpPr txBox="1"/>
          <p:nvPr/>
        </p:nvSpPr>
        <p:spPr>
          <a:xfrm>
            <a:off x="182879" y="5526488"/>
            <a:ext cx="376427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Caetano Edie Benedito ve ark., 2017 (PMC5608727, CC BY-NC)</a:t>
            </a:r>
          </a:p>
        </p:txBody>
      </p:sp>
      <p:pic>
        <p:nvPicPr>
          <p:cNvPr id="9" name="Picture 8" descr="1413-7852-aob-25-04-00137-gf4.jpg"/>
          <p:cNvPicPr>
            <a:picLocks noChangeAspect="1"/>
          </p:cNvPicPr>
          <p:nvPr/>
        </p:nvPicPr>
        <p:blipFill>
          <a:blip r:embed="rId3"/>
          <a:stretch>
            <a:fillRect/>
          </a:stretch>
        </p:blipFill>
        <p:spPr>
          <a:xfrm>
            <a:off x="3992872" y="1188720"/>
            <a:ext cx="3368047" cy="4337768"/>
          </a:xfrm>
          <a:prstGeom prst="rect">
            <a:avLst/>
          </a:prstGeom>
        </p:spPr>
      </p:pic>
      <p:sp>
        <p:nvSpPr>
          <p:cNvPr id="10" name="TextBox 9"/>
          <p:cNvSpPr txBox="1"/>
          <p:nvPr/>
        </p:nvSpPr>
        <p:spPr>
          <a:xfrm>
            <a:off x="3901432" y="5526488"/>
            <a:ext cx="355092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4 – Caetano Edie Benedito ve ark., 2017 (PMC5608727, CC BY-NC)</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 yüksek tutunmalı m. pronator teres; b: lig. Struthers; c: n. medianus; d: a. brachialis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Lig. Struthers </a:t>
            </a:r>
            <a:r>
              <a:rPr sz="1050" b="0" i="0">
                <a:solidFill>
                  <a:srgbClr val="1F2A44"/>
                </a:solidFill>
                <a:latin typeface="Calibri"/>
              </a:rPr>
              <a:t>6/60 kolda</a:t>
            </a:r>
            <a:r>
              <a:rPr sz="1050" b="0" i="0">
                <a:solidFill>
                  <a:srgbClr val="1F2A44"/>
                </a:solidFill>
                <a:latin typeface="Calibri"/>
              </a:rPr>
              <a:t> (2'si bilateral); hepsinde m. pronator teres'in yüksek tutunması eşlik etmiş.</a:t>
            </a:r>
          </a:p>
          <a:p>
            <a:pPr algn="l">
              <a:spcAft>
                <a:spcPts val="300"/>
              </a:spcAft>
            </a:pPr>
            <a:r>
              <a:rPr sz="1050" b="0" i="0">
                <a:solidFill>
                  <a:srgbClr val="1F2A44"/>
                </a:solidFill>
                <a:latin typeface="Calibri"/>
              </a:rPr>
              <a:t>• Proc. supracondylaris 60 kolun hiçbirinde bulunmamıştır.</a:t>
            </a:r>
          </a:p>
          <a:p>
            <a:pPr algn="l">
              <a:spcAft>
                <a:spcPts val="300"/>
              </a:spcAft>
            </a:pPr>
            <a:r>
              <a:rPr sz="1050" b="0" i="0">
                <a:solidFill>
                  <a:srgbClr val="1F2A44"/>
                </a:solidFill>
                <a:latin typeface="Calibri"/>
              </a:rPr>
              <a:t>• Ligament n. medianus ve a. brachialis'i sıkıştırabilir (suprakondiler süreç sendromu).</a:t>
            </a:r>
          </a:p>
        </p:txBody>
      </p:sp>
      <p:sp>
        <p:nvSpPr>
          <p:cNvPr id="15" name="TextBox 14"/>
          <p:cNvSpPr txBox="1"/>
          <p:nvPr/>
        </p:nvSpPr>
        <p:spPr>
          <a:xfrm>
            <a:off x="7589520" y="6053328"/>
            <a:ext cx="4389120" cy="274320"/>
          </a:xfrm>
          <a:prstGeom prst="rect">
            <a:avLst/>
          </a:prstGeom>
          <a:noFill/>
        </p:spPr>
        <p:txBody>
          <a:bodyPr wrap="square" anchor="t" lIns="45720" rIns="45720" tIns="18288" bIns="18288">
            <a:spAutoFit/>
          </a:bodyPr>
          <a:lstStyle/>
          <a:p>
            <a:pPr algn="l"/>
            <a:r>
              <a:rPr sz="850" b="0" i="1">
                <a:solidFill>
                  <a:srgbClr val="C0392B"/>
                </a:solidFill>
                <a:latin typeface="Calibri"/>
              </a:rPr>
              <a:t>Lisans: CC BY-NC – yalnızca ticari olmayan eğitim amaçlı kullanım.</a:t>
            </a:r>
          </a:p>
        </p:txBody>
      </p:sp>
      <p:cxnSp>
        <p:nvCxnSpPr>
          <p:cNvPr id="16" name="Connector 1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Caetano Edie Benedito, Sabongi João José, Vieira Luiz Angelo et al. STRUTHERS’ LIGAMENT AND SUPRACONDYLAR HUMERAL PROCESS: AN ANATOMICAL STUDY AND CLINICAL IMPLICATIONS. Acta Ortop Bras. 2017 Jul-Aug;25(4):137–42. doi: 10.1590/1413-785220172504168330 PMCID: PMC5608727. Lisans: CC BY-NC.</a:t>
            </a:r>
          </a:p>
        </p:txBody>
      </p:sp>
      <p:sp>
        <p:nvSpPr>
          <p:cNvPr id="18" name="TextBox 17"/>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5760720" cy="548640"/>
          </a:xfrm>
          <a:prstGeom prst="rect">
            <a:avLst/>
          </a:prstGeom>
          <a:noFill/>
        </p:spPr>
        <p:txBody>
          <a:bodyPr wrap="square" anchor="t" lIns="45720" rIns="45720" tIns="18288" bIns="18288">
            <a:spAutoFit/>
          </a:bodyPr>
          <a:lstStyle/>
          <a:p>
            <a:pPr algn="l"/>
            <a:r>
              <a:rPr sz="1800" b="1" i="0">
                <a:solidFill>
                  <a:srgbClr val="C8D1E6"/>
                </a:solidFill>
                <a:latin typeface="Calibri"/>
              </a:rPr>
              <a:t>BÖLÜM 3</a:t>
            </a:r>
          </a:p>
        </p:txBody>
      </p:sp>
      <p:sp>
        <p:nvSpPr>
          <p:cNvPr id="4" name="TextBox 3"/>
          <p:cNvSpPr txBox="1"/>
          <p:nvPr/>
        </p:nvSpPr>
        <p:spPr>
          <a:xfrm>
            <a:off x="548640" y="132588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ÖNKOL</a:t>
            </a:r>
          </a:p>
        </p:txBody>
      </p:sp>
      <p:sp>
        <p:nvSpPr>
          <p:cNvPr id="5" name="TextBox 4"/>
          <p:cNvSpPr txBox="1"/>
          <p:nvPr/>
        </p:nvSpPr>
        <p:spPr>
          <a:xfrm>
            <a:off x="548640" y="2377440"/>
            <a:ext cx="5760720" cy="822960"/>
          </a:xfrm>
          <a:prstGeom prst="rect">
            <a:avLst/>
          </a:prstGeom>
          <a:noFill/>
        </p:spPr>
        <p:txBody>
          <a:bodyPr wrap="square" anchor="t" lIns="45720" rIns="45720" tIns="18288" bIns="18288">
            <a:spAutoFit/>
          </a:bodyPr>
          <a:lstStyle/>
          <a:p>
            <a:pPr algn="l"/>
            <a:r>
              <a:rPr sz="1600" b="0" i="0">
                <a:solidFill>
                  <a:srgbClr val="C8D1E6"/>
                </a:solidFill>
                <a:latin typeface="Calibri"/>
              </a:rPr>
              <a:t>Dirsek ve önkol bölgesi</a:t>
            </a:r>
          </a:p>
          <a:p>
            <a:pPr algn="l"/>
            <a:r>
              <a:rPr sz="1600" b="0" i="0">
                <a:solidFill>
                  <a:srgbClr val="C8D1E6"/>
                </a:solidFill>
                <a:latin typeface="Calibri"/>
              </a:rPr>
              <a:t>Regio cubitalis ve regio antebrachii</a:t>
            </a:r>
          </a:p>
        </p:txBody>
      </p:sp>
      <p:sp>
        <p:nvSpPr>
          <p:cNvPr id="6" name="TextBox 5"/>
          <p:cNvSpPr txBox="1"/>
          <p:nvPr/>
        </p:nvSpPr>
        <p:spPr>
          <a:xfrm>
            <a:off x="548640" y="3429000"/>
            <a:ext cx="5760720" cy="2926080"/>
          </a:xfrm>
          <a:prstGeom prst="rect">
            <a:avLst/>
          </a:prstGeom>
          <a:noFill/>
        </p:spPr>
        <p:txBody>
          <a:bodyPr wrap="square">
            <a:spAutoFit/>
          </a:bodyPr>
          <a:lstStyle/>
          <a:p>
            <a:pPr algn="l">
              <a:spcAft>
                <a:spcPts val="300"/>
              </a:spcAft>
            </a:pPr>
            <a:r>
              <a:rPr sz="1300" b="0" i="0">
                <a:solidFill>
                  <a:srgbClr val="FFFFFF"/>
                </a:solidFill>
                <a:latin typeface="Calibri"/>
              </a:rPr>
              <a:t>• Art. cubiti</a:t>
            </a:r>
          </a:p>
          <a:p>
            <a:pPr algn="l">
              <a:spcAft>
                <a:spcPts val="300"/>
              </a:spcAft>
            </a:pPr>
            <a:r>
              <a:rPr sz="1300" b="0" i="0">
                <a:solidFill>
                  <a:srgbClr val="FFFFFF"/>
                </a:solidFill>
                <a:latin typeface="Calibri"/>
              </a:rPr>
              <a:t>• Fossa cubiti</a:t>
            </a:r>
          </a:p>
          <a:p>
            <a:pPr algn="l">
              <a:spcAft>
                <a:spcPts val="300"/>
              </a:spcAft>
            </a:pPr>
            <a:r>
              <a:rPr sz="1300" b="0" i="0">
                <a:solidFill>
                  <a:srgbClr val="FFFFFF"/>
                </a:solidFill>
                <a:latin typeface="Calibri"/>
              </a:rPr>
              <a:t>• Ön kompartman (yüzeyel/orta/derin)</a:t>
            </a:r>
          </a:p>
          <a:p>
            <a:pPr algn="l">
              <a:spcAft>
                <a:spcPts val="300"/>
              </a:spcAft>
            </a:pPr>
            <a:r>
              <a:rPr sz="1300" b="0" i="0">
                <a:solidFill>
                  <a:srgbClr val="FFFFFF"/>
                </a:solidFill>
                <a:latin typeface="Calibri"/>
              </a:rPr>
              <a:t>• Arka kompartman</a:t>
            </a:r>
          </a:p>
          <a:p>
            <a:pPr algn="l">
              <a:spcAft>
                <a:spcPts val="300"/>
              </a:spcAft>
            </a:pPr>
            <a:r>
              <a:rPr sz="1300" b="0" i="0">
                <a:solidFill>
                  <a:srgbClr val="FFFFFF"/>
                </a:solidFill>
                <a:latin typeface="Calibri"/>
              </a:rPr>
              <a:t>• Arterler</a:t>
            </a:r>
          </a:p>
          <a:p>
            <a:pPr algn="l">
              <a:spcAft>
                <a:spcPts val="300"/>
              </a:spcAft>
            </a:pPr>
            <a:r>
              <a:rPr sz="1300" b="0" i="0">
                <a:solidFill>
                  <a:srgbClr val="FFFFFF"/>
                </a:solidFill>
                <a:latin typeface="Calibri"/>
              </a:rPr>
              <a:t>• Sinirler ve sıkışma noktaları</a:t>
            </a:r>
          </a:p>
          <a:p>
            <a:pPr algn="l">
              <a:spcAft>
                <a:spcPts val="300"/>
              </a:spcAft>
            </a:pPr>
            <a:r>
              <a:rPr sz="1300" b="0" i="0">
                <a:solidFill>
                  <a:srgbClr val="FFFFFF"/>
                </a:solidFill>
                <a:latin typeface="Calibri"/>
              </a:rPr>
              <a:t>• Klinik bağlantılar</a:t>
            </a:r>
          </a:p>
          <a:p>
            <a:pPr algn="l">
              <a:spcAft>
                <a:spcPts val="300"/>
              </a:spcAft>
            </a:pPr>
            <a:r>
              <a:rPr sz="1300" b="0" i="0">
                <a:solidFill>
                  <a:srgbClr val="FFFFFF"/>
                </a:solidFill>
                <a:latin typeface="Calibri"/>
              </a:rPr>
              <a:t>• Varyasyon literatürü</a:t>
            </a:r>
          </a:p>
        </p:txBody>
      </p:sp>
      <p:pic>
        <p:nvPicPr>
          <p:cNvPr id="7" name="Picture 6" descr="cryo_1740_R.jpg"/>
          <p:cNvPicPr>
            <a:picLocks noChangeAspect="1"/>
          </p:cNvPicPr>
          <p:nvPr/>
        </p:nvPicPr>
        <p:blipFill>
          <a:blip r:embed="rId2"/>
          <a:stretch>
            <a:fillRect/>
          </a:stretch>
        </p:blipFill>
        <p:spPr>
          <a:xfrm>
            <a:off x="6812280" y="365760"/>
            <a:ext cx="3138565" cy="3692430"/>
          </a:xfrm>
          <a:prstGeom prst="rect">
            <a:avLst/>
          </a:prstGeom>
        </p:spPr>
      </p:pic>
      <p:sp>
        <p:nvSpPr>
          <p:cNvPr id="8" name="TextBox 7"/>
          <p:cNvSpPr txBox="1"/>
          <p:nvPr/>
        </p:nvSpPr>
        <p:spPr>
          <a:xfrm>
            <a:off x="6720840" y="4058190"/>
            <a:ext cx="3321445"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1740</a:t>
            </a:r>
          </a:p>
        </p:txBody>
      </p:sp>
      <p:pic>
        <p:nvPicPr>
          <p:cNvPr id="9" name="Picture 8" descr="CA-32-379-g001.jpg"/>
          <p:cNvPicPr>
            <a:picLocks noChangeAspect="1"/>
          </p:cNvPicPr>
          <p:nvPr/>
        </p:nvPicPr>
        <p:blipFill>
          <a:blip r:embed="rId3"/>
          <a:stretch>
            <a:fillRect/>
          </a:stretch>
        </p:blipFill>
        <p:spPr>
          <a:xfrm>
            <a:off x="10088005" y="365760"/>
            <a:ext cx="1844914" cy="3692430"/>
          </a:xfrm>
          <a:prstGeom prst="rect">
            <a:avLst/>
          </a:prstGeom>
        </p:spPr>
      </p:pic>
      <p:sp>
        <p:nvSpPr>
          <p:cNvPr id="10" name="TextBox 9"/>
          <p:cNvSpPr txBox="1"/>
          <p:nvPr/>
        </p:nvSpPr>
        <p:spPr>
          <a:xfrm>
            <a:off x="9996565" y="4058190"/>
            <a:ext cx="202779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Hoshika Shota ve ark., 2019 (PMC6850211,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00" b="0" i="0">
                <a:solidFill>
                  <a:srgbClr val="555B66"/>
                </a:solidFill>
                <a:latin typeface="Calibri"/>
              </a:rPr>
              <a:t>Görüntü: NLM Visible Human Project – Visible Human Male (NCI Imaging Data Commons, doi:10.5281/zenodo.12690049; NLM Terms and Conditions 2019). İşleme/kırpma: bu proje.  •  Hoshika Shota, Nimura Akimoto, Yamaguchi Reiko et al. Medial elbow anatomy: A paradigm shift for UCL injury prevention and management. Clin Anat. 2019 Jan 9;32(3):379–89. doi: 10.1002/ca.23322 PMCID: PMC6850211.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Articulatio cubiti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Art. humeroulnaris, art. humeroradialis, art. radioulnaris proximalis – tek eklem kapsülü</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Art. humeroulnaris:</a:t>
            </a:r>
            <a:r>
              <a:rPr sz="1300" b="0" i="0">
                <a:solidFill>
                  <a:srgbClr val="1F2A44"/>
                </a:solidFill>
                <a:latin typeface="Calibri"/>
              </a:rPr>
              <a:t> menteşe tipi; trochlea humeri – incisura trochlearis ulnae. Fleksiyon–ekstansiyonun ana eklemidir.</a:t>
            </a:r>
          </a:p>
          <a:p>
            <a:pPr algn="l">
              <a:spcAft>
                <a:spcPts val="300"/>
              </a:spcAft>
            </a:pPr>
            <a:r>
              <a:rPr sz="1300" b="0" i="0">
                <a:solidFill>
                  <a:srgbClr val="1F2A44"/>
                </a:solidFill>
                <a:latin typeface="Calibri"/>
              </a:rPr>
              <a:t>• </a:t>
            </a:r>
            <a:r>
              <a:rPr sz="1300" b="0" i="0">
                <a:solidFill>
                  <a:srgbClr val="1F2A44"/>
                </a:solidFill>
                <a:latin typeface="Calibri"/>
              </a:rPr>
              <a:t>Art. humeroradialis:</a:t>
            </a:r>
            <a:r>
              <a:rPr sz="1300" b="0" i="0">
                <a:solidFill>
                  <a:srgbClr val="1F2A44"/>
                </a:solidFill>
                <a:latin typeface="Calibri"/>
              </a:rPr>
              <a:t> capitulum – fovea capitis radii; </a:t>
            </a:r>
            <a:r>
              <a:rPr sz="1300" b="0" i="0">
                <a:solidFill>
                  <a:srgbClr val="1F2A44"/>
                </a:solidFill>
                <a:latin typeface="Calibri"/>
              </a:rPr>
              <a:t>art. radioulnaris proximalis:</a:t>
            </a:r>
            <a:r>
              <a:rPr sz="1300" b="0" i="0">
                <a:solidFill>
                  <a:srgbClr val="1F2A44"/>
                </a:solidFill>
                <a:latin typeface="Calibri"/>
              </a:rPr>
              <a:t> caput radii – incisura radialis ulnae (pronasyon/supinasyon).</a:t>
            </a:r>
          </a:p>
          <a:p>
            <a:pPr algn="l">
              <a:spcAft>
                <a:spcPts val="300"/>
              </a:spcAft>
            </a:pPr>
            <a:r>
              <a:rPr sz="1300" b="0" i="0">
                <a:solidFill>
                  <a:srgbClr val="1F2A44"/>
                </a:solidFill>
                <a:latin typeface="Calibri"/>
              </a:rPr>
              <a:t>• </a:t>
            </a:r>
            <a:r>
              <a:rPr sz="1300" b="0" i="0">
                <a:solidFill>
                  <a:srgbClr val="1F2A44"/>
                </a:solidFill>
                <a:latin typeface="Calibri"/>
              </a:rPr>
              <a:t>Bağlar:</a:t>
            </a:r>
            <a:r>
              <a:rPr sz="1300" b="0" i="0">
                <a:solidFill>
                  <a:srgbClr val="1F2A44"/>
                </a:solidFill>
                <a:latin typeface="Calibri"/>
              </a:rPr>
              <a:t> lig. collaterale ulnare (ön, arka ve transvers bantlar – ön bant valgus stabilizatörü), lig. collaterale radiale, </a:t>
            </a:r>
            <a:r>
              <a:rPr sz="1300" b="0" i="0">
                <a:solidFill>
                  <a:srgbClr val="1F2A44"/>
                </a:solidFill>
                <a:latin typeface="Calibri"/>
              </a:rPr>
              <a:t>lig. anulare radii</a:t>
            </a:r>
            <a:r>
              <a:rPr sz="1300" b="0" i="0">
                <a:solidFill>
                  <a:srgbClr val="1F2A44"/>
                </a:solidFill>
                <a:latin typeface="Calibri"/>
              </a:rPr>
              <a:t> (caput radii'yi saran halka).</a:t>
            </a:r>
          </a:p>
          <a:p>
            <a:pPr algn="l">
              <a:spcAft>
                <a:spcPts val="300"/>
              </a:spcAft>
            </a:pPr>
            <a:r>
              <a:rPr sz="1300" b="0" i="0">
                <a:solidFill>
                  <a:srgbClr val="1F2A44"/>
                </a:solidFill>
                <a:latin typeface="Calibri"/>
              </a:rPr>
              <a:t>• </a:t>
            </a:r>
            <a:r>
              <a:rPr sz="1300" b="0" i="0">
                <a:solidFill>
                  <a:srgbClr val="1F2A44"/>
                </a:solidFill>
                <a:latin typeface="Calibri"/>
              </a:rPr>
              <a:t>Taşıma açısı:</a:t>
            </a:r>
            <a:r>
              <a:rPr sz="1300" b="0" i="0">
                <a:solidFill>
                  <a:srgbClr val="1F2A44"/>
                </a:solidFill>
                <a:latin typeface="Calibri"/>
              </a:rPr>
              <a:t> ekstansiyonda önkolun kola göre laterale açılanması (yaklaşık 10–15°; kadınlarda daha fazla).</a:t>
            </a:r>
          </a:p>
          <a:p>
            <a:pPr algn="l">
              <a:spcAft>
                <a:spcPts val="300"/>
              </a:spcAft>
            </a:pPr>
            <a:r>
              <a:rPr sz="1300" b="0" i="0">
                <a:solidFill>
                  <a:srgbClr val="1F2A44"/>
                </a:solidFill>
                <a:latin typeface="Calibri"/>
              </a:rPr>
              <a:t>• </a:t>
            </a:r>
            <a:r>
              <a:rPr sz="1300" b="0" i="0">
                <a:solidFill>
                  <a:srgbClr val="1F2A44"/>
                </a:solidFill>
                <a:latin typeface="Calibri"/>
              </a:rPr>
              <a:t>Klinik:</a:t>
            </a:r>
            <a:r>
              <a:rPr sz="1300" b="0" i="0">
                <a:solidFill>
                  <a:srgbClr val="1F2A44"/>
                </a:solidFill>
                <a:latin typeface="Calibri"/>
              </a:rPr>
              <a:t> 'dadı dirseği' (radius başı subluksasyonu, çocuklarda lig. anulare altından kayma); dirsek çıkıklarının çoğu </a:t>
            </a:r>
            <a:r>
              <a:rPr sz="1300" b="0" i="0">
                <a:solidFill>
                  <a:srgbClr val="1F2A44"/>
                </a:solidFill>
                <a:latin typeface="Calibri"/>
              </a:rPr>
              <a:t>arka</a:t>
            </a:r>
            <a:r>
              <a:rPr sz="1300" b="0" i="0">
                <a:solidFill>
                  <a:srgbClr val="1F2A44"/>
                </a:solidFill>
                <a:latin typeface="Calibri"/>
              </a:rPr>
              <a:t> yöndedir.</a:t>
            </a:r>
          </a:p>
        </p:txBody>
      </p:sp>
      <p:pic>
        <p:nvPicPr>
          <p:cNvPr id="8" name="Picture 7" descr="cryo_1615_R.jpg"/>
          <p:cNvPicPr>
            <a:picLocks noChangeAspect="1"/>
          </p:cNvPicPr>
          <p:nvPr/>
        </p:nvPicPr>
        <p:blipFill>
          <a:blip r:embed="rId2"/>
          <a:stretch>
            <a:fillRect/>
          </a:stretch>
        </p:blipFill>
        <p:spPr>
          <a:xfrm>
            <a:off x="7360453" y="1188720"/>
            <a:ext cx="4252893" cy="4846320"/>
          </a:xfrm>
          <a:prstGeom prst="rect">
            <a:avLst/>
          </a:prstGeom>
        </p:spPr>
      </p:pic>
      <p:sp>
        <p:nvSpPr>
          <p:cNvPr id="9" name="TextBox 8"/>
          <p:cNvSpPr txBox="1"/>
          <p:nvPr/>
        </p:nvSpPr>
        <p:spPr>
          <a:xfrm>
            <a:off x="7269013" y="6035040"/>
            <a:ext cx="4435773"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1615 – dirsek eklem aralığı</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Fossa cubiti: sınırlar ve içerik</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Dirseğin ön yüzündeki üçgen çukur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Sınırlar:</a:t>
            </a:r>
            <a:r>
              <a:rPr sz="1300" b="0" i="0">
                <a:solidFill>
                  <a:srgbClr val="1F2A44"/>
                </a:solidFill>
                <a:latin typeface="Calibri"/>
              </a:rPr>
              <a:t> yukarıda epikondilleri birleştiren hayali çizgi; medialde </a:t>
            </a:r>
            <a:r>
              <a:rPr sz="1300" b="0" i="0">
                <a:solidFill>
                  <a:srgbClr val="1F2A44"/>
                </a:solidFill>
                <a:latin typeface="Calibri"/>
              </a:rPr>
              <a:t>m. pronator teres</a:t>
            </a:r>
            <a:r>
              <a:rPr sz="1300" b="0" i="0">
                <a:solidFill>
                  <a:srgbClr val="1F2A44"/>
                </a:solidFill>
                <a:latin typeface="Calibri"/>
              </a:rPr>
              <a:t>; lateralde </a:t>
            </a:r>
            <a:r>
              <a:rPr sz="1300" b="0" i="0">
                <a:solidFill>
                  <a:srgbClr val="1F2A44"/>
                </a:solidFill>
                <a:latin typeface="Calibri"/>
              </a:rPr>
              <a:t>m. brachioradialis</a:t>
            </a:r>
            <a:r>
              <a:rPr sz="1300" b="0" i="0">
                <a:solidFill>
                  <a:srgbClr val="1F2A44"/>
                </a:solidFill>
                <a:latin typeface="Calibri"/>
              </a:rPr>
              <a:t>.</a:t>
            </a:r>
          </a:p>
          <a:p>
            <a:pPr algn="l">
              <a:spcAft>
                <a:spcPts val="300"/>
              </a:spcAft>
            </a:pPr>
            <a:r>
              <a:rPr sz="1300" b="0" i="0">
                <a:solidFill>
                  <a:srgbClr val="1F2A44"/>
                </a:solidFill>
                <a:latin typeface="Calibri"/>
              </a:rPr>
              <a:t>• </a:t>
            </a:r>
            <a:r>
              <a:rPr sz="1300" b="0" i="0">
                <a:solidFill>
                  <a:srgbClr val="1F2A44"/>
                </a:solidFill>
                <a:latin typeface="Calibri"/>
              </a:rPr>
              <a:t>Taban:</a:t>
            </a:r>
            <a:r>
              <a:rPr sz="1300" b="0" i="0">
                <a:solidFill>
                  <a:srgbClr val="1F2A44"/>
                </a:solidFill>
                <a:latin typeface="Calibri"/>
              </a:rPr>
              <a:t> m. brachialis ve m. supinator. </a:t>
            </a:r>
            <a:r>
              <a:rPr sz="1300" b="0" i="0">
                <a:solidFill>
                  <a:srgbClr val="1F2A44"/>
                </a:solidFill>
                <a:latin typeface="Calibri"/>
              </a:rPr>
              <a:t>Çatı:</a:t>
            </a:r>
            <a:r>
              <a:rPr sz="1300" b="0" i="0">
                <a:solidFill>
                  <a:srgbClr val="1F2A44"/>
                </a:solidFill>
                <a:latin typeface="Calibri"/>
              </a:rPr>
              <a:t> fascia antebrachii ve </a:t>
            </a:r>
            <a:r>
              <a:rPr sz="1300" b="0" i="0">
                <a:solidFill>
                  <a:srgbClr val="1F2A44"/>
                </a:solidFill>
                <a:latin typeface="Calibri"/>
              </a:rPr>
              <a:t>aponeurosis bicipitalis</a:t>
            </a:r>
            <a:r>
              <a:rPr sz="1300" b="0" i="0">
                <a:solidFill>
                  <a:srgbClr val="1F2A44"/>
                </a:solidFill>
                <a:latin typeface="Calibri"/>
              </a:rPr>
              <a:t>; üzerinde v. mediana cubiti.</a:t>
            </a:r>
          </a:p>
          <a:p>
            <a:pPr algn="l">
              <a:spcAft>
                <a:spcPts val="300"/>
              </a:spcAft>
            </a:pPr>
            <a:r>
              <a:rPr sz="1300" b="0" i="0">
                <a:solidFill>
                  <a:srgbClr val="1F2A44"/>
                </a:solidFill>
                <a:latin typeface="Calibri"/>
              </a:rPr>
              <a:t>• </a:t>
            </a:r>
            <a:r>
              <a:rPr sz="1300" b="0" i="0">
                <a:solidFill>
                  <a:srgbClr val="1F2A44"/>
                </a:solidFill>
                <a:latin typeface="Calibri"/>
              </a:rPr>
              <a:t>İçerik (lateralden mediale):</a:t>
            </a:r>
            <a:r>
              <a:rPr sz="1300" b="0" i="0">
                <a:solidFill>
                  <a:srgbClr val="1F2A44"/>
                </a:solidFill>
                <a:latin typeface="Calibri"/>
              </a:rPr>
              <a:t> n. radialis (m. brachioradialis altında, derinde ve lateralde), </a:t>
            </a:r>
            <a:r>
              <a:rPr sz="1300" b="0" i="0">
                <a:solidFill>
                  <a:srgbClr val="1F2A44"/>
                </a:solidFill>
                <a:latin typeface="Calibri"/>
              </a:rPr>
              <a:t>tendo m. bicipitis brachii</a:t>
            </a:r>
            <a:r>
              <a:rPr sz="1300" b="0" i="0">
                <a:solidFill>
                  <a:srgbClr val="1F2A44"/>
                </a:solidFill>
                <a:latin typeface="Calibri"/>
              </a:rPr>
              <a:t>, </a:t>
            </a:r>
            <a:r>
              <a:rPr sz="1300" b="0" i="0">
                <a:solidFill>
                  <a:srgbClr val="1F2A44"/>
                </a:solidFill>
                <a:latin typeface="Calibri"/>
              </a:rPr>
              <a:t>a. brachialis</a:t>
            </a:r>
            <a:r>
              <a:rPr sz="1300" b="0" i="0">
                <a:solidFill>
                  <a:srgbClr val="1F2A44"/>
                </a:solidFill>
                <a:latin typeface="Calibri"/>
              </a:rPr>
              <a:t> (bölünme yeri), </a:t>
            </a:r>
            <a:r>
              <a:rPr sz="1300" b="0" i="0">
                <a:solidFill>
                  <a:srgbClr val="1F2A44"/>
                </a:solidFill>
                <a:latin typeface="Calibri"/>
              </a:rPr>
              <a:t>n. medianus</a:t>
            </a:r>
            <a:r>
              <a:rPr sz="1300" b="0" i="0">
                <a:solidFill>
                  <a:srgbClr val="1F2A44"/>
                </a:solidFill>
                <a:latin typeface="Calibri"/>
              </a:rPr>
              <a:t>.</a:t>
            </a:r>
          </a:p>
          <a:p>
            <a:pPr algn="l">
              <a:spcAft>
                <a:spcPts val="300"/>
              </a:spcAft>
            </a:pPr>
            <a:r>
              <a:rPr sz="1300" b="0" i="0">
                <a:solidFill>
                  <a:srgbClr val="1F2A44"/>
                </a:solidFill>
                <a:latin typeface="Calibri"/>
              </a:rPr>
              <a:t>• Pratik hatırlatma: medialden laterale </a:t>
            </a:r>
            <a:r>
              <a:rPr sz="1300" b="0" i="0">
                <a:solidFill>
                  <a:srgbClr val="1F2A44"/>
                </a:solidFill>
                <a:latin typeface="Calibri"/>
              </a:rPr>
              <a:t>'M–A–T'</a:t>
            </a:r>
            <a:r>
              <a:rPr sz="1300" b="0" i="0">
                <a:solidFill>
                  <a:srgbClr val="1F2A44"/>
                </a:solidFill>
                <a:latin typeface="Calibri"/>
              </a:rPr>
              <a:t> = N. Medianus, A. brachialis, Tendo m. bicipitis.</a:t>
            </a:r>
          </a:p>
          <a:p>
            <a:pPr algn="l">
              <a:spcAft>
                <a:spcPts val="300"/>
              </a:spcAft>
            </a:pPr>
            <a:r>
              <a:rPr sz="1300" b="0" i="0">
                <a:solidFill>
                  <a:srgbClr val="1F2A44"/>
                </a:solidFill>
                <a:latin typeface="Calibri"/>
              </a:rPr>
              <a:t>• Venipunktur v. mediana cubiti'den yapılır; aponeurosis bicipitalis derindeki arteri ve siniri korur.</a:t>
            </a:r>
          </a:p>
        </p:txBody>
      </p:sp>
      <p:pic>
        <p:nvPicPr>
          <p:cNvPr id="8" name="Picture 7" descr="cureus-0015-00000051350-i06.jpg"/>
          <p:cNvPicPr>
            <a:picLocks noChangeAspect="1"/>
          </p:cNvPicPr>
          <p:nvPr/>
        </p:nvPicPr>
        <p:blipFill>
          <a:blip r:embed="rId2"/>
          <a:stretch>
            <a:fillRect/>
          </a:stretch>
        </p:blipFill>
        <p:spPr>
          <a:xfrm>
            <a:off x="7040880" y="2379085"/>
            <a:ext cx="4892040" cy="2465588"/>
          </a:xfrm>
          <a:prstGeom prst="rect">
            <a:avLst/>
          </a:prstGeom>
        </p:spPr>
      </p:pic>
      <p:sp>
        <p:nvSpPr>
          <p:cNvPr id="9" name="TextBox 8"/>
          <p:cNvSpPr txBox="1"/>
          <p:nvPr/>
        </p:nvSpPr>
        <p:spPr>
          <a:xfrm>
            <a:off x="6949440" y="4844674"/>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6 – Rajaram-Gilkes Mathangi ve ark., 2023 (PMC10823296,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Rajaram-Gilkes Mathangi, Burwell Julian, Barr Kelly et al. Bilateral Median Nerve and Brachial Artery Variations in the Arm: A Case Report. Cureus. 2023 Dec 30;15(12):e51350. doi: 10.7759/cureus.51350 PMCID: PMC10823296.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ön kompartmanı – yüzeyel ve orta tabaka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Ortak fleksör köken: epicondylus medialis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38404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40080">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İşlev</a:t>
                      </a:r>
                    </a:p>
                  </a:txBody>
                  <a:tcPr>
                    <a:solidFill>
                      <a:srgbClr val="1F2A44"/>
                    </a:solidFill>
                  </a:tcPr>
                </a:tc>
              </a:tr>
              <a:tr h="640080">
                <a:tc>
                  <a:txBody>
                    <a:bodyPr/>
                    <a:lstStyle/>
                    <a:p>
                      <a:r>
                        <a:rPr sz="1100" b="1">
                          <a:solidFill>
                            <a:srgbClr val="1F2A44"/>
                          </a:solidFill>
                          <a:latin typeface="Calibri"/>
                        </a:rPr>
                        <a:t>M. pronator teres</a:t>
                      </a:r>
                    </a:p>
                  </a:txBody>
                  <a:tcPr>
                    <a:solidFill>
                      <a:srgbClr val="F3F4F6"/>
                    </a:solidFill>
                  </a:tcPr>
                </a:tc>
                <a:tc>
                  <a:txBody>
                    <a:bodyPr/>
                    <a:lstStyle/>
                    <a:p>
                      <a:r>
                        <a:rPr sz="1100" b="0">
                          <a:solidFill>
                            <a:srgbClr val="1F2A44"/>
                          </a:solidFill>
                          <a:latin typeface="Calibri"/>
                        </a:rPr>
                        <a:t>Epicondylus medialis + proc. coronoideus</a:t>
                      </a:r>
                    </a:p>
                  </a:txBody>
                  <a:tcPr>
                    <a:solidFill>
                      <a:srgbClr val="F3F4F6"/>
                    </a:solidFill>
                  </a:tcPr>
                </a:tc>
                <a:tc>
                  <a:txBody>
                    <a:bodyPr/>
                    <a:lstStyle/>
                    <a:p>
                      <a:r>
                        <a:rPr sz="1100" b="0">
                          <a:solidFill>
                            <a:srgbClr val="1F2A44"/>
                          </a:solidFill>
                          <a:latin typeface="Calibri"/>
                        </a:rPr>
                        <a:t>Radius lateral yüzü, orta</a:t>
                      </a:r>
                    </a:p>
                  </a:txBody>
                  <a:tcPr>
                    <a:solidFill>
                      <a:srgbClr val="F3F4F6"/>
                    </a:solidFill>
                  </a:tcPr>
                </a:tc>
                <a:tc>
                  <a:txBody>
                    <a:bodyPr/>
                    <a:lstStyle/>
                    <a:p>
                      <a:r>
                        <a:rPr sz="1100" b="0">
                          <a:solidFill>
                            <a:srgbClr val="1F2A44"/>
                          </a:solidFill>
                          <a:latin typeface="Calibri"/>
                        </a:rPr>
                        <a:t>N. medianus</a:t>
                      </a:r>
                    </a:p>
                  </a:txBody>
                  <a:tcPr>
                    <a:solidFill>
                      <a:srgbClr val="F3F4F6"/>
                    </a:solidFill>
                  </a:tcPr>
                </a:tc>
                <a:tc>
                  <a:txBody>
                    <a:bodyPr/>
                    <a:lstStyle/>
                    <a:p>
                      <a:r>
                        <a:rPr sz="1100" b="0">
                          <a:solidFill>
                            <a:srgbClr val="1F2A44"/>
                          </a:solidFill>
                          <a:latin typeface="Calibri"/>
                        </a:rPr>
                        <a:t>Pronasyon, dirsek fleksiyonu</a:t>
                      </a:r>
                    </a:p>
                  </a:txBody>
                  <a:tcPr>
                    <a:solidFill>
                      <a:srgbClr val="F3F4F6"/>
                    </a:solidFill>
                  </a:tcPr>
                </a:tc>
              </a:tr>
              <a:tr h="640080">
                <a:tc>
                  <a:txBody>
                    <a:bodyPr/>
                    <a:lstStyle/>
                    <a:p>
                      <a:r>
                        <a:rPr sz="1100" b="1">
                          <a:solidFill>
                            <a:srgbClr val="1F2A44"/>
                          </a:solidFill>
                          <a:latin typeface="Calibri"/>
                        </a:rPr>
                        <a:t>M. flexor carpi radialis</a:t>
                      </a:r>
                    </a:p>
                  </a:txBody>
                  <a:tcPr>
                    <a:solidFill>
                      <a:srgbClr val="FFFFFF"/>
                    </a:solidFill>
                  </a:tcPr>
                </a:tc>
                <a:tc>
                  <a:txBody>
                    <a:bodyPr/>
                    <a:lstStyle/>
                    <a:p>
                      <a:r>
                        <a:rPr sz="1100" b="0">
                          <a:solidFill>
                            <a:srgbClr val="1F2A44"/>
                          </a:solidFill>
                          <a:latin typeface="Calibri"/>
                        </a:rPr>
                        <a:t>Epicondylus medialis</a:t>
                      </a:r>
                    </a:p>
                  </a:txBody>
                  <a:tcPr>
                    <a:solidFill>
                      <a:srgbClr val="FFFFFF"/>
                    </a:solidFill>
                  </a:tcPr>
                </a:tc>
                <a:tc>
                  <a:txBody>
                    <a:bodyPr/>
                    <a:lstStyle/>
                    <a:p>
                      <a:r>
                        <a:rPr sz="1100" b="0">
                          <a:solidFill>
                            <a:srgbClr val="1F2A44"/>
                          </a:solidFill>
                          <a:latin typeface="Calibri"/>
                        </a:rPr>
                        <a:t>Os metacarpi II–III tabanı</a:t>
                      </a:r>
                    </a:p>
                  </a:txBody>
                  <a:tcPr>
                    <a:solidFill>
                      <a:srgbClr val="FFFFFF"/>
                    </a:solidFill>
                  </a:tcPr>
                </a:tc>
                <a:tc>
                  <a:txBody>
                    <a:bodyPr/>
                    <a:lstStyle/>
                    <a:p>
                      <a:r>
                        <a:rPr sz="1100" b="0">
                          <a:solidFill>
                            <a:srgbClr val="1F2A44"/>
                          </a:solidFill>
                          <a:latin typeface="Calibri"/>
                        </a:rPr>
                        <a:t>N. medianus</a:t>
                      </a:r>
                    </a:p>
                  </a:txBody>
                  <a:tcPr>
                    <a:solidFill>
                      <a:srgbClr val="FFFFFF"/>
                    </a:solidFill>
                  </a:tcPr>
                </a:tc>
                <a:tc>
                  <a:txBody>
                    <a:bodyPr/>
                    <a:lstStyle/>
                    <a:p>
                      <a:r>
                        <a:rPr sz="1100" b="0">
                          <a:solidFill>
                            <a:srgbClr val="1F2A44"/>
                          </a:solidFill>
                          <a:latin typeface="Calibri"/>
                        </a:rPr>
                        <a:t>El bileği fleksiyonu, radial deviasyon</a:t>
                      </a:r>
                    </a:p>
                  </a:txBody>
                  <a:tcPr>
                    <a:solidFill>
                      <a:srgbClr val="FFFFFF"/>
                    </a:solidFill>
                  </a:tcPr>
                </a:tc>
              </a:tr>
              <a:tr h="640080">
                <a:tc>
                  <a:txBody>
                    <a:bodyPr/>
                    <a:lstStyle/>
                    <a:p>
                      <a:r>
                        <a:rPr sz="1100" b="1">
                          <a:solidFill>
                            <a:srgbClr val="1F2A44"/>
                          </a:solidFill>
                          <a:latin typeface="Calibri"/>
                        </a:rPr>
                        <a:t>M. palmaris longus</a:t>
                      </a:r>
                    </a:p>
                  </a:txBody>
                  <a:tcPr>
                    <a:solidFill>
                      <a:srgbClr val="F3F4F6"/>
                    </a:solidFill>
                  </a:tcPr>
                </a:tc>
                <a:tc>
                  <a:txBody>
                    <a:bodyPr/>
                    <a:lstStyle/>
                    <a:p>
                      <a:r>
                        <a:rPr sz="1100" b="0">
                          <a:solidFill>
                            <a:srgbClr val="1F2A44"/>
                          </a:solidFill>
                          <a:latin typeface="Calibri"/>
                        </a:rPr>
                        <a:t>Epicondylus medialis</a:t>
                      </a:r>
                    </a:p>
                  </a:txBody>
                  <a:tcPr>
                    <a:solidFill>
                      <a:srgbClr val="F3F4F6"/>
                    </a:solidFill>
                  </a:tcPr>
                </a:tc>
                <a:tc>
                  <a:txBody>
                    <a:bodyPr/>
                    <a:lstStyle/>
                    <a:p>
                      <a:r>
                        <a:rPr sz="1100" b="0">
                          <a:solidFill>
                            <a:srgbClr val="1F2A44"/>
                          </a:solidFill>
                          <a:latin typeface="Calibri"/>
                        </a:rPr>
                        <a:t>Retinaculum flexorum, aponeurosis palmaris</a:t>
                      </a:r>
                    </a:p>
                  </a:txBody>
                  <a:tcPr>
                    <a:solidFill>
                      <a:srgbClr val="F3F4F6"/>
                    </a:solidFill>
                  </a:tcPr>
                </a:tc>
                <a:tc>
                  <a:txBody>
                    <a:bodyPr/>
                    <a:lstStyle/>
                    <a:p>
                      <a:r>
                        <a:rPr sz="1100" b="0">
                          <a:solidFill>
                            <a:srgbClr val="1F2A44"/>
                          </a:solidFill>
                          <a:latin typeface="Calibri"/>
                        </a:rPr>
                        <a:t>N. medianus</a:t>
                      </a:r>
                    </a:p>
                  </a:txBody>
                  <a:tcPr>
                    <a:solidFill>
                      <a:srgbClr val="F3F4F6"/>
                    </a:solidFill>
                  </a:tcPr>
                </a:tc>
                <a:tc>
                  <a:txBody>
                    <a:bodyPr/>
                    <a:lstStyle/>
                    <a:p>
                      <a:r>
                        <a:rPr sz="1100" b="0">
                          <a:solidFill>
                            <a:srgbClr val="1F2A44"/>
                          </a:solidFill>
                          <a:latin typeface="Calibri"/>
                        </a:rPr>
                        <a:t>Zayıf fleksör; sıkça yok (bkz. varyasyonlar)</a:t>
                      </a:r>
                    </a:p>
                  </a:txBody>
                  <a:tcPr>
                    <a:solidFill>
                      <a:srgbClr val="F3F4F6"/>
                    </a:solidFill>
                  </a:tcPr>
                </a:tc>
              </a:tr>
              <a:tr h="640080">
                <a:tc>
                  <a:txBody>
                    <a:bodyPr/>
                    <a:lstStyle/>
                    <a:p>
                      <a:r>
                        <a:rPr sz="1100" b="1">
                          <a:solidFill>
                            <a:srgbClr val="1F2A44"/>
                          </a:solidFill>
                          <a:latin typeface="Calibri"/>
                        </a:rPr>
                        <a:t>M. flexor carpi ulnaris</a:t>
                      </a:r>
                    </a:p>
                  </a:txBody>
                  <a:tcPr>
                    <a:solidFill>
                      <a:srgbClr val="FFFFFF"/>
                    </a:solidFill>
                  </a:tcPr>
                </a:tc>
                <a:tc>
                  <a:txBody>
                    <a:bodyPr/>
                    <a:lstStyle/>
                    <a:p>
                      <a:r>
                        <a:rPr sz="1100" b="0">
                          <a:solidFill>
                            <a:srgbClr val="1F2A44"/>
                          </a:solidFill>
                          <a:latin typeface="Calibri"/>
                        </a:rPr>
                        <a:t>Epicondylus medialis + olecranon/ulna</a:t>
                      </a:r>
                    </a:p>
                  </a:txBody>
                  <a:tcPr>
                    <a:solidFill>
                      <a:srgbClr val="FFFFFF"/>
                    </a:solidFill>
                  </a:tcPr>
                </a:tc>
                <a:tc>
                  <a:txBody>
                    <a:bodyPr/>
                    <a:lstStyle/>
                    <a:p>
                      <a:r>
                        <a:rPr sz="1100" b="0">
                          <a:solidFill>
                            <a:srgbClr val="1F2A44"/>
                          </a:solidFill>
                          <a:latin typeface="Calibri"/>
                        </a:rPr>
                        <a:t>Os pisiforme, hamulus, MC V</a:t>
                      </a:r>
                    </a:p>
                  </a:txBody>
                  <a:tcPr>
                    <a:solidFill>
                      <a:srgbClr val="FFFFFF"/>
                    </a:solidFill>
                  </a:tcPr>
                </a:tc>
                <a:tc>
                  <a:txBody>
                    <a:bodyPr/>
                    <a:lstStyle/>
                    <a:p>
                      <a:r>
                        <a:rPr sz="1100" b="0">
                          <a:solidFill>
                            <a:srgbClr val="1F2A44"/>
                          </a:solidFill>
                          <a:latin typeface="Calibri"/>
                        </a:rPr>
                        <a:t>N. ulnaris</a:t>
                      </a:r>
                    </a:p>
                  </a:txBody>
                  <a:tcPr>
                    <a:solidFill>
                      <a:srgbClr val="FFFFFF"/>
                    </a:solidFill>
                  </a:tcPr>
                </a:tc>
                <a:tc>
                  <a:txBody>
                    <a:bodyPr/>
                    <a:lstStyle/>
                    <a:p>
                      <a:r>
                        <a:rPr sz="1100" b="0">
                          <a:solidFill>
                            <a:srgbClr val="1F2A44"/>
                          </a:solidFill>
                          <a:latin typeface="Calibri"/>
                        </a:rPr>
                        <a:t>El bileği fleksiyonu, ulnar deviasyon</a:t>
                      </a:r>
                    </a:p>
                  </a:txBody>
                  <a:tcPr>
                    <a:solidFill>
                      <a:srgbClr val="FFFFFF"/>
                    </a:solidFill>
                  </a:tcPr>
                </a:tc>
              </a:tr>
              <a:tr h="640080">
                <a:tc>
                  <a:txBody>
                    <a:bodyPr/>
                    <a:lstStyle/>
                    <a:p>
                      <a:r>
                        <a:rPr sz="1100" b="1">
                          <a:solidFill>
                            <a:srgbClr val="1F2A44"/>
                          </a:solidFill>
                          <a:latin typeface="Calibri"/>
                        </a:rPr>
                        <a:t>M. flexor digitorum superficialis</a:t>
                      </a:r>
                    </a:p>
                  </a:txBody>
                  <a:tcPr>
                    <a:solidFill>
                      <a:srgbClr val="F3F4F6"/>
                    </a:solidFill>
                  </a:tcPr>
                </a:tc>
                <a:tc>
                  <a:txBody>
                    <a:bodyPr/>
                    <a:lstStyle/>
                    <a:p>
                      <a:r>
                        <a:rPr sz="1100" b="0">
                          <a:solidFill>
                            <a:srgbClr val="1F2A44"/>
                          </a:solidFill>
                          <a:latin typeface="Calibri"/>
                        </a:rPr>
                        <a:t>Humeroulnar + radial başlar</a:t>
                      </a:r>
                    </a:p>
                  </a:txBody>
                  <a:tcPr>
                    <a:solidFill>
                      <a:srgbClr val="F3F4F6"/>
                    </a:solidFill>
                  </a:tcPr>
                </a:tc>
                <a:tc>
                  <a:txBody>
                    <a:bodyPr/>
                    <a:lstStyle/>
                    <a:p>
                      <a:r>
                        <a:rPr sz="1100" b="0">
                          <a:solidFill>
                            <a:srgbClr val="1F2A44"/>
                          </a:solidFill>
                          <a:latin typeface="Calibri"/>
                        </a:rPr>
                        <a:t>Orta falankslar II–V</a:t>
                      </a:r>
                    </a:p>
                  </a:txBody>
                  <a:tcPr>
                    <a:solidFill>
                      <a:srgbClr val="F3F4F6"/>
                    </a:solidFill>
                  </a:tcPr>
                </a:tc>
                <a:tc>
                  <a:txBody>
                    <a:bodyPr/>
                    <a:lstStyle/>
                    <a:p>
                      <a:r>
                        <a:rPr sz="1100" b="0">
                          <a:solidFill>
                            <a:srgbClr val="1F2A44"/>
                          </a:solidFill>
                          <a:latin typeface="Calibri"/>
                        </a:rPr>
                        <a:t>N. medianus</a:t>
                      </a:r>
                    </a:p>
                  </a:txBody>
                  <a:tcPr>
                    <a:solidFill>
                      <a:srgbClr val="F3F4F6"/>
                    </a:solidFill>
                  </a:tcPr>
                </a:tc>
                <a:tc>
                  <a:txBody>
                    <a:bodyPr/>
                    <a:lstStyle/>
                    <a:p>
                      <a:r>
                        <a:rPr sz="1100" b="0">
                          <a:solidFill>
                            <a:srgbClr val="1F2A44"/>
                          </a:solidFill>
                          <a:latin typeface="Calibri"/>
                        </a:rPr>
                        <a:t>PIP ve MCP fleksiyonu</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ön kompartmanı – derin tabaka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interosseus anterior (n. medianus dalı) ve n. ulnaris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0" cy="2468880"/>
        </p:xfrm>
        <a:graphic>
          <a:graphicData uri="http://schemas.openxmlformats.org/drawingml/2006/table">
            <a:tbl>
              <a:tblPr firstRow="1" bandRow="1">
                <a:tableStyleId>{5C22544A-7EE6-4342-B048-85BDC9FD1C3A}</a:tableStyleId>
              </a:tblPr>
              <a:tblGrid>
                <a:gridCol w="2328062"/>
                <a:gridCol w="2328062"/>
                <a:gridCol w="2328062"/>
                <a:gridCol w="2328062"/>
                <a:gridCol w="2328062"/>
              </a:tblGrid>
              <a:tr h="617220">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İşlev</a:t>
                      </a:r>
                    </a:p>
                  </a:txBody>
                  <a:tcPr>
                    <a:solidFill>
                      <a:srgbClr val="1F2A44"/>
                    </a:solidFill>
                  </a:tcPr>
                </a:tc>
              </a:tr>
              <a:tr h="617220">
                <a:tc>
                  <a:txBody>
                    <a:bodyPr/>
                    <a:lstStyle/>
                    <a:p>
                      <a:r>
                        <a:rPr sz="1100" b="1">
                          <a:solidFill>
                            <a:srgbClr val="1F2A44"/>
                          </a:solidFill>
                          <a:latin typeface="Calibri"/>
                        </a:rPr>
                        <a:t>M. flexor digitorum profundus</a:t>
                      </a:r>
                    </a:p>
                  </a:txBody>
                  <a:tcPr>
                    <a:solidFill>
                      <a:srgbClr val="F3F4F6"/>
                    </a:solidFill>
                  </a:tcPr>
                </a:tc>
                <a:tc>
                  <a:txBody>
                    <a:bodyPr/>
                    <a:lstStyle/>
                    <a:p>
                      <a:r>
                        <a:rPr sz="1100" b="0">
                          <a:solidFill>
                            <a:srgbClr val="1F2A44"/>
                          </a:solidFill>
                          <a:latin typeface="Calibri"/>
                        </a:rPr>
                        <a:t>Ulna ön-medial yüzü, membrana interossea</a:t>
                      </a:r>
                    </a:p>
                  </a:txBody>
                  <a:tcPr>
                    <a:solidFill>
                      <a:srgbClr val="F3F4F6"/>
                    </a:solidFill>
                  </a:tcPr>
                </a:tc>
                <a:tc>
                  <a:txBody>
                    <a:bodyPr/>
                    <a:lstStyle/>
                    <a:p>
                      <a:r>
                        <a:rPr sz="1100" b="0">
                          <a:solidFill>
                            <a:srgbClr val="1F2A44"/>
                          </a:solidFill>
                          <a:latin typeface="Calibri"/>
                        </a:rPr>
                        <a:t>Distal falanks tabanları II–V</a:t>
                      </a:r>
                    </a:p>
                  </a:txBody>
                  <a:tcPr>
                    <a:solidFill>
                      <a:srgbClr val="F3F4F6"/>
                    </a:solidFill>
                  </a:tcPr>
                </a:tc>
                <a:tc>
                  <a:txBody>
                    <a:bodyPr/>
                    <a:lstStyle/>
                    <a:p>
                      <a:r>
                        <a:rPr sz="1100" b="0">
                          <a:solidFill>
                            <a:srgbClr val="1F2A44"/>
                          </a:solidFill>
                          <a:latin typeface="Calibri"/>
                        </a:rPr>
                        <a:t>Lateral yarı: n. interosseus ant.; medial yarı: n. ulnaris</a:t>
                      </a:r>
                    </a:p>
                  </a:txBody>
                  <a:tcPr>
                    <a:solidFill>
                      <a:srgbClr val="F3F4F6"/>
                    </a:solidFill>
                  </a:tcPr>
                </a:tc>
                <a:tc>
                  <a:txBody>
                    <a:bodyPr/>
                    <a:lstStyle/>
                    <a:p>
                      <a:r>
                        <a:rPr sz="1100" b="0">
                          <a:solidFill>
                            <a:srgbClr val="1F2A44"/>
                          </a:solidFill>
                          <a:latin typeface="Calibri"/>
                        </a:rPr>
                        <a:t>DIP fleksiyonu</a:t>
                      </a:r>
                    </a:p>
                  </a:txBody>
                  <a:tcPr>
                    <a:solidFill>
                      <a:srgbClr val="F3F4F6"/>
                    </a:solidFill>
                  </a:tcPr>
                </a:tc>
              </a:tr>
              <a:tr h="617220">
                <a:tc>
                  <a:txBody>
                    <a:bodyPr/>
                    <a:lstStyle/>
                    <a:p>
                      <a:r>
                        <a:rPr sz="1100" b="1">
                          <a:solidFill>
                            <a:srgbClr val="1F2A44"/>
                          </a:solidFill>
                          <a:latin typeface="Calibri"/>
                        </a:rPr>
                        <a:t>M. flexor pollicis longus</a:t>
                      </a:r>
                    </a:p>
                  </a:txBody>
                  <a:tcPr>
                    <a:solidFill>
                      <a:srgbClr val="FFFFFF"/>
                    </a:solidFill>
                  </a:tcPr>
                </a:tc>
                <a:tc>
                  <a:txBody>
                    <a:bodyPr/>
                    <a:lstStyle/>
                    <a:p>
                      <a:r>
                        <a:rPr sz="1100" b="0">
                          <a:solidFill>
                            <a:srgbClr val="1F2A44"/>
                          </a:solidFill>
                          <a:latin typeface="Calibri"/>
                        </a:rPr>
                        <a:t>Radius ön yüzü, membrana interossea</a:t>
                      </a:r>
                    </a:p>
                  </a:txBody>
                  <a:tcPr>
                    <a:solidFill>
                      <a:srgbClr val="FFFFFF"/>
                    </a:solidFill>
                  </a:tcPr>
                </a:tc>
                <a:tc>
                  <a:txBody>
                    <a:bodyPr/>
                    <a:lstStyle/>
                    <a:p>
                      <a:r>
                        <a:rPr sz="1100" b="0">
                          <a:solidFill>
                            <a:srgbClr val="1F2A44"/>
                          </a:solidFill>
                          <a:latin typeface="Calibri"/>
                        </a:rPr>
                        <a:t>Başparmak distal falanksı</a:t>
                      </a:r>
                    </a:p>
                  </a:txBody>
                  <a:tcPr>
                    <a:solidFill>
                      <a:srgbClr val="FFFFFF"/>
                    </a:solidFill>
                  </a:tcPr>
                </a:tc>
                <a:tc>
                  <a:txBody>
                    <a:bodyPr/>
                    <a:lstStyle/>
                    <a:p>
                      <a:r>
                        <a:rPr sz="1100" b="0">
                          <a:solidFill>
                            <a:srgbClr val="1F2A44"/>
                          </a:solidFill>
                          <a:latin typeface="Calibri"/>
                        </a:rPr>
                        <a:t>N. interosseus anterior</a:t>
                      </a:r>
                    </a:p>
                  </a:txBody>
                  <a:tcPr>
                    <a:solidFill>
                      <a:srgbClr val="FFFFFF"/>
                    </a:solidFill>
                  </a:tcPr>
                </a:tc>
                <a:tc>
                  <a:txBody>
                    <a:bodyPr/>
                    <a:lstStyle/>
                    <a:p>
                      <a:r>
                        <a:rPr sz="1100" b="0">
                          <a:solidFill>
                            <a:srgbClr val="1F2A44"/>
                          </a:solidFill>
                          <a:latin typeface="Calibri"/>
                        </a:rPr>
                        <a:t>Başparmak IP fleksiyonu</a:t>
                      </a:r>
                    </a:p>
                  </a:txBody>
                  <a:tcPr>
                    <a:solidFill>
                      <a:srgbClr val="FFFFFF"/>
                    </a:solidFill>
                  </a:tcPr>
                </a:tc>
              </a:tr>
              <a:tr h="617220">
                <a:tc>
                  <a:txBody>
                    <a:bodyPr/>
                    <a:lstStyle/>
                    <a:p>
                      <a:r>
                        <a:rPr sz="1100" b="1">
                          <a:solidFill>
                            <a:srgbClr val="1F2A44"/>
                          </a:solidFill>
                          <a:latin typeface="Calibri"/>
                        </a:rPr>
                        <a:t>M. pronator quadratus</a:t>
                      </a:r>
                    </a:p>
                  </a:txBody>
                  <a:tcPr>
                    <a:solidFill>
                      <a:srgbClr val="F3F4F6"/>
                    </a:solidFill>
                  </a:tcPr>
                </a:tc>
                <a:tc>
                  <a:txBody>
                    <a:bodyPr/>
                    <a:lstStyle/>
                    <a:p>
                      <a:r>
                        <a:rPr sz="1100" b="0">
                          <a:solidFill>
                            <a:srgbClr val="1F2A44"/>
                          </a:solidFill>
                          <a:latin typeface="Calibri"/>
                        </a:rPr>
                        <a:t>Ulna distal 1/4 ön yüzü</a:t>
                      </a:r>
                    </a:p>
                  </a:txBody>
                  <a:tcPr>
                    <a:solidFill>
                      <a:srgbClr val="F3F4F6"/>
                    </a:solidFill>
                  </a:tcPr>
                </a:tc>
                <a:tc>
                  <a:txBody>
                    <a:bodyPr/>
                    <a:lstStyle/>
                    <a:p>
                      <a:r>
                        <a:rPr sz="1100" b="0">
                          <a:solidFill>
                            <a:srgbClr val="1F2A44"/>
                          </a:solidFill>
                          <a:latin typeface="Calibri"/>
                        </a:rPr>
                        <a:t>Radius distal 1/4 ön yüzü</a:t>
                      </a:r>
                    </a:p>
                  </a:txBody>
                  <a:tcPr>
                    <a:solidFill>
                      <a:srgbClr val="F3F4F6"/>
                    </a:solidFill>
                  </a:tcPr>
                </a:tc>
                <a:tc>
                  <a:txBody>
                    <a:bodyPr/>
                    <a:lstStyle/>
                    <a:p>
                      <a:r>
                        <a:rPr sz="1100" b="0">
                          <a:solidFill>
                            <a:srgbClr val="1F2A44"/>
                          </a:solidFill>
                          <a:latin typeface="Calibri"/>
                        </a:rPr>
                        <a:t>N. interosseus anterior</a:t>
                      </a:r>
                    </a:p>
                  </a:txBody>
                  <a:tcPr>
                    <a:solidFill>
                      <a:srgbClr val="F3F4F6"/>
                    </a:solidFill>
                  </a:tcPr>
                </a:tc>
                <a:tc>
                  <a:txBody>
                    <a:bodyPr/>
                    <a:lstStyle/>
                    <a:p>
                      <a:r>
                        <a:rPr sz="1100" b="0">
                          <a:solidFill>
                            <a:srgbClr val="1F2A44"/>
                          </a:solidFill>
                          <a:latin typeface="Calibri"/>
                        </a:rPr>
                        <a:t>Ana pronatör; DRUJ stabilitesi</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arka kompartmanı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radialis ve derin dalı (n. interosseus posterior)</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2" cy="4846320"/>
        </p:xfrm>
        <a:graphic>
          <a:graphicData uri="http://schemas.openxmlformats.org/drawingml/2006/table">
            <a:tbl>
              <a:tblPr firstRow="1" bandRow="1">
                <a:tableStyleId>{5C22544A-7EE6-4342-B048-85BDC9FD1C3A}</a:tableStyleId>
              </a:tblPr>
              <a:tblGrid>
                <a:gridCol w="2910078"/>
                <a:gridCol w="2910078"/>
                <a:gridCol w="2910078"/>
                <a:gridCol w="2910078"/>
              </a:tblGrid>
              <a:tr h="605790">
                <a:tc>
                  <a:txBody>
                    <a:bodyPr/>
                    <a:lstStyle/>
                    <a:p>
                      <a:r>
                        <a:rPr sz="1200" b="1">
                          <a:solidFill>
                            <a:srgbClr val="FFFFFF"/>
                          </a:solidFill>
                          <a:latin typeface="Calibri"/>
                        </a:rPr>
                        <a:t>Kas</a:t>
                      </a:r>
                    </a:p>
                  </a:txBody>
                  <a:tcPr>
                    <a:solidFill>
                      <a:srgbClr val="1F2A44"/>
                    </a:solidFill>
                  </a:tcPr>
                </a:tc>
                <a:tc>
                  <a:txBody>
                    <a:bodyPr/>
                    <a:lstStyle/>
                    <a:p>
                      <a:r>
                        <a:rPr sz="1200" b="1">
                          <a:solidFill>
                            <a:srgbClr val="FFFFFF"/>
                          </a:solidFill>
                          <a:latin typeface="Calibri"/>
                        </a:rPr>
                        <a:t>Köken</a:t>
                      </a:r>
                    </a:p>
                  </a:txBody>
                  <a:tcPr>
                    <a:solidFill>
                      <a:srgbClr val="1F2A44"/>
                    </a:solidFill>
                  </a:tcPr>
                </a:tc>
                <a:tc>
                  <a:txBody>
                    <a:bodyPr/>
                    <a:lstStyle/>
                    <a:p>
                      <a:r>
                        <a:rPr sz="1200" b="1">
                          <a:solidFill>
                            <a:srgbClr val="FFFFFF"/>
                          </a:solidFill>
                          <a:latin typeface="Calibri"/>
                        </a:rPr>
                        <a:t>Yapışma</a:t>
                      </a:r>
                    </a:p>
                  </a:txBody>
                  <a:tcPr>
                    <a:solidFill>
                      <a:srgbClr val="1F2A44"/>
                    </a:solidFill>
                  </a:tcPr>
                </a:tc>
                <a:tc>
                  <a:txBody>
                    <a:bodyPr/>
                    <a:lstStyle/>
                    <a:p>
                      <a:r>
                        <a:rPr sz="1200" b="1">
                          <a:solidFill>
                            <a:srgbClr val="FFFFFF"/>
                          </a:solidFill>
                          <a:latin typeface="Calibri"/>
                        </a:rPr>
                        <a:t>Sinir</a:t>
                      </a:r>
                    </a:p>
                  </a:txBody>
                  <a:tcPr>
                    <a:solidFill>
                      <a:srgbClr val="1F2A44"/>
                    </a:solidFill>
                  </a:tcPr>
                </a:tc>
              </a:tr>
              <a:tr h="605790">
                <a:tc>
                  <a:txBody>
                    <a:bodyPr/>
                    <a:lstStyle/>
                    <a:p>
                      <a:r>
                        <a:rPr sz="1100" b="1">
                          <a:solidFill>
                            <a:srgbClr val="1F2A44"/>
                          </a:solidFill>
                          <a:latin typeface="Calibri"/>
                        </a:rPr>
                        <a:t>M. brachioradialis</a:t>
                      </a:r>
                    </a:p>
                  </a:txBody>
                  <a:tcPr>
                    <a:solidFill>
                      <a:srgbClr val="F3F4F6"/>
                    </a:solidFill>
                  </a:tcPr>
                </a:tc>
                <a:tc>
                  <a:txBody>
                    <a:bodyPr/>
                    <a:lstStyle/>
                    <a:p>
                      <a:r>
                        <a:rPr sz="1100" b="0">
                          <a:solidFill>
                            <a:srgbClr val="1F2A44"/>
                          </a:solidFill>
                          <a:latin typeface="Calibri"/>
                        </a:rPr>
                        <a:t>Crista supracondylaris lat. (prox. 2/3)</a:t>
                      </a:r>
                    </a:p>
                  </a:txBody>
                  <a:tcPr>
                    <a:solidFill>
                      <a:srgbClr val="F3F4F6"/>
                    </a:solidFill>
                  </a:tcPr>
                </a:tc>
                <a:tc>
                  <a:txBody>
                    <a:bodyPr/>
                    <a:lstStyle/>
                    <a:p>
                      <a:r>
                        <a:rPr sz="1100" b="0">
                          <a:solidFill>
                            <a:srgbClr val="1F2A44"/>
                          </a:solidFill>
                          <a:latin typeface="Calibri"/>
                        </a:rPr>
                        <a:t>Proc. styloideus radii tabanı</a:t>
                      </a:r>
                    </a:p>
                  </a:txBody>
                  <a:tcPr>
                    <a:solidFill>
                      <a:srgbClr val="F3F4F6"/>
                    </a:solidFill>
                  </a:tcPr>
                </a:tc>
                <a:tc>
                  <a:txBody>
                    <a:bodyPr/>
                    <a:lstStyle/>
                    <a:p>
                      <a:r>
                        <a:rPr sz="1100" b="0">
                          <a:solidFill>
                            <a:srgbClr val="1F2A44"/>
                          </a:solidFill>
                          <a:latin typeface="Calibri"/>
                        </a:rPr>
                        <a:t>N. radialis</a:t>
                      </a:r>
                    </a:p>
                  </a:txBody>
                  <a:tcPr>
                    <a:solidFill>
                      <a:srgbClr val="F3F4F6"/>
                    </a:solidFill>
                  </a:tcPr>
                </a:tc>
              </a:tr>
              <a:tr h="605790">
                <a:tc>
                  <a:txBody>
                    <a:bodyPr/>
                    <a:lstStyle/>
                    <a:p>
                      <a:r>
                        <a:rPr sz="1100" b="1">
                          <a:solidFill>
                            <a:srgbClr val="1F2A44"/>
                          </a:solidFill>
                          <a:latin typeface="Calibri"/>
                        </a:rPr>
                        <a:t>M. extensor carpi radialis longus</a:t>
                      </a:r>
                    </a:p>
                  </a:txBody>
                  <a:tcPr>
                    <a:solidFill>
                      <a:srgbClr val="FFFFFF"/>
                    </a:solidFill>
                  </a:tcPr>
                </a:tc>
                <a:tc>
                  <a:txBody>
                    <a:bodyPr/>
                    <a:lstStyle/>
                    <a:p>
                      <a:r>
                        <a:rPr sz="1100" b="0">
                          <a:solidFill>
                            <a:srgbClr val="1F2A44"/>
                          </a:solidFill>
                          <a:latin typeface="Calibri"/>
                        </a:rPr>
                        <a:t>Crista supracondylaris lat. (distal 1/3)</a:t>
                      </a:r>
                    </a:p>
                  </a:txBody>
                  <a:tcPr>
                    <a:solidFill>
                      <a:srgbClr val="FFFFFF"/>
                    </a:solidFill>
                  </a:tcPr>
                </a:tc>
                <a:tc>
                  <a:txBody>
                    <a:bodyPr/>
                    <a:lstStyle/>
                    <a:p>
                      <a:r>
                        <a:rPr sz="1100" b="0">
                          <a:solidFill>
                            <a:srgbClr val="1F2A44"/>
                          </a:solidFill>
                          <a:latin typeface="Calibri"/>
                        </a:rPr>
                        <a:t>MC II tabanı</a:t>
                      </a:r>
                    </a:p>
                  </a:txBody>
                  <a:tcPr>
                    <a:solidFill>
                      <a:srgbClr val="FFFFFF"/>
                    </a:solidFill>
                  </a:tcPr>
                </a:tc>
                <a:tc>
                  <a:txBody>
                    <a:bodyPr/>
                    <a:lstStyle/>
                    <a:p>
                      <a:r>
                        <a:rPr sz="1100" b="0">
                          <a:solidFill>
                            <a:srgbClr val="1F2A44"/>
                          </a:solidFill>
                          <a:latin typeface="Calibri"/>
                        </a:rPr>
                        <a:t>N. radialis</a:t>
                      </a:r>
                    </a:p>
                  </a:txBody>
                  <a:tcPr>
                    <a:solidFill>
                      <a:srgbClr val="FFFFFF"/>
                    </a:solidFill>
                  </a:tcPr>
                </a:tc>
              </a:tr>
              <a:tr h="605790">
                <a:tc>
                  <a:txBody>
                    <a:bodyPr/>
                    <a:lstStyle/>
                    <a:p>
                      <a:r>
                        <a:rPr sz="1100" b="1">
                          <a:solidFill>
                            <a:srgbClr val="1F2A44"/>
                          </a:solidFill>
                          <a:latin typeface="Calibri"/>
                        </a:rPr>
                        <a:t>M. extensor carpi radialis brevis</a:t>
                      </a:r>
                    </a:p>
                  </a:txBody>
                  <a:tcPr>
                    <a:solidFill>
                      <a:srgbClr val="F3F4F6"/>
                    </a:solidFill>
                  </a:tcPr>
                </a:tc>
                <a:tc>
                  <a:txBody>
                    <a:bodyPr/>
                    <a:lstStyle/>
                    <a:p>
                      <a:r>
                        <a:rPr sz="1100" b="0">
                          <a:solidFill>
                            <a:srgbClr val="1F2A44"/>
                          </a:solidFill>
                          <a:latin typeface="Calibri"/>
                        </a:rPr>
                        <a:t>Epicondylus lateralis</a:t>
                      </a:r>
                    </a:p>
                  </a:txBody>
                  <a:tcPr>
                    <a:solidFill>
                      <a:srgbClr val="F3F4F6"/>
                    </a:solidFill>
                  </a:tcPr>
                </a:tc>
                <a:tc>
                  <a:txBody>
                    <a:bodyPr/>
                    <a:lstStyle/>
                    <a:p>
                      <a:r>
                        <a:rPr sz="1100" b="0">
                          <a:solidFill>
                            <a:srgbClr val="1F2A44"/>
                          </a:solidFill>
                          <a:latin typeface="Calibri"/>
                        </a:rPr>
                        <a:t>MC III tabanı</a:t>
                      </a:r>
                    </a:p>
                  </a:txBody>
                  <a:tcPr>
                    <a:solidFill>
                      <a:srgbClr val="F3F4F6"/>
                    </a:solidFill>
                  </a:tcPr>
                </a:tc>
                <a:tc>
                  <a:txBody>
                    <a:bodyPr/>
                    <a:lstStyle/>
                    <a:p>
                      <a:r>
                        <a:rPr sz="1100" b="0">
                          <a:solidFill>
                            <a:srgbClr val="1F2A44"/>
                          </a:solidFill>
                          <a:latin typeface="Calibri"/>
                        </a:rPr>
                        <a:t>R. profundus n. radialis</a:t>
                      </a:r>
                    </a:p>
                  </a:txBody>
                  <a:tcPr>
                    <a:solidFill>
                      <a:srgbClr val="F3F4F6"/>
                    </a:solidFill>
                  </a:tcPr>
                </a:tc>
              </a:tr>
              <a:tr h="605790">
                <a:tc>
                  <a:txBody>
                    <a:bodyPr/>
                    <a:lstStyle/>
                    <a:p>
                      <a:r>
                        <a:rPr sz="1100" b="1">
                          <a:solidFill>
                            <a:srgbClr val="1F2A44"/>
                          </a:solidFill>
                          <a:latin typeface="Calibri"/>
                        </a:rPr>
                        <a:t>M. extensor digitorum / m. extensor digiti minimi</a:t>
                      </a:r>
                    </a:p>
                  </a:txBody>
                  <a:tcPr>
                    <a:solidFill>
                      <a:srgbClr val="FFFFFF"/>
                    </a:solidFill>
                  </a:tcPr>
                </a:tc>
                <a:tc>
                  <a:txBody>
                    <a:bodyPr/>
                    <a:lstStyle/>
                    <a:p>
                      <a:r>
                        <a:rPr sz="1100" b="0">
                          <a:solidFill>
                            <a:srgbClr val="1F2A44"/>
                          </a:solidFill>
                          <a:latin typeface="Calibri"/>
                        </a:rPr>
                        <a:t>Epicondylus lateralis</a:t>
                      </a:r>
                    </a:p>
                  </a:txBody>
                  <a:tcPr>
                    <a:solidFill>
                      <a:srgbClr val="FFFFFF"/>
                    </a:solidFill>
                  </a:tcPr>
                </a:tc>
                <a:tc>
                  <a:txBody>
                    <a:bodyPr/>
                    <a:lstStyle/>
                    <a:p>
                      <a:r>
                        <a:rPr sz="1100" b="0">
                          <a:solidFill>
                            <a:srgbClr val="1F2A44"/>
                          </a:solidFill>
                          <a:latin typeface="Calibri"/>
                        </a:rPr>
                        <a:t>Dorsal aponevroz II–V / V</a:t>
                      </a:r>
                    </a:p>
                  </a:txBody>
                  <a:tcPr>
                    <a:solidFill>
                      <a:srgbClr val="FFFFFF"/>
                    </a:solidFill>
                  </a:tcPr>
                </a:tc>
                <a:tc>
                  <a:txBody>
                    <a:bodyPr/>
                    <a:lstStyle/>
                    <a:p>
                      <a:r>
                        <a:rPr sz="1100" b="0">
                          <a:solidFill>
                            <a:srgbClr val="1F2A44"/>
                          </a:solidFill>
                          <a:latin typeface="Calibri"/>
                        </a:rPr>
                        <a:t>N. interosseus posterior</a:t>
                      </a:r>
                    </a:p>
                  </a:txBody>
                  <a:tcPr>
                    <a:solidFill>
                      <a:srgbClr val="FFFFFF"/>
                    </a:solidFill>
                  </a:tcPr>
                </a:tc>
              </a:tr>
              <a:tr h="605790">
                <a:tc>
                  <a:txBody>
                    <a:bodyPr/>
                    <a:lstStyle/>
                    <a:p>
                      <a:r>
                        <a:rPr sz="1100" b="1">
                          <a:solidFill>
                            <a:srgbClr val="1F2A44"/>
                          </a:solidFill>
                          <a:latin typeface="Calibri"/>
                        </a:rPr>
                        <a:t>M. extensor carpi ulnaris</a:t>
                      </a:r>
                    </a:p>
                  </a:txBody>
                  <a:tcPr>
                    <a:solidFill>
                      <a:srgbClr val="F3F4F6"/>
                    </a:solidFill>
                  </a:tcPr>
                </a:tc>
                <a:tc>
                  <a:txBody>
                    <a:bodyPr/>
                    <a:lstStyle/>
                    <a:p>
                      <a:r>
                        <a:rPr sz="1100" b="0">
                          <a:solidFill>
                            <a:srgbClr val="1F2A44"/>
                          </a:solidFill>
                          <a:latin typeface="Calibri"/>
                        </a:rPr>
                        <a:t>Epicondylus lateralis + ulna</a:t>
                      </a:r>
                    </a:p>
                  </a:txBody>
                  <a:tcPr>
                    <a:solidFill>
                      <a:srgbClr val="F3F4F6"/>
                    </a:solidFill>
                  </a:tcPr>
                </a:tc>
                <a:tc>
                  <a:txBody>
                    <a:bodyPr/>
                    <a:lstStyle/>
                    <a:p>
                      <a:r>
                        <a:rPr sz="1100" b="0">
                          <a:solidFill>
                            <a:srgbClr val="1F2A44"/>
                          </a:solidFill>
                          <a:latin typeface="Calibri"/>
                        </a:rPr>
                        <a:t>MC V tabanı</a:t>
                      </a:r>
                    </a:p>
                  </a:txBody>
                  <a:tcPr>
                    <a:solidFill>
                      <a:srgbClr val="F3F4F6"/>
                    </a:solidFill>
                  </a:tcPr>
                </a:tc>
                <a:tc>
                  <a:txBody>
                    <a:bodyPr/>
                    <a:lstStyle/>
                    <a:p>
                      <a:r>
                        <a:rPr sz="1100" b="0">
                          <a:solidFill>
                            <a:srgbClr val="1F2A44"/>
                          </a:solidFill>
                          <a:latin typeface="Calibri"/>
                        </a:rPr>
                        <a:t>N. interosseus posterior</a:t>
                      </a:r>
                    </a:p>
                  </a:txBody>
                  <a:tcPr>
                    <a:solidFill>
                      <a:srgbClr val="F3F4F6"/>
                    </a:solidFill>
                  </a:tcPr>
                </a:tc>
              </a:tr>
              <a:tr h="605790">
                <a:tc>
                  <a:txBody>
                    <a:bodyPr/>
                    <a:lstStyle/>
                    <a:p>
                      <a:r>
                        <a:rPr sz="1100" b="1">
                          <a:solidFill>
                            <a:srgbClr val="1F2A44"/>
                          </a:solidFill>
                          <a:latin typeface="Calibri"/>
                        </a:rPr>
                        <a:t>M. supinator</a:t>
                      </a:r>
                    </a:p>
                  </a:txBody>
                  <a:tcPr>
                    <a:solidFill>
                      <a:srgbClr val="FFFFFF"/>
                    </a:solidFill>
                  </a:tcPr>
                </a:tc>
                <a:tc>
                  <a:txBody>
                    <a:bodyPr/>
                    <a:lstStyle/>
                    <a:p>
                      <a:r>
                        <a:rPr sz="1100" b="0">
                          <a:solidFill>
                            <a:srgbClr val="1F2A44"/>
                          </a:solidFill>
                          <a:latin typeface="Calibri"/>
                        </a:rPr>
                        <a:t>Epicondylus lat., crista m. supinatoris</a:t>
                      </a:r>
                    </a:p>
                  </a:txBody>
                  <a:tcPr>
                    <a:solidFill>
                      <a:srgbClr val="FFFFFF"/>
                    </a:solidFill>
                  </a:tcPr>
                </a:tc>
                <a:tc>
                  <a:txBody>
                    <a:bodyPr/>
                    <a:lstStyle/>
                    <a:p>
                      <a:r>
                        <a:rPr sz="1100" b="0">
                          <a:solidFill>
                            <a:srgbClr val="1F2A44"/>
                          </a:solidFill>
                          <a:latin typeface="Calibri"/>
                        </a:rPr>
                        <a:t>Radius proksimal 1/3</a:t>
                      </a:r>
                    </a:p>
                  </a:txBody>
                  <a:tcPr>
                    <a:solidFill>
                      <a:srgbClr val="FFFFFF"/>
                    </a:solidFill>
                  </a:tcPr>
                </a:tc>
                <a:tc>
                  <a:txBody>
                    <a:bodyPr/>
                    <a:lstStyle/>
                    <a:p>
                      <a:r>
                        <a:rPr sz="1100" b="0">
                          <a:solidFill>
                            <a:srgbClr val="1F2A44"/>
                          </a:solidFill>
                          <a:latin typeface="Calibri"/>
                        </a:rPr>
                        <a:t>R. profundus (kas içinden geçer)</a:t>
                      </a:r>
                    </a:p>
                  </a:txBody>
                  <a:tcPr>
                    <a:solidFill>
                      <a:srgbClr val="FFFFFF"/>
                    </a:solidFill>
                  </a:tcPr>
                </a:tc>
              </a:tr>
              <a:tr h="605790">
                <a:tc>
                  <a:txBody>
                    <a:bodyPr/>
                    <a:lstStyle/>
                    <a:p>
                      <a:r>
                        <a:rPr sz="1100" b="1">
                          <a:solidFill>
                            <a:srgbClr val="1F2A44"/>
                          </a:solidFill>
                          <a:latin typeface="Calibri"/>
                        </a:rPr>
                        <a:t>Mm. abductor pollicis longus, extensor pollicis brevis/longus, extensor indicis</a:t>
                      </a:r>
                    </a:p>
                  </a:txBody>
                  <a:tcPr>
                    <a:solidFill>
                      <a:srgbClr val="F3F4F6"/>
                    </a:solidFill>
                  </a:tcPr>
                </a:tc>
                <a:tc>
                  <a:txBody>
                    <a:bodyPr/>
                    <a:lstStyle/>
                    <a:p>
                      <a:r>
                        <a:rPr sz="1100" b="0">
                          <a:solidFill>
                            <a:srgbClr val="1F2A44"/>
                          </a:solidFill>
                          <a:latin typeface="Calibri"/>
                        </a:rPr>
                        <a:t>Radius/ulna arka yüzü, membrana interossea</a:t>
                      </a:r>
                    </a:p>
                  </a:txBody>
                  <a:tcPr>
                    <a:solidFill>
                      <a:srgbClr val="F3F4F6"/>
                    </a:solidFill>
                  </a:tcPr>
                </a:tc>
                <a:tc>
                  <a:txBody>
                    <a:bodyPr/>
                    <a:lstStyle/>
                    <a:p>
                      <a:r>
                        <a:rPr sz="1100" b="0">
                          <a:solidFill>
                            <a:srgbClr val="1F2A44"/>
                          </a:solidFill>
                          <a:latin typeface="Calibri"/>
                        </a:rPr>
                        <a:t>MC I, başparmak falanksları, işaret parmağı aponevrozu</a:t>
                      </a:r>
                    </a:p>
                  </a:txBody>
                  <a:tcPr>
                    <a:solidFill>
                      <a:srgbClr val="F3F4F6"/>
                    </a:solidFill>
                  </a:tcPr>
                </a:tc>
                <a:tc>
                  <a:txBody>
                    <a:bodyPr/>
                    <a:lstStyle/>
                    <a:p>
                      <a:r>
                        <a:rPr sz="1100" b="0">
                          <a:solidFill>
                            <a:srgbClr val="1F2A44"/>
                          </a:solidFill>
                          <a:latin typeface="Calibri"/>
                        </a:rPr>
                        <a:t>N. interosseus posterior</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Önkolun arterleri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 radialis, a. ulnaris ve a. interossea communis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A. radialis:</a:t>
            </a:r>
            <a:r>
              <a:rPr sz="1300" b="0" i="0">
                <a:solidFill>
                  <a:srgbClr val="1F2A44"/>
                </a:solidFill>
                <a:latin typeface="Calibri"/>
              </a:rPr>
              <a:t> m. brachioradialis'in altında seyreder; distalde yalnızca deri ve fasya ile örtülüdür – </a:t>
            </a:r>
            <a:r>
              <a:rPr sz="1300" b="0" i="0">
                <a:solidFill>
                  <a:srgbClr val="1F2A44"/>
                </a:solidFill>
                <a:latin typeface="Calibri"/>
              </a:rPr>
              <a:t>radial nabız</a:t>
            </a:r>
            <a:r>
              <a:rPr sz="1300" b="0" i="0">
                <a:solidFill>
                  <a:srgbClr val="1F2A44"/>
                </a:solidFill>
                <a:latin typeface="Calibri"/>
              </a:rPr>
              <a:t> (m. flexor carpi radialis tendonunun lateralinde). Bilekte fovea radialis'ten el sırtına geçer.</a:t>
            </a:r>
          </a:p>
          <a:p>
            <a:pPr algn="l">
              <a:spcAft>
                <a:spcPts val="300"/>
              </a:spcAft>
            </a:pPr>
            <a:r>
              <a:rPr sz="1300" b="0" i="0">
                <a:solidFill>
                  <a:srgbClr val="1F2A44"/>
                </a:solidFill>
                <a:latin typeface="Calibri"/>
              </a:rPr>
              <a:t>• </a:t>
            </a:r>
            <a:r>
              <a:rPr sz="1300" b="0" i="0">
                <a:solidFill>
                  <a:srgbClr val="1F2A44"/>
                </a:solidFill>
                <a:latin typeface="Calibri"/>
              </a:rPr>
              <a:t>A. ulnaris:</a:t>
            </a:r>
            <a:r>
              <a:rPr sz="1300" b="0" i="0">
                <a:solidFill>
                  <a:srgbClr val="1F2A44"/>
                </a:solidFill>
                <a:latin typeface="Calibri"/>
              </a:rPr>
              <a:t> m. pronator teres'in derininden geçer, FDS altında n. ulnaris'in lateralinde iner; </a:t>
            </a:r>
            <a:r>
              <a:rPr sz="1300" b="0" i="0">
                <a:solidFill>
                  <a:srgbClr val="1F2A44"/>
                </a:solidFill>
                <a:latin typeface="Calibri"/>
              </a:rPr>
              <a:t>a. interossea communis</a:t>
            </a:r>
            <a:r>
              <a:rPr sz="1300" b="0" i="0">
                <a:solidFill>
                  <a:srgbClr val="1F2A44"/>
                </a:solidFill>
                <a:latin typeface="Calibri"/>
              </a:rPr>
              <a:t>'i verir (→ a. interossea anterior ve posterior).</a:t>
            </a:r>
          </a:p>
          <a:p>
            <a:pPr algn="l">
              <a:spcAft>
                <a:spcPts val="300"/>
              </a:spcAft>
            </a:pPr>
            <a:r>
              <a:rPr sz="1300" b="0" i="0">
                <a:solidFill>
                  <a:srgbClr val="1F2A44"/>
                </a:solidFill>
                <a:latin typeface="Calibri"/>
              </a:rPr>
              <a:t>• </a:t>
            </a:r>
            <a:r>
              <a:rPr sz="1300" b="0" i="0">
                <a:solidFill>
                  <a:srgbClr val="1F2A44"/>
                </a:solidFill>
                <a:latin typeface="Calibri"/>
              </a:rPr>
              <a:t>Rekürren dallar:</a:t>
            </a:r>
            <a:r>
              <a:rPr sz="1300" b="0" i="0">
                <a:solidFill>
                  <a:srgbClr val="1F2A44"/>
                </a:solidFill>
                <a:latin typeface="Calibri"/>
              </a:rPr>
              <a:t> a. recurrens radialis, aa. recurrentes ulnares ant./post., a. interossea recurrens – dirsek anastomozunu oluşturur.</a:t>
            </a:r>
          </a:p>
          <a:p>
            <a:pPr algn="l">
              <a:spcAft>
                <a:spcPts val="300"/>
              </a:spcAft>
            </a:pPr>
            <a:r>
              <a:rPr sz="1300" b="0" i="0">
                <a:solidFill>
                  <a:srgbClr val="1F2A44"/>
                </a:solidFill>
                <a:latin typeface="Calibri"/>
              </a:rPr>
              <a:t>• Varyasyonlar (yüksek bölünme, yüzeyel a. ulnaris, a. mediana persistens) radial arter kateterizasyonu ve flep cerrahisi için önemlidir.</a:t>
            </a:r>
          </a:p>
        </p:txBody>
      </p:sp>
      <p:pic>
        <p:nvPicPr>
          <p:cNvPr id="8" name="Picture 7" descr="cureus-0015-00000040324-i02.jpg"/>
          <p:cNvPicPr>
            <a:picLocks noChangeAspect="1"/>
          </p:cNvPicPr>
          <p:nvPr/>
        </p:nvPicPr>
        <p:blipFill>
          <a:blip r:embed="rId2"/>
          <a:stretch>
            <a:fillRect/>
          </a:stretch>
        </p:blipFill>
        <p:spPr>
          <a:xfrm>
            <a:off x="7040880" y="2662824"/>
            <a:ext cx="4892040" cy="1898111"/>
          </a:xfrm>
          <a:prstGeom prst="rect">
            <a:avLst/>
          </a:prstGeom>
        </p:spPr>
      </p:pic>
      <p:sp>
        <p:nvSpPr>
          <p:cNvPr id="9" name="TextBox 8"/>
          <p:cNvSpPr txBox="1"/>
          <p:nvPr/>
        </p:nvSpPr>
        <p:spPr>
          <a:xfrm>
            <a:off x="6949440" y="4560935"/>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Elhossiny Asem H ve ark., 2023 (PMC10343151,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Elhossiny Asem H, Bakir Mohamad, Dawalibi Ahmad et al. Persistent Median Artery, Bifid Median Nerve, and Reversed Palmaris Longus Encountered During Cadaveric Dissection: The First Reported Case. Cureus. 2023 Jun 12;15(6):e40324. doi: 10.7759/cureus.40324 PMCID: PMC10343151.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Önkolun sinirleri ve sıkışma noktaları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medianus, n. ulnaris, n. radialis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N. medianus:</a:t>
            </a:r>
            <a:r>
              <a:rPr sz="1300" b="0" i="0">
                <a:solidFill>
                  <a:srgbClr val="1F2A44"/>
                </a:solidFill>
                <a:latin typeface="Calibri"/>
              </a:rPr>
              <a:t> m. pronator teres'in iki başı arasından geçer, FDS'nin altında iner; </a:t>
            </a:r>
            <a:r>
              <a:rPr sz="1300" b="0" i="0">
                <a:solidFill>
                  <a:srgbClr val="1F2A44"/>
                </a:solidFill>
                <a:latin typeface="Calibri"/>
              </a:rPr>
              <a:t>n. interosseus anterior</a:t>
            </a:r>
            <a:r>
              <a:rPr sz="1300" b="0" i="0">
                <a:solidFill>
                  <a:srgbClr val="1F2A44"/>
                </a:solidFill>
                <a:latin typeface="Calibri"/>
              </a:rPr>
              <a:t>'u verir (FPL, FDP lateral yarı, m. pronator quadratus). Sıkışma: pronator sendromu, AIN sendromu ('OK işareti' yapamama).</a:t>
            </a:r>
          </a:p>
          <a:p>
            <a:pPr algn="l">
              <a:spcAft>
                <a:spcPts val="300"/>
              </a:spcAft>
            </a:pPr>
            <a:r>
              <a:rPr sz="1300" b="0" i="0">
                <a:solidFill>
                  <a:srgbClr val="1F2A44"/>
                </a:solidFill>
                <a:latin typeface="Calibri"/>
              </a:rPr>
              <a:t>• </a:t>
            </a:r>
            <a:r>
              <a:rPr sz="1300" b="0" i="0">
                <a:solidFill>
                  <a:srgbClr val="1F2A44"/>
                </a:solidFill>
                <a:latin typeface="Calibri"/>
              </a:rPr>
              <a:t>N. ulnaris:</a:t>
            </a:r>
            <a:r>
              <a:rPr sz="1300" b="0" i="0">
                <a:solidFill>
                  <a:srgbClr val="1F2A44"/>
                </a:solidFill>
                <a:latin typeface="Calibri"/>
              </a:rPr>
              <a:t> epicondylus medialis arkasında </a:t>
            </a:r>
            <a:r>
              <a:rPr sz="1300" b="0" i="0">
                <a:solidFill>
                  <a:srgbClr val="1F2A44"/>
                </a:solidFill>
                <a:latin typeface="Calibri"/>
              </a:rPr>
              <a:t>kubital tünel</a:t>
            </a:r>
            <a:r>
              <a:rPr sz="1300" b="0" i="0">
                <a:solidFill>
                  <a:srgbClr val="1F2A44"/>
                </a:solidFill>
                <a:latin typeface="Calibri"/>
              </a:rPr>
              <a:t>'den (Osborne bağı) geçer, FCU'nun iki başı arasından önkola girer; FCU ve FDP'nin medial yarısını innerve eder. Sıkışma: kubital tünel sendromu.</a:t>
            </a:r>
          </a:p>
          <a:p>
            <a:pPr algn="l">
              <a:spcAft>
                <a:spcPts val="300"/>
              </a:spcAft>
            </a:pPr>
            <a:r>
              <a:rPr sz="1300" b="0" i="0">
                <a:solidFill>
                  <a:srgbClr val="1F2A44"/>
                </a:solidFill>
                <a:latin typeface="Calibri"/>
              </a:rPr>
              <a:t>• </a:t>
            </a:r>
            <a:r>
              <a:rPr sz="1300" b="0" i="0">
                <a:solidFill>
                  <a:srgbClr val="1F2A44"/>
                </a:solidFill>
                <a:latin typeface="Calibri"/>
              </a:rPr>
              <a:t>N. radialis:</a:t>
            </a:r>
            <a:r>
              <a:rPr sz="1300" b="0" i="0">
                <a:solidFill>
                  <a:srgbClr val="1F2A44"/>
                </a:solidFill>
                <a:latin typeface="Calibri"/>
              </a:rPr>
              <a:t> fossa cubiti lateralinde </a:t>
            </a:r>
            <a:r>
              <a:rPr sz="1300" b="0" i="0">
                <a:solidFill>
                  <a:srgbClr val="1F2A44"/>
                </a:solidFill>
                <a:latin typeface="Calibri"/>
              </a:rPr>
              <a:t>r. superficialis</a:t>
            </a:r>
            <a:r>
              <a:rPr sz="1300" b="0" i="0">
                <a:solidFill>
                  <a:srgbClr val="1F2A44"/>
                </a:solidFill>
                <a:latin typeface="Calibri"/>
              </a:rPr>
              <a:t> (duyusal; m. brachioradialis altında) ve </a:t>
            </a:r>
            <a:r>
              <a:rPr sz="1300" b="0" i="0">
                <a:solidFill>
                  <a:srgbClr val="1F2A44"/>
                </a:solidFill>
                <a:latin typeface="Calibri"/>
              </a:rPr>
              <a:t>r. profundus</a:t>
            </a:r>
            <a:r>
              <a:rPr sz="1300" b="0" i="0">
                <a:solidFill>
                  <a:srgbClr val="1F2A44"/>
                </a:solidFill>
                <a:latin typeface="Calibri"/>
              </a:rPr>
              <a:t>'a ayrılır; derin dal </a:t>
            </a:r>
            <a:r>
              <a:rPr sz="1300" b="0" i="0">
                <a:solidFill>
                  <a:srgbClr val="1F2A44"/>
                </a:solidFill>
                <a:latin typeface="Calibri"/>
              </a:rPr>
              <a:t>Frohse arkadı</a:t>
            </a:r>
            <a:r>
              <a:rPr sz="1300" b="0" i="0">
                <a:solidFill>
                  <a:srgbClr val="1F2A44"/>
                </a:solidFill>
                <a:latin typeface="Calibri"/>
              </a:rPr>
              <a:t>'ndan m. supinator içine girer ve </a:t>
            </a:r>
            <a:r>
              <a:rPr sz="1300" b="0" i="0">
                <a:solidFill>
                  <a:srgbClr val="1F2A44"/>
                </a:solidFill>
                <a:latin typeface="Calibri"/>
              </a:rPr>
              <a:t>n. interosseus posterior</a:t>
            </a:r>
            <a:r>
              <a:rPr sz="1300" b="0" i="0">
                <a:solidFill>
                  <a:srgbClr val="1F2A44"/>
                </a:solidFill>
                <a:latin typeface="Calibri"/>
              </a:rPr>
              <a:t> olarak devam eder. Sıkışma: PIN/supinator sendromu.</a:t>
            </a:r>
          </a:p>
          <a:p>
            <a:pPr algn="l">
              <a:spcAft>
                <a:spcPts val="300"/>
              </a:spcAft>
            </a:pPr>
            <a:r>
              <a:rPr sz="1300" b="0" i="0">
                <a:solidFill>
                  <a:srgbClr val="1F2A44"/>
                </a:solidFill>
                <a:latin typeface="Calibri"/>
              </a:rPr>
              <a:t>• Bu düzeylerin kesitsel karşılıkları için kesitsel sunumdaki önkol bölümüne bakınız.</a:t>
            </a:r>
          </a:p>
        </p:txBody>
      </p:sp>
      <p:pic>
        <p:nvPicPr>
          <p:cNvPr id="8" name="Picture 7" descr="276_2025_3728_Fig4_HTML.jpg"/>
          <p:cNvPicPr>
            <a:picLocks noChangeAspect="1"/>
          </p:cNvPicPr>
          <p:nvPr/>
        </p:nvPicPr>
        <p:blipFill>
          <a:blip r:embed="rId2"/>
          <a:stretch>
            <a:fillRect/>
          </a:stretch>
        </p:blipFill>
        <p:spPr>
          <a:xfrm>
            <a:off x="7059971" y="1188720"/>
            <a:ext cx="4853857" cy="4846320"/>
          </a:xfrm>
          <a:prstGeom prst="rect">
            <a:avLst/>
          </a:prstGeom>
        </p:spPr>
      </p:pic>
      <p:sp>
        <p:nvSpPr>
          <p:cNvPr id="9" name="TextBox 8"/>
          <p:cNvSpPr txBox="1"/>
          <p:nvPr/>
        </p:nvSpPr>
        <p:spPr>
          <a:xfrm>
            <a:off x="6968531" y="6035040"/>
            <a:ext cx="503673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4 – Qawasmi Feras ve ark., 2025 (PMC12500735,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Qawasmi Feras, Goss Mark, Shweiki Fadi et al. Anatomical considerations for safe retractor placement in distal biceps repair: a cadaveric study of the posterior interosseous nerve. Surg Radiol Anat. 2025 Oct 6;47(1):223. doi: 10.1007/s00276-025-03728-3 PMCID: PMC12500735.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ön kompartmanı – yüzeyel fleksör tabaka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Behiery ve ark., Cureus 2023 – sağ önkol, normal düzen</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5-00000038424-i04.jpg"/>
          <p:cNvPicPr>
            <a:picLocks noChangeAspect="1"/>
          </p:cNvPicPr>
          <p:nvPr/>
        </p:nvPicPr>
        <p:blipFill>
          <a:blip r:embed="rId2"/>
          <a:stretch>
            <a:fillRect/>
          </a:stretch>
        </p:blipFill>
        <p:spPr>
          <a:xfrm>
            <a:off x="274320" y="2643378"/>
            <a:ext cx="7086600" cy="1937003"/>
          </a:xfrm>
          <a:prstGeom prst="rect">
            <a:avLst/>
          </a:prstGeom>
        </p:spPr>
      </p:pic>
      <p:sp>
        <p:nvSpPr>
          <p:cNvPr id="8" name="TextBox 7"/>
          <p:cNvSpPr txBox="1"/>
          <p:nvPr/>
        </p:nvSpPr>
        <p:spPr>
          <a:xfrm>
            <a:off x="182879" y="4580382"/>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4 – Behiery Ayman ve ark., 2023 (PMC10235925,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m. palmaris longus; </a:t>
            </a:r>
            <a:r>
              <a:rPr sz="1050" b="0" i="0">
                <a:solidFill>
                  <a:srgbClr val="1F2A44"/>
                </a:solidFill>
                <a:latin typeface="Calibri"/>
              </a:rPr>
              <a:t>2</a:t>
            </a:r>
            <a:r>
              <a:rPr sz="1050" b="0" i="0">
                <a:solidFill>
                  <a:srgbClr val="1F2A44"/>
                </a:solidFill>
                <a:latin typeface="Calibri"/>
              </a:rPr>
              <a:t> m. flexor carpi ulnaris; </a:t>
            </a:r>
            <a:r>
              <a:rPr sz="1050" b="0" i="0">
                <a:solidFill>
                  <a:srgbClr val="1F2A44"/>
                </a:solidFill>
                <a:latin typeface="Calibri"/>
              </a:rPr>
              <a:t>3</a:t>
            </a:r>
            <a:r>
              <a:rPr sz="1050" b="0" i="0">
                <a:solidFill>
                  <a:srgbClr val="1F2A44"/>
                </a:solidFill>
                <a:latin typeface="Calibri"/>
              </a:rPr>
              <a:t> m. flexor carpi radialis; </a:t>
            </a:r>
            <a:r>
              <a:rPr sz="1050" b="0" i="0">
                <a:solidFill>
                  <a:srgbClr val="1F2A44"/>
                </a:solidFill>
                <a:latin typeface="Calibri"/>
              </a:rPr>
              <a:t>4</a:t>
            </a:r>
            <a:r>
              <a:rPr sz="1050" b="0" i="0">
                <a:solidFill>
                  <a:srgbClr val="1F2A44"/>
                </a:solidFill>
                <a:latin typeface="Calibri"/>
              </a:rPr>
              <a:t> m. pronator teres; </a:t>
            </a:r>
            <a:r>
              <a:rPr sz="1050" b="0" i="0">
                <a:solidFill>
                  <a:srgbClr val="1F2A44"/>
                </a:solidFill>
                <a:latin typeface="Calibri"/>
              </a:rPr>
              <a:t>5</a:t>
            </a:r>
            <a:r>
              <a:rPr sz="1050" b="0" i="0">
                <a:solidFill>
                  <a:srgbClr val="1F2A44"/>
                </a:solidFill>
                <a:latin typeface="Calibri"/>
              </a:rPr>
              <a:t> m. flexor digitorum superficialis; </a:t>
            </a:r>
            <a:r>
              <a:rPr sz="1050" b="0" i="0">
                <a:solidFill>
                  <a:srgbClr val="1F2A44"/>
                </a:solidFill>
                <a:latin typeface="Calibri"/>
              </a:rPr>
              <a:t>6</a:t>
            </a:r>
            <a:r>
              <a:rPr sz="1050" b="0" i="0">
                <a:solidFill>
                  <a:srgbClr val="1F2A44"/>
                </a:solidFill>
                <a:latin typeface="Calibri"/>
              </a:rPr>
              <a:t> m. brachioradialis; </a:t>
            </a:r>
            <a:r>
              <a:rPr sz="1050" b="0" i="0">
                <a:solidFill>
                  <a:srgbClr val="1F2A44"/>
                </a:solidFill>
                <a:latin typeface="Calibri"/>
              </a:rPr>
              <a:t>7</a:t>
            </a:r>
            <a:r>
              <a:rPr sz="1050" b="0" i="0">
                <a:solidFill>
                  <a:srgbClr val="1F2A44"/>
                </a:solidFill>
                <a:latin typeface="Calibri"/>
              </a:rPr>
              <a:t> a. radialis; </a:t>
            </a:r>
            <a:r>
              <a:rPr sz="1050" b="0" i="0">
                <a:solidFill>
                  <a:srgbClr val="1F2A44"/>
                </a:solidFill>
                <a:latin typeface="Calibri"/>
              </a:rPr>
              <a:t>8</a:t>
            </a:r>
            <a:r>
              <a:rPr sz="1050" b="0" i="0">
                <a:solidFill>
                  <a:srgbClr val="1F2A44"/>
                </a:solidFill>
                <a:latin typeface="Calibri"/>
              </a:rPr>
              <a:t> a. brachialis; ***</a:t>
            </a:r>
            <a:r>
              <a:rPr sz="1050" b="0" i="0">
                <a:solidFill>
                  <a:srgbClr val="1F2A44"/>
                </a:solidFill>
                <a:latin typeface="Calibri"/>
              </a:rPr>
              <a:t> epicondylus medialis; </a:t>
            </a:r>
            <a:r>
              <a:rPr sz="1050" b="0" i="0">
                <a:solidFill>
                  <a:srgbClr val="1F2A44"/>
                </a:solidFill>
                <a:latin typeface="Calibri"/>
              </a:rPr>
              <a:t>B** aponeurosis bicipitalis kalıntısı</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Yüzeyel tabaka lateralden mediale: m. pronator teres – FCR – m. palmaris longus – FCU (epicondylus medialis'ten ortak köken).</a:t>
            </a:r>
          </a:p>
          <a:p>
            <a:pPr algn="l">
              <a:spcAft>
                <a:spcPts val="300"/>
              </a:spcAft>
            </a:pPr>
            <a:r>
              <a:rPr sz="1050" b="0" i="0">
                <a:solidFill>
                  <a:srgbClr val="1F2A44"/>
                </a:solidFill>
                <a:latin typeface="Calibri"/>
              </a:rPr>
              <a:t>• A. radialis m. brachioradialis'in medial kenarı boyunca iner – radial nabız ve flep pedikülü.</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Behiery Ayman, Bakir Mohamad, Dawalibi Ahmad et al. Reversed Palmaris Longus: A Rare Anatomical Phenomenon Discovered. Cureus. 2023 May 2;15(5):e38424. doi: 10.7759/cureus.38424 PMCID: PMC10235925.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Dirseğin medial yüzü: fleksör–pronator kas grubu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Sol dirsek, üç aşamalı diseksiyon (23 kadavra dirseği)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A-32-379-g001.jpg"/>
          <p:cNvPicPr>
            <a:picLocks noChangeAspect="1"/>
          </p:cNvPicPr>
          <p:nvPr/>
        </p:nvPicPr>
        <p:blipFill>
          <a:blip r:embed="rId2"/>
          <a:stretch>
            <a:fillRect/>
          </a:stretch>
        </p:blipFill>
        <p:spPr>
          <a:xfrm>
            <a:off x="2606893" y="1188720"/>
            <a:ext cx="2421452" cy="4846320"/>
          </a:xfrm>
          <a:prstGeom prst="rect">
            <a:avLst/>
          </a:prstGeom>
        </p:spPr>
      </p:pic>
      <p:sp>
        <p:nvSpPr>
          <p:cNvPr id="8" name="TextBox 7"/>
          <p:cNvSpPr txBox="1"/>
          <p:nvPr/>
        </p:nvSpPr>
        <p:spPr>
          <a:xfrm>
            <a:off x="2515453" y="6035040"/>
            <a:ext cx="260433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Hoshika Shota ve ark., 2019 (PMC6850211,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PT</a:t>
            </a:r>
            <a:r>
              <a:rPr sz="1050" b="0" i="0">
                <a:solidFill>
                  <a:srgbClr val="1F2A44"/>
                </a:solidFill>
                <a:latin typeface="Calibri"/>
              </a:rPr>
              <a:t> m. pronator teres;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PL</a:t>
            </a:r>
            <a:r>
              <a:rPr sz="1050" b="0" i="0">
                <a:solidFill>
                  <a:srgbClr val="1F2A44"/>
                </a:solidFill>
                <a:latin typeface="Calibri"/>
              </a:rPr>
              <a:t> m. palmaris longus; </a:t>
            </a:r>
            <a:r>
              <a:rPr sz="1050" b="0" i="0">
                <a:solidFill>
                  <a:srgbClr val="1F2A44"/>
                </a:solidFill>
                <a:latin typeface="Calibri"/>
              </a:rPr>
              <a:t>FCU</a:t>
            </a:r>
            <a:r>
              <a:rPr sz="1050" b="0" i="0">
                <a:solidFill>
                  <a:srgbClr val="1F2A44"/>
                </a:solidFill>
                <a:latin typeface="Calibri"/>
              </a:rPr>
              <a:t> m. flexor carpi ulnaris; </a:t>
            </a:r>
            <a:r>
              <a:rPr sz="1050" b="0" i="0">
                <a:solidFill>
                  <a:srgbClr val="1F2A44"/>
                </a:solidFill>
                <a:latin typeface="Calibri"/>
              </a:rPr>
              <a:t>FDP</a:t>
            </a:r>
            <a:r>
              <a:rPr sz="1050" b="0" i="0">
                <a:solidFill>
                  <a:srgbClr val="1F2A44"/>
                </a:solidFill>
                <a:latin typeface="Calibri"/>
              </a:rPr>
              <a:t> m. flexor digitorum profundus;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MEC</a:t>
            </a:r>
            <a:r>
              <a:rPr sz="1050" b="0" i="0">
                <a:solidFill>
                  <a:srgbClr val="1F2A44"/>
                </a:solidFill>
                <a:latin typeface="Calibri"/>
              </a:rPr>
              <a:t> epicondylus medialis;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Triceps; Brachialis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Fleksör–pronator kaslar epicondylus medialis ve medial suprakondiler kenarda ortak kas kökeni oluşturur.</a:t>
            </a:r>
          </a:p>
          <a:p>
            <a:pPr algn="l">
              <a:spcAft>
                <a:spcPts val="300"/>
              </a:spcAft>
            </a:pPr>
            <a:r>
              <a:rPr sz="1050" b="0" i="0">
                <a:solidFill>
                  <a:srgbClr val="1F2A44"/>
                </a:solidFill>
                <a:latin typeface="Calibri"/>
              </a:rPr>
              <a:t>• İki tendinöz septum bulunmuştur: PT–FDS ve FDS–FCU arasında; altlarındaki kapsül medial stabiliteye katkı yapar.</a:t>
            </a:r>
          </a:p>
          <a:p>
            <a:pPr algn="l">
              <a:spcAft>
                <a:spcPts val="300"/>
              </a:spcAft>
            </a:pPr>
            <a:r>
              <a:rPr sz="1050" b="0" i="0">
                <a:solidFill>
                  <a:srgbClr val="1F2A44"/>
                </a:solidFill>
                <a:latin typeface="Calibri"/>
              </a:rPr>
              <a:t>• N. medianus PT başları arasında, n. ulnaris FCU başları arasında önkola girer.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Hoshika Shota, Nimura Akimoto, Yamaguchi Reiko et al. Medial elbow anatomy: A paradigm shift for UCL injury prevention and management. Clin Anat. 2019 Jan 9;32(3):379–89. doi: 10.1002/ca.23322 PMCID: PMC6850211.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interosseus anterior ve derin fleksörler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Taze kadavra diseksiyonu ve mesafe şeması (10 önkol)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68_2025_2869_Fig1_HTML.jpg"/>
          <p:cNvPicPr>
            <a:picLocks noChangeAspect="1"/>
          </p:cNvPicPr>
          <p:nvPr/>
        </p:nvPicPr>
        <p:blipFill>
          <a:blip r:embed="rId2"/>
          <a:stretch>
            <a:fillRect/>
          </a:stretch>
        </p:blipFill>
        <p:spPr>
          <a:xfrm>
            <a:off x="274320" y="1188720"/>
            <a:ext cx="1988339" cy="4800600"/>
          </a:xfrm>
          <a:prstGeom prst="rect">
            <a:avLst/>
          </a:prstGeom>
        </p:spPr>
      </p:pic>
      <p:sp>
        <p:nvSpPr>
          <p:cNvPr id="8" name="TextBox 7"/>
          <p:cNvSpPr txBox="1"/>
          <p:nvPr/>
        </p:nvSpPr>
        <p:spPr>
          <a:xfrm>
            <a:off x="182880" y="5989320"/>
            <a:ext cx="217121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Walch Arnaud ve ark., 2025 (PMC12055948, CC BY)</a:t>
            </a:r>
          </a:p>
        </p:txBody>
      </p:sp>
      <p:pic>
        <p:nvPicPr>
          <p:cNvPr id="9" name="Picture 8" descr="68_2025_2869_Fig2_HTML.jpg"/>
          <p:cNvPicPr>
            <a:picLocks noChangeAspect="1"/>
          </p:cNvPicPr>
          <p:nvPr/>
        </p:nvPicPr>
        <p:blipFill>
          <a:blip r:embed="rId3"/>
          <a:stretch>
            <a:fillRect/>
          </a:stretch>
        </p:blipFill>
        <p:spPr>
          <a:xfrm>
            <a:off x="2399819" y="1188720"/>
            <a:ext cx="4713991" cy="4800599"/>
          </a:xfrm>
          <a:prstGeom prst="rect">
            <a:avLst/>
          </a:prstGeom>
        </p:spPr>
      </p:pic>
      <p:sp>
        <p:nvSpPr>
          <p:cNvPr id="10" name="TextBox 9"/>
          <p:cNvSpPr txBox="1"/>
          <p:nvPr/>
        </p:nvSpPr>
        <p:spPr>
          <a:xfrm>
            <a:off x="2308379" y="5989320"/>
            <a:ext cx="489687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Walch Arnaud ve ark., 2025 (PMC12055948,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AIN</a:t>
            </a:r>
            <a:r>
              <a:rPr sz="1050" b="0" i="0">
                <a:solidFill>
                  <a:srgbClr val="1F2A44"/>
                </a:solidFill>
                <a:latin typeface="Calibri"/>
              </a:rPr>
              <a:t> n. interosseus anterior; </a:t>
            </a:r>
            <a:r>
              <a:rPr sz="1050" b="0" i="0">
                <a:solidFill>
                  <a:srgbClr val="1F2A44"/>
                </a:solidFill>
                <a:latin typeface="Calibri"/>
              </a:rPr>
              <a:t>FDP</a:t>
            </a:r>
            <a:r>
              <a:rPr sz="1050" b="0" i="0">
                <a:solidFill>
                  <a:srgbClr val="1F2A44"/>
                </a:solidFill>
                <a:latin typeface="Calibri"/>
              </a:rPr>
              <a:t> m. flexor digitorum profundus; </a:t>
            </a:r>
            <a:r>
              <a:rPr sz="1050" b="0" i="0">
                <a:solidFill>
                  <a:srgbClr val="1F2A44"/>
                </a:solidFill>
                <a:latin typeface="Calibri"/>
              </a:rPr>
              <a:t>PQ</a:t>
            </a:r>
            <a:r>
              <a:rPr sz="1050" b="0" i="0">
                <a:solidFill>
                  <a:srgbClr val="1F2A44"/>
                </a:solidFill>
                <a:latin typeface="Calibri"/>
              </a:rPr>
              <a:t> m. pronator quadratus; </a:t>
            </a:r>
            <a:r>
              <a:rPr sz="1050" b="0" i="0">
                <a:solidFill>
                  <a:srgbClr val="1F2A44"/>
                </a:solidFill>
                <a:latin typeface="Calibri"/>
              </a:rPr>
              <a:t>FPL</a:t>
            </a:r>
            <a:r>
              <a:rPr sz="1050" b="0" i="0">
                <a:solidFill>
                  <a:srgbClr val="1F2A44"/>
                </a:solidFill>
                <a:latin typeface="Calibri"/>
              </a:rPr>
              <a:t> m. flexor pollicis longus; Biepicondylar / Bistyloid line = epikondiller ve stiloidler arası referans çizgileri; şemada sayılar mm</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AIN radius'tan ortalama </a:t>
            </a:r>
            <a:r>
              <a:rPr sz="1050" b="0" i="0">
                <a:solidFill>
                  <a:srgbClr val="1F2A44"/>
                </a:solidFill>
                <a:latin typeface="Calibri"/>
              </a:rPr>
              <a:t>13 mm</a:t>
            </a:r>
            <a:r>
              <a:rPr sz="1050" b="0" i="0">
                <a:solidFill>
                  <a:srgbClr val="1F2A44"/>
                </a:solidFill>
                <a:latin typeface="Calibri"/>
              </a:rPr>
              <a:t> uzaklıkta çıkar; FPL'ye ilk dal radius'tan ortalama 8 mm uzakta.</a:t>
            </a:r>
          </a:p>
          <a:p>
            <a:pPr algn="l">
              <a:spcAft>
                <a:spcPts val="300"/>
              </a:spcAft>
            </a:pPr>
            <a:r>
              <a:rPr sz="1050" b="0" i="0">
                <a:solidFill>
                  <a:srgbClr val="1F2A44"/>
                </a:solidFill>
                <a:latin typeface="Calibri"/>
              </a:rPr>
              <a:t>• En yüksek yaralanma riski önkolun proksimal ve orta üçte biri birleşimindedir.</a:t>
            </a:r>
          </a:p>
          <a:p>
            <a:pPr algn="l">
              <a:spcAft>
                <a:spcPts val="300"/>
              </a:spcAft>
            </a:pPr>
            <a:r>
              <a:rPr sz="1050" b="0" i="0">
                <a:solidFill>
                  <a:srgbClr val="1F2A44"/>
                </a:solidFill>
                <a:latin typeface="Calibri"/>
              </a:rPr>
              <a:t>• AIN felcinde FPL ve işaret parmağı FDP tutulur → 'OK' işareti yapılamaz (duyu kaybı yoktur).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Walch Arnaud, Despert Hugo, Jubelin Clément et al. Risk of anterior interosseous nerve injury during forearm surgery: a cadaveric study. Eur J Trauma Emerg Surg. 2025 May 6;51(1):197. doi: 10.1007/s00068-025-02869-9 PMCID: PMC12055948.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Kubital tünel: lig. Osborne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Sağ dirsek arka-medial diseksiyon</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09-00000001080-i01.jpg"/>
          <p:cNvPicPr>
            <a:picLocks noChangeAspect="1"/>
          </p:cNvPicPr>
          <p:nvPr/>
        </p:nvPicPr>
        <p:blipFill>
          <a:blip r:embed="rId2"/>
          <a:stretch>
            <a:fillRect/>
          </a:stretch>
        </p:blipFill>
        <p:spPr>
          <a:xfrm>
            <a:off x="2000817" y="1188720"/>
            <a:ext cx="3633604" cy="4846320"/>
          </a:xfrm>
          <a:prstGeom prst="rect">
            <a:avLst/>
          </a:prstGeom>
        </p:spPr>
      </p:pic>
      <p:sp>
        <p:nvSpPr>
          <p:cNvPr id="8" name="TextBox 7"/>
          <p:cNvSpPr txBox="1"/>
          <p:nvPr/>
        </p:nvSpPr>
        <p:spPr>
          <a:xfrm>
            <a:off x="1909377" y="6035040"/>
            <a:ext cx="381648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Granger Andre ve ark., 2017 (PMC5383373,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FCU</a:t>
            </a:r>
            <a:r>
              <a:rPr sz="1050" b="0" i="0">
                <a:solidFill>
                  <a:srgbClr val="1F2A44"/>
                </a:solidFill>
                <a:latin typeface="Calibri"/>
              </a:rPr>
              <a:t> m. flexor carpi ulnaris'in humeral ve ulnar başları; </a:t>
            </a:r>
            <a:r>
              <a:rPr sz="1050" b="0" i="0">
                <a:solidFill>
                  <a:srgbClr val="1F2A44"/>
                </a:solidFill>
                <a:latin typeface="Calibri"/>
              </a:rPr>
              <a:t>M</a:t>
            </a:r>
            <a:r>
              <a:rPr sz="1050" b="0" i="0">
                <a:solidFill>
                  <a:srgbClr val="1F2A44"/>
                </a:solidFill>
                <a:latin typeface="Calibri"/>
              </a:rPr>
              <a:t> epicondylus medialis; </a:t>
            </a:r>
            <a:r>
              <a:rPr sz="1050" b="0" i="0">
                <a:solidFill>
                  <a:srgbClr val="1F2A44"/>
                </a:solidFill>
                <a:latin typeface="Calibri"/>
              </a:rPr>
              <a:t>O</a:t>
            </a:r>
            <a:r>
              <a:rPr sz="1050" b="0" i="0">
                <a:solidFill>
                  <a:srgbClr val="1F2A44"/>
                </a:solidFill>
                <a:latin typeface="Calibri"/>
              </a:rPr>
              <a:t> olecranon; iğne n. ulnaris'i işaretler; üçgen bağ dokusu = </a:t>
            </a:r>
            <a:r>
              <a:rPr sz="1050" b="0" i="0">
                <a:solidFill>
                  <a:srgbClr val="1F2A44"/>
                </a:solidFill>
                <a:latin typeface="Calibri"/>
              </a:rPr>
              <a:t>lig. Osborne</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 ulnaris epicondylus medialis ile olecranon arasındaki oluktan geçip FCU başlarını birleştiren Osborne bağının altına girer.</a:t>
            </a:r>
          </a:p>
          <a:p>
            <a:pPr algn="l">
              <a:spcAft>
                <a:spcPts val="300"/>
              </a:spcAft>
            </a:pPr>
            <a:r>
              <a:rPr sz="1050" b="0" i="0">
                <a:solidFill>
                  <a:srgbClr val="1F2A44"/>
                </a:solidFill>
                <a:latin typeface="Calibri"/>
              </a:rPr>
              <a:t>• Dirsek fleksiyonunda tünel hacmi azalır ve sinir gerilir – kubital tünel sendromunun mekanizması.</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Granger Andre, Sardi Juan P, Iwanaga Joe et al. Osborne’s Ligament: A Review of its History, Anatomy, and Surgical Importance. Cureus. 2017 Mar 6;9(3):e1080. doi: 10.7759/cureus.1080 PMCID: PMC5383373.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Membrana interossea antebrachii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Tüm kaslar kaldırılmış önkol (5 taze donmuş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41598_2020_63436_Fig1_HTML.jpg"/>
          <p:cNvPicPr>
            <a:picLocks noChangeAspect="1"/>
          </p:cNvPicPr>
          <p:nvPr/>
        </p:nvPicPr>
        <p:blipFill>
          <a:blip r:embed="rId2"/>
          <a:stretch>
            <a:fillRect/>
          </a:stretch>
        </p:blipFill>
        <p:spPr>
          <a:xfrm>
            <a:off x="274320" y="2088693"/>
            <a:ext cx="7086600" cy="3046373"/>
          </a:xfrm>
          <a:prstGeom prst="rect">
            <a:avLst/>
          </a:prstGeom>
        </p:spPr>
      </p:pic>
      <p:sp>
        <p:nvSpPr>
          <p:cNvPr id="8" name="TextBox 7"/>
          <p:cNvSpPr txBox="1"/>
          <p:nvPr/>
        </p:nvSpPr>
        <p:spPr>
          <a:xfrm>
            <a:off x="182879" y="5135066"/>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Carrillo Fabio ve ark., 2020 (PMC7156465,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IOM</a:t>
            </a:r>
            <a:r>
              <a:rPr sz="1050" b="0" i="0">
                <a:solidFill>
                  <a:srgbClr val="1F2A44"/>
                </a:solidFill>
                <a:latin typeface="Calibri"/>
              </a:rPr>
              <a:t> membrana interossea; </a:t>
            </a:r>
            <a:r>
              <a:rPr sz="1050" b="0" i="0">
                <a:solidFill>
                  <a:srgbClr val="1F2A44"/>
                </a:solidFill>
                <a:latin typeface="Calibri"/>
              </a:rPr>
              <a:t>DOB</a:t>
            </a:r>
            <a:r>
              <a:rPr sz="1050" b="0" i="0">
                <a:solidFill>
                  <a:srgbClr val="1F2A44"/>
                </a:solidFill>
                <a:latin typeface="Calibri"/>
              </a:rPr>
              <a:t> distal oblik demet; </a:t>
            </a:r>
            <a:r>
              <a:rPr sz="1050" b="0" i="0">
                <a:solidFill>
                  <a:srgbClr val="1F2A44"/>
                </a:solidFill>
                <a:latin typeface="Calibri"/>
              </a:rPr>
              <a:t>AB</a:t>
            </a:r>
            <a:r>
              <a:rPr sz="1050" b="0" i="0">
                <a:solidFill>
                  <a:srgbClr val="1F2A44"/>
                </a:solidFill>
                <a:latin typeface="Calibri"/>
              </a:rPr>
              <a:t> aksesuar demet; </a:t>
            </a:r>
            <a:r>
              <a:rPr sz="1050" b="0" i="0">
                <a:solidFill>
                  <a:srgbClr val="1F2A44"/>
                </a:solidFill>
                <a:latin typeface="Calibri"/>
              </a:rPr>
              <a:t>DOAC</a:t>
            </a:r>
            <a:r>
              <a:rPr sz="1050" b="0" i="0">
                <a:solidFill>
                  <a:srgbClr val="1F2A44"/>
                </a:solidFill>
                <a:latin typeface="Calibri"/>
              </a:rPr>
              <a:t> dorsal oblik aksesuar kordon; Ulna; Radius; CB santral bant; kırmızı = cerrahi klipsler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Distalden proksimale dört bağ yapısı: distal oblik demet (DOB), distal aksesuar bant (AB), </a:t>
            </a:r>
            <a:r>
              <a:rPr sz="1050" b="0" i="0">
                <a:solidFill>
                  <a:srgbClr val="1F2A44"/>
                </a:solidFill>
                <a:latin typeface="Calibri"/>
              </a:rPr>
              <a:t>santral bant (CB)</a:t>
            </a:r>
            <a:r>
              <a:rPr sz="1050" b="0" i="0">
                <a:solidFill>
                  <a:srgbClr val="1F2A44"/>
                </a:solidFill>
                <a:latin typeface="Calibri"/>
              </a:rPr>
              <a:t> ve dorsal oblik aksesuar kordon (DOAC).</a:t>
            </a:r>
          </a:p>
          <a:p>
            <a:pPr algn="l">
              <a:spcAft>
                <a:spcPts val="300"/>
              </a:spcAft>
            </a:pPr>
            <a:r>
              <a:rPr sz="1050" b="0" i="0">
                <a:solidFill>
                  <a:srgbClr val="1F2A44"/>
                </a:solidFill>
                <a:latin typeface="Calibri"/>
              </a:rPr>
              <a:t>• Santral bant yükü radius'tan ulna'ya aktarır; Essex-Lopresti yaralanmasında yırtılır.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Carrillo Fabio, Suter Simon, Casari Fabio A. et al. Digitalization of the IOM: A comprehensive cadaveric study for obtaining three-dimensional models and morphological properties of the forearm’s interosseous membrane. Sci Rep. 2020 Apr 14;10:6401. doi: 10.1038/s41598-020-63436-3 PMCID: PMC7156465.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arka kompartmanı ve retinaculum extensorum</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Sağ önkol, klasik anatomi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jfmk-09-00109-g001.jpg"/>
          <p:cNvPicPr>
            <a:picLocks noChangeAspect="1"/>
          </p:cNvPicPr>
          <p:nvPr/>
        </p:nvPicPr>
        <p:blipFill>
          <a:blip r:embed="rId2"/>
          <a:stretch>
            <a:fillRect/>
          </a:stretch>
        </p:blipFill>
        <p:spPr>
          <a:xfrm>
            <a:off x="2650601" y="1188720"/>
            <a:ext cx="2334036" cy="4846320"/>
          </a:xfrm>
          <a:prstGeom prst="rect">
            <a:avLst/>
          </a:prstGeom>
        </p:spPr>
      </p:pic>
      <p:sp>
        <p:nvSpPr>
          <p:cNvPr id="8" name="TextBox 7"/>
          <p:cNvSpPr txBox="1"/>
          <p:nvPr/>
        </p:nvSpPr>
        <p:spPr>
          <a:xfrm>
            <a:off x="2559161" y="6035040"/>
            <a:ext cx="251691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Coello Maria Amelia ve ark., 2024 (PMC11270274,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ER</a:t>
            </a:r>
            <a:r>
              <a:rPr sz="1050" b="0" i="0">
                <a:solidFill>
                  <a:srgbClr val="1F2A44"/>
                </a:solidFill>
                <a:latin typeface="Calibri"/>
              </a:rPr>
              <a:t> retinaculum extensorum; </a:t>
            </a:r>
            <a:r>
              <a:rPr sz="1050" b="0" i="0">
                <a:solidFill>
                  <a:srgbClr val="1F2A44"/>
                </a:solidFill>
                <a:latin typeface="Calibri"/>
              </a:rPr>
              <a:t>ECRL</a:t>
            </a:r>
            <a:r>
              <a:rPr sz="1050" b="0" i="0">
                <a:solidFill>
                  <a:srgbClr val="1F2A44"/>
                </a:solidFill>
                <a:latin typeface="Calibri"/>
              </a:rPr>
              <a:t> m. extensor carpi radialis longus; </a:t>
            </a:r>
            <a:r>
              <a:rPr sz="1050" b="0" i="0">
                <a:solidFill>
                  <a:srgbClr val="1F2A44"/>
                </a:solidFill>
                <a:latin typeface="Calibri"/>
              </a:rPr>
              <a:t>ECRB</a:t>
            </a:r>
            <a:r>
              <a:rPr sz="1050" b="0" i="0">
                <a:solidFill>
                  <a:srgbClr val="1F2A44"/>
                </a:solidFill>
                <a:latin typeface="Calibri"/>
              </a:rPr>
              <a:t> m. extensor carpi radialis brevis; </a:t>
            </a:r>
            <a:r>
              <a:rPr sz="1050" b="0" i="0">
                <a:solidFill>
                  <a:srgbClr val="1F2A44"/>
                </a:solidFill>
                <a:latin typeface="Calibri"/>
              </a:rPr>
              <a:t>EPL</a:t>
            </a:r>
            <a:r>
              <a:rPr sz="1050" b="0" i="0">
                <a:solidFill>
                  <a:srgbClr val="1F2A44"/>
                </a:solidFill>
                <a:latin typeface="Calibri"/>
              </a:rPr>
              <a:t> m. extensor pollicis longus; </a:t>
            </a:r>
            <a:r>
              <a:rPr sz="1050" b="0" i="0">
                <a:solidFill>
                  <a:srgbClr val="1F2A44"/>
                </a:solidFill>
                <a:latin typeface="Calibri"/>
              </a:rPr>
              <a:t>EPB</a:t>
            </a:r>
            <a:r>
              <a:rPr sz="1050" b="0" i="0">
                <a:solidFill>
                  <a:srgbClr val="1F2A44"/>
                </a:solidFill>
                <a:latin typeface="Calibri"/>
              </a:rPr>
              <a:t> m. extensor pollicis brevis; </a:t>
            </a:r>
            <a:r>
              <a:rPr sz="1050" b="0" i="0">
                <a:solidFill>
                  <a:srgbClr val="1F2A44"/>
                </a:solidFill>
                <a:latin typeface="Calibri"/>
              </a:rPr>
              <a:t>APL</a:t>
            </a:r>
            <a:r>
              <a:rPr sz="1050" b="0" i="0">
                <a:solidFill>
                  <a:srgbClr val="1F2A44"/>
                </a:solidFill>
                <a:latin typeface="Calibri"/>
              </a:rPr>
              <a:t> m. abductor pollicis longus; </a:t>
            </a:r>
            <a:r>
              <a:rPr sz="1050" b="0" i="0">
                <a:solidFill>
                  <a:srgbClr val="1F2A44"/>
                </a:solidFill>
                <a:latin typeface="Calibri"/>
              </a:rPr>
              <a:t>ED</a:t>
            </a:r>
            <a:r>
              <a:rPr sz="1050" b="0" i="0">
                <a:solidFill>
                  <a:srgbClr val="1F2A44"/>
                </a:solidFill>
                <a:latin typeface="Calibri"/>
              </a:rPr>
              <a:t> m. extensor digitorum</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Derin tabakadan çıkan APL ve EPB, ECRL/ECRB tendonlarını çaprazlayarak yüzeyelleşir ('outcropping' kaslar) – kesişim sendromu bölgesi.</a:t>
            </a:r>
          </a:p>
          <a:p>
            <a:pPr algn="l">
              <a:spcAft>
                <a:spcPts val="300"/>
              </a:spcAft>
            </a:pPr>
            <a:r>
              <a:rPr sz="1050" b="0" i="0">
                <a:solidFill>
                  <a:srgbClr val="1F2A44"/>
                </a:solidFill>
                <a:latin typeface="Calibri"/>
              </a:rPr>
              <a:t>• Tendonlar retinaculum extensorum altında 6 kompartmandan geçer (bkz. el bölümü).</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Coello Maria Amelia, Coomar Lokesh A., Campbell Meadow A Unique Bilateral Variation of the Extensor Carpi Radialis Longus: A Case Report. J Funct Morphol Kinesiol. 2024 Jun 25;9(3):109. doi: 10.3390/jfmk9030109 PMCID: PMC11270274.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Radial tünel ve 'Henry tasması'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Önkol ön yaklaşımı – intraoperatif görüntüler (canlı hasta)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eplasty14ic04_fig2.jpg"/>
          <p:cNvPicPr>
            <a:picLocks noChangeAspect="1"/>
          </p:cNvPicPr>
          <p:nvPr/>
        </p:nvPicPr>
        <p:blipFill>
          <a:blip r:embed="rId2"/>
          <a:stretch>
            <a:fillRect/>
          </a:stretch>
        </p:blipFill>
        <p:spPr>
          <a:xfrm>
            <a:off x="274320" y="1188720"/>
            <a:ext cx="3540280" cy="2777833"/>
          </a:xfrm>
          <a:prstGeom prst="rect">
            <a:avLst/>
          </a:prstGeom>
        </p:spPr>
      </p:pic>
      <p:sp>
        <p:nvSpPr>
          <p:cNvPr id="8" name="TextBox 7"/>
          <p:cNvSpPr txBox="1"/>
          <p:nvPr/>
        </p:nvSpPr>
        <p:spPr>
          <a:xfrm>
            <a:off x="182879" y="3966553"/>
            <a:ext cx="372316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Cha Jeon ve ark., 2014 (PMC3919107, CC BY)</a:t>
            </a:r>
          </a:p>
        </p:txBody>
      </p:sp>
      <p:pic>
        <p:nvPicPr>
          <p:cNvPr id="9" name="Picture 8" descr="eplasty14ic04_fig3.jpg"/>
          <p:cNvPicPr>
            <a:picLocks noChangeAspect="1"/>
          </p:cNvPicPr>
          <p:nvPr/>
        </p:nvPicPr>
        <p:blipFill>
          <a:blip r:embed="rId3"/>
          <a:stretch>
            <a:fillRect/>
          </a:stretch>
        </p:blipFill>
        <p:spPr>
          <a:xfrm>
            <a:off x="3951760" y="1188719"/>
            <a:ext cx="3409159" cy="2777833"/>
          </a:xfrm>
          <a:prstGeom prst="rect">
            <a:avLst/>
          </a:prstGeom>
        </p:spPr>
      </p:pic>
      <p:sp>
        <p:nvSpPr>
          <p:cNvPr id="10" name="TextBox 9"/>
          <p:cNvSpPr txBox="1"/>
          <p:nvPr/>
        </p:nvSpPr>
        <p:spPr>
          <a:xfrm>
            <a:off x="3860320" y="3966553"/>
            <a:ext cx="359203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Cha Jeon ve ark., 2014 (PMC3919107,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RA</a:t>
            </a:r>
            <a:r>
              <a:rPr sz="1050" b="0" i="0">
                <a:solidFill>
                  <a:srgbClr val="1F2A44"/>
                </a:solidFill>
                <a:latin typeface="Calibri"/>
              </a:rPr>
              <a:t> a. radialis;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SRN</a:t>
            </a:r>
            <a:r>
              <a:rPr sz="1050" b="0" i="0">
                <a:solidFill>
                  <a:srgbClr val="1F2A44"/>
                </a:solidFill>
                <a:latin typeface="Calibri"/>
              </a:rPr>
              <a:t> r. superficialis n. radialis; </a:t>
            </a:r>
            <a:r>
              <a:rPr sz="1050" b="0" i="0">
                <a:solidFill>
                  <a:srgbClr val="1F2A44"/>
                </a:solidFill>
                <a:latin typeface="Calibri"/>
              </a:rPr>
              <a:t>LH</a:t>
            </a:r>
            <a:r>
              <a:rPr sz="1050" b="0" i="0">
                <a:solidFill>
                  <a:srgbClr val="1F2A44"/>
                </a:solidFill>
                <a:latin typeface="Calibri"/>
              </a:rPr>
              <a:t> Henry tasması (a. recurrens radialis dalları); </a:t>
            </a:r>
            <a:r>
              <a:rPr sz="1050" b="0" i="0">
                <a:solidFill>
                  <a:srgbClr val="1F2A44"/>
                </a:solidFill>
                <a:latin typeface="Calibri"/>
              </a:rPr>
              <a:t>RT</a:t>
            </a:r>
            <a:r>
              <a:rPr sz="1050" b="0" i="0">
                <a:solidFill>
                  <a:srgbClr val="1F2A44"/>
                </a:solidFill>
                <a:latin typeface="Calibri"/>
              </a:rPr>
              <a:t> radial tünel</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Radial tünel radius başından m. supinator'un distal kenarına kadar ~5 cm uzanan potansiyel bir boşluktur.</a:t>
            </a:r>
          </a:p>
          <a:p>
            <a:pPr algn="l">
              <a:spcAft>
                <a:spcPts val="300"/>
              </a:spcAft>
            </a:pPr>
            <a:r>
              <a:rPr sz="1050" b="0" i="0">
                <a:solidFill>
                  <a:srgbClr val="1F2A44"/>
                </a:solidFill>
                <a:latin typeface="Calibri"/>
              </a:rPr>
              <a:t>• A. recurrens radialis dalları ('leash of Henry') tünelin çatısının bir parçasını oluşturur ve n. interosseus posterior'u sıkıştırabilir.</a:t>
            </a:r>
          </a:p>
          <a:p>
            <a:pPr algn="l">
              <a:spcAft>
                <a:spcPts val="300"/>
              </a:spcAft>
            </a:pPr>
            <a:r>
              <a:rPr sz="1050" b="0" i="0">
                <a:solidFill>
                  <a:srgbClr val="1F2A44"/>
                </a:solidFill>
                <a:latin typeface="Calibri"/>
              </a:rPr>
              <a:t>• Arcus Frohse nüfusun ~%30'unda fibrotendinözdür (aktarılan).</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Cha Jeon, York Blair, Tawfik John Posterior Interosseous Nerve Compression. Eplasty. 2014 Jan 31;14:ic4. PMCID: PMC3919107.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radialis'in sıkışma noktaları ve arcus Frohse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Şematik çizimler (derleme)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ŞEMA</a:t>
            </a:r>
          </a:p>
        </p:txBody>
      </p:sp>
      <p:pic>
        <p:nvPicPr>
          <p:cNvPr id="7" name="Picture 6" descr="10143_2023_1944_Fig1_HTML.jpg"/>
          <p:cNvPicPr>
            <a:picLocks noChangeAspect="1"/>
          </p:cNvPicPr>
          <p:nvPr/>
        </p:nvPicPr>
        <p:blipFill>
          <a:blip r:embed="rId2"/>
          <a:stretch>
            <a:fillRect/>
          </a:stretch>
        </p:blipFill>
        <p:spPr>
          <a:xfrm>
            <a:off x="274320" y="1188720"/>
            <a:ext cx="3294028" cy="4800600"/>
          </a:xfrm>
          <a:prstGeom prst="rect">
            <a:avLst/>
          </a:prstGeom>
        </p:spPr>
      </p:pic>
      <p:sp>
        <p:nvSpPr>
          <p:cNvPr id="8" name="TextBox 7"/>
          <p:cNvSpPr txBox="1"/>
          <p:nvPr/>
        </p:nvSpPr>
        <p:spPr>
          <a:xfrm>
            <a:off x="182879" y="5989320"/>
            <a:ext cx="347690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Węgiel Andrzej ve ark., 2023 (PMC9925568, CC BY)</a:t>
            </a:r>
          </a:p>
        </p:txBody>
      </p:sp>
      <p:pic>
        <p:nvPicPr>
          <p:cNvPr id="9" name="Picture 8" descr="10143_2023_1944_Fig3_HTML.jpg"/>
          <p:cNvPicPr>
            <a:picLocks noChangeAspect="1"/>
          </p:cNvPicPr>
          <p:nvPr/>
        </p:nvPicPr>
        <p:blipFill>
          <a:blip r:embed="rId3"/>
          <a:stretch>
            <a:fillRect/>
          </a:stretch>
        </p:blipFill>
        <p:spPr>
          <a:xfrm>
            <a:off x="3705508" y="1188720"/>
            <a:ext cx="3294028" cy="4800600"/>
          </a:xfrm>
          <a:prstGeom prst="rect">
            <a:avLst/>
          </a:prstGeom>
        </p:spPr>
      </p:pic>
      <p:sp>
        <p:nvSpPr>
          <p:cNvPr id="10" name="TextBox 9"/>
          <p:cNvSpPr txBox="1"/>
          <p:nvPr/>
        </p:nvSpPr>
        <p:spPr>
          <a:xfrm>
            <a:off x="3614068" y="5989320"/>
            <a:ext cx="347690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Węgiel Andrzej ve ark., 2023 (PMC9925568,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RN</a:t>
            </a:r>
            <a:r>
              <a:rPr sz="1050" b="0" i="0">
                <a:solidFill>
                  <a:srgbClr val="1F2A44"/>
                </a:solidFill>
                <a:latin typeface="Calibri"/>
              </a:rPr>
              <a:t> n. radialis; </a:t>
            </a:r>
            <a:r>
              <a:rPr sz="1050" b="0" i="0">
                <a:solidFill>
                  <a:srgbClr val="1F2A44"/>
                </a:solidFill>
                <a:latin typeface="Calibri"/>
              </a:rPr>
              <a:t>SBRN</a:t>
            </a:r>
            <a:r>
              <a:rPr sz="1050" b="0" i="0">
                <a:solidFill>
                  <a:srgbClr val="1F2A44"/>
                </a:solidFill>
                <a:latin typeface="Calibri"/>
              </a:rPr>
              <a:t> r. superficialis n. radialis; </a:t>
            </a:r>
            <a:r>
              <a:rPr sz="1050" b="0" i="0">
                <a:solidFill>
                  <a:srgbClr val="1F2A44"/>
                </a:solidFill>
                <a:latin typeface="Calibri"/>
              </a:rPr>
              <a:t>PIN</a:t>
            </a:r>
            <a:r>
              <a:rPr sz="1050" b="0" i="0">
                <a:solidFill>
                  <a:srgbClr val="1F2A44"/>
                </a:solidFill>
                <a:latin typeface="Calibri"/>
              </a:rPr>
              <a:t> n. interosseus posterior; </a:t>
            </a:r>
            <a:r>
              <a:rPr sz="1050" b="0" i="0">
                <a:solidFill>
                  <a:srgbClr val="1F2A44"/>
                </a:solidFill>
                <a:latin typeface="Calibri"/>
              </a:rPr>
              <a:t>ECRB</a:t>
            </a:r>
            <a:r>
              <a:rPr sz="1050" b="0" i="0">
                <a:solidFill>
                  <a:srgbClr val="1F2A44"/>
                </a:solidFill>
                <a:latin typeface="Calibri"/>
              </a:rPr>
              <a:t> m. extensor carpi radialis brevis; </a:t>
            </a:r>
            <a:r>
              <a:rPr sz="1050" b="0" i="0">
                <a:solidFill>
                  <a:srgbClr val="1F2A44"/>
                </a:solidFill>
                <a:latin typeface="Calibri"/>
              </a:rPr>
              <a:t>S</a:t>
            </a:r>
            <a:r>
              <a:rPr sz="1050" b="0" i="0">
                <a:solidFill>
                  <a:srgbClr val="1F2A44"/>
                </a:solidFill>
                <a:latin typeface="Calibri"/>
              </a:rPr>
              <a:t> m. supinator; </a:t>
            </a:r>
            <a:r>
              <a:rPr sz="1050" b="0" i="0">
                <a:solidFill>
                  <a:srgbClr val="1F2A44"/>
                </a:solidFill>
                <a:latin typeface="Calibri"/>
              </a:rPr>
              <a:t>1</a:t>
            </a:r>
            <a:r>
              <a:rPr sz="1050" b="0" i="0">
                <a:solidFill>
                  <a:srgbClr val="1F2A44"/>
                </a:solidFill>
                <a:latin typeface="Calibri"/>
              </a:rPr>
              <a:t> fibröz doku; </a:t>
            </a:r>
            <a:r>
              <a:rPr sz="1050" b="0" i="0">
                <a:solidFill>
                  <a:srgbClr val="1F2A44"/>
                </a:solidFill>
                <a:latin typeface="Calibri"/>
              </a:rPr>
              <a:t>2</a:t>
            </a:r>
            <a:r>
              <a:rPr sz="1050" b="0" i="0">
                <a:solidFill>
                  <a:srgbClr val="1F2A44"/>
                </a:solidFill>
                <a:latin typeface="Calibri"/>
              </a:rPr>
              <a:t> a. recurrens radialis damarları; </a:t>
            </a:r>
            <a:r>
              <a:rPr sz="1050" b="0" i="0">
                <a:solidFill>
                  <a:srgbClr val="1F2A44"/>
                </a:solidFill>
                <a:latin typeface="Calibri"/>
              </a:rPr>
              <a:t>3</a:t>
            </a:r>
            <a:r>
              <a:rPr sz="1050" b="0" i="0">
                <a:solidFill>
                  <a:srgbClr val="1F2A44"/>
                </a:solidFill>
                <a:latin typeface="Calibri"/>
              </a:rPr>
              <a:t> ECRB kenarı; </a:t>
            </a:r>
            <a:r>
              <a:rPr sz="1050" b="0" i="0">
                <a:solidFill>
                  <a:srgbClr val="1F2A44"/>
                </a:solidFill>
                <a:latin typeface="Calibri"/>
              </a:rPr>
              <a:t>4</a:t>
            </a:r>
            <a:r>
              <a:rPr sz="1050" b="0" i="0">
                <a:solidFill>
                  <a:srgbClr val="1F2A44"/>
                </a:solidFill>
                <a:latin typeface="Calibri"/>
              </a:rPr>
              <a:t> m. supinator proksimal kenarı (arcus Frohse); </a:t>
            </a:r>
            <a:r>
              <a:rPr sz="1050" b="0" i="0">
                <a:solidFill>
                  <a:srgbClr val="1F2A44"/>
                </a:solidFill>
                <a:latin typeface="Calibri"/>
              </a:rPr>
              <a:t>5</a:t>
            </a:r>
            <a:r>
              <a:rPr sz="1050" b="0" i="0">
                <a:solidFill>
                  <a:srgbClr val="1F2A44"/>
                </a:solidFill>
                <a:latin typeface="Calibri"/>
              </a:rPr>
              <a:t> m. supinator distal kenarı</a:t>
            </a:r>
          </a:p>
          <a:p>
            <a:pPr algn="l">
              <a:spcAft>
                <a:spcPts val="300"/>
              </a:spcAft>
            </a:pPr>
            <a:r>
              <a:rPr sz="1050" b="0" i="0">
                <a:solidFill>
                  <a:srgbClr val="1F2A44"/>
                </a:solidFill>
                <a:latin typeface="Calibri"/>
              </a:rPr>
              <a:t>• Şekil 3: </a:t>
            </a:r>
            <a:r>
              <a:rPr sz="1050" b="0" i="0">
                <a:solidFill>
                  <a:srgbClr val="1F2A44"/>
                </a:solidFill>
                <a:latin typeface="Calibri"/>
              </a:rPr>
              <a:t>AF</a:t>
            </a:r>
            <a:r>
              <a:rPr sz="1050" b="0" i="0">
                <a:solidFill>
                  <a:srgbClr val="1F2A44"/>
                </a:solidFill>
                <a:latin typeface="Calibri"/>
              </a:rPr>
              <a:t> arcus Frohse; </a:t>
            </a:r>
            <a:r>
              <a:rPr sz="1050" b="0" i="0">
                <a:solidFill>
                  <a:srgbClr val="1F2A44"/>
                </a:solidFill>
                <a:latin typeface="Calibri"/>
              </a:rPr>
              <a:t>SLSM</a:t>
            </a:r>
            <a:r>
              <a:rPr sz="1050" b="0" i="0">
                <a:solidFill>
                  <a:srgbClr val="1F2A44"/>
                </a:solidFill>
                <a:latin typeface="Calibri"/>
              </a:rPr>
              <a:t> m. supinator yüzeyel tabaka; </a:t>
            </a:r>
            <a:r>
              <a:rPr sz="1050" b="0" i="0">
                <a:solidFill>
                  <a:srgbClr val="1F2A44"/>
                </a:solidFill>
                <a:latin typeface="Calibri"/>
              </a:rPr>
              <a:t>DLSM</a:t>
            </a:r>
            <a:r>
              <a:rPr sz="1050" b="0" i="0">
                <a:solidFill>
                  <a:srgbClr val="1F2A44"/>
                </a:solidFill>
                <a:latin typeface="Calibri"/>
              </a:rPr>
              <a:t> m. supinator derin tabaka; </a:t>
            </a:r>
            <a:r>
              <a:rPr sz="1050" b="0" i="0">
                <a:solidFill>
                  <a:srgbClr val="1F2A44"/>
                </a:solidFill>
                <a:latin typeface="Calibri"/>
              </a:rPr>
              <a:t>BRM</a:t>
            </a:r>
            <a:r>
              <a:rPr sz="1050" b="0" i="0">
                <a:solidFill>
                  <a:srgbClr val="1F2A44"/>
                </a:solidFill>
                <a:latin typeface="Calibri"/>
              </a:rPr>
              <a:t> m. brachioradialis; </a:t>
            </a:r>
            <a:r>
              <a:rPr sz="1050" b="0" i="0">
                <a:solidFill>
                  <a:srgbClr val="1F2A44"/>
                </a:solidFill>
                <a:latin typeface="Calibri"/>
              </a:rPr>
              <a:t>PIN</a:t>
            </a:r>
            <a:r>
              <a:rPr sz="1050" b="0" i="0">
                <a:solidFill>
                  <a:srgbClr val="1F2A44"/>
                </a:solidFill>
                <a:latin typeface="Calibri"/>
              </a:rPr>
              <a:t> n. interosseus posterior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Arcus Frohse tipleri: tendinöz %64,10, kas–tendinöz %21,70, kas %12,30, membranöz %1,90 (derlemede tablolanan).</a:t>
            </a:r>
          </a:p>
          <a:p>
            <a:pPr algn="l">
              <a:spcAft>
                <a:spcPts val="300"/>
              </a:spcAft>
            </a:pPr>
            <a:r>
              <a:rPr sz="1050" b="0" i="0">
                <a:solidFill>
                  <a:srgbClr val="1F2A44"/>
                </a:solidFill>
                <a:latin typeface="Calibri"/>
              </a:rPr>
              <a:t>• Şekil: yarım daire %64, eğik uzamış %29, yarı oval %7.</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Węgiel Andrzej, Karauda Piotr, Zielinska Nicol et al. Radial nerve compression: anatomical perspective and clinical consequences. Neurosurg Rev. 2023 Feb 13;46(1):53. doi: 10.1007/s10143-023-01944-2 PMCID: PMC9925568.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radialis'in bölünmesi ve n. interosseus posterior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Qawasmi ve ark., Surg Radiol Anat 2025 – 29 taze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276_2025_3728_Fig4_HTML.jpg"/>
          <p:cNvPicPr>
            <a:picLocks noChangeAspect="1"/>
          </p:cNvPicPr>
          <p:nvPr/>
        </p:nvPicPr>
        <p:blipFill>
          <a:blip r:embed="rId2"/>
          <a:stretch>
            <a:fillRect/>
          </a:stretch>
        </p:blipFill>
        <p:spPr>
          <a:xfrm>
            <a:off x="274320" y="1188720"/>
            <a:ext cx="3723093" cy="3717312"/>
          </a:xfrm>
          <a:prstGeom prst="rect">
            <a:avLst/>
          </a:prstGeom>
        </p:spPr>
      </p:pic>
      <p:sp>
        <p:nvSpPr>
          <p:cNvPr id="8" name="TextBox 7"/>
          <p:cNvSpPr txBox="1"/>
          <p:nvPr/>
        </p:nvSpPr>
        <p:spPr>
          <a:xfrm>
            <a:off x="182880" y="4906032"/>
            <a:ext cx="3905973"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4 – Qawasmi Feras ve ark., 2025 (PMC12500735, CC BY)</a:t>
            </a:r>
          </a:p>
        </p:txBody>
      </p:sp>
      <p:pic>
        <p:nvPicPr>
          <p:cNvPr id="9" name="Picture 8" descr="276_2025_3728_Fig6_HTML.jpg"/>
          <p:cNvPicPr>
            <a:picLocks noChangeAspect="1"/>
          </p:cNvPicPr>
          <p:nvPr/>
        </p:nvPicPr>
        <p:blipFill>
          <a:blip r:embed="rId3"/>
          <a:stretch>
            <a:fillRect/>
          </a:stretch>
        </p:blipFill>
        <p:spPr>
          <a:xfrm>
            <a:off x="4134573" y="1188720"/>
            <a:ext cx="3226346" cy="3717312"/>
          </a:xfrm>
          <a:prstGeom prst="rect">
            <a:avLst/>
          </a:prstGeom>
        </p:spPr>
      </p:pic>
      <p:sp>
        <p:nvSpPr>
          <p:cNvPr id="10" name="TextBox 9"/>
          <p:cNvSpPr txBox="1"/>
          <p:nvPr/>
        </p:nvSpPr>
        <p:spPr>
          <a:xfrm>
            <a:off x="4043133" y="4906032"/>
            <a:ext cx="340922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6 – Qawasmi Feras ve ark., 2025 (PMC12500735,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4: pembe iğne art. humeroradialis düzeyinde; ★ r. superficialis; ■ PIN; ● ECRB dalı</a:t>
            </a:r>
          </a:p>
          <a:p>
            <a:pPr algn="l">
              <a:spcAft>
                <a:spcPts val="300"/>
              </a:spcAft>
            </a:pPr>
            <a:r>
              <a:rPr sz="1050" b="0" i="0">
                <a:solidFill>
                  <a:srgbClr val="1F2A44"/>
                </a:solidFill>
                <a:latin typeface="Calibri"/>
              </a:rPr>
              <a:t>• Şekil 6: ■ PIN, Supinator, Biceps tendon, Radial tuberosity</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 radialis art. humeroradialis'in </a:t>
            </a:r>
            <a:r>
              <a:rPr sz="1050" b="0" i="0">
                <a:solidFill>
                  <a:srgbClr val="1F2A44"/>
                </a:solidFill>
                <a:latin typeface="Calibri"/>
              </a:rPr>
              <a:t>5 ± 3 mm</a:t>
            </a:r>
            <a:r>
              <a:rPr sz="1050" b="0" i="0">
                <a:solidFill>
                  <a:srgbClr val="1F2A44"/>
                </a:solidFill>
                <a:latin typeface="Calibri"/>
              </a:rPr>
              <a:t> proksimalinde bölünür; PIN Frohse arkadına eklemin </a:t>
            </a:r>
            <a:r>
              <a:rPr sz="1050" b="0" i="0">
                <a:solidFill>
                  <a:srgbClr val="1F2A44"/>
                </a:solidFill>
                <a:latin typeface="Calibri"/>
              </a:rPr>
              <a:t>22 ± 1 mm</a:t>
            </a:r>
            <a:r>
              <a:rPr sz="1050" b="0" i="0">
                <a:solidFill>
                  <a:srgbClr val="1F2A44"/>
                </a:solidFill>
                <a:latin typeface="Calibri"/>
              </a:rPr>
              <a:t> distalinde girer.</a:t>
            </a:r>
          </a:p>
          <a:p>
            <a:pPr algn="l">
              <a:spcAft>
                <a:spcPts val="300"/>
              </a:spcAft>
            </a:pPr>
            <a:r>
              <a:rPr sz="1050" b="0" i="0">
                <a:solidFill>
                  <a:srgbClr val="1F2A44"/>
                </a:solidFill>
                <a:latin typeface="Calibri"/>
              </a:rPr>
              <a:t>• PIN, tuberositas radii'den pronasyonda 13 ± 2 mm, supinasyonda 19 ± 2 mm uzaktadır.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Qawasmi Feras, Goss Mark, Shweiki Fadi et al. Anatomical considerations for safe retractor placement in distal biceps repair: a cadaveric study of the posterior interosseous nerve. Surg Radiol Anat. 2025 Oct 6;47(1):223. doi: 10.1007/s00276-025-03728-3 PMCID: PMC12500735.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bölgesi – klinik bağlantılar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Topografinin klinik karşılıkları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26A00"/>
          </a:solidFill>
        </p:spPr>
        <p:txBody>
          <a:bodyPr wrap="square" anchor="ctr" lIns="45720" rIns="45720" tIns="18288" bIns="18288">
            <a:spAutoFit/>
          </a:bodyPr>
          <a:lstStyle/>
          <a:p>
            <a:pPr algn="ctr"/>
            <a:r>
              <a:rPr sz="950" b="1" i="0">
                <a:solidFill>
                  <a:srgbClr val="FFFFFF"/>
                </a:solidFill>
                <a:latin typeface="Calibri"/>
              </a:rPr>
              <a:t>KLİNİK BAĞLANTI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Lateral epikondilit ('tenisçi dirseği'):</a:t>
            </a:r>
            <a:r>
              <a:rPr sz="1650" b="0" i="0">
                <a:solidFill>
                  <a:srgbClr val="1F2A44"/>
                </a:solidFill>
                <a:latin typeface="Calibri"/>
              </a:rPr>
              <a:t> ortak ekstensör kökeninin (özellikle ECRB) dejenerasyonu; </a:t>
            </a:r>
            <a:r>
              <a:rPr sz="1650" b="0" i="0">
                <a:solidFill>
                  <a:srgbClr val="1F2A44"/>
                </a:solidFill>
                <a:latin typeface="Calibri"/>
              </a:rPr>
              <a:t>medial epikondilit</a:t>
            </a:r>
            <a:r>
              <a:rPr sz="1650" b="0" i="0">
                <a:solidFill>
                  <a:srgbClr val="1F2A44"/>
                </a:solidFill>
                <a:latin typeface="Calibri"/>
              </a:rPr>
              <a:t>: ortak fleksör kökeni.</a:t>
            </a:r>
          </a:p>
          <a:p>
            <a:pPr algn="l">
              <a:spcAft>
                <a:spcPts val="300"/>
              </a:spcAft>
            </a:pPr>
            <a:r>
              <a:rPr sz="1650" b="0" i="0">
                <a:solidFill>
                  <a:srgbClr val="1F2A44"/>
                </a:solidFill>
                <a:latin typeface="Calibri"/>
              </a:rPr>
              <a:t>• </a:t>
            </a:r>
            <a:r>
              <a:rPr sz="1650" b="0" i="0">
                <a:solidFill>
                  <a:srgbClr val="1F2A44"/>
                </a:solidFill>
                <a:latin typeface="Calibri"/>
              </a:rPr>
              <a:t>Kubital tünel sendromu:</a:t>
            </a:r>
            <a:r>
              <a:rPr sz="1650" b="0" i="0">
                <a:solidFill>
                  <a:srgbClr val="1F2A44"/>
                </a:solidFill>
                <a:latin typeface="Calibri"/>
              </a:rPr>
              <a:t> 4.–5. parmaklarda uyuşma, intrinsik kas zayıflığı; ikinci en sık tuzak nöropati.</a:t>
            </a:r>
          </a:p>
          <a:p>
            <a:pPr algn="l">
              <a:spcAft>
                <a:spcPts val="300"/>
              </a:spcAft>
            </a:pPr>
            <a:r>
              <a:rPr sz="1650" b="0" i="0">
                <a:solidFill>
                  <a:srgbClr val="1F2A44"/>
                </a:solidFill>
                <a:latin typeface="Calibri"/>
              </a:rPr>
              <a:t>• </a:t>
            </a:r>
            <a:r>
              <a:rPr sz="1650" b="0" i="0">
                <a:solidFill>
                  <a:srgbClr val="1F2A44"/>
                </a:solidFill>
                <a:latin typeface="Calibri"/>
              </a:rPr>
              <a:t>Önkol kompartman sendromu:</a:t>
            </a:r>
            <a:r>
              <a:rPr sz="1650" b="0" i="0">
                <a:solidFill>
                  <a:srgbClr val="1F2A44"/>
                </a:solidFill>
                <a:latin typeface="Calibri"/>
              </a:rPr>
              <a:t> özellikle derin fleksör kompartman; acil fasiyotomi gerektirir.</a:t>
            </a:r>
          </a:p>
          <a:p>
            <a:pPr algn="l">
              <a:spcAft>
                <a:spcPts val="300"/>
              </a:spcAft>
            </a:pPr>
            <a:r>
              <a:rPr sz="1650" b="0" i="0">
                <a:solidFill>
                  <a:srgbClr val="1F2A44"/>
                </a:solidFill>
                <a:latin typeface="Calibri"/>
              </a:rPr>
              <a:t>• </a:t>
            </a:r>
            <a:r>
              <a:rPr sz="1650" b="0" i="0">
                <a:solidFill>
                  <a:srgbClr val="1F2A44"/>
                </a:solidFill>
                <a:latin typeface="Calibri"/>
              </a:rPr>
              <a:t>Monteggia</a:t>
            </a:r>
            <a:r>
              <a:rPr sz="1650" b="0" i="0">
                <a:solidFill>
                  <a:srgbClr val="1F2A44"/>
                </a:solidFill>
                <a:latin typeface="Calibri"/>
              </a:rPr>
              <a:t> (ulna kırığı + radius başı çıkığı) ve </a:t>
            </a:r>
            <a:r>
              <a:rPr sz="1650" b="0" i="0">
                <a:solidFill>
                  <a:srgbClr val="1F2A44"/>
                </a:solidFill>
                <a:latin typeface="Calibri"/>
              </a:rPr>
              <a:t>Galeazzi</a:t>
            </a:r>
            <a:r>
              <a:rPr sz="1650" b="0" i="0">
                <a:solidFill>
                  <a:srgbClr val="1F2A44"/>
                </a:solidFill>
                <a:latin typeface="Calibri"/>
              </a:rPr>
              <a:t> (radius kırığı + DRUJ çıkığı) kırıkları – önkolun 'halka' yapısı nedeniyle tek kemik kırığı çoğu kez eklem yaralanmasıyla birliktedir.</a:t>
            </a:r>
          </a:p>
          <a:p>
            <a:pPr algn="l">
              <a:spcAft>
                <a:spcPts val="300"/>
              </a:spcAft>
            </a:pPr>
            <a:r>
              <a:rPr sz="1650" b="0" i="0">
                <a:solidFill>
                  <a:srgbClr val="1F2A44"/>
                </a:solidFill>
                <a:latin typeface="Calibri"/>
              </a:rPr>
              <a:t>• </a:t>
            </a:r>
            <a:r>
              <a:rPr sz="1650" b="0" i="0">
                <a:solidFill>
                  <a:srgbClr val="1F2A44"/>
                </a:solidFill>
                <a:latin typeface="Calibri"/>
              </a:rPr>
              <a:t>Radial arter kateterizasyonu / flep:</a:t>
            </a:r>
            <a:r>
              <a:rPr sz="1650" b="0" i="0">
                <a:solidFill>
                  <a:srgbClr val="1F2A44"/>
                </a:solidFill>
                <a:latin typeface="Calibri"/>
              </a:rPr>
              <a:t> arteriyel varyasyonlar ve el dolaşımının (arcus palmares) yeterliliği değerlendirilmelidir.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bölgesi varyasyonları – literatür taraması (1/2)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84632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07720">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07720">
                <a:tc>
                  <a:txBody>
                    <a:bodyPr/>
                    <a:lstStyle/>
                    <a:p>
                      <a:r>
                        <a:rPr sz="1150" b="1">
                          <a:solidFill>
                            <a:srgbClr val="1F2A44"/>
                          </a:solidFill>
                          <a:latin typeface="Calibri"/>
                        </a:rPr>
                        <a:t>M. pronator teres başları – n. medianus</a:t>
                      </a:r>
                    </a:p>
                  </a:txBody>
                  <a:tcPr>
                    <a:solidFill>
                      <a:srgbClr val="F3F4F6"/>
                    </a:solidFill>
                  </a:tcPr>
                </a:tc>
                <a:tc>
                  <a:txBody>
                    <a:bodyPr/>
                    <a:lstStyle/>
                    <a:p>
                      <a:r>
                        <a:rPr sz="1150" b="0">
                          <a:solidFill>
                            <a:srgbClr val="1F2A44"/>
                          </a:solidFill>
                          <a:latin typeface="Calibri"/>
                        </a:rPr>
                        <a:t>Olewnik ve ark. 2017</a:t>
                      </a:r>
                    </a:p>
                  </a:txBody>
                  <a:tcPr>
                    <a:solidFill>
                      <a:srgbClr val="F3F4F6"/>
                    </a:solidFill>
                  </a:tcPr>
                </a:tc>
                <a:tc>
                  <a:txBody>
                    <a:bodyPr/>
                    <a:lstStyle/>
                    <a:p>
                      <a:r>
                        <a:rPr sz="1150" b="0">
                          <a:solidFill>
                            <a:srgbClr val="1F2A44"/>
                          </a:solidFill>
                          <a:latin typeface="Calibri"/>
                        </a:rPr>
                        <a:t>50 ekstremite</a:t>
                      </a:r>
                    </a:p>
                  </a:txBody>
                  <a:tcPr>
                    <a:solidFill>
                      <a:srgbClr val="F3F4F6"/>
                    </a:solidFill>
                  </a:tcPr>
                </a:tc>
                <a:tc>
                  <a:txBody>
                    <a:bodyPr/>
                    <a:lstStyle/>
                    <a:p>
                      <a:r>
                        <a:rPr sz="1150" b="0">
                          <a:solidFill>
                            <a:srgbClr val="1F2A44"/>
                          </a:solidFill>
                          <a:latin typeface="Calibri"/>
                        </a:rPr>
                        <a:t>Ulnar baş %86; MN başlar arasında %74, kasın altında %26</a:t>
                      </a:r>
                    </a:p>
                  </a:txBody>
                  <a:tcPr>
                    <a:solidFill>
                      <a:srgbClr val="F3F4F6"/>
                    </a:solidFill>
                  </a:tcPr>
                </a:tc>
                <a:tc>
                  <a:txBody>
                    <a:bodyPr/>
                    <a:lstStyle/>
                    <a:p>
                      <a:r>
                        <a:rPr sz="1150" b="0">
                          <a:solidFill>
                            <a:srgbClr val="1F2A44"/>
                          </a:solidFill>
                          <a:latin typeface="Calibri"/>
                        </a:rPr>
                        <a:t>Pronator sendromu</a:t>
                      </a:r>
                    </a:p>
                  </a:txBody>
                  <a:tcPr>
                    <a:solidFill>
                      <a:srgbClr val="F3F4F6"/>
                    </a:solidFill>
                  </a:tcPr>
                </a:tc>
              </a:tr>
              <a:tr h="807720">
                <a:tc>
                  <a:txBody>
                    <a:bodyPr/>
                    <a:lstStyle/>
                    <a:p>
                      <a:r>
                        <a:rPr sz="1150" b="1">
                          <a:solidFill>
                            <a:srgbClr val="1F2A44"/>
                          </a:solidFill>
                          <a:latin typeface="Calibri"/>
                        </a:rPr>
                        <a:t>Yüksek çıkışlı a. radialis</a:t>
                      </a:r>
                    </a:p>
                  </a:txBody>
                  <a:tcPr>
                    <a:solidFill>
                      <a:srgbClr val="FFFFFF"/>
                    </a:solidFill>
                  </a:tcPr>
                </a:tc>
                <a:tc>
                  <a:txBody>
                    <a:bodyPr/>
                    <a:lstStyle/>
                    <a:p>
                      <a:r>
                        <a:rPr sz="1150" b="0">
                          <a:solidFill>
                            <a:srgbClr val="1F2A44"/>
                          </a:solidFill>
                          <a:latin typeface="Calibri"/>
                        </a:rPr>
                        <a:t>Haładaj ve ark. 2018</a:t>
                      </a:r>
                    </a:p>
                  </a:txBody>
                  <a:tcPr>
                    <a:solidFill>
                      <a:srgbClr val="FFFFFF"/>
                    </a:solidFill>
                  </a:tcPr>
                </a:tc>
                <a:tc>
                  <a:txBody>
                    <a:bodyPr/>
                    <a:lstStyle/>
                    <a:p>
                      <a:r>
                        <a:rPr sz="1150" b="0">
                          <a:solidFill>
                            <a:srgbClr val="1F2A44"/>
                          </a:solidFill>
                          <a:latin typeface="Calibri"/>
                        </a:rPr>
                        <a:t>120 ekstremite</a:t>
                      </a:r>
                    </a:p>
                  </a:txBody>
                  <a:tcPr>
                    <a:solidFill>
                      <a:srgbClr val="FFFFFF"/>
                    </a:solidFill>
                  </a:tcPr>
                </a:tc>
                <a:tc>
                  <a:txBody>
                    <a:bodyPr/>
                    <a:lstStyle/>
                    <a:p>
                      <a:r>
                        <a:rPr sz="1150" b="0">
                          <a:solidFill>
                            <a:srgbClr val="1F2A44"/>
                          </a:solidFill>
                          <a:latin typeface="Calibri"/>
                        </a:rPr>
                        <a:t>%9,2; kubital anastomoz %54,6</a:t>
                      </a:r>
                    </a:p>
                  </a:txBody>
                  <a:tcPr>
                    <a:solidFill>
                      <a:srgbClr val="FFFFFF"/>
                    </a:solidFill>
                  </a:tcPr>
                </a:tc>
                <a:tc>
                  <a:txBody>
                    <a:bodyPr/>
                    <a:lstStyle/>
                    <a:p>
                      <a:r>
                        <a:rPr sz="1150" b="0">
                          <a:solidFill>
                            <a:srgbClr val="1F2A44"/>
                          </a:solidFill>
                          <a:latin typeface="Calibri"/>
                        </a:rPr>
                        <a:t>Radial erişim, flep</a:t>
                      </a:r>
                    </a:p>
                  </a:txBody>
                  <a:tcPr>
                    <a:solidFill>
                      <a:srgbClr val="FFFFFF"/>
                    </a:solidFill>
                  </a:tcPr>
                </a:tc>
              </a:tr>
              <a:tr h="807720">
                <a:tc>
                  <a:txBody>
                    <a:bodyPr/>
                    <a:lstStyle/>
                    <a:p>
                      <a:r>
                        <a:rPr sz="1150" b="1">
                          <a:solidFill>
                            <a:srgbClr val="1F2A44"/>
                          </a:solidFill>
                          <a:latin typeface="Calibri"/>
                        </a:rPr>
                        <a:t>A. ulnaris + a. radialis superficialis</a:t>
                      </a:r>
                    </a:p>
                  </a:txBody>
                  <a:tcPr>
                    <a:solidFill>
                      <a:srgbClr val="F3F4F6"/>
                    </a:solidFill>
                  </a:tcPr>
                </a:tc>
                <a:tc>
                  <a:txBody>
                    <a:bodyPr/>
                    <a:lstStyle/>
                    <a:p>
                      <a:r>
                        <a:rPr sz="1150" b="0">
                          <a:solidFill>
                            <a:srgbClr val="1F2A44"/>
                          </a:solidFill>
                          <a:latin typeface="Calibri"/>
                        </a:rPr>
                        <a:t>Miguel-Pérez ve ark. 2025</a:t>
                      </a:r>
                    </a:p>
                  </a:txBody>
                  <a:tcPr>
                    <a:solidFill>
                      <a:srgbClr val="F3F4F6"/>
                    </a:solidFill>
                  </a:tcPr>
                </a:tc>
                <a:tc>
                  <a:txBody>
                    <a:bodyPr/>
                    <a:lstStyle/>
                    <a:p>
                      <a:r>
                        <a:rPr sz="1150" b="0">
                          <a:solidFill>
                            <a:srgbClr val="1F2A44"/>
                          </a:solidFill>
                          <a:latin typeface="Calibri"/>
                        </a:rPr>
                        <a:t>150 ekstremite (US + diseksiyon)</a:t>
                      </a:r>
                    </a:p>
                  </a:txBody>
                  <a:tcPr>
                    <a:solidFill>
                      <a:srgbClr val="F3F4F6"/>
                    </a:solidFill>
                  </a:tcPr>
                </a:tc>
                <a:tc>
                  <a:txBody>
                    <a:bodyPr/>
                    <a:lstStyle/>
                    <a:p>
                      <a:r>
                        <a:rPr sz="1150" b="0">
                          <a:solidFill>
                            <a:srgbClr val="1F2A44"/>
                          </a:solidFill>
                          <a:latin typeface="Calibri"/>
                        </a:rPr>
                        <a:t>1 olgu (%0,66); SUA a. axillaris'ten</a:t>
                      </a:r>
                    </a:p>
                  </a:txBody>
                  <a:tcPr>
                    <a:solidFill>
                      <a:srgbClr val="F3F4F6"/>
                    </a:solidFill>
                  </a:tcPr>
                </a:tc>
                <a:tc>
                  <a:txBody>
                    <a:bodyPr/>
                    <a:lstStyle/>
                    <a:p>
                      <a:r>
                        <a:rPr sz="1150" b="0">
                          <a:solidFill>
                            <a:srgbClr val="1F2A44"/>
                          </a:solidFill>
                          <a:latin typeface="Calibri"/>
                        </a:rPr>
                        <a:t>İntraarteriyel enjeksiyon riski</a:t>
                      </a:r>
                    </a:p>
                  </a:txBody>
                  <a:tcPr>
                    <a:solidFill>
                      <a:srgbClr val="F3F4F6"/>
                    </a:solidFill>
                  </a:tcPr>
                </a:tc>
              </a:tr>
              <a:tr h="807720">
                <a:tc>
                  <a:txBody>
                    <a:bodyPr/>
                    <a:lstStyle/>
                    <a:p>
                      <a:r>
                        <a:rPr sz="1150" b="1">
                          <a:solidFill>
                            <a:srgbClr val="1F2A44"/>
                          </a:solidFill>
                          <a:latin typeface="Calibri"/>
                        </a:rPr>
                        <a:t>M. anconeus epitrochlearis</a:t>
                      </a:r>
                    </a:p>
                  </a:txBody>
                  <a:tcPr>
                    <a:solidFill>
                      <a:srgbClr val="FFFFFF"/>
                    </a:solidFill>
                  </a:tcPr>
                </a:tc>
                <a:tc>
                  <a:txBody>
                    <a:bodyPr/>
                    <a:lstStyle/>
                    <a:p>
                      <a:r>
                        <a:rPr sz="1150" b="0">
                          <a:solidFill>
                            <a:srgbClr val="1F2A44"/>
                          </a:solidFill>
                          <a:latin typeface="Calibri"/>
                        </a:rPr>
                        <a:t>Casteel ve ark. 2025</a:t>
                      </a:r>
                    </a:p>
                  </a:txBody>
                  <a:tcPr>
                    <a:solidFill>
                      <a:srgbClr val="FFFFFF"/>
                    </a:solidFill>
                  </a:tcPr>
                </a:tc>
                <a:tc>
                  <a:txBody>
                    <a:bodyPr/>
                    <a:lstStyle/>
                    <a:p>
                      <a:r>
                        <a:rPr sz="1150" b="0">
                          <a:solidFill>
                            <a:srgbClr val="1F2A44"/>
                          </a:solidFill>
                          <a:latin typeface="Calibri"/>
                        </a:rPr>
                        <a:t>Olgu</a:t>
                      </a:r>
                    </a:p>
                  </a:txBody>
                  <a:tcPr>
                    <a:solidFill>
                      <a:srgbClr val="FFFFFF"/>
                    </a:solidFill>
                  </a:tcPr>
                </a:tc>
                <a:tc>
                  <a:txBody>
                    <a:bodyPr/>
                    <a:lstStyle/>
                    <a:p>
                      <a:r>
                        <a:rPr sz="1150" b="0">
                          <a:solidFill>
                            <a:srgbClr val="1F2A44"/>
                          </a:solidFill>
                          <a:latin typeface="Calibri"/>
                        </a:rPr>
                        <a:t>Solda üç başlı; proksimal baş n. ulnaris'in derininde</a:t>
                      </a:r>
                    </a:p>
                  </a:txBody>
                  <a:tcPr>
                    <a:solidFill>
                      <a:srgbClr val="FFFFFF"/>
                    </a:solidFill>
                  </a:tcPr>
                </a:tc>
                <a:tc>
                  <a:txBody>
                    <a:bodyPr/>
                    <a:lstStyle/>
                    <a:p>
                      <a:r>
                        <a:rPr sz="1150" b="0">
                          <a:solidFill>
                            <a:srgbClr val="1F2A44"/>
                          </a:solidFill>
                          <a:latin typeface="Calibri"/>
                        </a:rPr>
                        <a:t>Kubital tünel sendromu</a:t>
                      </a:r>
                    </a:p>
                  </a:txBody>
                  <a:tcPr>
                    <a:solidFill>
                      <a:srgbClr val="FFFFFF"/>
                    </a:solidFill>
                  </a:tcPr>
                </a:tc>
              </a:tr>
              <a:tr h="807720">
                <a:tc>
                  <a:txBody>
                    <a:bodyPr/>
                    <a:lstStyle/>
                    <a:p>
                      <a:r>
                        <a:rPr sz="1150" b="1">
                          <a:solidFill>
                            <a:srgbClr val="1F2A44"/>
                          </a:solidFill>
                          <a:latin typeface="Calibri"/>
                        </a:rPr>
                        <a:t>A. mediana persistens</a:t>
                      </a:r>
                    </a:p>
                  </a:txBody>
                  <a:tcPr>
                    <a:solidFill>
                      <a:srgbClr val="F3F4F6"/>
                    </a:solidFill>
                  </a:tcPr>
                </a:tc>
                <a:tc>
                  <a:txBody>
                    <a:bodyPr/>
                    <a:lstStyle/>
                    <a:p>
                      <a:r>
                        <a:rPr sz="1150" b="0">
                          <a:solidFill>
                            <a:srgbClr val="1F2A44"/>
                          </a:solidFill>
                          <a:latin typeface="Calibri"/>
                        </a:rPr>
                        <a:t>Seth ve ark. 2026; Elhossiny ve ark. 2023</a:t>
                      </a:r>
                    </a:p>
                  </a:txBody>
                  <a:tcPr>
                    <a:solidFill>
                      <a:srgbClr val="F3F4F6"/>
                    </a:solidFill>
                  </a:tcPr>
                </a:tc>
                <a:tc>
                  <a:txBody>
                    <a:bodyPr/>
                    <a:lstStyle/>
                    <a:p>
                      <a:r>
                        <a:rPr sz="1150" b="0">
                          <a:solidFill>
                            <a:srgbClr val="1F2A44"/>
                          </a:solidFill>
                          <a:latin typeface="Calibri"/>
                        </a:rPr>
                        <a:t>23 ekstremite; olgu</a:t>
                      </a:r>
                    </a:p>
                  </a:txBody>
                  <a:tcPr>
                    <a:solidFill>
                      <a:srgbClr val="F3F4F6"/>
                    </a:solidFill>
                  </a:tcPr>
                </a:tc>
                <a:tc>
                  <a:txBody>
                    <a:bodyPr/>
                    <a:lstStyle/>
                    <a:p>
                      <a:r>
                        <a:rPr sz="1150" b="0">
                          <a:solidFill>
                            <a:srgbClr val="1F2A44"/>
                          </a:solidFill>
                          <a:latin typeface="Calibri"/>
                        </a:rPr>
                        <a:t>%34,8 (8/23); yarısı n. medianus'u deliyor; palmar tip %8,7</a:t>
                      </a:r>
                    </a:p>
                  </a:txBody>
                  <a:tcPr>
                    <a:solidFill>
                      <a:srgbClr val="F3F4F6"/>
                    </a:solidFill>
                  </a:tcPr>
                </a:tc>
                <a:tc>
                  <a:txBody>
                    <a:bodyPr/>
                    <a:lstStyle/>
                    <a:p>
                      <a:r>
                        <a:rPr sz="1150" b="0">
                          <a:solidFill>
                            <a:srgbClr val="1F2A44"/>
                          </a:solidFill>
                          <a:latin typeface="Calibri"/>
                        </a:rPr>
                        <a:t>Karpal tünel sendromu</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Önkol bölgesi varyasyonları – literatür taraması (2/2)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06908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13816">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13816">
                <a:tc>
                  <a:txBody>
                    <a:bodyPr/>
                    <a:lstStyle/>
                    <a:p>
                      <a:r>
                        <a:rPr sz="1150" b="1">
                          <a:solidFill>
                            <a:srgbClr val="1F2A44"/>
                          </a:solidFill>
                          <a:latin typeface="Calibri"/>
                        </a:rPr>
                        <a:t>N. radialis dal düzeni</a:t>
                      </a:r>
                    </a:p>
                  </a:txBody>
                  <a:tcPr>
                    <a:solidFill>
                      <a:srgbClr val="F3F4F6"/>
                    </a:solidFill>
                  </a:tcPr>
                </a:tc>
                <a:tc>
                  <a:txBody>
                    <a:bodyPr/>
                    <a:lstStyle/>
                    <a:p>
                      <a:r>
                        <a:rPr sz="1150" b="0">
                          <a:solidFill>
                            <a:srgbClr val="1F2A44"/>
                          </a:solidFill>
                          <a:latin typeface="Calibri"/>
                        </a:rPr>
                        <a:t>Sawyer ve ark. 2020</a:t>
                      </a:r>
                    </a:p>
                  </a:txBody>
                  <a:tcPr>
                    <a:solidFill>
                      <a:srgbClr val="F3F4F6"/>
                    </a:solidFill>
                  </a:tcPr>
                </a:tc>
                <a:tc>
                  <a:txBody>
                    <a:bodyPr/>
                    <a:lstStyle/>
                    <a:p>
                      <a:r>
                        <a:rPr sz="1150" b="0">
                          <a:solidFill>
                            <a:srgbClr val="1F2A44"/>
                          </a:solidFill>
                          <a:latin typeface="Calibri"/>
                        </a:rPr>
                        <a:t>35 kadavra</a:t>
                      </a:r>
                    </a:p>
                  </a:txBody>
                  <a:tcPr>
                    <a:solidFill>
                      <a:srgbClr val="F3F4F6"/>
                    </a:solidFill>
                  </a:tcPr>
                </a:tc>
                <a:tc>
                  <a:txBody>
                    <a:bodyPr/>
                    <a:lstStyle/>
                    <a:p>
                      <a:r>
                        <a:rPr sz="1150" b="0">
                          <a:solidFill>
                            <a:srgbClr val="1F2A44"/>
                          </a:solidFill>
                          <a:latin typeface="Calibri"/>
                        </a:rPr>
                        <a:t>m. brachialis'e dal %60; r. superficialis'ten ECRB dalı %25,7</a:t>
                      </a:r>
                    </a:p>
                  </a:txBody>
                  <a:tcPr>
                    <a:solidFill>
                      <a:srgbClr val="F3F4F6"/>
                    </a:solidFill>
                  </a:tcPr>
                </a:tc>
                <a:tc>
                  <a:txBody>
                    <a:bodyPr/>
                    <a:lstStyle/>
                    <a:p>
                      <a:r>
                        <a:rPr sz="1150" b="0">
                          <a:solidFill>
                            <a:srgbClr val="1F2A44"/>
                          </a:solidFill>
                          <a:latin typeface="Calibri"/>
                        </a:rPr>
                        <a:t>Sinir transferi, cerrahi</a:t>
                      </a:r>
                    </a:p>
                  </a:txBody>
                  <a:tcPr>
                    <a:solidFill>
                      <a:srgbClr val="F3F4F6"/>
                    </a:solidFill>
                  </a:tcPr>
                </a:tc>
              </a:tr>
              <a:tr h="813816">
                <a:tc>
                  <a:txBody>
                    <a:bodyPr/>
                    <a:lstStyle/>
                    <a:p>
                      <a:r>
                        <a:rPr sz="1150" b="1">
                          <a:solidFill>
                            <a:srgbClr val="1F2A44"/>
                          </a:solidFill>
                          <a:latin typeface="Calibri"/>
                        </a:rPr>
                        <a:t>Martin-Gruber anastomozu</a:t>
                      </a:r>
                    </a:p>
                  </a:txBody>
                  <a:tcPr>
                    <a:solidFill>
                      <a:srgbClr val="FFFFFF"/>
                    </a:solidFill>
                  </a:tcPr>
                </a:tc>
                <a:tc>
                  <a:txBody>
                    <a:bodyPr/>
                    <a:lstStyle/>
                    <a:p>
                      <a:r>
                        <a:rPr sz="1150" b="0">
                          <a:solidFill>
                            <a:srgbClr val="1F2A44"/>
                          </a:solidFill>
                          <a:latin typeface="Calibri"/>
                        </a:rPr>
                        <a:t>Tran ve ark. 2025</a:t>
                      </a:r>
                    </a:p>
                  </a:txBody>
                  <a:tcPr>
                    <a:solidFill>
                      <a:srgbClr val="FFFFFF"/>
                    </a:solidFill>
                  </a:tcPr>
                </a:tc>
                <a:tc>
                  <a:txBody>
                    <a:bodyPr/>
                    <a:lstStyle/>
                    <a:p>
                      <a:r>
                        <a:rPr sz="1150" b="0">
                          <a:solidFill>
                            <a:srgbClr val="1F2A44"/>
                          </a:solidFill>
                          <a:latin typeface="Calibri"/>
                        </a:rPr>
                        <a:t>101 önkol</a:t>
                      </a:r>
                    </a:p>
                  </a:txBody>
                  <a:tcPr>
                    <a:solidFill>
                      <a:srgbClr val="FFFFFF"/>
                    </a:solidFill>
                  </a:tcPr>
                </a:tc>
                <a:tc>
                  <a:txBody>
                    <a:bodyPr/>
                    <a:lstStyle/>
                    <a:p>
                      <a:r>
                        <a:rPr sz="1150" b="0">
                          <a:solidFill>
                            <a:srgbClr val="1F2A44"/>
                          </a:solidFill>
                          <a:latin typeface="Calibri"/>
                        </a:rPr>
                        <a:t>%37,6; Tip I %58, Tip III %32, Tip II %11</a:t>
                      </a:r>
                    </a:p>
                  </a:txBody>
                  <a:tcPr>
                    <a:solidFill>
                      <a:srgbClr val="FFFFFF"/>
                    </a:solidFill>
                  </a:tcPr>
                </a:tc>
                <a:tc>
                  <a:txBody>
                    <a:bodyPr/>
                    <a:lstStyle/>
                    <a:p>
                      <a:r>
                        <a:rPr sz="1150" b="0">
                          <a:solidFill>
                            <a:srgbClr val="1F2A44"/>
                          </a:solidFill>
                          <a:latin typeface="Calibri"/>
                        </a:rPr>
                        <a:t>Elektrofizyolojinin yanlış yorumu</a:t>
                      </a:r>
                    </a:p>
                  </a:txBody>
                  <a:tcPr>
                    <a:solidFill>
                      <a:srgbClr val="FFFFFF"/>
                    </a:solidFill>
                  </a:tcPr>
                </a:tc>
              </a:tr>
              <a:tr h="813816">
                <a:tc>
                  <a:txBody>
                    <a:bodyPr/>
                    <a:lstStyle/>
                    <a:p>
                      <a:r>
                        <a:rPr sz="1150" b="1">
                          <a:solidFill>
                            <a:srgbClr val="1F2A44"/>
                          </a:solidFill>
                          <a:latin typeface="Calibri"/>
                        </a:rPr>
                        <a:t>Gantzer kası (FPL aksesuar başı)</a:t>
                      </a:r>
                    </a:p>
                  </a:txBody>
                  <a:tcPr>
                    <a:solidFill>
                      <a:srgbClr val="F3F4F6"/>
                    </a:solidFill>
                  </a:tcPr>
                </a:tc>
                <a:tc>
                  <a:txBody>
                    <a:bodyPr/>
                    <a:lstStyle/>
                    <a:p>
                      <a:r>
                        <a:rPr sz="1150" b="0">
                          <a:solidFill>
                            <a:srgbClr val="1F2A44"/>
                          </a:solidFill>
                          <a:latin typeface="Calibri"/>
                        </a:rPr>
                        <a:t>Roy ve ark. 2015 (meta-analiz)</a:t>
                      </a:r>
                    </a:p>
                  </a:txBody>
                  <a:tcPr>
                    <a:solidFill>
                      <a:srgbClr val="F3F4F6"/>
                    </a:solidFill>
                  </a:tcPr>
                </a:tc>
                <a:tc>
                  <a:txBody>
                    <a:bodyPr/>
                    <a:lstStyle/>
                    <a:p>
                      <a:r>
                        <a:rPr sz="1150" b="0">
                          <a:solidFill>
                            <a:srgbClr val="1F2A44"/>
                          </a:solidFill>
                          <a:latin typeface="Calibri"/>
                        </a:rPr>
                        <a:t>24 çalışma, 2358 ekstremite</a:t>
                      </a:r>
                    </a:p>
                  </a:txBody>
                  <a:tcPr>
                    <a:solidFill>
                      <a:srgbClr val="F3F4F6"/>
                    </a:solidFill>
                  </a:tcPr>
                </a:tc>
                <a:tc>
                  <a:txBody>
                    <a:bodyPr/>
                    <a:lstStyle/>
                    <a:p>
                      <a:r>
                        <a:rPr sz="1150" b="0">
                          <a:solidFill>
                            <a:srgbClr val="1F2A44"/>
                          </a:solidFill>
                          <a:latin typeface="Calibri"/>
                        </a:rPr>
                        <a:t>Havuzlanmış prevalans %44,2; AIN innervasyonu %97,3</a:t>
                      </a:r>
                    </a:p>
                  </a:txBody>
                  <a:tcPr>
                    <a:solidFill>
                      <a:srgbClr val="F3F4F6"/>
                    </a:solidFill>
                  </a:tcPr>
                </a:tc>
                <a:tc>
                  <a:txBody>
                    <a:bodyPr/>
                    <a:lstStyle/>
                    <a:p>
                      <a:r>
                        <a:rPr sz="1150" b="0">
                          <a:solidFill>
                            <a:srgbClr val="1F2A44"/>
                          </a:solidFill>
                          <a:latin typeface="Calibri"/>
                        </a:rPr>
                        <a:t>AIN sıkışması</a:t>
                      </a:r>
                    </a:p>
                  </a:txBody>
                  <a:tcPr>
                    <a:solidFill>
                      <a:srgbClr val="F3F4F6"/>
                    </a:solidFill>
                  </a:tcPr>
                </a:tc>
              </a:tr>
              <a:tr h="813816">
                <a:tc>
                  <a:txBody>
                    <a:bodyPr/>
                    <a:lstStyle/>
                    <a:p>
                      <a:r>
                        <a:rPr sz="1150" b="1">
                          <a:solidFill>
                            <a:srgbClr val="1F2A44"/>
                          </a:solidFill>
                          <a:latin typeface="Calibri"/>
                        </a:rPr>
                        <a:t>M. palmaris longus reversus</a:t>
                      </a:r>
                    </a:p>
                  </a:txBody>
                  <a:tcPr>
                    <a:solidFill>
                      <a:srgbClr val="FFFFFF"/>
                    </a:solidFill>
                  </a:tcPr>
                </a:tc>
                <a:tc>
                  <a:txBody>
                    <a:bodyPr/>
                    <a:lstStyle/>
                    <a:p>
                      <a:r>
                        <a:rPr sz="1150" b="0">
                          <a:solidFill>
                            <a:srgbClr val="1F2A44"/>
                          </a:solidFill>
                          <a:latin typeface="Calibri"/>
                        </a:rPr>
                        <a:t>Longhurst ve ark. 2019; Behiery ve ark. 2023</a:t>
                      </a:r>
                    </a:p>
                  </a:txBody>
                  <a:tcPr>
                    <a:solidFill>
                      <a:srgbClr val="FFFFFF"/>
                    </a:solidFill>
                  </a:tcPr>
                </a:tc>
                <a:tc>
                  <a:txBody>
                    <a:bodyPr/>
                    <a:lstStyle/>
                    <a:p>
                      <a:r>
                        <a:rPr sz="1150" b="0">
                          <a:solidFill>
                            <a:srgbClr val="1F2A44"/>
                          </a:solidFill>
                          <a:latin typeface="Calibri"/>
                        </a:rPr>
                        <a:t>Olgu + sistematik derleme</a:t>
                      </a:r>
                    </a:p>
                  </a:txBody>
                  <a:tcPr>
                    <a:solidFill>
                      <a:srgbClr val="FFFFFF"/>
                    </a:solidFill>
                  </a:tcPr>
                </a:tc>
                <a:tc>
                  <a:txBody>
                    <a:bodyPr/>
                    <a:lstStyle/>
                    <a:p>
                      <a:r>
                        <a:rPr sz="1150" b="0">
                          <a:solidFill>
                            <a:srgbClr val="1F2A44"/>
                          </a:solidFill>
                          <a:latin typeface="Calibri"/>
                        </a:rPr>
                        <a:t>Sağ tarafta %70,8; agenezi dünya genelinde %20,25</a:t>
                      </a:r>
                    </a:p>
                  </a:txBody>
                  <a:tcPr>
                    <a:solidFill>
                      <a:srgbClr val="FFFFFF"/>
                    </a:solidFill>
                  </a:tcPr>
                </a:tc>
                <a:tc>
                  <a:txBody>
                    <a:bodyPr/>
                    <a:lstStyle/>
                    <a:p>
                      <a:r>
                        <a:rPr sz="1150" b="0">
                          <a:solidFill>
                            <a:srgbClr val="1F2A44"/>
                          </a:solidFill>
                          <a:latin typeface="Calibri"/>
                        </a:rPr>
                        <a:t>Tendon grefti; karpal tünel basısı</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pronator teres başları ve n. medianus'un seyri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Olewnik ve ark., Anat Sci Int 2017 – 50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2565_2017_413_Fig3_HTML.jpg"/>
          <p:cNvPicPr>
            <a:picLocks noChangeAspect="1"/>
          </p:cNvPicPr>
          <p:nvPr/>
        </p:nvPicPr>
        <p:blipFill>
          <a:blip r:embed="rId2"/>
          <a:stretch>
            <a:fillRect/>
          </a:stretch>
        </p:blipFill>
        <p:spPr>
          <a:xfrm>
            <a:off x="2622890" y="1188720"/>
            <a:ext cx="2389458" cy="4846320"/>
          </a:xfrm>
          <a:prstGeom prst="rect">
            <a:avLst/>
          </a:prstGeom>
        </p:spPr>
      </p:pic>
      <p:sp>
        <p:nvSpPr>
          <p:cNvPr id="8" name="TextBox 7"/>
          <p:cNvSpPr txBox="1"/>
          <p:nvPr/>
        </p:nvSpPr>
        <p:spPr>
          <a:xfrm>
            <a:off x="2531450" y="6035040"/>
            <a:ext cx="257233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Olewnik Łukasz ve ark., 2017 (PMC5797209,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hhPT</a:t>
            </a:r>
            <a:r>
              <a:rPr sz="1050" b="0" i="0">
                <a:solidFill>
                  <a:srgbClr val="1F2A44"/>
                </a:solidFill>
                <a:latin typeface="Calibri"/>
              </a:rPr>
              <a:t> caput humerale m. pronatoris teretis; </a:t>
            </a:r>
            <a:r>
              <a:rPr sz="1050" b="0" i="0">
                <a:solidFill>
                  <a:srgbClr val="1F2A44"/>
                </a:solidFill>
                <a:latin typeface="Calibri"/>
              </a:rPr>
              <a:t>PT</a:t>
            </a:r>
            <a:r>
              <a:rPr sz="1050" b="0" i="0">
                <a:solidFill>
                  <a:srgbClr val="1F2A44"/>
                </a:solidFill>
                <a:latin typeface="Calibri"/>
              </a:rPr>
              <a:t> m. pronator teres; </a:t>
            </a:r>
            <a:r>
              <a:rPr sz="1050" b="0" i="0">
                <a:solidFill>
                  <a:srgbClr val="1F2A44"/>
                </a:solidFill>
                <a:latin typeface="Calibri"/>
              </a:rPr>
              <a:t>MN</a:t>
            </a:r>
            <a:r>
              <a:rPr sz="1050" b="0" i="0">
                <a:solidFill>
                  <a:srgbClr val="1F2A44"/>
                </a:solidFill>
                <a:latin typeface="Calibri"/>
              </a:rPr>
              <a:t> n. medianus; ***** caput ulnare; a–c farklı seyir tipleri (şekildeki '1 mm' ölçek çubuğu güvenilir değildir)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Caput ulnare </a:t>
            </a:r>
            <a:r>
              <a:rPr sz="1050" b="0" i="0">
                <a:solidFill>
                  <a:srgbClr val="1F2A44"/>
                </a:solidFill>
                <a:latin typeface="Calibri"/>
              </a:rPr>
              <a:t>%86</a:t>
            </a:r>
            <a:r>
              <a:rPr sz="1050" b="0" i="0">
                <a:solidFill>
                  <a:srgbClr val="1F2A44"/>
                </a:solidFill>
                <a:latin typeface="Calibri"/>
              </a:rPr>
              <a:t> (43/50) ekstremitede mevcut.</a:t>
            </a:r>
          </a:p>
          <a:p>
            <a:pPr algn="l">
              <a:spcAft>
                <a:spcPts val="300"/>
              </a:spcAft>
            </a:pPr>
            <a:r>
              <a:rPr sz="1050" b="0" i="0">
                <a:solidFill>
                  <a:srgbClr val="1F2A44"/>
                </a:solidFill>
                <a:latin typeface="Calibri"/>
              </a:rPr>
              <a:t>• N. medianus başlar arasından </a:t>
            </a:r>
            <a:r>
              <a:rPr sz="1050" b="0" i="0">
                <a:solidFill>
                  <a:srgbClr val="1F2A44"/>
                </a:solidFill>
                <a:latin typeface="Calibri"/>
              </a:rPr>
              <a:t>%74</a:t>
            </a:r>
            <a:r>
              <a:rPr sz="1050" b="0" i="0">
                <a:solidFill>
                  <a:srgbClr val="1F2A44"/>
                </a:solidFill>
                <a:latin typeface="Calibri"/>
              </a:rPr>
              <a:t>, kasın altından %26 geçmiş; çoğunlukla (%66) iki motor dal vermiştir.</a:t>
            </a:r>
          </a:p>
          <a:p>
            <a:pPr algn="l">
              <a:spcAft>
                <a:spcPts val="300"/>
              </a:spcAft>
            </a:pPr>
            <a:r>
              <a:rPr sz="1050" b="0" i="0">
                <a:solidFill>
                  <a:srgbClr val="1F2A44"/>
                </a:solidFill>
                <a:latin typeface="Calibri"/>
              </a:rPr>
              <a:t>• Pronator sendromunda dekompresyon planlaması için önemlidir.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Olewnik Łukasz, Podgórski Michał, Polguj Michał et al. Anatomical variations of the pronator teres muscle in a Central European population and its clinical significance. Anat Sci Int. 2017 Aug 28;93(2):299–306. doi: 10.1007/s12565-017-0413-y PMCID: PMC5797209.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Yüksek çıkışlı a. radialis – fossa cubiti'de</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Haładaj ve ark., Biomed Res Int 2018 – 120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BMRI2018-1520929.003.jpg"/>
          <p:cNvPicPr>
            <a:picLocks noChangeAspect="1"/>
          </p:cNvPicPr>
          <p:nvPr/>
        </p:nvPicPr>
        <p:blipFill>
          <a:blip r:embed="rId2"/>
          <a:stretch>
            <a:fillRect/>
          </a:stretch>
        </p:blipFill>
        <p:spPr>
          <a:xfrm>
            <a:off x="2140692" y="1188720"/>
            <a:ext cx="3353854" cy="4846320"/>
          </a:xfrm>
          <a:prstGeom prst="rect">
            <a:avLst/>
          </a:prstGeom>
        </p:spPr>
      </p:pic>
      <p:sp>
        <p:nvSpPr>
          <p:cNvPr id="8" name="TextBox 7"/>
          <p:cNvSpPr txBox="1"/>
          <p:nvPr/>
        </p:nvSpPr>
        <p:spPr>
          <a:xfrm>
            <a:off x="2049252" y="6035040"/>
            <a:ext cx="353673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Haładaj Robert ve ark., 2018 (PMC6016218,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hBRA</a:t>
            </a:r>
            <a:r>
              <a:rPr sz="1050" b="0" i="0">
                <a:solidFill>
                  <a:srgbClr val="1F2A44"/>
                </a:solidFill>
                <a:latin typeface="Calibri"/>
              </a:rPr>
              <a:t> yüksek çıkışlı a. brachioradialis; </a:t>
            </a:r>
            <a:r>
              <a:rPr sz="1050" b="0" i="0">
                <a:solidFill>
                  <a:srgbClr val="1F2A44"/>
                </a:solidFill>
                <a:latin typeface="Calibri"/>
              </a:rPr>
              <a:t>RA</a:t>
            </a:r>
            <a:r>
              <a:rPr sz="1050" b="0" i="0">
                <a:solidFill>
                  <a:srgbClr val="1F2A44"/>
                </a:solidFill>
                <a:latin typeface="Calibri"/>
              </a:rPr>
              <a:t> a. radialis; ok başları anastomozu gösterir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 radialis yüksek çıkışı %9,2; kubital anastomoz %54,6 (baskın 1, dengeli 3, minimal 2, yok 5).</a:t>
            </a:r>
          </a:p>
          <a:p>
            <a:pPr algn="l">
              <a:spcAft>
                <a:spcPts val="300"/>
              </a:spcAft>
            </a:pPr>
            <a:r>
              <a:rPr sz="1050" b="0" i="0">
                <a:solidFill>
                  <a:srgbClr val="1F2A44"/>
                </a:solidFill>
                <a:latin typeface="Calibri"/>
              </a:rPr>
              <a:t>• A. brachioradialis yüzeyel seyreder; venöz girişim sırasında arteriyel yaralanma riski.</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Haładaj Robert, Wysiadecki Grzegorz, Dudkiewicz Zbigniew et al. The High Origin of the Radial Artery (Brachioradial Artery): Its Anatomical Variations, Clinical Significance, and Contribution to the Blood Supply of the Hand. Biomed Res Int. 2018 Jun 11;2018:1520929. doi: 10.1155/2018/1520929 PMCID: PMC6016218.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ulnaris ve a. radialis superficialis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Miguel-Pérez ve ark., J Funct Morphol Kinesiol 2025 – 150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jfmk-10-00246-g005.jpg"/>
          <p:cNvPicPr>
            <a:picLocks noChangeAspect="1"/>
          </p:cNvPicPr>
          <p:nvPr/>
        </p:nvPicPr>
        <p:blipFill>
          <a:blip r:embed="rId2"/>
          <a:stretch>
            <a:fillRect/>
          </a:stretch>
        </p:blipFill>
        <p:spPr>
          <a:xfrm>
            <a:off x="274320" y="1188720"/>
            <a:ext cx="2273481" cy="3058568"/>
          </a:xfrm>
          <a:prstGeom prst="rect">
            <a:avLst/>
          </a:prstGeom>
        </p:spPr>
      </p:pic>
      <p:sp>
        <p:nvSpPr>
          <p:cNvPr id="8" name="TextBox 7"/>
          <p:cNvSpPr txBox="1"/>
          <p:nvPr/>
        </p:nvSpPr>
        <p:spPr>
          <a:xfrm>
            <a:off x="182879" y="4247288"/>
            <a:ext cx="2456361"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5 – Miguel-Pérez Maribel ve ark., 2025 (PMC12286150, CC BY)</a:t>
            </a:r>
          </a:p>
        </p:txBody>
      </p:sp>
      <p:pic>
        <p:nvPicPr>
          <p:cNvPr id="9" name="Picture 8" descr="jfmk-10-00246-g003.jpg"/>
          <p:cNvPicPr>
            <a:picLocks noChangeAspect="1"/>
          </p:cNvPicPr>
          <p:nvPr/>
        </p:nvPicPr>
        <p:blipFill>
          <a:blip r:embed="rId3"/>
          <a:stretch>
            <a:fillRect/>
          </a:stretch>
        </p:blipFill>
        <p:spPr>
          <a:xfrm>
            <a:off x="2684961" y="1188720"/>
            <a:ext cx="4675958" cy="3058568"/>
          </a:xfrm>
          <a:prstGeom prst="rect">
            <a:avLst/>
          </a:prstGeom>
        </p:spPr>
      </p:pic>
      <p:sp>
        <p:nvSpPr>
          <p:cNvPr id="10" name="TextBox 9"/>
          <p:cNvSpPr txBox="1"/>
          <p:nvPr/>
        </p:nvSpPr>
        <p:spPr>
          <a:xfrm>
            <a:off x="2593521" y="4247288"/>
            <a:ext cx="485883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Miguel-Pérez Maribel ve ark., 2025 (PMC12286150,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ME</a:t>
            </a:r>
            <a:r>
              <a:rPr sz="1050" b="0" i="0">
                <a:solidFill>
                  <a:srgbClr val="1F2A44"/>
                </a:solidFill>
                <a:latin typeface="Calibri"/>
              </a:rPr>
              <a:t> epicondylus medialis; </a:t>
            </a:r>
            <a:r>
              <a:rPr sz="1050" b="0" i="0">
                <a:solidFill>
                  <a:srgbClr val="1F2A44"/>
                </a:solidFill>
                <a:latin typeface="Calibri"/>
              </a:rPr>
              <a:t>SUA</a:t>
            </a:r>
            <a:r>
              <a:rPr sz="1050" b="0" i="0">
                <a:solidFill>
                  <a:srgbClr val="1F2A44"/>
                </a:solidFill>
                <a:latin typeface="Calibri"/>
              </a:rPr>
              <a:t> a. ulnaris superficialis; </a:t>
            </a:r>
            <a:r>
              <a:rPr sz="1050" b="0" i="0">
                <a:solidFill>
                  <a:srgbClr val="1F2A44"/>
                </a:solidFill>
                <a:latin typeface="Calibri"/>
              </a:rPr>
              <a:t>SRA</a:t>
            </a:r>
            <a:r>
              <a:rPr sz="1050" b="0" i="0">
                <a:solidFill>
                  <a:srgbClr val="1F2A44"/>
                </a:solidFill>
                <a:latin typeface="Calibri"/>
              </a:rPr>
              <a:t> a. radialis superficialis;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FCU</a:t>
            </a:r>
            <a:r>
              <a:rPr sz="1050" b="0" i="0">
                <a:solidFill>
                  <a:srgbClr val="1F2A44"/>
                </a:solidFill>
                <a:latin typeface="Calibri"/>
              </a:rPr>
              <a:t> m. flexor carpi ulnaris;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PT</a:t>
            </a:r>
            <a:r>
              <a:rPr sz="1050" b="0" i="0">
                <a:solidFill>
                  <a:srgbClr val="1F2A44"/>
                </a:solidFill>
                <a:latin typeface="Calibri"/>
              </a:rPr>
              <a:t> m. pronator teres; </a:t>
            </a:r>
            <a:r>
              <a:rPr sz="1050" b="0" i="0">
                <a:solidFill>
                  <a:srgbClr val="1F2A44"/>
                </a:solidFill>
                <a:latin typeface="Calibri"/>
              </a:rPr>
              <a:t>PL</a:t>
            </a:r>
            <a:r>
              <a:rPr sz="1050" b="0" i="0">
                <a:solidFill>
                  <a:srgbClr val="1F2A44"/>
                </a:solidFill>
                <a:latin typeface="Calibri"/>
              </a:rPr>
              <a:t> m. palmaris longus; MEP mediyal epikondil çıkıntısı; BBT tendo m. bicipitis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150 ekstremitede </a:t>
            </a:r>
            <a:r>
              <a:rPr sz="1050" b="0" i="0">
                <a:solidFill>
                  <a:srgbClr val="1F2A44"/>
                </a:solidFill>
                <a:latin typeface="Calibri"/>
              </a:rPr>
              <a:t>1 olgu (%0,66)</a:t>
            </a:r>
            <a:r>
              <a:rPr sz="1050" b="0" i="0">
                <a:solidFill>
                  <a:srgbClr val="1F2A44"/>
                </a:solidFill>
                <a:latin typeface="Calibri"/>
              </a:rPr>
              <a:t>: eşzamanlı SUA ve SRA; SUA a. axillaris'ten çıkmıştır.</a:t>
            </a:r>
          </a:p>
          <a:p>
            <a:pPr algn="l">
              <a:spcAft>
                <a:spcPts val="300"/>
              </a:spcAft>
            </a:pPr>
            <a:r>
              <a:rPr sz="1050" b="0" i="0">
                <a:solidFill>
                  <a:srgbClr val="1F2A44"/>
                </a:solidFill>
                <a:latin typeface="Calibri"/>
              </a:rPr>
              <a:t>• Ultrason ile önceden tanınabilir – yüzeyel arterler venipunktur ve ilaç enjeksiyonu sırasında risk taşır.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Miguel-Pérez Maribel, Ortiz-Miguel Sara, Martínez Ana et al. Superficial Arterial Variants of the Upper Limb: Clinical Implications of High-Origin Ulnar and Radial Arteries Detected by Ultrasound and Anatomy Study. J Funct Morphol Kinesiol. 2025 Jun 27;10(3):246. doi: 10.3390/jfmk10030246 PMCID: PMC12286150.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anconeus epitrochlearis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Casteel ve ark., Cureus 2025 – olgu (82 yaş kadın)</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7-00000088743-i01.jpg"/>
          <p:cNvPicPr>
            <a:picLocks noChangeAspect="1"/>
          </p:cNvPicPr>
          <p:nvPr/>
        </p:nvPicPr>
        <p:blipFill>
          <a:blip r:embed="rId2"/>
          <a:stretch>
            <a:fillRect/>
          </a:stretch>
        </p:blipFill>
        <p:spPr>
          <a:xfrm>
            <a:off x="2226846" y="1188720"/>
            <a:ext cx="3181546" cy="2630078"/>
          </a:xfrm>
          <a:prstGeom prst="rect">
            <a:avLst/>
          </a:prstGeom>
        </p:spPr>
      </p:pic>
      <p:sp>
        <p:nvSpPr>
          <p:cNvPr id="8" name="TextBox 7"/>
          <p:cNvSpPr txBox="1"/>
          <p:nvPr/>
        </p:nvSpPr>
        <p:spPr>
          <a:xfrm>
            <a:off x="2135406" y="3818798"/>
            <a:ext cx="336442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Casteel Andrew T ve ark., 2025 (PMC12375367, CC BY)</a:t>
            </a:r>
          </a:p>
        </p:txBody>
      </p:sp>
      <p:pic>
        <p:nvPicPr>
          <p:cNvPr id="9" name="Picture 8" descr="cureus-0017-00000088743-i02.jpg"/>
          <p:cNvPicPr>
            <a:picLocks noChangeAspect="1"/>
          </p:cNvPicPr>
          <p:nvPr/>
        </p:nvPicPr>
        <p:blipFill>
          <a:blip r:embed="rId3"/>
          <a:stretch>
            <a:fillRect/>
          </a:stretch>
        </p:blipFill>
        <p:spPr>
          <a:xfrm>
            <a:off x="2226846" y="4093118"/>
            <a:ext cx="3181546" cy="1896201"/>
          </a:xfrm>
          <a:prstGeom prst="rect">
            <a:avLst/>
          </a:prstGeom>
        </p:spPr>
      </p:pic>
      <p:sp>
        <p:nvSpPr>
          <p:cNvPr id="10" name="TextBox 9"/>
          <p:cNvSpPr txBox="1"/>
          <p:nvPr/>
        </p:nvSpPr>
        <p:spPr>
          <a:xfrm>
            <a:off x="2135406" y="5989320"/>
            <a:ext cx="336442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Casteel Andrew T ve ark., 2025 (PMC12375367,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Medial Epicondyle / MEC = epicondylus medialis; Olecranon; FCU = m. flexor carpi ulnaris; Triceps brachii; oklar kası gösterir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Sağda tipik kas: genişlik 8,5 mm, uzunluk 1,6 cm; solda </a:t>
            </a:r>
            <a:r>
              <a:rPr sz="1050" b="0" i="0">
                <a:solidFill>
                  <a:srgbClr val="1F2A44"/>
                </a:solidFill>
                <a:latin typeface="Calibri"/>
              </a:rPr>
              <a:t>üç başlı</a:t>
            </a:r>
            <a:r>
              <a:rPr sz="1050" b="0" i="0">
                <a:solidFill>
                  <a:srgbClr val="1F2A44"/>
                </a:solidFill>
                <a:latin typeface="Calibri"/>
              </a:rPr>
              <a:t> varyant – proksimal baş n. ulnaris'in </a:t>
            </a:r>
            <a:r>
              <a:rPr sz="1050" b="0" i="0">
                <a:solidFill>
                  <a:srgbClr val="1F2A44"/>
                </a:solidFill>
                <a:latin typeface="Calibri"/>
              </a:rPr>
              <a:t>derininde</a:t>
            </a:r>
            <a:r>
              <a:rPr sz="1050" b="0" i="0">
                <a:solidFill>
                  <a:srgbClr val="1F2A44"/>
                </a:solidFill>
                <a:latin typeface="Calibri"/>
              </a:rPr>
              <a:t>.</a:t>
            </a:r>
          </a:p>
          <a:p>
            <a:pPr algn="l">
              <a:spcAft>
                <a:spcPts val="300"/>
              </a:spcAft>
            </a:pPr>
            <a:r>
              <a:rPr sz="1050" b="0" i="0">
                <a:solidFill>
                  <a:srgbClr val="1F2A44"/>
                </a:solidFill>
                <a:latin typeface="Calibri"/>
              </a:rPr>
              <a:t>• Kas kubital tünelin çatısını oluşturur; n. ulnaris sıkışmasına neden olabilir (prevalans serisi PMC OA'da bulunamamıştır).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Casteel Andrew T, McNees Braden R, Iwanaga Joe et al. An Anatomical Variation of the Anconeus Epitrochlearis Muscle: A Case Report. Cureus. 2025 Jul 25;17(7):e88743. doi: 10.7759/cureus.88743 PMCID: PMC12375367.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mediana persistens – kadavra serisi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Seth ve ark., Cureus 2026 – 12 kadavra, 23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8-00000101320-i02.jpg"/>
          <p:cNvPicPr>
            <a:picLocks noChangeAspect="1"/>
          </p:cNvPicPr>
          <p:nvPr/>
        </p:nvPicPr>
        <p:blipFill>
          <a:blip r:embed="rId2"/>
          <a:stretch>
            <a:fillRect/>
          </a:stretch>
        </p:blipFill>
        <p:spPr>
          <a:xfrm>
            <a:off x="274320" y="1188720"/>
            <a:ext cx="3931277" cy="2269657"/>
          </a:xfrm>
          <a:prstGeom prst="rect">
            <a:avLst/>
          </a:prstGeom>
        </p:spPr>
      </p:pic>
      <p:sp>
        <p:nvSpPr>
          <p:cNvPr id="8" name="TextBox 7"/>
          <p:cNvSpPr txBox="1"/>
          <p:nvPr/>
        </p:nvSpPr>
        <p:spPr>
          <a:xfrm>
            <a:off x="182880" y="3458377"/>
            <a:ext cx="411415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Seth Suryakanta ve ark., 2026 (PMC12892004, CC BY)</a:t>
            </a:r>
          </a:p>
        </p:txBody>
      </p:sp>
      <p:pic>
        <p:nvPicPr>
          <p:cNvPr id="9" name="Picture 8" descr="cureus-0018-00000101320-i05.jpg"/>
          <p:cNvPicPr>
            <a:picLocks noChangeAspect="1"/>
          </p:cNvPicPr>
          <p:nvPr/>
        </p:nvPicPr>
        <p:blipFill>
          <a:blip r:embed="rId3"/>
          <a:stretch>
            <a:fillRect/>
          </a:stretch>
        </p:blipFill>
        <p:spPr>
          <a:xfrm>
            <a:off x="4342757" y="1188720"/>
            <a:ext cx="3018162" cy="2269657"/>
          </a:xfrm>
          <a:prstGeom prst="rect">
            <a:avLst/>
          </a:prstGeom>
        </p:spPr>
      </p:pic>
      <p:sp>
        <p:nvSpPr>
          <p:cNvPr id="10" name="TextBox 9"/>
          <p:cNvSpPr txBox="1"/>
          <p:nvPr/>
        </p:nvSpPr>
        <p:spPr>
          <a:xfrm>
            <a:off x="4251317" y="3458377"/>
            <a:ext cx="320104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5 – Seth Suryakanta ve ark., 2026 (PMC12892004,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BA</a:t>
            </a:r>
            <a:r>
              <a:rPr sz="1050" b="0" i="0">
                <a:solidFill>
                  <a:srgbClr val="1F2A44"/>
                </a:solidFill>
                <a:latin typeface="Calibri"/>
              </a:rPr>
              <a:t> a. brachialis; </a:t>
            </a:r>
            <a:r>
              <a:rPr sz="1050" b="0" i="0">
                <a:solidFill>
                  <a:srgbClr val="1F2A44"/>
                </a:solidFill>
                <a:latin typeface="Calibri"/>
              </a:rPr>
              <a:t>RA</a:t>
            </a:r>
            <a:r>
              <a:rPr sz="1050" b="0" i="0">
                <a:solidFill>
                  <a:srgbClr val="1F2A44"/>
                </a:solidFill>
                <a:latin typeface="Calibri"/>
              </a:rPr>
              <a:t> a. radialis; </a:t>
            </a:r>
            <a:r>
              <a:rPr sz="1050" b="0" i="0">
                <a:solidFill>
                  <a:srgbClr val="1F2A44"/>
                </a:solidFill>
                <a:latin typeface="Calibri"/>
              </a:rPr>
              <a:t>PMA</a:t>
            </a:r>
            <a:r>
              <a:rPr sz="1050" b="0" i="0">
                <a:solidFill>
                  <a:srgbClr val="1F2A44"/>
                </a:solidFill>
                <a:latin typeface="Calibri"/>
              </a:rPr>
              <a:t> a. mediana persistens;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UA</a:t>
            </a:r>
            <a:r>
              <a:rPr sz="1050" b="0" i="0">
                <a:solidFill>
                  <a:srgbClr val="1F2A44"/>
                </a:solidFill>
                <a:latin typeface="Calibri"/>
              </a:rPr>
              <a:t> a. ulnaris; </a:t>
            </a:r>
            <a:r>
              <a:rPr sz="1050" b="0" i="0">
                <a:solidFill>
                  <a:srgbClr val="1F2A44"/>
                </a:solidFill>
                <a:latin typeface="Calibri"/>
              </a:rPr>
              <a:t>CIA</a:t>
            </a:r>
            <a:r>
              <a:rPr sz="1050" b="0" i="0">
                <a:solidFill>
                  <a:srgbClr val="1F2A44"/>
                </a:solidFill>
                <a:latin typeface="Calibri"/>
              </a:rPr>
              <a:t> a. interossea communis; </a:t>
            </a:r>
            <a:r>
              <a:rPr sz="1050" b="0" i="0">
                <a:solidFill>
                  <a:srgbClr val="1F2A44"/>
                </a:solidFill>
                <a:latin typeface="Calibri"/>
              </a:rPr>
              <a:t>PIA</a:t>
            </a:r>
            <a:r>
              <a:rPr sz="1050" b="0" i="0">
                <a:solidFill>
                  <a:srgbClr val="1F2A44"/>
                </a:solidFill>
                <a:latin typeface="Calibri"/>
              </a:rPr>
              <a:t> a. interossea posterior; </a:t>
            </a:r>
            <a:r>
              <a:rPr sz="1050" b="0" i="0">
                <a:solidFill>
                  <a:srgbClr val="1F2A44"/>
                </a:solidFill>
                <a:latin typeface="Calibri"/>
              </a:rPr>
              <a:t>AIA</a:t>
            </a:r>
            <a:r>
              <a:rPr sz="1050" b="0" i="0">
                <a:solidFill>
                  <a:srgbClr val="1F2A44"/>
                </a:solidFill>
                <a:latin typeface="Calibri"/>
              </a:rPr>
              <a:t> a. interossea anterior; CT ortak gövde; MB kas dalı</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PMA </a:t>
            </a:r>
            <a:r>
              <a:rPr sz="1050" b="0" i="0">
                <a:solidFill>
                  <a:srgbClr val="1F2A44"/>
                </a:solidFill>
                <a:latin typeface="Calibri"/>
              </a:rPr>
              <a:t>8/23 ekstremitede (%34,8)</a:t>
            </a:r>
            <a:r>
              <a:rPr sz="1050" b="0" i="0">
                <a:solidFill>
                  <a:srgbClr val="1F2A44"/>
                </a:solidFill>
                <a:latin typeface="Calibri"/>
              </a:rPr>
              <a:t>; bunların yarısı (%17,4) proksimal önkolda n. medianus'u </a:t>
            </a:r>
            <a:r>
              <a:rPr sz="1050" b="0" i="0">
                <a:solidFill>
                  <a:srgbClr val="1F2A44"/>
                </a:solidFill>
                <a:latin typeface="Calibri"/>
              </a:rPr>
              <a:t>delmiştir</a:t>
            </a:r>
            <a:r>
              <a:rPr sz="1050" b="0" i="0">
                <a:solidFill>
                  <a:srgbClr val="1F2A44"/>
                </a:solidFill>
                <a:latin typeface="Calibri"/>
              </a:rPr>
              <a:t>.</a:t>
            </a:r>
          </a:p>
          <a:p>
            <a:pPr algn="l">
              <a:spcAft>
                <a:spcPts val="300"/>
              </a:spcAft>
            </a:pPr>
            <a:r>
              <a:rPr sz="1050" b="0" i="0">
                <a:solidFill>
                  <a:srgbClr val="1F2A44"/>
                </a:solidFill>
                <a:latin typeface="Calibri"/>
              </a:rPr>
              <a:t>• Palmar tip PMA 2/23 (%8,7) – karpal tünelden geçer.</a:t>
            </a:r>
          </a:p>
          <a:p>
            <a:pPr algn="l">
              <a:spcAft>
                <a:spcPts val="300"/>
              </a:spcAft>
            </a:pPr>
            <a:r>
              <a:rPr sz="1050" b="0" i="0">
                <a:solidFill>
                  <a:srgbClr val="1F2A44"/>
                </a:solidFill>
                <a:latin typeface="Calibri"/>
              </a:rPr>
              <a:t>• Karpal tünel sendromu ve tünel cerrahisinde kanama riski.</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Seth Suryakanta, Sangma Sarah S, Sahni Chetan et al. Persistent Median Arteries: A Cadaveric Study of Prevalence, Variants, and Clinical Relevance. Cureus. 2026 Jan 11;18(1):e101320. doi: 10.7759/cureus.101320 PMCID: PMC12892004.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 mediana persistens, bifid n. medianus ve m. palmaris longus reversus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Elhossiny ve ark., Cureus 2023 –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5-00000040324-i01.jpg"/>
          <p:cNvPicPr>
            <a:picLocks noChangeAspect="1"/>
          </p:cNvPicPr>
          <p:nvPr/>
        </p:nvPicPr>
        <p:blipFill>
          <a:blip r:embed="rId2"/>
          <a:stretch>
            <a:fillRect/>
          </a:stretch>
        </p:blipFill>
        <p:spPr>
          <a:xfrm>
            <a:off x="274320" y="2270150"/>
            <a:ext cx="7086600" cy="2683459"/>
          </a:xfrm>
          <a:prstGeom prst="rect">
            <a:avLst/>
          </a:prstGeom>
        </p:spPr>
      </p:pic>
      <p:sp>
        <p:nvSpPr>
          <p:cNvPr id="8" name="TextBox 7"/>
          <p:cNvSpPr txBox="1"/>
          <p:nvPr/>
        </p:nvSpPr>
        <p:spPr>
          <a:xfrm>
            <a:off x="182879" y="4953609"/>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Elhossiny Asem H ve ark., 2023 (PMC10343151,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PMA; </a:t>
            </a:r>
            <a:r>
              <a:rPr sz="1050" b="0" i="0">
                <a:solidFill>
                  <a:srgbClr val="1F2A44"/>
                </a:solidFill>
                <a:latin typeface="Calibri"/>
              </a:rPr>
              <a:t>2</a:t>
            </a:r>
            <a:r>
              <a:rPr sz="1050" b="0" i="0">
                <a:solidFill>
                  <a:srgbClr val="1F2A44"/>
                </a:solidFill>
                <a:latin typeface="Calibri"/>
              </a:rPr>
              <a:t> PMA–arcus profundus dalı; </a:t>
            </a:r>
            <a:r>
              <a:rPr sz="1050" b="0" i="0">
                <a:solidFill>
                  <a:srgbClr val="1F2A44"/>
                </a:solidFill>
                <a:latin typeface="Calibri"/>
              </a:rPr>
              <a:t>3</a:t>
            </a:r>
            <a:r>
              <a:rPr sz="1050" b="0" i="0">
                <a:solidFill>
                  <a:srgbClr val="1F2A44"/>
                </a:solidFill>
                <a:latin typeface="Calibri"/>
              </a:rPr>
              <a:t> a. ulnaris; </a:t>
            </a:r>
            <a:r>
              <a:rPr sz="1050" b="0" i="0">
                <a:solidFill>
                  <a:srgbClr val="1F2A44"/>
                </a:solidFill>
                <a:latin typeface="Calibri"/>
              </a:rPr>
              <a:t>4</a:t>
            </a:r>
            <a:r>
              <a:rPr sz="1050" b="0" i="0">
                <a:solidFill>
                  <a:srgbClr val="1F2A44"/>
                </a:solidFill>
                <a:latin typeface="Calibri"/>
              </a:rPr>
              <a:t> arcus palmaris superficialis; </a:t>
            </a:r>
            <a:r>
              <a:rPr sz="1050" b="0" i="0">
                <a:solidFill>
                  <a:srgbClr val="1F2A44"/>
                </a:solidFill>
                <a:latin typeface="Calibri"/>
              </a:rPr>
              <a:t>5</a:t>
            </a:r>
            <a:r>
              <a:rPr sz="1050" b="0" i="0">
                <a:solidFill>
                  <a:srgbClr val="1F2A44"/>
                </a:solidFill>
                <a:latin typeface="Calibri"/>
              </a:rPr>
              <a:t> arcus palmaris profundus; </a:t>
            </a:r>
            <a:r>
              <a:rPr sz="1050" b="0" i="0">
                <a:solidFill>
                  <a:srgbClr val="1F2A44"/>
                </a:solidFill>
                <a:latin typeface="Calibri"/>
              </a:rPr>
              <a:t>6</a:t>
            </a:r>
            <a:r>
              <a:rPr sz="1050" b="0" i="0">
                <a:solidFill>
                  <a:srgbClr val="1F2A44"/>
                </a:solidFill>
                <a:latin typeface="Calibri"/>
              </a:rPr>
              <a:t> a. radialis; </a:t>
            </a:r>
            <a:r>
              <a:rPr sz="1050" b="0" i="0">
                <a:solidFill>
                  <a:srgbClr val="1F2A44"/>
                </a:solidFill>
                <a:latin typeface="Calibri"/>
              </a:rPr>
              <a:t>7</a:t>
            </a:r>
            <a:r>
              <a:rPr sz="1050" b="0" i="0">
                <a:solidFill>
                  <a:srgbClr val="1F2A44"/>
                </a:solidFill>
                <a:latin typeface="Calibri"/>
              </a:rPr>
              <a:t> ilk a. metacarpalis palmaris communis;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RBMN</a:t>
            </a:r>
            <a:r>
              <a:rPr sz="1050" b="0" i="0">
                <a:solidFill>
                  <a:srgbClr val="1F2A44"/>
                </a:solidFill>
                <a:latin typeface="Calibri"/>
              </a:rPr>
              <a:t> n. medianus'un radial dalı; </a:t>
            </a:r>
            <a:r>
              <a:rPr sz="1050" b="0" i="0">
                <a:solidFill>
                  <a:srgbClr val="1F2A44"/>
                </a:solidFill>
                <a:latin typeface="Calibri"/>
              </a:rPr>
              <a:t>MBMN</a:t>
            </a:r>
            <a:r>
              <a:rPr sz="1050" b="0" i="0">
                <a:solidFill>
                  <a:srgbClr val="1F2A44"/>
                </a:solidFill>
                <a:latin typeface="Calibri"/>
              </a:rPr>
              <a:t> n. medianus'un medial dalı;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R-PL</a:t>
            </a:r>
            <a:r>
              <a:rPr sz="1050" b="0" i="0">
                <a:solidFill>
                  <a:srgbClr val="1F2A44"/>
                </a:solidFill>
                <a:latin typeface="Calibri"/>
              </a:rPr>
              <a:t> m. palmaris longus reversus; </a:t>
            </a:r>
            <a:r>
              <a:rPr sz="1050" b="0" i="0">
                <a:solidFill>
                  <a:srgbClr val="1F2A44"/>
                </a:solidFill>
                <a:latin typeface="Calibri"/>
              </a:rPr>
              <a:t>CT</a:t>
            </a:r>
            <a:r>
              <a:rPr sz="1050" b="0" i="0">
                <a:solidFill>
                  <a:srgbClr val="1F2A44"/>
                </a:solidFill>
                <a:latin typeface="Calibri"/>
              </a:rPr>
              <a:t> canalis carpi / kesik tendon</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PMA a. radialis'ten çıkıp a. ulnaris ile anastomoz yaparak arcus palmaris superficialis'i oluşturmuştur.</a:t>
            </a:r>
          </a:p>
          <a:p>
            <a:pPr algn="l">
              <a:spcAft>
                <a:spcPts val="300"/>
              </a:spcAft>
            </a:pPr>
            <a:r>
              <a:rPr sz="1050" b="0" i="0">
                <a:solidFill>
                  <a:srgbClr val="1F2A44"/>
                </a:solidFill>
                <a:latin typeface="Calibri"/>
              </a:rPr>
              <a:t>• Aktarılan sıklık: 125 ekstremitede %4; Avustralya örnekleminde %33,3.</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Elhossiny Asem H, Bakir Mohamad, Dawalibi Ahmad et al. Persistent Median Artery, Bifid Median Nerve, and Reversed Palmaris Longus Encountered During Cadaveric Dissection: The First Reported Case. Cureus. 2023 Jun 12;15(6):e40324. doi: 10.7759/cureus.40324 PMCID: PMC10343151.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radialis'in önkolda dal düzeni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Sawyer ve ark., Diagnostics 2020 – 35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diagnostics-10-00366-g001.jpg"/>
          <p:cNvPicPr>
            <a:picLocks noChangeAspect="1"/>
          </p:cNvPicPr>
          <p:nvPr/>
        </p:nvPicPr>
        <p:blipFill>
          <a:blip r:embed="rId2"/>
          <a:stretch>
            <a:fillRect/>
          </a:stretch>
        </p:blipFill>
        <p:spPr>
          <a:xfrm>
            <a:off x="1299920" y="1188720"/>
            <a:ext cx="5035399" cy="1876069"/>
          </a:xfrm>
          <a:prstGeom prst="rect">
            <a:avLst/>
          </a:prstGeom>
        </p:spPr>
      </p:pic>
      <p:sp>
        <p:nvSpPr>
          <p:cNvPr id="8" name="TextBox 7"/>
          <p:cNvSpPr txBox="1"/>
          <p:nvPr/>
        </p:nvSpPr>
        <p:spPr>
          <a:xfrm>
            <a:off x="1208480" y="3064789"/>
            <a:ext cx="521827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Sawyer F. Kip ve ark., 2020 (PMC7345276, CC BY)</a:t>
            </a:r>
          </a:p>
        </p:txBody>
      </p:sp>
      <p:pic>
        <p:nvPicPr>
          <p:cNvPr id="9" name="Picture 8" descr="diagnostics-10-00366-g002.jpg"/>
          <p:cNvPicPr>
            <a:picLocks noChangeAspect="1"/>
          </p:cNvPicPr>
          <p:nvPr/>
        </p:nvPicPr>
        <p:blipFill>
          <a:blip r:embed="rId3"/>
          <a:stretch>
            <a:fillRect/>
          </a:stretch>
        </p:blipFill>
        <p:spPr>
          <a:xfrm>
            <a:off x="1299920" y="3339109"/>
            <a:ext cx="5035399" cy="2650210"/>
          </a:xfrm>
          <a:prstGeom prst="rect">
            <a:avLst/>
          </a:prstGeom>
        </p:spPr>
      </p:pic>
      <p:sp>
        <p:nvSpPr>
          <p:cNvPr id="10" name="TextBox 9"/>
          <p:cNvSpPr txBox="1"/>
          <p:nvPr/>
        </p:nvSpPr>
        <p:spPr>
          <a:xfrm>
            <a:off x="1208480" y="5989320"/>
            <a:ext cx="521827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Sawyer F. Kip ve ark., 2020 (PMC7345276,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Radial N. = n. radialis; </a:t>
            </a:r>
            <a:r>
              <a:rPr sz="1050" b="0" i="0">
                <a:solidFill>
                  <a:srgbClr val="1F2A44"/>
                </a:solidFill>
                <a:latin typeface="Calibri"/>
              </a:rPr>
              <a:t>DBRN</a:t>
            </a:r>
            <a:r>
              <a:rPr sz="1050" b="0" i="0">
                <a:solidFill>
                  <a:srgbClr val="1F2A44"/>
                </a:solidFill>
                <a:latin typeface="Calibri"/>
              </a:rPr>
              <a:t> r. profundus n. radialis; </a:t>
            </a:r>
            <a:r>
              <a:rPr sz="1050" b="0" i="0">
                <a:solidFill>
                  <a:srgbClr val="1F2A44"/>
                </a:solidFill>
                <a:latin typeface="Calibri"/>
              </a:rPr>
              <a:t>SBRN</a:t>
            </a:r>
            <a:r>
              <a:rPr sz="1050" b="0" i="0">
                <a:solidFill>
                  <a:srgbClr val="1F2A44"/>
                </a:solidFill>
                <a:latin typeface="Calibri"/>
              </a:rPr>
              <a:t> r. superficialis n. radialis;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ECRB</a:t>
            </a:r>
            <a:r>
              <a:rPr sz="1050" b="0" i="0">
                <a:solidFill>
                  <a:srgbClr val="1F2A44"/>
                </a:solidFill>
                <a:latin typeface="Calibri"/>
              </a:rPr>
              <a:t> m. extensor carpi radialis brevis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 radialis m. brachialis'i </a:t>
            </a:r>
            <a:r>
              <a:rPr sz="1050" b="0" i="0">
                <a:solidFill>
                  <a:srgbClr val="1F2A44"/>
                </a:solidFill>
                <a:latin typeface="Calibri"/>
              </a:rPr>
              <a:t>%60</a:t>
            </a:r>
            <a:r>
              <a:rPr sz="1050" b="0" i="0">
                <a:solidFill>
                  <a:srgbClr val="1F2A44"/>
                </a:solidFill>
                <a:latin typeface="Calibri"/>
              </a:rPr>
              <a:t> oranında innerve etmiştir.</a:t>
            </a:r>
          </a:p>
          <a:p>
            <a:pPr algn="l">
              <a:spcAft>
                <a:spcPts val="300"/>
              </a:spcAft>
            </a:pPr>
            <a:r>
              <a:rPr sz="1050" b="0" i="0">
                <a:solidFill>
                  <a:srgbClr val="1F2A44"/>
                </a:solidFill>
                <a:latin typeface="Calibri"/>
              </a:rPr>
              <a:t>• R. superficialis'ten ECRB'ye dal </a:t>
            </a:r>
            <a:r>
              <a:rPr sz="1050" b="0" i="0">
                <a:solidFill>
                  <a:srgbClr val="1F2A44"/>
                </a:solidFill>
                <a:latin typeface="Calibri"/>
              </a:rPr>
              <a:t>%25,7</a:t>
            </a:r>
            <a:r>
              <a:rPr sz="1050" b="0" i="0">
                <a:solidFill>
                  <a:srgbClr val="1F2A44"/>
                </a:solidFill>
                <a:latin typeface="Calibri"/>
              </a:rPr>
              <a:t>; ECRB dalı m. supinator dalından proksimalde %77,1.</a:t>
            </a:r>
          </a:p>
          <a:p>
            <a:pPr algn="l">
              <a:spcAft>
                <a:spcPts val="300"/>
              </a:spcAft>
            </a:pPr>
            <a:r>
              <a:rPr sz="1050" b="0" i="0">
                <a:solidFill>
                  <a:srgbClr val="1F2A44"/>
                </a:solidFill>
                <a:latin typeface="Calibri"/>
              </a:rPr>
              <a:t>• Sinir transferleri ve lateral dirsek cerrahisinde önemlidir.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Sawyer F. Kip, Stefanik Joshua J., Lufler Rebecca S. The Branching and Innervation Pattern of the Radial Nerve in the Forearm: Clarifying the Literature and Understanding Variations and Their Clinical Implications. Diagnostics (Basel). 2020 Jun 2;10(6):366. doi: 10.3390/diagnostics10060366 PMCID: PMC7345276.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Martin-Gruber anastomozu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Tran ve ark., Cureus 2025 – 101 kadavra önkolu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7-00000078139-i01.jpg"/>
          <p:cNvPicPr>
            <a:picLocks noChangeAspect="1"/>
          </p:cNvPicPr>
          <p:nvPr/>
        </p:nvPicPr>
        <p:blipFill>
          <a:blip r:embed="rId2"/>
          <a:stretch>
            <a:fillRect/>
          </a:stretch>
        </p:blipFill>
        <p:spPr>
          <a:xfrm>
            <a:off x="274320" y="1249679"/>
            <a:ext cx="7086600" cy="4724400"/>
          </a:xfrm>
          <a:prstGeom prst="rect">
            <a:avLst/>
          </a:prstGeom>
        </p:spPr>
      </p:pic>
      <p:sp>
        <p:nvSpPr>
          <p:cNvPr id="8" name="TextBox 7"/>
          <p:cNvSpPr txBox="1"/>
          <p:nvPr/>
        </p:nvSpPr>
        <p:spPr>
          <a:xfrm>
            <a:off x="182879" y="5974080"/>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Tran Paul ve ark., 2025 (PMC11867591,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Anastomosis/MGA</a:t>
            </a:r>
            <a:r>
              <a:rPr sz="1050" b="0" i="0">
                <a:solidFill>
                  <a:srgbClr val="1F2A44"/>
                </a:solidFill>
                <a:latin typeface="Calibri"/>
              </a:rPr>
              <a:t> Martin-Gruber anastomozu;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FDP</a:t>
            </a:r>
            <a:r>
              <a:rPr sz="1050" b="0" i="0">
                <a:solidFill>
                  <a:srgbClr val="1F2A44"/>
                </a:solidFill>
                <a:latin typeface="Calibri"/>
              </a:rPr>
              <a:t> m. flexor digitorum profundus; </a:t>
            </a:r>
            <a:r>
              <a:rPr sz="1050" b="0" i="0">
                <a:solidFill>
                  <a:srgbClr val="1F2A44"/>
                </a:solidFill>
                <a:latin typeface="Calibri"/>
              </a:rPr>
              <a:t>ME</a:t>
            </a:r>
            <a:r>
              <a:rPr sz="1050" b="0" i="0">
                <a:solidFill>
                  <a:srgbClr val="1F2A44"/>
                </a:solidFill>
                <a:latin typeface="Calibri"/>
              </a:rPr>
              <a:t> epicondylus medialis (yön referansı: distal görüntünün üstünde)</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Prevalans </a:t>
            </a:r>
            <a:r>
              <a:rPr sz="1050" b="0" i="0">
                <a:solidFill>
                  <a:srgbClr val="1F2A44"/>
                </a:solidFill>
                <a:latin typeface="Calibri"/>
              </a:rPr>
              <a:t>%37,6</a:t>
            </a:r>
            <a:r>
              <a:rPr sz="1050" b="0" i="0">
                <a:solidFill>
                  <a:srgbClr val="1F2A44"/>
                </a:solidFill>
                <a:latin typeface="Calibri"/>
              </a:rPr>
              <a:t> (38/101): Tip I %58, Tip III %32, Tip II %11.</a:t>
            </a:r>
          </a:p>
          <a:p>
            <a:pPr algn="l">
              <a:spcAft>
                <a:spcPts val="300"/>
              </a:spcAft>
            </a:pPr>
            <a:r>
              <a:rPr sz="1050" b="0" i="0">
                <a:solidFill>
                  <a:srgbClr val="1F2A44"/>
                </a:solidFill>
                <a:latin typeface="Calibri"/>
              </a:rPr>
              <a:t>• Anastomozların çoğu FDP içinde seyretmiştir.</a:t>
            </a:r>
          </a:p>
          <a:p>
            <a:pPr algn="l">
              <a:spcAft>
                <a:spcPts val="300"/>
              </a:spcAft>
            </a:pPr>
            <a:r>
              <a:rPr sz="1050" b="0" i="0">
                <a:solidFill>
                  <a:srgbClr val="1F2A44"/>
                </a:solidFill>
                <a:latin typeface="Calibri"/>
              </a:rPr>
              <a:t>• Dirsekte n. ulnaris lezyonunda intrinsik kasların korunması ve sinir iletim çalışmalarının yanlış yorumu.</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Tran Paul, Bennett Dallas, Mendoza Mathew et al. A Cadaveric Study of the Martin-Gruber Anastomosis Morphology. Cureus. 2025 Jan 28;17(1):e78139. doi: 10.7759/cureus.78139 PMCID: PMC11867591.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Gantzer kası (FPL aksesuar başı)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Roy ve ark., PeerJ 2015 – meta-analiz (24 çalışma, 2358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peerj-03-1255-g001.jpg"/>
          <p:cNvPicPr>
            <a:picLocks noChangeAspect="1"/>
          </p:cNvPicPr>
          <p:nvPr/>
        </p:nvPicPr>
        <p:blipFill>
          <a:blip r:embed="rId2"/>
          <a:stretch>
            <a:fillRect/>
          </a:stretch>
        </p:blipFill>
        <p:spPr>
          <a:xfrm>
            <a:off x="274320" y="1252825"/>
            <a:ext cx="7086600" cy="4718109"/>
          </a:xfrm>
          <a:prstGeom prst="rect">
            <a:avLst/>
          </a:prstGeom>
        </p:spPr>
      </p:pic>
      <p:sp>
        <p:nvSpPr>
          <p:cNvPr id="8" name="TextBox 7"/>
          <p:cNvSpPr txBox="1"/>
          <p:nvPr/>
        </p:nvSpPr>
        <p:spPr>
          <a:xfrm>
            <a:off x="182879" y="5970934"/>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Roy Joyeeta ve ark., 2015 (PMC4636409,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AHFPL</a:t>
            </a:r>
            <a:r>
              <a:rPr sz="1050" b="0" i="0">
                <a:solidFill>
                  <a:srgbClr val="1F2A44"/>
                </a:solidFill>
                <a:latin typeface="Calibri"/>
              </a:rPr>
              <a:t> m. flexor pollicis longus'un aksesuar başı; </a:t>
            </a:r>
            <a:r>
              <a:rPr sz="1050" b="0" i="0">
                <a:solidFill>
                  <a:srgbClr val="1F2A44"/>
                </a:solidFill>
                <a:latin typeface="Calibri"/>
              </a:rPr>
              <a:t>FPL</a:t>
            </a:r>
            <a:r>
              <a:rPr sz="1050" b="0" i="0">
                <a:solidFill>
                  <a:srgbClr val="1F2A44"/>
                </a:solidFill>
                <a:latin typeface="Calibri"/>
              </a:rPr>
              <a:t> m. flexor pollicis longus; </a:t>
            </a:r>
            <a:r>
              <a:rPr sz="1050" b="0" i="0">
                <a:solidFill>
                  <a:srgbClr val="1F2A44"/>
                </a:solidFill>
                <a:latin typeface="Calibri"/>
              </a:rPr>
              <a:t>FCR</a:t>
            </a:r>
            <a:r>
              <a:rPr sz="1050" b="0" i="0">
                <a:solidFill>
                  <a:srgbClr val="1F2A44"/>
                </a:solidFill>
                <a:latin typeface="Calibri"/>
              </a:rPr>
              <a:t> m. flexor carpi radialis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Havuzlanmış prevalans </a:t>
            </a:r>
            <a:r>
              <a:rPr sz="1050" b="0" i="0">
                <a:solidFill>
                  <a:srgbClr val="1F2A44"/>
                </a:solidFill>
                <a:latin typeface="Calibri"/>
              </a:rPr>
              <a:t>%44,2</a:t>
            </a:r>
            <a:r>
              <a:rPr sz="1050" b="0" i="0">
                <a:solidFill>
                  <a:srgbClr val="1F2A44"/>
                </a:solidFill>
                <a:latin typeface="Calibri"/>
              </a:rPr>
              <a:t>.</a:t>
            </a:r>
          </a:p>
          <a:p>
            <a:pPr algn="l">
              <a:spcAft>
                <a:spcPts val="300"/>
              </a:spcAft>
            </a:pPr>
            <a:r>
              <a:rPr sz="1050" b="0" i="0">
                <a:solidFill>
                  <a:srgbClr val="1F2A44"/>
                </a:solidFill>
                <a:latin typeface="Calibri"/>
              </a:rPr>
              <a:t>• %94,6 FPL'ye yapışır; %97,3 n. interosseus anterior tarafından innerve edilir.</a:t>
            </a:r>
          </a:p>
          <a:p>
            <a:pPr algn="l">
              <a:spcAft>
                <a:spcPts val="300"/>
              </a:spcAft>
            </a:pPr>
            <a:r>
              <a:rPr sz="1050" b="0" i="0">
                <a:solidFill>
                  <a:srgbClr val="1F2A44"/>
                </a:solidFill>
                <a:latin typeface="Calibri"/>
              </a:rPr>
              <a:t>• AIN ve n. medianus sıkışmasına neden olabilir (44 ekstremitelik ayrı seride %40).</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Roy Joyeeta, Henry Brandon M., Pękala Przemysław A. et al. The prevalence and anatomical characteristics of the accessory head of the flexor pollicis longus muscle: a meta-analysis. PeerJ. 2015 Oct 1;3:e1255. doi: 10.7717/peerj.1255 PMCID: PMC4636409.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palmaris longus reversus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Longhurst ve ark., Surg Radiol Anat 2019 (bilateral olgu + sistematik derleme); Behiery ve ark., Cureus 2023</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3 · ÖNKOL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276_2019_2363_Fig1_HTML.jpg"/>
          <p:cNvPicPr>
            <a:picLocks noChangeAspect="1"/>
          </p:cNvPicPr>
          <p:nvPr/>
        </p:nvPicPr>
        <p:blipFill>
          <a:blip r:embed="rId2"/>
          <a:stretch>
            <a:fillRect/>
          </a:stretch>
        </p:blipFill>
        <p:spPr>
          <a:xfrm>
            <a:off x="1757091" y="1188720"/>
            <a:ext cx="4121056" cy="3191057"/>
          </a:xfrm>
          <a:prstGeom prst="rect">
            <a:avLst/>
          </a:prstGeom>
        </p:spPr>
      </p:pic>
      <p:sp>
        <p:nvSpPr>
          <p:cNvPr id="8" name="TextBox 7"/>
          <p:cNvSpPr txBox="1"/>
          <p:nvPr/>
        </p:nvSpPr>
        <p:spPr>
          <a:xfrm>
            <a:off x="1665651" y="4379777"/>
            <a:ext cx="430393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Longhurst Georga ve ark., 2019 (PMC7033050, CC BY)</a:t>
            </a:r>
          </a:p>
        </p:txBody>
      </p:sp>
      <p:pic>
        <p:nvPicPr>
          <p:cNvPr id="9" name="Picture 8" descr="cureus-0015-00000038424-i01.jpg"/>
          <p:cNvPicPr>
            <a:picLocks noChangeAspect="1"/>
          </p:cNvPicPr>
          <p:nvPr/>
        </p:nvPicPr>
        <p:blipFill>
          <a:blip r:embed="rId3"/>
          <a:stretch>
            <a:fillRect/>
          </a:stretch>
        </p:blipFill>
        <p:spPr>
          <a:xfrm>
            <a:off x="1757091" y="4654097"/>
            <a:ext cx="4121056" cy="1335222"/>
          </a:xfrm>
          <a:prstGeom prst="rect">
            <a:avLst/>
          </a:prstGeom>
        </p:spPr>
      </p:pic>
      <p:sp>
        <p:nvSpPr>
          <p:cNvPr id="10" name="TextBox 9"/>
          <p:cNvSpPr txBox="1"/>
          <p:nvPr/>
        </p:nvSpPr>
        <p:spPr>
          <a:xfrm>
            <a:off x="1665651" y="5989320"/>
            <a:ext cx="430393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Behiery Ayman ve ark., 2023 (PMC10235925,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Üst: </a:t>
            </a:r>
            <a:r>
              <a:rPr sz="1050" b="0" i="0">
                <a:solidFill>
                  <a:srgbClr val="1F2A44"/>
                </a:solidFill>
                <a:latin typeface="Calibri"/>
              </a:rPr>
              <a:t>PL</a:t>
            </a:r>
            <a:r>
              <a:rPr sz="1050" b="0" i="0">
                <a:solidFill>
                  <a:srgbClr val="1F2A44"/>
                </a:solidFill>
                <a:latin typeface="Calibri"/>
              </a:rPr>
              <a:t> m. palmaris longus;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BR</a:t>
            </a:r>
            <a:r>
              <a:rPr sz="1050" b="0" i="0">
                <a:solidFill>
                  <a:srgbClr val="1F2A44"/>
                </a:solidFill>
                <a:latin typeface="Calibri"/>
              </a:rPr>
              <a:t> m. brachioradialis; </a:t>
            </a:r>
            <a:r>
              <a:rPr sz="1050" b="0" i="0">
                <a:solidFill>
                  <a:srgbClr val="1F2A44"/>
                </a:solidFill>
                <a:latin typeface="Calibri"/>
              </a:rPr>
              <a:t>PT</a:t>
            </a:r>
            <a:r>
              <a:rPr sz="1050" b="0" i="0">
                <a:solidFill>
                  <a:srgbClr val="1F2A44"/>
                </a:solidFill>
                <a:latin typeface="Calibri"/>
              </a:rPr>
              <a:t> m. pronator teres; </a:t>
            </a:r>
            <a:r>
              <a:rPr sz="1050" b="0" i="0">
                <a:solidFill>
                  <a:srgbClr val="1F2A44"/>
                </a:solidFill>
                <a:latin typeface="Calibri"/>
              </a:rPr>
              <a:t>RA</a:t>
            </a:r>
            <a:r>
              <a:rPr sz="1050" b="0" i="0">
                <a:solidFill>
                  <a:srgbClr val="1F2A44"/>
                </a:solidFill>
                <a:latin typeface="Calibri"/>
              </a:rPr>
              <a:t> a. radialis; PTPL/DTPL proksimal/distal tendon; AdPL ek demet</a:t>
            </a:r>
          </a:p>
          <a:p>
            <a:pPr algn="l">
              <a:spcAft>
                <a:spcPts val="300"/>
              </a:spcAft>
            </a:pPr>
            <a:r>
              <a:rPr sz="1050" b="0" i="0">
                <a:solidFill>
                  <a:srgbClr val="1F2A44"/>
                </a:solidFill>
                <a:latin typeface="Calibri"/>
              </a:rPr>
              <a:t>• Alt: aynı kadavranın sol önkolunda distalde etli (reversus) m. palmaris longus</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Reversus kas karnı ortalama 135 mm, tendon 126 mm; bilateral reversus yalnızca erkeklerde bildirilmiş; olguların </a:t>
            </a:r>
            <a:r>
              <a:rPr sz="1050" b="0" i="0">
                <a:solidFill>
                  <a:srgbClr val="1F2A44"/>
                </a:solidFill>
                <a:latin typeface="Calibri"/>
              </a:rPr>
              <a:t>%70,8</a:t>
            </a:r>
            <a:r>
              <a:rPr sz="1050" b="0" i="0">
                <a:solidFill>
                  <a:srgbClr val="1F2A44"/>
                </a:solidFill>
                <a:latin typeface="Calibri"/>
              </a:rPr>
              <a:t>'i sağda.</a:t>
            </a:r>
          </a:p>
          <a:p>
            <a:pPr algn="l">
              <a:spcAft>
                <a:spcPts val="300"/>
              </a:spcAft>
            </a:pPr>
            <a:r>
              <a:rPr sz="1050" b="0" i="0">
                <a:solidFill>
                  <a:srgbClr val="1F2A44"/>
                </a:solidFill>
                <a:latin typeface="Calibri"/>
              </a:rPr>
              <a:t>• Tam agenezi dünya genelinde %20,25 (aktarılan).</a:t>
            </a:r>
          </a:p>
          <a:p>
            <a:pPr algn="l">
              <a:spcAft>
                <a:spcPts val="300"/>
              </a:spcAft>
            </a:pPr>
            <a:r>
              <a:rPr sz="1050" b="0" i="0">
                <a:solidFill>
                  <a:srgbClr val="1F2A44"/>
                </a:solidFill>
                <a:latin typeface="Calibri"/>
              </a:rPr>
              <a:t>• Distal etli kas karnı bilekte n. medianus/n. ulnaris basısına yol açabilir.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Longhurst Georga, Stone Danya, Mahony Nick Bilateral reversed palmaris longus muscle: a case report and systematic literature review. Surg Radiol Anat. 2019 Nov 12;42(3):289–95. doi: 10.1007/s00276-019-02363-z PMCID: PMC7033050. Lisans: CC BY.  •  Behiery Ayman, Bakir Mohamad, Dawalibi Ahmad et al. Reversed Palmaris Longus: A Rare Anatomical Phenomenon Discovered. Cureus. 2023 May 2;15(5):e38424. doi: 10.7759/cureus.38424 PMCID: PMC10235925.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58368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5760720" cy="548640"/>
          </a:xfrm>
          <a:prstGeom prst="rect">
            <a:avLst/>
          </a:prstGeom>
          <a:noFill/>
        </p:spPr>
        <p:txBody>
          <a:bodyPr wrap="square" anchor="t" lIns="45720" rIns="45720" tIns="18288" bIns="18288">
            <a:spAutoFit/>
          </a:bodyPr>
          <a:lstStyle/>
          <a:p>
            <a:pPr algn="l"/>
            <a:r>
              <a:rPr sz="1800" b="1" i="0">
                <a:solidFill>
                  <a:srgbClr val="C8D1E6"/>
                </a:solidFill>
                <a:latin typeface="Calibri"/>
              </a:rPr>
              <a:t>BÖLÜM 4</a:t>
            </a:r>
          </a:p>
        </p:txBody>
      </p:sp>
      <p:sp>
        <p:nvSpPr>
          <p:cNvPr id="4" name="TextBox 3"/>
          <p:cNvSpPr txBox="1"/>
          <p:nvPr/>
        </p:nvSpPr>
        <p:spPr>
          <a:xfrm>
            <a:off x="548640" y="1325880"/>
            <a:ext cx="5760720" cy="914400"/>
          </a:xfrm>
          <a:prstGeom prst="rect">
            <a:avLst/>
          </a:prstGeom>
          <a:noFill/>
        </p:spPr>
        <p:txBody>
          <a:bodyPr wrap="square" anchor="t" lIns="45720" rIns="45720" tIns="18288" bIns="18288">
            <a:spAutoFit/>
          </a:bodyPr>
          <a:lstStyle/>
          <a:p>
            <a:pPr algn="l"/>
            <a:r>
              <a:rPr sz="4800" b="1" i="0">
                <a:solidFill>
                  <a:srgbClr val="FFFFFF"/>
                </a:solidFill>
                <a:latin typeface="Calibri"/>
              </a:rPr>
              <a:t>EL</a:t>
            </a:r>
          </a:p>
        </p:txBody>
      </p:sp>
      <p:sp>
        <p:nvSpPr>
          <p:cNvPr id="5" name="TextBox 4"/>
          <p:cNvSpPr txBox="1"/>
          <p:nvPr/>
        </p:nvSpPr>
        <p:spPr>
          <a:xfrm>
            <a:off x="548640" y="2377440"/>
            <a:ext cx="5760720" cy="822960"/>
          </a:xfrm>
          <a:prstGeom prst="rect">
            <a:avLst/>
          </a:prstGeom>
          <a:noFill/>
        </p:spPr>
        <p:txBody>
          <a:bodyPr wrap="square" anchor="t" lIns="45720" rIns="45720" tIns="18288" bIns="18288">
            <a:spAutoFit/>
          </a:bodyPr>
          <a:lstStyle/>
          <a:p>
            <a:pPr algn="l"/>
            <a:r>
              <a:rPr sz="1600" b="0" i="0">
                <a:solidFill>
                  <a:srgbClr val="C8D1E6"/>
                </a:solidFill>
                <a:latin typeface="Calibri"/>
              </a:rPr>
              <a:t>El bileği ve el</a:t>
            </a:r>
          </a:p>
          <a:p>
            <a:pPr algn="l"/>
            <a:r>
              <a:rPr sz="1600" b="0" i="0">
                <a:solidFill>
                  <a:srgbClr val="C8D1E6"/>
                </a:solidFill>
                <a:latin typeface="Calibri"/>
              </a:rPr>
              <a:t>Regio carpalis, palma manus ve dorsum manus</a:t>
            </a:r>
          </a:p>
        </p:txBody>
      </p:sp>
      <p:sp>
        <p:nvSpPr>
          <p:cNvPr id="6" name="TextBox 5"/>
          <p:cNvSpPr txBox="1"/>
          <p:nvPr/>
        </p:nvSpPr>
        <p:spPr>
          <a:xfrm>
            <a:off x="548640" y="3429000"/>
            <a:ext cx="5760720" cy="2926080"/>
          </a:xfrm>
          <a:prstGeom prst="rect">
            <a:avLst/>
          </a:prstGeom>
          <a:noFill/>
        </p:spPr>
        <p:txBody>
          <a:bodyPr wrap="square">
            <a:spAutoFit/>
          </a:bodyPr>
          <a:lstStyle/>
          <a:p>
            <a:pPr algn="l">
              <a:spcAft>
                <a:spcPts val="300"/>
              </a:spcAft>
            </a:pPr>
            <a:r>
              <a:rPr sz="1300" b="0" i="0">
                <a:solidFill>
                  <a:srgbClr val="FFFFFF"/>
                </a:solidFill>
                <a:latin typeface="Calibri"/>
              </a:rPr>
              <a:t>• Kemikler ve eklemler</a:t>
            </a:r>
          </a:p>
          <a:p>
            <a:pPr algn="l">
              <a:spcAft>
                <a:spcPts val="300"/>
              </a:spcAft>
            </a:pPr>
            <a:r>
              <a:rPr sz="1300" b="0" i="0">
                <a:solidFill>
                  <a:srgbClr val="FFFFFF"/>
                </a:solidFill>
                <a:latin typeface="Calibri"/>
              </a:rPr>
              <a:t>• Canalis carpi ve Guyon kanalı</a:t>
            </a:r>
          </a:p>
          <a:p>
            <a:pPr algn="l">
              <a:spcAft>
                <a:spcPts val="300"/>
              </a:spcAft>
            </a:pPr>
            <a:r>
              <a:rPr sz="1300" b="0" i="0">
                <a:solidFill>
                  <a:srgbClr val="FFFFFF"/>
                </a:solidFill>
                <a:latin typeface="Calibri"/>
              </a:rPr>
              <a:t>• Fovea radialis, ekstensör kompartmanlar</a:t>
            </a:r>
          </a:p>
          <a:p>
            <a:pPr algn="l">
              <a:spcAft>
                <a:spcPts val="300"/>
              </a:spcAft>
            </a:pPr>
            <a:r>
              <a:rPr sz="1300" b="0" i="0">
                <a:solidFill>
                  <a:srgbClr val="FFFFFF"/>
                </a:solidFill>
                <a:latin typeface="Calibri"/>
              </a:rPr>
              <a:t>• İntrinsik kaslar</a:t>
            </a:r>
          </a:p>
          <a:p>
            <a:pPr algn="l">
              <a:spcAft>
                <a:spcPts val="300"/>
              </a:spcAft>
            </a:pPr>
            <a:r>
              <a:rPr sz="1300" b="0" i="0">
                <a:solidFill>
                  <a:srgbClr val="FFFFFF"/>
                </a:solidFill>
                <a:latin typeface="Calibri"/>
              </a:rPr>
              <a:t>• Arcus palmares</a:t>
            </a:r>
          </a:p>
          <a:p>
            <a:pPr algn="l">
              <a:spcAft>
                <a:spcPts val="300"/>
              </a:spcAft>
            </a:pPr>
            <a:r>
              <a:rPr sz="1300" b="0" i="0">
                <a:solidFill>
                  <a:srgbClr val="FFFFFF"/>
                </a:solidFill>
                <a:latin typeface="Calibri"/>
              </a:rPr>
              <a:t>• Tendon düzeni</a:t>
            </a:r>
          </a:p>
          <a:p>
            <a:pPr algn="l">
              <a:spcAft>
                <a:spcPts val="300"/>
              </a:spcAft>
            </a:pPr>
            <a:r>
              <a:rPr sz="1300" b="0" i="0">
                <a:solidFill>
                  <a:srgbClr val="FFFFFF"/>
                </a:solidFill>
                <a:latin typeface="Calibri"/>
              </a:rPr>
              <a:t>• İnnervasyon</a:t>
            </a:r>
          </a:p>
          <a:p>
            <a:pPr algn="l">
              <a:spcAft>
                <a:spcPts val="300"/>
              </a:spcAft>
            </a:pPr>
            <a:r>
              <a:rPr sz="1300" b="0" i="0">
                <a:solidFill>
                  <a:srgbClr val="FFFFFF"/>
                </a:solidFill>
                <a:latin typeface="Calibri"/>
              </a:rPr>
              <a:t>• Klinik bağlantılar</a:t>
            </a:r>
          </a:p>
          <a:p>
            <a:pPr algn="l">
              <a:spcAft>
                <a:spcPts val="300"/>
              </a:spcAft>
            </a:pPr>
            <a:r>
              <a:rPr sz="1300" b="0" i="0">
                <a:solidFill>
                  <a:srgbClr val="FFFFFF"/>
                </a:solidFill>
                <a:latin typeface="Calibri"/>
              </a:rPr>
              <a:t>• Varyasyon literatürü</a:t>
            </a:r>
          </a:p>
        </p:txBody>
      </p:sp>
      <p:pic>
        <p:nvPicPr>
          <p:cNvPr id="7" name="Picture 6" descr="cryo_1830_R.jpg"/>
          <p:cNvPicPr>
            <a:picLocks noChangeAspect="1"/>
          </p:cNvPicPr>
          <p:nvPr/>
        </p:nvPicPr>
        <p:blipFill>
          <a:blip r:embed="rId2"/>
          <a:stretch>
            <a:fillRect/>
          </a:stretch>
        </p:blipFill>
        <p:spPr>
          <a:xfrm>
            <a:off x="6812280" y="365760"/>
            <a:ext cx="3049710" cy="2686649"/>
          </a:xfrm>
          <a:prstGeom prst="rect">
            <a:avLst/>
          </a:prstGeom>
        </p:spPr>
      </p:pic>
      <p:sp>
        <p:nvSpPr>
          <p:cNvPr id="8" name="TextBox 7"/>
          <p:cNvSpPr txBox="1"/>
          <p:nvPr/>
        </p:nvSpPr>
        <p:spPr>
          <a:xfrm>
            <a:off x="6720840" y="3052409"/>
            <a:ext cx="3232590"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1830</a:t>
            </a:r>
          </a:p>
        </p:txBody>
      </p:sp>
      <p:pic>
        <p:nvPicPr>
          <p:cNvPr id="9" name="Picture 8" descr="cureus-0017-00000099862-i02.jpg"/>
          <p:cNvPicPr>
            <a:picLocks noChangeAspect="1"/>
          </p:cNvPicPr>
          <p:nvPr/>
        </p:nvPicPr>
        <p:blipFill>
          <a:blip r:embed="rId3"/>
          <a:stretch>
            <a:fillRect/>
          </a:stretch>
        </p:blipFill>
        <p:spPr>
          <a:xfrm>
            <a:off x="9999150" y="365760"/>
            <a:ext cx="1933769" cy="2686649"/>
          </a:xfrm>
          <a:prstGeom prst="rect">
            <a:avLst/>
          </a:prstGeom>
        </p:spPr>
      </p:pic>
      <p:sp>
        <p:nvSpPr>
          <p:cNvPr id="10" name="TextBox 9"/>
          <p:cNvSpPr txBox="1"/>
          <p:nvPr/>
        </p:nvSpPr>
        <p:spPr>
          <a:xfrm>
            <a:off x="9907710" y="3052409"/>
            <a:ext cx="2116649"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Kapor S. ve ark., 2025 (PMC12823052, CC BY)</a:t>
            </a:r>
          </a:p>
        </p:txBody>
      </p:sp>
      <p:sp>
        <p:nvSpPr>
          <p:cNvPr id="11" name="TextBox 10"/>
          <p:cNvSpPr txBox="1"/>
          <p:nvPr/>
        </p:nvSpPr>
        <p:spPr>
          <a:xfrm>
            <a:off x="6812280" y="6309360"/>
            <a:ext cx="5120640" cy="502920"/>
          </a:xfrm>
          <a:prstGeom prst="rect">
            <a:avLst/>
          </a:prstGeom>
          <a:noFill/>
        </p:spPr>
        <p:txBody>
          <a:bodyPr wrap="square" anchor="t" lIns="45720" rIns="45720" tIns="18288" bIns="18288">
            <a:spAutoFit/>
          </a:bodyPr>
          <a:lstStyle/>
          <a:p>
            <a:pPr algn="l"/>
            <a:r>
              <a:rPr sz="700" b="0" i="0">
                <a:solidFill>
                  <a:srgbClr val="555B66"/>
                </a:solidFill>
                <a:latin typeface="Calibri"/>
              </a:rPr>
              <a:t>Görüntü: NLM Visible Human Project – Visible Human Male (NCI Imaging Data Commons, doi:10.5281/zenodo.12690049; NLM Terms and Conditions 2019). İşleme/kırpma: bu proje.  •  Kapor S., Bjelogrlic P., Simic V. et al. Anatomical Variations of the Neurovascular Structures of the Hand and the Clinical Significance. Cureus. 2025 Dec 22;17(12):e99862. doi: 10.7759/cureus.99862 PMCID: PMC12823052.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ve el kemikleri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Ossa carpi, ossa metacarpi, phalanges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Proksimal sıra (lateralden mediale):</a:t>
            </a:r>
            <a:r>
              <a:rPr sz="1300" b="0" i="0">
                <a:solidFill>
                  <a:srgbClr val="1F2A44"/>
                </a:solidFill>
                <a:latin typeface="Calibri"/>
              </a:rPr>
              <a:t> os scaphoideum, os lunatum, os triquetrum, os pisiforme. </a:t>
            </a:r>
            <a:r>
              <a:rPr sz="1300" b="0" i="0">
                <a:solidFill>
                  <a:srgbClr val="1F2A44"/>
                </a:solidFill>
                <a:latin typeface="Calibri"/>
              </a:rPr>
              <a:t>Distal sıra:</a:t>
            </a:r>
            <a:r>
              <a:rPr sz="1300" b="0" i="0">
                <a:solidFill>
                  <a:srgbClr val="1F2A44"/>
                </a:solidFill>
                <a:latin typeface="Calibri"/>
              </a:rPr>
              <a:t> os trapezium, os trapezoideum, os capitatum, os hamatum.</a:t>
            </a:r>
          </a:p>
          <a:p>
            <a:pPr algn="l">
              <a:spcAft>
                <a:spcPts val="300"/>
              </a:spcAft>
            </a:pPr>
            <a:r>
              <a:rPr sz="1300" b="0" i="0">
                <a:solidFill>
                  <a:srgbClr val="1F2A44"/>
                </a:solidFill>
                <a:latin typeface="Calibri"/>
              </a:rPr>
              <a:t>• </a:t>
            </a:r>
            <a:r>
              <a:rPr sz="1300" b="0" i="0">
                <a:solidFill>
                  <a:srgbClr val="1F2A44"/>
                </a:solidFill>
                <a:latin typeface="Calibri"/>
              </a:rPr>
              <a:t>Os scaphoideum:</a:t>
            </a:r>
            <a:r>
              <a:rPr sz="1300" b="0" i="0">
                <a:solidFill>
                  <a:srgbClr val="1F2A44"/>
                </a:solidFill>
                <a:latin typeface="Calibri"/>
              </a:rPr>
              <a:t> en sık kırılan karpal kemik; beslenmesi distalden proksimale (retrograd) olduğundan proksimal kutup kırıklarında </a:t>
            </a:r>
            <a:r>
              <a:rPr sz="1300" b="0" i="0">
                <a:solidFill>
                  <a:srgbClr val="1F2A44"/>
                </a:solidFill>
                <a:latin typeface="Calibri"/>
              </a:rPr>
              <a:t>avasküler nekroz</a:t>
            </a:r>
            <a:r>
              <a:rPr sz="1300" b="0" i="0">
                <a:solidFill>
                  <a:srgbClr val="1F2A44"/>
                </a:solidFill>
                <a:latin typeface="Calibri"/>
              </a:rPr>
              <a:t> riski yüksektir. Hassasiyet fovea radialis'te aranır.</a:t>
            </a:r>
          </a:p>
          <a:p>
            <a:pPr algn="l">
              <a:spcAft>
                <a:spcPts val="300"/>
              </a:spcAft>
            </a:pPr>
            <a:r>
              <a:rPr sz="1300" b="0" i="0">
                <a:solidFill>
                  <a:srgbClr val="1F2A44"/>
                </a:solidFill>
                <a:latin typeface="Calibri"/>
              </a:rPr>
              <a:t>• </a:t>
            </a:r>
            <a:r>
              <a:rPr sz="1300" b="0" i="0">
                <a:solidFill>
                  <a:srgbClr val="1F2A44"/>
                </a:solidFill>
                <a:latin typeface="Calibri"/>
              </a:rPr>
              <a:t>Os lunatum:</a:t>
            </a:r>
            <a:r>
              <a:rPr sz="1300" b="0" i="0">
                <a:solidFill>
                  <a:srgbClr val="1F2A44"/>
                </a:solidFill>
                <a:latin typeface="Calibri"/>
              </a:rPr>
              <a:t> en sık çıkan karpal kemik; volar çıkıkta canalis carpi'ye bası yapabilir.</a:t>
            </a:r>
          </a:p>
          <a:p>
            <a:pPr algn="l">
              <a:spcAft>
                <a:spcPts val="300"/>
              </a:spcAft>
            </a:pPr>
            <a:r>
              <a:rPr sz="1300" b="0" i="0">
                <a:solidFill>
                  <a:srgbClr val="1F2A44"/>
                </a:solidFill>
                <a:latin typeface="Calibri"/>
              </a:rPr>
              <a:t>• </a:t>
            </a:r>
            <a:r>
              <a:rPr sz="1300" b="0" i="0">
                <a:solidFill>
                  <a:srgbClr val="1F2A44"/>
                </a:solidFill>
                <a:latin typeface="Calibri"/>
              </a:rPr>
              <a:t>Ossa metacarpi:</a:t>
            </a:r>
            <a:r>
              <a:rPr sz="1300" b="0" i="0">
                <a:solidFill>
                  <a:srgbClr val="1F2A44"/>
                </a:solidFill>
                <a:latin typeface="Calibri"/>
              </a:rPr>
              <a:t> başparmağın MC I'i kısa ve hareketlidir (art. carpometacarpalis pollicis – eyer eklemi, opozisyon). 'Boksör kırığı' MC V boynundadır.</a:t>
            </a:r>
          </a:p>
        </p:txBody>
      </p:sp>
      <p:pic>
        <p:nvPicPr>
          <p:cNvPr id="8" name="Picture 7" descr="cryo_1800_R.jpg"/>
          <p:cNvPicPr>
            <a:picLocks noChangeAspect="1"/>
          </p:cNvPicPr>
          <p:nvPr/>
        </p:nvPicPr>
        <p:blipFill>
          <a:blip r:embed="rId2"/>
          <a:stretch>
            <a:fillRect/>
          </a:stretch>
        </p:blipFill>
        <p:spPr>
          <a:xfrm>
            <a:off x="7040880" y="1878480"/>
            <a:ext cx="4892040" cy="3466799"/>
          </a:xfrm>
          <a:prstGeom prst="rect">
            <a:avLst/>
          </a:prstGeom>
        </p:spPr>
      </p:pic>
      <p:sp>
        <p:nvSpPr>
          <p:cNvPr id="9" name="TextBox 8"/>
          <p:cNvSpPr txBox="1"/>
          <p:nvPr/>
        </p:nvSpPr>
        <p:spPr>
          <a:xfrm>
            <a:off x="6949440" y="5345280"/>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VHP-M kesit 1800 – karpal kemikler ve tenar kitle</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Görüntü: NLM Visible Human Project – Visible Human Male (NCI Imaging Data Commons, doi:10.5281/zenodo.12690049; NLM Terms and Conditions 2019). İşleme/kırpma: bu proje.</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eklemleri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Art. radiocarpalis, art. mediocarpalis, art. radioulnaris distalis</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Art. radiocarpalis:</a:t>
            </a:r>
            <a:r>
              <a:rPr sz="1650" b="0" i="0">
                <a:solidFill>
                  <a:srgbClr val="1F2A44"/>
                </a:solidFill>
                <a:latin typeface="Calibri"/>
              </a:rPr>
              <a:t> radius distal yüzü ve </a:t>
            </a:r>
            <a:r>
              <a:rPr sz="1650" b="0" i="0">
                <a:solidFill>
                  <a:srgbClr val="1F2A44"/>
                </a:solidFill>
                <a:latin typeface="Calibri"/>
              </a:rPr>
              <a:t>discus articularis (TFCC)</a:t>
            </a:r>
            <a:r>
              <a:rPr sz="1650" b="0" i="0">
                <a:solidFill>
                  <a:srgbClr val="1F2A44"/>
                </a:solidFill>
                <a:latin typeface="Calibri"/>
              </a:rPr>
              <a:t> ile proksimal karpal sıra (scaphoideum, lunatum, triquetrum) arasında elipsoid eklem. </a:t>
            </a:r>
            <a:r>
              <a:rPr sz="1650" b="0" i="0">
                <a:solidFill>
                  <a:srgbClr val="1F2A44"/>
                </a:solidFill>
                <a:latin typeface="Calibri"/>
              </a:rPr>
              <a:t>Ulna doğrudan katılmaz.</a:t>
            </a:r>
          </a:p>
          <a:p>
            <a:pPr algn="l">
              <a:spcAft>
                <a:spcPts val="300"/>
              </a:spcAft>
            </a:pPr>
            <a:r>
              <a:rPr sz="1650" b="0" i="0">
                <a:solidFill>
                  <a:srgbClr val="1F2A44"/>
                </a:solidFill>
                <a:latin typeface="Calibri"/>
              </a:rPr>
              <a:t>• </a:t>
            </a:r>
            <a:r>
              <a:rPr sz="1650" b="0" i="0">
                <a:solidFill>
                  <a:srgbClr val="1F2A44"/>
                </a:solidFill>
                <a:latin typeface="Calibri"/>
              </a:rPr>
              <a:t>Art. mediocarpalis:</a:t>
            </a:r>
            <a:r>
              <a:rPr sz="1650" b="0" i="0">
                <a:solidFill>
                  <a:srgbClr val="1F2A44"/>
                </a:solidFill>
                <a:latin typeface="Calibri"/>
              </a:rPr>
              <a:t> iki karpal sıra arasında; el bileği hareketlerinin önemli bölümü burada gerçekleşir.</a:t>
            </a:r>
          </a:p>
          <a:p>
            <a:pPr algn="l">
              <a:spcAft>
                <a:spcPts val="300"/>
              </a:spcAft>
            </a:pPr>
            <a:r>
              <a:rPr sz="1650" b="0" i="0">
                <a:solidFill>
                  <a:srgbClr val="1F2A44"/>
                </a:solidFill>
                <a:latin typeface="Calibri"/>
              </a:rPr>
              <a:t>• </a:t>
            </a:r>
            <a:r>
              <a:rPr sz="1650" b="0" i="0">
                <a:solidFill>
                  <a:srgbClr val="1F2A44"/>
                </a:solidFill>
                <a:latin typeface="Calibri"/>
              </a:rPr>
              <a:t>Art. radioulnaris distalis:</a:t>
            </a:r>
            <a:r>
              <a:rPr sz="1650" b="0" i="0">
                <a:solidFill>
                  <a:srgbClr val="1F2A44"/>
                </a:solidFill>
                <a:latin typeface="Calibri"/>
              </a:rPr>
              <a:t> caput ulnae – incisura ulnaris radii; TFCC ana stabilizatördür (pronasyon/supinasyon).</a:t>
            </a:r>
          </a:p>
          <a:p>
            <a:pPr algn="l">
              <a:spcAft>
                <a:spcPts val="300"/>
              </a:spcAft>
            </a:pPr>
            <a:r>
              <a:rPr sz="1650" b="0" i="0">
                <a:solidFill>
                  <a:srgbClr val="1F2A44"/>
                </a:solidFill>
                <a:latin typeface="Calibri"/>
              </a:rPr>
              <a:t>• </a:t>
            </a:r>
            <a:r>
              <a:rPr sz="1650" b="0" i="0">
                <a:solidFill>
                  <a:srgbClr val="1F2A44"/>
                </a:solidFill>
                <a:latin typeface="Calibri"/>
              </a:rPr>
              <a:t>Bağlar:</a:t>
            </a:r>
            <a:r>
              <a:rPr sz="1650" b="0" i="0">
                <a:solidFill>
                  <a:srgbClr val="1F2A44"/>
                </a:solidFill>
                <a:latin typeface="Calibri"/>
              </a:rPr>
              <a:t> ligg. radiocarpalia palmaria et dorsalia, lig. collaterale carpi ulnare/radiale; intrinsik </a:t>
            </a:r>
            <a:r>
              <a:rPr sz="1650" b="0" i="0">
                <a:solidFill>
                  <a:srgbClr val="1F2A44"/>
                </a:solidFill>
                <a:latin typeface="Calibri"/>
              </a:rPr>
              <a:t>lig. scapholunatum</a:t>
            </a:r>
            <a:r>
              <a:rPr sz="1650" b="0" i="0">
                <a:solidFill>
                  <a:srgbClr val="1F2A44"/>
                </a:solidFill>
                <a:latin typeface="Calibri"/>
              </a:rPr>
              <a:t> yırtığı karpal instabilitenin en sık nedenidir.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Canalis carpi (karpal tünel)</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Retinaculum musculorum flexorum altındaki osteofibröz kanal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Duvarlar:</a:t>
            </a:r>
            <a:r>
              <a:rPr sz="1300" b="0" i="0">
                <a:solidFill>
                  <a:srgbClr val="1F2A44"/>
                </a:solidFill>
                <a:latin typeface="Calibri"/>
              </a:rPr>
              <a:t> taban ve yanlar karpal kemiklerin oluşturduğu oluk; </a:t>
            </a:r>
            <a:r>
              <a:rPr sz="1300" b="0" i="0">
                <a:solidFill>
                  <a:srgbClr val="1F2A44"/>
                </a:solidFill>
                <a:latin typeface="Calibri"/>
              </a:rPr>
              <a:t>çatı retinaculum musculorum flexorum</a:t>
            </a:r>
            <a:r>
              <a:rPr sz="1300" b="0" i="0">
                <a:solidFill>
                  <a:srgbClr val="1F2A44"/>
                </a:solidFill>
                <a:latin typeface="Calibri"/>
              </a:rPr>
              <a:t> (lig. carpi transversum) – tuberculum ossis scaphoidei ve trapezii ↔ os pisiforme ve hamulus ossis hamati.</a:t>
            </a:r>
          </a:p>
          <a:p>
            <a:pPr algn="l">
              <a:spcAft>
                <a:spcPts val="300"/>
              </a:spcAft>
            </a:pPr>
            <a:r>
              <a:rPr sz="1300" b="0" i="0">
                <a:solidFill>
                  <a:srgbClr val="1F2A44"/>
                </a:solidFill>
                <a:latin typeface="Calibri"/>
              </a:rPr>
              <a:t>• </a:t>
            </a:r>
            <a:r>
              <a:rPr sz="1300" b="0" i="0">
                <a:solidFill>
                  <a:srgbClr val="1F2A44"/>
                </a:solidFill>
                <a:latin typeface="Calibri"/>
              </a:rPr>
              <a:t>İçerik:</a:t>
            </a:r>
            <a:r>
              <a:rPr sz="1300" b="0" i="0">
                <a:solidFill>
                  <a:srgbClr val="1F2A44"/>
                </a:solidFill>
                <a:latin typeface="Calibri"/>
              </a:rPr>
              <a:t> </a:t>
            </a:r>
            <a:r>
              <a:rPr sz="1300" b="0" i="0">
                <a:solidFill>
                  <a:srgbClr val="1F2A44"/>
                </a:solidFill>
                <a:latin typeface="Calibri"/>
              </a:rPr>
              <a:t>n. medianus</a:t>
            </a:r>
            <a:r>
              <a:rPr sz="1300" b="0" i="0">
                <a:solidFill>
                  <a:srgbClr val="1F2A44"/>
                </a:solidFill>
                <a:latin typeface="Calibri"/>
              </a:rPr>
              <a:t> + 4 FDS + 4 FDP + FPL tendonu (</a:t>
            </a:r>
            <a:r>
              <a:rPr sz="1300" b="0" i="0">
                <a:solidFill>
                  <a:srgbClr val="1F2A44"/>
                </a:solidFill>
                <a:latin typeface="Calibri"/>
              </a:rPr>
              <a:t>9 tendon</a:t>
            </a:r>
            <a:r>
              <a:rPr sz="1300" b="0" i="0">
                <a:solidFill>
                  <a:srgbClr val="1F2A44"/>
                </a:solidFill>
                <a:latin typeface="Calibri"/>
              </a:rPr>
              <a:t>). FCR tendonu retinakulum içinde ayrı bir bölmeden geçer.</a:t>
            </a:r>
          </a:p>
          <a:p>
            <a:pPr algn="l">
              <a:spcAft>
                <a:spcPts val="300"/>
              </a:spcAft>
            </a:pPr>
            <a:r>
              <a:rPr sz="1300" b="0" i="0">
                <a:solidFill>
                  <a:srgbClr val="1F2A44"/>
                </a:solidFill>
                <a:latin typeface="Calibri"/>
              </a:rPr>
              <a:t>• </a:t>
            </a:r>
            <a:r>
              <a:rPr sz="1300" b="0" i="0">
                <a:solidFill>
                  <a:srgbClr val="1F2A44"/>
                </a:solidFill>
                <a:latin typeface="Calibri"/>
              </a:rPr>
              <a:t>R. palmaris n. mediani</a:t>
            </a:r>
            <a:r>
              <a:rPr sz="1300" b="0" i="0">
                <a:solidFill>
                  <a:srgbClr val="1F2A44"/>
                </a:solidFill>
                <a:latin typeface="Calibri"/>
              </a:rPr>
              <a:t> kanalın </a:t>
            </a:r>
            <a:r>
              <a:rPr sz="1300" b="0" i="0">
                <a:solidFill>
                  <a:srgbClr val="1F2A44"/>
                </a:solidFill>
                <a:latin typeface="Calibri"/>
              </a:rPr>
              <a:t>dışından</a:t>
            </a:r>
            <a:r>
              <a:rPr sz="1300" b="0" i="0">
                <a:solidFill>
                  <a:srgbClr val="1F2A44"/>
                </a:solidFill>
                <a:latin typeface="Calibri"/>
              </a:rPr>
              <a:t>, retinakulumun yüzeyinden geçer → karpal tünel sendromunda tenar bölge cildinin duyusu korunur.</a:t>
            </a:r>
          </a:p>
          <a:p>
            <a:pPr algn="l">
              <a:spcAft>
                <a:spcPts val="300"/>
              </a:spcAft>
            </a:pPr>
            <a:r>
              <a:rPr sz="1300" b="0" i="0">
                <a:solidFill>
                  <a:srgbClr val="1F2A44"/>
                </a:solidFill>
                <a:latin typeface="Calibri"/>
              </a:rPr>
              <a:t>• </a:t>
            </a:r>
            <a:r>
              <a:rPr sz="1300" b="0" i="0">
                <a:solidFill>
                  <a:srgbClr val="1F2A44"/>
                </a:solidFill>
                <a:latin typeface="Calibri"/>
              </a:rPr>
              <a:t>R. recurrens (motor tenar dal)</a:t>
            </a:r>
            <a:r>
              <a:rPr sz="1300" b="0" i="0">
                <a:solidFill>
                  <a:srgbClr val="1F2A44"/>
                </a:solidFill>
                <a:latin typeface="Calibri"/>
              </a:rPr>
              <a:t> genellikle retinakulumun distal kenarında çıkar; ancak varyasyonları sıktır – cerrahide yaralanma riski (bölüm sonu varyasyonlar).</a:t>
            </a:r>
          </a:p>
        </p:txBody>
      </p:sp>
      <p:pic>
        <p:nvPicPr>
          <p:cNvPr id="8" name="Picture 7" descr="1754-9493-8-8-1.jpg"/>
          <p:cNvPicPr>
            <a:picLocks noChangeAspect="1"/>
          </p:cNvPicPr>
          <p:nvPr/>
        </p:nvPicPr>
        <p:blipFill>
          <a:blip r:embed="rId2"/>
          <a:stretch>
            <a:fillRect/>
          </a:stretch>
        </p:blipFill>
        <p:spPr>
          <a:xfrm>
            <a:off x="7040880" y="1781441"/>
            <a:ext cx="4892040" cy="3660876"/>
          </a:xfrm>
          <a:prstGeom prst="rect">
            <a:avLst/>
          </a:prstGeom>
        </p:spPr>
      </p:pic>
      <p:sp>
        <p:nvSpPr>
          <p:cNvPr id="9" name="TextBox 8"/>
          <p:cNvSpPr txBox="1"/>
          <p:nvPr/>
        </p:nvSpPr>
        <p:spPr>
          <a:xfrm>
            <a:off x="6949440" y="5442318"/>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Samarakoon Lasitha B ve ark., 2014 (PMC3931286,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Samarakoon Lasitha B, Guruge Malith H, Jayasekara Madusha et al. Anatomical landmarks for safer carpal tunnel decompression: an experimental cadaveric study. Patient Saf Surg. 2014 Feb 17;8:8. doi: 10.1186/1754-9493-8-8 PMCID: PMC3931286.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Canalis ulnaris (Guyon kanalı)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 ulnaris ve a. ulnaris'in el bileğindeki geçidi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Sınırlar:</a:t>
            </a:r>
            <a:r>
              <a:rPr sz="1650" b="0" i="0">
                <a:solidFill>
                  <a:srgbClr val="1F2A44"/>
                </a:solidFill>
                <a:latin typeface="Calibri"/>
              </a:rPr>
              <a:t> çatı lig. carpi palmare (ve m. palmaris brevis), taban retinaculum flexorum ve lig. pisohamatum, medialde </a:t>
            </a:r>
            <a:r>
              <a:rPr sz="1650" b="0" i="0">
                <a:solidFill>
                  <a:srgbClr val="1F2A44"/>
                </a:solidFill>
                <a:latin typeface="Calibri"/>
              </a:rPr>
              <a:t>os pisiforme</a:t>
            </a:r>
            <a:r>
              <a:rPr sz="1650" b="0" i="0">
                <a:solidFill>
                  <a:srgbClr val="1F2A44"/>
                </a:solidFill>
                <a:latin typeface="Calibri"/>
              </a:rPr>
              <a:t>, lateralde </a:t>
            </a:r>
            <a:r>
              <a:rPr sz="1650" b="0" i="0">
                <a:solidFill>
                  <a:srgbClr val="1F2A44"/>
                </a:solidFill>
                <a:latin typeface="Calibri"/>
              </a:rPr>
              <a:t>hamulus ossis hamati</a:t>
            </a:r>
            <a:r>
              <a:rPr sz="1650" b="0" i="0">
                <a:solidFill>
                  <a:srgbClr val="1F2A44"/>
                </a:solidFill>
                <a:latin typeface="Calibri"/>
              </a:rPr>
              <a:t>.</a:t>
            </a:r>
          </a:p>
          <a:p>
            <a:pPr algn="l">
              <a:spcAft>
                <a:spcPts val="300"/>
              </a:spcAft>
            </a:pPr>
            <a:r>
              <a:rPr sz="1650" b="0" i="0">
                <a:solidFill>
                  <a:srgbClr val="1F2A44"/>
                </a:solidFill>
                <a:latin typeface="Calibri"/>
              </a:rPr>
              <a:t>• </a:t>
            </a:r>
            <a:r>
              <a:rPr sz="1650" b="0" i="0">
                <a:solidFill>
                  <a:srgbClr val="1F2A44"/>
                </a:solidFill>
                <a:latin typeface="Calibri"/>
              </a:rPr>
              <a:t>İçerik:</a:t>
            </a:r>
            <a:r>
              <a:rPr sz="1650" b="0" i="0">
                <a:solidFill>
                  <a:srgbClr val="1F2A44"/>
                </a:solidFill>
                <a:latin typeface="Calibri"/>
              </a:rPr>
              <a:t> n. ulnaris ve a. ulnaris (v. ulnaris'lerle). Sinir kanal içinde </a:t>
            </a:r>
            <a:r>
              <a:rPr sz="1650" b="0" i="0">
                <a:solidFill>
                  <a:srgbClr val="1F2A44"/>
                </a:solidFill>
                <a:latin typeface="Calibri"/>
              </a:rPr>
              <a:t>r. superficialis</a:t>
            </a:r>
            <a:r>
              <a:rPr sz="1650" b="0" i="0">
                <a:solidFill>
                  <a:srgbClr val="1F2A44"/>
                </a:solidFill>
                <a:latin typeface="Calibri"/>
              </a:rPr>
              <a:t> (duyusal) ve </a:t>
            </a:r>
            <a:r>
              <a:rPr sz="1650" b="0" i="0">
                <a:solidFill>
                  <a:srgbClr val="1F2A44"/>
                </a:solidFill>
                <a:latin typeface="Calibri"/>
              </a:rPr>
              <a:t>r. profundus</a:t>
            </a:r>
            <a:r>
              <a:rPr sz="1650" b="0" i="0">
                <a:solidFill>
                  <a:srgbClr val="1F2A44"/>
                </a:solidFill>
                <a:latin typeface="Calibri"/>
              </a:rPr>
              <a:t>'a (motor) ayrılır.</a:t>
            </a:r>
          </a:p>
          <a:p>
            <a:pPr algn="l">
              <a:spcAft>
                <a:spcPts val="300"/>
              </a:spcAft>
            </a:pPr>
            <a:r>
              <a:rPr sz="1650" b="0" i="0">
                <a:solidFill>
                  <a:srgbClr val="1F2A44"/>
                </a:solidFill>
                <a:latin typeface="Calibri"/>
              </a:rPr>
              <a:t>• </a:t>
            </a:r>
            <a:r>
              <a:rPr sz="1650" b="0" i="0">
                <a:solidFill>
                  <a:srgbClr val="1F2A44"/>
                </a:solidFill>
                <a:latin typeface="Calibri"/>
              </a:rPr>
              <a:t>Zonlar:</a:t>
            </a:r>
            <a:r>
              <a:rPr sz="1650" b="0" i="0">
                <a:solidFill>
                  <a:srgbClr val="1F2A44"/>
                </a:solidFill>
                <a:latin typeface="Calibri"/>
              </a:rPr>
              <a:t> Zon I (bölünme öncesi – motor + duyusal), Zon II (derin motor dal – saf motor), Zon III (yüzeyel dal – saf duyusal).</a:t>
            </a:r>
          </a:p>
          <a:p>
            <a:pPr algn="l">
              <a:spcAft>
                <a:spcPts val="300"/>
              </a:spcAft>
            </a:pPr>
            <a:r>
              <a:rPr sz="1650" b="0" i="0">
                <a:solidFill>
                  <a:srgbClr val="1F2A44"/>
                </a:solidFill>
                <a:latin typeface="Calibri"/>
              </a:rPr>
              <a:t>• Kubital tünelden farklı olarak Guyon kanalı sıkışmasında </a:t>
            </a:r>
            <a:r>
              <a:rPr sz="1650" b="0" i="0">
                <a:solidFill>
                  <a:srgbClr val="1F2A44"/>
                </a:solidFill>
                <a:latin typeface="Calibri"/>
              </a:rPr>
              <a:t>el sırtı ulnar yarısının duyusu korunur</a:t>
            </a:r>
            <a:r>
              <a:rPr sz="1650" b="0" i="0">
                <a:solidFill>
                  <a:srgbClr val="1F2A44"/>
                </a:solidFill>
                <a:latin typeface="Calibri"/>
              </a:rPr>
              <a:t> (r. dorsalis n. ulnaris kanalın proksimalinde ayrılır).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Fovea radialis (anatomik enfiye çukuru) ve ekstensör kompartmanlar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 bileğinin dorsal topografisi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Fovea radialis:</a:t>
            </a:r>
            <a:r>
              <a:rPr sz="1650" b="0" i="0">
                <a:solidFill>
                  <a:srgbClr val="1F2A44"/>
                </a:solidFill>
                <a:latin typeface="Calibri"/>
              </a:rPr>
              <a:t> ulnarda </a:t>
            </a:r>
            <a:r>
              <a:rPr sz="1650" b="0" i="0">
                <a:solidFill>
                  <a:srgbClr val="1F2A44"/>
                </a:solidFill>
                <a:latin typeface="Calibri"/>
              </a:rPr>
              <a:t>m. extensor pollicis longus</a:t>
            </a:r>
            <a:r>
              <a:rPr sz="1650" b="0" i="0">
                <a:solidFill>
                  <a:srgbClr val="1F2A44"/>
                </a:solidFill>
                <a:latin typeface="Calibri"/>
              </a:rPr>
              <a:t>, radialde </a:t>
            </a:r>
            <a:r>
              <a:rPr sz="1650" b="0" i="0">
                <a:solidFill>
                  <a:srgbClr val="1F2A44"/>
                </a:solidFill>
                <a:latin typeface="Calibri"/>
              </a:rPr>
              <a:t>m. extensor pollicis brevis</a:t>
            </a:r>
            <a:r>
              <a:rPr sz="1650" b="0" i="0">
                <a:solidFill>
                  <a:srgbClr val="1F2A44"/>
                </a:solidFill>
                <a:latin typeface="Calibri"/>
              </a:rPr>
              <a:t> ve </a:t>
            </a:r>
            <a:r>
              <a:rPr sz="1650" b="0" i="0">
                <a:solidFill>
                  <a:srgbClr val="1F2A44"/>
                </a:solidFill>
                <a:latin typeface="Calibri"/>
              </a:rPr>
              <a:t>m. abductor pollicis longus</a:t>
            </a:r>
            <a:r>
              <a:rPr sz="1650" b="0" i="0">
                <a:solidFill>
                  <a:srgbClr val="1F2A44"/>
                </a:solidFill>
                <a:latin typeface="Calibri"/>
              </a:rPr>
              <a:t> tendonları; tabanında os scaphoideum ve os trapezium, içinde </a:t>
            </a:r>
            <a:r>
              <a:rPr sz="1650" b="0" i="0">
                <a:solidFill>
                  <a:srgbClr val="1F2A44"/>
                </a:solidFill>
                <a:latin typeface="Calibri"/>
              </a:rPr>
              <a:t>a. radialis</a:t>
            </a:r>
            <a:r>
              <a:rPr sz="1650" b="0" i="0">
                <a:solidFill>
                  <a:srgbClr val="1F2A44"/>
                </a:solidFill>
                <a:latin typeface="Calibri"/>
              </a:rPr>
              <a:t> seyreder.</a:t>
            </a:r>
          </a:p>
          <a:p>
            <a:pPr algn="l">
              <a:spcAft>
                <a:spcPts val="300"/>
              </a:spcAft>
            </a:pPr>
            <a:r>
              <a:rPr sz="1650" b="0" i="0">
                <a:solidFill>
                  <a:srgbClr val="1F2A44"/>
                </a:solidFill>
                <a:latin typeface="Calibri"/>
              </a:rPr>
              <a:t>• </a:t>
            </a:r>
            <a:r>
              <a:rPr sz="1650" b="0" i="0">
                <a:solidFill>
                  <a:srgbClr val="1F2A44"/>
                </a:solidFill>
                <a:latin typeface="Calibri"/>
              </a:rPr>
              <a:t>Retinaculum extensorum altında 6 kompartman:</a:t>
            </a:r>
            <a:r>
              <a:rPr sz="1650" b="0" i="0">
                <a:solidFill>
                  <a:srgbClr val="1F2A44"/>
                </a:solidFill>
                <a:latin typeface="Calibri"/>
              </a:rPr>
              <a:t> I – APL + EPB (</a:t>
            </a:r>
            <a:r>
              <a:rPr sz="1650" b="0" i="0">
                <a:solidFill>
                  <a:srgbClr val="1F2A44"/>
                </a:solidFill>
                <a:latin typeface="Calibri"/>
              </a:rPr>
              <a:t>de Quervain tenosinoviti</a:t>
            </a:r>
            <a:r>
              <a:rPr sz="1650" b="0" i="0">
                <a:solidFill>
                  <a:srgbClr val="1F2A44"/>
                </a:solidFill>
                <a:latin typeface="Calibri"/>
              </a:rPr>
              <a:t>); II – ECRL + ECRB; III – EPL (tuberculum dorsale [Lister] etrafında döner); IV – ED + EI; V – EDM; VI – ECU.</a:t>
            </a:r>
          </a:p>
          <a:p>
            <a:pPr algn="l">
              <a:spcAft>
                <a:spcPts val="300"/>
              </a:spcAft>
            </a:pPr>
            <a:r>
              <a:rPr sz="1650" b="0" i="0">
                <a:solidFill>
                  <a:srgbClr val="1F2A44"/>
                </a:solidFill>
                <a:latin typeface="Calibri"/>
              </a:rPr>
              <a:t>• Distal radius kırıklarından sonra EPL tendonu Lister tüberkülü çevresinde yıpranarak rüptüre olabilir.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Elin intrinsik kasları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Tenar, hipotenar ve orta grup</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TABLO</a:t>
            </a:r>
          </a:p>
        </p:txBody>
      </p:sp>
      <p:graphicFrame>
        <p:nvGraphicFramePr>
          <p:cNvPr id="7" name="Table 6"/>
          <p:cNvGraphicFramePr>
            <a:graphicFrameLocks noGrp="1"/>
          </p:cNvGraphicFramePr>
          <p:nvPr/>
        </p:nvGraphicFramePr>
        <p:xfrm>
          <a:off x="274320" y="1188720"/>
          <a:ext cx="11640312" cy="4526280"/>
        </p:xfrm>
        <a:graphic>
          <a:graphicData uri="http://schemas.openxmlformats.org/drawingml/2006/table">
            <a:tbl>
              <a:tblPr firstRow="1" bandRow="1">
                <a:tableStyleId>{5C22544A-7EE6-4342-B048-85BDC9FD1C3A}</a:tableStyleId>
              </a:tblPr>
              <a:tblGrid>
                <a:gridCol w="2910078"/>
                <a:gridCol w="2910078"/>
                <a:gridCol w="2910078"/>
                <a:gridCol w="2910078"/>
              </a:tblGrid>
              <a:tr h="646611">
                <a:tc>
                  <a:txBody>
                    <a:bodyPr/>
                    <a:lstStyle/>
                    <a:p>
                      <a:r>
                        <a:rPr sz="1200" b="1">
                          <a:solidFill>
                            <a:srgbClr val="FFFFFF"/>
                          </a:solidFill>
                          <a:latin typeface="Calibri"/>
                        </a:rPr>
                        <a:t>Grup / kas</a:t>
                      </a:r>
                    </a:p>
                  </a:txBody>
                  <a:tcPr>
                    <a:solidFill>
                      <a:srgbClr val="1F2A44"/>
                    </a:solidFill>
                  </a:tcPr>
                </a:tc>
                <a:tc>
                  <a:txBody>
                    <a:bodyPr/>
                    <a:lstStyle/>
                    <a:p>
                      <a:r>
                        <a:rPr sz="1200" b="1">
                          <a:solidFill>
                            <a:srgbClr val="FFFFFF"/>
                          </a:solidFill>
                          <a:latin typeface="Calibri"/>
                        </a:rPr>
                        <a:t>Yapışma (özet)</a:t>
                      </a:r>
                    </a:p>
                  </a:txBody>
                  <a:tcPr>
                    <a:solidFill>
                      <a:srgbClr val="1F2A44"/>
                    </a:solidFill>
                  </a:tcPr>
                </a:tc>
                <a:tc>
                  <a:txBody>
                    <a:bodyPr/>
                    <a:lstStyle/>
                    <a:p>
                      <a:r>
                        <a:rPr sz="1200" b="1">
                          <a:solidFill>
                            <a:srgbClr val="FFFFFF"/>
                          </a:solidFill>
                          <a:latin typeface="Calibri"/>
                        </a:rPr>
                        <a:t>Sinir</a:t>
                      </a:r>
                    </a:p>
                  </a:txBody>
                  <a:tcPr>
                    <a:solidFill>
                      <a:srgbClr val="1F2A44"/>
                    </a:solidFill>
                  </a:tcPr>
                </a:tc>
                <a:tc>
                  <a:txBody>
                    <a:bodyPr/>
                    <a:lstStyle/>
                    <a:p>
                      <a:r>
                        <a:rPr sz="1200" b="1">
                          <a:solidFill>
                            <a:srgbClr val="FFFFFF"/>
                          </a:solidFill>
                          <a:latin typeface="Calibri"/>
                        </a:rPr>
                        <a:t>İşlev</a:t>
                      </a:r>
                    </a:p>
                  </a:txBody>
                  <a:tcPr>
                    <a:solidFill>
                      <a:srgbClr val="1F2A44"/>
                    </a:solidFill>
                  </a:tcPr>
                </a:tc>
              </a:tr>
              <a:tr h="646611">
                <a:tc>
                  <a:txBody>
                    <a:bodyPr/>
                    <a:lstStyle/>
                    <a:p>
                      <a:r>
                        <a:rPr sz="1100" b="1">
                          <a:solidFill>
                            <a:srgbClr val="1F2A44"/>
                          </a:solidFill>
                          <a:latin typeface="Calibri"/>
                        </a:rPr>
                        <a:t>Tenar: m. abductor pollicis brevis, m. opponens pollicis</a:t>
                      </a:r>
                    </a:p>
                  </a:txBody>
                  <a:tcPr>
                    <a:solidFill>
                      <a:srgbClr val="F3F4F6"/>
                    </a:solidFill>
                  </a:tcPr>
                </a:tc>
                <a:tc>
                  <a:txBody>
                    <a:bodyPr/>
                    <a:lstStyle/>
                    <a:p>
                      <a:r>
                        <a:rPr sz="1100" b="0">
                          <a:solidFill>
                            <a:srgbClr val="1F2A44"/>
                          </a:solidFill>
                          <a:latin typeface="Calibri"/>
                        </a:rPr>
                        <a:t>Retinaculum + scaphoideum/trapezium → MC I / prox. falanks</a:t>
                      </a:r>
                    </a:p>
                  </a:txBody>
                  <a:tcPr>
                    <a:solidFill>
                      <a:srgbClr val="F3F4F6"/>
                    </a:solidFill>
                  </a:tcPr>
                </a:tc>
                <a:tc>
                  <a:txBody>
                    <a:bodyPr/>
                    <a:lstStyle/>
                    <a:p>
                      <a:r>
                        <a:rPr sz="1100" b="0">
                          <a:solidFill>
                            <a:srgbClr val="1F2A44"/>
                          </a:solidFill>
                          <a:latin typeface="Calibri"/>
                        </a:rPr>
                        <a:t>R. recurrens n. mediani</a:t>
                      </a:r>
                    </a:p>
                  </a:txBody>
                  <a:tcPr>
                    <a:solidFill>
                      <a:srgbClr val="F3F4F6"/>
                    </a:solidFill>
                  </a:tcPr>
                </a:tc>
                <a:tc>
                  <a:txBody>
                    <a:bodyPr/>
                    <a:lstStyle/>
                    <a:p>
                      <a:r>
                        <a:rPr sz="1100" b="0">
                          <a:solidFill>
                            <a:srgbClr val="1F2A44"/>
                          </a:solidFill>
                          <a:latin typeface="Calibri"/>
                        </a:rPr>
                        <a:t>Abduksiyon, opozisyon</a:t>
                      </a:r>
                    </a:p>
                  </a:txBody>
                  <a:tcPr>
                    <a:solidFill>
                      <a:srgbClr val="F3F4F6"/>
                    </a:solidFill>
                  </a:tcPr>
                </a:tc>
              </a:tr>
              <a:tr h="646611">
                <a:tc>
                  <a:txBody>
                    <a:bodyPr/>
                    <a:lstStyle/>
                    <a:p>
                      <a:r>
                        <a:rPr sz="1100" b="1">
                          <a:solidFill>
                            <a:srgbClr val="1F2A44"/>
                          </a:solidFill>
                          <a:latin typeface="Calibri"/>
                        </a:rPr>
                        <a:t>Tenar: m. flexor pollicis brevis</a:t>
                      </a:r>
                    </a:p>
                  </a:txBody>
                  <a:tcPr>
                    <a:solidFill>
                      <a:srgbClr val="FFFFFF"/>
                    </a:solidFill>
                  </a:tcPr>
                </a:tc>
                <a:tc>
                  <a:txBody>
                    <a:bodyPr/>
                    <a:lstStyle/>
                    <a:p>
                      <a:r>
                        <a:rPr sz="1100" b="0">
                          <a:solidFill>
                            <a:srgbClr val="1F2A44"/>
                          </a:solidFill>
                          <a:latin typeface="Calibri"/>
                        </a:rPr>
                        <a:t>Retinaculum, trapezium → prox. falanks</a:t>
                      </a:r>
                    </a:p>
                  </a:txBody>
                  <a:tcPr>
                    <a:solidFill>
                      <a:srgbClr val="FFFFFF"/>
                    </a:solidFill>
                  </a:tcPr>
                </a:tc>
                <a:tc>
                  <a:txBody>
                    <a:bodyPr/>
                    <a:lstStyle/>
                    <a:p>
                      <a:r>
                        <a:rPr sz="1100" b="0">
                          <a:solidFill>
                            <a:srgbClr val="1F2A44"/>
                          </a:solidFill>
                          <a:latin typeface="Calibri"/>
                        </a:rPr>
                        <a:t>Yüzeyel baş n. medianus; derin baş n. ulnaris</a:t>
                      </a:r>
                    </a:p>
                  </a:txBody>
                  <a:tcPr>
                    <a:solidFill>
                      <a:srgbClr val="FFFFFF"/>
                    </a:solidFill>
                  </a:tcPr>
                </a:tc>
                <a:tc>
                  <a:txBody>
                    <a:bodyPr/>
                    <a:lstStyle/>
                    <a:p>
                      <a:r>
                        <a:rPr sz="1100" b="0">
                          <a:solidFill>
                            <a:srgbClr val="1F2A44"/>
                          </a:solidFill>
                          <a:latin typeface="Calibri"/>
                        </a:rPr>
                        <a:t>MCP fleksiyonu</a:t>
                      </a:r>
                    </a:p>
                  </a:txBody>
                  <a:tcPr>
                    <a:solidFill>
                      <a:srgbClr val="FFFFFF"/>
                    </a:solidFill>
                  </a:tcPr>
                </a:tc>
              </a:tr>
              <a:tr h="646611">
                <a:tc>
                  <a:txBody>
                    <a:bodyPr/>
                    <a:lstStyle/>
                    <a:p>
                      <a:r>
                        <a:rPr sz="1100" b="1">
                          <a:solidFill>
                            <a:srgbClr val="1F2A44"/>
                          </a:solidFill>
                          <a:latin typeface="Calibri"/>
                        </a:rPr>
                        <a:t>M. adductor pollicis</a:t>
                      </a:r>
                    </a:p>
                  </a:txBody>
                  <a:tcPr>
                    <a:solidFill>
                      <a:srgbClr val="F3F4F6"/>
                    </a:solidFill>
                  </a:tcPr>
                </a:tc>
                <a:tc>
                  <a:txBody>
                    <a:bodyPr/>
                    <a:lstStyle/>
                    <a:p>
                      <a:r>
                        <a:rPr sz="1100" b="0">
                          <a:solidFill>
                            <a:srgbClr val="1F2A44"/>
                          </a:solidFill>
                          <a:latin typeface="Calibri"/>
                        </a:rPr>
                        <a:t>Capitatum, MC II–III → prox. falanks</a:t>
                      </a:r>
                    </a:p>
                  </a:txBody>
                  <a:tcPr>
                    <a:solidFill>
                      <a:srgbClr val="F3F4F6"/>
                    </a:solidFill>
                  </a:tcPr>
                </a:tc>
                <a:tc>
                  <a:txBody>
                    <a:bodyPr/>
                    <a:lstStyle/>
                    <a:p>
                      <a:r>
                        <a:rPr sz="1100" b="0">
                          <a:solidFill>
                            <a:srgbClr val="1F2A44"/>
                          </a:solidFill>
                          <a:latin typeface="Calibri"/>
                        </a:rPr>
                        <a:t>R. profundus n. ulnaris</a:t>
                      </a:r>
                    </a:p>
                  </a:txBody>
                  <a:tcPr>
                    <a:solidFill>
                      <a:srgbClr val="F3F4F6"/>
                    </a:solidFill>
                  </a:tcPr>
                </a:tc>
                <a:tc>
                  <a:txBody>
                    <a:bodyPr/>
                    <a:lstStyle/>
                    <a:p>
                      <a:r>
                        <a:rPr sz="1100" b="0">
                          <a:solidFill>
                            <a:srgbClr val="1F2A44"/>
                          </a:solidFill>
                          <a:latin typeface="Calibri"/>
                        </a:rPr>
                        <a:t>Addüksiyon (Froment testi)</a:t>
                      </a:r>
                    </a:p>
                  </a:txBody>
                  <a:tcPr>
                    <a:solidFill>
                      <a:srgbClr val="F3F4F6"/>
                    </a:solidFill>
                  </a:tcPr>
                </a:tc>
              </a:tr>
              <a:tr h="646611">
                <a:tc>
                  <a:txBody>
                    <a:bodyPr/>
                    <a:lstStyle/>
                    <a:p>
                      <a:r>
                        <a:rPr sz="1100" b="1">
                          <a:solidFill>
                            <a:srgbClr val="1F2A44"/>
                          </a:solidFill>
                          <a:latin typeface="Calibri"/>
                        </a:rPr>
                        <a:t>Hipotenar: mm. abductor, flexor et opponens digiti minimi</a:t>
                      </a:r>
                    </a:p>
                  </a:txBody>
                  <a:tcPr>
                    <a:solidFill>
                      <a:srgbClr val="FFFFFF"/>
                    </a:solidFill>
                  </a:tcPr>
                </a:tc>
                <a:tc>
                  <a:txBody>
                    <a:bodyPr/>
                    <a:lstStyle/>
                    <a:p>
                      <a:r>
                        <a:rPr sz="1100" b="0">
                          <a:solidFill>
                            <a:srgbClr val="1F2A44"/>
                          </a:solidFill>
                          <a:latin typeface="Calibri"/>
                        </a:rPr>
                        <a:t>Pisiforme/hamulus → 5. parmak</a:t>
                      </a:r>
                    </a:p>
                  </a:txBody>
                  <a:tcPr>
                    <a:solidFill>
                      <a:srgbClr val="FFFFFF"/>
                    </a:solidFill>
                  </a:tcPr>
                </a:tc>
                <a:tc>
                  <a:txBody>
                    <a:bodyPr/>
                    <a:lstStyle/>
                    <a:p>
                      <a:r>
                        <a:rPr sz="1100" b="0">
                          <a:solidFill>
                            <a:srgbClr val="1F2A44"/>
                          </a:solidFill>
                          <a:latin typeface="Calibri"/>
                        </a:rPr>
                        <a:t>R. profundus n. ulnaris</a:t>
                      </a:r>
                    </a:p>
                  </a:txBody>
                  <a:tcPr>
                    <a:solidFill>
                      <a:srgbClr val="FFFFFF"/>
                    </a:solidFill>
                  </a:tcPr>
                </a:tc>
                <a:tc>
                  <a:txBody>
                    <a:bodyPr/>
                    <a:lstStyle/>
                    <a:p>
                      <a:r>
                        <a:rPr sz="1100" b="0">
                          <a:solidFill>
                            <a:srgbClr val="1F2A44"/>
                          </a:solidFill>
                          <a:latin typeface="Calibri"/>
                        </a:rPr>
                        <a:t>5. parmağın hareketleri</a:t>
                      </a:r>
                    </a:p>
                  </a:txBody>
                  <a:tcPr>
                    <a:solidFill>
                      <a:srgbClr val="FFFFFF"/>
                    </a:solidFill>
                  </a:tcPr>
                </a:tc>
              </a:tr>
              <a:tr h="646611">
                <a:tc>
                  <a:txBody>
                    <a:bodyPr/>
                    <a:lstStyle/>
                    <a:p>
                      <a:r>
                        <a:rPr sz="1100" b="1">
                          <a:solidFill>
                            <a:srgbClr val="1F2A44"/>
                          </a:solidFill>
                          <a:latin typeface="Calibri"/>
                        </a:rPr>
                        <a:t>Mm. lumbricales (4)</a:t>
                      </a:r>
                    </a:p>
                  </a:txBody>
                  <a:tcPr>
                    <a:solidFill>
                      <a:srgbClr val="F3F4F6"/>
                    </a:solidFill>
                  </a:tcPr>
                </a:tc>
                <a:tc>
                  <a:txBody>
                    <a:bodyPr/>
                    <a:lstStyle/>
                    <a:p>
                      <a:r>
                        <a:rPr sz="1100" b="0">
                          <a:solidFill>
                            <a:srgbClr val="1F2A44"/>
                          </a:solidFill>
                          <a:latin typeface="Calibri"/>
                        </a:rPr>
                        <a:t>FDP tendonları → dorsal aponevroz</a:t>
                      </a:r>
                    </a:p>
                  </a:txBody>
                  <a:tcPr>
                    <a:solidFill>
                      <a:srgbClr val="F3F4F6"/>
                    </a:solidFill>
                  </a:tcPr>
                </a:tc>
                <a:tc>
                  <a:txBody>
                    <a:bodyPr/>
                    <a:lstStyle/>
                    <a:p>
                      <a:r>
                        <a:rPr sz="1100" b="0">
                          <a:solidFill>
                            <a:srgbClr val="1F2A44"/>
                          </a:solidFill>
                          <a:latin typeface="Calibri"/>
                        </a:rPr>
                        <a:t>1–2: n. medianus; 3–4: n. ulnaris</a:t>
                      </a:r>
                    </a:p>
                  </a:txBody>
                  <a:tcPr>
                    <a:solidFill>
                      <a:srgbClr val="F3F4F6"/>
                    </a:solidFill>
                  </a:tcPr>
                </a:tc>
                <a:tc>
                  <a:txBody>
                    <a:bodyPr/>
                    <a:lstStyle/>
                    <a:p>
                      <a:r>
                        <a:rPr sz="1100" b="0">
                          <a:solidFill>
                            <a:srgbClr val="1F2A44"/>
                          </a:solidFill>
                          <a:latin typeface="Calibri"/>
                        </a:rPr>
                        <a:t>MCP fleksiyonu + IP ekstansiyonu</a:t>
                      </a:r>
                    </a:p>
                  </a:txBody>
                  <a:tcPr>
                    <a:solidFill>
                      <a:srgbClr val="F3F4F6"/>
                    </a:solidFill>
                  </a:tcPr>
                </a:tc>
              </a:tr>
              <a:tr h="646614">
                <a:tc>
                  <a:txBody>
                    <a:bodyPr/>
                    <a:lstStyle/>
                    <a:p>
                      <a:r>
                        <a:rPr sz="1100" b="1">
                          <a:solidFill>
                            <a:srgbClr val="1F2A44"/>
                          </a:solidFill>
                          <a:latin typeface="Calibri"/>
                        </a:rPr>
                        <a:t>Mm. interossei palmares (3) / dorsales (4)</a:t>
                      </a:r>
                    </a:p>
                  </a:txBody>
                  <a:tcPr>
                    <a:solidFill>
                      <a:srgbClr val="FFFFFF"/>
                    </a:solidFill>
                  </a:tcPr>
                </a:tc>
                <a:tc>
                  <a:txBody>
                    <a:bodyPr/>
                    <a:lstStyle/>
                    <a:p>
                      <a:r>
                        <a:rPr sz="1100" b="0">
                          <a:solidFill>
                            <a:srgbClr val="1F2A44"/>
                          </a:solidFill>
                          <a:latin typeface="Calibri"/>
                        </a:rPr>
                        <a:t>MC'ler → prox. falanks + aponevroz</a:t>
                      </a:r>
                    </a:p>
                  </a:txBody>
                  <a:tcPr>
                    <a:solidFill>
                      <a:srgbClr val="FFFFFF"/>
                    </a:solidFill>
                  </a:tcPr>
                </a:tc>
                <a:tc>
                  <a:txBody>
                    <a:bodyPr/>
                    <a:lstStyle/>
                    <a:p>
                      <a:r>
                        <a:rPr sz="1100" b="0">
                          <a:solidFill>
                            <a:srgbClr val="1F2A44"/>
                          </a:solidFill>
                          <a:latin typeface="Calibri"/>
                        </a:rPr>
                        <a:t>R. profundus n. ulnaris</a:t>
                      </a:r>
                    </a:p>
                  </a:txBody>
                  <a:tcPr>
                    <a:solidFill>
                      <a:srgbClr val="FFFFFF"/>
                    </a:solidFill>
                  </a:tcPr>
                </a:tc>
                <a:tc>
                  <a:txBody>
                    <a:bodyPr/>
                    <a:lstStyle/>
                    <a:p>
                      <a:r>
                        <a:rPr sz="1100" b="0">
                          <a:solidFill>
                            <a:srgbClr val="1F2A44"/>
                          </a:solidFill>
                          <a:latin typeface="Calibri"/>
                        </a:rPr>
                        <a:t>PAD (addüksiyon) / DAB (abduksiyon)</a:t>
                      </a:r>
                    </a:p>
                  </a:txBody>
                  <a:tcPr>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Kaynak: standart anatomi bilgisi (Terminologia Anatomica).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Arcus palmaris superficialis et profundus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Elin arteriyel beslenmesi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274320" y="1188720"/>
            <a:ext cx="6583680" cy="5120640"/>
          </a:xfrm>
          <a:prstGeom prst="rect">
            <a:avLst/>
          </a:prstGeom>
          <a:noFill/>
        </p:spPr>
        <p:txBody>
          <a:bodyPr wrap="square">
            <a:spAutoFit/>
          </a:bodyPr>
          <a:lstStyle/>
          <a:p>
            <a:pPr algn="l">
              <a:spcAft>
                <a:spcPts val="300"/>
              </a:spcAft>
            </a:pPr>
            <a:r>
              <a:rPr sz="1300" b="0" i="0">
                <a:solidFill>
                  <a:srgbClr val="1F2A44"/>
                </a:solidFill>
                <a:latin typeface="Calibri"/>
              </a:rPr>
              <a:t>• </a:t>
            </a:r>
            <a:r>
              <a:rPr sz="1300" b="0" i="0">
                <a:solidFill>
                  <a:srgbClr val="1F2A44"/>
                </a:solidFill>
                <a:latin typeface="Calibri"/>
              </a:rPr>
              <a:t>Arcus palmaris superficialis:</a:t>
            </a:r>
            <a:r>
              <a:rPr sz="1300" b="0" i="0">
                <a:solidFill>
                  <a:srgbClr val="1F2A44"/>
                </a:solidFill>
                <a:latin typeface="Calibri"/>
              </a:rPr>
              <a:t> çoğunlukla a. ulnaris'in devamı ve a. radialis'in r. palmaris superficialis'i ile tamamlanır; aponeurosis palmaris'in hemen altında, açık başparmağın distal kenarı hizasında (Kaplan çizgisi yakınında). Aa. digitales palmares communes'i verir.</a:t>
            </a:r>
          </a:p>
          <a:p>
            <a:pPr algn="l">
              <a:spcAft>
                <a:spcPts val="300"/>
              </a:spcAft>
            </a:pPr>
            <a:r>
              <a:rPr sz="1300" b="0" i="0">
                <a:solidFill>
                  <a:srgbClr val="1F2A44"/>
                </a:solidFill>
                <a:latin typeface="Calibri"/>
              </a:rPr>
              <a:t>• </a:t>
            </a:r>
            <a:r>
              <a:rPr sz="1300" b="0" i="0">
                <a:solidFill>
                  <a:srgbClr val="1F2A44"/>
                </a:solidFill>
                <a:latin typeface="Calibri"/>
              </a:rPr>
              <a:t>Arcus palmaris profundus:</a:t>
            </a:r>
            <a:r>
              <a:rPr sz="1300" b="0" i="0">
                <a:solidFill>
                  <a:srgbClr val="1F2A44"/>
                </a:solidFill>
                <a:latin typeface="Calibri"/>
              </a:rPr>
              <a:t> a. radialis'in devamı ve a. ulnaris'in r. palmaris profundus'u ile oluşur; yüzeyel arkın yaklaşık 1 cm proksimalinde, fleksör tendonların derininde. Aa. metacarpales palmares'i verir.</a:t>
            </a:r>
          </a:p>
          <a:p>
            <a:pPr algn="l">
              <a:spcAft>
                <a:spcPts val="300"/>
              </a:spcAft>
            </a:pPr>
            <a:r>
              <a:rPr sz="1300" b="0" i="0">
                <a:solidFill>
                  <a:srgbClr val="1F2A44"/>
                </a:solidFill>
                <a:latin typeface="Calibri"/>
              </a:rPr>
              <a:t>• Arkların </a:t>
            </a:r>
            <a:r>
              <a:rPr sz="1300" b="0" i="0">
                <a:solidFill>
                  <a:srgbClr val="1F2A44"/>
                </a:solidFill>
                <a:latin typeface="Calibri"/>
              </a:rPr>
              <a:t>tam/eksik</a:t>
            </a:r>
            <a:r>
              <a:rPr sz="1300" b="0" i="0">
                <a:solidFill>
                  <a:srgbClr val="1F2A44"/>
                </a:solidFill>
                <a:latin typeface="Calibri"/>
              </a:rPr>
              <a:t> olması sık bir varyasyondur; a. mediana persistens arka katılabilir.</a:t>
            </a:r>
          </a:p>
          <a:p>
            <a:pPr algn="l">
              <a:spcAft>
                <a:spcPts val="300"/>
              </a:spcAft>
            </a:pPr>
            <a:r>
              <a:rPr sz="1300" b="0" i="0">
                <a:solidFill>
                  <a:srgbClr val="1F2A44"/>
                </a:solidFill>
                <a:latin typeface="Calibri"/>
              </a:rPr>
              <a:t>• </a:t>
            </a:r>
            <a:r>
              <a:rPr sz="1300" b="0" i="0">
                <a:solidFill>
                  <a:srgbClr val="1F2A44"/>
                </a:solidFill>
                <a:latin typeface="Calibri"/>
              </a:rPr>
              <a:t>Allen testi:</a:t>
            </a:r>
            <a:r>
              <a:rPr sz="1300" b="0" i="0">
                <a:solidFill>
                  <a:srgbClr val="1F2A44"/>
                </a:solidFill>
                <a:latin typeface="Calibri"/>
              </a:rPr>
              <a:t> radial ve ulnar arterler sıkıştırılıp sırayla serbest bırakılarak arklar aracılığıyla kollateral dolaşım değerlendirilir.</a:t>
            </a:r>
          </a:p>
        </p:txBody>
      </p:sp>
      <p:pic>
        <p:nvPicPr>
          <p:cNvPr id="8" name="Picture 7" descr="cureus-0015-00000040324-i01.jpg"/>
          <p:cNvPicPr>
            <a:picLocks noChangeAspect="1"/>
          </p:cNvPicPr>
          <p:nvPr/>
        </p:nvPicPr>
        <p:blipFill>
          <a:blip r:embed="rId2"/>
          <a:stretch>
            <a:fillRect/>
          </a:stretch>
        </p:blipFill>
        <p:spPr>
          <a:xfrm>
            <a:off x="7040880" y="2685653"/>
            <a:ext cx="4892040" cy="1852452"/>
          </a:xfrm>
          <a:prstGeom prst="rect">
            <a:avLst/>
          </a:prstGeom>
        </p:spPr>
      </p:pic>
      <p:sp>
        <p:nvSpPr>
          <p:cNvPr id="9" name="TextBox 8"/>
          <p:cNvSpPr txBox="1"/>
          <p:nvPr/>
        </p:nvSpPr>
        <p:spPr>
          <a:xfrm>
            <a:off x="6949440" y="4538106"/>
            <a:ext cx="507492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Elhossiny Asem H ve ark., 2023 (PMC10343151, CC BY)</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Elhossiny Asem H, Bakir Mohamad, Dawalibi Ahmad et al. Persistent Median Artery, Bifid Median Nerve, and Reversed Palmaris Longus Encountered During Cadaveric Dissection: The First Reported Case. Cureus. 2023 Jun 12;15(6):e40324. doi: 10.7759/cureus.40324 PMCID: PMC10343151. Lisans: CC BY.</a:t>
            </a:r>
          </a:p>
        </p:txBody>
      </p:sp>
      <p:sp>
        <p:nvSpPr>
          <p:cNvPr id="12" name="TextBox 11"/>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Fleksör tendon kılıfları, makaralar ve ekstensör mekanizma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Parmakların tendon düzeni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Fibröz kılıf ve makaralar:</a:t>
            </a:r>
            <a:r>
              <a:rPr sz="1650" b="0" i="0">
                <a:solidFill>
                  <a:srgbClr val="1F2A44"/>
                </a:solidFill>
                <a:latin typeface="Calibri"/>
              </a:rPr>
              <a:t> halka makaralar A1–A5 ve çapraz makaralar C1–C3; </a:t>
            </a:r>
            <a:r>
              <a:rPr sz="1650" b="0" i="0">
                <a:solidFill>
                  <a:srgbClr val="1F2A44"/>
                </a:solidFill>
                <a:latin typeface="Calibri"/>
              </a:rPr>
              <a:t>A2</a:t>
            </a:r>
            <a:r>
              <a:rPr sz="1650" b="0" i="0">
                <a:solidFill>
                  <a:srgbClr val="1F2A44"/>
                </a:solidFill>
                <a:latin typeface="Calibri"/>
              </a:rPr>
              <a:t> (proksimal falanks) ve </a:t>
            </a:r>
            <a:r>
              <a:rPr sz="1650" b="0" i="0">
                <a:solidFill>
                  <a:srgbClr val="1F2A44"/>
                </a:solidFill>
                <a:latin typeface="Calibri"/>
              </a:rPr>
              <a:t>A4</a:t>
            </a:r>
            <a:r>
              <a:rPr sz="1650" b="0" i="0">
                <a:solidFill>
                  <a:srgbClr val="1F2A44"/>
                </a:solidFill>
                <a:latin typeface="Calibri"/>
              </a:rPr>
              <a:t> (orta falanks) yayvanlaşmayı (bowstringing) önleyen en önemli makaralardır. Tetik parmak </a:t>
            </a:r>
            <a:r>
              <a:rPr sz="1650" b="0" i="0">
                <a:solidFill>
                  <a:srgbClr val="1F2A44"/>
                </a:solidFill>
                <a:latin typeface="Calibri"/>
              </a:rPr>
              <a:t>A1</a:t>
            </a:r>
            <a:r>
              <a:rPr sz="1650" b="0" i="0">
                <a:solidFill>
                  <a:srgbClr val="1F2A44"/>
                </a:solidFill>
                <a:latin typeface="Calibri"/>
              </a:rPr>
              <a:t> düzeyindedir.</a:t>
            </a:r>
          </a:p>
          <a:p>
            <a:pPr algn="l">
              <a:spcAft>
                <a:spcPts val="300"/>
              </a:spcAft>
            </a:pPr>
            <a:r>
              <a:rPr sz="1650" b="0" i="0">
                <a:solidFill>
                  <a:srgbClr val="1F2A44"/>
                </a:solidFill>
                <a:latin typeface="Calibri"/>
              </a:rPr>
              <a:t>• </a:t>
            </a:r>
            <a:r>
              <a:rPr sz="1650" b="0" i="0">
                <a:solidFill>
                  <a:srgbClr val="1F2A44"/>
                </a:solidFill>
                <a:latin typeface="Calibri"/>
              </a:rPr>
              <a:t>FDS</a:t>
            </a:r>
            <a:r>
              <a:rPr sz="1650" b="0" i="0">
                <a:solidFill>
                  <a:srgbClr val="1F2A44"/>
                </a:solidFill>
                <a:latin typeface="Calibri"/>
              </a:rPr>
              <a:t> proksimal falanks düzeyinde ikiye ayrılır (chiasma tendinum), FDP bu yarıktan geçerek distal falanksa yapışır.</a:t>
            </a:r>
          </a:p>
          <a:p>
            <a:pPr algn="l">
              <a:spcAft>
                <a:spcPts val="300"/>
              </a:spcAft>
            </a:pPr>
            <a:r>
              <a:rPr sz="1650" b="0" i="0">
                <a:solidFill>
                  <a:srgbClr val="1F2A44"/>
                </a:solidFill>
                <a:latin typeface="Calibri"/>
              </a:rPr>
              <a:t>• </a:t>
            </a:r>
            <a:r>
              <a:rPr sz="1650" b="0" i="0">
                <a:solidFill>
                  <a:srgbClr val="1F2A44"/>
                </a:solidFill>
                <a:latin typeface="Calibri"/>
              </a:rPr>
              <a:t>Sinoviyal kılıflar:</a:t>
            </a:r>
            <a:r>
              <a:rPr sz="1650" b="0" i="0">
                <a:solidFill>
                  <a:srgbClr val="1F2A44"/>
                </a:solidFill>
                <a:latin typeface="Calibri"/>
              </a:rPr>
              <a:t> bursa ulnaris (2.–5. parmak tendonlarını bileğe kadar sarar, 5. parmakla devam eder) ve bursa radialis (FPL) – enfeksiyonun yayılma yolları.</a:t>
            </a:r>
          </a:p>
          <a:p>
            <a:pPr algn="l">
              <a:spcAft>
                <a:spcPts val="300"/>
              </a:spcAft>
            </a:pPr>
            <a:r>
              <a:rPr sz="1650" b="0" i="0">
                <a:solidFill>
                  <a:srgbClr val="1F2A44"/>
                </a:solidFill>
                <a:latin typeface="Calibri"/>
              </a:rPr>
              <a:t>• </a:t>
            </a:r>
            <a:r>
              <a:rPr sz="1650" b="0" i="0">
                <a:solidFill>
                  <a:srgbClr val="1F2A44"/>
                </a:solidFill>
                <a:latin typeface="Calibri"/>
              </a:rPr>
              <a:t>Ekstensör mekanizma:</a:t>
            </a:r>
            <a:r>
              <a:rPr sz="1650" b="0" i="0">
                <a:solidFill>
                  <a:srgbClr val="1F2A44"/>
                </a:solidFill>
                <a:latin typeface="Calibri"/>
              </a:rPr>
              <a:t> dorsal aponevrozun </a:t>
            </a:r>
            <a:r>
              <a:rPr sz="1650" b="0" i="0">
                <a:solidFill>
                  <a:srgbClr val="1F2A44"/>
                </a:solidFill>
                <a:latin typeface="Calibri"/>
              </a:rPr>
              <a:t>merkezi bandı</a:t>
            </a:r>
            <a:r>
              <a:rPr sz="1650" b="0" i="0">
                <a:solidFill>
                  <a:srgbClr val="1F2A44"/>
                </a:solidFill>
                <a:latin typeface="Calibri"/>
              </a:rPr>
              <a:t> orta falanksa, </a:t>
            </a:r>
            <a:r>
              <a:rPr sz="1650" b="0" i="0">
                <a:solidFill>
                  <a:srgbClr val="1F2A44"/>
                </a:solidFill>
                <a:latin typeface="Calibri"/>
              </a:rPr>
              <a:t>lateral bantlar</a:t>
            </a:r>
            <a:r>
              <a:rPr sz="1650" b="0" i="0">
                <a:solidFill>
                  <a:srgbClr val="1F2A44"/>
                </a:solidFill>
                <a:latin typeface="Calibri"/>
              </a:rPr>
              <a:t> distal falanksa yapışır; lumbrikal ve interossei lateral bantlara katılır. Merkezi bant yırtığı → </a:t>
            </a:r>
            <a:r>
              <a:rPr sz="1650" b="0" i="0">
                <a:solidFill>
                  <a:srgbClr val="1F2A44"/>
                </a:solidFill>
                <a:latin typeface="Calibri"/>
              </a:rPr>
              <a:t>düğme iliği</a:t>
            </a:r>
            <a:r>
              <a:rPr sz="1650" b="0" i="0">
                <a:solidFill>
                  <a:srgbClr val="1F2A44"/>
                </a:solidFill>
                <a:latin typeface="Calibri"/>
              </a:rPr>
              <a:t>, distal yapışma yırtığı → </a:t>
            </a:r>
            <a:r>
              <a:rPr sz="1650" b="0" i="0">
                <a:solidFill>
                  <a:srgbClr val="1F2A44"/>
                </a:solidFill>
                <a:latin typeface="Calibri"/>
              </a:rPr>
              <a:t>çekiç parmak</a:t>
            </a:r>
            <a:r>
              <a:rPr sz="1650" b="0" i="0">
                <a:solidFill>
                  <a:srgbClr val="1F2A44"/>
                </a:solidFill>
                <a:latin typeface="Calibri"/>
              </a:rPr>
              <a:t>.</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Elin innervasyonu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Duyusal alanlar ve klasik motor kayıp tabloları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1F5F9E"/>
          </a:solidFill>
        </p:spPr>
        <p:txBody>
          <a:bodyPr wrap="square" anchor="ctr" lIns="45720" rIns="45720" tIns="18288" bIns="18288">
            <a:spAutoFit/>
          </a:bodyPr>
          <a:lstStyle/>
          <a:p>
            <a:pPr algn="ctr"/>
            <a:r>
              <a:rPr sz="950" b="1" i="0">
                <a:solidFill>
                  <a:srgbClr val="FFFFFF"/>
                </a:solidFill>
                <a:latin typeface="Calibri"/>
              </a:rPr>
              <a:t>KONU ANLATIMI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Duyu:</a:t>
            </a:r>
            <a:r>
              <a:rPr sz="1650" b="0" i="0">
                <a:solidFill>
                  <a:srgbClr val="1F2A44"/>
                </a:solidFill>
                <a:latin typeface="Calibri"/>
              </a:rPr>
              <a:t> n. medianus – palmar yüzde lateral 3½ parmak ve bu parmakların distal dorsal uçları; n. ulnaris – medial 1½ parmak (palmar ve dorsal); n. radialis (r. superficialis) – el sırtının radial yarısı (en saf alan: 1. web aralığı dorsali).</a:t>
            </a:r>
          </a:p>
          <a:p>
            <a:pPr algn="l">
              <a:spcAft>
                <a:spcPts val="300"/>
              </a:spcAft>
            </a:pPr>
            <a:r>
              <a:rPr sz="1650" b="0" i="0">
                <a:solidFill>
                  <a:srgbClr val="1F2A44"/>
                </a:solidFill>
                <a:latin typeface="Calibri"/>
              </a:rPr>
              <a:t>• </a:t>
            </a:r>
            <a:r>
              <a:rPr sz="1650" b="0" i="0">
                <a:solidFill>
                  <a:srgbClr val="1F2A44"/>
                </a:solidFill>
                <a:latin typeface="Calibri"/>
              </a:rPr>
              <a:t>Motor:</a:t>
            </a:r>
            <a:r>
              <a:rPr sz="1650" b="0" i="0">
                <a:solidFill>
                  <a:srgbClr val="1F2A44"/>
                </a:solidFill>
                <a:latin typeface="Calibri"/>
              </a:rPr>
              <a:t> n. ulnaris intrinsik kasların büyük bölümünü (hipotenar, interossei, 3.–4. lumbrikal, adductor pollicis, FPB derin baş), n. medianus 'LOAF' kaslarını (lumbrikal 1–2, opponens, abductor pollicis brevis, flexor pollicis brevis yüzeyel baş) innerve eder.</a:t>
            </a:r>
          </a:p>
          <a:p>
            <a:pPr algn="l">
              <a:spcAft>
                <a:spcPts val="300"/>
              </a:spcAft>
            </a:pPr>
            <a:r>
              <a:rPr sz="1650" b="0" i="0">
                <a:solidFill>
                  <a:srgbClr val="1F2A44"/>
                </a:solidFill>
                <a:latin typeface="Calibri"/>
              </a:rPr>
              <a:t>• </a:t>
            </a:r>
            <a:r>
              <a:rPr sz="1650" b="0" i="0">
                <a:solidFill>
                  <a:srgbClr val="1F2A44"/>
                </a:solidFill>
                <a:latin typeface="Calibri"/>
              </a:rPr>
              <a:t>Klasik tablolar:</a:t>
            </a:r>
            <a:r>
              <a:rPr sz="1650" b="0" i="0">
                <a:solidFill>
                  <a:srgbClr val="1F2A44"/>
                </a:solidFill>
                <a:latin typeface="Calibri"/>
              </a:rPr>
              <a:t> n. medianus hasarı → tenar atrofi, opozisyon kaybı ('maymun eli'); n. ulnaris hasarı → </a:t>
            </a:r>
            <a:r>
              <a:rPr sz="1650" b="0" i="0">
                <a:solidFill>
                  <a:srgbClr val="1F2A44"/>
                </a:solidFill>
                <a:latin typeface="Calibri"/>
              </a:rPr>
              <a:t>pençe el</a:t>
            </a:r>
            <a:r>
              <a:rPr sz="1650" b="0" i="0">
                <a:solidFill>
                  <a:srgbClr val="1F2A44"/>
                </a:solidFill>
                <a:latin typeface="Calibri"/>
              </a:rPr>
              <a:t> (4.–5. parmak; distal lezyonda daha belirgin – 'ulnar paradoks'); n. radialis hasarı → </a:t>
            </a:r>
            <a:r>
              <a:rPr sz="1650" b="0" i="0">
                <a:solidFill>
                  <a:srgbClr val="1F2A44"/>
                </a:solidFill>
                <a:latin typeface="Calibri"/>
              </a:rPr>
              <a:t>düşük el</a:t>
            </a:r>
            <a:r>
              <a:rPr sz="1650" b="0" i="0">
                <a:solidFill>
                  <a:srgbClr val="1F2A44"/>
                </a:solidFill>
                <a:latin typeface="Calibri"/>
              </a:rPr>
              <a:t>.</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Canalis carpi – açılmış diseksiyon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Taze donmuş el bileği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turkjmedsci-51-1912-fig002.jpg"/>
          <p:cNvPicPr>
            <a:picLocks noChangeAspect="1"/>
          </p:cNvPicPr>
          <p:nvPr/>
        </p:nvPicPr>
        <p:blipFill>
          <a:blip r:embed="rId2"/>
          <a:stretch>
            <a:fillRect/>
          </a:stretch>
        </p:blipFill>
        <p:spPr>
          <a:xfrm>
            <a:off x="586740" y="1188720"/>
            <a:ext cx="6461760" cy="4846320"/>
          </a:xfrm>
          <a:prstGeom prst="rect">
            <a:avLst/>
          </a:prstGeom>
        </p:spPr>
      </p:pic>
      <p:sp>
        <p:nvSpPr>
          <p:cNvPr id="8" name="TextBox 7"/>
          <p:cNvSpPr txBox="1"/>
          <p:nvPr/>
        </p:nvSpPr>
        <p:spPr>
          <a:xfrm>
            <a:off x="495300" y="6035040"/>
            <a:ext cx="664464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ERÇAKMAK GÜNEŞ B. ve ark., 2021 (PMC8569728,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Siyah </a:t>
            </a:r>
            <a:r>
              <a:rPr sz="1050" b="0" i="0">
                <a:solidFill>
                  <a:srgbClr val="1F2A44"/>
                </a:solidFill>
                <a:latin typeface="Calibri"/>
              </a:rPr>
              <a:t>* retinaculum musculorum flexorum; </a:t>
            </a:r>
            <a:r>
              <a:rPr sz="1050" b="0" i="0">
                <a:solidFill>
                  <a:srgbClr val="1F2A44"/>
                </a:solidFill>
                <a:latin typeface="Calibri"/>
              </a:rPr>
              <a:t>kırmızı </a:t>
            </a:r>
            <a:r>
              <a:rPr sz="1050" b="0" i="0">
                <a:solidFill>
                  <a:srgbClr val="1F2A44"/>
                </a:solidFill>
                <a:latin typeface="Calibri"/>
              </a:rPr>
              <a:t>* m. flexor carpi radialis tendonu; </a:t>
            </a:r>
            <a:r>
              <a:rPr sz="1050" b="0" i="0">
                <a:solidFill>
                  <a:srgbClr val="1F2A44"/>
                </a:solidFill>
                <a:latin typeface="Calibri"/>
              </a:rPr>
              <a:t>mavi </a:t>
            </a:r>
            <a:r>
              <a:rPr sz="1050" b="0" i="0">
                <a:solidFill>
                  <a:srgbClr val="1F2A44"/>
                </a:solidFill>
                <a:latin typeface="Calibri"/>
              </a:rPr>
              <a:t>* m. palmaris longus tendonu; </a:t>
            </a:r>
            <a:r>
              <a:rPr sz="1050" b="0" i="0">
                <a:solidFill>
                  <a:srgbClr val="1F2A44"/>
                </a:solidFill>
                <a:latin typeface="Calibri"/>
              </a:rPr>
              <a:t>sarı </a:t>
            </a:r>
            <a:r>
              <a:rPr sz="1050" b="0" i="0">
                <a:solidFill>
                  <a:srgbClr val="1F2A44"/>
                </a:solidFill>
                <a:latin typeface="Calibri"/>
              </a:rPr>
              <a:t>* n. medianus; </a:t>
            </a:r>
            <a:r>
              <a:rPr sz="1050" b="0" i="0">
                <a:solidFill>
                  <a:srgbClr val="1F2A44"/>
                </a:solidFill>
                <a:latin typeface="Calibri"/>
              </a:rPr>
              <a:t>yeşil </a:t>
            </a:r>
            <a:r>
              <a:rPr sz="1050" b="0" i="0">
                <a:solidFill>
                  <a:srgbClr val="1F2A44"/>
                </a:solidFill>
                <a:latin typeface="Calibri"/>
              </a:rPr>
              <a:t>* m. flexor pollicis longus tendonu</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N. medianus kanalda en yüzeyel yapıdır, retinakulumun hemen altında; FPL tendonu en radialdedir.</a:t>
            </a:r>
          </a:p>
          <a:p>
            <a:pPr algn="l">
              <a:spcAft>
                <a:spcPts val="300"/>
              </a:spcAft>
            </a:pPr>
            <a:r>
              <a:rPr sz="1050" b="0" i="0">
                <a:solidFill>
                  <a:srgbClr val="1F2A44"/>
                </a:solidFill>
                <a:latin typeface="Calibri"/>
              </a:rPr>
              <a:t>• FCR tendonu kanalın dışında, retinakulumun ayrı bölmesinden; PL tendonu retinakulumun yüzeyinden geçer.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ERÇAKMAK GÜNEŞ B., VATANSEVER A., DEMİRYÜREK D. et al. Tendon of Flexor Carpi Radialis in carpal tunnel: a radiologic and cadaveric study. Turk J Med Sci. 2021 Aug 30;51(4):1912–6. doi: 10.3906/sag-2012-31 PMCID: PMC8569728.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Canalis ulnaris (Guyon) – n. ulnaris'in dalları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Taze kadavra diseksiyonu (50 kadavra, bilateral)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402_2016_2616_Fig1_HTML.jpg"/>
          <p:cNvPicPr>
            <a:picLocks noChangeAspect="1"/>
          </p:cNvPicPr>
          <p:nvPr/>
        </p:nvPicPr>
        <p:blipFill>
          <a:blip r:embed="rId2"/>
          <a:stretch>
            <a:fillRect/>
          </a:stretch>
        </p:blipFill>
        <p:spPr>
          <a:xfrm>
            <a:off x="274320" y="1247851"/>
            <a:ext cx="7086600" cy="4728056"/>
          </a:xfrm>
          <a:prstGeom prst="rect">
            <a:avLst/>
          </a:prstGeom>
        </p:spPr>
      </p:pic>
      <p:sp>
        <p:nvSpPr>
          <p:cNvPr id="8" name="TextBox 7"/>
          <p:cNvSpPr txBox="1"/>
          <p:nvPr/>
        </p:nvSpPr>
        <p:spPr>
          <a:xfrm>
            <a:off x="182879" y="5975908"/>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Depukat P. ve ark., 2016 (PMC5250657,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Ulnar nerve = n. ulnaris; Superficial/Deep branch = r. superficialis/profundus; Cutaneus branch = deri dalı; Common palmar digital nerve to 4th and 5th fingers = 4.–5. parmak ortak palmar dijital siniri; Nerves to palmaris brevis = m. palmaris brevis dalları</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Klasik ikiye ayrılma (r. superficialis + r. profundus) olguların </a:t>
            </a:r>
            <a:r>
              <a:rPr sz="1050" b="0" i="0">
                <a:solidFill>
                  <a:srgbClr val="1F2A44"/>
                </a:solidFill>
                <a:latin typeface="Calibri"/>
              </a:rPr>
              <a:t>%85</a:t>
            </a:r>
            <a:r>
              <a:rPr sz="1050" b="0" i="0">
                <a:solidFill>
                  <a:srgbClr val="1F2A44"/>
                </a:solidFill>
                <a:latin typeface="Calibri"/>
              </a:rPr>
              <a:t>'inde.</a:t>
            </a:r>
          </a:p>
          <a:p>
            <a:pPr algn="l">
              <a:spcAft>
                <a:spcPts val="300"/>
              </a:spcAft>
            </a:pPr>
            <a:r>
              <a:rPr sz="1050" b="0" i="0">
                <a:solidFill>
                  <a:srgbClr val="1F2A44"/>
                </a:solidFill>
                <a:latin typeface="Calibri"/>
              </a:rPr>
              <a:t>• Kanal içinde deri dalı %70; n. ulnaris–n. medianus anastomozu %57 (bkz. varyasyonlar).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Depukat P., Henry B. M., Popieluszko P. et al. Anatomical variability and histological structure of the ulnar nerve in the Guyon’s canal. Arch Orthop Trauma Surg. 2016 Dec 23;137(2):277–83. doi: 10.1007/s00402-016-2616-4 PMCID: PMC5250657.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Arcus palmaris superficialis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Tam tip arcus ve Berrettini anastomozu (36 ekstremite)</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7-00000099862-i02.jpg"/>
          <p:cNvPicPr>
            <a:picLocks noChangeAspect="1"/>
          </p:cNvPicPr>
          <p:nvPr/>
        </p:nvPicPr>
        <p:blipFill>
          <a:blip r:embed="rId2"/>
          <a:stretch>
            <a:fillRect/>
          </a:stretch>
        </p:blipFill>
        <p:spPr>
          <a:xfrm>
            <a:off x="2073502" y="1188720"/>
            <a:ext cx="3488234" cy="4846320"/>
          </a:xfrm>
          <a:prstGeom prst="rect">
            <a:avLst/>
          </a:prstGeom>
        </p:spPr>
      </p:pic>
      <p:sp>
        <p:nvSpPr>
          <p:cNvPr id="8" name="TextBox 7"/>
          <p:cNvSpPr txBox="1"/>
          <p:nvPr/>
        </p:nvSpPr>
        <p:spPr>
          <a:xfrm>
            <a:off x="1982062" y="6035040"/>
            <a:ext cx="367111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Kapor S. ve ark., 2025 (PMC12823052,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UA</a:t>
            </a:r>
            <a:r>
              <a:rPr sz="1050" b="0" i="0">
                <a:solidFill>
                  <a:srgbClr val="1F2A44"/>
                </a:solidFill>
                <a:latin typeface="Calibri"/>
              </a:rPr>
              <a:t> a. ulnaris;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spa</a:t>
            </a:r>
            <a:r>
              <a:rPr sz="1050" b="0" i="0">
                <a:solidFill>
                  <a:srgbClr val="1F2A44"/>
                </a:solidFill>
                <a:latin typeface="Calibri"/>
              </a:rPr>
              <a:t> arcus palmaris superficialis; </a:t>
            </a:r>
            <a:r>
              <a:rPr sz="1050" b="0" i="0">
                <a:solidFill>
                  <a:srgbClr val="1F2A44"/>
                </a:solidFill>
                <a:latin typeface="Calibri"/>
              </a:rPr>
              <a:t>cb</a:t>
            </a:r>
            <a:r>
              <a:rPr sz="1050" b="0" i="0">
                <a:solidFill>
                  <a:srgbClr val="1F2A44"/>
                </a:solidFill>
                <a:latin typeface="Calibri"/>
              </a:rPr>
              <a:t> iletişim dalı; </a:t>
            </a:r>
            <a:r>
              <a:rPr sz="1050" b="0" i="0">
                <a:solidFill>
                  <a:srgbClr val="1F2A44"/>
                </a:solidFill>
                <a:latin typeface="Calibri"/>
              </a:rPr>
              <a:t>1–4</a:t>
            </a:r>
            <a:r>
              <a:rPr sz="1050" b="0" i="0">
                <a:solidFill>
                  <a:srgbClr val="1F2A44"/>
                </a:solidFill>
                <a:latin typeface="Calibri"/>
              </a:rPr>
              <a:t> aa. digitales palmares communes; </a:t>
            </a:r>
            <a:r>
              <a:rPr sz="1050" b="0" i="0">
                <a:solidFill>
                  <a:srgbClr val="1F2A44"/>
                </a:solidFill>
                <a:latin typeface="Calibri"/>
              </a:rPr>
              <a:t>I–IV</a:t>
            </a:r>
            <a:r>
              <a:rPr sz="1050" b="0" i="0">
                <a:solidFill>
                  <a:srgbClr val="1F2A44"/>
                </a:solidFill>
                <a:latin typeface="Calibri"/>
              </a:rPr>
              <a:t> nn. digitales palmares communes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Arcus </a:t>
            </a:r>
            <a:r>
              <a:rPr sz="1050" b="0" i="0">
                <a:solidFill>
                  <a:srgbClr val="1F2A44"/>
                </a:solidFill>
                <a:latin typeface="Calibri"/>
              </a:rPr>
              <a:t>tam</a:t>
            </a:r>
            <a:r>
              <a:rPr sz="1050" b="0" i="0">
                <a:solidFill>
                  <a:srgbClr val="1F2A44"/>
                </a:solidFill>
                <a:latin typeface="Calibri"/>
              </a:rPr>
              <a:t> %55,6, eksik %44,4.</a:t>
            </a:r>
          </a:p>
          <a:p>
            <a:pPr algn="l">
              <a:spcAft>
                <a:spcPts val="300"/>
              </a:spcAft>
            </a:pPr>
            <a:r>
              <a:rPr sz="1050" b="0" i="0">
                <a:solidFill>
                  <a:srgbClr val="1F2A44"/>
                </a:solidFill>
                <a:latin typeface="Calibri"/>
              </a:rPr>
              <a:t>• Berrettini anastomozu %33,3 (çoğu Tip III).</a:t>
            </a:r>
          </a:p>
          <a:p>
            <a:pPr algn="l">
              <a:spcAft>
                <a:spcPts val="300"/>
              </a:spcAft>
            </a:pPr>
            <a:r>
              <a:rPr sz="1050" b="0" i="0">
                <a:solidFill>
                  <a:srgbClr val="1F2A44"/>
                </a:solidFill>
                <a:latin typeface="Calibri"/>
              </a:rPr>
              <a:t>• Arcus aponeurosis palmaris'in hemen altında, fleksör tendonların ve n. medianus dallarının yüzeyindedir.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Kapor S., Bjelogrlic P., Simic V. et al. Anatomical Variations of the Neurovascular Structures of the Hand and the Clinical Significance. Cureus. 2025 Dec 22;17(12):e99862. doi: 10.7759/cureus.99862 PMCID: PMC12823052.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Arcus palmaris profundus – iki tip</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30 formalinle tespitli el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4-00000020873-i01.jpg"/>
          <p:cNvPicPr>
            <a:picLocks noChangeAspect="1"/>
          </p:cNvPicPr>
          <p:nvPr/>
        </p:nvPicPr>
        <p:blipFill>
          <a:blip r:embed="rId2"/>
          <a:stretch>
            <a:fillRect/>
          </a:stretch>
        </p:blipFill>
        <p:spPr>
          <a:xfrm>
            <a:off x="274320" y="1188719"/>
            <a:ext cx="3213732" cy="3128032"/>
          </a:xfrm>
          <a:prstGeom prst="rect">
            <a:avLst/>
          </a:prstGeom>
        </p:spPr>
      </p:pic>
      <p:sp>
        <p:nvSpPr>
          <p:cNvPr id="8" name="TextBox 7"/>
          <p:cNvSpPr txBox="1"/>
          <p:nvPr/>
        </p:nvSpPr>
        <p:spPr>
          <a:xfrm>
            <a:off x="182879" y="4316752"/>
            <a:ext cx="339661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Dawani P. ve ark., 2022 (PMC8808664, CC BY)</a:t>
            </a:r>
          </a:p>
        </p:txBody>
      </p:sp>
      <p:pic>
        <p:nvPicPr>
          <p:cNvPr id="9" name="Picture 8" descr="cureus-0014-00000020873-i02.jpg"/>
          <p:cNvPicPr>
            <a:picLocks noChangeAspect="1"/>
          </p:cNvPicPr>
          <p:nvPr/>
        </p:nvPicPr>
        <p:blipFill>
          <a:blip r:embed="rId3"/>
          <a:stretch>
            <a:fillRect/>
          </a:stretch>
        </p:blipFill>
        <p:spPr>
          <a:xfrm>
            <a:off x="3625212" y="1188720"/>
            <a:ext cx="3735707" cy="3128032"/>
          </a:xfrm>
          <a:prstGeom prst="rect">
            <a:avLst/>
          </a:prstGeom>
        </p:spPr>
      </p:pic>
      <p:sp>
        <p:nvSpPr>
          <p:cNvPr id="10" name="TextBox 9"/>
          <p:cNvSpPr txBox="1"/>
          <p:nvPr/>
        </p:nvSpPr>
        <p:spPr>
          <a:xfrm>
            <a:off x="3533772" y="4316752"/>
            <a:ext cx="3918587"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Dawani P. ve ark., 2022 (PMC8808664,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PMAs</a:t>
            </a:r>
            <a:r>
              <a:rPr sz="1050" b="0" i="0">
                <a:solidFill>
                  <a:srgbClr val="1F2A44"/>
                </a:solidFill>
                <a:latin typeface="Calibri"/>
              </a:rPr>
              <a:t> aa. metacarpales palmares; </a:t>
            </a:r>
            <a:r>
              <a:rPr sz="1050" b="0" i="0">
                <a:solidFill>
                  <a:srgbClr val="1F2A44"/>
                </a:solidFill>
                <a:latin typeface="Calibri"/>
              </a:rPr>
              <a:t>SDPBUA</a:t>
            </a:r>
            <a:r>
              <a:rPr sz="1050" b="0" i="0">
                <a:solidFill>
                  <a:srgbClr val="1F2A44"/>
                </a:solidFill>
                <a:latin typeface="Calibri"/>
              </a:rPr>
              <a:t> a. ulnaris'in üst derin palmar dalı; </a:t>
            </a:r>
            <a:r>
              <a:rPr sz="1050" b="0" i="0">
                <a:solidFill>
                  <a:srgbClr val="1F2A44"/>
                </a:solidFill>
                <a:latin typeface="Calibri"/>
              </a:rPr>
              <a:t>IDPBUA</a:t>
            </a:r>
            <a:r>
              <a:rPr sz="1050" b="0" i="0">
                <a:solidFill>
                  <a:srgbClr val="1F2A44"/>
                </a:solidFill>
                <a:latin typeface="Calibri"/>
              </a:rPr>
              <a:t> a. ulnaris'in alt derin palmar dalı; P/D proksimal/distal; R/U radial/ulnar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Tüm derin arklar tam bulunmuştur; uzunluk sağda 4,2 ± 0,47 cm, solda 4,0 ± 0,6 cm.</a:t>
            </a:r>
          </a:p>
          <a:p>
            <a:pPr algn="l">
              <a:spcAft>
                <a:spcPts val="300"/>
              </a:spcAft>
            </a:pPr>
            <a:r>
              <a:rPr sz="1050" b="0" i="0">
                <a:solidFill>
                  <a:srgbClr val="1F2A44"/>
                </a:solidFill>
                <a:latin typeface="Calibri"/>
              </a:rPr>
              <a:t>• Derin dal çapları: a. radialis 4,02 ± 0,48 mm, a. ulnaris 1,90 ± 0,36 mm – derin arkın baskın kaynağı a. radialis.</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Dawani P., Mahajan A., Vasudeva N. et al. Variations in the Pattern of the Deep Palmar Arch of the Hand and Its Surgical Importance. Cureus. 2022 Jan 2;14(1):e20873. doi: 10.7759/cureus.20873 PMCID: PMC8808664.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Mm. lumbricales ve avuç içi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Aponeurosis palmaris çıkarılmış sağ el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1757-1626-1-103-1.jpg"/>
          <p:cNvPicPr>
            <a:picLocks noChangeAspect="1"/>
          </p:cNvPicPr>
          <p:nvPr/>
        </p:nvPicPr>
        <p:blipFill>
          <a:blip r:embed="rId2"/>
          <a:stretch>
            <a:fillRect/>
          </a:stretch>
        </p:blipFill>
        <p:spPr>
          <a:xfrm>
            <a:off x="1823683" y="1188720"/>
            <a:ext cx="3987873" cy="4846320"/>
          </a:xfrm>
          <a:prstGeom prst="rect">
            <a:avLst/>
          </a:prstGeom>
        </p:spPr>
      </p:pic>
      <p:sp>
        <p:nvSpPr>
          <p:cNvPr id="8" name="TextBox 7"/>
          <p:cNvSpPr txBox="1"/>
          <p:nvPr/>
        </p:nvSpPr>
        <p:spPr>
          <a:xfrm>
            <a:off x="1732243" y="6035040"/>
            <a:ext cx="4170753"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Nayak S. R. ve ark., 2008 (PMC2527548,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1–4</a:t>
            </a:r>
            <a:r>
              <a:rPr sz="1050" b="0" i="0">
                <a:solidFill>
                  <a:srgbClr val="1F2A44"/>
                </a:solidFill>
                <a:latin typeface="Calibri"/>
              </a:rPr>
              <a:t> 1.–4. m. lumbricalis;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FR</a:t>
            </a:r>
            <a:r>
              <a:rPr sz="1050" b="0" i="0">
                <a:solidFill>
                  <a:srgbClr val="1F2A44"/>
                </a:solidFill>
                <a:latin typeface="Calibri"/>
              </a:rPr>
              <a:t> retinaculum flexorum; </a:t>
            </a:r>
            <a:r>
              <a:rPr sz="1050" b="0" i="0">
                <a:solidFill>
                  <a:srgbClr val="1F2A44"/>
                </a:solidFill>
                <a:latin typeface="Calibri"/>
              </a:rPr>
              <a:t>TE</a:t>
            </a:r>
            <a:r>
              <a:rPr sz="1050" b="0" i="0">
                <a:solidFill>
                  <a:srgbClr val="1F2A44"/>
                </a:solidFill>
                <a:latin typeface="Calibri"/>
              </a:rPr>
              <a:t> eminentia thenaris; </a:t>
            </a:r>
            <a:r>
              <a:rPr sz="1050" b="0" i="0">
                <a:solidFill>
                  <a:srgbClr val="1F2A44"/>
                </a:solidFill>
                <a:latin typeface="Calibri"/>
              </a:rPr>
              <a:t>HE</a:t>
            </a:r>
            <a:r>
              <a:rPr sz="1050" b="0" i="0">
                <a:solidFill>
                  <a:srgbClr val="1F2A44"/>
                </a:solidFill>
                <a:latin typeface="Calibri"/>
              </a:rPr>
              <a:t> eminentia hypothenaris; </a:t>
            </a:r>
            <a:r>
              <a:rPr sz="1050" b="0" i="0">
                <a:solidFill>
                  <a:srgbClr val="1F2A44"/>
                </a:solidFill>
                <a:latin typeface="Calibri"/>
              </a:rPr>
              <a:t>CT</a:t>
            </a:r>
            <a:r>
              <a:rPr sz="1050" b="0" i="0">
                <a:solidFill>
                  <a:srgbClr val="1F2A44"/>
                </a:solidFill>
                <a:latin typeface="Calibri"/>
              </a:rPr>
              <a:t> canalis carpi; dört köşeli yıldız: 1. lumbrikalin ek kas karnı</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Lumbrikaller FDP tendonlarından başlar, dorsal aponevroza yapışır (MCP fleksiyonu + IP ekstansiyonu).</a:t>
            </a:r>
          </a:p>
          <a:p>
            <a:pPr algn="l">
              <a:spcAft>
                <a:spcPts val="300"/>
              </a:spcAft>
            </a:pPr>
            <a:r>
              <a:rPr sz="1050" b="0" i="0">
                <a:solidFill>
                  <a:srgbClr val="1F2A44"/>
                </a:solidFill>
                <a:latin typeface="Calibri"/>
              </a:rPr>
              <a:t>• Bu olguda 1. lumbrikalin FDS tendonundan çıkan ek bir karnı retinakulumun proksimal kenarına yakındır – karpal tünel hacmini etkileyebilir.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Nayak S. R., Rathan R., Chauhan R. et al. An additional muscle belly of the first lumbrical muscle. Cases J. 2008 Aug 18;1:103. doi: 10.1186/1757-1626-1-103 PMCID: PMC2527548.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Fleksör tendon makaraları: A1 ve A2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2.–5. parmaklar (156 parmak, 39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ios-18-329-g002.jpg"/>
          <p:cNvPicPr>
            <a:picLocks noChangeAspect="1"/>
          </p:cNvPicPr>
          <p:nvPr/>
        </p:nvPicPr>
        <p:blipFill>
          <a:blip r:embed="rId2"/>
          <a:stretch>
            <a:fillRect/>
          </a:stretch>
        </p:blipFill>
        <p:spPr>
          <a:xfrm>
            <a:off x="1148632" y="1188720"/>
            <a:ext cx="5337975" cy="4846320"/>
          </a:xfrm>
          <a:prstGeom prst="rect">
            <a:avLst/>
          </a:prstGeom>
        </p:spPr>
      </p:pic>
      <p:sp>
        <p:nvSpPr>
          <p:cNvPr id="8" name="TextBox 7"/>
          <p:cNvSpPr txBox="1"/>
          <p:nvPr/>
        </p:nvSpPr>
        <p:spPr>
          <a:xfrm>
            <a:off x="1057192" y="6035040"/>
            <a:ext cx="552085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So Y. I. ve ark., 2026 (PMC13047401, CC BY-NC)</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Oklar A1 ve A2 makaraları arasındaki aralığı gösterir (şekilde metin etiketi yoktur)</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2.–4. parmaklarda A1 ortalama </a:t>
            </a:r>
            <a:r>
              <a:rPr sz="1050" b="0" i="0">
                <a:solidFill>
                  <a:srgbClr val="1F2A44"/>
                </a:solidFill>
                <a:latin typeface="Calibri"/>
              </a:rPr>
              <a:t>7,2 mm</a:t>
            </a:r>
            <a:r>
              <a:rPr sz="1050" b="0" i="0">
                <a:solidFill>
                  <a:srgbClr val="1F2A44"/>
                </a:solidFill>
                <a:latin typeface="Calibri"/>
              </a:rPr>
              <a:t>, A2 </a:t>
            </a:r>
            <a:r>
              <a:rPr sz="1050" b="0" i="0">
                <a:solidFill>
                  <a:srgbClr val="1F2A44"/>
                </a:solidFill>
                <a:latin typeface="Calibri"/>
              </a:rPr>
              <a:t>17,1 mm</a:t>
            </a:r>
            <a:r>
              <a:rPr sz="1050" b="0" i="0">
                <a:solidFill>
                  <a:srgbClr val="1F2A44"/>
                </a:solidFill>
                <a:latin typeface="Calibri"/>
              </a:rPr>
              <a:t>; aradaki aralık ortalama 3,4 mm.</a:t>
            </a:r>
          </a:p>
          <a:p>
            <a:pPr algn="l">
              <a:spcAft>
                <a:spcPts val="300"/>
              </a:spcAft>
            </a:pPr>
            <a:r>
              <a:rPr sz="1050" b="0" i="0">
                <a:solidFill>
                  <a:srgbClr val="1F2A44"/>
                </a:solidFill>
                <a:latin typeface="Calibri"/>
              </a:rPr>
              <a:t>• A1 makarası tüm olgularda proksimal palmar çizginin distalinde yer almıştır – tetik parmak gevşetmesi için işaret noktası.</a:t>
            </a:r>
          </a:p>
        </p:txBody>
      </p:sp>
      <p:sp>
        <p:nvSpPr>
          <p:cNvPr id="13" name="TextBox 12"/>
          <p:cNvSpPr txBox="1"/>
          <p:nvPr/>
        </p:nvSpPr>
        <p:spPr>
          <a:xfrm>
            <a:off x="7589520" y="6053328"/>
            <a:ext cx="4389120" cy="274320"/>
          </a:xfrm>
          <a:prstGeom prst="rect">
            <a:avLst/>
          </a:prstGeom>
          <a:noFill/>
        </p:spPr>
        <p:txBody>
          <a:bodyPr wrap="square" anchor="t" lIns="45720" rIns="45720" tIns="18288" bIns="18288">
            <a:spAutoFit/>
          </a:bodyPr>
          <a:lstStyle/>
          <a:p>
            <a:pPr algn="l"/>
            <a:r>
              <a:rPr sz="8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So Y. I., Lee H. I., Song W. C. et al. An Anatomical Study to Ensure Precise Percutaneous Release of the Annular Pulley in the Trigger Finger. Clin Orthop Surg. 2026 Mar 12;18(2):329–36. doi: 10.4055/cios25123 PMCID: PMC13047401.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 dorsalis n. ulnaris – dorsomedial üçgen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40 kadavra ekstremitesi; fotoğraf + çizim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5-00000041981-i03.jpg"/>
          <p:cNvPicPr>
            <a:picLocks noChangeAspect="1"/>
          </p:cNvPicPr>
          <p:nvPr/>
        </p:nvPicPr>
        <p:blipFill>
          <a:blip r:embed="rId2"/>
          <a:stretch>
            <a:fillRect/>
          </a:stretch>
        </p:blipFill>
        <p:spPr>
          <a:xfrm>
            <a:off x="274320" y="1981962"/>
            <a:ext cx="7086600" cy="3259836"/>
          </a:xfrm>
          <a:prstGeom prst="rect">
            <a:avLst/>
          </a:prstGeom>
        </p:spPr>
      </p:pic>
      <p:sp>
        <p:nvSpPr>
          <p:cNvPr id="8" name="TextBox 7"/>
          <p:cNvSpPr txBox="1"/>
          <p:nvPr/>
        </p:nvSpPr>
        <p:spPr>
          <a:xfrm>
            <a:off x="182879" y="5241798"/>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Kotgirwar S. ve ark., 2023 (PMC10427770,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Yıldız</a:t>
            </a:r>
            <a:r>
              <a:rPr sz="1050" b="0" i="0">
                <a:solidFill>
                  <a:srgbClr val="1F2A44"/>
                </a:solidFill>
                <a:latin typeface="Calibri"/>
              </a:rPr>
              <a:t> r. dorsalis n. ulnaris; </a:t>
            </a:r>
            <a:r>
              <a:rPr sz="1050" b="0" i="0">
                <a:solidFill>
                  <a:srgbClr val="1F2A44"/>
                </a:solidFill>
                <a:latin typeface="Calibri"/>
              </a:rPr>
              <a:t>ok başları</a:t>
            </a:r>
            <a:r>
              <a:rPr sz="1050" b="0" i="0">
                <a:solidFill>
                  <a:srgbClr val="1F2A44"/>
                </a:solidFill>
                <a:latin typeface="Calibri"/>
              </a:rPr>
              <a:t> a. ulnaris dorsal dalı; </a:t>
            </a:r>
            <a:r>
              <a:rPr sz="1050" b="0" i="0">
                <a:solidFill>
                  <a:srgbClr val="1F2A44"/>
                </a:solidFill>
                <a:latin typeface="Calibri"/>
              </a:rPr>
              <a:t>ECU</a:t>
            </a:r>
            <a:r>
              <a:rPr sz="1050" b="0" i="0">
                <a:solidFill>
                  <a:srgbClr val="1F2A44"/>
                </a:solidFill>
                <a:latin typeface="Calibri"/>
              </a:rPr>
              <a:t> m. extensor carpi ulnaris; </a:t>
            </a:r>
            <a:r>
              <a:rPr sz="1050" b="0" i="0">
                <a:solidFill>
                  <a:srgbClr val="1F2A44"/>
                </a:solidFill>
                <a:latin typeface="Calibri"/>
              </a:rPr>
              <a:t>FCU</a:t>
            </a:r>
            <a:r>
              <a:rPr sz="1050" b="0" i="0">
                <a:solidFill>
                  <a:srgbClr val="1F2A44"/>
                </a:solidFill>
                <a:latin typeface="Calibri"/>
              </a:rPr>
              <a:t> m. flexor carpi ulnaris; a os pisiforme proksimal kenarı; b proc. styloideus tepesi; c üçgenin tepesi</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Dört dallanma paterni; baskın patern %67,5.</a:t>
            </a:r>
          </a:p>
          <a:p>
            <a:pPr algn="l">
              <a:spcAft>
                <a:spcPts val="300"/>
              </a:spcAft>
            </a:pPr>
            <a:r>
              <a:rPr sz="1050" b="0" i="0">
                <a:solidFill>
                  <a:srgbClr val="1F2A44"/>
                </a:solidFill>
                <a:latin typeface="Calibri"/>
              </a:rPr>
              <a:t>• Olguların dörtte üçünde bir dal </a:t>
            </a:r>
            <a:r>
              <a:rPr sz="1050" b="0" i="0">
                <a:solidFill>
                  <a:srgbClr val="1F2A44"/>
                </a:solidFill>
                <a:latin typeface="Calibri"/>
              </a:rPr>
              <a:t>6U artroskopi portalının</a:t>
            </a:r>
            <a:r>
              <a:rPr sz="1050" b="0" i="0">
                <a:solidFill>
                  <a:srgbClr val="1F2A44"/>
                </a:solidFill>
                <a:latin typeface="Calibri"/>
              </a:rPr>
              <a:t> üzerinden geçer – portal açılırken risk.</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Kotgirwar S., Athavale S. A., Lalwani R. et al. Subcutaneous Dorsomedial Triangle of Forearm: Surgical Anatomy and Clinical Implication. Cureus. 2023 Jul 16;15(7):e41981. doi: 10.7759/cureus.41981 PMCID: PMC10427770.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R. superficialis n. radialis ve v. cephalica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25 önkol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1754-9493-5-28-1.jpg"/>
          <p:cNvPicPr>
            <a:picLocks noChangeAspect="1"/>
          </p:cNvPicPr>
          <p:nvPr/>
        </p:nvPicPr>
        <p:blipFill>
          <a:blip r:embed="rId2"/>
          <a:stretch>
            <a:fillRect/>
          </a:stretch>
        </p:blipFill>
        <p:spPr>
          <a:xfrm>
            <a:off x="586740" y="1188720"/>
            <a:ext cx="6461760" cy="4846320"/>
          </a:xfrm>
          <a:prstGeom prst="rect">
            <a:avLst/>
          </a:prstGeom>
        </p:spPr>
      </p:pic>
      <p:sp>
        <p:nvSpPr>
          <p:cNvPr id="8" name="TextBox 7"/>
          <p:cNvSpPr txBox="1"/>
          <p:nvPr/>
        </p:nvSpPr>
        <p:spPr>
          <a:xfrm>
            <a:off x="495300" y="6035040"/>
            <a:ext cx="664464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Samarakoon L. B. ve ark., 2011 (PMC3269985,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SB</a:t>
            </a:r>
            <a:r>
              <a:rPr sz="1050" b="0" i="0">
                <a:solidFill>
                  <a:srgbClr val="1F2A44"/>
                </a:solidFill>
                <a:latin typeface="Calibri"/>
              </a:rPr>
              <a:t> r. superficialis n. radialis; </a:t>
            </a:r>
            <a:r>
              <a:rPr sz="1050" b="0" i="0">
                <a:solidFill>
                  <a:srgbClr val="1F2A44"/>
                </a:solidFill>
                <a:latin typeface="Calibri"/>
              </a:rPr>
              <a:t>V</a:t>
            </a:r>
            <a:r>
              <a:rPr sz="1050" b="0" i="0">
                <a:solidFill>
                  <a:srgbClr val="1F2A44"/>
                </a:solidFill>
                <a:latin typeface="Calibri"/>
              </a:rPr>
              <a:t> v. cephalica; </a:t>
            </a:r>
            <a:r>
              <a:rPr sz="1050" b="0" i="0">
                <a:solidFill>
                  <a:srgbClr val="1F2A44"/>
                </a:solidFill>
                <a:latin typeface="Calibri"/>
              </a:rPr>
              <a:t>O</a:t>
            </a:r>
            <a:r>
              <a:rPr sz="1050" b="0" i="0">
                <a:solidFill>
                  <a:srgbClr val="1F2A44"/>
                </a:solidFill>
                <a:latin typeface="Calibri"/>
              </a:rPr>
              <a:t> referans: proc. styloideus radii</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Sinir proc. styloideus radii'nin ortalama </a:t>
            </a:r>
            <a:r>
              <a:rPr sz="1050" b="0" i="0">
                <a:solidFill>
                  <a:srgbClr val="1F2A44"/>
                </a:solidFill>
                <a:latin typeface="Calibri"/>
              </a:rPr>
              <a:t>8,54 cm</a:t>
            </a:r>
            <a:r>
              <a:rPr sz="1050" b="0" i="0">
                <a:solidFill>
                  <a:srgbClr val="1F2A44"/>
                </a:solidFill>
                <a:latin typeface="Calibri"/>
              </a:rPr>
              <a:t> proksimalinde fasyadan çıkar, 5,57 cm'de dallanır.</a:t>
            </a:r>
          </a:p>
          <a:p>
            <a:pPr algn="l">
              <a:spcAft>
                <a:spcPts val="300"/>
              </a:spcAft>
            </a:pPr>
            <a:r>
              <a:rPr sz="1050" b="0" i="0">
                <a:solidFill>
                  <a:srgbClr val="1F2A44"/>
                </a:solidFill>
                <a:latin typeface="Calibri"/>
              </a:rPr>
              <a:t>• Örneklerin %68'inde v. cephalica siniri bir kez yüzeyelden çaprazlar – kanülasyon ve de Quervain cerrahisinde yaralanma riski.</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Samarakoon L. B., Lakmal K. C., Thillainathan S. et al. Anatomical relations of the superficial sensory branches of the radial nerve: a cadaveric study with clinical implications. Patient Saf Surg. 2011 Nov 4;5:28. doi: 10.1186/1754-9493-5-28 PMCID: PMC3269985.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Ekstensör mekanizma</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Yazar şeması ve ultrason çalışması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455A64"/>
          </a:solidFill>
        </p:spPr>
        <p:txBody>
          <a:bodyPr wrap="square" anchor="ctr" lIns="45720" rIns="45720" tIns="18288" bIns="18288">
            <a:spAutoFit/>
          </a:bodyPr>
          <a:lstStyle/>
          <a:p>
            <a:pPr algn="ctr"/>
            <a:r>
              <a:rPr sz="950" b="1" i="0">
                <a:solidFill>
                  <a:srgbClr val="FFFFFF"/>
                </a:solidFill>
                <a:latin typeface="Calibri"/>
              </a:rPr>
              <a:t>ŞEMA</a:t>
            </a:r>
          </a:p>
        </p:txBody>
      </p:sp>
      <p:pic>
        <p:nvPicPr>
          <p:cNvPr id="7" name="Picture 6" descr="AJUM-26-216-g006.jpg"/>
          <p:cNvPicPr>
            <a:picLocks noChangeAspect="1"/>
          </p:cNvPicPr>
          <p:nvPr/>
        </p:nvPicPr>
        <p:blipFill>
          <a:blip r:embed="rId2"/>
          <a:stretch>
            <a:fillRect/>
          </a:stretch>
        </p:blipFill>
        <p:spPr>
          <a:xfrm>
            <a:off x="274320" y="2082613"/>
            <a:ext cx="7086600" cy="3058532"/>
          </a:xfrm>
          <a:prstGeom prst="rect">
            <a:avLst/>
          </a:prstGeom>
        </p:spPr>
      </p:pic>
      <p:sp>
        <p:nvSpPr>
          <p:cNvPr id="8" name="TextBox 7"/>
          <p:cNvSpPr txBox="1"/>
          <p:nvPr/>
        </p:nvSpPr>
        <p:spPr>
          <a:xfrm>
            <a:off x="182879" y="5141146"/>
            <a:ext cx="726948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Fenech M. ve ark., 2023 (PMC10716571,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Central slip ED tendon = m. extensor digitorum'un merkezi bandı; Lateral slip = lateral bant; Dorsal/Palmar plate = dorsal/volar plak; </a:t>
            </a:r>
            <a:r>
              <a:rPr sz="1050" b="0" i="0">
                <a:solidFill>
                  <a:srgbClr val="1F2A44"/>
                </a:solidFill>
                <a:latin typeface="Calibri"/>
              </a:rPr>
              <a:t>DP</a:t>
            </a:r>
            <a:r>
              <a:rPr sz="1050" b="0" i="0">
                <a:solidFill>
                  <a:srgbClr val="1F2A44"/>
                </a:solidFill>
                <a:latin typeface="Calibri"/>
              </a:rPr>
              <a:t> phalanx distalis; </a:t>
            </a:r>
            <a:r>
              <a:rPr sz="1050" b="0" i="0">
                <a:solidFill>
                  <a:srgbClr val="1F2A44"/>
                </a:solidFill>
                <a:latin typeface="Calibri"/>
              </a:rPr>
              <a:t>PP</a:t>
            </a:r>
            <a:r>
              <a:rPr sz="1050" b="0" i="0">
                <a:solidFill>
                  <a:srgbClr val="1F2A44"/>
                </a:solidFill>
                <a:latin typeface="Calibri"/>
              </a:rPr>
              <a:t> phalanx proximalis; MP phalanx media; MC os metacarpi</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Merkezi bant orta falanks tabanına, lateral bantlar birleşerek distal falanksa yapışır.</a:t>
            </a:r>
          </a:p>
          <a:p>
            <a:pPr algn="l">
              <a:spcAft>
                <a:spcPts val="300"/>
              </a:spcAft>
            </a:pPr>
            <a:r>
              <a:rPr sz="1050" b="0" i="0">
                <a:solidFill>
                  <a:srgbClr val="1F2A44"/>
                </a:solidFill>
                <a:latin typeface="Calibri"/>
              </a:rPr>
              <a:t>• Merkezi bant yırtığı → düğme iliği; distal yapışma yırtığı → çekiç parmak.</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Fenech M. Boxer's knuckle: Sonographic anatomy and assessment of sagittal band tears of the dorsal hood. Australas J Ultrasound Med. 2023 Oct 12;26(4):216–29. doi: 10.1002/ajum.12363 PMCID: PMC10716571.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1. ekstensör kompartman</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32 kadavra el bileği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eplasty08e53_fig1.jpg"/>
          <p:cNvPicPr>
            <a:picLocks noChangeAspect="1"/>
          </p:cNvPicPr>
          <p:nvPr/>
        </p:nvPicPr>
        <p:blipFill>
          <a:blip r:embed="rId2"/>
          <a:stretch>
            <a:fillRect/>
          </a:stretch>
        </p:blipFill>
        <p:spPr>
          <a:xfrm>
            <a:off x="1215180" y="1188720"/>
            <a:ext cx="5204878" cy="4846320"/>
          </a:xfrm>
          <a:prstGeom prst="rect">
            <a:avLst/>
          </a:prstGeom>
        </p:spPr>
      </p:pic>
      <p:sp>
        <p:nvSpPr>
          <p:cNvPr id="8" name="TextBox 7"/>
          <p:cNvSpPr txBox="1"/>
          <p:nvPr/>
        </p:nvSpPr>
        <p:spPr>
          <a:xfrm>
            <a:off x="1123740" y="6035040"/>
            <a:ext cx="538775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Hazani R. ve ark., 2009 (PMC2586286,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Lister's tubercle = tuberculum dorsale radii; First dorsal compartment = 1. kompartman; Radial styloid = proc. styloideus radii; EPB; APL; Scaphoid tubercle = tuberculum ossis scaphoidei</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Retinaculum extensorum'un uzunluğu ortalama ~2,2 cm.</a:t>
            </a:r>
          </a:p>
          <a:p>
            <a:pPr algn="l">
              <a:spcAft>
                <a:spcPts val="300"/>
              </a:spcAft>
            </a:pPr>
            <a:r>
              <a:rPr sz="1050" b="0" i="0">
                <a:solidFill>
                  <a:srgbClr val="1F2A44"/>
                </a:solidFill>
                <a:latin typeface="Calibri"/>
              </a:rPr>
              <a:t>• 1. kompartmanda APL ve EPB geçer – </a:t>
            </a:r>
            <a:r>
              <a:rPr sz="1050" b="0" i="0">
                <a:solidFill>
                  <a:srgbClr val="1F2A44"/>
                </a:solidFill>
                <a:latin typeface="Calibri"/>
              </a:rPr>
              <a:t>de Quervain tenosinoviti</a:t>
            </a:r>
            <a:r>
              <a:rPr sz="1050" b="0" i="0">
                <a:solidFill>
                  <a:srgbClr val="1F2A44"/>
                </a:solidFill>
                <a:latin typeface="Calibri"/>
              </a:rPr>
              <a:t> (bkz. varyasyonlar: ara septum %35).</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Hazani R., Engineer N. J., Cooney D. et al. Anatomic Landmarks for the First Dorsal Compartment. Eplasty. 2009 Jun 2;8:e53. PMCID: PMC2586286.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N. medianus'un motor tenar dalı</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Natsis ve ark., Cureus 2019 – çift motor dal olgusu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2E7D32"/>
          </a:solidFill>
        </p:spPr>
        <p:txBody>
          <a:bodyPr wrap="square" anchor="ctr" lIns="45720" rIns="45720" tIns="18288" bIns="18288">
            <a:spAutoFit/>
          </a:bodyPr>
          <a:lstStyle/>
          <a:p>
            <a:pPr algn="ctr"/>
            <a:r>
              <a:rPr sz="950" b="1" i="0">
                <a:solidFill>
                  <a:srgbClr val="FFFFFF"/>
                </a:solidFill>
                <a:latin typeface="Calibri"/>
              </a:rPr>
              <a:t>DİSEKSİYON</a:t>
            </a:r>
          </a:p>
        </p:txBody>
      </p:sp>
      <p:pic>
        <p:nvPicPr>
          <p:cNvPr id="7" name="Picture 6" descr="cureus-0011-00000005859-i01.jpg"/>
          <p:cNvPicPr>
            <a:picLocks noChangeAspect="1"/>
          </p:cNvPicPr>
          <p:nvPr/>
        </p:nvPicPr>
        <p:blipFill>
          <a:blip r:embed="rId2"/>
          <a:stretch>
            <a:fillRect/>
          </a:stretch>
        </p:blipFill>
        <p:spPr>
          <a:xfrm>
            <a:off x="2168701" y="1188720"/>
            <a:ext cx="3297836" cy="2605290"/>
          </a:xfrm>
          <a:prstGeom prst="rect">
            <a:avLst/>
          </a:prstGeom>
        </p:spPr>
      </p:pic>
      <p:sp>
        <p:nvSpPr>
          <p:cNvPr id="8" name="TextBox 7"/>
          <p:cNvSpPr txBox="1"/>
          <p:nvPr/>
        </p:nvSpPr>
        <p:spPr>
          <a:xfrm>
            <a:off x="2077261" y="3794010"/>
            <a:ext cx="348071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Natsis Konstantinos ve ark., 2019 (PMC6834099, CC BY)</a:t>
            </a:r>
          </a:p>
        </p:txBody>
      </p:sp>
      <p:pic>
        <p:nvPicPr>
          <p:cNvPr id="9" name="Picture 8" descr="cureus-0011-00000005859-i02.jpg"/>
          <p:cNvPicPr>
            <a:picLocks noChangeAspect="1"/>
          </p:cNvPicPr>
          <p:nvPr/>
        </p:nvPicPr>
        <p:blipFill>
          <a:blip r:embed="rId3"/>
          <a:stretch>
            <a:fillRect/>
          </a:stretch>
        </p:blipFill>
        <p:spPr>
          <a:xfrm>
            <a:off x="2168701" y="4068330"/>
            <a:ext cx="3297836" cy="1920989"/>
          </a:xfrm>
          <a:prstGeom prst="rect">
            <a:avLst/>
          </a:prstGeom>
        </p:spPr>
      </p:pic>
      <p:sp>
        <p:nvSpPr>
          <p:cNvPr id="10" name="TextBox 9"/>
          <p:cNvSpPr txBox="1"/>
          <p:nvPr/>
        </p:nvSpPr>
        <p:spPr>
          <a:xfrm>
            <a:off x="2077261" y="5989320"/>
            <a:ext cx="348071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Natsis Konstantinos ve ark., 2019 (PMC6834099,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MN</a:t>
            </a:r>
            <a:r>
              <a:rPr sz="1050" b="0" i="0">
                <a:solidFill>
                  <a:srgbClr val="1F2A44"/>
                </a:solidFill>
                <a:latin typeface="Calibri"/>
              </a:rPr>
              <a:t> n. medianus; ok başları iki motor tenar dalın çıkışı; noktalı çizgi seyir; ***</a:t>
            </a:r>
            <a:r>
              <a:rPr sz="1050" b="0" i="0">
                <a:solidFill>
                  <a:srgbClr val="1F2A44"/>
                </a:solidFill>
                <a:latin typeface="Calibri"/>
              </a:rPr>
              <a:t> 5 terminal kas dalı; </a:t>
            </a:r>
            <a:r>
              <a:rPr sz="1050" b="0" i="0">
                <a:solidFill>
                  <a:srgbClr val="1F2A44"/>
                </a:solidFill>
                <a:latin typeface="Calibri"/>
              </a:rPr>
              <a:t>TCL** lig. carpi transversum</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Literatürde tipik anatomi olguların </a:t>
            </a:r>
            <a:r>
              <a:rPr sz="1050" b="0" i="0">
                <a:solidFill>
                  <a:srgbClr val="1F2A44"/>
                </a:solidFill>
                <a:latin typeface="Calibri"/>
              </a:rPr>
              <a:t>%75'inden azında</a:t>
            </a:r>
            <a:r>
              <a:rPr sz="1050" b="0" i="0">
                <a:solidFill>
                  <a:srgbClr val="1F2A44"/>
                </a:solidFill>
                <a:latin typeface="Calibri"/>
              </a:rPr>
              <a:t> bildirilmiştir.</a:t>
            </a:r>
          </a:p>
          <a:p>
            <a:pPr algn="l">
              <a:spcAft>
                <a:spcPts val="300"/>
              </a:spcAft>
            </a:pPr>
            <a:r>
              <a:rPr sz="1050" b="0" i="0">
                <a:solidFill>
                  <a:srgbClr val="1F2A44"/>
                </a:solidFill>
                <a:latin typeface="Calibri"/>
              </a:rPr>
              <a:t>• Karpal tünel gevşetmesinde dalın seyri (ekstra-, sub-, transligamentöz) kesi planını belirler.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Natsis Konstantinos, Tzika Maria, Paraskevas George K et al. Double Muscular Thenar Branch and Anatomical Variation of Thenar Muscle Innervation Observed in a Cadaver. Cureus. 2019 Oct 7;11(10):e5859. doi: 10.7759/cureus.5859 PMCID: PMC6834099.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bileği ve el – klinik bağlantılar</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Topografinin klinik karşılıkları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26A00"/>
          </a:solidFill>
        </p:spPr>
        <p:txBody>
          <a:bodyPr wrap="square" anchor="ctr" lIns="45720" rIns="45720" tIns="18288" bIns="18288">
            <a:spAutoFit/>
          </a:bodyPr>
          <a:lstStyle/>
          <a:p>
            <a:pPr algn="ctr"/>
            <a:r>
              <a:rPr sz="950" b="1" i="0">
                <a:solidFill>
                  <a:srgbClr val="FFFFFF"/>
                </a:solidFill>
                <a:latin typeface="Calibri"/>
              </a:rPr>
              <a:t>KLİNİK BAĞLANTI</a:t>
            </a:r>
          </a:p>
        </p:txBody>
      </p:sp>
      <p:sp>
        <p:nvSpPr>
          <p:cNvPr id="7" name="TextBox 6"/>
          <p:cNvSpPr txBox="1"/>
          <p:nvPr/>
        </p:nvSpPr>
        <p:spPr>
          <a:xfrm>
            <a:off x="365760" y="1234440"/>
            <a:ext cx="11430000" cy="5029200"/>
          </a:xfrm>
          <a:prstGeom prst="rect">
            <a:avLst/>
          </a:prstGeom>
          <a:noFill/>
        </p:spPr>
        <p:txBody>
          <a:bodyPr wrap="square">
            <a:spAutoFit/>
          </a:bodyPr>
          <a:lstStyle/>
          <a:p>
            <a:pPr algn="l">
              <a:spcAft>
                <a:spcPts val="300"/>
              </a:spcAft>
            </a:pPr>
            <a:r>
              <a:rPr sz="1650" b="0" i="0">
                <a:solidFill>
                  <a:srgbClr val="1F2A44"/>
                </a:solidFill>
                <a:latin typeface="Calibri"/>
              </a:rPr>
              <a:t>• </a:t>
            </a:r>
            <a:r>
              <a:rPr sz="1650" b="0" i="0">
                <a:solidFill>
                  <a:srgbClr val="1F2A44"/>
                </a:solidFill>
                <a:latin typeface="Calibri"/>
              </a:rPr>
              <a:t>Karpal tünel sendromu:</a:t>
            </a:r>
            <a:r>
              <a:rPr sz="1650" b="0" i="0">
                <a:solidFill>
                  <a:srgbClr val="1F2A44"/>
                </a:solidFill>
                <a:latin typeface="Calibri"/>
              </a:rPr>
              <a:t> en sık tuzak nöropati; gece uyuşması, tenar atrofi; Tinel ve Phalen testleri. Cerrahide retinakulum </a:t>
            </a:r>
            <a:r>
              <a:rPr sz="1650" b="0" i="0">
                <a:solidFill>
                  <a:srgbClr val="1F2A44"/>
                </a:solidFill>
                <a:latin typeface="Calibri"/>
              </a:rPr>
              <a:t>ulnar tarafa yakın</a:t>
            </a:r>
            <a:r>
              <a:rPr sz="1650" b="0" i="0">
                <a:solidFill>
                  <a:srgbClr val="1F2A44"/>
                </a:solidFill>
                <a:latin typeface="Calibri"/>
              </a:rPr>
              <a:t> kesilir (r. recurrens'i korumak için).</a:t>
            </a:r>
          </a:p>
          <a:p>
            <a:pPr algn="l">
              <a:spcAft>
                <a:spcPts val="300"/>
              </a:spcAft>
            </a:pPr>
            <a:r>
              <a:rPr sz="1650" b="0" i="0">
                <a:solidFill>
                  <a:srgbClr val="1F2A44"/>
                </a:solidFill>
                <a:latin typeface="Calibri"/>
              </a:rPr>
              <a:t>• </a:t>
            </a:r>
            <a:r>
              <a:rPr sz="1650" b="0" i="0">
                <a:solidFill>
                  <a:srgbClr val="1F2A44"/>
                </a:solidFill>
                <a:latin typeface="Calibri"/>
              </a:rPr>
              <a:t>Guyon kanalı sendromu:</a:t>
            </a:r>
            <a:r>
              <a:rPr sz="1650" b="0" i="0">
                <a:solidFill>
                  <a:srgbClr val="1F2A44"/>
                </a:solidFill>
                <a:latin typeface="Calibri"/>
              </a:rPr>
              <a:t> bisikletçi nöropatisi, hamulus kırığı, ganglion.</a:t>
            </a:r>
          </a:p>
          <a:p>
            <a:pPr algn="l">
              <a:spcAft>
                <a:spcPts val="300"/>
              </a:spcAft>
            </a:pPr>
            <a:r>
              <a:rPr sz="1650" b="0" i="0">
                <a:solidFill>
                  <a:srgbClr val="1F2A44"/>
                </a:solidFill>
                <a:latin typeface="Calibri"/>
              </a:rPr>
              <a:t>• </a:t>
            </a:r>
            <a:r>
              <a:rPr sz="1650" b="0" i="0">
                <a:solidFill>
                  <a:srgbClr val="1F2A44"/>
                </a:solidFill>
                <a:latin typeface="Calibri"/>
              </a:rPr>
              <a:t>Skafoid kırığı:</a:t>
            </a:r>
            <a:r>
              <a:rPr sz="1650" b="0" i="0">
                <a:solidFill>
                  <a:srgbClr val="1F2A44"/>
                </a:solidFill>
                <a:latin typeface="Calibri"/>
              </a:rPr>
              <a:t> fovea radialis hassasiyeti; ilk grafide görülmeyebilir – avasküler nekroz riski.</a:t>
            </a:r>
          </a:p>
          <a:p>
            <a:pPr algn="l">
              <a:spcAft>
                <a:spcPts val="300"/>
              </a:spcAft>
            </a:pPr>
            <a:r>
              <a:rPr sz="1650" b="0" i="0">
                <a:solidFill>
                  <a:srgbClr val="1F2A44"/>
                </a:solidFill>
                <a:latin typeface="Calibri"/>
              </a:rPr>
              <a:t>• </a:t>
            </a:r>
            <a:r>
              <a:rPr sz="1650" b="0" i="0">
                <a:solidFill>
                  <a:srgbClr val="1F2A44"/>
                </a:solidFill>
                <a:latin typeface="Calibri"/>
              </a:rPr>
              <a:t>De Quervain tenosinoviti:</a:t>
            </a:r>
            <a:r>
              <a:rPr sz="1650" b="0" i="0">
                <a:solidFill>
                  <a:srgbClr val="1F2A44"/>
                </a:solidFill>
                <a:latin typeface="Calibri"/>
              </a:rPr>
              <a:t> 1. ekstensör kompartman; Finkelstein testi.</a:t>
            </a:r>
          </a:p>
          <a:p>
            <a:pPr algn="l">
              <a:spcAft>
                <a:spcPts val="300"/>
              </a:spcAft>
            </a:pPr>
            <a:r>
              <a:rPr sz="1650" b="0" i="0">
                <a:solidFill>
                  <a:srgbClr val="1F2A44"/>
                </a:solidFill>
                <a:latin typeface="Calibri"/>
              </a:rPr>
              <a:t>• </a:t>
            </a:r>
            <a:r>
              <a:rPr sz="1650" b="0" i="0">
                <a:solidFill>
                  <a:srgbClr val="1F2A44"/>
                </a:solidFill>
                <a:latin typeface="Calibri"/>
              </a:rPr>
              <a:t>Fleksör tendon yaralanmaları:</a:t>
            </a:r>
            <a:r>
              <a:rPr sz="1650" b="0" i="0">
                <a:solidFill>
                  <a:srgbClr val="1F2A44"/>
                </a:solidFill>
                <a:latin typeface="Calibri"/>
              </a:rPr>
              <a:t> Zon II ('kimsenin toprağı') onarımı en güç bölgedir.</a:t>
            </a:r>
          </a:p>
          <a:p>
            <a:pPr algn="l">
              <a:spcAft>
                <a:spcPts val="300"/>
              </a:spcAft>
            </a:pPr>
            <a:r>
              <a:rPr sz="1650" b="0" i="0">
                <a:solidFill>
                  <a:srgbClr val="1F2A44"/>
                </a:solidFill>
                <a:latin typeface="Calibri"/>
              </a:rPr>
              <a:t>• </a:t>
            </a:r>
            <a:r>
              <a:rPr sz="1650" b="0" i="0">
                <a:solidFill>
                  <a:srgbClr val="1F2A44"/>
                </a:solidFill>
                <a:latin typeface="Calibri"/>
              </a:rPr>
              <a:t>El enfeksiyonları:</a:t>
            </a:r>
            <a:r>
              <a:rPr sz="1650" b="0" i="0">
                <a:solidFill>
                  <a:srgbClr val="1F2A44"/>
                </a:solidFill>
                <a:latin typeface="Calibri"/>
              </a:rPr>
              <a:t> sinoviyal kılıflar ve derin palmar boşluklar boyunca yayılır (Kanavel bulguları).</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bölgesi varyasyonları – literatür taraması (1/2)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84632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07720">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07720">
                <a:tc>
                  <a:txBody>
                    <a:bodyPr/>
                    <a:lstStyle/>
                    <a:p>
                      <a:r>
                        <a:rPr sz="1150" b="1">
                          <a:solidFill>
                            <a:srgbClr val="1F2A44"/>
                          </a:solidFill>
                          <a:latin typeface="Calibri"/>
                        </a:rPr>
                        <a:t>N. ulnaris'in Guyon kanalında dallanması</a:t>
                      </a:r>
                    </a:p>
                  </a:txBody>
                  <a:tcPr>
                    <a:solidFill>
                      <a:srgbClr val="F3F4F6"/>
                    </a:solidFill>
                  </a:tcPr>
                </a:tc>
                <a:tc>
                  <a:txBody>
                    <a:bodyPr/>
                    <a:lstStyle/>
                    <a:p>
                      <a:r>
                        <a:rPr sz="1150" b="0">
                          <a:solidFill>
                            <a:srgbClr val="1F2A44"/>
                          </a:solidFill>
                          <a:latin typeface="Calibri"/>
                        </a:rPr>
                        <a:t>Depukat ve ark. 2016</a:t>
                      </a:r>
                    </a:p>
                  </a:txBody>
                  <a:tcPr>
                    <a:solidFill>
                      <a:srgbClr val="F3F4F6"/>
                    </a:solidFill>
                  </a:tcPr>
                </a:tc>
                <a:tc>
                  <a:txBody>
                    <a:bodyPr/>
                    <a:lstStyle/>
                    <a:p>
                      <a:r>
                        <a:rPr sz="1150" b="0">
                          <a:solidFill>
                            <a:srgbClr val="1F2A44"/>
                          </a:solidFill>
                          <a:latin typeface="Calibri"/>
                        </a:rPr>
                        <a:t>50 taze kadavra (bilateral)</a:t>
                      </a:r>
                    </a:p>
                  </a:txBody>
                  <a:tcPr>
                    <a:solidFill>
                      <a:srgbClr val="F3F4F6"/>
                    </a:solidFill>
                  </a:tcPr>
                </a:tc>
                <a:tc>
                  <a:txBody>
                    <a:bodyPr/>
                    <a:lstStyle/>
                    <a:p>
                      <a:r>
                        <a:rPr sz="1150" b="0">
                          <a:solidFill>
                            <a:srgbClr val="1F2A44"/>
                          </a:solidFill>
                          <a:latin typeface="Calibri"/>
                        </a:rPr>
                        <a:t>İkiye ayrılma %85; üçe %13; radial/ulnar gövde %2; UN–MN anastomozu %57</a:t>
                      </a:r>
                    </a:p>
                  </a:txBody>
                  <a:tcPr>
                    <a:solidFill>
                      <a:srgbClr val="F3F4F6"/>
                    </a:solidFill>
                  </a:tcPr>
                </a:tc>
                <a:tc>
                  <a:txBody>
                    <a:bodyPr/>
                    <a:lstStyle/>
                    <a:p>
                      <a:r>
                        <a:rPr sz="1150" b="0">
                          <a:solidFill>
                            <a:srgbClr val="1F2A44"/>
                          </a:solidFill>
                          <a:latin typeface="Calibri"/>
                        </a:rPr>
                        <a:t>Guyon kanalı cerrahisi</a:t>
                      </a:r>
                    </a:p>
                  </a:txBody>
                  <a:tcPr>
                    <a:solidFill>
                      <a:srgbClr val="F3F4F6"/>
                    </a:solidFill>
                  </a:tcPr>
                </a:tc>
              </a:tr>
              <a:tr h="807720">
                <a:tc>
                  <a:txBody>
                    <a:bodyPr/>
                    <a:lstStyle/>
                    <a:p>
                      <a:r>
                        <a:rPr sz="1150" b="1">
                          <a:solidFill>
                            <a:srgbClr val="1F2A44"/>
                          </a:solidFill>
                          <a:latin typeface="Calibri"/>
                        </a:rPr>
                        <a:t>Arcus palmaris superficialis tipleri / PMA</a:t>
                      </a:r>
                    </a:p>
                  </a:txBody>
                  <a:tcPr>
                    <a:solidFill>
                      <a:srgbClr val="FFFFFF"/>
                    </a:solidFill>
                  </a:tcPr>
                </a:tc>
                <a:tc>
                  <a:txBody>
                    <a:bodyPr/>
                    <a:lstStyle/>
                    <a:p>
                      <a:r>
                        <a:rPr sz="1150" b="0">
                          <a:solidFill>
                            <a:srgbClr val="1F2A44"/>
                          </a:solidFill>
                          <a:latin typeface="Calibri"/>
                        </a:rPr>
                        <a:t>Simić ve ark. 2024</a:t>
                      </a:r>
                    </a:p>
                  </a:txBody>
                  <a:tcPr>
                    <a:solidFill>
                      <a:srgbClr val="FFFFFF"/>
                    </a:solidFill>
                  </a:tcPr>
                </a:tc>
                <a:tc>
                  <a:txBody>
                    <a:bodyPr/>
                    <a:lstStyle/>
                    <a:p>
                      <a:r>
                        <a:rPr sz="1150" b="0">
                          <a:solidFill>
                            <a:srgbClr val="1F2A44"/>
                          </a:solidFill>
                          <a:latin typeface="Calibri"/>
                        </a:rPr>
                        <a:t>20 el + 40 korozyon kalıbı</a:t>
                      </a:r>
                    </a:p>
                  </a:txBody>
                  <a:tcPr>
                    <a:solidFill>
                      <a:srgbClr val="FFFFFF"/>
                    </a:solidFill>
                  </a:tcPr>
                </a:tc>
                <a:tc>
                  <a:txBody>
                    <a:bodyPr/>
                    <a:lstStyle/>
                    <a:p>
                      <a:r>
                        <a:rPr sz="1150" b="0">
                          <a:solidFill>
                            <a:srgbClr val="1F2A44"/>
                          </a:solidFill>
                          <a:latin typeface="Calibri"/>
                        </a:rPr>
                        <a:t>Orta uzunlukta arcus %35; kısa arcus %27,5; PMA %5</a:t>
                      </a:r>
                    </a:p>
                  </a:txBody>
                  <a:tcPr>
                    <a:solidFill>
                      <a:srgbClr val="FFFFFF"/>
                    </a:solidFill>
                  </a:tcPr>
                </a:tc>
                <a:tc>
                  <a:txBody>
                    <a:bodyPr/>
                    <a:lstStyle/>
                    <a:p>
                      <a:r>
                        <a:rPr sz="1150" b="0">
                          <a:solidFill>
                            <a:srgbClr val="1F2A44"/>
                          </a:solidFill>
                          <a:latin typeface="Calibri"/>
                        </a:rPr>
                        <a:t>Flep ve el cerrahisi</a:t>
                      </a:r>
                    </a:p>
                  </a:txBody>
                  <a:tcPr>
                    <a:solidFill>
                      <a:srgbClr val="FFFFFF"/>
                    </a:solidFill>
                  </a:tcPr>
                </a:tc>
              </a:tr>
              <a:tr h="807720">
                <a:tc>
                  <a:txBody>
                    <a:bodyPr/>
                    <a:lstStyle/>
                    <a:p>
                      <a:r>
                        <a:rPr sz="1150" b="1">
                          <a:solidFill>
                            <a:srgbClr val="1F2A44"/>
                          </a:solidFill>
                          <a:latin typeface="Calibri"/>
                        </a:rPr>
                        <a:t>Arcus superficialis tamlığı</a:t>
                      </a:r>
                    </a:p>
                  </a:txBody>
                  <a:tcPr>
                    <a:solidFill>
                      <a:srgbClr val="F3F4F6"/>
                    </a:solidFill>
                  </a:tcPr>
                </a:tc>
                <a:tc>
                  <a:txBody>
                    <a:bodyPr/>
                    <a:lstStyle/>
                    <a:p>
                      <a:r>
                        <a:rPr sz="1150" b="0">
                          <a:solidFill>
                            <a:srgbClr val="1F2A44"/>
                          </a:solidFill>
                          <a:latin typeface="Calibri"/>
                        </a:rPr>
                        <a:t>Kapor ve ark. 2025</a:t>
                      </a:r>
                    </a:p>
                  </a:txBody>
                  <a:tcPr>
                    <a:solidFill>
                      <a:srgbClr val="F3F4F6"/>
                    </a:solidFill>
                  </a:tcPr>
                </a:tc>
                <a:tc>
                  <a:txBody>
                    <a:bodyPr/>
                    <a:lstStyle/>
                    <a:p>
                      <a:r>
                        <a:rPr sz="1150" b="0">
                          <a:solidFill>
                            <a:srgbClr val="1F2A44"/>
                          </a:solidFill>
                          <a:latin typeface="Calibri"/>
                        </a:rPr>
                        <a:t>36 ekstremite</a:t>
                      </a:r>
                    </a:p>
                  </a:txBody>
                  <a:tcPr>
                    <a:solidFill>
                      <a:srgbClr val="F3F4F6"/>
                    </a:solidFill>
                  </a:tcPr>
                </a:tc>
                <a:tc>
                  <a:txBody>
                    <a:bodyPr/>
                    <a:lstStyle/>
                    <a:p>
                      <a:r>
                        <a:rPr sz="1150" b="0">
                          <a:solidFill>
                            <a:srgbClr val="1F2A44"/>
                          </a:solidFill>
                          <a:latin typeface="Calibri"/>
                        </a:rPr>
                        <a:t>Tam %55,6; eksik %44,4; Berrettini %33,3</a:t>
                      </a:r>
                    </a:p>
                  </a:txBody>
                  <a:tcPr>
                    <a:solidFill>
                      <a:srgbClr val="F3F4F6"/>
                    </a:solidFill>
                  </a:tcPr>
                </a:tc>
                <a:tc>
                  <a:txBody>
                    <a:bodyPr/>
                    <a:lstStyle/>
                    <a:p>
                      <a:r>
                        <a:rPr sz="1150" b="0">
                          <a:solidFill>
                            <a:srgbClr val="1F2A44"/>
                          </a:solidFill>
                          <a:latin typeface="Calibri"/>
                        </a:rPr>
                        <a:t>Allen testi yorumu</a:t>
                      </a:r>
                    </a:p>
                  </a:txBody>
                  <a:tcPr>
                    <a:solidFill>
                      <a:srgbClr val="F3F4F6"/>
                    </a:solidFill>
                  </a:tcPr>
                </a:tc>
              </a:tr>
              <a:tr h="807720">
                <a:tc>
                  <a:txBody>
                    <a:bodyPr/>
                    <a:lstStyle/>
                    <a:p>
                      <a:r>
                        <a:rPr sz="1150" b="1">
                          <a:solidFill>
                            <a:srgbClr val="1F2A44"/>
                          </a:solidFill>
                          <a:latin typeface="Calibri"/>
                        </a:rPr>
                        <a:t>Riché-Cannieu anastomozu</a:t>
                      </a:r>
                    </a:p>
                  </a:txBody>
                  <a:tcPr>
                    <a:solidFill>
                      <a:srgbClr val="FFFFFF"/>
                    </a:solidFill>
                  </a:tcPr>
                </a:tc>
                <a:tc>
                  <a:txBody>
                    <a:bodyPr/>
                    <a:lstStyle/>
                    <a:p>
                      <a:r>
                        <a:rPr sz="1150" b="0">
                          <a:solidFill>
                            <a:srgbClr val="1F2A44"/>
                          </a:solidFill>
                          <a:latin typeface="Calibri"/>
                        </a:rPr>
                        <a:t>Caetano ve ark. 2024</a:t>
                      </a:r>
                    </a:p>
                  </a:txBody>
                  <a:tcPr>
                    <a:solidFill>
                      <a:srgbClr val="FFFFFF"/>
                    </a:solidFill>
                  </a:tcPr>
                </a:tc>
                <a:tc>
                  <a:txBody>
                    <a:bodyPr/>
                    <a:lstStyle/>
                    <a:p>
                      <a:r>
                        <a:rPr sz="1150" b="0">
                          <a:solidFill>
                            <a:srgbClr val="1F2A44"/>
                          </a:solidFill>
                          <a:latin typeface="Calibri"/>
                        </a:rPr>
                        <a:t>20 el</a:t>
                      </a:r>
                    </a:p>
                  </a:txBody>
                  <a:tcPr>
                    <a:solidFill>
                      <a:srgbClr val="FFFFFF"/>
                    </a:solidFill>
                  </a:tcPr>
                </a:tc>
                <a:tc>
                  <a:txBody>
                    <a:bodyPr/>
                    <a:lstStyle/>
                    <a:p>
                      <a:r>
                        <a:rPr sz="1150" b="0">
                          <a:solidFill>
                            <a:srgbClr val="1F2A44"/>
                          </a:solidFill>
                          <a:latin typeface="Calibri"/>
                        </a:rPr>
                        <a:t>Tüm ellerde mevcut; Kaplan çizgisi ile ilişkisi tanımlandı</a:t>
                      </a:r>
                    </a:p>
                  </a:txBody>
                  <a:tcPr>
                    <a:solidFill>
                      <a:srgbClr val="FFFFFF"/>
                    </a:solidFill>
                  </a:tcPr>
                </a:tc>
                <a:tc>
                  <a:txBody>
                    <a:bodyPr/>
                    <a:lstStyle/>
                    <a:p>
                      <a:r>
                        <a:rPr sz="1150" b="0">
                          <a:solidFill>
                            <a:srgbClr val="1F2A44"/>
                          </a:solidFill>
                          <a:latin typeface="Calibri"/>
                        </a:rPr>
                        <a:t>Atipik sinir hasarı bulguları</a:t>
                      </a:r>
                    </a:p>
                  </a:txBody>
                  <a:tcPr>
                    <a:solidFill>
                      <a:srgbClr val="FFFFFF"/>
                    </a:solidFill>
                  </a:tcPr>
                </a:tc>
              </a:tr>
              <a:tr h="807720">
                <a:tc>
                  <a:txBody>
                    <a:bodyPr/>
                    <a:lstStyle/>
                    <a:p>
                      <a:r>
                        <a:rPr sz="1150" b="1">
                          <a:solidFill>
                            <a:srgbClr val="1F2A44"/>
                          </a:solidFill>
                          <a:latin typeface="Calibri"/>
                        </a:rPr>
                        <a:t>Berrettini anastomozu</a:t>
                      </a:r>
                    </a:p>
                  </a:txBody>
                  <a:tcPr>
                    <a:solidFill>
                      <a:srgbClr val="F3F4F6"/>
                    </a:solidFill>
                  </a:tcPr>
                </a:tc>
                <a:tc>
                  <a:txBody>
                    <a:bodyPr/>
                    <a:lstStyle/>
                    <a:p>
                      <a:r>
                        <a:rPr sz="1150" b="0">
                          <a:solidFill>
                            <a:srgbClr val="1F2A44"/>
                          </a:solidFill>
                          <a:latin typeface="Calibri"/>
                        </a:rPr>
                        <a:t>Mendoza ve ark. 2025</a:t>
                      </a:r>
                    </a:p>
                  </a:txBody>
                  <a:tcPr>
                    <a:solidFill>
                      <a:srgbClr val="F3F4F6"/>
                    </a:solidFill>
                  </a:tcPr>
                </a:tc>
                <a:tc>
                  <a:txBody>
                    <a:bodyPr/>
                    <a:lstStyle/>
                    <a:p>
                      <a:r>
                        <a:rPr sz="1150" b="0">
                          <a:solidFill>
                            <a:srgbClr val="1F2A44"/>
                          </a:solidFill>
                          <a:latin typeface="Calibri"/>
                        </a:rPr>
                        <a:t>104 el</a:t>
                      </a:r>
                    </a:p>
                  </a:txBody>
                  <a:tcPr>
                    <a:solidFill>
                      <a:srgbClr val="F3F4F6"/>
                    </a:solidFill>
                  </a:tcPr>
                </a:tc>
                <a:tc>
                  <a:txBody>
                    <a:bodyPr/>
                    <a:lstStyle/>
                    <a:p>
                      <a:r>
                        <a:rPr sz="1150" b="0">
                          <a:solidFill>
                            <a:srgbClr val="1F2A44"/>
                          </a:solidFill>
                          <a:latin typeface="Calibri"/>
                        </a:rPr>
                        <a:t>%80 (83/104); Tip I %38; ortalama uzunluk 22,03 mm</a:t>
                      </a:r>
                    </a:p>
                  </a:txBody>
                  <a:tcPr>
                    <a:solidFill>
                      <a:srgbClr val="F3F4F6"/>
                    </a:solidFill>
                  </a:tcPr>
                </a:tc>
                <a:tc>
                  <a:txBody>
                    <a:bodyPr/>
                    <a:lstStyle/>
                    <a:p>
                      <a:r>
                        <a:rPr sz="1150" b="0">
                          <a:solidFill>
                            <a:srgbClr val="1F2A44"/>
                          </a:solidFill>
                          <a:latin typeface="Calibri"/>
                        </a:rPr>
                        <a:t>Palmar cerrahide duyusal dal yaralanması</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El bölgesi varyasyonları – literatür taraması (2/2)</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Kadavra çalışmaları, seriler ve olgu sunumları (PMC açık erişim)</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LİTERATÜR TARAMASI</a:t>
            </a:r>
          </a:p>
        </p:txBody>
      </p:sp>
      <p:graphicFrame>
        <p:nvGraphicFramePr>
          <p:cNvPr id="7" name="Table 6"/>
          <p:cNvGraphicFramePr>
            <a:graphicFrameLocks noGrp="1"/>
          </p:cNvGraphicFramePr>
          <p:nvPr/>
        </p:nvGraphicFramePr>
        <p:xfrm>
          <a:off x="274320" y="1188720"/>
          <a:ext cx="11640310" cy="4846320"/>
        </p:xfrm>
        <a:graphic>
          <a:graphicData uri="http://schemas.openxmlformats.org/drawingml/2006/table">
            <a:tbl>
              <a:tblPr firstRow="1" bandRow="1">
                <a:tableStyleId>{5C22544A-7EE6-4342-B048-85BDC9FD1C3A}</a:tableStyleId>
              </a:tblPr>
              <a:tblGrid>
                <a:gridCol w="2016432"/>
                <a:gridCol w="2016432"/>
                <a:gridCol w="1924776"/>
                <a:gridCol w="2841335"/>
                <a:gridCol w="2841335"/>
              </a:tblGrid>
              <a:tr h="807720">
                <a:tc>
                  <a:txBody>
                    <a:bodyPr/>
                    <a:lstStyle/>
                    <a:p>
                      <a:r>
                        <a:rPr sz="1200" b="1">
                          <a:solidFill>
                            <a:srgbClr val="FFFFFF"/>
                          </a:solidFill>
                          <a:latin typeface="Calibri"/>
                        </a:rPr>
                        <a:t>Varyasyon</a:t>
                      </a:r>
                    </a:p>
                  </a:txBody>
                  <a:tcPr>
                    <a:solidFill>
                      <a:srgbClr val="1F2A44"/>
                    </a:solidFill>
                  </a:tcPr>
                </a:tc>
                <a:tc>
                  <a:txBody>
                    <a:bodyPr/>
                    <a:lstStyle/>
                    <a:p>
                      <a:r>
                        <a:rPr sz="1200" b="1">
                          <a:solidFill>
                            <a:srgbClr val="FFFFFF"/>
                          </a:solidFill>
                          <a:latin typeface="Calibri"/>
                        </a:rPr>
                        <a:t>Çalışma</a:t>
                      </a:r>
                    </a:p>
                  </a:txBody>
                  <a:tcPr>
                    <a:solidFill>
                      <a:srgbClr val="1F2A44"/>
                    </a:solidFill>
                  </a:tcPr>
                </a:tc>
                <a:tc>
                  <a:txBody>
                    <a:bodyPr/>
                    <a:lstStyle/>
                    <a:p>
                      <a:r>
                        <a:rPr sz="1200" b="1">
                          <a:solidFill>
                            <a:srgbClr val="FFFFFF"/>
                          </a:solidFill>
                          <a:latin typeface="Calibri"/>
                        </a:rPr>
                        <a:t>Örneklem / yöntem</a:t>
                      </a:r>
                    </a:p>
                  </a:txBody>
                  <a:tcPr>
                    <a:solidFill>
                      <a:srgbClr val="1F2A44"/>
                    </a:solidFill>
                  </a:tcPr>
                </a:tc>
                <a:tc>
                  <a:txBody>
                    <a:bodyPr/>
                    <a:lstStyle/>
                    <a:p>
                      <a:r>
                        <a:rPr sz="1200" b="1">
                          <a:solidFill>
                            <a:srgbClr val="FFFFFF"/>
                          </a:solidFill>
                          <a:latin typeface="Calibri"/>
                        </a:rPr>
                        <a:t>Sıklık / ana bulgu</a:t>
                      </a:r>
                    </a:p>
                  </a:txBody>
                  <a:tcPr>
                    <a:solidFill>
                      <a:srgbClr val="1F2A44"/>
                    </a:solidFill>
                  </a:tcPr>
                </a:tc>
                <a:tc>
                  <a:txBody>
                    <a:bodyPr/>
                    <a:lstStyle/>
                    <a:p>
                      <a:r>
                        <a:rPr sz="1200" b="1">
                          <a:solidFill>
                            <a:srgbClr val="FFFFFF"/>
                          </a:solidFill>
                          <a:latin typeface="Calibri"/>
                        </a:rPr>
                        <a:t>Klinik önem</a:t>
                      </a:r>
                    </a:p>
                  </a:txBody>
                  <a:tcPr>
                    <a:solidFill>
                      <a:srgbClr val="1F2A44"/>
                    </a:solidFill>
                  </a:tcPr>
                </a:tc>
              </a:tr>
              <a:tr h="807720">
                <a:tc>
                  <a:txBody>
                    <a:bodyPr/>
                    <a:lstStyle/>
                    <a:p>
                      <a:r>
                        <a:rPr sz="1150" b="1">
                          <a:solidFill>
                            <a:srgbClr val="1F2A44"/>
                          </a:solidFill>
                          <a:latin typeface="Calibri"/>
                        </a:rPr>
                        <a:t>1. kompartman ara septumu / APL demetleri</a:t>
                      </a:r>
                    </a:p>
                  </a:txBody>
                  <a:tcPr>
                    <a:solidFill>
                      <a:srgbClr val="F3F4F6"/>
                    </a:solidFill>
                  </a:tcPr>
                </a:tc>
                <a:tc>
                  <a:txBody>
                    <a:bodyPr/>
                    <a:lstStyle/>
                    <a:p>
                      <a:r>
                        <a:rPr sz="1150" b="0">
                          <a:solidFill>
                            <a:srgbClr val="1F2A44"/>
                          </a:solidFill>
                          <a:latin typeface="Calibri"/>
                        </a:rPr>
                        <a:t>Hazani ve ark. 2009</a:t>
                      </a:r>
                    </a:p>
                  </a:txBody>
                  <a:tcPr>
                    <a:solidFill>
                      <a:srgbClr val="F3F4F6"/>
                    </a:solidFill>
                  </a:tcPr>
                </a:tc>
                <a:tc>
                  <a:txBody>
                    <a:bodyPr/>
                    <a:lstStyle/>
                    <a:p>
                      <a:r>
                        <a:rPr sz="1150" b="0">
                          <a:solidFill>
                            <a:srgbClr val="1F2A44"/>
                          </a:solidFill>
                          <a:latin typeface="Calibri"/>
                        </a:rPr>
                        <a:t>32 el bileği</a:t>
                      </a:r>
                    </a:p>
                  </a:txBody>
                  <a:tcPr>
                    <a:solidFill>
                      <a:srgbClr val="F3F4F6"/>
                    </a:solidFill>
                  </a:tcPr>
                </a:tc>
                <a:tc>
                  <a:txBody>
                    <a:bodyPr/>
                    <a:lstStyle/>
                    <a:p>
                      <a:r>
                        <a:rPr sz="1150" b="0">
                          <a:solidFill>
                            <a:srgbClr val="1F2A44"/>
                          </a:solidFill>
                          <a:latin typeface="Calibri"/>
                        </a:rPr>
                        <a:t>Ayrı EPB bölmesi %35; APL 1–4 demet: %9/%30/%43/%26</a:t>
                      </a:r>
                    </a:p>
                  </a:txBody>
                  <a:tcPr>
                    <a:solidFill>
                      <a:srgbClr val="F3F4F6"/>
                    </a:solidFill>
                  </a:tcPr>
                </a:tc>
                <a:tc>
                  <a:txBody>
                    <a:bodyPr/>
                    <a:lstStyle/>
                    <a:p>
                      <a:r>
                        <a:rPr sz="1150" b="0">
                          <a:solidFill>
                            <a:srgbClr val="1F2A44"/>
                          </a:solidFill>
                          <a:latin typeface="Calibri"/>
                        </a:rPr>
                        <a:t>De Quervain tedavisinde başarısızlık</a:t>
                      </a:r>
                    </a:p>
                  </a:txBody>
                  <a:tcPr>
                    <a:solidFill>
                      <a:srgbClr val="F3F4F6"/>
                    </a:solidFill>
                  </a:tcPr>
                </a:tc>
              </a:tr>
              <a:tr h="807720">
                <a:tc>
                  <a:txBody>
                    <a:bodyPr/>
                    <a:lstStyle/>
                    <a:p>
                      <a:r>
                        <a:rPr sz="1150" b="1">
                          <a:solidFill>
                            <a:srgbClr val="1F2A44"/>
                          </a:solidFill>
                          <a:latin typeface="Calibri"/>
                        </a:rPr>
                        <a:t>M. extensor digitorum brevis manus</a:t>
                      </a:r>
                    </a:p>
                  </a:txBody>
                  <a:tcPr>
                    <a:solidFill>
                      <a:srgbClr val="FFFFFF"/>
                    </a:solidFill>
                  </a:tcPr>
                </a:tc>
                <a:tc>
                  <a:txBody>
                    <a:bodyPr/>
                    <a:lstStyle/>
                    <a:p>
                      <a:r>
                        <a:rPr sz="1150" b="0">
                          <a:solidFill>
                            <a:srgbClr val="1F2A44"/>
                          </a:solidFill>
                          <a:latin typeface="Calibri"/>
                        </a:rPr>
                        <a:t>Lee ve ark. 2019</a:t>
                      </a:r>
                    </a:p>
                  </a:txBody>
                  <a:tcPr>
                    <a:solidFill>
                      <a:srgbClr val="FFFFFF"/>
                    </a:solidFill>
                  </a:tcPr>
                </a:tc>
                <a:tc>
                  <a:txBody>
                    <a:bodyPr/>
                    <a:lstStyle/>
                    <a:p>
                      <a:r>
                        <a:rPr sz="1150" b="0">
                          <a:solidFill>
                            <a:srgbClr val="1F2A44"/>
                          </a:solidFill>
                          <a:latin typeface="Calibri"/>
                        </a:rPr>
                        <a:t>22 kadavra (CC BY-NC)</a:t>
                      </a:r>
                    </a:p>
                  </a:txBody>
                  <a:tcPr>
                    <a:solidFill>
                      <a:srgbClr val="FFFFFF"/>
                    </a:solidFill>
                  </a:tcPr>
                </a:tc>
                <a:tc>
                  <a:txBody>
                    <a:bodyPr/>
                    <a:lstStyle/>
                    <a:p>
                      <a:r>
                        <a:rPr sz="1150" b="0">
                          <a:solidFill>
                            <a:srgbClr val="1F2A44"/>
                          </a:solidFill>
                          <a:latin typeface="Calibri"/>
                        </a:rPr>
                        <a:t>Bilateral ekstensör varyasyonu 1/22 (%4,5); EDBM %4 (aktarılan)</a:t>
                      </a:r>
                    </a:p>
                  </a:txBody>
                  <a:tcPr>
                    <a:solidFill>
                      <a:srgbClr val="FFFFFF"/>
                    </a:solidFill>
                  </a:tcPr>
                </a:tc>
                <a:tc>
                  <a:txBody>
                    <a:bodyPr/>
                    <a:lstStyle/>
                    <a:p>
                      <a:r>
                        <a:rPr sz="1150" b="0">
                          <a:solidFill>
                            <a:srgbClr val="1F2A44"/>
                          </a:solidFill>
                          <a:latin typeface="Calibri"/>
                        </a:rPr>
                        <a:t>Ganglion/kitle ile karışır</a:t>
                      </a:r>
                    </a:p>
                  </a:txBody>
                  <a:tcPr>
                    <a:solidFill>
                      <a:srgbClr val="FFFFFF"/>
                    </a:solidFill>
                  </a:tcPr>
                </a:tc>
              </a:tr>
              <a:tr h="807720">
                <a:tc>
                  <a:txBody>
                    <a:bodyPr/>
                    <a:lstStyle/>
                    <a:p>
                      <a:r>
                        <a:rPr sz="1150" b="1">
                          <a:solidFill>
                            <a:srgbClr val="1F2A44"/>
                          </a:solidFill>
                          <a:latin typeface="Calibri"/>
                        </a:rPr>
                        <a:t>FPL'den 1. lumbrikale aksesuar baş</a:t>
                      </a:r>
                    </a:p>
                  </a:txBody>
                  <a:tcPr>
                    <a:solidFill>
                      <a:srgbClr val="F3F4F6"/>
                    </a:solidFill>
                  </a:tcPr>
                </a:tc>
                <a:tc>
                  <a:txBody>
                    <a:bodyPr/>
                    <a:lstStyle/>
                    <a:p>
                      <a:r>
                        <a:rPr sz="1150" b="0">
                          <a:solidFill>
                            <a:srgbClr val="1F2A44"/>
                          </a:solidFill>
                          <a:latin typeface="Calibri"/>
                        </a:rPr>
                        <a:t>Gabríková ve ark. 2023</a:t>
                      </a:r>
                    </a:p>
                  </a:txBody>
                  <a:tcPr>
                    <a:solidFill>
                      <a:srgbClr val="F3F4F6"/>
                    </a:solidFill>
                  </a:tcPr>
                </a:tc>
                <a:tc>
                  <a:txBody>
                    <a:bodyPr/>
                    <a:lstStyle/>
                    <a:p>
                      <a:r>
                        <a:rPr sz="1150" b="0">
                          <a:solidFill>
                            <a:srgbClr val="1F2A44"/>
                          </a:solidFill>
                          <a:latin typeface="Calibri"/>
                        </a:rPr>
                        <a:t>Olgu</a:t>
                      </a:r>
                    </a:p>
                  </a:txBody>
                  <a:tcPr>
                    <a:solidFill>
                      <a:srgbClr val="F3F4F6"/>
                    </a:solidFill>
                  </a:tcPr>
                </a:tc>
                <a:tc>
                  <a:txBody>
                    <a:bodyPr/>
                    <a:lstStyle/>
                    <a:p>
                      <a:r>
                        <a:rPr sz="1150" b="0">
                          <a:solidFill>
                            <a:srgbClr val="1F2A44"/>
                          </a:solidFill>
                          <a:latin typeface="Calibri"/>
                        </a:rPr>
                        <a:t>Linburg-Comstock tipi varyasyon ~%21 (aktarılan)</a:t>
                      </a:r>
                    </a:p>
                  </a:txBody>
                  <a:tcPr>
                    <a:solidFill>
                      <a:srgbClr val="F3F4F6"/>
                    </a:solidFill>
                  </a:tcPr>
                </a:tc>
                <a:tc>
                  <a:txBody>
                    <a:bodyPr/>
                    <a:lstStyle/>
                    <a:p>
                      <a:r>
                        <a:rPr sz="1150" b="0">
                          <a:solidFill>
                            <a:srgbClr val="1F2A44"/>
                          </a:solidFill>
                          <a:latin typeface="Calibri"/>
                        </a:rPr>
                        <a:t>Başparmak–işaret parmağı birlikte fleksiyonu</a:t>
                      </a:r>
                    </a:p>
                  </a:txBody>
                  <a:tcPr>
                    <a:solidFill>
                      <a:srgbClr val="F3F4F6"/>
                    </a:solidFill>
                  </a:tcPr>
                </a:tc>
              </a:tr>
              <a:tr h="807720">
                <a:tc>
                  <a:txBody>
                    <a:bodyPr/>
                    <a:lstStyle/>
                    <a:p>
                      <a:r>
                        <a:rPr sz="1150" b="1">
                          <a:solidFill>
                            <a:srgbClr val="1F2A44"/>
                          </a:solidFill>
                          <a:latin typeface="Calibri"/>
                        </a:rPr>
                        <a:t>Guyon kanalından geçen aksesuar kas (FDML)</a:t>
                      </a:r>
                    </a:p>
                  </a:txBody>
                  <a:tcPr>
                    <a:solidFill>
                      <a:srgbClr val="FFFFFF"/>
                    </a:solidFill>
                  </a:tcPr>
                </a:tc>
                <a:tc>
                  <a:txBody>
                    <a:bodyPr/>
                    <a:lstStyle/>
                    <a:p>
                      <a:r>
                        <a:rPr sz="1150" b="0">
                          <a:solidFill>
                            <a:srgbClr val="1F2A44"/>
                          </a:solidFill>
                          <a:latin typeface="Calibri"/>
                        </a:rPr>
                        <a:t>Nation ve ark. 2019</a:t>
                      </a:r>
                    </a:p>
                  </a:txBody>
                  <a:tcPr>
                    <a:solidFill>
                      <a:srgbClr val="FFFFFF"/>
                    </a:solidFill>
                  </a:tcPr>
                </a:tc>
                <a:tc>
                  <a:txBody>
                    <a:bodyPr/>
                    <a:lstStyle/>
                    <a:p>
                      <a:r>
                        <a:rPr sz="1150" b="0">
                          <a:solidFill>
                            <a:srgbClr val="1F2A44"/>
                          </a:solidFill>
                          <a:latin typeface="Calibri"/>
                        </a:rPr>
                        <a:t>Olgu (94 yaş)</a:t>
                      </a:r>
                    </a:p>
                  </a:txBody>
                  <a:tcPr>
                    <a:solidFill>
                      <a:srgbClr val="FFFFFF"/>
                    </a:solidFill>
                  </a:tcPr>
                </a:tc>
                <a:tc>
                  <a:txBody>
                    <a:bodyPr/>
                    <a:lstStyle/>
                    <a:p>
                      <a:r>
                        <a:rPr sz="1150" b="0">
                          <a:solidFill>
                            <a:srgbClr val="1F2A44"/>
                          </a:solidFill>
                          <a:latin typeface="Calibri"/>
                        </a:rPr>
                        <a:t>İlk kez tanımlanan m. flexor digiti minimi longus</a:t>
                      </a:r>
                    </a:p>
                  </a:txBody>
                  <a:tcPr>
                    <a:solidFill>
                      <a:srgbClr val="FFFFFF"/>
                    </a:solidFill>
                  </a:tcPr>
                </a:tc>
                <a:tc>
                  <a:txBody>
                    <a:bodyPr/>
                    <a:lstStyle/>
                    <a:p>
                      <a:r>
                        <a:rPr sz="1150" b="0">
                          <a:solidFill>
                            <a:srgbClr val="1F2A44"/>
                          </a:solidFill>
                          <a:latin typeface="Calibri"/>
                        </a:rPr>
                        <a:t>N. ulnaris basısı</a:t>
                      </a:r>
                    </a:p>
                  </a:txBody>
                  <a:tcPr>
                    <a:solidFill>
                      <a:srgbClr val="FFFFFF"/>
                    </a:solidFill>
                  </a:tcPr>
                </a:tc>
              </a:tr>
              <a:tr h="807720">
                <a:tc>
                  <a:txBody>
                    <a:bodyPr/>
                    <a:lstStyle/>
                    <a:p>
                      <a:r>
                        <a:rPr sz="1150" b="1">
                          <a:solidFill>
                            <a:srgbClr val="1F2A44"/>
                          </a:solidFill>
                          <a:latin typeface="Calibri"/>
                        </a:rPr>
                        <a:t>R. recurrens n. mediani</a:t>
                      </a:r>
                    </a:p>
                  </a:txBody>
                  <a:tcPr>
                    <a:solidFill>
                      <a:srgbClr val="F3F4F6"/>
                    </a:solidFill>
                  </a:tcPr>
                </a:tc>
                <a:tc>
                  <a:txBody>
                    <a:bodyPr/>
                    <a:lstStyle/>
                    <a:p>
                      <a:r>
                        <a:rPr sz="1150" b="0">
                          <a:solidFill>
                            <a:srgbClr val="1F2A44"/>
                          </a:solidFill>
                          <a:latin typeface="Calibri"/>
                        </a:rPr>
                        <a:t>Samarakoon ve ark. 2014</a:t>
                      </a:r>
                    </a:p>
                  </a:txBody>
                  <a:tcPr>
                    <a:solidFill>
                      <a:srgbClr val="F3F4F6"/>
                    </a:solidFill>
                  </a:tcPr>
                </a:tc>
                <a:tc>
                  <a:txBody>
                    <a:bodyPr/>
                    <a:lstStyle/>
                    <a:p>
                      <a:r>
                        <a:rPr sz="1150" b="0">
                          <a:solidFill>
                            <a:srgbClr val="1F2A44"/>
                          </a:solidFill>
                          <a:latin typeface="Calibri"/>
                        </a:rPr>
                        <a:t>26 el</a:t>
                      </a:r>
                    </a:p>
                  </a:txBody>
                  <a:tcPr>
                    <a:solidFill>
                      <a:srgbClr val="F3F4F6"/>
                    </a:solidFill>
                  </a:tcPr>
                </a:tc>
                <a:tc>
                  <a:txBody>
                    <a:bodyPr/>
                    <a:lstStyle/>
                    <a:p>
                      <a:r>
                        <a:rPr sz="1150" b="0">
                          <a:solidFill>
                            <a:srgbClr val="1F2A44"/>
                          </a:solidFill>
                          <a:latin typeface="Calibri"/>
                        </a:rPr>
                        <a:t>Tek gövde %76,9; ekstraligamentöz %84,6</a:t>
                      </a:r>
                    </a:p>
                  </a:txBody>
                  <a:tcPr>
                    <a:solidFill>
                      <a:srgbClr val="F3F4F6"/>
                    </a:solidFill>
                  </a:tcPr>
                </a:tc>
                <a:tc>
                  <a:txBody>
                    <a:bodyPr/>
                    <a:lstStyle/>
                    <a:p>
                      <a:r>
                        <a:rPr sz="1150" b="0">
                          <a:solidFill>
                            <a:srgbClr val="1F2A44"/>
                          </a:solidFill>
                          <a:latin typeface="Calibri"/>
                        </a:rPr>
                        <a:t>Karpal tünel gevşetmesi</a:t>
                      </a:r>
                    </a:p>
                  </a:txBody>
                  <a:tcPr>
                    <a:solidFill>
                      <a:srgbClr val="F3F4F6"/>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Sıklık verileri ilgili makalelerden aynen aktarılmıştır; tam künyeler bölümün çalışma slaytlarında ve kaynakçada.</a:t>
            </a:r>
          </a:p>
        </p:txBody>
      </p:sp>
      <p:sp>
        <p:nvSpPr>
          <p:cNvPr id="10" name="TextBox 9"/>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N. ulnaris'in Guyon kanalındaki dallanma tipleri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Depukat ve ark., Arch Orthop Trauma Surg 2016 – 50 taze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402_2016_2616_Fig2_HTML.jpg"/>
          <p:cNvPicPr>
            <a:picLocks noChangeAspect="1"/>
          </p:cNvPicPr>
          <p:nvPr/>
        </p:nvPicPr>
        <p:blipFill>
          <a:blip r:embed="rId2"/>
          <a:stretch>
            <a:fillRect/>
          </a:stretch>
        </p:blipFill>
        <p:spPr>
          <a:xfrm>
            <a:off x="274320" y="1188720"/>
            <a:ext cx="3474720" cy="2312894"/>
          </a:xfrm>
          <a:prstGeom prst="rect">
            <a:avLst/>
          </a:prstGeom>
        </p:spPr>
      </p:pic>
      <p:sp>
        <p:nvSpPr>
          <p:cNvPr id="8" name="TextBox 7"/>
          <p:cNvSpPr txBox="1"/>
          <p:nvPr/>
        </p:nvSpPr>
        <p:spPr>
          <a:xfrm>
            <a:off x="182879" y="3501614"/>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2 – Depukat P. ve ark., 2016 (PMC5250657, CC BY)</a:t>
            </a:r>
          </a:p>
        </p:txBody>
      </p:sp>
      <p:pic>
        <p:nvPicPr>
          <p:cNvPr id="9" name="Picture 8" descr="402_2016_2616_Fig3_HTML.jpg"/>
          <p:cNvPicPr>
            <a:picLocks noChangeAspect="1"/>
          </p:cNvPicPr>
          <p:nvPr/>
        </p:nvPicPr>
        <p:blipFill>
          <a:blip r:embed="rId3"/>
          <a:stretch>
            <a:fillRect/>
          </a:stretch>
        </p:blipFill>
        <p:spPr>
          <a:xfrm>
            <a:off x="3886200" y="1188720"/>
            <a:ext cx="3474720" cy="2312894"/>
          </a:xfrm>
          <a:prstGeom prst="rect">
            <a:avLst/>
          </a:prstGeom>
        </p:spPr>
      </p:pic>
      <p:sp>
        <p:nvSpPr>
          <p:cNvPr id="10" name="TextBox 9"/>
          <p:cNvSpPr txBox="1"/>
          <p:nvPr/>
        </p:nvSpPr>
        <p:spPr>
          <a:xfrm>
            <a:off x="3794760" y="3501614"/>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Depukat P. ve ark., 2016 (PMC5250657,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Ulnar nerve = n. ulnaris; Deep branch = r. profundus; Common palmar digital nerve to 4th and 5th fingers; Medial palmar digital nerve to 5th finger; Radial trunk / Ulnar trunk = radial / ulnar gövde</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İkiye ayrılma </a:t>
            </a:r>
            <a:r>
              <a:rPr sz="1050" b="0" i="0">
                <a:solidFill>
                  <a:srgbClr val="1F2A44"/>
                </a:solidFill>
                <a:latin typeface="Calibri"/>
              </a:rPr>
              <a:t>%85</a:t>
            </a:r>
            <a:r>
              <a:rPr sz="1050" b="0" i="0">
                <a:solidFill>
                  <a:srgbClr val="1F2A44"/>
                </a:solidFill>
                <a:latin typeface="Calibri"/>
              </a:rPr>
              <a:t>, üçe ayrılma (derin dal + 4.–5. ortak dijital + 5. medial dijital) </a:t>
            </a:r>
            <a:r>
              <a:rPr sz="1050" b="0" i="0">
                <a:solidFill>
                  <a:srgbClr val="1F2A44"/>
                </a:solidFill>
                <a:latin typeface="Calibri"/>
              </a:rPr>
              <a:t>%13</a:t>
            </a:r>
            <a:r>
              <a:rPr sz="1050" b="0" i="0">
                <a:solidFill>
                  <a:srgbClr val="1F2A44"/>
                </a:solidFill>
                <a:latin typeface="Calibri"/>
              </a:rPr>
              <a:t>, radial/ulnar gövdeye ayrılma </a:t>
            </a:r>
            <a:r>
              <a:rPr sz="1050" b="0" i="0">
                <a:solidFill>
                  <a:srgbClr val="1F2A44"/>
                </a:solidFill>
                <a:latin typeface="Calibri"/>
              </a:rPr>
              <a:t>%2</a:t>
            </a:r>
            <a:r>
              <a:rPr sz="1050" b="0" i="0">
                <a:solidFill>
                  <a:srgbClr val="1F2A44"/>
                </a:solidFill>
                <a:latin typeface="Calibri"/>
              </a:rPr>
              <a:t>.</a:t>
            </a:r>
          </a:p>
          <a:p>
            <a:pPr algn="l">
              <a:spcAft>
                <a:spcPts val="300"/>
              </a:spcAft>
            </a:pPr>
            <a:r>
              <a:rPr sz="1050" b="0" i="0">
                <a:solidFill>
                  <a:srgbClr val="1F2A44"/>
                </a:solidFill>
                <a:latin typeface="Calibri"/>
              </a:rPr>
              <a:t>• Kanalda deri dalı %70; UN–MN anastomozu %57; olguların %78'inde iki taraf simetrik.</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Depukat P., Henry B. M., Popieluszko P. et al. Anatomical variability and histological structure of the ulnar nerve in the Guyon’s canal. Arch Orthop Trauma Surg. 2016 Dec 23;137(2):277–83. doi: 10.1007/s00402-016-2616-4 PMCID: PMC5250657.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Arcus palmaris superficialis tipleri ve a. mediana persistens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Simić ve ark., Sci Rep 2024 – 20 el + 40 korozyon kalıbı</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41598_2023_50935_Fig2_HTML.jpg"/>
          <p:cNvPicPr>
            <a:picLocks noChangeAspect="1"/>
          </p:cNvPicPr>
          <p:nvPr/>
        </p:nvPicPr>
        <p:blipFill>
          <a:blip r:embed="rId2"/>
          <a:stretch>
            <a:fillRect/>
          </a:stretch>
        </p:blipFill>
        <p:spPr>
          <a:xfrm>
            <a:off x="603925" y="1188720"/>
            <a:ext cx="6427388" cy="4846320"/>
          </a:xfrm>
          <a:prstGeom prst="rect">
            <a:avLst/>
          </a:prstGeom>
        </p:spPr>
      </p:pic>
      <p:sp>
        <p:nvSpPr>
          <p:cNvPr id="8" name="TextBox 7"/>
          <p:cNvSpPr txBox="1"/>
          <p:nvPr/>
        </p:nvSpPr>
        <p:spPr>
          <a:xfrm>
            <a:off x="512485" y="6035040"/>
            <a:ext cx="661026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Simić M. ve ark., 2024 (PMC10762056,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1</a:t>
            </a:r>
            <a:r>
              <a:rPr sz="1050" b="0" i="0">
                <a:solidFill>
                  <a:srgbClr val="1F2A44"/>
                </a:solidFill>
                <a:latin typeface="Calibri"/>
              </a:rPr>
              <a:t> a. ulnaris; </a:t>
            </a:r>
            <a:r>
              <a:rPr sz="1050" b="0" i="0">
                <a:solidFill>
                  <a:srgbClr val="1F2A44"/>
                </a:solidFill>
                <a:latin typeface="Calibri"/>
              </a:rPr>
              <a:t>2</a:t>
            </a:r>
            <a:r>
              <a:rPr sz="1050" b="0" i="0">
                <a:solidFill>
                  <a:srgbClr val="1F2A44"/>
                </a:solidFill>
                <a:latin typeface="Calibri"/>
              </a:rPr>
              <a:t> arcus palmaris superficialis; sarı oklar iletişim dalı, kırmızı oklar çift iletişim dalı; </a:t>
            </a:r>
            <a:r>
              <a:rPr sz="1050" b="0" i="0">
                <a:solidFill>
                  <a:srgbClr val="1F2A44"/>
                </a:solidFill>
                <a:latin typeface="Calibri"/>
              </a:rPr>
              <a:t>3–5</a:t>
            </a:r>
            <a:r>
              <a:rPr sz="1050" b="0" i="0">
                <a:solidFill>
                  <a:srgbClr val="1F2A44"/>
                </a:solidFill>
                <a:latin typeface="Calibri"/>
              </a:rPr>
              <a:t> 1.–3. a. digitalis palmaris communis; </a:t>
            </a:r>
            <a:r>
              <a:rPr sz="1050" b="0" i="0">
                <a:solidFill>
                  <a:srgbClr val="1F2A44"/>
                </a:solidFill>
                <a:latin typeface="Calibri"/>
              </a:rPr>
              <a:t>6</a:t>
            </a:r>
            <a:r>
              <a:rPr sz="1050" b="0" i="0">
                <a:solidFill>
                  <a:srgbClr val="1F2A44"/>
                </a:solidFill>
                <a:latin typeface="Calibri"/>
              </a:rPr>
              <a:t> a. digiti minimi ulnaris; </a:t>
            </a:r>
            <a:r>
              <a:rPr sz="1050" b="0" i="0">
                <a:solidFill>
                  <a:srgbClr val="1F2A44"/>
                </a:solidFill>
                <a:latin typeface="Calibri"/>
              </a:rPr>
              <a:t>7</a:t>
            </a:r>
            <a:r>
              <a:rPr sz="1050" b="0" i="0">
                <a:solidFill>
                  <a:srgbClr val="1F2A44"/>
                </a:solidFill>
                <a:latin typeface="Calibri"/>
              </a:rPr>
              <a:t> a. radialis indicis; </a:t>
            </a:r>
            <a:r>
              <a:rPr sz="1050" b="0" i="0">
                <a:solidFill>
                  <a:srgbClr val="1F2A44"/>
                </a:solidFill>
                <a:latin typeface="Calibri"/>
              </a:rPr>
              <a:t>8–9</a:t>
            </a:r>
            <a:r>
              <a:rPr sz="1050" b="0" i="0">
                <a:solidFill>
                  <a:srgbClr val="1F2A44"/>
                </a:solidFill>
                <a:latin typeface="Calibri"/>
              </a:rPr>
              <a:t> a. pollicis radialis/ulnaris; </a:t>
            </a:r>
            <a:r>
              <a:rPr sz="1050" b="0" i="0">
                <a:solidFill>
                  <a:srgbClr val="1F2A44"/>
                </a:solidFill>
                <a:latin typeface="Calibri"/>
              </a:rPr>
              <a:t>10</a:t>
            </a:r>
            <a:r>
              <a:rPr sz="1050" b="0" i="0">
                <a:solidFill>
                  <a:srgbClr val="1F2A44"/>
                </a:solidFill>
                <a:latin typeface="Calibri"/>
              </a:rPr>
              <a:t> a. radialis; </a:t>
            </a:r>
            <a:r>
              <a:rPr sz="1050" b="0" i="0">
                <a:solidFill>
                  <a:srgbClr val="1F2A44"/>
                </a:solidFill>
                <a:latin typeface="Calibri"/>
              </a:rPr>
              <a:t>11</a:t>
            </a:r>
            <a:r>
              <a:rPr sz="1050" b="0" i="0">
                <a:solidFill>
                  <a:srgbClr val="1F2A44"/>
                </a:solidFill>
                <a:latin typeface="Calibri"/>
              </a:rPr>
              <a:t> belirgin r. palmaris superficialis a. radialis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Orta uzunlukta arcus (Tip 2) %35, kısa arcus %27,5; arcus çapı 1,86 ± 0,08 mm.</a:t>
            </a:r>
          </a:p>
          <a:p>
            <a:pPr algn="l">
              <a:spcAft>
                <a:spcPts val="300"/>
              </a:spcAft>
            </a:pPr>
            <a:r>
              <a:rPr sz="1050" b="0" i="0">
                <a:solidFill>
                  <a:srgbClr val="1F2A44"/>
                </a:solidFill>
                <a:latin typeface="Calibri"/>
              </a:rPr>
              <a:t>• A. mediana persistens ellerin </a:t>
            </a:r>
            <a:r>
              <a:rPr sz="1050" b="0" i="0">
                <a:solidFill>
                  <a:srgbClr val="1F2A44"/>
                </a:solidFill>
                <a:latin typeface="Calibri"/>
              </a:rPr>
              <a:t>%5</a:t>
            </a:r>
            <a:r>
              <a:rPr sz="1050" b="0" i="0">
                <a:solidFill>
                  <a:srgbClr val="1F2A44"/>
                </a:solidFill>
                <a:latin typeface="Calibri"/>
              </a:rPr>
              <a:t>'inde.</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Simić M., Bumbaširević M., Jović D. et al. Persistent median artery and communicating branch related to the superficial palmar arch. Sci Rep. 2024 Jan 2;14:222. doi: 10.1038/s41598-023-50935-2 PMCID: PMC10762056.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Riché-Cannieu anastomozu ve Kaplan çizgisi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Caetano ve ark., Rev Bras Ortop 2024 – 10 taze kadavra, 20 el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0-1055-s-0044-1785512-i2300184en-1.jpg"/>
          <p:cNvPicPr>
            <a:picLocks noChangeAspect="1"/>
          </p:cNvPicPr>
          <p:nvPr/>
        </p:nvPicPr>
        <p:blipFill>
          <a:blip r:embed="rId2"/>
          <a:stretch>
            <a:fillRect/>
          </a:stretch>
        </p:blipFill>
        <p:spPr>
          <a:xfrm>
            <a:off x="274320" y="1188720"/>
            <a:ext cx="3590654" cy="2275577"/>
          </a:xfrm>
          <a:prstGeom prst="rect">
            <a:avLst/>
          </a:prstGeom>
        </p:spPr>
      </p:pic>
      <p:sp>
        <p:nvSpPr>
          <p:cNvPr id="8" name="TextBox 7"/>
          <p:cNvSpPr txBox="1"/>
          <p:nvPr/>
        </p:nvSpPr>
        <p:spPr>
          <a:xfrm>
            <a:off x="182879" y="3464297"/>
            <a:ext cx="377353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Caetano E. B. ve ark., 2024 (PMC11193595, CC BY)</a:t>
            </a:r>
          </a:p>
        </p:txBody>
      </p:sp>
      <p:pic>
        <p:nvPicPr>
          <p:cNvPr id="9" name="Picture 8" descr="10-1055-s-0044-1785512-i2300184en-5.jpg"/>
          <p:cNvPicPr>
            <a:picLocks noChangeAspect="1"/>
          </p:cNvPicPr>
          <p:nvPr/>
        </p:nvPicPr>
        <p:blipFill>
          <a:blip r:embed="rId3"/>
          <a:stretch>
            <a:fillRect/>
          </a:stretch>
        </p:blipFill>
        <p:spPr>
          <a:xfrm>
            <a:off x="4002134" y="1188720"/>
            <a:ext cx="3358785" cy="2275577"/>
          </a:xfrm>
          <a:prstGeom prst="rect">
            <a:avLst/>
          </a:prstGeom>
        </p:spPr>
      </p:pic>
      <p:sp>
        <p:nvSpPr>
          <p:cNvPr id="10" name="TextBox 9"/>
          <p:cNvSpPr txBox="1"/>
          <p:nvPr/>
        </p:nvSpPr>
        <p:spPr>
          <a:xfrm>
            <a:off x="3910694" y="3464297"/>
            <a:ext cx="354166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5 – Caetano E. B. ve ark., 2024 (PMC11193595,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KCL</a:t>
            </a:r>
            <a:r>
              <a:rPr sz="1050" b="0" i="0">
                <a:solidFill>
                  <a:srgbClr val="1F2A44"/>
                </a:solidFill>
                <a:latin typeface="Calibri"/>
              </a:rPr>
              <a:t> Kaplan kardinal çizgisi; </a:t>
            </a:r>
            <a:r>
              <a:rPr sz="1050" b="0" i="0">
                <a:solidFill>
                  <a:srgbClr val="1F2A44"/>
                </a:solidFill>
                <a:latin typeface="Calibri"/>
              </a:rPr>
              <a:t>Y</a:t>
            </a:r>
            <a:r>
              <a:rPr sz="1050" b="0" i="0">
                <a:solidFill>
                  <a:srgbClr val="1F2A44"/>
                </a:solidFill>
                <a:latin typeface="Calibri"/>
              </a:rPr>
              <a:t> Y çizgisi;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UN</a:t>
            </a:r>
            <a:r>
              <a:rPr sz="1050" b="0" i="0">
                <a:solidFill>
                  <a:srgbClr val="1F2A44"/>
                </a:solidFill>
                <a:latin typeface="Calibri"/>
              </a:rPr>
              <a:t> n. ulnaris; çift başlı oklar ölçümleri gösterir</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Riché-Cannieu anastomozu (n. medianus r. recurrens – n. ulnaris r. profundus) </a:t>
            </a:r>
            <a:r>
              <a:rPr sz="1050" b="0" i="0">
                <a:solidFill>
                  <a:srgbClr val="1F2A44"/>
                </a:solidFill>
                <a:latin typeface="Calibri"/>
              </a:rPr>
              <a:t>tüm ellerde</a:t>
            </a:r>
            <a:r>
              <a:rPr sz="1050" b="0" i="0">
                <a:solidFill>
                  <a:srgbClr val="1F2A44"/>
                </a:solidFill>
                <a:latin typeface="Calibri"/>
              </a:rPr>
              <a:t> saptanmıştır.</a:t>
            </a:r>
          </a:p>
          <a:p>
            <a:pPr algn="l">
              <a:spcAft>
                <a:spcPts val="300"/>
              </a:spcAft>
            </a:pPr>
            <a:r>
              <a:rPr sz="1050" b="0" i="0">
                <a:solidFill>
                  <a:srgbClr val="1F2A44"/>
                </a:solidFill>
                <a:latin typeface="Calibri"/>
              </a:rPr>
              <a:t>• KCL ile Y çizgisinin kesişimi 18 elde anastomozun proksimalinde; Y çizgisi 14 elde anastomozun radialinde.</a:t>
            </a:r>
          </a:p>
          <a:p>
            <a:pPr algn="l">
              <a:spcAft>
                <a:spcPts val="300"/>
              </a:spcAft>
            </a:pPr>
            <a:r>
              <a:rPr sz="1050" b="0" i="0">
                <a:solidFill>
                  <a:srgbClr val="1F2A44"/>
                </a:solidFill>
                <a:latin typeface="Calibri"/>
              </a:rPr>
              <a:t>• Tenar kasların çift innervasyonu → n. medianus hasarında beklenmedik korunmuş motor fonksiyon.</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Caetano E. B., Vieira L. A., Bueno V. S. et al. Anatomical Study of the Relationship between the Riché-Cannieu Anastomosis and the Kaplan Cardinal Line. Rev Bras Ortop (Sao Paulo). 2024 Jun 22;59(3):e409–14. doi: 10.1055/s-0044-1785512 PMCID: PMC11193595.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Berrettini anastomozu</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Mendoza ve ark., Cureus 2025 – 52 donör, 104 el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cureus-0017-00000078967-i02.jpg"/>
          <p:cNvPicPr>
            <a:picLocks noChangeAspect="1"/>
          </p:cNvPicPr>
          <p:nvPr/>
        </p:nvPicPr>
        <p:blipFill>
          <a:blip r:embed="rId2"/>
          <a:stretch>
            <a:fillRect/>
          </a:stretch>
        </p:blipFill>
        <p:spPr>
          <a:xfrm>
            <a:off x="1394460" y="1188720"/>
            <a:ext cx="4846320" cy="4846320"/>
          </a:xfrm>
          <a:prstGeom prst="rect">
            <a:avLst/>
          </a:prstGeom>
        </p:spPr>
      </p:pic>
      <p:sp>
        <p:nvSpPr>
          <p:cNvPr id="8" name="TextBox 7"/>
          <p:cNvSpPr txBox="1"/>
          <p:nvPr/>
        </p:nvSpPr>
        <p:spPr>
          <a:xfrm>
            <a:off x="1303020" y="6035040"/>
            <a:ext cx="50292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Mendoza M. ve ark., 2025 (PMC11910384,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CDN3</a:t>
            </a:r>
            <a:r>
              <a:rPr sz="1050" b="0" i="0">
                <a:solidFill>
                  <a:srgbClr val="1F2A44"/>
                </a:solidFill>
                <a:latin typeface="Calibri"/>
              </a:rPr>
              <a:t> 3. n. digitalis palmaris communis; </a:t>
            </a:r>
            <a:r>
              <a:rPr sz="1050" b="0" i="0">
                <a:solidFill>
                  <a:srgbClr val="1F2A44"/>
                </a:solidFill>
                <a:latin typeface="Calibri"/>
              </a:rPr>
              <a:t>CDN4</a:t>
            </a:r>
            <a:r>
              <a:rPr sz="1050" b="0" i="0">
                <a:solidFill>
                  <a:srgbClr val="1F2A44"/>
                </a:solidFill>
                <a:latin typeface="Calibri"/>
              </a:rPr>
              <a:t> 4. n. digitalis palmaris communis; </a:t>
            </a:r>
            <a:r>
              <a:rPr sz="1050" b="0" i="0">
                <a:solidFill>
                  <a:srgbClr val="1F2A44"/>
                </a:solidFill>
                <a:latin typeface="Calibri"/>
              </a:rPr>
              <a:t>BA</a:t>
            </a:r>
            <a:r>
              <a:rPr sz="1050" b="0" i="0">
                <a:solidFill>
                  <a:srgbClr val="1F2A44"/>
                </a:solidFill>
                <a:latin typeface="Calibri"/>
              </a:rPr>
              <a:t> Berrettini anastomozu</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Anastomoz </a:t>
            </a:r>
            <a:r>
              <a:rPr sz="1050" b="0" i="0">
                <a:solidFill>
                  <a:srgbClr val="1F2A44"/>
                </a:solidFill>
                <a:latin typeface="Calibri"/>
              </a:rPr>
              <a:t>%80</a:t>
            </a:r>
            <a:r>
              <a:rPr sz="1050" b="0" i="0">
                <a:solidFill>
                  <a:srgbClr val="1F2A44"/>
                </a:solidFill>
                <a:latin typeface="Calibri"/>
              </a:rPr>
              <a:t> (83/104) elde; en sık Tip I (UN→MN tek bağlantı, %38).</a:t>
            </a:r>
          </a:p>
          <a:p>
            <a:pPr algn="l">
              <a:spcAft>
                <a:spcPts val="300"/>
              </a:spcAft>
            </a:pPr>
            <a:r>
              <a:rPr sz="1050" b="0" i="0">
                <a:solidFill>
                  <a:srgbClr val="1F2A44"/>
                </a:solidFill>
                <a:latin typeface="Calibri"/>
              </a:rPr>
              <a:t>• Ortalama uzunluk 22,03 ± 7,68 mm; 'olası bölge' el genişliğinin %26,11–44,21'i ve uzunluğunun %36,63–50,21'i.</a:t>
            </a:r>
          </a:p>
          <a:p>
            <a:pPr algn="l">
              <a:spcAft>
                <a:spcPts val="300"/>
              </a:spcAft>
            </a:pPr>
            <a:r>
              <a:rPr sz="1050" b="0" i="0">
                <a:solidFill>
                  <a:srgbClr val="1F2A44"/>
                </a:solidFill>
                <a:latin typeface="Calibri"/>
              </a:rPr>
              <a:t>• Palmar fasyektomi ve karpal tünel cerrahisinde duyusal dal yaralanmasını önlemek için önemlidir.</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Mendoza M., Sarpong A., Bennett D. et al. The Berrettini Anastomosis’ Morphology and “Probable Zone”: A Cadaveric Study. Cureus. 2025 Feb 13;17(2):e78967. doi: 10.7759/cureus.78967 PMCID: PMC11910384.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1. ekstensör kompartmanda ara septum ve APL demetleri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Hazani ve ark., Eplasty 2009 – 32 el bileği</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eplasty08e53_fig2.jpg"/>
          <p:cNvPicPr>
            <a:picLocks noChangeAspect="1"/>
          </p:cNvPicPr>
          <p:nvPr/>
        </p:nvPicPr>
        <p:blipFill>
          <a:blip r:embed="rId2"/>
          <a:stretch>
            <a:fillRect/>
          </a:stretch>
        </p:blipFill>
        <p:spPr>
          <a:xfrm>
            <a:off x="274320" y="1188720"/>
            <a:ext cx="2966224" cy="2788250"/>
          </a:xfrm>
          <a:prstGeom prst="rect">
            <a:avLst/>
          </a:prstGeom>
        </p:spPr>
      </p:pic>
      <p:sp>
        <p:nvSpPr>
          <p:cNvPr id="8" name="TextBox 7"/>
          <p:cNvSpPr txBox="1"/>
          <p:nvPr/>
        </p:nvSpPr>
        <p:spPr>
          <a:xfrm>
            <a:off x="182879" y="3976970"/>
            <a:ext cx="3149104"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Hazani R. ve ark., 2009 (PMC2586286, CC BY)</a:t>
            </a:r>
          </a:p>
        </p:txBody>
      </p:sp>
      <p:pic>
        <p:nvPicPr>
          <p:cNvPr id="9" name="Picture 8" descr="eplasty08e53_fig3.jpg"/>
          <p:cNvPicPr>
            <a:picLocks noChangeAspect="1"/>
          </p:cNvPicPr>
          <p:nvPr/>
        </p:nvPicPr>
        <p:blipFill>
          <a:blip r:embed="rId3"/>
          <a:stretch>
            <a:fillRect/>
          </a:stretch>
        </p:blipFill>
        <p:spPr>
          <a:xfrm>
            <a:off x="3377704" y="1188720"/>
            <a:ext cx="3983215" cy="2788250"/>
          </a:xfrm>
          <a:prstGeom prst="rect">
            <a:avLst/>
          </a:prstGeom>
        </p:spPr>
      </p:pic>
      <p:sp>
        <p:nvSpPr>
          <p:cNvPr id="10" name="TextBox 9"/>
          <p:cNvSpPr txBox="1"/>
          <p:nvPr/>
        </p:nvSpPr>
        <p:spPr>
          <a:xfrm>
            <a:off x="3286264" y="3976970"/>
            <a:ext cx="4166095"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3 – Hazani R. ve ark., 2009 (PMC2586286,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Septation within the compartment = kompartman içi septum; </a:t>
            </a:r>
            <a:r>
              <a:rPr sz="1050" b="0" i="0">
                <a:solidFill>
                  <a:srgbClr val="1F2A44"/>
                </a:solidFill>
                <a:latin typeface="Calibri"/>
              </a:rPr>
              <a:t>APL</a:t>
            </a:r>
            <a:r>
              <a:rPr sz="1050" b="0" i="0">
                <a:solidFill>
                  <a:srgbClr val="1F2A44"/>
                </a:solidFill>
                <a:latin typeface="Calibri"/>
              </a:rPr>
              <a:t> m. abductor pollicis longus; </a:t>
            </a:r>
            <a:r>
              <a:rPr sz="1050" b="0" i="0">
                <a:solidFill>
                  <a:srgbClr val="1F2A44"/>
                </a:solidFill>
                <a:latin typeface="Calibri"/>
              </a:rPr>
              <a:t>EPB</a:t>
            </a:r>
            <a:r>
              <a:rPr sz="1050" b="0" i="0">
                <a:solidFill>
                  <a:srgbClr val="1F2A44"/>
                </a:solidFill>
                <a:latin typeface="Calibri"/>
              </a:rPr>
              <a:t> m. extensor pollicis brevis; Slip 1–3 = APL demetleri</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EPB için </a:t>
            </a:r>
            <a:r>
              <a:rPr sz="1050" b="0" i="0">
                <a:solidFill>
                  <a:srgbClr val="1F2A44"/>
                </a:solidFill>
                <a:latin typeface="Calibri"/>
              </a:rPr>
              <a:t>ayrı bölme %35</a:t>
            </a:r>
            <a:r>
              <a:rPr sz="1050" b="0" i="0">
                <a:solidFill>
                  <a:srgbClr val="1F2A44"/>
                </a:solidFill>
                <a:latin typeface="Calibri"/>
              </a:rPr>
              <a:t>.</a:t>
            </a:r>
          </a:p>
          <a:p>
            <a:pPr algn="l">
              <a:spcAft>
                <a:spcPts val="300"/>
              </a:spcAft>
            </a:pPr>
            <a:r>
              <a:rPr sz="1050" b="0" i="0">
                <a:solidFill>
                  <a:srgbClr val="1F2A44"/>
                </a:solidFill>
                <a:latin typeface="Calibri"/>
              </a:rPr>
              <a:t>• APL 1, 2, 3 veya 4 demet: sırasıyla %9, %30, %43, %26.</a:t>
            </a:r>
          </a:p>
          <a:p>
            <a:pPr algn="l">
              <a:spcAft>
                <a:spcPts val="300"/>
              </a:spcAft>
            </a:pPr>
            <a:r>
              <a:rPr sz="1050" b="0" i="0">
                <a:solidFill>
                  <a:srgbClr val="1F2A44"/>
                </a:solidFill>
                <a:latin typeface="Calibri"/>
              </a:rPr>
              <a:t>• Ara septum de Quervain enjeksiyon ve cerrahisinde başarısızlığın önemli nedenidir.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Hazani R., Engineer N. J., Cooney D. et al. Anatomic Landmarks for the First Dorsal Compartment. Eplasty. 2009 Jun 2;8:e53. PMCID: PMC2586286.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M. extensor digitorum brevis manus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Lee ve ark., Anat Cell Biol 2019 – bilateral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acb-52-97-g001.jpg"/>
          <p:cNvPicPr>
            <a:picLocks noChangeAspect="1"/>
          </p:cNvPicPr>
          <p:nvPr/>
        </p:nvPicPr>
        <p:blipFill>
          <a:blip r:embed="rId2"/>
          <a:stretch>
            <a:fillRect/>
          </a:stretch>
        </p:blipFill>
        <p:spPr>
          <a:xfrm>
            <a:off x="1651150" y="1188720"/>
            <a:ext cx="4332938" cy="4846320"/>
          </a:xfrm>
          <a:prstGeom prst="rect">
            <a:avLst/>
          </a:prstGeom>
        </p:spPr>
      </p:pic>
      <p:sp>
        <p:nvSpPr>
          <p:cNvPr id="8" name="TextBox 7"/>
          <p:cNvSpPr txBox="1"/>
          <p:nvPr/>
        </p:nvSpPr>
        <p:spPr>
          <a:xfrm>
            <a:off x="1559710" y="6035040"/>
            <a:ext cx="4515818"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Lee D. H. ve ark., 2019 (PMC6449591, CC BY-NC)</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ED</a:t>
            </a:r>
            <a:r>
              <a:rPr sz="1050" b="0" i="0">
                <a:solidFill>
                  <a:srgbClr val="1F2A44"/>
                </a:solidFill>
                <a:latin typeface="Calibri"/>
              </a:rPr>
              <a:t> m. extensor digitorum; </a:t>
            </a:r>
            <a:r>
              <a:rPr sz="1050" b="0" i="0">
                <a:solidFill>
                  <a:srgbClr val="1F2A44"/>
                </a:solidFill>
                <a:latin typeface="Calibri"/>
              </a:rPr>
              <a:t>APL</a:t>
            </a:r>
            <a:r>
              <a:rPr sz="1050" b="0" i="0">
                <a:solidFill>
                  <a:srgbClr val="1F2A44"/>
                </a:solidFill>
                <a:latin typeface="Calibri"/>
              </a:rPr>
              <a:t> m. abductor pollicis longus; </a:t>
            </a:r>
            <a:r>
              <a:rPr sz="1050" b="0" i="0">
                <a:solidFill>
                  <a:srgbClr val="1F2A44"/>
                </a:solidFill>
                <a:latin typeface="Calibri"/>
              </a:rPr>
              <a:t>EPB</a:t>
            </a:r>
            <a:r>
              <a:rPr sz="1050" b="0" i="0">
                <a:solidFill>
                  <a:srgbClr val="1F2A44"/>
                </a:solidFill>
                <a:latin typeface="Calibri"/>
              </a:rPr>
              <a:t> m. extensor pollicis brevis; </a:t>
            </a:r>
            <a:r>
              <a:rPr sz="1050" b="0" i="0">
                <a:solidFill>
                  <a:srgbClr val="1F2A44"/>
                </a:solidFill>
                <a:latin typeface="Calibri"/>
              </a:rPr>
              <a:t>EPL</a:t>
            </a:r>
            <a:r>
              <a:rPr sz="1050" b="0" i="0">
                <a:solidFill>
                  <a:srgbClr val="1F2A44"/>
                </a:solidFill>
                <a:latin typeface="Calibri"/>
              </a:rPr>
              <a:t> m. extensor pollicis longus; </a:t>
            </a:r>
            <a:r>
              <a:rPr sz="1050" b="0" i="0">
                <a:solidFill>
                  <a:srgbClr val="1F2A44"/>
                </a:solidFill>
                <a:latin typeface="Calibri"/>
              </a:rPr>
              <a:t>EIP</a:t>
            </a:r>
            <a:r>
              <a:rPr sz="1050" b="0" i="0">
                <a:solidFill>
                  <a:srgbClr val="1F2A44"/>
                </a:solidFill>
                <a:latin typeface="Calibri"/>
              </a:rPr>
              <a:t> m. extensor indicis; </a:t>
            </a:r>
            <a:r>
              <a:rPr sz="1050" b="0" i="0">
                <a:solidFill>
                  <a:srgbClr val="1F2A44"/>
                </a:solidFill>
                <a:latin typeface="Calibri"/>
              </a:rPr>
              <a:t>EDBM</a:t>
            </a:r>
            <a:r>
              <a:rPr sz="1050" b="0" i="0">
                <a:solidFill>
                  <a:srgbClr val="1F2A44"/>
                </a:solidFill>
                <a:latin typeface="Calibri"/>
              </a:rPr>
              <a:t> m. extensor digitorum brevis manus; </a:t>
            </a:r>
            <a:r>
              <a:rPr sz="1050" b="0" i="0">
                <a:solidFill>
                  <a:srgbClr val="1F2A44"/>
                </a:solidFill>
                <a:latin typeface="Calibri"/>
              </a:rPr>
              <a:t>EDM</a:t>
            </a:r>
            <a:r>
              <a:rPr sz="1050" b="0" i="0">
                <a:solidFill>
                  <a:srgbClr val="1F2A44"/>
                </a:solidFill>
                <a:latin typeface="Calibri"/>
              </a:rPr>
              <a:t> m. extensor digiti minimi; </a:t>
            </a:r>
            <a:r>
              <a:rPr sz="1050" b="0" i="0">
                <a:solidFill>
                  <a:srgbClr val="1F2A44"/>
                </a:solidFill>
                <a:latin typeface="Calibri"/>
              </a:rPr>
              <a:t>DBUN</a:t>
            </a:r>
            <a:r>
              <a:rPr sz="1050" b="0" i="0">
                <a:solidFill>
                  <a:srgbClr val="1F2A44"/>
                </a:solidFill>
                <a:latin typeface="Calibri"/>
              </a:rPr>
              <a:t> r. dorsalis n. ulnaris</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22 kadavradan birinde (%4,5) bilateral ekstensör varyasyonu.</a:t>
            </a:r>
          </a:p>
          <a:p>
            <a:pPr algn="l">
              <a:spcAft>
                <a:spcPts val="300"/>
              </a:spcAft>
            </a:pPr>
            <a:r>
              <a:rPr sz="1050" b="0" i="0">
                <a:solidFill>
                  <a:srgbClr val="1F2A44"/>
                </a:solidFill>
                <a:latin typeface="Calibri"/>
              </a:rPr>
              <a:t>• Literatürde EDBM ham kadavra prevalansı %4, gerçek prevalans %2,5 (aktarılan).</a:t>
            </a:r>
          </a:p>
          <a:p>
            <a:pPr algn="l">
              <a:spcAft>
                <a:spcPts val="300"/>
              </a:spcAft>
            </a:pPr>
            <a:r>
              <a:rPr sz="1050" b="0" i="0">
                <a:solidFill>
                  <a:srgbClr val="1F2A44"/>
                </a:solidFill>
                <a:latin typeface="Calibri"/>
              </a:rPr>
              <a:t>• El sırtında ganglion, sinovit veya tümörle karışabilir.</a:t>
            </a:r>
          </a:p>
        </p:txBody>
      </p:sp>
      <p:sp>
        <p:nvSpPr>
          <p:cNvPr id="13" name="TextBox 12"/>
          <p:cNvSpPr txBox="1"/>
          <p:nvPr/>
        </p:nvSpPr>
        <p:spPr>
          <a:xfrm>
            <a:off x="7589520" y="6053328"/>
            <a:ext cx="4389120" cy="274320"/>
          </a:xfrm>
          <a:prstGeom prst="rect">
            <a:avLst/>
          </a:prstGeom>
          <a:noFill/>
        </p:spPr>
        <p:txBody>
          <a:bodyPr wrap="square" anchor="t" lIns="45720" rIns="45720" tIns="18288" bIns="18288">
            <a:spAutoFit/>
          </a:bodyPr>
          <a:lstStyle/>
          <a:p>
            <a:pPr algn="l"/>
            <a:r>
              <a:rPr sz="850" b="0" i="1">
                <a:solidFill>
                  <a:srgbClr val="C0392B"/>
                </a:solidFill>
                <a:latin typeface="Calibri"/>
              </a:rPr>
              <a:t>Lisans: CC BY-NC – yalnızca ticari olmayan eğitim amaçlı kullanım.</a:t>
            </a:r>
          </a:p>
        </p:txBody>
      </p:sp>
      <p:cxnSp>
        <p:nvCxnSpPr>
          <p:cNvPr id="14" name="Connector 13"/>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Lee D. H., Lee J. H., Woo R. S. et al. A rare bilateral variation on the dorsum of the hand: extensor digitorum brevis manus and extensor medii proprius. Anat Cell Biol. 2019 Mar 29;52(1):97–9. doi: 10.5115/acb.2019.52.1.97 PMCID: PMC6449591. Lisans: CC BY-NC.</a:t>
            </a:r>
          </a:p>
        </p:txBody>
      </p:sp>
      <p:sp>
        <p:nvSpPr>
          <p:cNvPr id="16" name="TextBox 15"/>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FPL'den 1. lumbrikale aksesuar baş</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Gabríková ve ark., Surg Radiol Anat 2023 – olgu</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276_2023_3084_Fig1_HTML.jpg"/>
          <p:cNvPicPr>
            <a:picLocks noChangeAspect="1"/>
          </p:cNvPicPr>
          <p:nvPr/>
        </p:nvPicPr>
        <p:blipFill>
          <a:blip r:embed="rId2"/>
          <a:stretch>
            <a:fillRect/>
          </a:stretch>
        </p:blipFill>
        <p:spPr>
          <a:xfrm>
            <a:off x="302051" y="1188720"/>
            <a:ext cx="7031136" cy="4846320"/>
          </a:xfrm>
          <a:prstGeom prst="rect">
            <a:avLst/>
          </a:prstGeom>
        </p:spPr>
      </p:pic>
      <p:sp>
        <p:nvSpPr>
          <p:cNvPr id="8" name="TextBox 7"/>
          <p:cNvSpPr txBox="1"/>
          <p:nvPr/>
        </p:nvSpPr>
        <p:spPr>
          <a:xfrm>
            <a:off x="210611" y="6035040"/>
            <a:ext cx="7214016"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Gabríková K. ve ark., 2023 (PMC9981488, CC BY)</a:t>
            </a:r>
          </a:p>
        </p:txBody>
      </p:sp>
      <p:sp>
        <p:nvSpPr>
          <p:cNvPr id="9" name="TextBox 8"/>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0" name="TextBox 9"/>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L1</a:t>
            </a:r>
            <a:r>
              <a:rPr sz="1050" b="0" i="0">
                <a:solidFill>
                  <a:srgbClr val="1F2A44"/>
                </a:solidFill>
                <a:latin typeface="Calibri"/>
              </a:rPr>
              <a:t> 1. m. lumbricalis; </a:t>
            </a:r>
            <a:r>
              <a:rPr sz="1050" b="0" i="0">
                <a:solidFill>
                  <a:srgbClr val="1F2A44"/>
                </a:solidFill>
                <a:latin typeface="Calibri"/>
              </a:rPr>
              <a:t>AMHL1</a:t>
            </a:r>
            <a:r>
              <a:rPr sz="1050" b="0" i="0">
                <a:solidFill>
                  <a:srgbClr val="1F2A44"/>
                </a:solidFill>
                <a:latin typeface="Calibri"/>
              </a:rPr>
              <a:t> 1. lumbrikalin aksesuar kas başı; </a:t>
            </a:r>
            <a:r>
              <a:rPr sz="1050" b="0" i="0">
                <a:solidFill>
                  <a:srgbClr val="1F2A44"/>
                </a:solidFill>
                <a:latin typeface="Calibri"/>
              </a:rPr>
              <a:t>FPL</a:t>
            </a:r>
            <a:r>
              <a:rPr sz="1050" b="0" i="0">
                <a:solidFill>
                  <a:srgbClr val="1F2A44"/>
                </a:solidFill>
                <a:latin typeface="Calibri"/>
              </a:rPr>
              <a:t> m. flexor pollicis longus; tAMHL1 aksesuar başın tendonu</a:t>
            </a:r>
          </a:p>
        </p:txBody>
      </p:sp>
      <p:sp>
        <p:nvSpPr>
          <p:cNvPr id="11" name="TextBox 10"/>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2" name="TextBox 11"/>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FPL ile işaret parmağı fleksör sistemi arasında bağlantı – </a:t>
            </a:r>
            <a:r>
              <a:rPr sz="1050" b="0" i="0">
                <a:solidFill>
                  <a:srgbClr val="1F2A44"/>
                </a:solidFill>
                <a:latin typeface="Calibri"/>
              </a:rPr>
              <a:t>Linburg-Comstock</a:t>
            </a:r>
            <a:r>
              <a:rPr sz="1050" b="0" i="0">
                <a:solidFill>
                  <a:srgbClr val="1F2A44"/>
                </a:solidFill>
                <a:latin typeface="Calibri"/>
              </a:rPr>
              <a:t> tipi varyasyon (~%21, aktarılan).</a:t>
            </a:r>
          </a:p>
          <a:p>
            <a:pPr algn="l">
              <a:spcAft>
                <a:spcPts val="300"/>
              </a:spcAft>
            </a:pPr>
            <a:r>
              <a:rPr sz="1050" b="0" i="0">
                <a:solidFill>
                  <a:srgbClr val="1F2A44"/>
                </a:solidFill>
                <a:latin typeface="Calibri"/>
              </a:rPr>
              <a:t>• 1. lumbrikal varyasyonları %17,3 (aktarılan).</a:t>
            </a:r>
          </a:p>
          <a:p>
            <a:pPr algn="l">
              <a:spcAft>
                <a:spcPts val="300"/>
              </a:spcAft>
            </a:pPr>
            <a:r>
              <a:rPr sz="1050" b="0" i="0">
                <a:solidFill>
                  <a:srgbClr val="1F2A44"/>
                </a:solidFill>
                <a:latin typeface="Calibri"/>
              </a:rPr>
              <a:t>• Başparmak fleksiyonunda işaret parmağının istemsiz fleksiyonu, ağrı.</a:t>
            </a:r>
          </a:p>
        </p:txBody>
      </p:sp>
      <p:cxnSp>
        <p:nvCxnSpPr>
          <p:cNvPr id="13" name="Connector 1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Gabríková K., Kachlík D., Belbl M. et al. An accessory muscle belly or an accessory muscle head? An unusual arrangement of muscles in the anterior compartment of the forearm. Surg Radiol Anat. 2023 Jan 25;45(3):271–5. doi: 10.1007/s00276-023-03084-0 PMCID: PMC9981488. Lisans: CC BY.</a:t>
            </a:r>
          </a:p>
        </p:txBody>
      </p:sp>
      <p:sp>
        <p:nvSpPr>
          <p:cNvPr id="15" name="TextBox 14"/>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Guyon kanalından geçen aksesuar fleksör kas</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Nation ve ark., Int J Surg Case Rep 2019 – 94 yaş kadavra</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gr1.jpg"/>
          <p:cNvPicPr>
            <a:picLocks noChangeAspect="1"/>
          </p:cNvPicPr>
          <p:nvPr/>
        </p:nvPicPr>
        <p:blipFill>
          <a:blip r:embed="rId2"/>
          <a:stretch>
            <a:fillRect/>
          </a:stretch>
        </p:blipFill>
        <p:spPr>
          <a:xfrm>
            <a:off x="2505548" y="1188720"/>
            <a:ext cx="2624142" cy="2613147"/>
          </a:xfrm>
          <a:prstGeom prst="rect">
            <a:avLst/>
          </a:prstGeom>
        </p:spPr>
      </p:pic>
      <p:sp>
        <p:nvSpPr>
          <p:cNvPr id="8" name="TextBox 7"/>
          <p:cNvSpPr txBox="1"/>
          <p:nvPr/>
        </p:nvSpPr>
        <p:spPr>
          <a:xfrm>
            <a:off x="2414108" y="3801867"/>
            <a:ext cx="280702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1 – Nation H. ve ark., 2019 (PMC6920165, CC BY)</a:t>
            </a:r>
          </a:p>
        </p:txBody>
      </p:sp>
      <p:pic>
        <p:nvPicPr>
          <p:cNvPr id="9" name="Picture 8" descr="gr3.jpg"/>
          <p:cNvPicPr>
            <a:picLocks noChangeAspect="1"/>
          </p:cNvPicPr>
          <p:nvPr/>
        </p:nvPicPr>
        <p:blipFill>
          <a:blip r:embed="rId3"/>
          <a:stretch>
            <a:fillRect/>
          </a:stretch>
        </p:blipFill>
        <p:spPr>
          <a:xfrm>
            <a:off x="2505548" y="4076187"/>
            <a:ext cx="2624142" cy="1913132"/>
          </a:xfrm>
          <a:prstGeom prst="rect">
            <a:avLst/>
          </a:prstGeom>
        </p:spPr>
      </p:pic>
      <p:sp>
        <p:nvSpPr>
          <p:cNvPr id="10" name="TextBox 9"/>
          <p:cNvSpPr txBox="1"/>
          <p:nvPr/>
        </p:nvSpPr>
        <p:spPr>
          <a:xfrm>
            <a:off x="2414108" y="5989319"/>
            <a:ext cx="2807022"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 3 – Nation H. ve ark., 2019 (PMC6920165,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a:t>
            </a:r>
            <a:r>
              <a:rPr sz="1050" b="0" i="0">
                <a:solidFill>
                  <a:srgbClr val="1F2A44"/>
                </a:solidFill>
                <a:latin typeface="Calibri"/>
              </a:rPr>
              <a:t>FDML</a:t>
            </a:r>
            <a:r>
              <a:rPr sz="1050" b="0" i="0">
                <a:solidFill>
                  <a:srgbClr val="1F2A44"/>
                </a:solidFill>
                <a:latin typeface="Calibri"/>
              </a:rPr>
              <a:t> m. flexor digiti minimi longus (aksesuar); </a:t>
            </a:r>
            <a:r>
              <a:rPr sz="1050" b="0" i="0">
                <a:solidFill>
                  <a:srgbClr val="1F2A44"/>
                </a:solidFill>
                <a:latin typeface="Calibri"/>
              </a:rPr>
              <a:t>FDMB</a:t>
            </a:r>
            <a:r>
              <a:rPr sz="1050" b="0" i="0">
                <a:solidFill>
                  <a:srgbClr val="1F2A44"/>
                </a:solidFill>
                <a:latin typeface="Calibri"/>
              </a:rPr>
              <a:t> m. flexor digiti minimi brevis; </a:t>
            </a:r>
            <a:r>
              <a:rPr sz="1050" b="0" i="0">
                <a:solidFill>
                  <a:srgbClr val="1F2A44"/>
                </a:solidFill>
                <a:latin typeface="Calibri"/>
              </a:rPr>
              <a:t>PB</a:t>
            </a:r>
            <a:r>
              <a:rPr sz="1050" b="0" i="0">
                <a:solidFill>
                  <a:srgbClr val="1F2A44"/>
                </a:solidFill>
                <a:latin typeface="Calibri"/>
              </a:rPr>
              <a:t> m. palmaris brevis; </a:t>
            </a:r>
            <a:r>
              <a:rPr sz="1050" b="0" i="0">
                <a:solidFill>
                  <a:srgbClr val="1F2A44"/>
                </a:solidFill>
                <a:latin typeface="Calibri"/>
              </a:rPr>
              <a:t>PL</a:t>
            </a:r>
            <a:r>
              <a:rPr sz="1050" b="0" i="0">
                <a:solidFill>
                  <a:srgbClr val="1F2A44"/>
                </a:solidFill>
                <a:latin typeface="Calibri"/>
              </a:rPr>
              <a:t> m. palmaris longus; </a:t>
            </a:r>
            <a:r>
              <a:rPr sz="1050" b="0" i="0">
                <a:solidFill>
                  <a:srgbClr val="1F2A44"/>
                </a:solidFill>
                <a:latin typeface="Calibri"/>
              </a:rPr>
              <a:t>FCU</a:t>
            </a:r>
            <a:r>
              <a:rPr sz="1050" b="0" i="0">
                <a:solidFill>
                  <a:srgbClr val="1F2A44"/>
                </a:solidFill>
                <a:latin typeface="Calibri"/>
              </a:rPr>
              <a:t> m. flexor carpi ulnaris; </a:t>
            </a:r>
            <a:r>
              <a:rPr sz="1050" b="0" i="0">
                <a:solidFill>
                  <a:srgbClr val="1F2A44"/>
                </a:solidFill>
                <a:latin typeface="Calibri"/>
              </a:rPr>
              <a:t>FCR</a:t>
            </a:r>
            <a:r>
              <a:rPr sz="1050" b="0" i="0">
                <a:solidFill>
                  <a:srgbClr val="1F2A44"/>
                </a:solidFill>
                <a:latin typeface="Calibri"/>
              </a:rPr>
              <a:t> m. flexor carpi radialis; </a:t>
            </a:r>
            <a:r>
              <a:rPr sz="1050" b="0" i="0">
                <a:solidFill>
                  <a:srgbClr val="1F2A44"/>
                </a:solidFill>
                <a:latin typeface="Calibri"/>
              </a:rPr>
              <a:t>FDS</a:t>
            </a:r>
            <a:r>
              <a:rPr sz="1050" b="0" i="0">
                <a:solidFill>
                  <a:srgbClr val="1F2A44"/>
                </a:solidFill>
                <a:latin typeface="Calibri"/>
              </a:rPr>
              <a:t> m. flexor digitorum superficialis; </a:t>
            </a:r>
            <a:r>
              <a:rPr sz="1050" b="0" i="0">
                <a:solidFill>
                  <a:srgbClr val="1F2A44"/>
                </a:solidFill>
                <a:latin typeface="Calibri"/>
              </a:rPr>
              <a:t>ADM</a:t>
            </a:r>
            <a:r>
              <a:rPr sz="1050" b="0" i="0">
                <a:solidFill>
                  <a:srgbClr val="1F2A44"/>
                </a:solidFill>
                <a:latin typeface="Calibri"/>
              </a:rPr>
              <a:t> m. abductor digiti minimi; </a:t>
            </a:r>
            <a:r>
              <a:rPr sz="1050" b="0" i="0">
                <a:solidFill>
                  <a:srgbClr val="1F2A44"/>
                </a:solidFill>
                <a:latin typeface="Calibri"/>
              </a:rPr>
              <a:t>DUN</a:t>
            </a:r>
            <a:r>
              <a:rPr sz="1050" b="0" i="0">
                <a:solidFill>
                  <a:srgbClr val="1F2A44"/>
                </a:solidFill>
                <a:latin typeface="Calibri"/>
              </a:rPr>
              <a:t> r. profundus n. ulnaris; </a:t>
            </a:r>
            <a:r>
              <a:rPr sz="1050" b="0" i="0">
                <a:solidFill>
                  <a:srgbClr val="1F2A44"/>
                </a:solidFill>
                <a:latin typeface="Calibri"/>
              </a:rPr>
              <a:t>SUN</a:t>
            </a:r>
            <a:r>
              <a:rPr sz="1050" b="0" i="0">
                <a:solidFill>
                  <a:srgbClr val="1F2A44"/>
                </a:solidFill>
                <a:latin typeface="Calibri"/>
              </a:rPr>
              <a:t> r. superficialis n. ulnaris; </a:t>
            </a:r>
            <a:r>
              <a:rPr sz="1050" b="0" i="0">
                <a:solidFill>
                  <a:srgbClr val="1F2A44"/>
                </a:solidFill>
                <a:latin typeface="Calibri"/>
              </a:rPr>
              <a:t>UN</a:t>
            </a:r>
            <a:r>
              <a:rPr sz="1050" b="0" i="0">
                <a:solidFill>
                  <a:srgbClr val="1F2A44"/>
                </a:solidFill>
                <a:latin typeface="Calibri"/>
              </a:rPr>
              <a:t> n. ulnaris; </a:t>
            </a:r>
            <a:r>
              <a:rPr sz="1050" b="0" i="0">
                <a:solidFill>
                  <a:srgbClr val="1F2A44"/>
                </a:solidFill>
                <a:latin typeface="Calibri"/>
              </a:rPr>
              <a:t>UA</a:t>
            </a:r>
            <a:r>
              <a:rPr sz="1050" b="0" i="0">
                <a:solidFill>
                  <a:srgbClr val="1F2A44"/>
                </a:solidFill>
                <a:latin typeface="Calibri"/>
              </a:rPr>
              <a:t> a. ulnaris; </a:t>
            </a:r>
            <a:r>
              <a:rPr sz="1050" b="0" i="0">
                <a:solidFill>
                  <a:srgbClr val="1F2A44"/>
                </a:solidFill>
                <a:latin typeface="Calibri"/>
              </a:rPr>
              <a:t>MN</a:t>
            </a:r>
            <a:r>
              <a:rPr sz="1050" b="0" i="0">
                <a:solidFill>
                  <a:srgbClr val="1F2A44"/>
                </a:solidFill>
                <a:latin typeface="Calibri"/>
              </a:rPr>
              <a:t> n. medianus; </a:t>
            </a:r>
            <a:r>
              <a:rPr sz="1050" b="0" i="0">
                <a:solidFill>
                  <a:srgbClr val="1F2A44"/>
                </a:solidFill>
                <a:latin typeface="Calibri"/>
              </a:rPr>
              <a:t>SPA</a:t>
            </a:r>
            <a:r>
              <a:rPr sz="1050" b="0" i="0">
                <a:solidFill>
                  <a:srgbClr val="1F2A44"/>
                </a:solidFill>
                <a:latin typeface="Calibri"/>
              </a:rPr>
              <a:t> arcus palmaris superficialis; PCL lig. carpi palmare</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Guyon kanalından geçen m. flexor digiti minimi longus </a:t>
            </a:r>
            <a:r>
              <a:rPr sz="1050" b="0" i="0">
                <a:solidFill>
                  <a:srgbClr val="1F2A44"/>
                </a:solidFill>
                <a:latin typeface="Calibri"/>
              </a:rPr>
              <a:t>ilk kez</a:t>
            </a:r>
            <a:r>
              <a:rPr sz="1050" b="0" i="0">
                <a:solidFill>
                  <a:srgbClr val="1F2A44"/>
                </a:solidFill>
                <a:latin typeface="Calibri"/>
              </a:rPr>
              <a:t> tanımlanmıştır.</a:t>
            </a:r>
          </a:p>
          <a:p>
            <a:pPr algn="l">
              <a:spcAft>
                <a:spcPts val="300"/>
              </a:spcAft>
            </a:pPr>
            <a:r>
              <a:rPr sz="1050" b="0" i="0">
                <a:solidFill>
                  <a:srgbClr val="1F2A44"/>
                </a:solidFill>
                <a:latin typeface="Calibri"/>
              </a:rPr>
              <a:t>• Aynı elde üç kökenli 1. lumbrikal, Berrettini ve Kaplan anastomozları eşlik etmiştir.</a:t>
            </a:r>
          </a:p>
          <a:p>
            <a:pPr algn="l">
              <a:spcAft>
                <a:spcPts val="300"/>
              </a:spcAft>
            </a:pPr>
            <a:r>
              <a:rPr sz="1050" b="0" i="0">
                <a:solidFill>
                  <a:srgbClr val="1F2A44"/>
                </a:solidFill>
                <a:latin typeface="Calibri"/>
              </a:rPr>
              <a:t>• Aksesuar kaslar n. ulnaris sıkışması yapabilir.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Nation H., Jeong S., Jeong S. et al. Anomalous muscles and nerves in the hand of a 94-year-old cadaver—A case report. Int J Surg Case Rep. 2019 Oct 31;65:119–23. doi: 10.1016/j.ijscr.2019.10.062 PMCID: PMC6920165.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Varyasyon: R. recurrens n. mediani'nin retinakulum ile ilişkisi</a:t>
            </a:r>
          </a:p>
        </p:txBody>
      </p:sp>
      <p:sp>
        <p:nvSpPr>
          <p:cNvPr id="4" name="TextBox 3"/>
          <p:cNvSpPr txBox="1"/>
          <p:nvPr/>
        </p:nvSpPr>
        <p:spPr>
          <a:xfrm>
            <a:off x="274320" y="457200"/>
            <a:ext cx="11612880" cy="292608"/>
          </a:xfrm>
          <a:prstGeom prst="rect">
            <a:avLst/>
          </a:prstGeom>
          <a:noFill/>
        </p:spPr>
        <p:txBody>
          <a:bodyPr wrap="square" anchor="t" lIns="45720" rIns="45720" tIns="18288" bIns="18288">
            <a:spAutoFit/>
          </a:bodyPr>
          <a:lstStyle/>
          <a:p>
            <a:pPr algn="l"/>
            <a:r>
              <a:rPr sz="1300" b="0" i="1">
                <a:solidFill>
                  <a:srgbClr val="C8D1E6"/>
                </a:solidFill>
                <a:latin typeface="Calibri"/>
              </a:rPr>
              <a:t>Samarakoon ve ark., Patient Saf Surg 2014 – 13 kadavra, 26 el</a:t>
            </a:r>
          </a:p>
        </p:txBody>
      </p:sp>
      <p:sp>
        <p:nvSpPr>
          <p:cNvPr id="5" name="TextBox 4"/>
          <p:cNvSpPr txBox="1"/>
          <p:nvPr/>
        </p:nvSpPr>
        <p:spPr>
          <a:xfrm>
            <a:off x="274320" y="822960"/>
            <a:ext cx="3657600" cy="256032"/>
          </a:xfrm>
          <a:prstGeom prst="rect">
            <a:avLst/>
          </a:prstGeom>
          <a:noFill/>
        </p:spPr>
        <p:txBody>
          <a:bodyPr wrap="square" anchor="t" lIns="45720" rIns="45720" tIns="18288" bIns="18288">
            <a:spAutoFit/>
          </a:bodyPr>
          <a:lstStyle/>
          <a:p>
            <a:pPr algn="l"/>
            <a:r>
              <a:rPr sz="950" b="1" i="0">
                <a:solidFill>
                  <a:srgbClr val="555B66"/>
                </a:solidFill>
                <a:latin typeface="Calibri"/>
              </a:rPr>
              <a:t>BÖLÜM 4 · EL</a:t>
            </a:r>
          </a:p>
        </p:txBody>
      </p:sp>
      <p:sp>
        <p:nvSpPr>
          <p:cNvPr id="6" name="TextBox 5"/>
          <p:cNvSpPr txBox="1"/>
          <p:nvPr/>
        </p:nvSpPr>
        <p:spPr>
          <a:xfrm>
            <a:off x="9829800" y="822960"/>
            <a:ext cx="2148840" cy="256032"/>
          </a:xfrm>
          <a:prstGeom prst="rect">
            <a:avLst/>
          </a:prstGeom>
          <a:solidFill>
            <a:srgbClr val="C0392B"/>
          </a:solidFill>
        </p:spPr>
        <p:txBody>
          <a:bodyPr wrap="square" anchor="ctr" lIns="45720" rIns="45720" tIns="18288" bIns="18288">
            <a:spAutoFit/>
          </a:bodyPr>
          <a:lstStyle/>
          <a:p>
            <a:pPr algn="ctr"/>
            <a:r>
              <a:rPr sz="950" b="1" i="0">
                <a:solidFill>
                  <a:srgbClr val="FFFFFF"/>
                </a:solidFill>
                <a:latin typeface="Calibri"/>
              </a:rPr>
              <a:t>VARYASYON</a:t>
            </a:r>
          </a:p>
        </p:txBody>
      </p:sp>
      <p:pic>
        <p:nvPicPr>
          <p:cNvPr id="7" name="Picture 6" descr="1754-9493-8-8-1.jpg"/>
          <p:cNvPicPr>
            <a:picLocks noChangeAspect="1"/>
          </p:cNvPicPr>
          <p:nvPr/>
        </p:nvPicPr>
        <p:blipFill>
          <a:blip r:embed="rId2"/>
          <a:stretch>
            <a:fillRect/>
          </a:stretch>
        </p:blipFill>
        <p:spPr>
          <a:xfrm>
            <a:off x="274320" y="1188720"/>
            <a:ext cx="3474720" cy="2600248"/>
          </a:xfrm>
          <a:prstGeom prst="rect">
            <a:avLst/>
          </a:prstGeom>
        </p:spPr>
      </p:pic>
      <p:sp>
        <p:nvSpPr>
          <p:cNvPr id="8" name="TextBox 7"/>
          <p:cNvSpPr txBox="1"/>
          <p:nvPr/>
        </p:nvSpPr>
        <p:spPr>
          <a:xfrm>
            <a:off x="182879" y="3788968"/>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1 – Samarakoon Lasitha B ve ark., 2014 (PMC3931286, CC BY)</a:t>
            </a:r>
          </a:p>
        </p:txBody>
      </p:sp>
      <p:pic>
        <p:nvPicPr>
          <p:cNvPr id="9" name="Picture 8" descr="1754-9493-8-8-2.jpg"/>
          <p:cNvPicPr>
            <a:picLocks noChangeAspect="1"/>
          </p:cNvPicPr>
          <p:nvPr/>
        </p:nvPicPr>
        <p:blipFill>
          <a:blip r:embed="rId3"/>
          <a:stretch>
            <a:fillRect/>
          </a:stretch>
        </p:blipFill>
        <p:spPr>
          <a:xfrm>
            <a:off x="3886200" y="1188720"/>
            <a:ext cx="3474720" cy="2600248"/>
          </a:xfrm>
          <a:prstGeom prst="rect">
            <a:avLst/>
          </a:prstGeom>
        </p:spPr>
      </p:pic>
      <p:sp>
        <p:nvSpPr>
          <p:cNvPr id="10" name="TextBox 9"/>
          <p:cNvSpPr txBox="1"/>
          <p:nvPr/>
        </p:nvSpPr>
        <p:spPr>
          <a:xfrm>
            <a:off x="3794760" y="3788968"/>
            <a:ext cx="3657600" cy="228600"/>
          </a:xfrm>
          <a:prstGeom prst="rect">
            <a:avLst/>
          </a:prstGeom>
          <a:noFill/>
        </p:spPr>
        <p:txBody>
          <a:bodyPr wrap="square" anchor="t" lIns="45720" rIns="45720" tIns="18288" bIns="18288">
            <a:spAutoFit/>
          </a:bodyPr>
          <a:lstStyle/>
          <a:p>
            <a:pPr algn="ctr"/>
            <a:r>
              <a:rPr sz="800" b="0" i="1">
                <a:solidFill>
                  <a:srgbClr val="555B66"/>
                </a:solidFill>
                <a:latin typeface="Calibri"/>
              </a:rPr>
              <a:t>Figure 2 – Samarakoon Lasitha B ve ark., 2014 (PMC3931286, CC BY)</a:t>
            </a:r>
          </a:p>
        </p:txBody>
      </p:sp>
      <p:sp>
        <p:nvSpPr>
          <p:cNvPr id="11" name="TextBox 10"/>
          <p:cNvSpPr txBox="1"/>
          <p:nvPr/>
        </p:nvSpPr>
        <p:spPr>
          <a:xfrm>
            <a:off x="7589520" y="118872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Şekildeki etiketler</a:t>
            </a:r>
          </a:p>
        </p:txBody>
      </p:sp>
      <p:sp>
        <p:nvSpPr>
          <p:cNvPr id="12" name="TextBox 11"/>
          <p:cNvSpPr txBox="1"/>
          <p:nvPr/>
        </p:nvSpPr>
        <p:spPr>
          <a:xfrm>
            <a:off x="7589520" y="1463040"/>
            <a:ext cx="4389120" cy="2377440"/>
          </a:xfrm>
          <a:prstGeom prst="rect">
            <a:avLst/>
          </a:prstGeom>
          <a:noFill/>
        </p:spPr>
        <p:txBody>
          <a:bodyPr wrap="square">
            <a:spAutoFit/>
          </a:bodyPr>
          <a:lstStyle/>
          <a:p>
            <a:pPr algn="l">
              <a:spcAft>
                <a:spcPts val="300"/>
              </a:spcAft>
            </a:pPr>
            <a:r>
              <a:rPr sz="1050" b="0" i="0">
                <a:solidFill>
                  <a:srgbClr val="1F2A44"/>
                </a:solidFill>
                <a:latin typeface="Calibri"/>
              </a:rPr>
              <a:t>• Şekil 1: retinakulum içinden (intraligamentöz) çıkan r. recurrens (işaretçi); Şekil 2: retinakulum dışından çıkan çok sayıda dal (işaretçi)</a:t>
            </a:r>
          </a:p>
        </p:txBody>
      </p:sp>
      <p:sp>
        <p:nvSpPr>
          <p:cNvPr id="13" name="TextBox 12"/>
          <p:cNvSpPr txBox="1"/>
          <p:nvPr/>
        </p:nvSpPr>
        <p:spPr>
          <a:xfrm>
            <a:off x="7589520" y="3429000"/>
            <a:ext cx="4389120" cy="274320"/>
          </a:xfrm>
          <a:prstGeom prst="rect">
            <a:avLst/>
          </a:prstGeom>
          <a:noFill/>
        </p:spPr>
        <p:txBody>
          <a:bodyPr wrap="square" anchor="t" lIns="45720" rIns="45720" tIns="18288" bIns="18288">
            <a:spAutoFit/>
          </a:bodyPr>
          <a:lstStyle/>
          <a:p>
            <a:pPr algn="l"/>
            <a:r>
              <a:rPr sz="1200" b="1" i="0">
                <a:solidFill>
                  <a:srgbClr val="C0392B"/>
                </a:solidFill>
                <a:latin typeface="Calibri"/>
              </a:rPr>
              <a:t>Önemli noktalar</a:t>
            </a:r>
          </a:p>
        </p:txBody>
      </p:sp>
      <p:sp>
        <p:nvSpPr>
          <p:cNvPr id="14" name="TextBox 13"/>
          <p:cNvSpPr txBox="1"/>
          <p:nvPr/>
        </p:nvSpPr>
        <p:spPr>
          <a:xfrm>
            <a:off x="7589520" y="3703320"/>
            <a:ext cx="4389120" cy="2560320"/>
          </a:xfrm>
          <a:prstGeom prst="rect">
            <a:avLst/>
          </a:prstGeom>
          <a:noFill/>
        </p:spPr>
        <p:txBody>
          <a:bodyPr wrap="square">
            <a:spAutoFit/>
          </a:bodyPr>
          <a:lstStyle/>
          <a:p>
            <a:pPr algn="l">
              <a:spcAft>
                <a:spcPts val="300"/>
              </a:spcAft>
            </a:pPr>
            <a:r>
              <a:rPr sz="1050" b="0" i="0">
                <a:solidFill>
                  <a:srgbClr val="1F2A44"/>
                </a:solidFill>
                <a:latin typeface="Calibri"/>
              </a:rPr>
              <a:t>• Tek gövde </a:t>
            </a:r>
            <a:r>
              <a:rPr sz="1050" b="0" i="0">
                <a:solidFill>
                  <a:srgbClr val="1F2A44"/>
                </a:solidFill>
                <a:latin typeface="Calibri"/>
              </a:rPr>
              <a:t>%76,9</a:t>
            </a:r>
            <a:r>
              <a:rPr sz="1050" b="0" i="0">
                <a:solidFill>
                  <a:srgbClr val="1F2A44"/>
                </a:solidFill>
                <a:latin typeface="Calibri"/>
              </a:rPr>
              <a:t>; ekstraligamentöz </a:t>
            </a:r>
            <a:r>
              <a:rPr sz="1050" b="0" i="0">
                <a:solidFill>
                  <a:srgbClr val="1F2A44"/>
                </a:solidFill>
                <a:latin typeface="Calibri"/>
              </a:rPr>
              <a:t>%84,6</a:t>
            </a:r>
            <a:r>
              <a:rPr sz="1050" b="0" i="0">
                <a:solidFill>
                  <a:srgbClr val="1F2A44"/>
                </a:solidFill>
                <a:latin typeface="Calibri"/>
              </a:rPr>
              <a:t>.</a:t>
            </a:r>
          </a:p>
          <a:p>
            <a:pPr algn="l">
              <a:spcAft>
                <a:spcPts val="300"/>
              </a:spcAft>
            </a:pPr>
            <a:r>
              <a:rPr sz="1050" b="0" i="0">
                <a:solidFill>
                  <a:srgbClr val="1F2A44"/>
                </a:solidFill>
                <a:latin typeface="Calibri"/>
              </a:rPr>
              <a:t>• Retinakulumun distal kenarından r. recurrens'e ortalama 7,75 mm, arcus palmaris superficialis'e 11,48 mm.</a:t>
            </a:r>
          </a:p>
          <a:p>
            <a:pPr algn="l">
              <a:spcAft>
                <a:spcPts val="300"/>
              </a:spcAft>
            </a:pPr>
            <a:r>
              <a:rPr sz="1050" b="0" i="0">
                <a:solidFill>
                  <a:srgbClr val="1F2A44"/>
                </a:solidFill>
                <a:latin typeface="Calibri"/>
              </a:rPr>
              <a:t>• Kesi retinakulumun ulnar tarafına yakın yapılmalıdır.</a:t>
            </a:r>
          </a:p>
        </p:txBody>
      </p:sp>
      <p:cxnSp>
        <p:nvCxnSpPr>
          <p:cNvPr id="15" name="Connector 1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Samarakoon Lasitha B, Guruge Malith H, Jayasekara Madusha et al. Anatomical landmarks for safer carpal tunnel decompression: an experimental cadaveric study. Patient Saf Surg. 2014 Feb 17;8:8. doi: 10.1186/1754-9493-8-8 PMCID: PMC3931286. Lisans: CC BY.</a:t>
            </a:r>
          </a:p>
        </p:txBody>
      </p:sp>
      <p:sp>
        <p:nvSpPr>
          <p:cNvPr id="17" name="TextBox 1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(1)</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Konarik Marek, Musil Vladimir, Baca Vaclav et al. Upper limb principal arteries variations: A cadaveric study with terminological implication. </a:t>
            </a:r>
            <a:r>
              <a:rPr sz="950" b="0" i="0">
                <a:solidFill>
                  <a:srgbClr val="1F2A44"/>
                </a:solidFill>
                <a:latin typeface="Calibri"/>
              </a:rPr>
              <a:t>Bosnian Journal of Basic Medical Sciences</a:t>
            </a:r>
            <a:r>
              <a:rPr sz="950" b="0" i="0">
                <a:solidFill>
                  <a:srgbClr val="1F2A44"/>
                </a:solidFill>
                <a:latin typeface="Calibri"/>
              </a:rPr>
              <a:t> 2020. doi:10.17305/bjbms.2020.4643 – PMC7664784 – </a:t>
            </a:r>
            <a:r>
              <a:rPr sz="950" b="0" i="0">
                <a:solidFill>
                  <a:srgbClr val="1F2A44"/>
                </a:solidFill>
                <a:latin typeface="Calibri"/>
              </a:rPr>
              <a:t>CC BY</a:t>
            </a:r>
          </a:p>
          <a:p>
            <a:pPr algn="l">
              <a:spcAft>
                <a:spcPts val="300"/>
              </a:spcAft>
            </a:pPr>
            <a:r>
              <a:rPr sz="950" b="0" i="0">
                <a:solidFill>
                  <a:srgbClr val="1F2A44"/>
                </a:solidFill>
                <a:latin typeface="Calibri"/>
              </a:rPr>
              <a:t>• Bozhikova E., Davis J. C., Moon P. H. et al. A Cadaveric Study on the Variations in the Infraclavicular Part of Brachial Plexus in Axillary Region and Upper Arm. </a:t>
            </a:r>
            <a:r>
              <a:rPr sz="950" b="0" i="0">
                <a:solidFill>
                  <a:srgbClr val="1F2A44"/>
                </a:solidFill>
                <a:latin typeface="Calibri"/>
              </a:rPr>
              <a:t>BioMed Research International</a:t>
            </a:r>
            <a:r>
              <a:rPr sz="950" b="0" i="0">
                <a:solidFill>
                  <a:srgbClr val="1F2A44"/>
                </a:solidFill>
                <a:latin typeface="Calibri"/>
              </a:rPr>
              <a:t> 2025. doi:10.1155/bmri/6650184 – PMC12578619 – </a:t>
            </a:r>
            <a:r>
              <a:rPr sz="950" b="0" i="0">
                <a:solidFill>
                  <a:srgbClr val="1F2A44"/>
                </a:solidFill>
                <a:latin typeface="Calibri"/>
              </a:rPr>
              <a:t>CC BY</a:t>
            </a:r>
          </a:p>
          <a:p>
            <a:pPr algn="l">
              <a:spcAft>
                <a:spcPts val="300"/>
              </a:spcAft>
            </a:pPr>
            <a:r>
              <a:rPr sz="950" b="0" i="0">
                <a:solidFill>
                  <a:srgbClr val="1F2A44"/>
                </a:solidFill>
                <a:latin typeface="Calibri"/>
              </a:rPr>
              <a:t>• Patra Apurba, Singh Manjit, Kaur Harsimarjit et al. Re-definition of position and calculation of safe area for axillary nerve in deltoid muscle with its clinical relevance: a cadaveric study. </a:t>
            </a:r>
            <a:r>
              <a:rPr sz="950" b="0" i="0">
                <a:solidFill>
                  <a:srgbClr val="1F2A44"/>
                </a:solidFill>
                <a:latin typeface="Calibri"/>
              </a:rPr>
              <a:t>Anatomy &amp; Cell Biology</a:t>
            </a:r>
            <a:r>
              <a:rPr sz="950" b="0" i="0">
                <a:solidFill>
                  <a:srgbClr val="1F2A44"/>
                </a:solidFill>
                <a:latin typeface="Calibri"/>
              </a:rPr>
              <a:t> 2018. doi:10.5115/acb.2018.51.2.93 – PMC6026816 – </a:t>
            </a:r>
            <a:r>
              <a:rPr sz="950" b="0" i="0">
                <a:solidFill>
                  <a:srgbClr val="1F2A44"/>
                </a:solidFill>
                <a:latin typeface="Calibri"/>
              </a:rPr>
              <a:t>CC BY-NC</a:t>
            </a:r>
          </a:p>
          <a:p>
            <a:pPr algn="l">
              <a:spcAft>
                <a:spcPts val="300"/>
              </a:spcAft>
            </a:pPr>
            <a:r>
              <a:rPr sz="950" b="0" i="0">
                <a:solidFill>
                  <a:srgbClr val="1F2A44"/>
                </a:solidFill>
                <a:latin typeface="Calibri"/>
              </a:rPr>
              <a:t>• Polguj Michał, Rożniecki Jacek, Sibiński Marcin et al. The variable morphology of suprascapular nerve and vessels at suprascapular notch: a proposal for classification and its potential clinical implications. </a:t>
            </a:r>
            <a:r>
              <a:rPr sz="950" b="0" i="0">
                <a:solidFill>
                  <a:srgbClr val="1F2A44"/>
                </a:solidFill>
                <a:latin typeface="Calibri"/>
              </a:rPr>
              <a:t>Knee Surgery, Sports Traumatology, Arthroscopy</a:t>
            </a:r>
            <a:r>
              <a:rPr sz="950" b="0" i="0">
                <a:solidFill>
                  <a:srgbClr val="1F2A44"/>
                </a:solidFill>
                <a:latin typeface="Calibri"/>
              </a:rPr>
              <a:t> 2014. doi:10.1007/s00167-014-2937-1 – PMC4555201 – </a:t>
            </a:r>
            <a:r>
              <a:rPr sz="950" b="0" i="0">
                <a:solidFill>
                  <a:srgbClr val="1F2A44"/>
                </a:solidFill>
                <a:latin typeface="Calibri"/>
              </a:rPr>
              <a:t>CC BY</a:t>
            </a:r>
          </a:p>
          <a:p>
            <a:pPr algn="l">
              <a:spcAft>
                <a:spcPts val="300"/>
              </a:spcAft>
            </a:pPr>
            <a:r>
              <a:rPr sz="950" b="0" i="0">
                <a:solidFill>
                  <a:srgbClr val="1F2A44"/>
                </a:solidFill>
                <a:latin typeface="Calibri"/>
              </a:rPr>
              <a:t>• Momma Daisuke, Nimura Akimoto, Muro Satoru et al. Anatomic analysis of the whole articular capsule of the shoulder joint, with reference to the capsular attachment and thickness. </a:t>
            </a:r>
            <a:r>
              <a:rPr sz="950" b="0" i="0">
                <a:solidFill>
                  <a:srgbClr val="1F2A44"/>
                </a:solidFill>
                <a:latin typeface="Calibri"/>
              </a:rPr>
              <a:t>Journal of Experimental Orthopaedics</a:t>
            </a:r>
            <a:r>
              <a:rPr sz="950" b="0" i="0">
                <a:solidFill>
                  <a:srgbClr val="1F2A44"/>
                </a:solidFill>
                <a:latin typeface="Calibri"/>
              </a:rPr>
              <a:t> 2018. doi:10.1186/s40634-018-0134-8 – PMC5992113 – </a:t>
            </a:r>
            <a:r>
              <a:rPr sz="950" b="0" i="0">
                <a:solidFill>
                  <a:srgbClr val="1F2A44"/>
                </a:solidFill>
                <a:latin typeface="Calibri"/>
              </a:rPr>
              <a:t>CC BY</a:t>
            </a:r>
          </a:p>
          <a:p>
            <a:pPr algn="l">
              <a:spcAft>
                <a:spcPts val="300"/>
              </a:spcAft>
            </a:pPr>
            <a:r>
              <a:rPr sz="950" b="0" i="0">
                <a:solidFill>
                  <a:srgbClr val="1F2A44"/>
                </a:solidFill>
                <a:latin typeface="Calibri"/>
              </a:rPr>
              <a:t>• Leonhard Vanessa, Caldwell Gregory, Goh Mei et al. Ultrasonographic Diagnosis of Thoracic Outlet Syndrome Secondary to Brachial Plexus Piercing Variation. </a:t>
            </a:r>
            <a:r>
              <a:rPr sz="950" b="0" i="0">
                <a:solidFill>
                  <a:srgbClr val="1F2A44"/>
                </a:solidFill>
                <a:latin typeface="Calibri"/>
              </a:rPr>
              <a:t>Diagnostics</a:t>
            </a:r>
            <a:r>
              <a:rPr sz="950" b="0" i="0">
                <a:solidFill>
                  <a:srgbClr val="1F2A44"/>
                </a:solidFill>
                <a:latin typeface="Calibri"/>
              </a:rPr>
              <a:t> 2017. doi:10.3390/diagnostics7030040 – PMC5617940 – </a:t>
            </a:r>
            <a:r>
              <a:rPr sz="950" b="0" i="0">
                <a:solidFill>
                  <a:srgbClr val="1F2A44"/>
                </a:solidFill>
                <a:latin typeface="Calibri"/>
              </a:rPr>
              <a:t>CC BY</a:t>
            </a:r>
          </a:p>
          <a:p>
            <a:pPr algn="l">
              <a:spcAft>
                <a:spcPts val="300"/>
              </a:spcAft>
            </a:pPr>
            <a:r>
              <a:rPr sz="950" b="0" i="0">
                <a:solidFill>
                  <a:srgbClr val="1F2A44"/>
                </a:solidFill>
                <a:latin typeface="Calibri"/>
              </a:rPr>
              <a:t>• Louis Jr Robert G, Whitesides Joshua D, Kollias Theofanis F et al. Intercostal Nerve to Long Thoracic Nerve Transfer for the Treatment of Winged Scapula: A Cadaveric Feasibility Study. </a:t>
            </a:r>
            <a:r>
              <a:rPr sz="950" b="0" i="0">
                <a:solidFill>
                  <a:srgbClr val="1F2A44"/>
                </a:solidFill>
                <a:latin typeface="Calibri"/>
              </a:rPr>
              <a:t>Cureus</a:t>
            </a:r>
            <a:r>
              <a:rPr sz="950" b="0" i="0">
                <a:solidFill>
                  <a:srgbClr val="1F2A44"/>
                </a:solidFill>
                <a:latin typeface="Calibri"/>
              </a:rPr>
              <a:t> 2017. doi:10.7759/cureus.1898 – PMC5790210 – </a:t>
            </a:r>
            <a:r>
              <a:rPr sz="950" b="0" i="0">
                <a:solidFill>
                  <a:srgbClr val="1F2A44"/>
                </a:solidFill>
                <a:latin typeface="Calibri"/>
              </a:rPr>
              <a:t>CC BY</a:t>
            </a:r>
          </a:p>
          <a:p>
            <a:pPr algn="l">
              <a:spcAft>
                <a:spcPts val="300"/>
              </a:spcAft>
            </a:pPr>
            <a:r>
              <a:rPr sz="950" b="0" i="0">
                <a:solidFill>
                  <a:srgbClr val="1F2A44"/>
                </a:solidFill>
                <a:latin typeface="Calibri"/>
              </a:rPr>
              <a:t>• Su Ta-Wei, Wu Ching-Feng, Fu Jui-Ying et al. Deltoid Branch of Thoracoacromial Vein. </a:t>
            </a:r>
            <a:r>
              <a:rPr sz="950" b="0" i="0">
                <a:solidFill>
                  <a:srgbClr val="1F2A44"/>
                </a:solidFill>
                <a:latin typeface="Calibri"/>
              </a:rPr>
              <a:t>Medicine</a:t>
            </a:r>
            <a:r>
              <a:rPr sz="950" b="0" i="0">
                <a:solidFill>
                  <a:srgbClr val="1F2A44"/>
                </a:solidFill>
                <a:latin typeface="Calibri"/>
              </a:rPr>
              <a:t> 2015. doi:10.1097/MD.0000000000000728 – PMC4603045 – </a:t>
            </a:r>
            <a:r>
              <a:rPr sz="950" b="0" i="0">
                <a:solidFill>
                  <a:srgbClr val="1F2A44"/>
                </a:solidFill>
                <a:latin typeface="Calibri"/>
              </a:rPr>
              <a:t>CC BY</a:t>
            </a:r>
          </a:p>
          <a:p>
            <a:pPr algn="l">
              <a:spcAft>
                <a:spcPts val="300"/>
              </a:spcAft>
            </a:pPr>
            <a:r>
              <a:rPr sz="950" b="0" i="0">
                <a:solidFill>
                  <a:srgbClr val="1F2A44"/>
                </a:solidFill>
                <a:latin typeface="Calibri"/>
              </a:rPr>
              <a:t>• Montané-Blanchart Marta, Miguel-Pérez Maribel, Rodero-de-Lamo Lourdes et al. Variations in the Course and Diameter of the Suprascapular Nerve: Anatomical Study. </a:t>
            </a:r>
            <a:r>
              <a:rPr sz="950" b="0" i="0">
                <a:solidFill>
                  <a:srgbClr val="1F2A44"/>
                </a:solidFill>
                <a:latin typeface="Calibri"/>
              </a:rPr>
              <a:t>International Journal of Environmental Research and Public Health</a:t>
            </a:r>
            <a:r>
              <a:rPr sz="950" b="0" i="0">
                <a:solidFill>
                  <a:srgbClr val="1F2A44"/>
                </a:solidFill>
                <a:latin typeface="Calibri"/>
              </a:rPr>
              <a:t> 2022. doi:10.3390/ijerph19127065 – PMC9223225 – </a:t>
            </a:r>
            <a:r>
              <a:rPr sz="950" b="0" i="0">
                <a:solidFill>
                  <a:srgbClr val="1F2A44"/>
                </a:solidFill>
                <a:latin typeface="Calibri"/>
              </a:rPr>
              <a:t>CC BY</a:t>
            </a:r>
          </a:p>
          <a:p>
            <a:pPr algn="l">
              <a:spcAft>
                <a:spcPts val="300"/>
              </a:spcAft>
            </a:pPr>
            <a:r>
              <a:rPr sz="950" b="0" i="0">
                <a:solidFill>
                  <a:srgbClr val="1F2A44"/>
                </a:solidFill>
                <a:latin typeface="Calibri"/>
              </a:rPr>
              <a:t>• Charmode Sundip, Mehra Simmi, Kushwaha Sudhir Revisiting the Surgical Approaches to Decompression in Quadrilateral Space Syndrome: A Cadaveric Study. </a:t>
            </a:r>
            <a:r>
              <a:rPr sz="950" b="0" i="0">
                <a:solidFill>
                  <a:srgbClr val="1F2A44"/>
                </a:solidFill>
                <a:latin typeface="Calibri"/>
              </a:rPr>
              <a:t>Cureus</a:t>
            </a:r>
            <a:r>
              <a:rPr sz="950" b="0" i="0">
                <a:solidFill>
                  <a:srgbClr val="1F2A44"/>
                </a:solidFill>
                <a:latin typeface="Calibri"/>
              </a:rPr>
              <a:t> 2022. doi:10.7759/cureus.22619 – PMC8958867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(2)</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Ara Hosne, Fakoya Adegbenro O Rare Bilateral Axillary Arch With Its Novel Insertion Into the Deltoid and Unilateral Supernumerary Head of the Sternocleidomastoid Muscle in a Single Cadaver. </a:t>
            </a:r>
            <a:r>
              <a:rPr sz="950" b="0" i="0">
                <a:solidFill>
                  <a:srgbClr val="1F2A44"/>
                </a:solidFill>
                <a:latin typeface="Calibri"/>
              </a:rPr>
              <a:t>Cureus</a:t>
            </a:r>
            <a:r>
              <a:rPr sz="950" b="0" i="0">
                <a:solidFill>
                  <a:srgbClr val="1F2A44"/>
                </a:solidFill>
                <a:latin typeface="Calibri"/>
              </a:rPr>
              <a:t> 2025. doi:10.7759/cureus.85096 – PMC12206543 – </a:t>
            </a:r>
            <a:r>
              <a:rPr sz="950" b="0" i="0">
                <a:solidFill>
                  <a:srgbClr val="1F2A44"/>
                </a:solidFill>
                <a:latin typeface="Calibri"/>
              </a:rPr>
              <a:t>CC BY</a:t>
            </a:r>
          </a:p>
          <a:p>
            <a:pPr algn="l">
              <a:spcAft>
                <a:spcPts val="300"/>
              </a:spcAft>
            </a:pPr>
            <a:r>
              <a:rPr sz="950" b="0" i="0">
                <a:solidFill>
                  <a:srgbClr val="1F2A44"/>
                </a:solidFill>
                <a:latin typeface="Calibri"/>
              </a:rPr>
              <a:t>• Oza Palak P, Yung Halley C, Vaz Grace Kiran Variations in the Branching Pattern and Course of the Left Axillary Artery: A Cadaveric Case Report. </a:t>
            </a:r>
            <a:r>
              <a:rPr sz="950" b="0" i="0">
                <a:solidFill>
                  <a:srgbClr val="1F2A44"/>
                </a:solidFill>
                <a:latin typeface="Calibri"/>
              </a:rPr>
              <a:t>Cureus</a:t>
            </a:r>
            <a:r>
              <a:rPr sz="950" b="0" i="0">
                <a:solidFill>
                  <a:srgbClr val="1F2A44"/>
                </a:solidFill>
                <a:latin typeface="Calibri"/>
              </a:rPr>
              <a:t> 2023. doi:10.7759/cureus.40852 – PMC10363335 – </a:t>
            </a:r>
            <a:r>
              <a:rPr sz="950" b="0" i="0">
                <a:solidFill>
                  <a:srgbClr val="1F2A44"/>
                </a:solidFill>
                <a:latin typeface="Calibri"/>
              </a:rPr>
              <a:t>CC BY</a:t>
            </a:r>
          </a:p>
          <a:p>
            <a:pPr algn="l">
              <a:spcAft>
                <a:spcPts val="300"/>
              </a:spcAft>
            </a:pPr>
            <a:r>
              <a:rPr sz="950" b="0" i="0">
                <a:solidFill>
                  <a:srgbClr val="1F2A44"/>
                </a:solidFill>
                <a:latin typeface="Calibri"/>
              </a:rPr>
              <a:t>• Lai Kuen-Cherng, Ho Han-Chen Origin variations and brachial plexus relationship of the dorsal scapular artery. </a:t>
            </a:r>
            <a:r>
              <a:rPr sz="950" b="0" i="0">
                <a:solidFill>
                  <a:srgbClr val="1F2A44"/>
                </a:solidFill>
                <a:latin typeface="Calibri"/>
              </a:rPr>
              <a:t>Scientific Reports</a:t>
            </a:r>
            <a:r>
              <a:rPr sz="950" b="0" i="0">
                <a:solidFill>
                  <a:srgbClr val="1F2A44"/>
                </a:solidFill>
                <a:latin typeface="Calibri"/>
              </a:rPr>
              <a:t> 2023. doi:10.1038/s41598-023-35054-2 – PMC10183034 – </a:t>
            </a:r>
            <a:r>
              <a:rPr sz="950" b="0" i="0">
                <a:solidFill>
                  <a:srgbClr val="1F2A44"/>
                </a:solidFill>
                <a:latin typeface="Calibri"/>
              </a:rPr>
              <a:t>CC BY</a:t>
            </a:r>
          </a:p>
          <a:p>
            <a:pPr algn="l">
              <a:spcAft>
                <a:spcPts val="300"/>
              </a:spcAft>
            </a:pPr>
            <a:r>
              <a:rPr sz="950" b="0" i="0">
                <a:solidFill>
                  <a:srgbClr val="1F2A44"/>
                </a:solidFill>
                <a:latin typeface="Calibri"/>
              </a:rPr>
              <a:t>• Rastogi Rakhi, Budhiraja Virendra, Bansal Kshitij Posterior Cord of Brachial Plexus and Its Branches: Anatomical Variations and Clinical Implication. </a:t>
            </a:r>
            <a:r>
              <a:rPr sz="950" b="0" i="0">
                <a:solidFill>
                  <a:srgbClr val="1F2A44"/>
                </a:solidFill>
                <a:latin typeface="Calibri"/>
              </a:rPr>
              <a:t>ISRN Anatomy</a:t>
            </a:r>
            <a:r>
              <a:rPr sz="950" b="0" i="0">
                <a:solidFill>
                  <a:srgbClr val="1F2A44"/>
                </a:solidFill>
                <a:latin typeface="Calibri"/>
              </a:rPr>
              <a:t> 2013. doi:10.5402/2013/501813 – PMC4392958 – </a:t>
            </a:r>
            <a:r>
              <a:rPr sz="950" b="0" i="0">
                <a:solidFill>
                  <a:srgbClr val="1F2A44"/>
                </a:solidFill>
                <a:latin typeface="Calibri"/>
              </a:rPr>
              <a:t>CC BY</a:t>
            </a:r>
          </a:p>
          <a:p>
            <a:pPr algn="l">
              <a:spcAft>
                <a:spcPts val="300"/>
              </a:spcAft>
            </a:pPr>
            <a:r>
              <a:rPr sz="950" b="0" i="0">
                <a:solidFill>
                  <a:srgbClr val="1F2A44"/>
                </a:solidFill>
                <a:latin typeface="Calibri"/>
              </a:rPr>
              <a:t>• Siwetz Martin, Hammer Niels, Ondruschka Benjamin et al. Variations in Subscapularis Muscle Innervation—A Report on Case Series. </a:t>
            </a:r>
            <a:r>
              <a:rPr sz="950" b="0" i="0">
                <a:solidFill>
                  <a:srgbClr val="1F2A44"/>
                </a:solidFill>
                <a:latin typeface="Calibri"/>
              </a:rPr>
              <a:t>Medicina</a:t>
            </a:r>
            <a:r>
              <a:rPr sz="950" b="0" i="0">
                <a:solidFill>
                  <a:srgbClr val="1F2A44"/>
                </a:solidFill>
                <a:latin typeface="Calibri"/>
              </a:rPr>
              <a:t> 2020. doi:10.3390/medicina56100532 – PMC7601857 – </a:t>
            </a:r>
            <a:r>
              <a:rPr sz="950" b="0" i="0">
                <a:solidFill>
                  <a:srgbClr val="1F2A44"/>
                </a:solidFill>
                <a:latin typeface="Calibri"/>
              </a:rPr>
              <a:t>CC BY</a:t>
            </a:r>
          </a:p>
          <a:p>
            <a:pPr algn="l">
              <a:spcAft>
                <a:spcPts val="300"/>
              </a:spcAft>
            </a:pPr>
            <a:r>
              <a:rPr sz="950" b="0" i="0">
                <a:solidFill>
                  <a:srgbClr val="1F2A44"/>
                </a:solidFill>
                <a:latin typeface="Calibri"/>
              </a:rPr>
              <a:t>• Schwarz Gilbert M., Hirtler Lena Ectopic tendons of the pectoralis minor muscle as cause for shoulder pain and motion inhibition—Explaining clinically important variabilities through phylogenesis. </a:t>
            </a:r>
            <a:r>
              <a:rPr sz="950" b="0" i="0">
                <a:solidFill>
                  <a:srgbClr val="1F2A44"/>
                </a:solidFill>
                <a:latin typeface="Calibri"/>
              </a:rPr>
              <a:t>PLoS ONE</a:t>
            </a:r>
            <a:r>
              <a:rPr sz="950" b="0" i="0">
                <a:solidFill>
                  <a:srgbClr val="1F2A44"/>
                </a:solidFill>
                <a:latin typeface="Calibri"/>
              </a:rPr>
              <a:t> 2019. doi:10.1371/journal.pone.0218715 – PMC6588231 – </a:t>
            </a:r>
            <a:r>
              <a:rPr sz="950" b="0" i="0">
                <a:solidFill>
                  <a:srgbClr val="1F2A44"/>
                </a:solidFill>
                <a:latin typeface="Calibri"/>
              </a:rPr>
              <a:t>CC BY</a:t>
            </a:r>
          </a:p>
          <a:p>
            <a:pPr algn="l">
              <a:spcAft>
                <a:spcPts val="300"/>
              </a:spcAft>
            </a:pPr>
            <a:r>
              <a:rPr sz="950" b="0" i="0">
                <a:solidFill>
                  <a:srgbClr val="1F2A44"/>
                </a:solidFill>
                <a:latin typeface="Calibri"/>
              </a:rPr>
              <a:t>• Adewale Adesanya Olamide, Segun Okeniran Olatayo, Usman Ibe Michael et al. Morphometric study of suprascapular notch and scapular dimensions in Ugandan dry scapulae with specific reference to the incidence of completely ossified superior transverse scapular ligament. </a:t>
            </a:r>
            <a:r>
              <a:rPr sz="950" b="0" i="0">
                <a:solidFill>
                  <a:srgbClr val="1F2A44"/>
                </a:solidFill>
                <a:latin typeface="Calibri"/>
              </a:rPr>
              <a:t>BMC Musculoskeletal Disorders</a:t>
            </a:r>
            <a:r>
              <a:rPr sz="950" b="0" i="0">
                <a:solidFill>
                  <a:srgbClr val="1F2A44"/>
                </a:solidFill>
                <a:latin typeface="Calibri"/>
              </a:rPr>
              <a:t> 2020. doi:10.1186/s12891-020-03769-2 – PMC7656716 – </a:t>
            </a:r>
            <a:r>
              <a:rPr sz="950" b="0" i="0">
                <a:solidFill>
                  <a:srgbClr val="1F2A44"/>
                </a:solidFill>
                <a:latin typeface="Calibri"/>
              </a:rPr>
              <a:t>CC BY</a:t>
            </a:r>
          </a:p>
          <a:p>
            <a:pPr algn="l">
              <a:spcAft>
                <a:spcPts val="300"/>
              </a:spcAft>
            </a:pPr>
            <a:r>
              <a:rPr sz="950" b="0" i="0">
                <a:solidFill>
                  <a:srgbClr val="1F2A44"/>
                </a:solidFill>
                <a:latin typeface="Calibri"/>
              </a:rPr>
              <a:t>• Rajaram-Gilkes Mathangi, Burwell Julian, Barr Kelly et al. Bilateral Median Nerve and Brachial Artery Variations in the Arm: A Case Report. </a:t>
            </a:r>
            <a:r>
              <a:rPr sz="950" b="0" i="0">
                <a:solidFill>
                  <a:srgbClr val="1F2A44"/>
                </a:solidFill>
                <a:latin typeface="Calibri"/>
              </a:rPr>
              <a:t>Cureus</a:t>
            </a:r>
            <a:r>
              <a:rPr sz="950" b="0" i="0">
                <a:solidFill>
                  <a:srgbClr val="1F2A44"/>
                </a:solidFill>
                <a:latin typeface="Calibri"/>
              </a:rPr>
              <a:t> 2023. doi:10.7759/cureus.51350 – PMC10823296 – </a:t>
            </a:r>
            <a:r>
              <a:rPr sz="950" b="0" i="0">
                <a:solidFill>
                  <a:srgbClr val="1F2A44"/>
                </a:solidFill>
                <a:latin typeface="Calibri"/>
              </a:rPr>
              <a:t>CC BY</a:t>
            </a:r>
          </a:p>
          <a:p>
            <a:pPr algn="l">
              <a:spcAft>
                <a:spcPts val="300"/>
              </a:spcAft>
            </a:pPr>
            <a:r>
              <a:rPr sz="950" b="0" i="0">
                <a:solidFill>
                  <a:srgbClr val="1F2A44"/>
                </a:solidFill>
                <a:latin typeface="Calibri"/>
              </a:rPr>
              <a:t>• Fregnani José Humberto Tavares Guerreiro, Macéa Maria Inez Marcondes, Pereira Celina Siqueira Barbosa et al. Absence of the musculocutaneous nerve: a rare anatomical variation with possible clinical-surgical implications. </a:t>
            </a:r>
            <a:r>
              <a:rPr sz="950" b="0" i="0">
                <a:solidFill>
                  <a:srgbClr val="1F2A44"/>
                </a:solidFill>
                <a:latin typeface="Calibri"/>
              </a:rPr>
              <a:t>São Paulo Medical Journal</a:t>
            </a:r>
            <a:r>
              <a:rPr sz="950" b="0" i="0">
                <a:solidFill>
                  <a:srgbClr val="1F2A44"/>
                </a:solidFill>
                <a:latin typeface="Calibri"/>
              </a:rPr>
              <a:t> 2008. doi:10.1590/S1516-31802008000500009 – PMC11026042 – </a:t>
            </a:r>
            <a:r>
              <a:rPr sz="950" b="0" i="0">
                <a:solidFill>
                  <a:srgbClr val="1F2A44"/>
                </a:solidFill>
                <a:latin typeface="Calibri"/>
              </a:rPr>
              <a:t>CC BY</a:t>
            </a:r>
          </a:p>
          <a:p>
            <a:pPr algn="l">
              <a:spcAft>
                <a:spcPts val="300"/>
              </a:spcAft>
            </a:pPr>
            <a:r>
              <a:rPr sz="950" b="0" i="0">
                <a:solidFill>
                  <a:srgbClr val="1F2A44"/>
                </a:solidFill>
                <a:latin typeface="Calibri"/>
              </a:rPr>
              <a:t>• Piagkou Maria, Tsakotos George, Triantafyllou George et al. Coracobrachialis muscle morphology and coexisted neural variants: a cadaveric case series. </a:t>
            </a:r>
            <a:r>
              <a:rPr sz="950" b="0" i="0">
                <a:solidFill>
                  <a:srgbClr val="1F2A44"/>
                </a:solidFill>
                <a:latin typeface="Calibri"/>
              </a:rPr>
              <a:t>Surgical and Radiologic Anatomy</a:t>
            </a:r>
            <a:r>
              <a:rPr sz="950" b="0" i="0">
                <a:solidFill>
                  <a:srgbClr val="1F2A44"/>
                </a:solidFill>
                <a:latin typeface="Calibri"/>
              </a:rPr>
              <a:t> 2023. doi:10.1007/s00276-023-03207-7 – PMC10514118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(3)</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Triantafyllou George, Tsakotos George, Samolis Alexandros et al. Fenestrated Basilic Vein Traversed by a Rare Variant of the Medial Brachial Cutaneous Nerve. </a:t>
            </a:r>
            <a:r>
              <a:rPr sz="950" b="0" i="0">
                <a:solidFill>
                  <a:srgbClr val="1F2A44"/>
                </a:solidFill>
                <a:latin typeface="Calibri"/>
              </a:rPr>
              <a:t>Cureus</a:t>
            </a:r>
            <a:r>
              <a:rPr sz="950" b="0" i="0">
                <a:solidFill>
                  <a:srgbClr val="1F2A44"/>
                </a:solidFill>
                <a:latin typeface="Calibri"/>
              </a:rPr>
              <a:t> 2025. doi:10.7759/cureus.94802 – PMC12619963 – </a:t>
            </a:r>
            <a:r>
              <a:rPr sz="950" b="0" i="0">
                <a:solidFill>
                  <a:srgbClr val="1F2A44"/>
                </a:solidFill>
                <a:latin typeface="Calibri"/>
              </a:rPr>
              <a:t>CC BY</a:t>
            </a:r>
          </a:p>
          <a:p>
            <a:pPr algn="l">
              <a:spcAft>
                <a:spcPts val="300"/>
              </a:spcAft>
            </a:pPr>
            <a:r>
              <a:rPr sz="950" b="0" i="0">
                <a:solidFill>
                  <a:srgbClr val="1F2A44"/>
                </a:solidFill>
                <a:latin typeface="Calibri"/>
              </a:rPr>
              <a:t>• Sophia Laishram, Singh Darshita, Xalxo Neha et al. Upper limb arterial pattern: clinical correlation and embryological perspective. </a:t>
            </a:r>
            <a:r>
              <a:rPr sz="950" b="0" i="0">
                <a:solidFill>
                  <a:srgbClr val="1F2A44"/>
                </a:solidFill>
                <a:latin typeface="Calibri"/>
              </a:rPr>
              <a:t>Jornal Vascular Brasileiro</a:t>
            </a:r>
            <a:r>
              <a:rPr sz="950" b="0" i="0">
                <a:solidFill>
                  <a:srgbClr val="1F2A44"/>
                </a:solidFill>
                <a:latin typeface="Calibri"/>
              </a:rPr>
              <a:t> 2021. doi:10.1590/1677-5449.210008 – PMC8210643 – </a:t>
            </a:r>
            <a:r>
              <a:rPr sz="950" b="0" i="0">
                <a:solidFill>
                  <a:srgbClr val="1F2A44"/>
                </a:solidFill>
                <a:latin typeface="Calibri"/>
              </a:rPr>
              <a:t>CC BY</a:t>
            </a:r>
          </a:p>
          <a:p>
            <a:pPr algn="l">
              <a:spcAft>
                <a:spcPts val="300"/>
              </a:spcAft>
            </a:pPr>
            <a:r>
              <a:rPr sz="950" b="0" i="0">
                <a:solidFill>
                  <a:srgbClr val="1F2A44"/>
                </a:solidFill>
                <a:latin typeface="Calibri"/>
              </a:rPr>
              <a:t>• Qawasmi Feras, Qawasmi Lena, Safadi Hazem et al. Triceps aponeurosis and deltoid tuberosity as a landmarks for radial nerve dissection: a cadaveric study. </a:t>
            </a:r>
            <a:r>
              <a:rPr sz="950" b="0" i="0">
                <a:solidFill>
                  <a:srgbClr val="1F2A44"/>
                </a:solidFill>
                <a:latin typeface="Calibri"/>
              </a:rPr>
              <a:t>JSES International</a:t>
            </a:r>
            <a:r>
              <a:rPr sz="950" b="0" i="0">
                <a:solidFill>
                  <a:srgbClr val="1F2A44"/>
                </a:solidFill>
                <a:latin typeface="Calibri"/>
              </a:rPr>
              <a:t> 2024. doi:10.1016/j.jseint.2024.03.017 – PMC11401578 – </a:t>
            </a:r>
            <a:r>
              <a:rPr sz="950" b="0" i="0">
                <a:solidFill>
                  <a:srgbClr val="1F2A44"/>
                </a:solidFill>
                <a:latin typeface="Calibri"/>
              </a:rPr>
              <a:t>CC BY</a:t>
            </a:r>
          </a:p>
          <a:p>
            <a:pPr algn="l">
              <a:spcAft>
                <a:spcPts val="300"/>
              </a:spcAft>
            </a:pPr>
            <a:r>
              <a:rPr sz="950" b="0" i="0">
                <a:solidFill>
                  <a:srgbClr val="1F2A44"/>
                </a:solidFill>
                <a:latin typeface="Calibri"/>
              </a:rPr>
              <a:t>• Heo Yu-Ran, Lee Hyunsu, Lee Si-Wook et al. Supernumerary Head of the Biceps Brachii Muscle Influences the Topography of the Coracobrachialis and Biceps Brachii Muscles. </a:t>
            </a:r>
            <a:r>
              <a:rPr sz="950" b="0" i="0">
                <a:solidFill>
                  <a:srgbClr val="1F2A44"/>
                </a:solidFill>
                <a:latin typeface="Calibri"/>
              </a:rPr>
              <a:t>Medicina</a:t>
            </a:r>
            <a:r>
              <a:rPr sz="950" b="0" i="0">
                <a:solidFill>
                  <a:srgbClr val="1F2A44"/>
                </a:solidFill>
                <a:latin typeface="Calibri"/>
              </a:rPr>
              <a:t> 2024. doi:10.3390/medicina60111726 – PMC11596292 – </a:t>
            </a:r>
            <a:r>
              <a:rPr sz="950" b="0" i="0">
                <a:solidFill>
                  <a:srgbClr val="1F2A44"/>
                </a:solidFill>
                <a:latin typeface="Calibri"/>
              </a:rPr>
              <a:t>CC BY</a:t>
            </a:r>
          </a:p>
          <a:p>
            <a:pPr algn="l">
              <a:spcAft>
                <a:spcPts val="300"/>
              </a:spcAft>
            </a:pPr>
            <a:r>
              <a:rPr sz="950" b="0" i="0">
                <a:solidFill>
                  <a:srgbClr val="1F2A44"/>
                </a:solidFill>
                <a:latin typeface="Calibri"/>
              </a:rPr>
              <a:t>• Nasr Ashraf Youssef, Youssef Rawan Ashraf Morphological classification, anatomical variations, innervation patterns, musculocutaneous nerve relation of the coracobrachialis muscle: anatomical study and clinical significance. </a:t>
            </a:r>
            <a:r>
              <a:rPr sz="950" b="0" i="0">
                <a:solidFill>
                  <a:srgbClr val="1F2A44"/>
                </a:solidFill>
                <a:latin typeface="Calibri"/>
              </a:rPr>
              <a:t>Anatomy &amp; Cell Biology</a:t>
            </a:r>
            <a:r>
              <a:rPr sz="950" b="0" i="0">
                <a:solidFill>
                  <a:srgbClr val="1F2A44"/>
                </a:solidFill>
                <a:latin typeface="Calibri"/>
              </a:rPr>
              <a:t> 2024. doi:10.5115/acb.24.032 – PMC11184416 – </a:t>
            </a:r>
            <a:r>
              <a:rPr sz="950" b="0" i="0">
                <a:solidFill>
                  <a:srgbClr val="1F2A44"/>
                </a:solidFill>
                <a:latin typeface="Calibri"/>
              </a:rPr>
              <a:t>CC BY-NC</a:t>
            </a:r>
          </a:p>
          <a:p>
            <a:pPr algn="l">
              <a:spcAft>
                <a:spcPts val="300"/>
              </a:spcAft>
            </a:pPr>
            <a:r>
              <a:rPr sz="950" b="0" i="0">
                <a:solidFill>
                  <a:srgbClr val="1F2A44"/>
                </a:solidFill>
                <a:latin typeface="Calibri"/>
              </a:rPr>
              <a:t>• Caetano Edie Benedito, Vieira Luiz Ângelo, Cavalheiro Cristina Schmitt et al. ANATOMIC STUDY OF THE NERVOUS COMMUNICATION BETWEEN THE MEDIAN AND MUSCULOUCUTANEOUS NERVE. </a:t>
            </a:r>
            <a:r>
              <a:rPr sz="950" b="0" i="0">
                <a:solidFill>
                  <a:srgbClr val="1F2A44"/>
                </a:solidFill>
                <a:latin typeface="Calibri"/>
              </a:rPr>
              <a:t>Acta Ortopedica Brasileira</a:t>
            </a:r>
            <a:r>
              <a:rPr sz="950" b="0" i="0">
                <a:solidFill>
                  <a:srgbClr val="1F2A44"/>
                </a:solidFill>
                <a:latin typeface="Calibri"/>
              </a:rPr>
              <a:t> 2016. doi:10.1590/1413-785220162404159372 – PMC5035692 – </a:t>
            </a:r>
            <a:r>
              <a:rPr sz="950" b="0" i="0">
                <a:solidFill>
                  <a:srgbClr val="1F2A44"/>
                </a:solidFill>
                <a:latin typeface="Calibri"/>
              </a:rPr>
              <a:t>CC BY</a:t>
            </a:r>
          </a:p>
          <a:p>
            <a:pPr algn="l">
              <a:spcAft>
                <a:spcPts val="300"/>
              </a:spcAft>
            </a:pPr>
            <a:r>
              <a:rPr sz="950" b="0" i="0">
                <a:solidFill>
                  <a:srgbClr val="1F2A44"/>
                </a:solidFill>
                <a:latin typeface="Calibri"/>
              </a:rPr>
              <a:t>• Koutserimpas Christos, Tsakotos George, Piagkou Maria et al. The Coexistence of the Superficial Brachial Artery With the Common Origin of the Posterior Circumflex Humeral Artery and the Deep Brachial Artery. </a:t>
            </a:r>
            <a:r>
              <a:rPr sz="950" b="0" i="0">
                <a:solidFill>
                  <a:srgbClr val="1F2A44"/>
                </a:solidFill>
                <a:latin typeface="Calibri"/>
              </a:rPr>
              <a:t>Cureus</a:t>
            </a:r>
            <a:r>
              <a:rPr sz="950" b="0" i="0">
                <a:solidFill>
                  <a:srgbClr val="1F2A44"/>
                </a:solidFill>
                <a:latin typeface="Calibri"/>
              </a:rPr>
              <a:t> 2023. doi:10.7759/cureus.45903 – PMC10599095 – </a:t>
            </a:r>
            <a:r>
              <a:rPr sz="950" b="0" i="0">
                <a:solidFill>
                  <a:srgbClr val="1F2A44"/>
                </a:solidFill>
                <a:latin typeface="Calibri"/>
              </a:rPr>
              <a:t>CC BY</a:t>
            </a:r>
          </a:p>
          <a:p>
            <a:pPr algn="l">
              <a:spcAft>
                <a:spcPts val="300"/>
              </a:spcAft>
            </a:pPr>
            <a:r>
              <a:rPr sz="950" b="0" i="0">
                <a:solidFill>
                  <a:srgbClr val="1F2A44"/>
                </a:solidFill>
                <a:latin typeface="Calibri"/>
              </a:rPr>
              <a:t>• Jangir Kanchan, Singh Brij Raj, Nair Nancy et al. An Unusual High Bifurcation of the Brachial Artery: A Cadaveric Case Report. </a:t>
            </a:r>
            <a:r>
              <a:rPr sz="950" b="0" i="0">
                <a:solidFill>
                  <a:srgbClr val="1F2A44"/>
                </a:solidFill>
                <a:latin typeface="Calibri"/>
              </a:rPr>
              <a:t>Cureus</a:t>
            </a:r>
            <a:r>
              <a:rPr sz="950" b="0" i="0">
                <a:solidFill>
                  <a:srgbClr val="1F2A44"/>
                </a:solidFill>
                <a:latin typeface="Calibri"/>
              </a:rPr>
              <a:t> 2024. doi:10.7759/cureus.55681 – PMC10997832 – </a:t>
            </a:r>
            <a:r>
              <a:rPr sz="950" b="0" i="0">
                <a:solidFill>
                  <a:srgbClr val="1F2A44"/>
                </a:solidFill>
                <a:latin typeface="Calibri"/>
              </a:rPr>
              <a:t>CC BY</a:t>
            </a:r>
          </a:p>
          <a:p>
            <a:pPr algn="l">
              <a:spcAft>
                <a:spcPts val="300"/>
              </a:spcAft>
            </a:pPr>
            <a:r>
              <a:rPr sz="950" b="0" i="0">
                <a:solidFill>
                  <a:srgbClr val="1F2A44"/>
                </a:solidFill>
                <a:latin typeface="Calibri"/>
              </a:rPr>
              <a:t>• Haładaj Robert, Wysiadecki Grzegorz, Dudkiewicz Zbigniew et al. The High Origin of the Radial Artery (Brachioradial Artery): Its Anatomical Variations, Clinical Significance, and Contribution to the Blood Supply of the Hand. </a:t>
            </a:r>
            <a:r>
              <a:rPr sz="950" b="0" i="0">
                <a:solidFill>
                  <a:srgbClr val="1F2A44"/>
                </a:solidFill>
                <a:latin typeface="Calibri"/>
              </a:rPr>
              <a:t>BioMed Research International</a:t>
            </a:r>
            <a:r>
              <a:rPr sz="950" b="0" i="0">
                <a:solidFill>
                  <a:srgbClr val="1F2A44"/>
                </a:solidFill>
                <a:latin typeface="Calibri"/>
              </a:rPr>
              <a:t> 2018. doi:10.1155/2018/1520929 – PMC6016218 – </a:t>
            </a:r>
            <a:r>
              <a:rPr sz="950" b="0" i="0">
                <a:solidFill>
                  <a:srgbClr val="1F2A44"/>
                </a:solidFill>
                <a:latin typeface="Calibri"/>
              </a:rPr>
              <a:t>CC BY</a:t>
            </a:r>
          </a:p>
          <a:p>
            <a:pPr algn="l">
              <a:spcAft>
                <a:spcPts val="300"/>
              </a:spcAft>
            </a:pPr>
            <a:r>
              <a:rPr sz="950" b="0" i="0">
                <a:solidFill>
                  <a:srgbClr val="1F2A44"/>
                </a:solidFill>
                <a:latin typeface="Calibri"/>
              </a:rPr>
              <a:t>• Caetano Edie Benedito, Sabongi João José, Vieira Luiz Angelo et al. STRUTHERS’ LIGAMENT AND SUPRACONDYLAR HUMERAL PROCESS: AN ANATOMICAL STUDY AND CLINICAL IMPLICATIONS. </a:t>
            </a:r>
            <a:r>
              <a:rPr sz="950" b="0" i="0">
                <a:solidFill>
                  <a:srgbClr val="1F2A44"/>
                </a:solidFill>
                <a:latin typeface="Calibri"/>
              </a:rPr>
              <a:t>Acta Ortopedica Brasileira</a:t>
            </a:r>
            <a:r>
              <a:rPr sz="950" b="0" i="0">
                <a:solidFill>
                  <a:srgbClr val="1F2A44"/>
                </a:solidFill>
                <a:latin typeface="Calibri"/>
              </a:rPr>
              <a:t> 2017. doi:10.1590/1413-785220172504168330 – PMC5608727 – </a:t>
            </a:r>
            <a:r>
              <a:rPr sz="950" b="0" i="0">
                <a:solidFill>
                  <a:srgbClr val="1F2A44"/>
                </a:solidFill>
                <a:latin typeface="Calibri"/>
              </a:rPr>
              <a:t>CC BY-NC</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(4)</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Elhossiny Asem H, Bakir Mohamad, Dawalibi Ahmad et al. Persistent Median Artery, Bifid Median Nerve, and Reversed Palmaris Longus Encountered During Cadaveric Dissection: The First Reported Case. </a:t>
            </a:r>
            <a:r>
              <a:rPr sz="950" b="0" i="0">
                <a:solidFill>
                  <a:srgbClr val="1F2A44"/>
                </a:solidFill>
                <a:latin typeface="Calibri"/>
              </a:rPr>
              <a:t>Cureus</a:t>
            </a:r>
            <a:r>
              <a:rPr sz="950" b="0" i="0">
                <a:solidFill>
                  <a:srgbClr val="1F2A44"/>
                </a:solidFill>
                <a:latin typeface="Calibri"/>
              </a:rPr>
              <a:t> 2023. doi:10.7759/cureus.40324 – PMC10343151 – </a:t>
            </a:r>
            <a:r>
              <a:rPr sz="950" b="0" i="0">
                <a:solidFill>
                  <a:srgbClr val="1F2A44"/>
                </a:solidFill>
                <a:latin typeface="Calibri"/>
              </a:rPr>
              <a:t>CC BY</a:t>
            </a:r>
          </a:p>
          <a:p>
            <a:pPr algn="l">
              <a:spcAft>
                <a:spcPts val="300"/>
              </a:spcAft>
            </a:pPr>
            <a:r>
              <a:rPr sz="950" b="0" i="0">
                <a:solidFill>
                  <a:srgbClr val="1F2A44"/>
                </a:solidFill>
                <a:latin typeface="Calibri"/>
              </a:rPr>
              <a:t>• Qawasmi Feras, Goss Mark, Shweiki Fadi et al. Anatomical considerations for safe retractor placement in distal biceps repair: a cadaveric study of the posterior interosseous nerve. </a:t>
            </a:r>
            <a:r>
              <a:rPr sz="950" b="0" i="0">
                <a:solidFill>
                  <a:srgbClr val="1F2A44"/>
                </a:solidFill>
                <a:latin typeface="Calibri"/>
              </a:rPr>
              <a:t>Surgical and Radiologic Anatomy</a:t>
            </a:r>
            <a:r>
              <a:rPr sz="950" b="0" i="0">
                <a:solidFill>
                  <a:srgbClr val="1F2A44"/>
                </a:solidFill>
                <a:latin typeface="Calibri"/>
              </a:rPr>
              <a:t> 2025. doi:10.1007/s00276-025-03728-3 – PMC12500735 – </a:t>
            </a:r>
            <a:r>
              <a:rPr sz="950" b="0" i="0">
                <a:solidFill>
                  <a:srgbClr val="1F2A44"/>
                </a:solidFill>
                <a:latin typeface="Calibri"/>
              </a:rPr>
              <a:t>CC BY</a:t>
            </a:r>
          </a:p>
          <a:p>
            <a:pPr algn="l">
              <a:spcAft>
                <a:spcPts val="300"/>
              </a:spcAft>
            </a:pPr>
            <a:r>
              <a:rPr sz="950" b="0" i="0">
                <a:solidFill>
                  <a:srgbClr val="1F2A44"/>
                </a:solidFill>
                <a:latin typeface="Calibri"/>
              </a:rPr>
              <a:t>• Behiery Ayman, Bakir Mohamad, Dawalibi Ahmad et al. Reversed Palmaris Longus: A Rare Anatomical Phenomenon Discovered. </a:t>
            </a:r>
            <a:r>
              <a:rPr sz="950" b="0" i="0">
                <a:solidFill>
                  <a:srgbClr val="1F2A44"/>
                </a:solidFill>
                <a:latin typeface="Calibri"/>
              </a:rPr>
              <a:t>Cureus</a:t>
            </a:r>
            <a:r>
              <a:rPr sz="950" b="0" i="0">
                <a:solidFill>
                  <a:srgbClr val="1F2A44"/>
                </a:solidFill>
                <a:latin typeface="Calibri"/>
              </a:rPr>
              <a:t> 2023. doi:10.7759/cureus.38424 – PMC10235925 – </a:t>
            </a:r>
            <a:r>
              <a:rPr sz="950" b="0" i="0">
                <a:solidFill>
                  <a:srgbClr val="1F2A44"/>
                </a:solidFill>
                <a:latin typeface="Calibri"/>
              </a:rPr>
              <a:t>CC BY</a:t>
            </a:r>
          </a:p>
          <a:p>
            <a:pPr algn="l">
              <a:spcAft>
                <a:spcPts val="300"/>
              </a:spcAft>
            </a:pPr>
            <a:r>
              <a:rPr sz="950" b="0" i="0">
                <a:solidFill>
                  <a:srgbClr val="1F2A44"/>
                </a:solidFill>
                <a:latin typeface="Calibri"/>
              </a:rPr>
              <a:t>• Hoshika Shota, Nimura Akimoto, Yamaguchi Reiko et al. Medial elbow anatomy: A paradigm shift for UCL injury prevention and management. </a:t>
            </a:r>
            <a:r>
              <a:rPr sz="950" b="0" i="0">
                <a:solidFill>
                  <a:srgbClr val="1F2A44"/>
                </a:solidFill>
                <a:latin typeface="Calibri"/>
              </a:rPr>
              <a:t>Clinical Anatomy (New York, N.y.)</a:t>
            </a:r>
            <a:r>
              <a:rPr sz="950" b="0" i="0">
                <a:solidFill>
                  <a:srgbClr val="1F2A44"/>
                </a:solidFill>
                <a:latin typeface="Calibri"/>
              </a:rPr>
              <a:t> 2019. doi:10.1002/ca.23322 – PMC6850211 – </a:t>
            </a:r>
            <a:r>
              <a:rPr sz="950" b="0" i="0">
                <a:solidFill>
                  <a:srgbClr val="1F2A44"/>
                </a:solidFill>
                <a:latin typeface="Calibri"/>
              </a:rPr>
              <a:t>CC BY</a:t>
            </a:r>
          </a:p>
          <a:p>
            <a:pPr algn="l">
              <a:spcAft>
                <a:spcPts val="300"/>
              </a:spcAft>
            </a:pPr>
            <a:r>
              <a:rPr sz="950" b="0" i="0">
                <a:solidFill>
                  <a:srgbClr val="1F2A44"/>
                </a:solidFill>
                <a:latin typeface="Calibri"/>
              </a:rPr>
              <a:t>• Walch Arnaud, Despert Hugo, Jubelin Clément et al. Risk of anterior interosseous nerve injury during forearm surgery: a cadaveric study. </a:t>
            </a:r>
            <a:r>
              <a:rPr sz="950" b="0" i="0">
                <a:solidFill>
                  <a:srgbClr val="1F2A44"/>
                </a:solidFill>
                <a:latin typeface="Calibri"/>
              </a:rPr>
              <a:t>European Journal of Trauma and Emergency Surgery</a:t>
            </a:r>
            <a:r>
              <a:rPr sz="950" b="0" i="0">
                <a:solidFill>
                  <a:srgbClr val="1F2A44"/>
                </a:solidFill>
                <a:latin typeface="Calibri"/>
              </a:rPr>
              <a:t> 2025. doi:10.1007/s00068-025-02869-9 – PMC12055948 – </a:t>
            </a:r>
            <a:r>
              <a:rPr sz="950" b="0" i="0">
                <a:solidFill>
                  <a:srgbClr val="1F2A44"/>
                </a:solidFill>
                <a:latin typeface="Calibri"/>
              </a:rPr>
              <a:t>CC BY</a:t>
            </a:r>
          </a:p>
          <a:p>
            <a:pPr algn="l">
              <a:spcAft>
                <a:spcPts val="300"/>
              </a:spcAft>
            </a:pPr>
            <a:r>
              <a:rPr sz="950" b="0" i="0">
                <a:solidFill>
                  <a:srgbClr val="1F2A44"/>
                </a:solidFill>
                <a:latin typeface="Calibri"/>
              </a:rPr>
              <a:t>• Granger Andre, Sardi Juan P, Iwanaga Joe et al. Osborne’s Ligament: A Review of its History, Anatomy, and Surgical Importance. </a:t>
            </a:r>
            <a:r>
              <a:rPr sz="950" b="0" i="0">
                <a:solidFill>
                  <a:srgbClr val="1F2A44"/>
                </a:solidFill>
                <a:latin typeface="Calibri"/>
              </a:rPr>
              <a:t>Cureus</a:t>
            </a:r>
            <a:r>
              <a:rPr sz="950" b="0" i="0">
                <a:solidFill>
                  <a:srgbClr val="1F2A44"/>
                </a:solidFill>
                <a:latin typeface="Calibri"/>
              </a:rPr>
              <a:t> 2017. doi:10.7759/cureus.1080 – PMC5383373 – </a:t>
            </a:r>
            <a:r>
              <a:rPr sz="950" b="0" i="0">
                <a:solidFill>
                  <a:srgbClr val="1F2A44"/>
                </a:solidFill>
                <a:latin typeface="Calibri"/>
              </a:rPr>
              <a:t>CC BY</a:t>
            </a:r>
          </a:p>
          <a:p>
            <a:pPr algn="l">
              <a:spcAft>
                <a:spcPts val="300"/>
              </a:spcAft>
            </a:pPr>
            <a:r>
              <a:rPr sz="950" b="0" i="0">
                <a:solidFill>
                  <a:srgbClr val="1F2A44"/>
                </a:solidFill>
                <a:latin typeface="Calibri"/>
              </a:rPr>
              <a:t>• Carrillo Fabio, Suter Simon, Casari Fabio A. et al. Digitalization of the IOM: A comprehensive cadaveric study for obtaining three-dimensional models and morphological properties of the forearm’s interosseous membrane. </a:t>
            </a:r>
            <a:r>
              <a:rPr sz="950" b="0" i="0">
                <a:solidFill>
                  <a:srgbClr val="1F2A44"/>
                </a:solidFill>
                <a:latin typeface="Calibri"/>
              </a:rPr>
              <a:t>Scientific Reports</a:t>
            </a:r>
            <a:r>
              <a:rPr sz="950" b="0" i="0">
                <a:solidFill>
                  <a:srgbClr val="1F2A44"/>
                </a:solidFill>
                <a:latin typeface="Calibri"/>
              </a:rPr>
              <a:t> 2020. doi:10.1038/s41598-020-63436-3 – PMC7156465 – </a:t>
            </a:r>
            <a:r>
              <a:rPr sz="950" b="0" i="0">
                <a:solidFill>
                  <a:srgbClr val="1F2A44"/>
                </a:solidFill>
                <a:latin typeface="Calibri"/>
              </a:rPr>
              <a:t>CC BY</a:t>
            </a:r>
          </a:p>
          <a:p>
            <a:pPr algn="l">
              <a:spcAft>
                <a:spcPts val="300"/>
              </a:spcAft>
            </a:pPr>
            <a:r>
              <a:rPr sz="950" b="0" i="0">
                <a:solidFill>
                  <a:srgbClr val="1F2A44"/>
                </a:solidFill>
                <a:latin typeface="Calibri"/>
              </a:rPr>
              <a:t>• Coello Maria Amelia, Coomar Lokesh A., Campbell Meadow A Unique Bilateral Variation of the Extensor Carpi Radialis Longus: A Case Report. </a:t>
            </a:r>
            <a:r>
              <a:rPr sz="950" b="0" i="0">
                <a:solidFill>
                  <a:srgbClr val="1F2A44"/>
                </a:solidFill>
                <a:latin typeface="Calibri"/>
              </a:rPr>
              <a:t>Journal of Functional Morphology and Kinesiology</a:t>
            </a:r>
            <a:r>
              <a:rPr sz="950" b="0" i="0">
                <a:solidFill>
                  <a:srgbClr val="1F2A44"/>
                </a:solidFill>
                <a:latin typeface="Calibri"/>
              </a:rPr>
              <a:t> 2024. doi:10.3390/jfmk9030109 – PMC11270274 – </a:t>
            </a:r>
            <a:r>
              <a:rPr sz="950" b="0" i="0">
                <a:solidFill>
                  <a:srgbClr val="1F2A44"/>
                </a:solidFill>
                <a:latin typeface="Calibri"/>
              </a:rPr>
              <a:t>CC BY</a:t>
            </a:r>
          </a:p>
          <a:p>
            <a:pPr algn="l">
              <a:spcAft>
                <a:spcPts val="300"/>
              </a:spcAft>
            </a:pPr>
            <a:r>
              <a:rPr sz="950" b="0" i="0">
                <a:solidFill>
                  <a:srgbClr val="1F2A44"/>
                </a:solidFill>
                <a:latin typeface="Calibri"/>
              </a:rPr>
              <a:t>• Cha Jeon, York Blair, Tawfik John Posterior Interosseous Nerve Compression. </a:t>
            </a:r>
            <a:r>
              <a:rPr sz="950" b="0" i="0">
                <a:solidFill>
                  <a:srgbClr val="1F2A44"/>
                </a:solidFill>
                <a:latin typeface="Calibri"/>
              </a:rPr>
              <a:t>Eplasty</a:t>
            </a:r>
            <a:r>
              <a:rPr sz="950" b="0" i="0">
                <a:solidFill>
                  <a:srgbClr val="1F2A44"/>
                </a:solidFill>
                <a:latin typeface="Calibri"/>
              </a:rPr>
              <a:t> 2014. doi:None – PMC3919107 – </a:t>
            </a:r>
            <a:r>
              <a:rPr sz="950" b="0" i="0">
                <a:solidFill>
                  <a:srgbClr val="1F2A44"/>
                </a:solidFill>
                <a:latin typeface="Calibri"/>
              </a:rPr>
              <a:t>CC BY</a:t>
            </a:r>
          </a:p>
          <a:p>
            <a:pPr algn="l">
              <a:spcAft>
                <a:spcPts val="300"/>
              </a:spcAft>
            </a:pPr>
            <a:r>
              <a:rPr sz="950" b="0" i="0">
                <a:solidFill>
                  <a:srgbClr val="1F2A44"/>
                </a:solidFill>
                <a:latin typeface="Calibri"/>
              </a:rPr>
              <a:t>• Węgiel Andrzej, Karauda Piotr, Zielinska Nicol et al. Radial nerve compression: anatomical perspective and clinical consequences. </a:t>
            </a:r>
            <a:r>
              <a:rPr sz="950" b="0" i="0">
                <a:solidFill>
                  <a:srgbClr val="1F2A44"/>
                </a:solidFill>
                <a:latin typeface="Calibri"/>
              </a:rPr>
              <a:t>Neurosurgical Review</a:t>
            </a:r>
            <a:r>
              <a:rPr sz="950" b="0" i="0">
                <a:solidFill>
                  <a:srgbClr val="1F2A44"/>
                </a:solidFill>
                <a:latin typeface="Calibri"/>
              </a:rPr>
              <a:t> 2023. doi:10.1007/s10143-023-01944-2 – PMC9925568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(5)</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Olewnik Łukasz, Podgórski Michał, Polguj Michał et al. Anatomical variations of the pronator teres muscle in a Central European population and its clinical significance. </a:t>
            </a:r>
            <a:r>
              <a:rPr sz="950" b="0" i="0">
                <a:solidFill>
                  <a:srgbClr val="1F2A44"/>
                </a:solidFill>
                <a:latin typeface="Calibri"/>
              </a:rPr>
              <a:t>Anatomical Science International</a:t>
            </a:r>
            <a:r>
              <a:rPr sz="950" b="0" i="0">
                <a:solidFill>
                  <a:srgbClr val="1F2A44"/>
                </a:solidFill>
                <a:latin typeface="Calibri"/>
              </a:rPr>
              <a:t> 2017. doi:10.1007/s12565-017-0413-y – PMC5797209 – </a:t>
            </a:r>
            <a:r>
              <a:rPr sz="950" b="0" i="0">
                <a:solidFill>
                  <a:srgbClr val="1F2A44"/>
                </a:solidFill>
                <a:latin typeface="Calibri"/>
              </a:rPr>
              <a:t>CC BY</a:t>
            </a:r>
          </a:p>
          <a:p>
            <a:pPr algn="l">
              <a:spcAft>
                <a:spcPts val="300"/>
              </a:spcAft>
            </a:pPr>
            <a:r>
              <a:rPr sz="950" b="0" i="0">
                <a:solidFill>
                  <a:srgbClr val="1F2A44"/>
                </a:solidFill>
                <a:latin typeface="Calibri"/>
              </a:rPr>
              <a:t>• Miguel-Pérez Maribel, Ortiz-Miguel Sara, Martínez Ana et al. Superficial Arterial Variants of the Upper Limb: Clinical Implications of High-Origin Ulnar and Radial Arteries Detected by Ultrasound and Anatomy Study. </a:t>
            </a:r>
            <a:r>
              <a:rPr sz="950" b="0" i="0">
                <a:solidFill>
                  <a:srgbClr val="1F2A44"/>
                </a:solidFill>
                <a:latin typeface="Calibri"/>
              </a:rPr>
              <a:t>Journal of Functional Morphology and Kinesiology</a:t>
            </a:r>
            <a:r>
              <a:rPr sz="950" b="0" i="0">
                <a:solidFill>
                  <a:srgbClr val="1F2A44"/>
                </a:solidFill>
                <a:latin typeface="Calibri"/>
              </a:rPr>
              <a:t> 2025. doi:10.3390/jfmk10030246 – PMC12286150 – </a:t>
            </a:r>
            <a:r>
              <a:rPr sz="950" b="0" i="0">
                <a:solidFill>
                  <a:srgbClr val="1F2A44"/>
                </a:solidFill>
                <a:latin typeface="Calibri"/>
              </a:rPr>
              <a:t>CC BY</a:t>
            </a:r>
          </a:p>
          <a:p>
            <a:pPr algn="l">
              <a:spcAft>
                <a:spcPts val="300"/>
              </a:spcAft>
            </a:pPr>
            <a:r>
              <a:rPr sz="950" b="0" i="0">
                <a:solidFill>
                  <a:srgbClr val="1F2A44"/>
                </a:solidFill>
                <a:latin typeface="Calibri"/>
              </a:rPr>
              <a:t>• Casteel Andrew T, McNees Braden R, Iwanaga Joe et al. An Anatomical Variation of the Anconeus Epitrochlearis Muscle: A Case Report. </a:t>
            </a:r>
            <a:r>
              <a:rPr sz="950" b="0" i="0">
                <a:solidFill>
                  <a:srgbClr val="1F2A44"/>
                </a:solidFill>
                <a:latin typeface="Calibri"/>
              </a:rPr>
              <a:t>Cureus</a:t>
            </a:r>
            <a:r>
              <a:rPr sz="950" b="0" i="0">
                <a:solidFill>
                  <a:srgbClr val="1F2A44"/>
                </a:solidFill>
                <a:latin typeface="Calibri"/>
              </a:rPr>
              <a:t> 2025. doi:10.7759/cureus.88743 – PMC12375367 – </a:t>
            </a:r>
            <a:r>
              <a:rPr sz="950" b="0" i="0">
                <a:solidFill>
                  <a:srgbClr val="1F2A44"/>
                </a:solidFill>
                <a:latin typeface="Calibri"/>
              </a:rPr>
              <a:t>CC BY</a:t>
            </a:r>
          </a:p>
          <a:p>
            <a:pPr algn="l">
              <a:spcAft>
                <a:spcPts val="300"/>
              </a:spcAft>
            </a:pPr>
            <a:r>
              <a:rPr sz="950" b="0" i="0">
                <a:solidFill>
                  <a:srgbClr val="1F2A44"/>
                </a:solidFill>
                <a:latin typeface="Calibri"/>
              </a:rPr>
              <a:t>• Seth Suryakanta, Sangma Sarah S, Sahni Chetan et al. Persistent Median Arteries: A Cadaveric Study of Prevalence, Variants, and Clinical Relevance. </a:t>
            </a:r>
            <a:r>
              <a:rPr sz="950" b="0" i="0">
                <a:solidFill>
                  <a:srgbClr val="1F2A44"/>
                </a:solidFill>
                <a:latin typeface="Calibri"/>
              </a:rPr>
              <a:t>Cureus</a:t>
            </a:r>
            <a:r>
              <a:rPr sz="950" b="0" i="0">
                <a:solidFill>
                  <a:srgbClr val="1F2A44"/>
                </a:solidFill>
                <a:latin typeface="Calibri"/>
              </a:rPr>
              <a:t> 2026. doi:10.7759/cureus.101320 – PMC12892004 – </a:t>
            </a:r>
            <a:r>
              <a:rPr sz="950" b="0" i="0">
                <a:solidFill>
                  <a:srgbClr val="1F2A44"/>
                </a:solidFill>
                <a:latin typeface="Calibri"/>
              </a:rPr>
              <a:t>CC BY</a:t>
            </a:r>
          </a:p>
          <a:p>
            <a:pPr algn="l">
              <a:spcAft>
                <a:spcPts val="300"/>
              </a:spcAft>
            </a:pPr>
            <a:r>
              <a:rPr sz="950" b="0" i="0">
                <a:solidFill>
                  <a:srgbClr val="1F2A44"/>
                </a:solidFill>
                <a:latin typeface="Calibri"/>
              </a:rPr>
              <a:t>• Sawyer F. Kip, Stefanik Joshua J., Lufler Rebecca S. The Branching and Innervation Pattern of the Radial Nerve in the Forearm: Clarifying the Literature and Understanding Variations and Their Clinical Implications. </a:t>
            </a:r>
            <a:r>
              <a:rPr sz="950" b="0" i="0">
                <a:solidFill>
                  <a:srgbClr val="1F2A44"/>
                </a:solidFill>
                <a:latin typeface="Calibri"/>
              </a:rPr>
              <a:t>Diagnostics</a:t>
            </a:r>
            <a:r>
              <a:rPr sz="950" b="0" i="0">
                <a:solidFill>
                  <a:srgbClr val="1F2A44"/>
                </a:solidFill>
                <a:latin typeface="Calibri"/>
              </a:rPr>
              <a:t> 2020. doi:10.3390/diagnostics10060366 – PMC7345276 – </a:t>
            </a:r>
            <a:r>
              <a:rPr sz="950" b="0" i="0">
                <a:solidFill>
                  <a:srgbClr val="1F2A44"/>
                </a:solidFill>
                <a:latin typeface="Calibri"/>
              </a:rPr>
              <a:t>CC BY</a:t>
            </a:r>
          </a:p>
          <a:p>
            <a:pPr algn="l">
              <a:spcAft>
                <a:spcPts val="300"/>
              </a:spcAft>
            </a:pPr>
            <a:r>
              <a:rPr sz="950" b="0" i="0">
                <a:solidFill>
                  <a:srgbClr val="1F2A44"/>
                </a:solidFill>
                <a:latin typeface="Calibri"/>
              </a:rPr>
              <a:t>• Tran Paul, Bennett Dallas, Mendoza Mathew et al. A Cadaveric Study of the Martin-Gruber Anastomosis Morphology. </a:t>
            </a:r>
            <a:r>
              <a:rPr sz="950" b="0" i="0">
                <a:solidFill>
                  <a:srgbClr val="1F2A44"/>
                </a:solidFill>
                <a:latin typeface="Calibri"/>
              </a:rPr>
              <a:t>Cureus</a:t>
            </a:r>
            <a:r>
              <a:rPr sz="950" b="0" i="0">
                <a:solidFill>
                  <a:srgbClr val="1F2A44"/>
                </a:solidFill>
                <a:latin typeface="Calibri"/>
              </a:rPr>
              <a:t> 2025. doi:10.7759/cureus.78139 – PMC11867591 – </a:t>
            </a:r>
            <a:r>
              <a:rPr sz="950" b="0" i="0">
                <a:solidFill>
                  <a:srgbClr val="1F2A44"/>
                </a:solidFill>
                <a:latin typeface="Calibri"/>
              </a:rPr>
              <a:t>CC BY</a:t>
            </a:r>
          </a:p>
          <a:p>
            <a:pPr algn="l">
              <a:spcAft>
                <a:spcPts val="300"/>
              </a:spcAft>
            </a:pPr>
            <a:r>
              <a:rPr sz="950" b="0" i="0">
                <a:solidFill>
                  <a:srgbClr val="1F2A44"/>
                </a:solidFill>
                <a:latin typeface="Calibri"/>
              </a:rPr>
              <a:t>• Roy Joyeeta, Henry Brandon M., Pękala Przemysław A. et al. The prevalence and anatomical characteristics of the accessory head of the flexor pollicis longus muscle: a meta-analysis. </a:t>
            </a:r>
            <a:r>
              <a:rPr sz="950" b="0" i="0">
                <a:solidFill>
                  <a:srgbClr val="1F2A44"/>
                </a:solidFill>
                <a:latin typeface="Calibri"/>
              </a:rPr>
              <a:t>PeerJ</a:t>
            </a:r>
            <a:r>
              <a:rPr sz="950" b="0" i="0">
                <a:solidFill>
                  <a:srgbClr val="1F2A44"/>
                </a:solidFill>
                <a:latin typeface="Calibri"/>
              </a:rPr>
              <a:t> 2015. doi:10.7717/peerj.1255 – PMC4636409 – </a:t>
            </a:r>
            <a:r>
              <a:rPr sz="950" b="0" i="0">
                <a:solidFill>
                  <a:srgbClr val="1F2A44"/>
                </a:solidFill>
                <a:latin typeface="Calibri"/>
              </a:rPr>
              <a:t>CC BY</a:t>
            </a:r>
          </a:p>
          <a:p>
            <a:pPr algn="l">
              <a:spcAft>
                <a:spcPts val="300"/>
              </a:spcAft>
            </a:pPr>
            <a:r>
              <a:rPr sz="950" b="0" i="0">
                <a:solidFill>
                  <a:srgbClr val="1F2A44"/>
                </a:solidFill>
                <a:latin typeface="Calibri"/>
              </a:rPr>
              <a:t>• Longhurst Georga, Stone Danya, Mahony Nick Bilateral reversed palmaris longus muscle: a case report and systematic literature review. </a:t>
            </a:r>
            <a:r>
              <a:rPr sz="950" b="0" i="0">
                <a:solidFill>
                  <a:srgbClr val="1F2A44"/>
                </a:solidFill>
                <a:latin typeface="Calibri"/>
              </a:rPr>
              <a:t>Surgical and Radiologic Anatomy</a:t>
            </a:r>
            <a:r>
              <a:rPr sz="950" b="0" i="0">
                <a:solidFill>
                  <a:srgbClr val="1F2A44"/>
                </a:solidFill>
                <a:latin typeface="Calibri"/>
              </a:rPr>
              <a:t> 2019. doi:10.1007/s00276-019-02363-z – PMC7033050 – </a:t>
            </a:r>
            <a:r>
              <a:rPr sz="950" b="0" i="0">
                <a:solidFill>
                  <a:srgbClr val="1F2A44"/>
                </a:solidFill>
                <a:latin typeface="Calibri"/>
              </a:rPr>
              <a:t>CC BY</a:t>
            </a:r>
          </a:p>
          <a:p>
            <a:pPr algn="l">
              <a:spcAft>
                <a:spcPts val="300"/>
              </a:spcAft>
            </a:pPr>
            <a:r>
              <a:rPr sz="950" b="0" i="0">
                <a:solidFill>
                  <a:srgbClr val="1F2A44"/>
                </a:solidFill>
                <a:latin typeface="Calibri"/>
              </a:rPr>
              <a:t>• Samarakoon Lasitha B, Guruge Malith H, Jayasekara Madusha et al. Anatomical landmarks for safer carpal tunnel decompression: an experimental cadaveric study. </a:t>
            </a:r>
            <a:r>
              <a:rPr sz="950" b="0" i="0">
                <a:solidFill>
                  <a:srgbClr val="1F2A44"/>
                </a:solidFill>
                <a:latin typeface="Calibri"/>
              </a:rPr>
              <a:t>Patient Safety in Surgery</a:t>
            </a:r>
            <a:r>
              <a:rPr sz="950" b="0" i="0">
                <a:solidFill>
                  <a:srgbClr val="1F2A44"/>
                </a:solidFill>
                <a:latin typeface="Calibri"/>
              </a:rPr>
              <a:t> 2014. doi:10.1186/1754-9493-8-8 – PMC3931286 – </a:t>
            </a:r>
            <a:r>
              <a:rPr sz="950" b="0" i="0">
                <a:solidFill>
                  <a:srgbClr val="1F2A44"/>
                </a:solidFill>
                <a:latin typeface="Calibri"/>
              </a:rPr>
              <a:t>CC BY</a:t>
            </a:r>
          </a:p>
          <a:p>
            <a:pPr algn="l">
              <a:spcAft>
                <a:spcPts val="300"/>
              </a:spcAft>
            </a:pPr>
            <a:r>
              <a:rPr sz="950" b="0" i="0">
                <a:solidFill>
                  <a:srgbClr val="1F2A44"/>
                </a:solidFill>
                <a:latin typeface="Calibri"/>
              </a:rPr>
              <a:t>• ERÇAKMAK GÜNEŞ B., VATANSEVER A., DEMİRYÜREK D. et al. Tendon of Flexor Carpi Radialis in carpal tunnel: a radiologic and cadaveric study. </a:t>
            </a:r>
            <a:r>
              <a:rPr sz="950" b="0" i="0">
                <a:solidFill>
                  <a:srgbClr val="1F2A44"/>
                </a:solidFill>
                <a:latin typeface="Calibri"/>
              </a:rPr>
              <a:t>Turkish Journal of Medical Sciences</a:t>
            </a:r>
            <a:r>
              <a:rPr sz="950" b="0" i="0">
                <a:solidFill>
                  <a:srgbClr val="1F2A44"/>
                </a:solidFill>
                <a:latin typeface="Calibri"/>
              </a:rPr>
              <a:t> 2021. doi:10.3906/sag-2012-31 – PMC8569728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(6)</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Depukat P., Henry B. M., Popieluszko P. et al. Anatomical variability and histological structure of the ulnar nerve in the Guyon’s canal. </a:t>
            </a:r>
            <a:r>
              <a:rPr sz="950" b="0" i="0">
                <a:solidFill>
                  <a:srgbClr val="1F2A44"/>
                </a:solidFill>
                <a:latin typeface="Calibri"/>
              </a:rPr>
              <a:t>Archives of Orthopaedic and Trauma Surgery</a:t>
            </a:r>
            <a:r>
              <a:rPr sz="950" b="0" i="0">
                <a:solidFill>
                  <a:srgbClr val="1F2A44"/>
                </a:solidFill>
                <a:latin typeface="Calibri"/>
              </a:rPr>
              <a:t> 2016. doi:10.1007/s00402-016-2616-4 – PMC5250657 – </a:t>
            </a:r>
            <a:r>
              <a:rPr sz="950" b="0" i="0">
                <a:solidFill>
                  <a:srgbClr val="1F2A44"/>
                </a:solidFill>
                <a:latin typeface="Calibri"/>
              </a:rPr>
              <a:t>CC BY</a:t>
            </a:r>
          </a:p>
          <a:p>
            <a:pPr algn="l">
              <a:spcAft>
                <a:spcPts val="300"/>
              </a:spcAft>
            </a:pPr>
            <a:r>
              <a:rPr sz="950" b="0" i="0">
                <a:solidFill>
                  <a:srgbClr val="1F2A44"/>
                </a:solidFill>
                <a:latin typeface="Calibri"/>
              </a:rPr>
              <a:t>• Kapor S., Bjelogrlic P., Simic V. et al. Anatomical Variations of the Neurovascular Structures of the Hand and the Clinical Significance. </a:t>
            </a:r>
            <a:r>
              <a:rPr sz="950" b="0" i="0">
                <a:solidFill>
                  <a:srgbClr val="1F2A44"/>
                </a:solidFill>
                <a:latin typeface="Calibri"/>
              </a:rPr>
              <a:t>Cureus</a:t>
            </a:r>
            <a:r>
              <a:rPr sz="950" b="0" i="0">
                <a:solidFill>
                  <a:srgbClr val="1F2A44"/>
                </a:solidFill>
                <a:latin typeface="Calibri"/>
              </a:rPr>
              <a:t> 2025. doi:10.7759/cureus.99862 – PMC12823052 – </a:t>
            </a:r>
            <a:r>
              <a:rPr sz="950" b="0" i="0">
                <a:solidFill>
                  <a:srgbClr val="1F2A44"/>
                </a:solidFill>
                <a:latin typeface="Calibri"/>
              </a:rPr>
              <a:t>CC BY</a:t>
            </a:r>
          </a:p>
          <a:p>
            <a:pPr algn="l">
              <a:spcAft>
                <a:spcPts val="300"/>
              </a:spcAft>
            </a:pPr>
            <a:r>
              <a:rPr sz="950" b="0" i="0">
                <a:solidFill>
                  <a:srgbClr val="1F2A44"/>
                </a:solidFill>
                <a:latin typeface="Calibri"/>
              </a:rPr>
              <a:t>• Dawani P., Mahajan A., Vasudeva N. et al. Variations in the Pattern of the Deep Palmar Arch of the Hand and Its Surgical Importance. </a:t>
            </a:r>
            <a:r>
              <a:rPr sz="950" b="0" i="0">
                <a:solidFill>
                  <a:srgbClr val="1F2A44"/>
                </a:solidFill>
                <a:latin typeface="Calibri"/>
              </a:rPr>
              <a:t>Cureus</a:t>
            </a:r>
            <a:r>
              <a:rPr sz="950" b="0" i="0">
                <a:solidFill>
                  <a:srgbClr val="1F2A44"/>
                </a:solidFill>
                <a:latin typeface="Calibri"/>
              </a:rPr>
              <a:t> 2022. doi:10.7759/cureus.20873 – PMC8808664 – </a:t>
            </a:r>
            <a:r>
              <a:rPr sz="950" b="0" i="0">
                <a:solidFill>
                  <a:srgbClr val="1F2A44"/>
                </a:solidFill>
                <a:latin typeface="Calibri"/>
              </a:rPr>
              <a:t>CC BY</a:t>
            </a:r>
          </a:p>
          <a:p>
            <a:pPr algn="l">
              <a:spcAft>
                <a:spcPts val="300"/>
              </a:spcAft>
            </a:pPr>
            <a:r>
              <a:rPr sz="950" b="0" i="0">
                <a:solidFill>
                  <a:srgbClr val="1F2A44"/>
                </a:solidFill>
                <a:latin typeface="Calibri"/>
              </a:rPr>
              <a:t>• Nayak S. R., Rathan R., Chauhan R. et al. An additional muscle belly of the first lumbrical muscle. </a:t>
            </a:r>
            <a:r>
              <a:rPr sz="950" b="0" i="0">
                <a:solidFill>
                  <a:srgbClr val="1F2A44"/>
                </a:solidFill>
                <a:latin typeface="Calibri"/>
              </a:rPr>
              <a:t>Cases Journal</a:t>
            </a:r>
            <a:r>
              <a:rPr sz="950" b="0" i="0">
                <a:solidFill>
                  <a:srgbClr val="1F2A44"/>
                </a:solidFill>
                <a:latin typeface="Calibri"/>
              </a:rPr>
              <a:t> 2008. doi:10.1186/1757-1626-1-103 – PMC2527548 – </a:t>
            </a:r>
            <a:r>
              <a:rPr sz="950" b="0" i="0">
                <a:solidFill>
                  <a:srgbClr val="1F2A44"/>
                </a:solidFill>
                <a:latin typeface="Calibri"/>
              </a:rPr>
              <a:t>CC BY</a:t>
            </a:r>
          </a:p>
          <a:p>
            <a:pPr algn="l">
              <a:spcAft>
                <a:spcPts val="300"/>
              </a:spcAft>
            </a:pPr>
            <a:r>
              <a:rPr sz="950" b="0" i="0">
                <a:solidFill>
                  <a:srgbClr val="1F2A44"/>
                </a:solidFill>
                <a:latin typeface="Calibri"/>
              </a:rPr>
              <a:t>• So Y. I., Lee H. I., Song W. C. et al. An Anatomical Study to Ensure Precise Percutaneous Release of the Annular Pulley in the Trigger Finger. </a:t>
            </a:r>
            <a:r>
              <a:rPr sz="950" b="0" i="0">
                <a:solidFill>
                  <a:srgbClr val="1F2A44"/>
                </a:solidFill>
                <a:latin typeface="Calibri"/>
              </a:rPr>
              <a:t>Clinics in Orthopedic Surgery</a:t>
            </a:r>
            <a:r>
              <a:rPr sz="950" b="0" i="0">
                <a:solidFill>
                  <a:srgbClr val="1F2A44"/>
                </a:solidFill>
                <a:latin typeface="Calibri"/>
              </a:rPr>
              <a:t> 2026. doi:10.4055/cios25123 – PMC13047401 – </a:t>
            </a:r>
            <a:r>
              <a:rPr sz="950" b="0" i="0">
                <a:solidFill>
                  <a:srgbClr val="1F2A44"/>
                </a:solidFill>
                <a:latin typeface="Calibri"/>
              </a:rPr>
              <a:t>CC BY-NC</a:t>
            </a:r>
          </a:p>
          <a:p>
            <a:pPr algn="l">
              <a:spcAft>
                <a:spcPts val="300"/>
              </a:spcAft>
            </a:pPr>
            <a:r>
              <a:rPr sz="950" b="0" i="0">
                <a:solidFill>
                  <a:srgbClr val="1F2A44"/>
                </a:solidFill>
                <a:latin typeface="Calibri"/>
              </a:rPr>
              <a:t>• Kotgirwar S., Athavale S. A., Lalwani R. et al. Subcutaneous Dorsomedial Triangle of Forearm: Surgical Anatomy and Clinical Implication. </a:t>
            </a:r>
            <a:r>
              <a:rPr sz="950" b="0" i="0">
                <a:solidFill>
                  <a:srgbClr val="1F2A44"/>
                </a:solidFill>
                <a:latin typeface="Calibri"/>
              </a:rPr>
              <a:t>Cureus</a:t>
            </a:r>
            <a:r>
              <a:rPr sz="950" b="0" i="0">
                <a:solidFill>
                  <a:srgbClr val="1F2A44"/>
                </a:solidFill>
                <a:latin typeface="Calibri"/>
              </a:rPr>
              <a:t> 2023. doi:10.7759/cureus.41981 – PMC10427770 – </a:t>
            </a:r>
            <a:r>
              <a:rPr sz="950" b="0" i="0">
                <a:solidFill>
                  <a:srgbClr val="1F2A44"/>
                </a:solidFill>
                <a:latin typeface="Calibri"/>
              </a:rPr>
              <a:t>CC BY</a:t>
            </a:r>
          </a:p>
          <a:p>
            <a:pPr algn="l">
              <a:spcAft>
                <a:spcPts val="300"/>
              </a:spcAft>
            </a:pPr>
            <a:r>
              <a:rPr sz="950" b="0" i="0">
                <a:solidFill>
                  <a:srgbClr val="1F2A44"/>
                </a:solidFill>
                <a:latin typeface="Calibri"/>
              </a:rPr>
              <a:t>• Samarakoon L. B., Lakmal K. C., Thillainathan S. et al. Anatomical relations of the superficial sensory branches of the radial nerve: a cadaveric study with clinical implications. </a:t>
            </a:r>
            <a:r>
              <a:rPr sz="950" b="0" i="0">
                <a:solidFill>
                  <a:srgbClr val="1F2A44"/>
                </a:solidFill>
                <a:latin typeface="Calibri"/>
              </a:rPr>
              <a:t>Patient Safety in Surgery</a:t>
            </a:r>
            <a:r>
              <a:rPr sz="950" b="0" i="0">
                <a:solidFill>
                  <a:srgbClr val="1F2A44"/>
                </a:solidFill>
                <a:latin typeface="Calibri"/>
              </a:rPr>
              <a:t> 2011. doi:10.1186/1754-9493-5-28 – PMC3269985 – </a:t>
            </a:r>
            <a:r>
              <a:rPr sz="950" b="0" i="0">
                <a:solidFill>
                  <a:srgbClr val="1F2A44"/>
                </a:solidFill>
                <a:latin typeface="Calibri"/>
              </a:rPr>
              <a:t>CC BY</a:t>
            </a:r>
          </a:p>
          <a:p>
            <a:pPr algn="l">
              <a:spcAft>
                <a:spcPts val="300"/>
              </a:spcAft>
            </a:pPr>
            <a:r>
              <a:rPr sz="950" b="0" i="0">
                <a:solidFill>
                  <a:srgbClr val="1F2A44"/>
                </a:solidFill>
                <a:latin typeface="Calibri"/>
              </a:rPr>
              <a:t>• Fenech M. Boxer's knuckle: Sonographic anatomy and assessment of sagittal band tears of the dorsal hood. </a:t>
            </a:r>
            <a:r>
              <a:rPr sz="950" b="0" i="0">
                <a:solidFill>
                  <a:srgbClr val="1F2A44"/>
                </a:solidFill>
                <a:latin typeface="Calibri"/>
              </a:rPr>
              <a:t>Australasian Journal of Ultrasound in Medicine</a:t>
            </a:r>
            <a:r>
              <a:rPr sz="950" b="0" i="0">
                <a:solidFill>
                  <a:srgbClr val="1F2A44"/>
                </a:solidFill>
                <a:latin typeface="Calibri"/>
              </a:rPr>
              <a:t> 2023. doi:10.1002/ajum.12363 – PMC10716571 – </a:t>
            </a:r>
            <a:r>
              <a:rPr sz="950" b="0" i="0">
                <a:solidFill>
                  <a:srgbClr val="1F2A44"/>
                </a:solidFill>
                <a:latin typeface="Calibri"/>
              </a:rPr>
              <a:t>CC BY</a:t>
            </a:r>
          </a:p>
          <a:p>
            <a:pPr algn="l">
              <a:spcAft>
                <a:spcPts val="300"/>
              </a:spcAft>
            </a:pPr>
            <a:r>
              <a:rPr sz="950" b="0" i="0">
                <a:solidFill>
                  <a:srgbClr val="1F2A44"/>
                </a:solidFill>
                <a:latin typeface="Calibri"/>
              </a:rPr>
              <a:t>• Hazani R., Engineer N. J., Cooney D. et al. Anatomic Landmarks for the First Dorsal Compartment. </a:t>
            </a:r>
            <a:r>
              <a:rPr sz="950" b="0" i="0">
                <a:solidFill>
                  <a:srgbClr val="1F2A44"/>
                </a:solidFill>
                <a:latin typeface="Calibri"/>
              </a:rPr>
              <a:t>Eplasty</a:t>
            </a:r>
            <a:r>
              <a:rPr sz="950" b="0" i="0">
                <a:solidFill>
                  <a:srgbClr val="1F2A44"/>
                </a:solidFill>
                <a:latin typeface="Calibri"/>
              </a:rPr>
              <a:t> 2009. doi:None – PMC2586286 – </a:t>
            </a:r>
            <a:r>
              <a:rPr sz="950" b="0" i="0">
                <a:solidFill>
                  <a:srgbClr val="1F2A44"/>
                </a:solidFill>
                <a:latin typeface="Calibri"/>
              </a:rPr>
              <a:t>CC BY</a:t>
            </a:r>
          </a:p>
          <a:p>
            <a:pPr algn="l">
              <a:spcAft>
                <a:spcPts val="300"/>
              </a:spcAft>
            </a:pPr>
            <a:r>
              <a:rPr sz="950" b="0" i="0">
                <a:solidFill>
                  <a:srgbClr val="1F2A44"/>
                </a:solidFill>
                <a:latin typeface="Calibri"/>
              </a:rPr>
              <a:t>• Natsis Konstantinos, Tzika Maria, Paraskevas George K et al. Double Muscular Thenar Branch and Anatomical Variation of Thenar Muscle Innervation Observed in a Cadaver. </a:t>
            </a:r>
            <a:r>
              <a:rPr sz="950" b="0" i="0">
                <a:solidFill>
                  <a:srgbClr val="1F2A44"/>
                </a:solidFill>
                <a:latin typeface="Calibri"/>
              </a:rPr>
              <a:t>Cureus</a:t>
            </a:r>
            <a:r>
              <a:rPr sz="950" b="0" i="0">
                <a:solidFill>
                  <a:srgbClr val="1F2A44"/>
                </a:solidFill>
                <a:latin typeface="Calibri"/>
              </a:rPr>
              <a:t> 2019. doi:10.7759/cureus.5859 – PMC6834099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12880" cy="457200"/>
          </a:xfrm>
          <a:prstGeom prst="rect">
            <a:avLst/>
          </a:prstGeom>
          <a:noFill/>
        </p:spPr>
        <p:txBody>
          <a:bodyPr wrap="square" anchor="t" lIns="45720" rIns="45720" tIns="18288" bIns="18288">
            <a:spAutoFit/>
          </a:bodyPr>
          <a:lstStyle/>
          <a:p>
            <a:pPr algn="l"/>
            <a:r>
              <a:rPr sz="2400" b="1" i="0">
                <a:solidFill>
                  <a:srgbClr val="FFFFFF"/>
                </a:solidFill>
                <a:latin typeface="Calibri"/>
              </a:rPr>
              <a:t>Kaynakça ve görsel lisansları (7)</a:t>
            </a:r>
          </a:p>
        </p:txBody>
      </p:sp>
      <p:sp>
        <p:nvSpPr>
          <p:cNvPr id="4" name="TextBox 3"/>
          <p:cNvSpPr txBox="1"/>
          <p:nvPr/>
        </p:nvSpPr>
        <p:spPr>
          <a:xfrm>
            <a:off x="274320" y="914400"/>
            <a:ext cx="11612880" cy="5440680"/>
          </a:xfrm>
          <a:prstGeom prst="rect">
            <a:avLst/>
          </a:prstGeom>
          <a:noFill/>
        </p:spPr>
        <p:txBody>
          <a:bodyPr wrap="square">
            <a:spAutoFit/>
          </a:bodyPr>
          <a:lstStyle/>
          <a:p>
            <a:pPr algn="l">
              <a:spcAft>
                <a:spcPts val="300"/>
              </a:spcAft>
            </a:pPr>
            <a:r>
              <a:rPr sz="950" b="0" i="0">
                <a:solidFill>
                  <a:srgbClr val="1F2A44"/>
                </a:solidFill>
                <a:latin typeface="Calibri"/>
              </a:rPr>
              <a:t>• Simić M., Bumbaširević M., Jović D. et al. Persistent median artery and communicating branch related to the superficial palmar arch. </a:t>
            </a:r>
            <a:r>
              <a:rPr sz="950" b="0" i="0">
                <a:solidFill>
                  <a:srgbClr val="1F2A44"/>
                </a:solidFill>
                <a:latin typeface="Calibri"/>
              </a:rPr>
              <a:t>Scientific Reports</a:t>
            </a:r>
            <a:r>
              <a:rPr sz="950" b="0" i="0">
                <a:solidFill>
                  <a:srgbClr val="1F2A44"/>
                </a:solidFill>
                <a:latin typeface="Calibri"/>
              </a:rPr>
              <a:t> 2024. doi:10.1038/s41598-023-50935-2 – PMC10762056 – </a:t>
            </a:r>
            <a:r>
              <a:rPr sz="950" b="0" i="0">
                <a:solidFill>
                  <a:srgbClr val="1F2A44"/>
                </a:solidFill>
                <a:latin typeface="Calibri"/>
              </a:rPr>
              <a:t>CC BY</a:t>
            </a:r>
          </a:p>
          <a:p>
            <a:pPr algn="l">
              <a:spcAft>
                <a:spcPts val="300"/>
              </a:spcAft>
            </a:pPr>
            <a:r>
              <a:rPr sz="950" b="0" i="0">
                <a:solidFill>
                  <a:srgbClr val="1F2A44"/>
                </a:solidFill>
                <a:latin typeface="Calibri"/>
              </a:rPr>
              <a:t>• Caetano E. B., Vieira L. A., Bueno V. S. et al. Anatomical Study of the Relationship between the Riché-Cannieu Anastomosis and the Kaplan Cardinal Line. </a:t>
            </a:r>
            <a:r>
              <a:rPr sz="950" b="0" i="0">
                <a:solidFill>
                  <a:srgbClr val="1F2A44"/>
                </a:solidFill>
                <a:latin typeface="Calibri"/>
              </a:rPr>
              <a:t>Revista Brasileira de Ortopedia</a:t>
            </a:r>
            <a:r>
              <a:rPr sz="950" b="0" i="0">
                <a:solidFill>
                  <a:srgbClr val="1F2A44"/>
                </a:solidFill>
                <a:latin typeface="Calibri"/>
              </a:rPr>
              <a:t> 2024. doi:10.1055/s-0044-1785512 – PMC11193595 – </a:t>
            </a:r>
            <a:r>
              <a:rPr sz="950" b="0" i="0">
                <a:solidFill>
                  <a:srgbClr val="1F2A44"/>
                </a:solidFill>
                <a:latin typeface="Calibri"/>
              </a:rPr>
              <a:t>CC BY</a:t>
            </a:r>
          </a:p>
          <a:p>
            <a:pPr algn="l">
              <a:spcAft>
                <a:spcPts val="300"/>
              </a:spcAft>
            </a:pPr>
            <a:r>
              <a:rPr sz="950" b="0" i="0">
                <a:solidFill>
                  <a:srgbClr val="1F2A44"/>
                </a:solidFill>
                <a:latin typeface="Calibri"/>
              </a:rPr>
              <a:t>• Mendoza M., Sarpong A., Bennett D. et al. The Berrettini Anastomosis’ Morphology and “Probable Zone”: A Cadaveric Study. </a:t>
            </a:r>
            <a:r>
              <a:rPr sz="950" b="0" i="0">
                <a:solidFill>
                  <a:srgbClr val="1F2A44"/>
                </a:solidFill>
                <a:latin typeface="Calibri"/>
              </a:rPr>
              <a:t>Cureus</a:t>
            </a:r>
            <a:r>
              <a:rPr sz="950" b="0" i="0">
                <a:solidFill>
                  <a:srgbClr val="1F2A44"/>
                </a:solidFill>
                <a:latin typeface="Calibri"/>
              </a:rPr>
              <a:t> 2025. doi:10.7759/cureus.78967 – PMC11910384 – </a:t>
            </a:r>
            <a:r>
              <a:rPr sz="950" b="0" i="0">
                <a:solidFill>
                  <a:srgbClr val="1F2A44"/>
                </a:solidFill>
                <a:latin typeface="Calibri"/>
              </a:rPr>
              <a:t>CC BY</a:t>
            </a:r>
          </a:p>
          <a:p>
            <a:pPr algn="l">
              <a:spcAft>
                <a:spcPts val="300"/>
              </a:spcAft>
            </a:pPr>
            <a:r>
              <a:rPr sz="950" b="0" i="0">
                <a:solidFill>
                  <a:srgbClr val="1F2A44"/>
                </a:solidFill>
                <a:latin typeface="Calibri"/>
              </a:rPr>
              <a:t>• Lee D. H., Lee J. H., Woo R. S. et al. A rare bilateral variation on the dorsum of the hand: extensor digitorum brevis manus and extensor medii proprius. </a:t>
            </a:r>
            <a:r>
              <a:rPr sz="950" b="0" i="0">
                <a:solidFill>
                  <a:srgbClr val="1F2A44"/>
                </a:solidFill>
                <a:latin typeface="Calibri"/>
              </a:rPr>
              <a:t>Anatomy &amp; Cell Biology</a:t>
            </a:r>
            <a:r>
              <a:rPr sz="950" b="0" i="0">
                <a:solidFill>
                  <a:srgbClr val="1F2A44"/>
                </a:solidFill>
                <a:latin typeface="Calibri"/>
              </a:rPr>
              <a:t> 2019. doi:10.5115/acb.2019.52.1.97 – PMC6449591 – </a:t>
            </a:r>
            <a:r>
              <a:rPr sz="950" b="0" i="0">
                <a:solidFill>
                  <a:srgbClr val="1F2A44"/>
                </a:solidFill>
                <a:latin typeface="Calibri"/>
              </a:rPr>
              <a:t>CC BY-NC</a:t>
            </a:r>
          </a:p>
          <a:p>
            <a:pPr algn="l">
              <a:spcAft>
                <a:spcPts val="300"/>
              </a:spcAft>
            </a:pPr>
            <a:r>
              <a:rPr sz="950" b="0" i="0">
                <a:solidFill>
                  <a:srgbClr val="1F2A44"/>
                </a:solidFill>
                <a:latin typeface="Calibri"/>
              </a:rPr>
              <a:t>• Gabríková K., Kachlík D., Belbl M. et al. An accessory muscle belly or an accessory muscle head? An unusual arrangement of muscles in the anterior compartment of the forearm. </a:t>
            </a:r>
            <a:r>
              <a:rPr sz="950" b="0" i="0">
                <a:solidFill>
                  <a:srgbClr val="1F2A44"/>
                </a:solidFill>
                <a:latin typeface="Calibri"/>
              </a:rPr>
              <a:t>Surgical and Radiologic Anatomy</a:t>
            </a:r>
            <a:r>
              <a:rPr sz="950" b="0" i="0">
                <a:solidFill>
                  <a:srgbClr val="1F2A44"/>
                </a:solidFill>
                <a:latin typeface="Calibri"/>
              </a:rPr>
              <a:t> 2023. doi:10.1007/s00276-023-03084-0 – PMC9981488 – </a:t>
            </a:r>
            <a:r>
              <a:rPr sz="950" b="0" i="0">
                <a:solidFill>
                  <a:srgbClr val="1F2A44"/>
                </a:solidFill>
                <a:latin typeface="Calibri"/>
              </a:rPr>
              <a:t>CC BY</a:t>
            </a:r>
          </a:p>
          <a:p>
            <a:pPr algn="l">
              <a:spcAft>
                <a:spcPts val="300"/>
              </a:spcAft>
            </a:pPr>
            <a:r>
              <a:rPr sz="950" b="0" i="0">
                <a:solidFill>
                  <a:srgbClr val="1F2A44"/>
                </a:solidFill>
                <a:latin typeface="Calibri"/>
              </a:rPr>
              <a:t>• Nation H., Jeong S., Jeong S. et al. Anomalous muscles and nerves in the hand of a 94-year-old cadaver—A case report. </a:t>
            </a:r>
            <a:r>
              <a:rPr sz="950" b="0" i="0">
                <a:solidFill>
                  <a:srgbClr val="1F2A44"/>
                </a:solidFill>
                <a:latin typeface="Calibri"/>
              </a:rPr>
              <a:t>International Journal of Surgery Case Reports</a:t>
            </a:r>
            <a:r>
              <a:rPr sz="950" b="0" i="0">
                <a:solidFill>
                  <a:srgbClr val="1F2A44"/>
                </a:solidFill>
                <a:latin typeface="Calibri"/>
              </a:rPr>
              <a:t> 2019. doi:10.1016/j.ijscr.2019.10.062 – PMC6920165 – </a:t>
            </a:r>
            <a:r>
              <a:rPr sz="950" b="0" i="0">
                <a:solidFill>
                  <a:srgbClr val="1F2A44"/>
                </a:solidFill>
                <a:latin typeface="Calibri"/>
              </a:rPr>
              <a:t>CC BY</a:t>
            </a:r>
          </a:p>
        </p:txBody>
      </p:sp>
      <p:cxnSp>
        <p:nvCxnSpPr>
          <p:cNvPr id="5" name="Connector 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6419088"/>
            <a:ext cx="10972800" cy="411480"/>
          </a:xfrm>
          <a:prstGeom prst="rect">
            <a:avLst/>
          </a:prstGeom>
          <a:noFill/>
        </p:spPr>
        <p:txBody>
          <a:bodyPr wrap="square" anchor="t" lIns="45720" rIns="45720" tIns="18288" bIns="18288">
            <a:spAutoFit/>
          </a:bodyPr>
          <a:lstStyle/>
          <a:p>
            <a:pPr algn="l"/>
            <a:r>
              <a:rPr sz="850" b="0" i="0">
                <a:solidFill>
                  <a:srgbClr val="555B66"/>
                </a:solidFill>
                <a:latin typeface="Calibri"/>
              </a:rPr>
              <a:t>Görseller PMC Open Access AWS deposundan (pmc-oa-opendata); lisans, md5 ve altyazılar sources/*.json içinde.</a:t>
            </a:r>
          </a:p>
        </p:txBody>
      </p:sp>
      <p:sp>
        <p:nvSpPr>
          <p:cNvPr id="7" name="TextBox 6"/>
          <p:cNvSpPr txBox="1"/>
          <p:nvPr/>
        </p:nvSpPr>
        <p:spPr>
          <a:xfrm>
            <a:off x="11338560" y="6446520"/>
            <a:ext cx="594360" cy="274320"/>
          </a:xfrm>
          <a:prstGeom prst="rect">
            <a:avLst/>
          </a:prstGeom>
          <a:noFill/>
        </p:spPr>
        <p:txBody>
          <a:bodyPr wrap="square" anchor="t" lIns="45720" rIns="45720" tIns="18288" bIns="18288">
            <a:spAutoFit/>
          </a:bodyPr>
          <a:lstStyle/>
          <a:p>
            <a:pPr algn="r"/>
            <a:r>
              <a:rPr sz="1000" b="0" i="0">
                <a:solidFill>
                  <a:srgbClr val="555B66"/>
                </a:solidFill>
                <a:latin typeface="Calibri"/>
              </a:rPr>
              <a:t>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