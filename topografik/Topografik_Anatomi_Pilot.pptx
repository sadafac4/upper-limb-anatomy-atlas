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 Biomed Res Int. 2025 Oct 31;2025:6650184. doi: 10.1155/bmri/6650184</a:t>
            </a:r>
          </a:p>
          <a:p>
            <a:r>
              <a:t>DOI: 10.1155/bmri/6650184</a:t>
            </a:r>
          </a:p>
          <a:p>
            <a:r>
              <a:t>Lisans (PMC OA S3 JSON): CC BY</a:t>
            </a:r>
          </a:p>
          <a:p>
            <a:r>
              <a:t>Anahtar bulgular (makaleden): 36 upper limbs from 18 donors were dissected following Grant's Dissector. "Variations were found in 16 brachial plexuses (44.4%) from nine donors. In total, 32 variations were identified"; "Bilateral variations were more common (77.8%) than unilateral ones (22.2%)". The authors note that the reported prevalence of brachial plexus variability "has been reported to range from 13.3% to 90%".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 Cureus. 2022 Feb 26;14(2):e22619. doi: 10.7759/cureus.22619</a:t>
            </a:r>
          </a:p>
          <a:p>
            <a:r>
              <a:t>DOI: 10.7759/cureus.22619</a:t>
            </a:r>
          </a:p>
          <a:p>
            <a:r>
              <a:t>Lisans (PMC OA S3 JSON): CC BY</a:t>
            </a:r>
          </a:p>
          <a:p>
            <a:r>
              <a:t>Anahtar bulgular (makaleden): Eight upper limbs from four cadavers were dissected by anatomy and orthopaedic residents using anterior and posterior approaches. "the posterior approach was recognized as the easier and quicker method ... however, it may result in increased postoperative morbidity. Although the anterior (deltopectoral) approach involves more skill, it reduces postoperative morbidity."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 Knee Surg Sports Traumatol Arthrosc. 2014 Mar 18;23(5):1542–8. doi: 10.1007/s00167-014-2937-1</a:t>
            </a:r>
          </a:p>
          <a:p>
            <a:r>
              <a:t>DOI: 10.1007/s00167-014-2937-1</a:t>
            </a:r>
          </a:p>
          <a:p>
            <a:r>
              <a:t>Lisans (PMC OA S3 JSON): CC BY</a:t>
            </a:r>
          </a:p>
          <a:p>
            <a:r>
              <a:t>Anahtar bulgular (makaleden): 106 formalin-fixed cadaveric shoulders: "type I (61.3 %) (suprascapular artery was running above ligament, while suprascapular vein and nerve below it), type II (17 %) (both vessels pass above ligament, while nerve passes under it), type III (12.3 %) (suprascapular vessels and nerve lie under ligament) and type IV (9.4 %)". "Anterior coracoscapular ligaments were present in 55 from 106 shoulders."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 Cureus. 2023 Dec 30;15(12):e51350. doi: 10.7759/cureus.51350</a:t>
            </a:r>
          </a:p>
          <a:p>
            <a:r>
              <a:t>DOI: 10.7759/cureus.51350</a:t>
            </a:r>
          </a:p>
          <a:p>
            <a:r>
              <a:t>Lisans (PMC OA S3 JSON): CC BY</a:t>
            </a:r>
          </a:p>
          <a:p>
            <a:r>
              <a:t>Anahtar bulgular (makaleden): Bilateral case in which median nerve and brachial artery were absent from the cubital fossa: "pronator teres originating from the distal third of the humerus, associated with the bifurcation of the brachial artery at the middle third of the humerus into the ulnar and radial arteries. The median nerve ran beneath the pronator teres along with the ulnar artery". Cited literature: "an incidence of high divisions in the brachial artery ranging between 5% and 14% of the cadavers".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 Surg Radiol Anat. 2025 Oct 6;47(1):223. doi: 10.1007/s00276-025-03728-3</a:t>
            </a:r>
          </a:p>
          <a:p>
            <a:r>
              <a:t>DOI: 10.1007/s00276-025-03728-3</a:t>
            </a:r>
          </a:p>
          <a:p>
            <a:r>
              <a:t>Lisans (PMC OA S3 JSON): CC BY</a:t>
            </a:r>
          </a:p>
          <a:p>
            <a:r>
              <a:t>Anahtar bulgular (makaleden): 29 fresh cadaveric upper extremities: "The radial nerve bifurcated approximately 5 ± 3 mm proximal to the RCJ. The PIN entered the supinator (Arcade of Frohse) at 22 ± 1 mm distal to the RCJ. It was located a mean of 13 ± 2 mm from the radial border of the radial tuberosity in pronation and 19 ± 2 mm in supination."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 Patient Saf Surg. 2014 Feb 17;8:8. doi: 10.1186/1754-9493-8-8</a:t>
            </a:r>
          </a:p>
          <a:p>
            <a:r>
              <a:t>DOI: 10.1186/1754-9493-8-8</a:t>
            </a:r>
          </a:p>
          <a:p>
            <a:r>
              <a:t>Lisans (PMC OA S3 JSON): CC BY</a:t>
            </a:r>
          </a:p>
          <a:p>
            <a:r>
              <a:t>Anahtar bulgular (makaleden): Study of 26 hands from thirteen Sri Lankan cadavers: "In a majority of specimens the recurrent branch was a single trunk (n =20, 76.9%). Similarly 84.6% (n = 22) were extra ligamentous in location. Mean distance from the distal border of the TCL to the recurrent branch was 7.75 mm. Mean distance from the distal border of TCL to the superficial palmar arch was 11.48 mm."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 Cureus. 2025 May 30;17(5):e85096. doi: 10.7759/cureus.85096</a:t>
            </a:r>
          </a:p>
          <a:p>
            <a:r>
              <a:t>DOI: 10.7759/cureus.85096</a:t>
            </a:r>
          </a:p>
          <a:p>
            <a:r>
              <a:t>Lisans (PMC OA S3 JSON): CC BY</a:t>
            </a:r>
          </a:p>
          <a:p>
            <a:r>
              <a:t>Anahtar bulgular (makaleden): Bilateral axillary arch in one cadaver: "On the right side, the muscle originated from the latissimus dorsi and merged with the short head of the biceps brachii, deltoid, and coracobrachialis muscles. On the left, it originated from the latissimus dorsi but was inserted into the fascia between the coracobrachialis and deltoid muscles." The article gives no prevalence figure of its own (only that frequency "varies depending on the diverse groups of populations").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 Cureus. 2023 Sep 25;15(9):e45903. doi: 10.7759/cureus.45903</a:t>
            </a:r>
          </a:p>
          <a:p>
            <a:r>
              <a:t>DOI: 10.7759/cureus.45903</a:t>
            </a:r>
          </a:p>
          <a:p>
            <a:r>
              <a:t>Lisans (PMC OA S3 JSON): CC BY</a:t>
            </a:r>
          </a:p>
          <a:p>
            <a:r>
              <a:t>Anahtar bulgular (makaleden): Findings in one formalin-embalmed donor included "a BA bilateral trifurcation, below the tendon of the latissimus dorsi muscle" and "the coexistence of an SBA with the main BA". Discussion: "The SBA has a prevalence ranging from 1.07% to 19.7%" and "De Garis and Swartley supported that the SBA is more frequent in African Americans (13.4%) than in Caucasians (4.6%)".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 Sao Paulo Med J. 2008 Sep 4;126(5):288–90. doi: 10.1590/S1516-31802008000500009</a:t>
            </a:r>
          </a:p>
          <a:p>
            <a:r>
              <a:t>DOI: 10.1590/S1516-31802008000500009</a:t>
            </a:r>
          </a:p>
          <a:p>
            <a:r>
              <a:t>Lisans (PMC OA S3 JSON): CC BY</a:t>
            </a:r>
          </a:p>
          <a:p>
            <a:r>
              <a:t>Anahtar bulgular (makaleden): Right arm of a male cadaver with no musculocutaneous nerve; the median nerve gave branches to coracobrachialis, biceps brachii and brachialis, the last continuing as the lateral antebrachial cutaneous nerve. Cited prevalence: "Beheiry dissected 60 arms and noted absence of the nerve in only one of them (1.7%). Prasada Rao and Chaudhary did not find this nerve in 8% of the 24 arms they dissected."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 Cureus. 2025 Jan 28;17(1):e78139. doi: 10.7759/cureus.78139</a:t>
            </a:r>
          </a:p>
          <a:p>
            <a:r>
              <a:t>DOI: 10.7759/cureus.78139</a:t>
            </a:r>
          </a:p>
          <a:p>
            <a:r>
              <a:t>Lisans (PMC OA S3 JSON): CC BY</a:t>
            </a:r>
          </a:p>
          <a:p>
            <a:r>
              <a:t>Anahtar bulgular (makaleden): 101 cadaveric forearms: "The Martin-Gruber anastomosis prevalence found within the study was 37.6% (n = 38/101), with type I being the most common at 58% (n = 22/38), followed by type III at 32% (n = 12/38), and type II at 11% (n = 4/38)." "most patterns were intramuscularly embedded in the flexor digitorum profundus (FDP) muscle."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 Cureus. 2023 Jun 12;15(6):e40324. doi: 10.7759/cureus.40324</a:t>
            </a:r>
          </a:p>
          <a:p>
            <a:r>
              <a:t>DOI: 10.7759/cureus.40324</a:t>
            </a:r>
          </a:p>
          <a:p>
            <a:r>
              <a:t>Lisans (PMC OA S3 JSON): CC BY</a:t>
            </a:r>
          </a:p>
          <a:p>
            <a:r>
              <a:t>Anahtar bulgular (makaleden): Male cadaver with "a persistent median artery, reversed palmaris longus muscle, and bifid median nerve"; the PMA "branched off the radial artery, anastomosing with the ulnar artery to give rise to the SPA". Cited data: "PMA was identified in five of the 125 upper limbs (4% of the total number of limbs)" and in an Australian sample "a total of 26 median arteries were discovered, with a prevalence rate of 33.3%".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7.jp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jp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0.jp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188720"/>
            <a:ext cx="6949440" cy="914400"/>
          </a:xfrm>
          <a:prstGeom prst="rect">
            <a:avLst/>
          </a:prstGeom>
          <a:noFill/>
        </p:spPr>
        <p:txBody>
          <a:bodyPr wrap="square" anchor="t" lIns="45720" rIns="45720" tIns="18288" bIns="18288">
            <a:spAutoFit/>
          </a:bodyPr>
          <a:lstStyle/>
          <a:p>
            <a:pPr algn="l"/>
            <a:r>
              <a:rPr sz="3600" b="1" i="0">
                <a:solidFill>
                  <a:srgbClr val="FFFFFF"/>
                </a:solidFill>
                <a:latin typeface="Calibri"/>
              </a:rPr>
              <a:t>Membrum Superius – Topografik Anatomi</a:t>
            </a:r>
          </a:p>
        </p:txBody>
      </p:sp>
      <p:sp>
        <p:nvSpPr>
          <p:cNvPr id="4" name="TextBox 3"/>
          <p:cNvSpPr txBox="1"/>
          <p:nvPr/>
        </p:nvSpPr>
        <p:spPr>
          <a:xfrm>
            <a:off x="640080" y="2240280"/>
            <a:ext cx="6949440" cy="914400"/>
          </a:xfrm>
          <a:prstGeom prst="rect">
            <a:avLst/>
          </a:prstGeom>
          <a:noFill/>
        </p:spPr>
        <p:txBody>
          <a:bodyPr wrap="square" anchor="t" lIns="45720" rIns="45720" tIns="18288" bIns="18288">
            <a:spAutoFit/>
          </a:bodyPr>
          <a:lstStyle/>
          <a:p>
            <a:pPr algn="l"/>
            <a:r>
              <a:rPr sz="1800" b="0" i="0">
                <a:solidFill>
                  <a:srgbClr val="C8D1E6"/>
                </a:solidFill>
                <a:latin typeface="Calibri"/>
              </a:rPr>
              <a:t>Gerçek insan kadavra diseksiyonları ve hakemli yayınlardan anatomik varyasyonlar</a:t>
            </a:r>
          </a:p>
        </p:txBody>
      </p:sp>
      <p:sp>
        <p:nvSpPr>
          <p:cNvPr id="5" name="TextBox 4"/>
          <p:cNvSpPr txBox="1"/>
          <p:nvPr/>
        </p:nvSpPr>
        <p:spPr>
          <a:xfrm>
            <a:off x="640080" y="3566160"/>
            <a:ext cx="6949440" cy="1645920"/>
          </a:xfrm>
          <a:prstGeom prst="rect">
            <a:avLst/>
          </a:prstGeom>
          <a:noFill/>
        </p:spPr>
        <p:txBody>
          <a:bodyPr wrap="square" anchor="t" lIns="45720" rIns="45720" tIns="18288" bIns="18288">
            <a:spAutoFit/>
          </a:bodyPr>
          <a:lstStyle/>
          <a:p>
            <a:pPr algn="l"/>
            <a:r>
              <a:rPr sz="1400" b="0" i="0">
                <a:solidFill>
                  <a:srgbClr val="FFFFFF"/>
                </a:solidFill>
                <a:latin typeface="Calibri"/>
              </a:rPr>
              <a:t>PİLOT SÜRÜM – 6 normal topografi + 5 varyasyon slaytı</a:t>
            </a:r>
          </a:p>
          <a:p>
            <a:pPr algn="l"/>
            <a:r>
              <a:rPr sz="1400" b="0" i="0">
                <a:solidFill>
                  <a:srgbClr val="FFFFFF"/>
                </a:solidFill>
                <a:latin typeface="Calibri"/>
              </a:rPr>
              <a:t>Görseller: PubMed Central Open Access alt kümesi (lisans makale bazında doğrulandı)</a:t>
            </a:r>
          </a:p>
          <a:p>
            <a:pPr algn="l"/>
            <a:r>
              <a:rPr sz="1400" b="0" i="0">
                <a:solidFill>
                  <a:srgbClr val="FFFFFF"/>
                </a:solidFill>
                <a:latin typeface="Calibri"/>
              </a:rPr>
              <a:t>Her varyasyon gerçek bir yayına dayanır; sıklık verileri makalelerden aynen aktarılmıştır.</a:t>
            </a:r>
          </a:p>
        </p:txBody>
      </p:sp>
      <p:pic>
        <p:nvPicPr>
          <p:cNvPr id="6" name="Picture 5" descr="cureus-0014-00000022619-i04.jpg"/>
          <p:cNvPicPr>
            <a:picLocks noChangeAspect="1"/>
          </p:cNvPicPr>
          <p:nvPr/>
        </p:nvPicPr>
        <p:blipFill>
          <a:blip r:embed="rId2"/>
          <a:stretch>
            <a:fillRect/>
          </a:stretch>
        </p:blipFill>
        <p:spPr>
          <a:xfrm>
            <a:off x="7955279" y="653247"/>
            <a:ext cx="1920240" cy="2442545"/>
          </a:xfrm>
          <a:prstGeom prst="rect">
            <a:avLst/>
          </a:prstGeom>
        </p:spPr>
      </p:pic>
      <p:pic>
        <p:nvPicPr>
          <p:cNvPr id="7" name="Picture 6" descr="cureus-0017-00000085096-i01.jpg"/>
          <p:cNvPicPr>
            <a:picLocks noChangeAspect="1"/>
          </p:cNvPicPr>
          <p:nvPr/>
        </p:nvPicPr>
        <p:blipFill>
          <a:blip r:embed="rId3"/>
          <a:stretch>
            <a:fillRect/>
          </a:stretch>
        </p:blipFill>
        <p:spPr>
          <a:xfrm>
            <a:off x="9966960" y="625083"/>
            <a:ext cx="1920240" cy="2498872"/>
          </a:xfrm>
          <a:prstGeom prst="rect">
            <a:avLst/>
          </a:prstGeom>
        </p:spPr>
      </p:pic>
      <p:pic>
        <p:nvPicPr>
          <p:cNvPr id="8" name="Picture 7" descr="276_2025_3728_Fig4_HTML.jpg"/>
          <p:cNvPicPr>
            <a:picLocks noChangeAspect="1"/>
          </p:cNvPicPr>
          <p:nvPr/>
        </p:nvPicPr>
        <p:blipFill>
          <a:blip r:embed="rId4"/>
          <a:stretch>
            <a:fillRect/>
          </a:stretch>
        </p:blipFill>
        <p:spPr>
          <a:xfrm>
            <a:off x="7955279" y="3933410"/>
            <a:ext cx="1920240" cy="1917258"/>
          </a:xfrm>
          <a:prstGeom prst="rect">
            <a:avLst/>
          </a:prstGeom>
        </p:spPr>
      </p:pic>
      <p:pic>
        <p:nvPicPr>
          <p:cNvPr id="9" name="Picture 8" descr="167_2014_2937_Fig2_HTML.jpg"/>
          <p:cNvPicPr>
            <a:picLocks noChangeAspect="1"/>
          </p:cNvPicPr>
          <p:nvPr/>
        </p:nvPicPr>
        <p:blipFill>
          <a:blip r:embed="rId5"/>
          <a:stretch>
            <a:fillRect/>
          </a:stretch>
        </p:blipFill>
        <p:spPr>
          <a:xfrm>
            <a:off x="9966960" y="3601956"/>
            <a:ext cx="1920240" cy="2580167"/>
          </a:xfrm>
          <a:prstGeom prst="rect">
            <a:avLst/>
          </a:prstGeom>
        </p:spPr>
      </p:pic>
      <p:sp>
        <p:nvSpPr>
          <p:cNvPr id="10" name="TextBox 9"/>
          <p:cNvSpPr txBox="1"/>
          <p:nvPr/>
        </p:nvSpPr>
        <p:spPr>
          <a:xfrm>
            <a:off x="640080" y="6172200"/>
            <a:ext cx="6949440" cy="365760"/>
          </a:xfrm>
          <a:prstGeom prst="rect">
            <a:avLst/>
          </a:prstGeom>
          <a:noFill/>
        </p:spPr>
        <p:txBody>
          <a:bodyPr wrap="square" anchor="t" lIns="45720" rIns="45720" tIns="18288" bIns="18288">
            <a:spAutoFit/>
          </a:bodyPr>
          <a:lstStyle/>
          <a:p>
            <a:pPr algn="l"/>
            <a:r>
              <a:rPr sz="1100" b="0" i="1">
                <a:solidFill>
                  <a:srgbClr val="C8D1E6"/>
                </a:solidFill>
                <a:latin typeface="Calibri"/>
              </a:rPr>
              <a:t>Sunum dili Türkçe; anatomik terimler Terminologia Anatomica (Latince).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Plexus brachialis – infraklavikular bölüm</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Normal düzen (şema) ve kadavra diseksiyonunda n. medianus kök varyasyonları</a:t>
            </a:r>
          </a:p>
        </p:txBody>
      </p:sp>
      <p:sp>
        <p:nvSpPr>
          <p:cNvPr id="5" name="TextBox 4"/>
          <p:cNvSpPr txBox="1"/>
          <p:nvPr/>
        </p:nvSpPr>
        <p:spPr>
          <a:xfrm>
            <a:off x="9692640" y="841248"/>
            <a:ext cx="2286000" cy="274320"/>
          </a:xfrm>
          <a:prstGeom prst="rect">
            <a:avLst/>
          </a:prstGeom>
          <a:solidFill>
            <a:srgbClr val="2E7D32"/>
          </a:solidFill>
        </p:spPr>
        <p:txBody>
          <a:bodyPr wrap="square" anchor="t" lIns="45720" rIns="45720" tIns="18288" bIns="18288">
            <a:spAutoFit/>
          </a:bodyPr>
          <a:lstStyle/>
          <a:p>
            <a:pPr algn="ctr"/>
            <a:r>
              <a:rPr sz="1000" b="1" i="0">
                <a:solidFill>
                  <a:srgbClr val="FFFFFF"/>
                </a:solidFill>
                <a:latin typeface="Calibri"/>
              </a:rPr>
              <a:t>NORMAL TOPOGRAFİ</a:t>
            </a:r>
          </a:p>
        </p:txBody>
      </p:sp>
      <p:pic>
        <p:nvPicPr>
          <p:cNvPr id="6" name="Picture 5" descr="BMRI-2025-6650184-g012.jpg"/>
          <p:cNvPicPr>
            <a:picLocks noChangeAspect="1"/>
          </p:cNvPicPr>
          <p:nvPr/>
        </p:nvPicPr>
        <p:blipFill>
          <a:blip r:embed="rId2"/>
          <a:stretch>
            <a:fillRect/>
          </a:stretch>
        </p:blipFill>
        <p:spPr>
          <a:xfrm>
            <a:off x="2273242" y="914400"/>
            <a:ext cx="2951594" cy="1598780"/>
          </a:xfrm>
          <a:prstGeom prst="rect">
            <a:avLst/>
          </a:prstGeom>
        </p:spPr>
      </p:pic>
      <p:sp>
        <p:nvSpPr>
          <p:cNvPr id="7" name="TextBox 6"/>
          <p:cNvSpPr txBox="1"/>
          <p:nvPr/>
        </p:nvSpPr>
        <p:spPr>
          <a:xfrm>
            <a:off x="2273242" y="2494892"/>
            <a:ext cx="2951594" cy="228600"/>
          </a:xfrm>
          <a:prstGeom prst="rect">
            <a:avLst/>
          </a:prstGeom>
          <a:noFill/>
        </p:spPr>
        <p:txBody>
          <a:bodyPr wrap="square" anchor="t" lIns="45720" rIns="45720" tIns="18288" bIns="18288">
            <a:spAutoFit/>
          </a:bodyPr>
          <a:lstStyle/>
          <a:p>
            <a:pPr algn="ctr"/>
            <a:r>
              <a:rPr sz="850" b="0" i="1">
                <a:solidFill>
                  <a:srgbClr val="555B66"/>
                </a:solidFill>
                <a:latin typeface="Calibri"/>
              </a:rPr>
              <a:t>Figure 1 (PMC12578619)</a:t>
            </a:r>
          </a:p>
        </p:txBody>
      </p:sp>
      <p:pic>
        <p:nvPicPr>
          <p:cNvPr id="8" name="Picture 7" descr="BMRI-2025-6650184-g011.jpg"/>
          <p:cNvPicPr>
            <a:picLocks noChangeAspect="1"/>
          </p:cNvPicPr>
          <p:nvPr/>
        </p:nvPicPr>
        <p:blipFill>
          <a:blip r:embed="rId3"/>
          <a:stretch>
            <a:fillRect/>
          </a:stretch>
        </p:blipFill>
        <p:spPr>
          <a:xfrm>
            <a:off x="2205102" y="2787500"/>
            <a:ext cx="3087874" cy="2470299"/>
          </a:xfrm>
          <a:prstGeom prst="rect">
            <a:avLst/>
          </a:prstGeom>
        </p:spPr>
      </p:pic>
      <p:sp>
        <p:nvSpPr>
          <p:cNvPr id="9" name="TextBox 8"/>
          <p:cNvSpPr txBox="1"/>
          <p:nvPr/>
        </p:nvSpPr>
        <p:spPr>
          <a:xfrm>
            <a:off x="2205102" y="5239512"/>
            <a:ext cx="3087874" cy="228600"/>
          </a:xfrm>
          <a:prstGeom prst="rect">
            <a:avLst/>
          </a:prstGeom>
          <a:noFill/>
        </p:spPr>
        <p:txBody>
          <a:bodyPr wrap="square" anchor="t" lIns="45720" rIns="45720" tIns="18288" bIns="18288">
            <a:spAutoFit/>
          </a:bodyPr>
          <a:lstStyle/>
          <a:p>
            <a:pPr algn="ctr"/>
            <a:r>
              <a:rPr sz="850" b="0" i="1">
                <a:solidFill>
                  <a:srgbClr val="555B66"/>
                </a:solidFill>
                <a:latin typeface="Calibri"/>
              </a:rPr>
              <a:t>Figure 2 (PMC12578619)</a:t>
            </a:r>
          </a:p>
        </p:txBody>
      </p:sp>
      <p:sp>
        <p:nvSpPr>
          <p:cNvPr id="10" name="TextBox 9"/>
          <p:cNvSpPr txBox="1"/>
          <p:nvPr/>
        </p:nvSpPr>
        <p:spPr>
          <a:xfrm>
            <a:off x="7452360" y="11887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 açıklaması (yazarların etiketleri)</a:t>
            </a:r>
          </a:p>
        </p:txBody>
      </p:sp>
      <p:sp>
        <p:nvSpPr>
          <p:cNvPr id="11" name="TextBox 10"/>
          <p:cNvSpPr txBox="1"/>
          <p:nvPr/>
        </p:nvSpPr>
        <p:spPr>
          <a:xfrm>
            <a:off x="7452360" y="1463040"/>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Şekil 1 (şema):</a:t>
            </a:r>
            <a:r>
              <a:rPr sz="1050" b="0" i="0">
                <a:solidFill>
                  <a:srgbClr val="1F2A44"/>
                </a:solidFill>
                <a:latin typeface="Calibri"/>
              </a:rPr>
              <a:t> ST/MT/IT = truncus superior/medius/inferior; AD/PD = divisio anterior/posterior; LC/MC/PC = fasciculus lateralis/medialis/posterior; MCN = n. musculocutaneus; LR/MR = radix lateralis/medialis n. mediani; MN = n. medianus; UN = n. ulnaris; RN = n. radialis; AN = n. axillaris; TDN = n. thoracodorsalis; USSN/LSSN = n. subscapularis superior/inferior.</a:t>
            </a:r>
          </a:p>
          <a:p>
            <a:pPr algn="l">
              <a:spcAft>
                <a:spcPts val="300"/>
              </a:spcAft>
            </a:pPr>
            <a:r>
              <a:rPr sz="1050" b="0" i="0">
                <a:solidFill>
                  <a:srgbClr val="1F2A44"/>
                </a:solidFill>
                <a:latin typeface="Calibri"/>
              </a:rPr>
              <a:t>• </a:t>
            </a:r>
            <a:r>
              <a:rPr sz="1050" b="0" i="0">
                <a:solidFill>
                  <a:srgbClr val="1F2A44"/>
                </a:solidFill>
                <a:latin typeface="Calibri"/>
              </a:rPr>
              <a:t>Şekil 2A:</a:t>
            </a:r>
            <a:r>
              <a:rPr sz="1050" b="0" i="0">
                <a:solidFill>
                  <a:srgbClr val="1F2A44"/>
                </a:solidFill>
                <a:latin typeface="Calibri"/>
              </a:rPr>
              <a:t> 1 fasciculus lateralis; 2 radix lateralis; 3 aksesuar radix lateralis; 4 radix medialis; 5 a. axillaris (ana); 6 n. musculocutaneus; 7 aberran a. axillaris; 8 n. ulnaris; 9 n. medianus.</a:t>
            </a:r>
          </a:p>
          <a:p>
            <a:pPr algn="l">
              <a:spcAft>
                <a:spcPts val="300"/>
              </a:spcAft>
            </a:pPr>
            <a:r>
              <a:rPr sz="1050" b="0" i="0">
                <a:solidFill>
                  <a:srgbClr val="1F2A44"/>
                </a:solidFill>
                <a:latin typeface="Calibri"/>
              </a:rPr>
              <a:t>• </a:t>
            </a:r>
            <a:r>
              <a:rPr sz="1050" b="0" i="0">
                <a:solidFill>
                  <a:srgbClr val="1F2A44"/>
                </a:solidFill>
                <a:latin typeface="Calibri"/>
              </a:rPr>
              <a:t>Şekil 2B:</a:t>
            </a:r>
            <a:r>
              <a:rPr sz="1050" b="0" i="0">
                <a:solidFill>
                  <a:srgbClr val="1F2A44"/>
                </a:solidFill>
                <a:latin typeface="Calibri"/>
              </a:rPr>
              <a:t> 1 n. medianus; 2 radix medialis; 3 fasciculus medialis ile radix lateralis arasında iletişim dalı; 4 radix lateralis.</a:t>
            </a:r>
          </a:p>
        </p:txBody>
      </p:sp>
      <p:sp>
        <p:nvSpPr>
          <p:cNvPr id="12" name="TextBox 11"/>
          <p:cNvSpPr txBox="1"/>
          <p:nvPr/>
        </p:nvSpPr>
        <p:spPr>
          <a:xfrm>
            <a:off x="7452360" y="37033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3" name="TextBox 12"/>
          <p:cNvSpPr txBox="1"/>
          <p:nvPr/>
        </p:nvSpPr>
        <p:spPr>
          <a:xfrm>
            <a:off x="7452360" y="3977639"/>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18 kadavranın 36 üst ekstremitesinde plexus brachialis'in </a:t>
            </a:r>
            <a:r>
              <a:rPr sz="1050" b="0" i="0">
                <a:solidFill>
                  <a:srgbClr val="1F2A44"/>
                </a:solidFill>
                <a:latin typeface="Calibri"/>
              </a:rPr>
              <a:t>%44,4</a:t>
            </a:r>
            <a:r>
              <a:rPr sz="1050" b="0" i="0">
                <a:solidFill>
                  <a:srgbClr val="1F2A44"/>
                </a:solidFill>
                <a:latin typeface="Calibri"/>
              </a:rPr>
              <a:t>'ünde (16/36) varyasyon saptanmış; toplam 32 varyasyon, çoğu bilateral (%77,8).</a:t>
            </a:r>
          </a:p>
          <a:p>
            <a:pPr algn="l">
              <a:spcAft>
                <a:spcPts val="300"/>
              </a:spcAft>
            </a:pPr>
            <a:r>
              <a:rPr sz="1050" b="0" i="0">
                <a:solidFill>
                  <a:srgbClr val="1F2A44"/>
                </a:solidFill>
                <a:latin typeface="Calibri"/>
              </a:rPr>
              <a:t>• N. medianus, fasciculus lateralis ve medialis'ten gelen iki kökün a. axillaris önünde birleşmesiyle oluşur; köklerin sayı ve birleşme düzeyi değişkendir.</a:t>
            </a:r>
          </a:p>
        </p:txBody>
      </p:sp>
      <p:cxnSp>
        <p:nvCxnSpPr>
          <p:cNvPr id="14" name="Connector 13"/>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Bozhikova E., Davis J. C., Moon P. H. et al. A Cadaveric Study on the Variations in the Infraclavicular Part of Brachial Plexus in Axillary Region and Upper Arm. Biomed Res Int. 2025 Oct 31;2025:6650184. doi: 10.1155/bmri/6650184 PMCID: PMC12578619. Lisans: CC BY – Figure 1, Figure 2 değiştirilmeden (yalnızca ölçeklendirilerek) kullanılmıştır; Türkçe açıklama bu projeye aittir.</a:t>
            </a:r>
          </a:p>
        </p:txBody>
      </p:sp>
      <p:sp>
        <p:nvSpPr>
          <p:cNvPr id="16" name="TextBox 15"/>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Spatium axillare laterale (dörtgen boşluk)</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Ön (deltopektoral) ve arka yaklaşımla kadavra diseksiyonu</a:t>
            </a:r>
          </a:p>
        </p:txBody>
      </p:sp>
      <p:sp>
        <p:nvSpPr>
          <p:cNvPr id="5" name="TextBox 4"/>
          <p:cNvSpPr txBox="1"/>
          <p:nvPr/>
        </p:nvSpPr>
        <p:spPr>
          <a:xfrm>
            <a:off x="9692640" y="841248"/>
            <a:ext cx="2286000" cy="274320"/>
          </a:xfrm>
          <a:prstGeom prst="rect">
            <a:avLst/>
          </a:prstGeom>
          <a:solidFill>
            <a:srgbClr val="2E7D32"/>
          </a:solidFill>
        </p:spPr>
        <p:txBody>
          <a:bodyPr wrap="square" anchor="t" lIns="45720" rIns="45720" tIns="18288" bIns="18288">
            <a:spAutoFit/>
          </a:bodyPr>
          <a:lstStyle/>
          <a:p>
            <a:pPr algn="ctr"/>
            <a:r>
              <a:rPr sz="1000" b="1" i="0">
                <a:solidFill>
                  <a:srgbClr val="FFFFFF"/>
                </a:solidFill>
                <a:latin typeface="Calibri"/>
              </a:rPr>
              <a:t>NORMAL TOPOGRAFİ</a:t>
            </a:r>
          </a:p>
        </p:txBody>
      </p:sp>
      <p:pic>
        <p:nvPicPr>
          <p:cNvPr id="6" name="Picture 5" descr="cureus-0014-00000022619-i04.jpg"/>
          <p:cNvPicPr>
            <a:picLocks noChangeAspect="1"/>
          </p:cNvPicPr>
          <p:nvPr/>
        </p:nvPicPr>
        <p:blipFill>
          <a:blip r:embed="rId2"/>
          <a:stretch>
            <a:fillRect/>
          </a:stretch>
        </p:blipFill>
        <p:spPr>
          <a:xfrm>
            <a:off x="286333" y="914400"/>
            <a:ext cx="3558396" cy="4526280"/>
          </a:xfrm>
          <a:prstGeom prst="rect">
            <a:avLst/>
          </a:prstGeom>
        </p:spPr>
      </p:pic>
      <p:sp>
        <p:nvSpPr>
          <p:cNvPr id="7" name="TextBox 6"/>
          <p:cNvSpPr txBox="1"/>
          <p:nvPr/>
        </p:nvSpPr>
        <p:spPr>
          <a:xfrm>
            <a:off x="286333" y="5422392"/>
            <a:ext cx="3558396" cy="228600"/>
          </a:xfrm>
          <a:prstGeom prst="rect">
            <a:avLst/>
          </a:prstGeom>
          <a:noFill/>
        </p:spPr>
        <p:txBody>
          <a:bodyPr wrap="square" anchor="t" lIns="45720" rIns="45720" tIns="18288" bIns="18288">
            <a:spAutoFit/>
          </a:bodyPr>
          <a:lstStyle/>
          <a:p>
            <a:pPr algn="ctr"/>
            <a:r>
              <a:rPr sz="850" b="0" i="1">
                <a:solidFill>
                  <a:srgbClr val="555B66"/>
                </a:solidFill>
                <a:latin typeface="Calibri"/>
              </a:rPr>
              <a:t>Figure 4 (PMC8958867)</a:t>
            </a:r>
          </a:p>
        </p:txBody>
      </p:sp>
      <p:pic>
        <p:nvPicPr>
          <p:cNvPr id="8" name="Picture 7" descr="cureus-0014-00000022619-i03.jpg"/>
          <p:cNvPicPr>
            <a:picLocks noChangeAspect="1"/>
          </p:cNvPicPr>
          <p:nvPr/>
        </p:nvPicPr>
        <p:blipFill>
          <a:blip r:embed="rId3"/>
          <a:stretch>
            <a:fillRect/>
          </a:stretch>
        </p:blipFill>
        <p:spPr>
          <a:xfrm>
            <a:off x="4045378" y="914400"/>
            <a:ext cx="3172626" cy="4526280"/>
          </a:xfrm>
          <a:prstGeom prst="rect">
            <a:avLst/>
          </a:prstGeom>
        </p:spPr>
      </p:pic>
      <p:sp>
        <p:nvSpPr>
          <p:cNvPr id="9" name="TextBox 8"/>
          <p:cNvSpPr txBox="1"/>
          <p:nvPr/>
        </p:nvSpPr>
        <p:spPr>
          <a:xfrm>
            <a:off x="4045378" y="5422392"/>
            <a:ext cx="3172626" cy="228600"/>
          </a:xfrm>
          <a:prstGeom prst="rect">
            <a:avLst/>
          </a:prstGeom>
          <a:noFill/>
        </p:spPr>
        <p:txBody>
          <a:bodyPr wrap="square" anchor="t" lIns="45720" rIns="45720" tIns="18288" bIns="18288">
            <a:spAutoFit/>
          </a:bodyPr>
          <a:lstStyle/>
          <a:p>
            <a:pPr algn="ctr"/>
            <a:r>
              <a:rPr sz="850" b="0" i="1">
                <a:solidFill>
                  <a:srgbClr val="555B66"/>
                </a:solidFill>
                <a:latin typeface="Calibri"/>
              </a:rPr>
              <a:t>Figure 3 (PMC8958867)</a:t>
            </a:r>
          </a:p>
        </p:txBody>
      </p:sp>
      <p:sp>
        <p:nvSpPr>
          <p:cNvPr id="10" name="TextBox 9"/>
          <p:cNvSpPr txBox="1"/>
          <p:nvPr/>
        </p:nvSpPr>
        <p:spPr>
          <a:xfrm>
            <a:off x="7452360" y="11887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 açıklaması (yazarların etiketleri)</a:t>
            </a:r>
          </a:p>
        </p:txBody>
      </p:sp>
      <p:sp>
        <p:nvSpPr>
          <p:cNvPr id="11" name="TextBox 10"/>
          <p:cNvSpPr txBox="1"/>
          <p:nvPr/>
        </p:nvSpPr>
        <p:spPr>
          <a:xfrm>
            <a:off x="7452360" y="1463040"/>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AXN</a:t>
            </a:r>
            <a:r>
              <a:rPr sz="1050" b="0" i="0">
                <a:solidFill>
                  <a:srgbClr val="1F2A44"/>
                </a:solidFill>
                <a:latin typeface="Calibri"/>
              </a:rPr>
              <a:t> = n. axillaris; </a:t>
            </a:r>
            <a:r>
              <a:rPr sz="1050" b="0" i="0">
                <a:solidFill>
                  <a:srgbClr val="1F2A44"/>
                </a:solidFill>
                <a:latin typeface="Calibri"/>
              </a:rPr>
              <a:t>PHCA</a:t>
            </a:r>
            <a:r>
              <a:rPr sz="1050" b="0" i="0">
                <a:solidFill>
                  <a:srgbClr val="1F2A44"/>
                </a:solidFill>
                <a:latin typeface="Calibri"/>
              </a:rPr>
              <a:t> = a. circumflexa humeri posterior.</a:t>
            </a:r>
          </a:p>
          <a:p>
            <a:pPr algn="l">
              <a:spcAft>
                <a:spcPts val="300"/>
              </a:spcAft>
            </a:pPr>
            <a:r>
              <a:rPr sz="1050" b="0" i="0">
                <a:solidFill>
                  <a:srgbClr val="1F2A44"/>
                </a:solidFill>
                <a:latin typeface="Calibri"/>
              </a:rPr>
              <a:t>• </a:t>
            </a:r>
            <a:r>
              <a:rPr sz="1050" b="0" i="0">
                <a:solidFill>
                  <a:srgbClr val="1F2A44"/>
                </a:solidFill>
                <a:latin typeface="Calibri"/>
              </a:rPr>
              <a:t>Şekil 4 (arka):</a:t>
            </a:r>
            <a:r>
              <a:rPr sz="1050" b="0" i="0">
                <a:solidFill>
                  <a:srgbClr val="1F2A44"/>
                </a:solidFill>
                <a:latin typeface="Calibri"/>
              </a:rPr>
              <a:t> Deltoid m. deltoideus; Teres Minor/Major m. teres minor/major; Long Head of Triceps caput longum m. tricipitis brachii; Surgical neck… collum chirurgicum humeri (caput mediale m. tricipitis ile örtülü).</a:t>
            </a:r>
          </a:p>
          <a:p>
            <a:pPr algn="l">
              <a:spcAft>
                <a:spcPts val="300"/>
              </a:spcAft>
            </a:pPr>
            <a:r>
              <a:rPr sz="1050" b="0" i="0">
                <a:solidFill>
                  <a:srgbClr val="1F2A44"/>
                </a:solidFill>
                <a:latin typeface="Calibri"/>
              </a:rPr>
              <a:t>• </a:t>
            </a:r>
            <a:r>
              <a:rPr sz="1050" b="0" i="0">
                <a:solidFill>
                  <a:srgbClr val="1F2A44"/>
                </a:solidFill>
                <a:latin typeface="Calibri"/>
              </a:rPr>
              <a:t>Şekil 3 (ön, deltopektoral):</a:t>
            </a:r>
            <a:r>
              <a:rPr sz="1050" b="0" i="0">
                <a:solidFill>
                  <a:srgbClr val="1F2A44"/>
                </a:solidFill>
                <a:latin typeface="Calibri"/>
              </a:rPr>
              <a:t> Cephalic vein v. cephalica; Pectoralis Major m. pectoralis major; Conjoint tendon m. coracobrachialis ile caput breve m. bicipitis'in ortak tendonu.</a:t>
            </a:r>
          </a:p>
        </p:txBody>
      </p:sp>
      <p:sp>
        <p:nvSpPr>
          <p:cNvPr id="12" name="TextBox 11"/>
          <p:cNvSpPr txBox="1"/>
          <p:nvPr/>
        </p:nvSpPr>
        <p:spPr>
          <a:xfrm>
            <a:off x="7452360" y="37033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3" name="TextBox 12"/>
          <p:cNvSpPr txBox="1"/>
          <p:nvPr/>
        </p:nvSpPr>
        <p:spPr>
          <a:xfrm>
            <a:off x="7452360" y="3977639"/>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Sınırlar: yukarıda </a:t>
            </a:r>
            <a:r>
              <a:rPr sz="1050" b="0" i="0">
                <a:solidFill>
                  <a:srgbClr val="1F2A44"/>
                </a:solidFill>
                <a:latin typeface="Calibri"/>
              </a:rPr>
              <a:t>m. teres minor</a:t>
            </a:r>
            <a:r>
              <a:rPr sz="1050" b="0" i="0">
                <a:solidFill>
                  <a:srgbClr val="1F2A44"/>
                </a:solidFill>
                <a:latin typeface="Calibri"/>
              </a:rPr>
              <a:t>, aşağıda </a:t>
            </a:r>
            <a:r>
              <a:rPr sz="1050" b="0" i="0">
                <a:solidFill>
                  <a:srgbClr val="1F2A44"/>
                </a:solidFill>
                <a:latin typeface="Calibri"/>
              </a:rPr>
              <a:t>m. teres major</a:t>
            </a:r>
            <a:r>
              <a:rPr sz="1050" b="0" i="0">
                <a:solidFill>
                  <a:srgbClr val="1F2A44"/>
                </a:solidFill>
                <a:latin typeface="Calibri"/>
              </a:rPr>
              <a:t>, medialde </a:t>
            </a:r>
            <a:r>
              <a:rPr sz="1050" b="0" i="0">
                <a:solidFill>
                  <a:srgbClr val="1F2A44"/>
                </a:solidFill>
                <a:latin typeface="Calibri"/>
              </a:rPr>
              <a:t>caput longum m. tricipitis brachii</a:t>
            </a:r>
            <a:r>
              <a:rPr sz="1050" b="0" i="0">
                <a:solidFill>
                  <a:srgbClr val="1F2A44"/>
                </a:solidFill>
                <a:latin typeface="Calibri"/>
              </a:rPr>
              <a:t>, lateralde </a:t>
            </a:r>
            <a:r>
              <a:rPr sz="1050" b="0" i="0">
                <a:solidFill>
                  <a:srgbClr val="1F2A44"/>
                </a:solidFill>
                <a:latin typeface="Calibri"/>
              </a:rPr>
              <a:t>collum chirurgicum humeri</a:t>
            </a:r>
            <a:r>
              <a:rPr sz="1050" b="0" i="0">
                <a:solidFill>
                  <a:srgbClr val="1F2A44"/>
                </a:solidFill>
                <a:latin typeface="Calibri"/>
              </a:rPr>
              <a:t>.</a:t>
            </a:r>
          </a:p>
          <a:p>
            <a:pPr algn="l">
              <a:spcAft>
                <a:spcPts val="300"/>
              </a:spcAft>
            </a:pPr>
            <a:r>
              <a:rPr sz="1050" b="0" i="0">
                <a:solidFill>
                  <a:srgbClr val="1F2A44"/>
                </a:solidFill>
                <a:latin typeface="Calibri"/>
              </a:rPr>
              <a:t>• İçerik: n. axillaris ve a./v. circumflexa humeri posterior – collum chirurgicum kırıkları ve omuz çıkıklarında n. axillaris hasarı (m. deltoideus güçsüzlüğü, omuz lateralinde duyu kaybı).</a:t>
            </a:r>
          </a:p>
          <a:p>
            <a:pPr algn="l">
              <a:spcAft>
                <a:spcPts val="300"/>
              </a:spcAft>
            </a:pPr>
            <a:r>
              <a:rPr sz="1050" b="0" i="0">
                <a:solidFill>
                  <a:srgbClr val="1F2A44"/>
                </a:solidFill>
                <a:latin typeface="Calibri"/>
              </a:rPr>
              <a:t>• Çalışmada (8 ekstremite) arka yaklaşım daha kolay ve hızlı bulunmuş, ön yaklaşım ise daha az morbidite ile ilişkilendirilmiştir.</a:t>
            </a:r>
          </a:p>
        </p:txBody>
      </p:sp>
      <p:cxnSp>
        <p:nvCxnSpPr>
          <p:cNvPr id="14" name="Connector 13"/>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Charmode Sundip, Mehra Simmi, Kushwaha Sudhir Revisiting the Surgical Approaches to Decompression in Quadrilateral Space Syndrome: A Cadaveric Study. Cureus. 2022 Feb 26;14(2):e22619. doi: 10.7759/cureus.22619 PMCID: PMC8958867. Lisans: CC BY – Figure 4, Figure 3 değiştirilmeden (yalnızca ölçeklendirilerek) kullanılmıştır; Türkçe açıklama bu projeye aittir.</a:t>
            </a:r>
          </a:p>
        </p:txBody>
      </p:sp>
      <p:sp>
        <p:nvSpPr>
          <p:cNvPr id="16" name="TextBox 15"/>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Incisura scapulae ve n. suprascapularis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Lig. transversum scapulae superius ile damar–sinir ilişkisi</a:t>
            </a:r>
          </a:p>
        </p:txBody>
      </p:sp>
      <p:sp>
        <p:nvSpPr>
          <p:cNvPr id="5" name="TextBox 4"/>
          <p:cNvSpPr txBox="1"/>
          <p:nvPr/>
        </p:nvSpPr>
        <p:spPr>
          <a:xfrm>
            <a:off x="9692640" y="841248"/>
            <a:ext cx="2286000" cy="274320"/>
          </a:xfrm>
          <a:prstGeom prst="rect">
            <a:avLst/>
          </a:prstGeom>
          <a:solidFill>
            <a:srgbClr val="2E7D32"/>
          </a:solidFill>
        </p:spPr>
        <p:txBody>
          <a:bodyPr wrap="square" anchor="t" lIns="45720" rIns="45720" tIns="18288" bIns="18288">
            <a:spAutoFit/>
          </a:bodyPr>
          <a:lstStyle/>
          <a:p>
            <a:pPr algn="ctr"/>
            <a:r>
              <a:rPr sz="1000" b="1" i="0">
                <a:solidFill>
                  <a:srgbClr val="FFFFFF"/>
                </a:solidFill>
                <a:latin typeface="Calibri"/>
              </a:rPr>
              <a:t>NORMAL TOPOGRAFİ</a:t>
            </a:r>
          </a:p>
        </p:txBody>
      </p:sp>
      <p:pic>
        <p:nvPicPr>
          <p:cNvPr id="6" name="Picture 5" descr="167_2014_2937_Fig2_HTML.jpg"/>
          <p:cNvPicPr>
            <a:picLocks noChangeAspect="1"/>
          </p:cNvPicPr>
          <p:nvPr/>
        </p:nvPicPr>
        <p:blipFill>
          <a:blip r:embed="rId2"/>
          <a:stretch>
            <a:fillRect/>
          </a:stretch>
        </p:blipFill>
        <p:spPr>
          <a:xfrm>
            <a:off x="2064741" y="914400"/>
            <a:ext cx="3368596" cy="4526280"/>
          </a:xfrm>
          <a:prstGeom prst="rect">
            <a:avLst/>
          </a:prstGeom>
        </p:spPr>
      </p:pic>
      <p:sp>
        <p:nvSpPr>
          <p:cNvPr id="7" name="TextBox 6"/>
          <p:cNvSpPr txBox="1"/>
          <p:nvPr/>
        </p:nvSpPr>
        <p:spPr>
          <a:xfrm>
            <a:off x="2064741" y="5422392"/>
            <a:ext cx="3368596" cy="228600"/>
          </a:xfrm>
          <a:prstGeom prst="rect">
            <a:avLst/>
          </a:prstGeom>
          <a:noFill/>
        </p:spPr>
        <p:txBody>
          <a:bodyPr wrap="square" anchor="t" lIns="45720" rIns="45720" tIns="18288" bIns="18288">
            <a:spAutoFit/>
          </a:bodyPr>
          <a:lstStyle/>
          <a:p>
            <a:pPr algn="ctr"/>
            <a:r>
              <a:rPr sz="850" b="0" i="1">
                <a:solidFill>
                  <a:srgbClr val="555B66"/>
                </a:solidFill>
                <a:latin typeface="Calibri"/>
              </a:rPr>
              <a:t>Fig. 2 (PMC4555201)</a:t>
            </a:r>
          </a:p>
        </p:txBody>
      </p:sp>
      <p:sp>
        <p:nvSpPr>
          <p:cNvPr id="8" name="TextBox 7"/>
          <p:cNvSpPr txBox="1"/>
          <p:nvPr/>
        </p:nvSpPr>
        <p:spPr>
          <a:xfrm>
            <a:off x="7452360" y="11887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 açıklaması (yazarların etiketleri)</a:t>
            </a:r>
          </a:p>
        </p:txBody>
      </p:sp>
      <p:sp>
        <p:nvSpPr>
          <p:cNvPr id="9" name="TextBox 8"/>
          <p:cNvSpPr txBox="1"/>
          <p:nvPr/>
        </p:nvSpPr>
        <p:spPr>
          <a:xfrm>
            <a:off x="7452360" y="1463040"/>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1</a:t>
            </a:r>
            <a:r>
              <a:rPr sz="1050" b="0" i="0">
                <a:solidFill>
                  <a:srgbClr val="1F2A44"/>
                </a:solidFill>
                <a:latin typeface="Calibri"/>
              </a:rPr>
              <a:t> a. suprascapularis; </a:t>
            </a:r>
            <a:r>
              <a:rPr sz="1050" b="0" i="0">
                <a:solidFill>
                  <a:srgbClr val="1F2A44"/>
                </a:solidFill>
                <a:latin typeface="Calibri"/>
              </a:rPr>
              <a:t>2</a:t>
            </a:r>
            <a:r>
              <a:rPr sz="1050" b="0" i="0">
                <a:solidFill>
                  <a:srgbClr val="1F2A44"/>
                </a:solidFill>
                <a:latin typeface="Calibri"/>
              </a:rPr>
              <a:t> v. suprascapularis; </a:t>
            </a:r>
            <a:r>
              <a:rPr sz="1050" b="0" i="0">
                <a:solidFill>
                  <a:srgbClr val="1F2A44"/>
                </a:solidFill>
                <a:latin typeface="Calibri"/>
              </a:rPr>
              <a:t>3</a:t>
            </a:r>
            <a:r>
              <a:rPr sz="1050" b="0" i="0">
                <a:solidFill>
                  <a:srgbClr val="1F2A44"/>
                </a:solidFill>
                <a:latin typeface="Calibri"/>
              </a:rPr>
              <a:t> n. suprascapularis; </a:t>
            </a:r>
            <a:r>
              <a:rPr sz="1050" b="0" i="0">
                <a:solidFill>
                  <a:srgbClr val="1F2A44"/>
                </a:solidFill>
                <a:latin typeface="Calibri"/>
              </a:rPr>
              <a:t>4</a:t>
            </a:r>
            <a:r>
              <a:rPr sz="1050" b="0" i="0">
                <a:solidFill>
                  <a:srgbClr val="1F2A44"/>
                </a:solidFill>
                <a:latin typeface="Calibri"/>
              </a:rPr>
              <a:t> lig. transversum scapulae superius. La = lateral, Me = medial.</a:t>
            </a:r>
          </a:p>
          <a:p>
            <a:pPr algn="l">
              <a:spcAft>
                <a:spcPts val="300"/>
              </a:spcAft>
            </a:pPr>
            <a:r>
              <a:rPr sz="1050" b="0" i="0">
                <a:solidFill>
                  <a:srgbClr val="1F2A44"/>
                </a:solidFill>
                <a:latin typeface="Calibri"/>
              </a:rPr>
              <a:t>• A: kadavra görüntüsü (ölçek 1 mm); B: şematik düzen (Tip I).</a:t>
            </a:r>
          </a:p>
        </p:txBody>
      </p:sp>
      <p:sp>
        <p:nvSpPr>
          <p:cNvPr id="10" name="TextBox 9"/>
          <p:cNvSpPr txBox="1"/>
          <p:nvPr/>
        </p:nvSpPr>
        <p:spPr>
          <a:xfrm>
            <a:off x="7452360" y="37033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1" name="TextBox 10"/>
          <p:cNvSpPr txBox="1"/>
          <p:nvPr/>
        </p:nvSpPr>
        <p:spPr>
          <a:xfrm>
            <a:off x="7452360" y="3977639"/>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106 kadavra omzunda: </a:t>
            </a:r>
            <a:r>
              <a:rPr sz="1050" b="0" i="0">
                <a:solidFill>
                  <a:srgbClr val="1F2A44"/>
                </a:solidFill>
                <a:latin typeface="Calibri"/>
              </a:rPr>
              <a:t>Tip I %61,3</a:t>
            </a:r>
            <a:r>
              <a:rPr sz="1050" b="0" i="0">
                <a:solidFill>
                  <a:srgbClr val="1F2A44"/>
                </a:solidFill>
                <a:latin typeface="Calibri"/>
              </a:rPr>
              <a:t> (arter bağın üstünde, ven ve sinir altında); Tip II %17; Tip III %12,3 (hepsi bağın altında); Tip IV %9,4.</a:t>
            </a:r>
          </a:p>
          <a:p>
            <a:pPr algn="l">
              <a:spcAft>
                <a:spcPts val="300"/>
              </a:spcAft>
            </a:pPr>
            <a:r>
              <a:rPr sz="1050" b="0" i="0">
                <a:solidFill>
                  <a:srgbClr val="1F2A44"/>
                </a:solidFill>
                <a:latin typeface="Calibri"/>
              </a:rPr>
              <a:t>• N. suprascapularis m. supraspinatus ve m. infraspinatus'u innerve eder; incisura'da sıkışma (suprascapular nöropati) bu kaslarda güçsüzlük ve atrofi yapar.</a:t>
            </a:r>
          </a:p>
          <a:p>
            <a:pPr algn="l">
              <a:spcAft>
                <a:spcPts val="300"/>
              </a:spcAft>
            </a:pPr>
            <a:r>
              <a:rPr sz="1050" b="0" i="0">
                <a:solidFill>
                  <a:srgbClr val="1F2A44"/>
                </a:solidFill>
                <a:latin typeface="Calibri"/>
              </a:rPr>
              <a:t>• Lig. coracoscapulare anterius 106 omzun 55'inde bulunmuştur.</a:t>
            </a:r>
          </a:p>
        </p:txBody>
      </p:sp>
      <p:cxnSp>
        <p:nvCxnSpPr>
          <p:cNvPr id="12" name="Connector 11"/>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Polguj Michał, Rożniecki Jacek, Sibiński Marcin et al. The variable morphology of suprascapular nerve and vessels at suprascapular notch: a proposal for classification and its potential clinical implications. Knee Surg Sports Traumatol Arthrosc. 2014 Mar 18;23(5):1542–8. doi: 10.1007/s00167-014-2937-1 PMCID: PMC4555201. Lisans: CC BY – Fig. 2 değiştirilmeden (yalnızca ölçeklendirilerek) kullanılmıştır; Türkçe açıklama bu projeye aittir.</a:t>
            </a:r>
          </a:p>
        </p:txBody>
      </p:sp>
      <p:sp>
        <p:nvSpPr>
          <p:cNvPr id="14" name="TextBox 13"/>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Fossa cubiti – kadavra diseksiyonu</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Dikkat: bu olguda yüksek a. brachialis bölünmesi vardır (varyasyon); normal içerik notlarda verilmiştir</a:t>
            </a:r>
          </a:p>
        </p:txBody>
      </p:sp>
      <p:sp>
        <p:nvSpPr>
          <p:cNvPr id="5" name="TextBox 4"/>
          <p:cNvSpPr txBox="1"/>
          <p:nvPr/>
        </p:nvSpPr>
        <p:spPr>
          <a:xfrm>
            <a:off x="9692640" y="841248"/>
            <a:ext cx="2286000" cy="274320"/>
          </a:xfrm>
          <a:prstGeom prst="rect">
            <a:avLst/>
          </a:prstGeom>
          <a:solidFill>
            <a:srgbClr val="2E7D32"/>
          </a:solidFill>
        </p:spPr>
        <p:txBody>
          <a:bodyPr wrap="square" anchor="t" lIns="45720" rIns="45720" tIns="18288" bIns="18288">
            <a:spAutoFit/>
          </a:bodyPr>
          <a:lstStyle/>
          <a:p>
            <a:pPr algn="ctr"/>
            <a:r>
              <a:rPr sz="1000" b="1" i="0">
                <a:solidFill>
                  <a:srgbClr val="FFFFFF"/>
                </a:solidFill>
                <a:latin typeface="Calibri"/>
              </a:rPr>
              <a:t>NORMAL TOPOGRAFİ</a:t>
            </a:r>
          </a:p>
        </p:txBody>
      </p:sp>
      <p:pic>
        <p:nvPicPr>
          <p:cNvPr id="6" name="Picture 5" descr="cureus-0015-00000051350-i05.jpg"/>
          <p:cNvPicPr>
            <a:picLocks noChangeAspect="1"/>
          </p:cNvPicPr>
          <p:nvPr/>
        </p:nvPicPr>
        <p:blipFill>
          <a:blip r:embed="rId2"/>
          <a:stretch>
            <a:fillRect/>
          </a:stretch>
        </p:blipFill>
        <p:spPr>
          <a:xfrm>
            <a:off x="1891644" y="914400"/>
            <a:ext cx="3714790" cy="2233827"/>
          </a:xfrm>
          <a:prstGeom prst="rect">
            <a:avLst/>
          </a:prstGeom>
        </p:spPr>
      </p:pic>
      <p:sp>
        <p:nvSpPr>
          <p:cNvPr id="7" name="TextBox 6"/>
          <p:cNvSpPr txBox="1"/>
          <p:nvPr/>
        </p:nvSpPr>
        <p:spPr>
          <a:xfrm>
            <a:off x="1891644" y="3129939"/>
            <a:ext cx="3714790" cy="228600"/>
          </a:xfrm>
          <a:prstGeom prst="rect">
            <a:avLst/>
          </a:prstGeom>
          <a:noFill/>
        </p:spPr>
        <p:txBody>
          <a:bodyPr wrap="square" anchor="t" lIns="45720" rIns="45720" tIns="18288" bIns="18288">
            <a:spAutoFit/>
          </a:bodyPr>
          <a:lstStyle/>
          <a:p>
            <a:pPr algn="ctr"/>
            <a:r>
              <a:rPr sz="850" b="0" i="1">
                <a:solidFill>
                  <a:srgbClr val="555B66"/>
                </a:solidFill>
                <a:latin typeface="Calibri"/>
              </a:rPr>
              <a:t>Figure 5 (PMC10823296)</a:t>
            </a:r>
          </a:p>
        </p:txBody>
      </p:sp>
      <p:pic>
        <p:nvPicPr>
          <p:cNvPr id="8" name="Picture 7" descr="cureus-0015-00000051350-i06.jpg"/>
          <p:cNvPicPr>
            <a:picLocks noChangeAspect="1"/>
          </p:cNvPicPr>
          <p:nvPr/>
        </p:nvPicPr>
        <p:blipFill>
          <a:blip r:embed="rId3"/>
          <a:stretch>
            <a:fillRect/>
          </a:stretch>
        </p:blipFill>
        <p:spPr>
          <a:xfrm>
            <a:off x="1928352" y="3422547"/>
            <a:ext cx="3641374" cy="1835252"/>
          </a:xfrm>
          <a:prstGeom prst="rect">
            <a:avLst/>
          </a:prstGeom>
        </p:spPr>
      </p:pic>
      <p:sp>
        <p:nvSpPr>
          <p:cNvPr id="9" name="TextBox 8"/>
          <p:cNvSpPr txBox="1"/>
          <p:nvPr/>
        </p:nvSpPr>
        <p:spPr>
          <a:xfrm>
            <a:off x="1928352" y="5239512"/>
            <a:ext cx="3641374" cy="228600"/>
          </a:xfrm>
          <a:prstGeom prst="rect">
            <a:avLst/>
          </a:prstGeom>
          <a:noFill/>
        </p:spPr>
        <p:txBody>
          <a:bodyPr wrap="square" anchor="t" lIns="45720" rIns="45720" tIns="18288" bIns="18288">
            <a:spAutoFit/>
          </a:bodyPr>
          <a:lstStyle/>
          <a:p>
            <a:pPr algn="ctr"/>
            <a:r>
              <a:rPr sz="850" b="0" i="1">
                <a:solidFill>
                  <a:srgbClr val="555B66"/>
                </a:solidFill>
                <a:latin typeface="Calibri"/>
              </a:rPr>
              <a:t>Figure 6 (PMC10823296)</a:t>
            </a:r>
          </a:p>
        </p:txBody>
      </p:sp>
      <p:sp>
        <p:nvSpPr>
          <p:cNvPr id="10" name="TextBox 9"/>
          <p:cNvSpPr txBox="1"/>
          <p:nvPr/>
        </p:nvSpPr>
        <p:spPr>
          <a:xfrm>
            <a:off x="7452360" y="11887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 açıklaması (yazarların etiketleri)</a:t>
            </a:r>
          </a:p>
        </p:txBody>
      </p:sp>
      <p:sp>
        <p:nvSpPr>
          <p:cNvPr id="11" name="TextBox 10"/>
          <p:cNvSpPr txBox="1"/>
          <p:nvPr/>
        </p:nvSpPr>
        <p:spPr>
          <a:xfrm>
            <a:off x="7452360" y="1463040"/>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Görüntülerdeki İngilizce etiketler: </a:t>
            </a:r>
            <a:r>
              <a:rPr sz="1050" b="0" i="0">
                <a:solidFill>
                  <a:srgbClr val="1F2A44"/>
                </a:solidFill>
                <a:latin typeface="Calibri"/>
              </a:rPr>
              <a:t>Brachial A</a:t>
            </a:r>
            <a:r>
              <a:rPr sz="1050" b="0" i="0">
                <a:solidFill>
                  <a:srgbClr val="1F2A44"/>
                </a:solidFill>
                <a:latin typeface="Calibri"/>
              </a:rPr>
              <a:t> a. brachialis; </a:t>
            </a:r>
            <a:r>
              <a:rPr sz="1050" b="0" i="0">
                <a:solidFill>
                  <a:srgbClr val="1F2A44"/>
                </a:solidFill>
                <a:latin typeface="Calibri"/>
              </a:rPr>
              <a:t>Radial A</a:t>
            </a:r>
            <a:r>
              <a:rPr sz="1050" b="0" i="0">
                <a:solidFill>
                  <a:srgbClr val="1F2A44"/>
                </a:solidFill>
                <a:latin typeface="Calibri"/>
              </a:rPr>
              <a:t> a. radialis; </a:t>
            </a:r>
            <a:r>
              <a:rPr sz="1050" b="0" i="0">
                <a:solidFill>
                  <a:srgbClr val="1F2A44"/>
                </a:solidFill>
                <a:latin typeface="Calibri"/>
              </a:rPr>
              <a:t>Ulnar A</a:t>
            </a:r>
            <a:r>
              <a:rPr sz="1050" b="0" i="0">
                <a:solidFill>
                  <a:srgbClr val="1F2A44"/>
                </a:solidFill>
                <a:latin typeface="Calibri"/>
              </a:rPr>
              <a:t> a. ulnaris; </a:t>
            </a:r>
            <a:r>
              <a:rPr sz="1050" b="0" i="0">
                <a:solidFill>
                  <a:srgbClr val="1F2A44"/>
                </a:solidFill>
                <a:latin typeface="Calibri"/>
              </a:rPr>
              <a:t>Median N</a:t>
            </a:r>
            <a:r>
              <a:rPr sz="1050" b="0" i="0">
                <a:solidFill>
                  <a:srgbClr val="1F2A44"/>
                </a:solidFill>
                <a:latin typeface="Calibri"/>
              </a:rPr>
              <a:t> n. medianus; </a:t>
            </a:r>
            <a:r>
              <a:rPr sz="1050" b="0" i="0">
                <a:solidFill>
                  <a:srgbClr val="1F2A44"/>
                </a:solidFill>
                <a:latin typeface="Calibri"/>
              </a:rPr>
              <a:t>Ulnar N</a:t>
            </a:r>
            <a:r>
              <a:rPr sz="1050" b="0" i="0">
                <a:solidFill>
                  <a:srgbClr val="1F2A44"/>
                </a:solidFill>
                <a:latin typeface="Calibri"/>
              </a:rPr>
              <a:t> n. ulnaris; </a:t>
            </a:r>
            <a:r>
              <a:rPr sz="1050" b="0" i="0">
                <a:solidFill>
                  <a:srgbClr val="1F2A44"/>
                </a:solidFill>
                <a:latin typeface="Calibri"/>
              </a:rPr>
              <a:t>Biceps brachii mm</a:t>
            </a:r>
            <a:r>
              <a:rPr sz="1050" b="0" i="0">
                <a:solidFill>
                  <a:srgbClr val="1F2A44"/>
                </a:solidFill>
                <a:latin typeface="Calibri"/>
              </a:rPr>
              <a:t> m. biceps brachii; </a:t>
            </a:r>
            <a:r>
              <a:rPr sz="1050" b="0" i="0">
                <a:solidFill>
                  <a:srgbClr val="1F2A44"/>
                </a:solidFill>
                <a:latin typeface="Calibri"/>
              </a:rPr>
              <a:t>Bicipital aponeurosis</a:t>
            </a:r>
            <a:r>
              <a:rPr sz="1050" b="0" i="0">
                <a:solidFill>
                  <a:srgbClr val="1F2A44"/>
                </a:solidFill>
                <a:latin typeface="Calibri"/>
              </a:rPr>
              <a:t> aponeurosis m. bicipitis brachii; </a:t>
            </a:r>
            <a:r>
              <a:rPr sz="1050" b="0" i="0">
                <a:solidFill>
                  <a:srgbClr val="1F2A44"/>
                </a:solidFill>
                <a:latin typeface="Calibri"/>
              </a:rPr>
              <a:t>Pronator teres mm</a:t>
            </a:r>
            <a:r>
              <a:rPr sz="1050" b="0" i="0">
                <a:solidFill>
                  <a:srgbClr val="1F2A44"/>
                </a:solidFill>
                <a:latin typeface="Calibri"/>
              </a:rPr>
              <a:t> m. pronator teres; </a:t>
            </a:r>
            <a:r>
              <a:rPr sz="1050" b="0" i="0">
                <a:solidFill>
                  <a:srgbClr val="1F2A44"/>
                </a:solidFill>
                <a:latin typeface="Calibri"/>
              </a:rPr>
              <a:t>Brachioradialis mm</a:t>
            </a:r>
            <a:r>
              <a:rPr sz="1050" b="0" i="0">
                <a:solidFill>
                  <a:srgbClr val="1F2A44"/>
                </a:solidFill>
                <a:latin typeface="Calibri"/>
              </a:rPr>
              <a:t> m. brachioradialis; </a:t>
            </a:r>
            <a:r>
              <a:rPr sz="1050" b="0" i="0">
                <a:solidFill>
                  <a:srgbClr val="1F2A44"/>
                </a:solidFill>
                <a:latin typeface="Calibri"/>
              </a:rPr>
              <a:t>Triceps mm</a:t>
            </a:r>
            <a:r>
              <a:rPr sz="1050" b="0" i="0">
                <a:solidFill>
                  <a:srgbClr val="1F2A44"/>
                </a:solidFill>
                <a:latin typeface="Calibri"/>
              </a:rPr>
              <a:t> m. triceps brachii.</a:t>
            </a:r>
          </a:p>
          <a:p>
            <a:pPr algn="l">
              <a:spcAft>
                <a:spcPts val="300"/>
              </a:spcAft>
            </a:pPr>
            <a:r>
              <a:rPr sz="1050" b="0" i="0">
                <a:solidFill>
                  <a:srgbClr val="1F2A44"/>
                </a:solidFill>
                <a:latin typeface="Calibri"/>
              </a:rPr>
              <a:t>• Şekil 5: sağ (Right UL); Şekil 6: sol üst ekstremite (Left UL). (Yayımlanan altyazıdaki a–h harfleri görüntüde yer almaz; etiketler görüntüden çevrilmiştir.)</a:t>
            </a:r>
          </a:p>
        </p:txBody>
      </p:sp>
      <p:sp>
        <p:nvSpPr>
          <p:cNvPr id="12" name="TextBox 11"/>
          <p:cNvSpPr txBox="1"/>
          <p:nvPr/>
        </p:nvSpPr>
        <p:spPr>
          <a:xfrm>
            <a:off x="7452360" y="37033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3" name="TextBox 12"/>
          <p:cNvSpPr txBox="1"/>
          <p:nvPr/>
        </p:nvSpPr>
        <p:spPr>
          <a:xfrm>
            <a:off x="7452360" y="3977639"/>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Normal düzen:</a:t>
            </a:r>
            <a:r>
              <a:rPr sz="1050" b="0" i="0">
                <a:solidFill>
                  <a:srgbClr val="1F2A44"/>
                </a:solidFill>
                <a:latin typeface="Calibri"/>
              </a:rPr>
              <a:t> fossa cubiti'de lateralden mediale tendo m. bicipitis brachii, a. brachialis ve n. medianus bulunur; çatısını aponeurosis m. bicipitis brachii oluşturur.</a:t>
            </a:r>
          </a:p>
          <a:p>
            <a:pPr algn="l">
              <a:spcAft>
                <a:spcPts val="300"/>
              </a:spcAft>
            </a:pPr>
            <a:r>
              <a:rPr sz="1050" b="0" i="0">
                <a:solidFill>
                  <a:srgbClr val="1F2A44"/>
                </a:solidFill>
                <a:latin typeface="Calibri"/>
              </a:rPr>
              <a:t>• </a:t>
            </a:r>
            <a:r>
              <a:rPr sz="1050" b="0" i="0">
                <a:solidFill>
                  <a:srgbClr val="1F2A44"/>
                </a:solidFill>
                <a:latin typeface="Calibri"/>
              </a:rPr>
              <a:t>Bu olguda (bilateral):</a:t>
            </a:r>
            <a:r>
              <a:rPr sz="1050" b="0" i="0">
                <a:solidFill>
                  <a:srgbClr val="1F2A44"/>
                </a:solidFill>
                <a:latin typeface="Calibri"/>
              </a:rPr>
              <a:t> a. brachialis kolun orta üçte birinde a. radialis ve a. ulnaris'e ayrılmış; m. pronator teres humerus'un distal üçte birinden başlamış ve n. medianus fossa cubiti dışında, bu kasın altında seyretmiştir.</a:t>
            </a:r>
          </a:p>
          <a:p>
            <a:pPr algn="l">
              <a:spcAft>
                <a:spcPts val="300"/>
              </a:spcAft>
            </a:pPr>
            <a:r>
              <a:rPr sz="1050" b="0" i="0">
                <a:solidFill>
                  <a:srgbClr val="1F2A44"/>
                </a:solidFill>
                <a:latin typeface="Calibri"/>
              </a:rPr>
              <a:t>• Literatürde yüksek a. brachialis bölünmesi kadavraların %5–14'ünde bildirilmiştir (makalede aktarılan).</a:t>
            </a:r>
          </a:p>
        </p:txBody>
      </p:sp>
      <p:cxnSp>
        <p:nvCxnSpPr>
          <p:cNvPr id="14" name="Connector 13"/>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Rajaram-Gilkes Mathangi, Burwell Julian, Barr Kelly et al. Bilateral Median Nerve and Brachial Artery Variations in the Arm: A Case Report. Cureus. 2023 Dec 30;15(12):e51350. doi: 10.7759/cureus.51350 PMCID: PMC10823296. Lisans: CC BY – Figure 5, Figure 6 değiştirilmeden (yalnızca ölçeklendirilerek) kullanılmıştır; Türkçe açıklama bu projeye aittir.</a:t>
            </a:r>
          </a:p>
        </p:txBody>
      </p:sp>
      <p:sp>
        <p:nvSpPr>
          <p:cNvPr id="16" name="TextBox 15"/>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N. radialis'in bölünmesi ve Frohse arkadı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R. superficialis, n. interosseus posterior ve m. supinator</a:t>
            </a:r>
          </a:p>
        </p:txBody>
      </p:sp>
      <p:sp>
        <p:nvSpPr>
          <p:cNvPr id="5" name="TextBox 4"/>
          <p:cNvSpPr txBox="1"/>
          <p:nvPr/>
        </p:nvSpPr>
        <p:spPr>
          <a:xfrm>
            <a:off x="9692640" y="841248"/>
            <a:ext cx="2286000" cy="274320"/>
          </a:xfrm>
          <a:prstGeom prst="rect">
            <a:avLst/>
          </a:prstGeom>
          <a:solidFill>
            <a:srgbClr val="2E7D32"/>
          </a:solidFill>
        </p:spPr>
        <p:txBody>
          <a:bodyPr wrap="square" anchor="t" lIns="45720" rIns="45720" tIns="18288" bIns="18288">
            <a:spAutoFit/>
          </a:bodyPr>
          <a:lstStyle/>
          <a:p>
            <a:pPr algn="ctr"/>
            <a:r>
              <a:rPr sz="1000" b="1" i="0">
                <a:solidFill>
                  <a:srgbClr val="FFFFFF"/>
                </a:solidFill>
                <a:latin typeface="Calibri"/>
              </a:rPr>
              <a:t>NORMAL TOPOGRAFİ</a:t>
            </a:r>
          </a:p>
        </p:txBody>
      </p:sp>
      <p:pic>
        <p:nvPicPr>
          <p:cNvPr id="6" name="Picture 5" descr="276_2025_3728_Fig4_HTML.jpg"/>
          <p:cNvPicPr>
            <a:picLocks noChangeAspect="1"/>
          </p:cNvPicPr>
          <p:nvPr/>
        </p:nvPicPr>
        <p:blipFill>
          <a:blip r:embed="rId2"/>
          <a:stretch>
            <a:fillRect/>
          </a:stretch>
        </p:blipFill>
        <p:spPr>
          <a:xfrm>
            <a:off x="274320" y="1364532"/>
            <a:ext cx="3631653" cy="3626014"/>
          </a:xfrm>
          <a:prstGeom prst="rect">
            <a:avLst/>
          </a:prstGeom>
        </p:spPr>
      </p:pic>
      <p:sp>
        <p:nvSpPr>
          <p:cNvPr id="7" name="TextBox 6"/>
          <p:cNvSpPr txBox="1"/>
          <p:nvPr/>
        </p:nvSpPr>
        <p:spPr>
          <a:xfrm>
            <a:off x="274320" y="4972259"/>
            <a:ext cx="3631653" cy="228600"/>
          </a:xfrm>
          <a:prstGeom prst="rect">
            <a:avLst/>
          </a:prstGeom>
          <a:noFill/>
        </p:spPr>
        <p:txBody>
          <a:bodyPr wrap="square" anchor="t" lIns="45720" rIns="45720" tIns="18288" bIns="18288">
            <a:spAutoFit/>
          </a:bodyPr>
          <a:lstStyle/>
          <a:p>
            <a:pPr algn="ctr"/>
            <a:r>
              <a:rPr sz="850" b="0" i="1">
                <a:solidFill>
                  <a:srgbClr val="555B66"/>
                </a:solidFill>
                <a:latin typeface="Calibri"/>
              </a:rPr>
              <a:t>Fig. 4 (PMC12500735)</a:t>
            </a:r>
          </a:p>
        </p:txBody>
      </p:sp>
      <p:pic>
        <p:nvPicPr>
          <p:cNvPr id="8" name="Picture 7" descr="276_2025_3728_Fig6_HTML.jpg"/>
          <p:cNvPicPr>
            <a:picLocks noChangeAspect="1"/>
          </p:cNvPicPr>
          <p:nvPr/>
        </p:nvPicPr>
        <p:blipFill>
          <a:blip r:embed="rId3"/>
          <a:stretch>
            <a:fillRect/>
          </a:stretch>
        </p:blipFill>
        <p:spPr>
          <a:xfrm>
            <a:off x="4088853" y="1371561"/>
            <a:ext cx="3134906" cy="3611957"/>
          </a:xfrm>
          <a:prstGeom prst="rect">
            <a:avLst/>
          </a:prstGeom>
        </p:spPr>
      </p:pic>
      <p:sp>
        <p:nvSpPr>
          <p:cNvPr id="9" name="TextBox 8"/>
          <p:cNvSpPr txBox="1"/>
          <p:nvPr/>
        </p:nvSpPr>
        <p:spPr>
          <a:xfrm>
            <a:off x="4088853" y="4965230"/>
            <a:ext cx="3134906" cy="228600"/>
          </a:xfrm>
          <a:prstGeom prst="rect">
            <a:avLst/>
          </a:prstGeom>
          <a:noFill/>
        </p:spPr>
        <p:txBody>
          <a:bodyPr wrap="square" anchor="t" lIns="45720" rIns="45720" tIns="18288" bIns="18288">
            <a:spAutoFit/>
          </a:bodyPr>
          <a:lstStyle/>
          <a:p>
            <a:pPr algn="ctr"/>
            <a:r>
              <a:rPr sz="850" b="0" i="1">
                <a:solidFill>
                  <a:srgbClr val="555B66"/>
                </a:solidFill>
                <a:latin typeface="Calibri"/>
              </a:rPr>
              <a:t>Fig. 6 (PMC12500735)</a:t>
            </a:r>
          </a:p>
        </p:txBody>
      </p:sp>
      <p:sp>
        <p:nvSpPr>
          <p:cNvPr id="10" name="TextBox 9"/>
          <p:cNvSpPr txBox="1"/>
          <p:nvPr/>
        </p:nvSpPr>
        <p:spPr>
          <a:xfrm>
            <a:off x="7452360" y="11887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 açıklaması (yazarların etiketleri)</a:t>
            </a:r>
          </a:p>
        </p:txBody>
      </p:sp>
      <p:sp>
        <p:nvSpPr>
          <p:cNvPr id="11" name="TextBox 10"/>
          <p:cNvSpPr txBox="1"/>
          <p:nvPr/>
        </p:nvSpPr>
        <p:spPr>
          <a:xfrm>
            <a:off x="7452360" y="1463040"/>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Şekil 4:</a:t>
            </a:r>
            <a:r>
              <a:rPr sz="1050" b="0" i="0">
                <a:solidFill>
                  <a:srgbClr val="1F2A44"/>
                </a:solidFill>
                <a:latin typeface="Calibri"/>
              </a:rPr>
              <a:t> pembe iğne art. humeroradialis düzeyinde; ★ r. superficialis n. radialis; ■ n. interosseus posterior (PIN); ● m. extensor carpi radialis brevis dalı.</a:t>
            </a:r>
          </a:p>
          <a:p>
            <a:pPr algn="l">
              <a:spcAft>
                <a:spcPts val="300"/>
              </a:spcAft>
            </a:pPr>
            <a:r>
              <a:rPr sz="1050" b="0" i="0">
                <a:solidFill>
                  <a:srgbClr val="1F2A44"/>
                </a:solidFill>
                <a:latin typeface="Calibri"/>
              </a:rPr>
              <a:t>• </a:t>
            </a:r>
            <a:r>
              <a:rPr sz="1050" b="0" i="0">
                <a:solidFill>
                  <a:srgbClr val="1F2A44"/>
                </a:solidFill>
                <a:latin typeface="Calibri"/>
              </a:rPr>
              <a:t>Şekil 6:</a:t>
            </a:r>
            <a:r>
              <a:rPr sz="1050" b="0" i="0">
                <a:solidFill>
                  <a:srgbClr val="1F2A44"/>
                </a:solidFill>
                <a:latin typeface="Calibri"/>
              </a:rPr>
              <a:t> ■ PIN, m. supinator'un (Supinator) yüzeyel ve derin başları arasında korunarak seyreder; Biceps tendon tendo m. bicipitis brachii; Radial tuberosity tuberositas radii.</a:t>
            </a:r>
          </a:p>
          <a:p>
            <a:pPr algn="l">
              <a:spcAft>
                <a:spcPts val="300"/>
              </a:spcAft>
            </a:pPr>
            <a:r>
              <a:rPr sz="1050" b="0" i="0">
                <a:solidFill>
                  <a:srgbClr val="1F2A44"/>
                </a:solidFill>
                <a:latin typeface="Calibri"/>
              </a:rPr>
              <a:t>• Yön okları: Lateral / Distal.</a:t>
            </a:r>
          </a:p>
        </p:txBody>
      </p:sp>
      <p:sp>
        <p:nvSpPr>
          <p:cNvPr id="12" name="TextBox 11"/>
          <p:cNvSpPr txBox="1"/>
          <p:nvPr/>
        </p:nvSpPr>
        <p:spPr>
          <a:xfrm>
            <a:off x="7452360" y="37033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3" name="TextBox 12"/>
          <p:cNvSpPr txBox="1"/>
          <p:nvPr/>
        </p:nvSpPr>
        <p:spPr>
          <a:xfrm>
            <a:off x="7452360" y="3977639"/>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29 taze kadavra üst ekstremitesinde n. radialis art. humeroradialis'in </a:t>
            </a:r>
            <a:r>
              <a:rPr sz="1050" b="0" i="0">
                <a:solidFill>
                  <a:srgbClr val="1F2A44"/>
                </a:solidFill>
                <a:latin typeface="Calibri"/>
              </a:rPr>
              <a:t>5 ± 3 mm</a:t>
            </a:r>
            <a:r>
              <a:rPr sz="1050" b="0" i="0">
                <a:solidFill>
                  <a:srgbClr val="1F2A44"/>
                </a:solidFill>
                <a:latin typeface="Calibri"/>
              </a:rPr>
              <a:t> proksimalinde ikiye ayrılmış; PIN, Frohse arkadına (m. supinator) bu eklemin </a:t>
            </a:r>
            <a:r>
              <a:rPr sz="1050" b="0" i="0">
                <a:solidFill>
                  <a:srgbClr val="1F2A44"/>
                </a:solidFill>
                <a:latin typeface="Calibri"/>
              </a:rPr>
              <a:t>22 ± 1 mm</a:t>
            </a:r>
            <a:r>
              <a:rPr sz="1050" b="0" i="0">
                <a:solidFill>
                  <a:srgbClr val="1F2A44"/>
                </a:solidFill>
                <a:latin typeface="Calibri"/>
              </a:rPr>
              <a:t> distalinde girmiştir.</a:t>
            </a:r>
          </a:p>
          <a:p>
            <a:pPr algn="l">
              <a:spcAft>
                <a:spcPts val="300"/>
              </a:spcAft>
            </a:pPr>
            <a:r>
              <a:rPr sz="1050" b="0" i="0">
                <a:solidFill>
                  <a:srgbClr val="1F2A44"/>
                </a:solidFill>
                <a:latin typeface="Calibri"/>
              </a:rPr>
              <a:t>• PIN, tuberositas radii'nin radial kenarından pronasyonda ortalama 13 ± 2 mm, supinasyonda 19 ± 2 mm uzaklıktadır – proksimal radius cerrahisinde güvenli bölge planlaması için önemlidir.</a:t>
            </a:r>
          </a:p>
          <a:p>
            <a:pPr algn="l">
              <a:spcAft>
                <a:spcPts val="300"/>
              </a:spcAft>
            </a:pPr>
            <a:r>
              <a:rPr sz="1050" b="0" i="0">
                <a:solidFill>
                  <a:srgbClr val="1F2A44"/>
                </a:solidFill>
                <a:latin typeface="Calibri"/>
              </a:rPr>
              <a:t>• Frohse arkadı, PIN sıkışma sendromunun (supinator sendromu) en sık yeridir.</a:t>
            </a:r>
          </a:p>
        </p:txBody>
      </p:sp>
      <p:cxnSp>
        <p:nvCxnSpPr>
          <p:cNvPr id="14" name="Connector 13"/>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Qawasmi Feras, Goss Mark, Shweiki Fadi et al. Anatomical considerations for safe retractor placement in distal biceps repair: a cadaveric study of the posterior interosseous nerve. Surg Radiol Anat. 2025 Oct 6;47(1):223. doi: 10.1007/s00276-025-03728-3 PMCID: PMC12500735. Lisans: CC BY – Fig. 4, Fig. 6 değiştirilmeden (yalnızca ölçeklendirilerek) kullanılmıştır; Türkçe açıklama bu projeye aittir.</a:t>
            </a:r>
          </a:p>
        </p:txBody>
      </p:sp>
      <p:sp>
        <p:nvSpPr>
          <p:cNvPr id="16" name="TextBox 15"/>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Canalis carpi – n. medianus'un r. recurrens'i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Lig. carpi transversum (retinaculum musculorum flexorum) ile ilişki</a:t>
            </a:r>
          </a:p>
        </p:txBody>
      </p:sp>
      <p:sp>
        <p:nvSpPr>
          <p:cNvPr id="5" name="TextBox 4"/>
          <p:cNvSpPr txBox="1"/>
          <p:nvPr/>
        </p:nvSpPr>
        <p:spPr>
          <a:xfrm>
            <a:off x="9692640" y="841248"/>
            <a:ext cx="2286000" cy="274320"/>
          </a:xfrm>
          <a:prstGeom prst="rect">
            <a:avLst/>
          </a:prstGeom>
          <a:solidFill>
            <a:srgbClr val="2E7D32"/>
          </a:solidFill>
        </p:spPr>
        <p:txBody>
          <a:bodyPr wrap="square" anchor="t" lIns="45720" rIns="45720" tIns="18288" bIns="18288">
            <a:spAutoFit/>
          </a:bodyPr>
          <a:lstStyle/>
          <a:p>
            <a:pPr algn="ctr"/>
            <a:r>
              <a:rPr sz="1000" b="1" i="0">
                <a:solidFill>
                  <a:srgbClr val="FFFFFF"/>
                </a:solidFill>
                <a:latin typeface="Calibri"/>
              </a:rPr>
              <a:t>NORMAL TOPOGRAFİ</a:t>
            </a:r>
          </a:p>
        </p:txBody>
      </p:sp>
      <p:pic>
        <p:nvPicPr>
          <p:cNvPr id="6" name="Picture 5" descr="1754-9493-8-8-1.jpg"/>
          <p:cNvPicPr>
            <a:picLocks noChangeAspect="1"/>
          </p:cNvPicPr>
          <p:nvPr/>
        </p:nvPicPr>
        <p:blipFill>
          <a:blip r:embed="rId2"/>
          <a:stretch>
            <a:fillRect/>
          </a:stretch>
        </p:blipFill>
        <p:spPr>
          <a:xfrm>
            <a:off x="2389659" y="914400"/>
            <a:ext cx="2718761" cy="2034540"/>
          </a:xfrm>
          <a:prstGeom prst="rect">
            <a:avLst/>
          </a:prstGeom>
        </p:spPr>
      </p:pic>
      <p:sp>
        <p:nvSpPr>
          <p:cNvPr id="7" name="TextBox 6"/>
          <p:cNvSpPr txBox="1"/>
          <p:nvPr/>
        </p:nvSpPr>
        <p:spPr>
          <a:xfrm>
            <a:off x="2389659" y="2930652"/>
            <a:ext cx="2718761" cy="228600"/>
          </a:xfrm>
          <a:prstGeom prst="rect">
            <a:avLst/>
          </a:prstGeom>
          <a:noFill/>
        </p:spPr>
        <p:txBody>
          <a:bodyPr wrap="square" anchor="t" lIns="45720" rIns="45720" tIns="18288" bIns="18288">
            <a:spAutoFit/>
          </a:bodyPr>
          <a:lstStyle/>
          <a:p>
            <a:pPr algn="ctr"/>
            <a:r>
              <a:rPr sz="850" b="0" i="1">
                <a:solidFill>
                  <a:srgbClr val="555B66"/>
                </a:solidFill>
                <a:latin typeface="Calibri"/>
              </a:rPr>
              <a:t>Figure 1 (PMC3931286)</a:t>
            </a:r>
          </a:p>
        </p:txBody>
      </p:sp>
      <p:pic>
        <p:nvPicPr>
          <p:cNvPr id="8" name="Picture 7" descr="1754-9493-8-8-2.jpg"/>
          <p:cNvPicPr>
            <a:picLocks noChangeAspect="1"/>
          </p:cNvPicPr>
          <p:nvPr/>
        </p:nvPicPr>
        <p:blipFill>
          <a:blip r:embed="rId3"/>
          <a:stretch>
            <a:fillRect/>
          </a:stretch>
        </p:blipFill>
        <p:spPr>
          <a:xfrm>
            <a:off x="2389659" y="3223260"/>
            <a:ext cx="2718761" cy="2034540"/>
          </a:xfrm>
          <a:prstGeom prst="rect">
            <a:avLst/>
          </a:prstGeom>
        </p:spPr>
      </p:pic>
      <p:sp>
        <p:nvSpPr>
          <p:cNvPr id="9" name="TextBox 8"/>
          <p:cNvSpPr txBox="1"/>
          <p:nvPr/>
        </p:nvSpPr>
        <p:spPr>
          <a:xfrm>
            <a:off x="2389659" y="5239512"/>
            <a:ext cx="2718761" cy="228600"/>
          </a:xfrm>
          <a:prstGeom prst="rect">
            <a:avLst/>
          </a:prstGeom>
          <a:noFill/>
        </p:spPr>
        <p:txBody>
          <a:bodyPr wrap="square" anchor="t" lIns="45720" rIns="45720" tIns="18288" bIns="18288">
            <a:spAutoFit/>
          </a:bodyPr>
          <a:lstStyle/>
          <a:p>
            <a:pPr algn="ctr"/>
            <a:r>
              <a:rPr sz="850" b="0" i="1">
                <a:solidFill>
                  <a:srgbClr val="555B66"/>
                </a:solidFill>
                <a:latin typeface="Calibri"/>
              </a:rPr>
              <a:t>Figure 2 (PMC3931286)</a:t>
            </a:r>
          </a:p>
        </p:txBody>
      </p:sp>
      <p:sp>
        <p:nvSpPr>
          <p:cNvPr id="10" name="TextBox 9"/>
          <p:cNvSpPr txBox="1"/>
          <p:nvPr/>
        </p:nvSpPr>
        <p:spPr>
          <a:xfrm>
            <a:off x="7452360" y="11887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 açıklaması (yazarların etiketleri)</a:t>
            </a:r>
          </a:p>
        </p:txBody>
      </p:sp>
      <p:sp>
        <p:nvSpPr>
          <p:cNvPr id="11" name="TextBox 10"/>
          <p:cNvSpPr txBox="1"/>
          <p:nvPr/>
        </p:nvSpPr>
        <p:spPr>
          <a:xfrm>
            <a:off x="7452360" y="1463040"/>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Şekil 1:</a:t>
            </a:r>
            <a:r>
              <a:rPr sz="1050" b="0" i="0">
                <a:solidFill>
                  <a:srgbClr val="1F2A44"/>
                </a:solidFill>
                <a:latin typeface="Calibri"/>
              </a:rPr>
              <a:t> bağ içinden (intraligamentöz) çıkan r. recurrens (işaretçi).</a:t>
            </a:r>
          </a:p>
          <a:p>
            <a:pPr algn="l">
              <a:spcAft>
                <a:spcPts val="300"/>
              </a:spcAft>
            </a:pPr>
            <a:r>
              <a:rPr sz="1050" b="0" i="0">
                <a:solidFill>
                  <a:srgbClr val="1F2A44"/>
                </a:solidFill>
                <a:latin typeface="Calibri"/>
              </a:rPr>
              <a:t>• </a:t>
            </a:r>
            <a:r>
              <a:rPr sz="1050" b="0" i="0">
                <a:solidFill>
                  <a:srgbClr val="1F2A44"/>
                </a:solidFill>
                <a:latin typeface="Calibri"/>
              </a:rPr>
              <a:t>Şekil 2:</a:t>
            </a:r>
            <a:r>
              <a:rPr sz="1050" b="0" i="0">
                <a:solidFill>
                  <a:srgbClr val="1F2A44"/>
                </a:solidFill>
                <a:latin typeface="Calibri"/>
              </a:rPr>
              <a:t> bağ dışından (ekstraligamentöz) çıkan çok sayıda r. recurrens (işaretçi).</a:t>
            </a:r>
          </a:p>
        </p:txBody>
      </p:sp>
      <p:sp>
        <p:nvSpPr>
          <p:cNvPr id="12" name="TextBox 11"/>
          <p:cNvSpPr txBox="1"/>
          <p:nvPr/>
        </p:nvSpPr>
        <p:spPr>
          <a:xfrm>
            <a:off x="7452360" y="37033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3" name="TextBox 12"/>
          <p:cNvSpPr txBox="1"/>
          <p:nvPr/>
        </p:nvSpPr>
        <p:spPr>
          <a:xfrm>
            <a:off x="7452360" y="3977639"/>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13 kadavranın 26 elinde r. recurrens çoğunlukla </a:t>
            </a:r>
            <a:r>
              <a:rPr sz="1050" b="0" i="0">
                <a:solidFill>
                  <a:srgbClr val="1F2A44"/>
                </a:solidFill>
                <a:latin typeface="Calibri"/>
              </a:rPr>
              <a:t>tek gövde (%76,9)</a:t>
            </a:r>
            <a:r>
              <a:rPr sz="1050" b="0" i="0">
                <a:solidFill>
                  <a:srgbClr val="1F2A44"/>
                </a:solidFill>
                <a:latin typeface="Calibri"/>
              </a:rPr>
              <a:t> ve </a:t>
            </a:r>
            <a:r>
              <a:rPr sz="1050" b="0" i="0">
                <a:solidFill>
                  <a:srgbClr val="1F2A44"/>
                </a:solidFill>
                <a:latin typeface="Calibri"/>
              </a:rPr>
              <a:t>ekstraligamentöz (%84,6)</a:t>
            </a:r>
            <a:r>
              <a:rPr sz="1050" b="0" i="0">
                <a:solidFill>
                  <a:srgbClr val="1F2A44"/>
                </a:solidFill>
                <a:latin typeface="Calibri"/>
              </a:rPr>
              <a:t> bulunmuştur.</a:t>
            </a:r>
          </a:p>
          <a:p>
            <a:pPr algn="l">
              <a:spcAft>
                <a:spcPts val="300"/>
              </a:spcAft>
            </a:pPr>
            <a:r>
              <a:rPr sz="1050" b="0" i="0">
                <a:solidFill>
                  <a:srgbClr val="1F2A44"/>
                </a:solidFill>
                <a:latin typeface="Calibri"/>
              </a:rPr>
              <a:t>• Bağın distal kenarından r. recurrens'e ortalama uzaklık 7,75 mm; arcus palmaris superficialis'e 11,48 mm.</a:t>
            </a:r>
          </a:p>
          <a:p>
            <a:pPr algn="l">
              <a:spcAft>
                <a:spcPts val="300"/>
              </a:spcAft>
            </a:pPr>
            <a:r>
              <a:rPr sz="1050" b="0" i="0">
                <a:solidFill>
                  <a:srgbClr val="1F2A44"/>
                </a:solidFill>
                <a:latin typeface="Calibri"/>
              </a:rPr>
              <a:t>• Karpal tünel gevşetmesinde intraligamentöz dal yaralanma riski taşır; kesi bağın ulnar tarafında yapılmalıdır.</a:t>
            </a:r>
          </a:p>
        </p:txBody>
      </p:sp>
      <p:cxnSp>
        <p:nvCxnSpPr>
          <p:cNvPr id="14" name="Connector 13"/>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Samarakoon Lasitha B, Guruge Malith H, Jayasekara Madusha et al. Anatomical landmarks for safer carpal tunnel decompression: an experimental cadaveric study. Patient Saf Surg. 2014 Feb 17;8:8. doi: 10.1186/1754-9493-8-8 PMCID: PMC3931286. Lisans: CC BY – Figure 1, Figure 2 değiştirilmeden (yalnızca ölçeklendirilerek) kullanılmıştır; Türkçe açıklama bu projeye aittir.</a:t>
            </a:r>
          </a:p>
        </p:txBody>
      </p:sp>
      <p:sp>
        <p:nvSpPr>
          <p:cNvPr id="16" name="TextBox 15"/>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M. arcus axillaris (Langer kası)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 latissimus dorsi'den köken alan aksiller kemer – bilateral olgu</a:t>
            </a:r>
          </a:p>
        </p:txBody>
      </p:sp>
      <p:sp>
        <p:nvSpPr>
          <p:cNvPr id="5" name="TextBox 4"/>
          <p:cNvSpPr txBox="1"/>
          <p:nvPr/>
        </p:nvSpPr>
        <p:spPr>
          <a:xfrm>
            <a:off x="9692640" y="841248"/>
            <a:ext cx="2286000" cy="274320"/>
          </a:xfrm>
          <a:prstGeom prst="rect">
            <a:avLst/>
          </a:prstGeom>
          <a:solidFill>
            <a:srgbClr val="C0392B"/>
          </a:solidFill>
        </p:spPr>
        <p:txBody>
          <a:bodyPr wrap="square" anchor="t" lIns="45720" rIns="45720" tIns="18288" bIns="18288">
            <a:spAutoFit/>
          </a:bodyPr>
          <a:lstStyle/>
          <a:p>
            <a:pPr algn="ctr"/>
            <a:r>
              <a:rPr sz="1000" b="1" i="0">
                <a:solidFill>
                  <a:srgbClr val="FFFFFF"/>
                </a:solidFill>
                <a:latin typeface="Calibri"/>
              </a:rPr>
              <a:t>ANATOMİK VARYASYON</a:t>
            </a:r>
          </a:p>
        </p:txBody>
      </p:sp>
      <p:pic>
        <p:nvPicPr>
          <p:cNvPr id="6" name="Picture 5" descr="cureus-0017-00000085096-i01.jpg"/>
          <p:cNvPicPr>
            <a:picLocks noChangeAspect="1"/>
          </p:cNvPicPr>
          <p:nvPr/>
        </p:nvPicPr>
        <p:blipFill>
          <a:blip r:embed="rId2"/>
          <a:stretch>
            <a:fillRect/>
          </a:stretch>
        </p:blipFill>
        <p:spPr>
          <a:xfrm>
            <a:off x="2009946" y="914400"/>
            <a:ext cx="3478186" cy="4526280"/>
          </a:xfrm>
          <a:prstGeom prst="rect">
            <a:avLst/>
          </a:prstGeom>
        </p:spPr>
      </p:pic>
      <p:sp>
        <p:nvSpPr>
          <p:cNvPr id="7" name="TextBox 6"/>
          <p:cNvSpPr txBox="1"/>
          <p:nvPr/>
        </p:nvSpPr>
        <p:spPr>
          <a:xfrm>
            <a:off x="2009946" y="5422392"/>
            <a:ext cx="3478186" cy="228600"/>
          </a:xfrm>
          <a:prstGeom prst="rect">
            <a:avLst/>
          </a:prstGeom>
          <a:noFill/>
        </p:spPr>
        <p:txBody>
          <a:bodyPr wrap="square" anchor="t" lIns="45720" rIns="45720" tIns="18288" bIns="18288">
            <a:spAutoFit/>
          </a:bodyPr>
          <a:lstStyle/>
          <a:p>
            <a:pPr algn="ctr"/>
            <a:r>
              <a:rPr sz="850" b="0" i="1">
                <a:solidFill>
                  <a:srgbClr val="555B66"/>
                </a:solidFill>
                <a:latin typeface="Calibri"/>
              </a:rPr>
              <a:t>Figure 1 (PMC12206543)</a:t>
            </a:r>
          </a:p>
        </p:txBody>
      </p:sp>
      <p:sp>
        <p:nvSpPr>
          <p:cNvPr id="8" name="TextBox 7"/>
          <p:cNvSpPr txBox="1"/>
          <p:nvPr/>
        </p:nvSpPr>
        <p:spPr>
          <a:xfrm>
            <a:off x="7452360" y="11887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 açıklaması (yazarların etiketleri)</a:t>
            </a:r>
          </a:p>
        </p:txBody>
      </p:sp>
      <p:sp>
        <p:nvSpPr>
          <p:cNvPr id="9" name="TextBox 8"/>
          <p:cNvSpPr txBox="1"/>
          <p:nvPr/>
        </p:nvSpPr>
        <p:spPr>
          <a:xfrm>
            <a:off x="7452360" y="1463040"/>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Görüntüdeki etiketler: </a:t>
            </a:r>
            <a:r>
              <a:rPr sz="1050" b="0" i="0">
                <a:solidFill>
                  <a:srgbClr val="1F2A44"/>
                </a:solidFill>
                <a:latin typeface="Calibri"/>
              </a:rPr>
              <a:t>Axillary arch</a:t>
            </a:r>
            <a:r>
              <a:rPr sz="1050" b="0" i="0">
                <a:solidFill>
                  <a:srgbClr val="1F2A44"/>
                </a:solidFill>
                <a:latin typeface="Calibri"/>
              </a:rPr>
              <a:t> m. arcus axillaris; </a:t>
            </a:r>
            <a:r>
              <a:rPr sz="1050" b="0" i="0">
                <a:solidFill>
                  <a:srgbClr val="1F2A44"/>
                </a:solidFill>
                <a:latin typeface="Calibri"/>
              </a:rPr>
              <a:t>Latissimus Dorsi</a:t>
            </a:r>
            <a:r>
              <a:rPr sz="1050" b="0" i="0">
                <a:solidFill>
                  <a:srgbClr val="1F2A44"/>
                </a:solidFill>
                <a:latin typeface="Calibri"/>
              </a:rPr>
              <a:t> m. latissimus dorsi; </a:t>
            </a:r>
            <a:r>
              <a:rPr sz="1050" b="0" i="0">
                <a:solidFill>
                  <a:srgbClr val="1F2A44"/>
                </a:solidFill>
                <a:latin typeface="Calibri"/>
              </a:rPr>
              <a:t>Short head of biceps</a:t>
            </a:r>
            <a:r>
              <a:rPr sz="1050" b="0" i="0">
                <a:solidFill>
                  <a:srgbClr val="1F2A44"/>
                </a:solidFill>
                <a:latin typeface="Calibri"/>
              </a:rPr>
              <a:t> caput breve m. bicipitis brachii; </a:t>
            </a:r>
            <a:r>
              <a:rPr sz="1050" b="0" i="0">
                <a:solidFill>
                  <a:srgbClr val="1F2A44"/>
                </a:solidFill>
                <a:latin typeface="Calibri"/>
              </a:rPr>
              <a:t>Coracobrachialis</a:t>
            </a:r>
            <a:r>
              <a:rPr sz="1050" b="0" i="0">
                <a:solidFill>
                  <a:srgbClr val="1F2A44"/>
                </a:solidFill>
                <a:latin typeface="Calibri"/>
              </a:rPr>
              <a:t> m. coracobrachialis; </a:t>
            </a:r>
            <a:r>
              <a:rPr sz="1050" b="0" i="0">
                <a:solidFill>
                  <a:srgbClr val="1F2A44"/>
                </a:solidFill>
                <a:latin typeface="Calibri"/>
              </a:rPr>
              <a:t>Deltoid</a:t>
            </a:r>
            <a:r>
              <a:rPr sz="1050" b="0" i="0">
                <a:solidFill>
                  <a:srgbClr val="1F2A44"/>
                </a:solidFill>
                <a:latin typeface="Calibri"/>
              </a:rPr>
              <a:t> m. deltoideus.</a:t>
            </a:r>
          </a:p>
          <a:p>
            <a:pPr algn="l">
              <a:spcAft>
                <a:spcPts val="300"/>
              </a:spcAft>
            </a:pPr>
            <a:r>
              <a:rPr sz="1050" b="0" i="0">
                <a:solidFill>
                  <a:srgbClr val="1F2A44"/>
                </a:solidFill>
                <a:latin typeface="Calibri"/>
              </a:rPr>
              <a:t>• Sağ aksiller diseksiyon: kemer kası m. latissimus dorsi'nin ön kenarından başlar, a. axillaris ve plexus brachialis dallarının </a:t>
            </a:r>
            <a:r>
              <a:rPr sz="1050" b="0" i="0">
                <a:solidFill>
                  <a:srgbClr val="1F2A44"/>
                </a:solidFill>
                <a:latin typeface="Calibri"/>
              </a:rPr>
              <a:t>önünden</a:t>
            </a:r>
            <a:r>
              <a:rPr sz="1050" b="0" i="0">
                <a:solidFill>
                  <a:srgbClr val="1F2A44"/>
                </a:solidFill>
                <a:latin typeface="Calibri"/>
              </a:rPr>
              <a:t> geçer, caput breve m. bicipitis brachii'ye tutunur ve 'T' şeklinde iki aksesuar demete ayrılarak m. coracobrachialis ve m. deltoideus liflerine katılır.</a:t>
            </a:r>
          </a:p>
        </p:txBody>
      </p:sp>
      <p:sp>
        <p:nvSpPr>
          <p:cNvPr id="10" name="TextBox 9"/>
          <p:cNvSpPr txBox="1"/>
          <p:nvPr/>
        </p:nvSpPr>
        <p:spPr>
          <a:xfrm>
            <a:off x="7452360" y="37033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1" name="TextBox 10"/>
          <p:cNvSpPr txBox="1"/>
          <p:nvPr/>
        </p:nvSpPr>
        <p:spPr>
          <a:xfrm>
            <a:off x="7452360" y="3977639"/>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Olgu: bilateral aksiller kemer; solda tek ince demet halinde m. coracobrachialis ile m. deltoideus arasındaki fasyaya tutunuyor.</a:t>
            </a:r>
          </a:p>
          <a:p>
            <a:pPr algn="l">
              <a:spcAft>
                <a:spcPts val="300"/>
              </a:spcAft>
            </a:pPr>
            <a:r>
              <a:rPr sz="1050" b="0" i="0">
                <a:solidFill>
                  <a:srgbClr val="1F2A44"/>
                </a:solidFill>
                <a:latin typeface="Calibri"/>
              </a:rPr>
              <a:t>• Klinik önem: aksiller damar–sinir yapılarına bası (torasik çıkış benzeri belirtiler), aksiller lenf nodu diseksiyonu ve meme cerrahisinde yanıltıcı yapı.</a:t>
            </a:r>
          </a:p>
          <a:p>
            <a:pPr algn="l">
              <a:spcAft>
                <a:spcPts val="300"/>
              </a:spcAft>
            </a:pPr>
            <a:r>
              <a:rPr sz="1050" b="0" i="0">
                <a:solidFill>
                  <a:srgbClr val="1F2A44"/>
                </a:solidFill>
                <a:latin typeface="Calibri"/>
              </a:rPr>
              <a:t>• Makale kendi sıklık verisini sunmaz; sıklığın toplumlara göre değiştiğini belirtir.</a:t>
            </a:r>
          </a:p>
        </p:txBody>
      </p:sp>
      <p:cxnSp>
        <p:nvCxnSpPr>
          <p:cNvPr id="12" name="Connector 11"/>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Ara Hosne, Fakoya Adegbenro O Rare Bilateral Axillary Arch With Its Novel Insertion Into the Deltoid and Unilateral Supernumerary Head of the Sternocleidomastoid Muscle in a Single Cadaver. Cureus. 2025 May 30;17(5):e85096. doi: 10.7759/cureus.85096 PMCID: PMC12206543. Lisans: CC BY – Figure 1 değiştirilmeden (yalnızca ölçeklendirilerek) kullanılmıştır; Türkçe açıklama bu projeye aittir.</a:t>
            </a:r>
          </a:p>
        </p:txBody>
      </p:sp>
      <p:sp>
        <p:nvSpPr>
          <p:cNvPr id="14" name="TextBox 13"/>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A. brachialis superficialis ve trifurkasyon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 brachialis'in m. latissimus dorsi tendonu altında üçe ayrılması</a:t>
            </a:r>
          </a:p>
        </p:txBody>
      </p:sp>
      <p:sp>
        <p:nvSpPr>
          <p:cNvPr id="5" name="TextBox 4"/>
          <p:cNvSpPr txBox="1"/>
          <p:nvPr/>
        </p:nvSpPr>
        <p:spPr>
          <a:xfrm>
            <a:off x="9692640" y="841248"/>
            <a:ext cx="2286000" cy="274320"/>
          </a:xfrm>
          <a:prstGeom prst="rect">
            <a:avLst/>
          </a:prstGeom>
          <a:solidFill>
            <a:srgbClr val="C0392B"/>
          </a:solidFill>
        </p:spPr>
        <p:txBody>
          <a:bodyPr wrap="square" anchor="t" lIns="45720" rIns="45720" tIns="18288" bIns="18288">
            <a:spAutoFit/>
          </a:bodyPr>
          <a:lstStyle/>
          <a:p>
            <a:pPr algn="ctr"/>
            <a:r>
              <a:rPr sz="1000" b="1" i="0">
                <a:solidFill>
                  <a:srgbClr val="FFFFFF"/>
                </a:solidFill>
                <a:latin typeface="Calibri"/>
              </a:rPr>
              <a:t>ANATOMİK VARYASYON</a:t>
            </a:r>
          </a:p>
        </p:txBody>
      </p:sp>
      <p:pic>
        <p:nvPicPr>
          <p:cNvPr id="6" name="Picture 5" descr="cureus-0015-00000045903-i01.jpg"/>
          <p:cNvPicPr>
            <a:picLocks noChangeAspect="1"/>
          </p:cNvPicPr>
          <p:nvPr/>
        </p:nvPicPr>
        <p:blipFill>
          <a:blip r:embed="rId2"/>
          <a:stretch>
            <a:fillRect/>
          </a:stretch>
        </p:blipFill>
        <p:spPr>
          <a:xfrm>
            <a:off x="734199" y="914400"/>
            <a:ext cx="6029680" cy="4526280"/>
          </a:xfrm>
          <a:prstGeom prst="rect">
            <a:avLst/>
          </a:prstGeom>
        </p:spPr>
      </p:pic>
      <p:sp>
        <p:nvSpPr>
          <p:cNvPr id="7" name="TextBox 6"/>
          <p:cNvSpPr txBox="1"/>
          <p:nvPr/>
        </p:nvSpPr>
        <p:spPr>
          <a:xfrm>
            <a:off x="734199" y="5422392"/>
            <a:ext cx="6029680" cy="228600"/>
          </a:xfrm>
          <a:prstGeom prst="rect">
            <a:avLst/>
          </a:prstGeom>
          <a:noFill/>
        </p:spPr>
        <p:txBody>
          <a:bodyPr wrap="square" anchor="t" lIns="45720" rIns="45720" tIns="18288" bIns="18288">
            <a:spAutoFit/>
          </a:bodyPr>
          <a:lstStyle/>
          <a:p>
            <a:pPr algn="ctr"/>
            <a:r>
              <a:rPr sz="850" b="0" i="1">
                <a:solidFill>
                  <a:srgbClr val="555B66"/>
                </a:solidFill>
                <a:latin typeface="Calibri"/>
              </a:rPr>
              <a:t>Figure 1 (PMC10599095)</a:t>
            </a:r>
          </a:p>
        </p:txBody>
      </p:sp>
      <p:sp>
        <p:nvSpPr>
          <p:cNvPr id="8" name="TextBox 7"/>
          <p:cNvSpPr txBox="1"/>
          <p:nvPr/>
        </p:nvSpPr>
        <p:spPr>
          <a:xfrm>
            <a:off x="7452360" y="11887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 açıklaması (yazarların etiketleri)</a:t>
            </a:r>
          </a:p>
        </p:txBody>
      </p:sp>
      <p:sp>
        <p:nvSpPr>
          <p:cNvPr id="9" name="TextBox 8"/>
          <p:cNvSpPr txBox="1"/>
          <p:nvPr/>
        </p:nvSpPr>
        <p:spPr>
          <a:xfrm>
            <a:off x="7452360" y="1463040"/>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AA</a:t>
            </a:r>
            <a:r>
              <a:rPr sz="1050" b="0" i="0">
                <a:solidFill>
                  <a:srgbClr val="1F2A44"/>
                </a:solidFill>
                <a:latin typeface="Calibri"/>
              </a:rPr>
              <a:t> a. axillaris; </a:t>
            </a:r>
            <a:r>
              <a:rPr sz="1050" b="0" i="0">
                <a:solidFill>
                  <a:srgbClr val="1F2A44"/>
                </a:solidFill>
                <a:latin typeface="Calibri"/>
              </a:rPr>
              <a:t>BA</a:t>
            </a:r>
            <a:r>
              <a:rPr sz="1050" b="0" i="0">
                <a:solidFill>
                  <a:srgbClr val="1F2A44"/>
                </a:solidFill>
                <a:latin typeface="Calibri"/>
              </a:rPr>
              <a:t> a. brachialis; </a:t>
            </a:r>
            <a:r>
              <a:rPr sz="1050" b="0" i="0">
                <a:solidFill>
                  <a:srgbClr val="1F2A44"/>
                </a:solidFill>
                <a:latin typeface="Calibri"/>
              </a:rPr>
              <a:t>SBA</a:t>
            </a:r>
            <a:r>
              <a:rPr sz="1050" b="0" i="0">
                <a:solidFill>
                  <a:srgbClr val="1F2A44"/>
                </a:solidFill>
                <a:latin typeface="Calibri"/>
              </a:rPr>
              <a:t> a. brachialis superficialis; </a:t>
            </a:r>
            <a:r>
              <a:rPr sz="1050" b="0" i="0">
                <a:solidFill>
                  <a:srgbClr val="1F2A44"/>
                </a:solidFill>
                <a:latin typeface="Calibri"/>
              </a:rPr>
              <a:t>CT</a:t>
            </a:r>
            <a:r>
              <a:rPr sz="1050" b="0" i="0">
                <a:solidFill>
                  <a:srgbClr val="1F2A44"/>
                </a:solidFill>
                <a:latin typeface="Calibri"/>
              </a:rPr>
              <a:t> ortak gövde: (1) aberran a. circumflexa humeri posterior, (2) a. nutricia humeri, (3) a. profunda brachii (n. radialis – </a:t>
            </a:r>
            <a:r>
              <a:rPr sz="1050" b="0" i="0">
                <a:solidFill>
                  <a:srgbClr val="1F2A44"/>
                </a:solidFill>
                <a:latin typeface="Calibri"/>
              </a:rPr>
              <a:t>RN</a:t>
            </a:r>
            <a:r>
              <a:rPr sz="1050" b="0" i="0">
                <a:solidFill>
                  <a:srgbClr val="1F2A44"/>
                </a:solidFill>
                <a:latin typeface="Calibri"/>
              </a:rPr>
              <a:t> – eşliğinde); </a:t>
            </a:r>
            <a:r>
              <a:rPr sz="1050" b="0" i="0">
                <a:solidFill>
                  <a:srgbClr val="1F2A44"/>
                </a:solidFill>
                <a:latin typeface="Calibri"/>
              </a:rPr>
              <a:t>LD</a:t>
            </a:r>
            <a:r>
              <a:rPr sz="1050" b="0" i="0">
                <a:solidFill>
                  <a:srgbClr val="1F2A44"/>
                </a:solidFill>
                <a:latin typeface="Calibri"/>
              </a:rPr>
              <a:t> m. latissimus dorsi tendonu.</a:t>
            </a:r>
          </a:p>
          <a:p>
            <a:pPr algn="l">
              <a:spcAft>
                <a:spcPts val="300"/>
              </a:spcAft>
            </a:pPr>
            <a:r>
              <a:rPr sz="1050" b="0" i="0">
                <a:solidFill>
                  <a:srgbClr val="1F2A44"/>
                </a:solidFill>
                <a:latin typeface="Calibri"/>
              </a:rPr>
              <a:t>• </a:t>
            </a:r>
            <a:r>
              <a:rPr sz="1050" b="0" i="0">
                <a:solidFill>
                  <a:srgbClr val="1F2A44"/>
                </a:solidFill>
                <a:latin typeface="Calibri"/>
              </a:rPr>
              <a:t>MN</a:t>
            </a:r>
            <a:r>
              <a:rPr sz="1050" b="0" i="0">
                <a:solidFill>
                  <a:srgbClr val="1F2A44"/>
                </a:solidFill>
                <a:latin typeface="Calibri"/>
              </a:rPr>
              <a:t> n. medianus (iki radix lateralis – sarı yıldız – ve bir radix medialis – beyaz yıldız); </a:t>
            </a:r>
            <a:r>
              <a:rPr sz="1050" b="0" i="0">
                <a:solidFill>
                  <a:srgbClr val="1F2A44"/>
                </a:solidFill>
                <a:latin typeface="Calibri"/>
              </a:rPr>
              <a:t>UN</a:t>
            </a:r>
            <a:r>
              <a:rPr sz="1050" b="0" i="0">
                <a:solidFill>
                  <a:srgbClr val="1F2A44"/>
                </a:solidFill>
                <a:latin typeface="Calibri"/>
              </a:rPr>
              <a:t> n. ulnaris; </a:t>
            </a:r>
            <a:r>
              <a:rPr sz="1050" b="0" i="0">
                <a:solidFill>
                  <a:srgbClr val="1F2A44"/>
                </a:solidFill>
                <a:latin typeface="Calibri"/>
              </a:rPr>
              <a:t>AN</a:t>
            </a:r>
            <a:r>
              <a:rPr sz="1050" b="0" i="0">
                <a:solidFill>
                  <a:srgbClr val="1F2A44"/>
                </a:solidFill>
                <a:latin typeface="Calibri"/>
              </a:rPr>
              <a:t> n. axillaris; </a:t>
            </a:r>
            <a:r>
              <a:rPr sz="1050" b="0" i="0">
                <a:solidFill>
                  <a:srgbClr val="1F2A44"/>
                </a:solidFill>
                <a:latin typeface="Calibri"/>
              </a:rPr>
              <a:t>SSA</a:t>
            </a:r>
            <a:r>
              <a:rPr sz="1050" b="0" i="0">
                <a:solidFill>
                  <a:srgbClr val="1F2A44"/>
                </a:solidFill>
                <a:latin typeface="Calibri"/>
              </a:rPr>
              <a:t> a. subscapularis (yüksek köken); </a:t>
            </a:r>
            <a:r>
              <a:rPr sz="1050" b="0" i="0">
                <a:solidFill>
                  <a:srgbClr val="1F2A44"/>
                </a:solidFill>
                <a:latin typeface="Calibri"/>
              </a:rPr>
              <a:t>ACHA1/2</a:t>
            </a:r>
            <a:r>
              <a:rPr sz="1050" b="0" i="0">
                <a:solidFill>
                  <a:srgbClr val="1F2A44"/>
                </a:solidFill>
                <a:latin typeface="Calibri"/>
              </a:rPr>
              <a:t> çift a. circumflexa humeri anterior; </a:t>
            </a:r>
            <a:r>
              <a:rPr sz="1050" b="0" i="0">
                <a:solidFill>
                  <a:srgbClr val="1F2A44"/>
                </a:solidFill>
                <a:latin typeface="Calibri"/>
              </a:rPr>
              <a:t>MCN</a:t>
            </a:r>
            <a:r>
              <a:rPr sz="1050" b="0" i="0">
                <a:solidFill>
                  <a:srgbClr val="1F2A44"/>
                </a:solidFill>
                <a:latin typeface="Calibri"/>
              </a:rPr>
              <a:t> n. musculocutaneus. Panel A–C aynı diseksiyonun farklı görünümleridir; damarlar ve sinirler yazarlarca dijital olarak renklendirilmiştir.</a:t>
            </a:r>
          </a:p>
          <a:p>
            <a:pPr algn="l">
              <a:spcAft>
                <a:spcPts val="300"/>
              </a:spcAft>
            </a:pPr>
            <a:r>
              <a:rPr sz="1050" b="0" i="0">
                <a:solidFill>
                  <a:srgbClr val="1F2A44"/>
                </a:solidFill>
                <a:latin typeface="Calibri"/>
              </a:rPr>
              <a:t>• Not: görüntüdeki kırmızı/mavi yıldızlar ve 'CV' kısaltması yayımlanan altyazıda tanımlanmamıştır; bu nedenle çevrilmemiştir.</a:t>
            </a:r>
          </a:p>
        </p:txBody>
      </p:sp>
      <p:sp>
        <p:nvSpPr>
          <p:cNvPr id="10" name="TextBox 9"/>
          <p:cNvSpPr txBox="1"/>
          <p:nvPr/>
        </p:nvSpPr>
        <p:spPr>
          <a:xfrm>
            <a:off x="7452360" y="37033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1" name="TextBox 10"/>
          <p:cNvSpPr txBox="1"/>
          <p:nvPr/>
        </p:nvSpPr>
        <p:spPr>
          <a:xfrm>
            <a:off x="7452360" y="3977639"/>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SBA'nın sıklığı </a:t>
            </a:r>
            <a:r>
              <a:rPr sz="1050" b="0" i="0">
                <a:solidFill>
                  <a:srgbClr val="1F2A44"/>
                </a:solidFill>
                <a:latin typeface="Calibri"/>
              </a:rPr>
              <a:t>%1,07–%19,7</a:t>
            </a:r>
            <a:r>
              <a:rPr sz="1050" b="0" i="0">
                <a:solidFill>
                  <a:srgbClr val="1F2A44"/>
                </a:solidFill>
                <a:latin typeface="Calibri"/>
              </a:rPr>
              <a:t> arasında bildirilmiştir; De Garis ve Swartley'e göre Afrika kökenli Amerikalılarda (%13,4) beyazlara (%4,6) göre daha sıktır (makalede aktarılan).</a:t>
            </a:r>
          </a:p>
          <a:p>
            <a:pPr algn="l">
              <a:spcAft>
                <a:spcPts val="300"/>
              </a:spcAft>
            </a:pPr>
            <a:r>
              <a:rPr sz="1050" b="0" i="0">
                <a:solidFill>
                  <a:srgbClr val="1F2A44"/>
                </a:solidFill>
                <a:latin typeface="Calibri"/>
              </a:rPr>
              <a:t>• Klinik önem: yüzeyel seyreden arter venipunktur sırasında yanlışlıkla arteriyel enjeksiyona, travmada kolay yaralanmaya ve flep/greft planlamasında hataya yol açabilir.</a:t>
            </a:r>
          </a:p>
        </p:txBody>
      </p:sp>
      <p:cxnSp>
        <p:nvCxnSpPr>
          <p:cNvPr id="12" name="Connector 11"/>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Koutserimpas Christos, Tsakotos George, Piagkou Maria et al. The Coexistence of the Superficial Brachial Artery With the Common Origin of the Posterior Circumflex Humeral Artery and the Deep Brachial Artery. Cureus. 2023 Sep 25;15(9):e45903. doi: 10.7759/cureus.45903 PMCID: PMC10599095. Lisans: CC BY – Figure 1 değiştirilmeden (yalnızca ölçeklendirilerek) kullanılmıştır; Türkçe açıklama bu projeye aittir.</a:t>
            </a:r>
          </a:p>
        </p:txBody>
      </p:sp>
      <p:sp>
        <p:nvSpPr>
          <p:cNvPr id="14" name="TextBox 13"/>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N. musculocutaneus yokluğu</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Fasciculus lateralis doğrudan radix lateralis n. mediani olarak devam ediyor</a:t>
            </a:r>
          </a:p>
        </p:txBody>
      </p:sp>
      <p:sp>
        <p:nvSpPr>
          <p:cNvPr id="5" name="TextBox 4"/>
          <p:cNvSpPr txBox="1"/>
          <p:nvPr/>
        </p:nvSpPr>
        <p:spPr>
          <a:xfrm>
            <a:off x="9692640" y="841248"/>
            <a:ext cx="2286000" cy="274320"/>
          </a:xfrm>
          <a:prstGeom prst="rect">
            <a:avLst/>
          </a:prstGeom>
          <a:solidFill>
            <a:srgbClr val="C0392B"/>
          </a:solidFill>
        </p:spPr>
        <p:txBody>
          <a:bodyPr wrap="square" anchor="t" lIns="45720" rIns="45720" tIns="18288" bIns="18288">
            <a:spAutoFit/>
          </a:bodyPr>
          <a:lstStyle/>
          <a:p>
            <a:pPr algn="ctr"/>
            <a:r>
              <a:rPr sz="1000" b="1" i="0">
                <a:solidFill>
                  <a:srgbClr val="FFFFFF"/>
                </a:solidFill>
                <a:latin typeface="Calibri"/>
              </a:rPr>
              <a:t>ANATOMİK VARYASYON</a:t>
            </a:r>
          </a:p>
        </p:txBody>
      </p:sp>
      <p:pic>
        <p:nvPicPr>
          <p:cNvPr id="6" name="Picture 5" descr="1806-9460-spmj-126-05-288-gf1.jpg"/>
          <p:cNvPicPr>
            <a:picLocks noChangeAspect="1"/>
          </p:cNvPicPr>
          <p:nvPr/>
        </p:nvPicPr>
        <p:blipFill>
          <a:blip r:embed="rId2"/>
          <a:stretch>
            <a:fillRect/>
          </a:stretch>
        </p:blipFill>
        <p:spPr>
          <a:xfrm>
            <a:off x="274320" y="1007550"/>
            <a:ext cx="3384768" cy="4339979"/>
          </a:xfrm>
          <a:prstGeom prst="rect">
            <a:avLst/>
          </a:prstGeom>
        </p:spPr>
      </p:pic>
      <p:sp>
        <p:nvSpPr>
          <p:cNvPr id="7" name="TextBox 6"/>
          <p:cNvSpPr txBox="1"/>
          <p:nvPr/>
        </p:nvSpPr>
        <p:spPr>
          <a:xfrm>
            <a:off x="274320" y="5329241"/>
            <a:ext cx="3384768" cy="228600"/>
          </a:xfrm>
          <a:prstGeom prst="rect">
            <a:avLst/>
          </a:prstGeom>
          <a:noFill/>
        </p:spPr>
        <p:txBody>
          <a:bodyPr wrap="square" anchor="t" lIns="45720" rIns="45720" tIns="18288" bIns="18288">
            <a:spAutoFit/>
          </a:bodyPr>
          <a:lstStyle/>
          <a:p>
            <a:pPr algn="ctr"/>
            <a:r>
              <a:rPr sz="850" b="0" i="1">
                <a:solidFill>
                  <a:srgbClr val="555B66"/>
                </a:solidFill>
                <a:latin typeface="Calibri"/>
              </a:rPr>
              <a:t>Figure 1 (PMC11026042)</a:t>
            </a:r>
          </a:p>
        </p:txBody>
      </p:sp>
      <p:pic>
        <p:nvPicPr>
          <p:cNvPr id="8" name="Picture 7" descr="1806-9460-spmj-126-05-288-gf2.jpg"/>
          <p:cNvPicPr>
            <a:picLocks noChangeAspect="1"/>
          </p:cNvPicPr>
          <p:nvPr/>
        </p:nvPicPr>
        <p:blipFill>
          <a:blip r:embed="rId3"/>
          <a:stretch>
            <a:fillRect/>
          </a:stretch>
        </p:blipFill>
        <p:spPr>
          <a:xfrm>
            <a:off x="3841968" y="1007600"/>
            <a:ext cx="3381791" cy="4339879"/>
          </a:xfrm>
          <a:prstGeom prst="rect">
            <a:avLst/>
          </a:prstGeom>
        </p:spPr>
      </p:pic>
      <p:sp>
        <p:nvSpPr>
          <p:cNvPr id="9" name="TextBox 8"/>
          <p:cNvSpPr txBox="1"/>
          <p:nvPr/>
        </p:nvSpPr>
        <p:spPr>
          <a:xfrm>
            <a:off x="3841968" y="5329191"/>
            <a:ext cx="3381791" cy="228600"/>
          </a:xfrm>
          <a:prstGeom prst="rect">
            <a:avLst/>
          </a:prstGeom>
          <a:noFill/>
        </p:spPr>
        <p:txBody>
          <a:bodyPr wrap="square" anchor="t" lIns="45720" rIns="45720" tIns="18288" bIns="18288">
            <a:spAutoFit/>
          </a:bodyPr>
          <a:lstStyle/>
          <a:p>
            <a:pPr algn="ctr"/>
            <a:r>
              <a:rPr sz="850" b="0" i="1">
                <a:solidFill>
                  <a:srgbClr val="555B66"/>
                </a:solidFill>
                <a:latin typeface="Calibri"/>
              </a:rPr>
              <a:t>Figure 2 (PMC11026042)</a:t>
            </a:r>
          </a:p>
        </p:txBody>
      </p:sp>
      <p:sp>
        <p:nvSpPr>
          <p:cNvPr id="10" name="TextBox 9"/>
          <p:cNvSpPr txBox="1"/>
          <p:nvPr/>
        </p:nvSpPr>
        <p:spPr>
          <a:xfrm>
            <a:off x="7452360" y="11887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 açıklaması (yazarların etiketleri)</a:t>
            </a:r>
          </a:p>
        </p:txBody>
      </p:sp>
      <p:sp>
        <p:nvSpPr>
          <p:cNvPr id="11" name="TextBox 10"/>
          <p:cNvSpPr txBox="1"/>
          <p:nvPr/>
        </p:nvSpPr>
        <p:spPr>
          <a:xfrm>
            <a:off x="7452360" y="1463040"/>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Şekil 1 (aksilla, lateral):</a:t>
            </a:r>
            <a:r>
              <a:rPr sz="1050" b="0" i="0">
                <a:solidFill>
                  <a:srgbClr val="1F2A44"/>
                </a:solidFill>
                <a:latin typeface="Calibri"/>
              </a:rPr>
              <a:t> 1 m. pectoralis minor; 2 fasciculus lateralis; 3 radix lateralis n. mediani; 4 a. axillaris; 5 n. medianus; 6 radix medialis; 7 n. ulnaris; 8 n. cutaneus antebrachii medialis.</a:t>
            </a:r>
          </a:p>
          <a:p>
            <a:pPr algn="l">
              <a:spcAft>
                <a:spcPts val="300"/>
              </a:spcAft>
            </a:pPr>
            <a:r>
              <a:rPr sz="1050" b="0" i="0">
                <a:solidFill>
                  <a:srgbClr val="1F2A44"/>
                </a:solidFill>
                <a:latin typeface="Calibri"/>
              </a:rPr>
              <a:t>• </a:t>
            </a:r>
            <a:r>
              <a:rPr sz="1050" b="0" i="0">
                <a:solidFill>
                  <a:srgbClr val="1F2A44"/>
                </a:solidFill>
                <a:latin typeface="Calibri"/>
              </a:rPr>
              <a:t>Şekil 2 (kol, ön):</a:t>
            </a:r>
            <a:r>
              <a:rPr sz="1050" b="0" i="0">
                <a:solidFill>
                  <a:srgbClr val="1F2A44"/>
                </a:solidFill>
                <a:latin typeface="Calibri"/>
              </a:rPr>
              <a:t> 1 m. coracobrachialis; 2 n. medianus'tan m. biceps brachii dalı; 3 n. medianus'tan m. brachialis dalı; 4 m. biceps brachii; 5 m. brachialis; 6 n. medianus; 7 a. brachialis; 8 n. cutaneus antebrachii medialis; 9 n. ulnaris.</a:t>
            </a:r>
          </a:p>
        </p:txBody>
      </p:sp>
      <p:sp>
        <p:nvSpPr>
          <p:cNvPr id="12" name="TextBox 11"/>
          <p:cNvSpPr txBox="1"/>
          <p:nvPr/>
        </p:nvSpPr>
        <p:spPr>
          <a:xfrm>
            <a:off x="7452360" y="37033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3" name="TextBox 12"/>
          <p:cNvSpPr txBox="1"/>
          <p:nvPr/>
        </p:nvSpPr>
        <p:spPr>
          <a:xfrm>
            <a:off x="7452360" y="3977639"/>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Olgu: sağ kolda n. musculocutaneus yok; m. coracobrachialis, m. biceps brachii ve m. brachialis'i </a:t>
            </a:r>
            <a:r>
              <a:rPr sz="1050" b="0" i="0">
                <a:solidFill>
                  <a:srgbClr val="1F2A44"/>
                </a:solidFill>
                <a:latin typeface="Calibri"/>
              </a:rPr>
              <a:t>n. medianus</a:t>
            </a:r>
            <a:r>
              <a:rPr sz="1050" b="0" i="0">
                <a:solidFill>
                  <a:srgbClr val="1F2A44"/>
                </a:solidFill>
                <a:latin typeface="Calibri"/>
              </a:rPr>
              <a:t> innerve ediyor; m. brachialis dalı n. cutaneus antebrachii lateralis olarak devam ediyor.</a:t>
            </a:r>
          </a:p>
          <a:p>
            <a:pPr algn="l">
              <a:spcAft>
                <a:spcPts val="300"/>
              </a:spcAft>
            </a:pPr>
            <a:r>
              <a:rPr sz="1050" b="0" i="0">
                <a:solidFill>
                  <a:srgbClr val="1F2A44"/>
                </a:solidFill>
                <a:latin typeface="Calibri"/>
              </a:rPr>
              <a:t>• Aktarılan sıklık: Beheiry 60 kolun 1'inde (%1,7); Prasada Rao ve Chaudhary 24 kolun %8'inde.</a:t>
            </a:r>
          </a:p>
          <a:p>
            <a:pPr algn="l">
              <a:spcAft>
                <a:spcPts val="300"/>
              </a:spcAft>
            </a:pPr>
            <a:r>
              <a:rPr sz="1050" b="0" i="0">
                <a:solidFill>
                  <a:srgbClr val="1F2A44"/>
                </a:solidFill>
                <a:latin typeface="Calibri"/>
              </a:rPr>
              <a:t>• Klinik önem: n. medianus hasarında beklenmedik dirsek fleksiyon zaafı; aksiller blok ve aksilla cerrahisinde dikkat.</a:t>
            </a:r>
          </a:p>
        </p:txBody>
      </p:sp>
      <p:cxnSp>
        <p:nvCxnSpPr>
          <p:cNvPr id="14" name="Connector 13"/>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Fregnani José Humberto Tavares Guerreiro, Macéa Maria Inez Marcondes, Pereira Celina Siqueira Barbosa et al. Absence of the musculocutaneous nerve: a rare anatomical variation with possible clinical-surgical implications. Sao Paulo Med J. 2008 Sep 4;126(5):288–90. doi: 10.1590/S1516-31802008000500009 PMCID: PMC11026042. Lisans: CC BY – Figure 1, Figure 2 değiştirilmeden (yalnızca ölçeklendirilerek) kullanılmıştır; Türkçe açıklama bu projeye aittir.</a:t>
            </a:r>
          </a:p>
        </p:txBody>
      </p:sp>
      <p:sp>
        <p:nvSpPr>
          <p:cNvPr id="16" name="TextBox 15"/>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Martin-Gruber anastomozu</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Ön kolda n. medianus → n. ulnaris iletişim dalı (Tip I)</a:t>
            </a:r>
          </a:p>
        </p:txBody>
      </p:sp>
      <p:sp>
        <p:nvSpPr>
          <p:cNvPr id="5" name="TextBox 4"/>
          <p:cNvSpPr txBox="1"/>
          <p:nvPr/>
        </p:nvSpPr>
        <p:spPr>
          <a:xfrm>
            <a:off x="9692640" y="841248"/>
            <a:ext cx="2286000" cy="274320"/>
          </a:xfrm>
          <a:prstGeom prst="rect">
            <a:avLst/>
          </a:prstGeom>
          <a:solidFill>
            <a:srgbClr val="C0392B"/>
          </a:solidFill>
        </p:spPr>
        <p:txBody>
          <a:bodyPr wrap="square" anchor="t" lIns="45720" rIns="45720" tIns="18288" bIns="18288">
            <a:spAutoFit/>
          </a:bodyPr>
          <a:lstStyle/>
          <a:p>
            <a:pPr algn="ctr"/>
            <a:r>
              <a:rPr sz="1000" b="1" i="0">
                <a:solidFill>
                  <a:srgbClr val="FFFFFF"/>
                </a:solidFill>
                <a:latin typeface="Calibri"/>
              </a:rPr>
              <a:t>ANATOMİK VARYASYON</a:t>
            </a:r>
          </a:p>
        </p:txBody>
      </p:sp>
      <p:pic>
        <p:nvPicPr>
          <p:cNvPr id="6" name="Picture 5" descr="cureus-0017-00000078139-i01.jpg"/>
          <p:cNvPicPr>
            <a:picLocks noChangeAspect="1"/>
          </p:cNvPicPr>
          <p:nvPr/>
        </p:nvPicPr>
        <p:blipFill>
          <a:blip r:embed="rId2"/>
          <a:stretch>
            <a:fillRect/>
          </a:stretch>
        </p:blipFill>
        <p:spPr>
          <a:xfrm>
            <a:off x="354329" y="914400"/>
            <a:ext cx="6789420" cy="4526280"/>
          </a:xfrm>
          <a:prstGeom prst="rect">
            <a:avLst/>
          </a:prstGeom>
        </p:spPr>
      </p:pic>
      <p:sp>
        <p:nvSpPr>
          <p:cNvPr id="7" name="TextBox 6"/>
          <p:cNvSpPr txBox="1"/>
          <p:nvPr/>
        </p:nvSpPr>
        <p:spPr>
          <a:xfrm>
            <a:off x="354329" y="5422392"/>
            <a:ext cx="6789420" cy="228600"/>
          </a:xfrm>
          <a:prstGeom prst="rect">
            <a:avLst/>
          </a:prstGeom>
          <a:noFill/>
        </p:spPr>
        <p:txBody>
          <a:bodyPr wrap="square" anchor="t" lIns="45720" rIns="45720" tIns="18288" bIns="18288">
            <a:spAutoFit/>
          </a:bodyPr>
          <a:lstStyle/>
          <a:p>
            <a:pPr algn="ctr"/>
            <a:r>
              <a:rPr sz="850" b="0" i="1">
                <a:solidFill>
                  <a:srgbClr val="555B66"/>
                </a:solidFill>
                <a:latin typeface="Calibri"/>
              </a:rPr>
              <a:t>Figure 1 (PMC11867591)</a:t>
            </a:r>
          </a:p>
        </p:txBody>
      </p:sp>
      <p:sp>
        <p:nvSpPr>
          <p:cNvPr id="8" name="TextBox 7"/>
          <p:cNvSpPr txBox="1"/>
          <p:nvPr/>
        </p:nvSpPr>
        <p:spPr>
          <a:xfrm>
            <a:off x="7452360" y="11887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 açıklaması (yazarların etiketleri)</a:t>
            </a:r>
          </a:p>
        </p:txBody>
      </p:sp>
      <p:sp>
        <p:nvSpPr>
          <p:cNvPr id="9" name="TextBox 8"/>
          <p:cNvSpPr txBox="1"/>
          <p:nvPr/>
        </p:nvSpPr>
        <p:spPr>
          <a:xfrm>
            <a:off x="7452360" y="1463040"/>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MGA</a:t>
            </a:r>
            <a:r>
              <a:rPr sz="1050" b="0" i="0">
                <a:solidFill>
                  <a:srgbClr val="1F2A44"/>
                </a:solidFill>
                <a:latin typeface="Calibri"/>
              </a:rPr>
              <a:t> Martin-Gruber anastomozu; </a:t>
            </a:r>
            <a:r>
              <a:rPr sz="1050" b="0" i="0">
                <a:solidFill>
                  <a:srgbClr val="1F2A44"/>
                </a:solidFill>
                <a:latin typeface="Calibri"/>
              </a:rPr>
              <a:t>MN</a:t>
            </a:r>
            <a:r>
              <a:rPr sz="1050" b="0" i="0">
                <a:solidFill>
                  <a:srgbClr val="1F2A44"/>
                </a:solidFill>
                <a:latin typeface="Calibri"/>
              </a:rPr>
              <a:t> n. medianus (görünürlük için laterale çekilmiş); </a:t>
            </a:r>
            <a:r>
              <a:rPr sz="1050" b="0" i="0">
                <a:solidFill>
                  <a:srgbClr val="1F2A44"/>
                </a:solidFill>
                <a:latin typeface="Calibri"/>
              </a:rPr>
              <a:t>UN</a:t>
            </a:r>
            <a:r>
              <a:rPr sz="1050" b="0" i="0">
                <a:solidFill>
                  <a:srgbClr val="1F2A44"/>
                </a:solidFill>
                <a:latin typeface="Calibri"/>
              </a:rPr>
              <a:t> n. ulnaris; </a:t>
            </a:r>
            <a:r>
              <a:rPr sz="1050" b="0" i="0">
                <a:solidFill>
                  <a:srgbClr val="1F2A44"/>
                </a:solidFill>
                <a:latin typeface="Calibri"/>
              </a:rPr>
              <a:t>FDP</a:t>
            </a:r>
            <a:r>
              <a:rPr sz="1050" b="0" i="0">
                <a:solidFill>
                  <a:srgbClr val="1F2A44"/>
                </a:solidFill>
                <a:latin typeface="Calibri"/>
              </a:rPr>
              <a:t> m. flexor digitorum profundus; </a:t>
            </a:r>
            <a:r>
              <a:rPr sz="1050" b="0" i="0">
                <a:solidFill>
                  <a:srgbClr val="1F2A44"/>
                </a:solidFill>
                <a:latin typeface="Calibri"/>
              </a:rPr>
              <a:t>ME</a:t>
            </a:r>
            <a:r>
              <a:rPr sz="1050" b="0" i="0">
                <a:solidFill>
                  <a:srgbClr val="1F2A44"/>
                </a:solidFill>
                <a:latin typeface="Calibri"/>
              </a:rPr>
              <a:t> epicondylus medialis (yön referansı: distal görüntünün üst tarafında).</a:t>
            </a:r>
          </a:p>
        </p:txBody>
      </p:sp>
      <p:sp>
        <p:nvSpPr>
          <p:cNvPr id="10" name="TextBox 9"/>
          <p:cNvSpPr txBox="1"/>
          <p:nvPr/>
        </p:nvSpPr>
        <p:spPr>
          <a:xfrm>
            <a:off x="7452360" y="37033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1" name="TextBox 10"/>
          <p:cNvSpPr txBox="1"/>
          <p:nvPr/>
        </p:nvSpPr>
        <p:spPr>
          <a:xfrm>
            <a:off x="7452360" y="3977639"/>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101 kadavra ön kolunda sıklık </a:t>
            </a:r>
            <a:r>
              <a:rPr sz="1050" b="0" i="0">
                <a:solidFill>
                  <a:srgbClr val="1F2A44"/>
                </a:solidFill>
                <a:latin typeface="Calibri"/>
              </a:rPr>
              <a:t>%37,6</a:t>
            </a:r>
            <a:r>
              <a:rPr sz="1050" b="0" i="0">
                <a:solidFill>
                  <a:srgbClr val="1F2A44"/>
                </a:solidFill>
                <a:latin typeface="Calibri"/>
              </a:rPr>
              <a:t> (38/101): Tip I %58, Tip III %32, Tip II %11; anastomozların çoğu FDP içinde seyretmiştir.</a:t>
            </a:r>
          </a:p>
          <a:p>
            <a:pPr algn="l">
              <a:spcAft>
                <a:spcPts val="300"/>
              </a:spcAft>
            </a:pPr>
            <a:r>
              <a:rPr sz="1050" b="0" i="0">
                <a:solidFill>
                  <a:srgbClr val="1F2A44"/>
                </a:solidFill>
                <a:latin typeface="Calibri"/>
              </a:rPr>
              <a:t>• Klinik önem: dirsekte n. ulnaris lezyonunda intrinsik el kaslarının beklenmedik şekilde korunması; sinir iletim çalışmalarının yanlış yorumlanması.</a:t>
            </a:r>
          </a:p>
        </p:txBody>
      </p:sp>
      <p:cxnSp>
        <p:nvCxnSpPr>
          <p:cNvPr id="12" name="Connector 11"/>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Tran Paul, Bennett Dallas, Mendoza Mathew et al. A Cadaveric Study of the Martin-Gruber Anastomosis Morphology. Cureus. 2025 Jan 28;17(1):e78139. doi: 10.7759/cureus.78139 PMCID: PMC11867591. Lisans: CC BY – Figure 1 değiştirilmeden (yalnızca ölçeklendirilerek) kullanılmıştır; Türkçe açıklama bu projeye aittir.</a:t>
            </a:r>
          </a:p>
        </p:txBody>
      </p:sp>
      <p:sp>
        <p:nvSpPr>
          <p:cNvPr id="14" name="TextBox 13"/>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A. mediana persistens ve bifid n. medianus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Aynı olguda m. palmaris longus reversus</a:t>
            </a:r>
          </a:p>
        </p:txBody>
      </p:sp>
      <p:sp>
        <p:nvSpPr>
          <p:cNvPr id="5" name="TextBox 4"/>
          <p:cNvSpPr txBox="1"/>
          <p:nvPr/>
        </p:nvSpPr>
        <p:spPr>
          <a:xfrm>
            <a:off x="9692640" y="841248"/>
            <a:ext cx="2286000" cy="274320"/>
          </a:xfrm>
          <a:prstGeom prst="rect">
            <a:avLst/>
          </a:prstGeom>
          <a:solidFill>
            <a:srgbClr val="C0392B"/>
          </a:solidFill>
        </p:spPr>
        <p:txBody>
          <a:bodyPr wrap="square" anchor="t" lIns="45720" rIns="45720" tIns="18288" bIns="18288">
            <a:spAutoFit/>
          </a:bodyPr>
          <a:lstStyle/>
          <a:p>
            <a:pPr algn="ctr"/>
            <a:r>
              <a:rPr sz="1000" b="1" i="0">
                <a:solidFill>
                  <a:srgbClr val="FFFFFF"/>
                </a:solidFill>
                <a:latin typeface="Calibri"/>
              </a:rPr>
              <a:t>ANATOMİK VARYASYON</a:t>
            </a:r>
          </a:p>
        </p:txBody>
      </p:sp>
      <p:pic>
        <p:nvPicPr>
          <p:cNvPr id="6" name="Picture 5" descr="cureus-0015-00000040324-i01.jpg"/>
          <p:cNvPicPr>
            <a:picLocks noChangeAspect="1"/>
          </p:cNvPicPr>
          <p:nvPr/>
        </p:nvPicPr>
        <p:blipFill>
          <a:blip r:embed="rId2"/>
          <a:stretch>
            <a:fillRect/>
          </a:stretch>
        </p:blipFill>
        <p:spPr>
          <a:xfrm>
            <a:off x="274320" y="1861779"/>
            <a:ext cx="6949440" cy="2631521"/>
          </a:xfrm>
          <a:prstGeom prst="rect">
            <a:avLst/>
          </a:prstGeom>
        </p:spPr>
      </p:pic>
      <p:sp>
        <p:nvSpPr>
          <p:cNvPr id="7" name="TextBox 6"/>
          <p:cNvSpPr txBox="1"/>
          <p:nvPr/>
        </p:nvSpPr>
        <p:spPr>
          <a:xfrm>
            <a:off x="274320" y="4475012"/>
            <a:ext cx="6949440" cy="228600"/>
          </a:xfrm>
          <a:prstGeom prst="rect">
            <a:avLst/>
          </a:prstGeom>
          <a:noFill/>
        </p:spPr>
        <p:txBody>
          <a:bodyPr wrap="square" anchor="t" lIns="45720" rIns="45720" tIns="18288" bIns="18288">
            <a:spAutoFit/>
          </a:bodyPr>
          <a:lstStyle/>
          <a:p>
            <a:pPr algn="ctr"/>
            <a:r>
              <a:rPr sz="850" b="0" i="1">
                <a:solidFill>
                  <a:srgbClr val="555B66"/>
                </a:solidFill>
                <a:latin typeface="Calibri"/>
              </a:rPr>
              <a:t>Figure 1 (PMC10343151)</a:t>
            </a:r>
          </a:p>
        </p:txBody>
      </p:sp>
      <p:sp>
        <p:nvSpPr>
          <p:cNvPr id="8" name="TextBox 7"/>
          <p:cNvSpPr txBox="1"/>
          <p:nvPr/>
        </p:nvSpPr>
        <p:spPr>
          <a:xfrm>
            <a:off x="7452360" y="11887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 açıklaması (yazarların etiketleri)</a:t>
            </a:r>
          </a:p>
        </p:txBody>
      </p:sp>
      <p:sp>
        <p:nvSpPr>
          <p:cNvPr id="9" name="TextBox 8"/>
          <p:cNvSpPr txBox="1"/>
          <p:nvPr/>
        </p:nvSpPr>
        <p:spPr>
          <a:xfrm>
            <a:off x="7452360" y="1463040"/>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1</a:t>
            </a:r>
            <a:r>
              <a:rPr sz="1050" b="0" i="0">
                <a:solidFill>
                  <a:srgbClr val="1F2A44"/>
                </a:solidFill>
                <a:latin typeface="Calibri"/>
              </a:rPr>
              <a:t> a. mediana persistens (PMA); </a:t>
            </a:r>
            <a:r>
              <a:rPr sz="1050" b="0" i="0">
                <a:solidFill>
                  <a:srgbClr val="1F2A44"/>
                </a:solidFill>
                <a:latin typeface="Calibri"/>
              </a:rPr>
              <a:t>2</a:t>
            </a:r>
            <a:r>
              <a:rPr sz="1050" b="0" i="0">
                <a:solidFill>
                  <a:srgbClr val="1F2A44"/>
                </a:solidFill>
                <a:latin typeface="Calibri"/>
              </a:rPr>
              <a:t> PMA'yı arcus palmaris profundus'a bağlayan dal; </a:t>
            </a:r>
            <a:r>
              <a:rPr sz="1050" b="0" i="0">
                <a:solidFill>
                  <a:srgbClr val="1F2A44"/>
                </a:solidFill>
                <a:latin typeface="Calibri"/>
              </a:rPr>
              <a:t>3</a:t>
            </a:r>
            <a:r>
              <a:rPr sz="1050" b="0" i="0">
                <a:solidFill>
                  <a:srgbClr val="1F2A44"/>
                </a:solidFill>
                <a:latin typeface="Calibri"/>
              </a:rPr>
              <a:t> a. ulnaris; </a:t>
            </a:r>
            <a:r>
              <a:rPr sz="1050" b="0" i="0">
                <a:solidFill>
                  <a:srgbClr val="1F2A44"/>
                </a:solidFill>
                <a:latin typeface="Calibri"/>
              </a:rPr>
              <a:t>4</a:t>
            </a:r>
            <a:r>
              <a:rPr sz="1050" b="0" i="0">
                <a:solidFill>
                  <a:srgbClr val="1F2A44"/>
                </a:solidFill>
                <a:latin typeface="Calibri"/>
              </a:rPr>
              <a:t> arcus palmaris superficialis; </a:t>
            </a:r>
            <a:r>
              <a:rPr sz="1050" b="0" i="0">
                <a:solidFill>
                  <a:srgbClr val="1F2A44"/>
                </a:solidFill>
                <a:latin typeface="Calibri"/>
              </a:rPr>
              <a:t>5</a:t>
            </a:r>
            <a:r>
              <a:rPr sz="1050" b="0" i="0">
                <a:solidFill>
                  <a:srgbClr val="1F2A44"/>
                </a:solidFill>
                <a:latin typeface="Calibri"/>
              </a:rPr>
              <a:t> arcus palmaris profundus; </a:t>
            </a:r>
            <a:r>
              <a:rPr sz="1050" b="0" i="0">
                <a:solidFill>
                  <a:srgbClr val="1F2A44"/>
                </a:solidFill>
                <a:latin typeface="Calibri"/>
              </a:rPr>
              <a:t>6</a:t>
            </a:r>
            <a:r>
              <a:rPr sz="1050" b="0" i="0">
                <a:solidFill>
                  <a:srgbClr val="1F2A44"/>
                </a:solidFill>
                <a:latin typeface="Calibri"/>
              </a:rPr>
              <a:t> a. radialis; </a:t>
            </a:r>
            <a:r>
              <a:rPr sz="1050" b="0" i="0">
                <a:solidFill>
                  <a:srgbClr val="1F2A44"/>
                </a:solidFill>
                <a:latin typeface="Calibri"/>
              </a:rPr>
              <a:t>7</a:t>
            </a:r>
            <a:r>
              <a:rPr sz="1050" b="0" i="0">
                <a:solidFill>
                  <a:srgbClr val="1F2A44"/>
                </a:solidFill>
                <a:latin typeface="Calibri"/>
              </a:rPr>
              <a:t> ilk a. metacarpalis palmaris communis.</a:t>
            </a:r>
          </a:p>
          <a:p>
            <a:pPr algn="l">
              <a:spcAft>
                <a:spcPts val="300"/>
              </a:spcAft>
            </a:pPr>
            <a:r>
              <a:rPr sz="1050" b="0" i="0">
                <a:solidFill>
                  <a:srgbClr val="1F2A44"/>
                </a:solidFill>
                <a:latin typeface="Calibri"/>
              </a:rPr>
              <a:t>• </a:t>
            </a:r>
            <a:r>
              <a:rPr sz="1050" b="0" i="0">
                <a:solidFill>
                  <a:srgbClr val="1F2A44"/>
                </a:solidFill>
                <a:latin typeface="Calibri"/>
              </a:rPr>
              <a:t>MN</a:t>
            </a:r>
            <a:r>
              <a:rPr sz="1050" b="0" i="0">
                <a:solidFill>
                  <a:srgbClr val="1F2A44"/>
                </a:solidFill>
                <a:latin typeface="Calibri"/>
              </a:rPr>
              <a:t> n. medianus; </a:t>
            </a:r>
            <a:r>
              <a:rPr sz="1050" b="0" i="0">
                <a:solidFill>
                  <a:srgbClr val="1F2A44"/>
                </a:solidFill>
                <a:latin typeface="Calibri"/>
              </a:rPr>
              <a:t>RBMN/MBMN</a:t>
            </a:r>
            <a:r>
              <a:rPr sz="1050" b="0" i="0">
                <a:solidFill>
                  <a:srgbClr val="1F2A44"/>
                </a:solidFill>
                <a:latin typeface="Calibri"/>
              </a:rPr>
              <a:t> n. medianus'un radial/medial dalı (bifid sinir); </a:t>
            </a:r>
            <a:r>
              <a:rPr sz="1050" b="0" i="0">
                <a:solidFill>
                  <a:srgbClr val="1F2A44"/>
                </a:solidFill>
                <a:latin typeface="Calibri"/>
              </a:rPr>
              <a:t>BR</a:t>
            </a:r>
            <a:r>
              <a:rPr sz="1050" b="0" i="0">
                <a:solidFill>
                  <a:srgbClr val="1F2A44"/>
                </a:solidFill>
                <a:latin typeface="Calibri"/>
              </a:rPr>
              <a:t> m. brachioradialis; </a:t>
            </a:r>
            <a:r>
              <a:rPr sz="1050" b="0" i="0">
                <a:solidFill>
                  <a:srgbClr val="1F2A44"/>
                </a:solidFill>
                <a:latin typeface="Calibri"/>
              </a:rPr>
              <a:t>FCR</a:t>
            </a:r>
            <a:r>
              <a:rPr sz="1050" b="0" i="0">
                <a:solidFill>
                  <a:srgbClr val="1F2A44"/>
                </a:solidFill>
                <a:latin typeface="Calibri"/>
              </a:rPr>
              <a:t> m. flexor carpi radialis; </a:t>
            </a:r>
            <a:r>
              <a:rPr sz="1050" b="0" i="0">
                <a:solidFill>
                  <a:srgbClr val="1F2A44"/>
                </a:solidFill>
                <a:latin typeface="Calibri"/>
              </a:rPr>
              <a:t>FDS</a:t>
            </a:r>
            <a:r>
              <a:rPr sz="1050" b="0" i="0">
                <a:solidFill>
                  <a:srgbClr val="1F2A44"/>
                </a:solidFill>
                <a:latin typeface="Calibri"/>
              </a:rPr>
              <a:t> m. flexor digitorum superficialis; </a:t>
            </a:r>
            <a:r>
              <a:rPr sz="1050" b="0" i="0">
                <a:solidFill>
                  <a:srgbClr val="1F2A44"/>
                </a:solidFill>
                <a:latin typeface="Calibri"/>
              </a:rPr>
              <a:t>R-PL</a:t>
            </a:r>
            <a:r>
              <a:rPr sz="1050" b="0" i="0">
                <a:solidFill>
                  <a:srgbClr val="1F2A44"/>
                </a:solidFill>
                <a:latin typeface="Calibri"/>
              </a:rPr>
              <a:t> m. palmaris longus reversus; </a:t>
            </a:r>
            <a:r>
              <a:rPr sz="1050" b="0" i="0">
                <a:solidFill>
                  <a:srgbClr val="1F2A44"/>
                </a:solidFill>
                <a:latin typeface="Calibri"/>
              </a:rPr>
              <a:t>CT</a:t>
            </a:r>
            <a:r>
              <a:rPr sz="1050" b="0" i="0">
                <a:solidFill>
                  <a:srgbClr val="1F2A44"/>
                </a:solidFill>
                <a:latin typeface="Calibri"/>
              </a:rPr>
              <a:t> FDS'ye ait kesilmiş tendon.</a:t>
            </a:r>
          </a:p>
        </p:txBody>
      </p:sp>
      <p:sp>
        <p:nvSpPr>
          <p:cNvPr id="10" name="TextBox 9"/>
          <p:cNvSpPr txBox="1"/>
          <p:nvPr/>
        </p:nvSpPr>
        <p:spPr>
          <a:xfrm>
            <a:off x="7452360" y="3703320"/>
            <a:ext cx="452628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1" name="TextBox 10"/>
          <p:cNvSpPr txBox="1"/>
          <p:nvPr/>
        </p:nvSpPr>
        <p:spPr>
          <a:xfrm>
            <a:off x="7452360" y="3977639"/>
            <a:ext cx="4526280" cy="2377440"/>
          </a:xfrm>
          <a:prstGeom prst="rect">
            <a:avLst/>
          </a:prstGeom>
          <a:noFill/>
        </p:spPr>
        <p:txBody>
          <a:bodyPr wrap="square">
            <a:spAutoFit/>
          </a:bodyPr>
          <a:lstStyle/>
          <a:p>
            <a:pPr algn="l">
              <a:spcAft>
                <a:spcPts val="300"/>
              </a:spcAft>
            </a:pPr>
            <a:r>
              <a:rPr sz="1050" b="0" i="0">
                <a:solidFill>
                  <a:srgbClr val="1F2A44"/>
                </a:solidFill>
                <a:latin typeface="Calibri"/>
              </a:rPr>
              <a:t>• Olguda PMA a. radialis'ten çıkmış ve a. ulnaris ile anastomoz yaparak arcus palmaris superficialis'i oluşturmuştur.</a:t>
            </a:r>
          </a:p>
          <a:p>
            <a:pPr algn="l">
              <a:spcAft>
                <a:spcPts val="300"/>
              </a:spcAft>
            </a:pPr>
            <a:r>
              <a:rPr sz="1050" b="0" i="0">
                <a:solidFill>
                  <a:srgbClr val="1F2A44"/>
                </a:solidFill>
                <a:latin typeface="Calibri"/>
              </a:rPr>
              <a:t>• Aktarılan sıklık: 125 ekstremitenin 5'inde (%4); bir Avustralya örnekleminde %33,3.</a:t>
            </a:r>
          </a:p>
          <a:p>
            <a:pPr algn="l">
              <a:spcAft>
                <a:spcPts val="300"/>
              </a:spcAft>
            </a:pPr>
            <a:r>
              <a:rPr sz="1050" b="0" i="0">
                <a:solidFill>
                  <a:srgbClr val="1F2A44"/>
                </a:solidFill>
                <a:latin typeface="Calibri"/>
              </a:rPr>
              <a:t>• Klinik önem: PMA ve bifid n. medianus karpal tünel sendromuna katkıda bulunabilir; endoskopik/açık gevşetmede yaralanma riski.</a:t>
            </a:r>
          </a:p>
        </p:txBody>
      </p:sp>
      <p:cxnSp>
        <p:nvCxnSpPr>
          <p:cNvPr id="12" name="Connector 11"/>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Elhossiny Asem H, Bakir Mohamad, Dawalibi Ahmad et al. Persistent Median Artery, Bifid Median Nerve, and Reversed Palmaris Longus Encountered During Cadaveric Dissection: The First Reported Case. Cureus. 2023 Jun 12;15(6):e40324. doi: 10.7759/cureus.40324 PMCID: PMC10343151. Lisans: CC BY – Figure 1 değiştirilmeden (yalnızca ölçeklendirilerek) kullanılmıştır; Türkçe açıklama bu projeye aittir.</a:t>
            </a:r>
          </a:p>
        </p:txBody>
      </p:sp>
      <p:sp>
        <p:nvSpPr>
          <p:cNvPr id="14" name="TextBox 13"/>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Kaynaklar ve görsel lisansları</a:t>
            </a:r>
          </a:p>
        </p:txBody>
      </p:sp>
      <p:sp>
        <p:nvSpPr>
          <p:cNvPr id="4" name="TextBox 3"/>
          <p:cNvSpPr txBox="1"/>
          <p:nvPr/>
        </p:nvSpPr>
        <p:spPr>
          <a:xfrm>
            <a:off x="274320" y="914400"/>
            <a:ext cx="11612880" cy="5394960"/>
          </a:xfrm>
          <a:prstGeom prst="rect">
            <a:avLst/>
          </a:prstGeom>
          <a:noFill/>
        </p:spPr>
        <p:txBody>
          <a:bodyPr wrap="square">
            <a:spAutoFit/>
          </a:bodyPr>
          <a:lstStyle/>
          <a:p>
            <a:pPr algn="l">
              <a:spcAft>
                <a:spcPts val="300"/>
              </a:spcAft>
            </a:pPr>
            <a:r>
              <a:rPr sz="1000" b="0" i="0">
                <a:solidFill>
                  <a:srgbClr val="1F2A44"/>
                </a:solidFill>
                <a:latin typeface="Calibri"/>
              </a:rPr>
              <a:t>• Bozhikova E., Davis J. C., Moon P. H. et al. A Cadaveric Study on the Variations in the Infraclavicular Part of Brachial Plexus in Axillary Region and Upper Arm. </a:t>
            </a:r>
            <a:r>
              <a:rPr sz="1000" b="0" i="0">
                <a:solidFill>
                  <a:srgbClr val="1F2A44"/>
                </a:solidFill>
                <a:latin typeface="Calibri"/>
              </a:rPr>
              <a:t>BioMed Research International</a:t>
            </a:r>
            <a:r>
              <a:rPr sz="1000" b="0" i="0">
                <a:solidFill>
                  <a:srgbClr val="1F2A44"/>
                </a:solidFill>
                <a:latin typeface="Calibri"/>
              </a:rPr>
              <a:t> 2025. doi:10.1155/bmri/6650184 – PMC12578619 – </a:t>
            </a:r>
            <a:r>
              <a:rPr sz="1000" b="0" i="0">
                <a:solidFill>
                  <a:srgbClr val="1F2A44"/>
                </a:solidFill>
                <a:latin typeface="Calibri"/>
              </a:rPr>
              <a:t>CC BY</a:t>
            </a:r>
          </a:p>
          <a:p>
            <a:pPr algn="l">
              <a:spcAft>
                <a:spcPts val="300"/>
              </a:spcAft>
            </a:pPr>
            <a:r>
              <a:rPr sz="1000" b="0" i="0">
                <a:solidFill>
                  <a:srgbClr val="1F2A44"/>
                </a:solidFill>
                <a:latin typeface="Calibri"/>
              </a:rPr>
              <a:t>• Charmode Sundip, Mehra Simmi, Kushwaha Sudhir Revisiting the Surgical Approaches to Decompression in Quadrilateral Space Syndrome: A Cadaveric Study. </a:t>
            </a:r>
            <a:r>
              <a:rPr sz="1000" b="0" i="0">
                <a:solidFill>
                  <a:srgbClr val="1F2A44"/>
                </a:solidFill>
                <a:latin typeface="Calibri"/>
              </a:rPr>
              <a:t>Cureus</a:t>
            </a:r>
            <a:r>
              <a:rPr sz="1000" b="0" i="0">
                <a:solidFill>
                  <a:srgbClr val="1F2A44"/>
                </a:solidFill>
                <a:latin typeface="Calibri"/>
              </a:rPr>
              <a:t> 2022. doi:10.7759/cureus.22619 – PMC8958867 – </a:t>
            </a:r>
            <a:r>
              <a:rPr sz="1000" b="0" i="0">
                <a:solidFill>
                  <a:srgbClr val="1F2A44"/>
                </a:solidFill>
                <a:latin typeface="Calibri"/>
              </a:rPr>
              <a:t>CC BY</a:t>
            </a:r>
          </a:p>
          <a:p>
            <a:pPr algn="l">
              <a:spcAft>
                <a:spcPts val="300"/>
              </a:spcAft>
            </a:pPr>
            <a:r>
              <a:rPr sz="1000" b="0" i="0">
                <a:solidFill>
                  <a:srgbClr val="1F2A44"/>
                </a:solidFill>
                <a:latin typeface="Calibri"/>
              </a:rPr>
              <a:t>• Polguj Michał, Rożniecki Jacek, Sibiński Marcin et al. The variable morphology of suprascapular nerve and vessels at suprascapular notch: a proposal for classification and its potential clinical implications. </a:t>
            </a:r>
            <a:r>
              <a:rPr sz="1000" b="0" i="0">
                <a:solidFill>
                  <a:srgbClr val="1F2A44"/>
                </a:solidFill>
                <a:latin typeface="Calibri"/>
              </a:rPr>
              <a:t>Knee Surgery, Sports Traumatology, Arthroscopy</a:t>
            </a:r>
            <a:r>
              <a:rPr sz="1000" b="0" i="0">
                <a:solidFill>
                  <a:srgbClr val="1F2A44"/>
                </a:solidFill>
                <a:latin typeface="Calibri"/>
              </a:rPr>
              <a:t> 2014. doi:10.1007/s00167-014-2937-1 – PMC4555201 – </a:t>
            </a:r>
            <a:r>
              <a:rPr sz="1000" b="0" i="0">
                <a:solidFill>
                  <a:srgbClr val="1F2A44"/>
                </a:solidFill>
                <a:latin typeface="Calibri"/>
              </a:rPr>
              <a:t>CC BY</a:t>
            </a:r>
          </a:p>
          <a:p>
            <a:pPr algn="l">
              <a:spcAft>
                <a:spcPts val="300"/>
              </a:spcAft>
            </a:pPr>
            <a:r>
              <a:rPr sz="1000" b="0" i="0">
                <a:solidFill>
                  <a:srgbClr val="1F2A44"/>
                </a:solidFill>
                <a:latin typeface="Calibri"/>
              </a:rPr>
              <a:t>• Rajaram-Gilkes Mathangi, Burwell Julian, Barr Kelly et al. Bilateral Median Nerve and Brachial Artery Variations in the Arm: A Case Report. </a:t>
            </a:r>
            <a:r>
              <a:rPr sz="1000" b="0" i="0">
                <a:solidFill>
                  <a:srgbClr val="1F2A44"/>
                </a:solidFill>
                <a:latin typeface="Calibri"/>
              </a:rPr>
              <a:t>Cureus</a:t>
            </a:r>
            <a:r>
              <a:rPr sz="1000" b="0" i="0">
                <a:solidFill>
                  <a:srgbClr val="1F2A44"/>
                </a:solidFill>
                <a:latin typeface="Calibri"/>
              </a:rPr>
              <a:t> 2023. doi:10.7759/cureus.51350 – PMC10823296 – </a:t>
            </a:r>
            <a:r>
              <a:rPr sz="1000" b="0" i="0">
                <a:solidFill>
                  <a:srgbClr val="1F2A44"/>
                </a:solidFill>
                <a:latin typeface="Calibri"/>
              </a:rPr>
              <a:t>CC BY</a:t>
            </a:r>
          </a:p>
          <a:p>
            <a:pPr algn="l">
              <a:spcAft>
                <a:spcPts val="300"/>
              </a:spcAft>
            </a:pPr>
            <a:r>
              <a:rPr sz="1000" b="0" i="0">
                <a:solidFill>
                  <a:srgbClr val="1F2A44"/>
                </a:solidFill>
                <a:latin typeface="Calibri"/>
              </a:rPr>
              <a:t>• Qawasmi Feras, Goss Mark, Shweiki Fadi et al. Anatomical considerations for safe retractor placement in distal biceps repair: a cadaveric study of the posterior interosseous nerve. </a:t>
            </a:r>
            <a:r>
              <a:rPr sz="1000" b="0" i="0">
                <a:solidFill>
                  <a:srgbClr val="1F2A44"/>
                </a:solidFill>
                <a:latin typeface="Calibri"/>
              </a:rPr>
              <a:t>Surgical and Radiologic Anatomy</a:t>
            </a:r>
            <a:r>
              <a:rPr sz="1000" b="0" i="0">
                <a:solidFill>
                  <a:srgbClr val="1F2A44"/>
                </a:solidFill>
                <a:latin typeface="Calibri"/>
              </a:rPr>
              <a:t> 2025. doi:10.1007/s00276-025-03728-3 – PMC12500735 – </a:t>
            </a:r>
            <a:r>
              <a:rPr sz="1000" b="0" i="0">
                <a:solidFill>
                  <a:srgbClr val="1F2A44"/>
                </a:solidFill>
                <a:latin typeface="Calibri"/>
              </a:rPr>
              <a:t>CC BY</a:t>
            </a:r>
          </a:p>
          <a:p>
            <a:pPr algn="l">
              <a:spcAft>
                <a:spcPts val="300"/>
              </a:spcAft>
            </a:pPr>
            <a:r>
              <a:rPr sz="1000" b="0" i="0">
                <a:solidFill>
                  <a:srgbClr val="1F2A44"/>
                </a:solidFill>
                <a:latin typeface="Calibri"/>
              </a:rPr>
              <a:t>• Samarakoon Lasitha B, Guruge Malith H, Jayasekara Madusha et al. Anatomical landmarks for safer carpal tunnel decompression: an experimental cadaveric study. </a:t>
            </a:r>
            <a:r>
              <a:rPr sz="1000" b="0" i="0">
                <a:solidFill>
                  <a:srgbClr val="1F2A44"/>
                </a:solidFill>
                <a:latin typeface="Calibri"/>
              </a:rPr>
              <a:t>Patient Safety in Surgery</a:t>
            </a:r>
            <a:r>
              <a:rPr sz="1000" b="0" i="0">
                <a:solidFill>
                  <a:srgbClr val="1F2A44"/>
                </a:solidFill>
                <a:latin typeface="Calibri"/>
              </a:rPr>
              <a:t> 2014. doi:10.1186/1754-9493-8-8 – PMC3931286 – </a:t>
            </a:r>
            <a:r>
              <a:rPr sz="1000" b="0" i="0">
                <a:solidFill>
                  <a:srgbClr val="1F2A44"/>
                </a:solidFill>
                <a:latin typeface="Calibri"/>
              </a:rPr>
              <a:t>CC BY</a:t>
            </a:r>
          </a:p>
          <a:p>
            <a:pPr algn="l">
              <a:spcAft>
                <a:spcPts val="300"/>
              </a:spcAft>
            </a:pPr>
            <a:r>
              <a:rPr sz="1000" b="0" i="0">
                <a:solidFill>
                  <a:srgbClr val="1F2A44"/>
                </a:solidFill>
                <a:latin typeface="Calibri"/>
              </a:rPr>
              <a:t>• Ara Hosne, Fakoya Adegbenro O Rare Bilateral Axillary Arch With Its Novel Insertion Into the Deltoid and Unilateral Supernumerary Head of the Sternocleidomastoid Muscle in a Single Cadaver. </a:t>
            </a:r>
            <a:r>
              <a:rPr sz="1000" b="0" i="0">
                <a:solidFill>
                  <a:srgbClr val="1F2A44"/>
                </a:solidFill>
                <a:latin typeface="Calibri"/>
              </a:rPr>
              <a:t>Cureus</a:t>
            </a:r>
            <a:r>
              <a:rPr sz="1000" b="0" i="0">
                <a:solidFill>
                  <a:srgbClr val="1F2A44"/>
                </a:solidFill>
                <a:latin typeface="Calibri"/>
              </a:rPr>
              <a:t> 2025. doi:10.7759/cureus.85096 – PMC12206543 – </a:t>
            </a:r>
            <a:r>
              <a:rPr sz="1000" b="0" i="0">
                <a:solidFill>
                  <a:srgbClr val="1F2A44"/>
                </a:solidFill>
                <a:latin typeface="Calibri"/>
              </a:rPr>
              <a:t>CC BY</a:t>
            </a:r>
          </a:p>
          <a:p>
            <a:pPr algn="l">
              <a:spcAft>
                <a:spcPts val="300"/>
              </a:spcAft>
            </a:pPr>
            <a:r>
              <a:rPr sz="1000" b="0" i="0">
                <a:solidFill>
                  <a:srgbClr val="1F2A44"/>
                </a:solidFill>
                <a:latin typeface="Calibri"/>
              </a:rPr>
              <a:t>• Koutserimpas Christos, Tsakotos George, Piagkou Maria et al. The Coexistence of the Superficial Brachial Artery With the Common Origin of the Posterior Circumflex Humeral Artery and the Deep Brachial Artery. </a:t>
            </a:r>
            <a:r>
              <a:rPr sz="1000" b="0" i="0">
                <a:solidFill>
                  <a:srgbClr val="1F2A44"/>
                </a:solidFill>
                <a:latin typeface="Calibri"/>
              </a:rPr>
              <a:t>Cureus</a:t>
            </a:r>
            <a:r>
              <a:rPr sz="1000" b="0" i="0">
                <a:solidFill>
                  <a:srgbClr val="1F2A44"/>
                </a:solidFill>
                <a:latin typeface="Calibri"/>
              </a:rPr>
              <a:t> 2023. doi:10.7759/cureus.45903 – PMC10599095 – </a:t>
            </a:r>
            <a:r>
              <a:rPr sz="1000" b="0" i="0">
                <a:solidFill>
                  <a:srgbClr val="1F2A44"/>
                </a:solidFill>
                <a:latin typeface="Calibri"/>
              </a:rPr>
              <a:t>CC BY</a:t>
            </a:r>
          </a:p>
          <a:p>
            <a:pPr algn="l">
              <a:spcAft>
                <a:spcPts val="300"/>
              </a:spcAft>
            </a:pPr>
            <a:r>
              <a:rPr sz="1000" b="0" i="0">
                <a:solidFill>
                  <a:srgbClr val="1F2A44"/>
                </a:solidFill>
                <a:latin typeface="Calibri"/>
              </a:rPr>
              <a:t>• Fregnani José Humberto Tavares Guerreiro, Macéa Maria Inez Marcondes, Pereira Celina Siqueira Barbosa et al. Absence of the musculocutaneous nerve: a rare anatomical variation with possible clinical-surgical implications. </a:t>
            </a:r>
            <a:r>
              <a:rPr sz="1000" b="0" i="0">
                <a:solidFill>
                  <a:srgbClr val="1F2A44"/>
                </a:solidFill>
                <a:latin typeface="Calibri"/>
              </a:rPr>
              <a:t>São Paulo Medical Journal</a:t>
            </a:r>
            <a:r>
              <a:rPr sz="1000" b="0" i="0">
                <a:solidFill>
                  <a:srgbClr val="1F2A44"/>
                </a:solidFill>
                <a:latin typeface="Calibri"/>
              </a:rPr>
              <a:t> 2008. doi:10.1590/S1516-31802008000500009 – PMC11026042 – </a:t>
            </a:r>
            <a:r>
              <a:rPr sz="1000" b="0" i="0">
                <a:solidFill>
                  <a:srgbClr val="1F2A44"/>
                </a:solidFill>
                <a:latin typeface="Calibri"/>
              </a:rPr>
              <a:t>CC BY</a:t>
            </a:r>
          </a:p>
          <a:p>
            <a:pPr algn="l">
              <a:spcAft>
                <a:spcPts val="300"/>
              </a:spcAft>
            </a:pPr>
            <a:r>
              <a:rPr sz="1000" b="0" i="0">
                <a:solidFill>
                  <a:srgbClr val="1F2A44"/>
                </a:solidFill>
                <a:latin typeface="Calibri"/>
              </a:rPr>
              <a:t>• Tran Paul, Bennett Dallas, Mendoza Mathew et al. A Cadaveric Study of the Martin-Gruber Anastomosis Morphology. </a:t>
            </a:r>
            <a:r>
              <a:rPr sz="1000" b="0" i="0">
                <a:solidFill>
                  <a:srgbClr val="1F2A44"/>
                </a:solidFill>
                <a:latin typeface="Calibri"/>
              </a:rPr>
              <a:t>Cureus</a:t>
            </a:r>
            <a:r>
              <a:rPr sz="1000" b="0" i="0">
                <a:solidFill>
                  <a:srgbClr val="1F2A44"/>
                </a:solidFill>
                <a:latin typeface="Calibri"/>
              </a:rPr>
              <a:t> 2025. doi:10.7759/cureus.78139 – PMC11867591 – </a:t>
            </a:r>
            <a:r>
              <a:rPr sz="1000" b="0" i="0">
                <a:solidFill>
                  <a:srgbClr val="1F2A44"/>
                </a:solidFill>
                <a:latin typeface="Calibri"/>
              </a:rPr>
              <a:t>CC BY</a:t>
            </a:r>
          </a:p>
          <a:p>
            <a:pPr algn="l">
              <a:spcAft>
                <a:spcPts val="300"/>
              </a:spcAft>
            </a:pPr>
            <a:r>
              <a:rPr sz="1000" b="0" i="0">
                <a:solidFill>
                  <a:srgbClr val="1F2A44"/>
                </a:solidFill>
                <a:latin typeface="Calibri"/>
              </a:rPr>
              <a:t>• Elhossiny Asem H, Bakir Mohamad, Dawalibi Ahmad et al. Persistent Median Artery, Bifid Median Nerve, and Reversed Palmaris Longus Encountered During Cadaveric Dissection: The First Reported Case. </a:t>
            </a:r>
            <a:r>
              <a:rPr sz="1000" b="0" i="0">
                <a:solidFill>
                  <a:srgbClr val="1F2A44"/>
                </a:solidFill>
                <a:latin typeface="Calibri"/>
              </a:rPr>
              <a:t>Cureus</a:t>
            </a:r>
            <a:r>
              <a:rPr sz="1000" b="0" i="0">
                <a:solidFill>
                  <a:srgbClr val="1F2A44"/>
                </a:solidFill>
                <a:latin typeface="Calibri"/>
              </a:rPr>
              <a:t> 2023. doi:10.7759/cureus.40324 – PMC10343151 – </a:t>
            </a:r>
            <a:r>
              <a:rPr sz="1000" b="0" i="0">
                <a:solidFill>
                  <a:srgbClr val="1F2A44"/>
                </a:solidFill>
                <a:latin typeface="Calibri"/>
              </a:rPr>
              <a:t>CC BY</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Görseller PMC OA AWS deposundan (pmc-oa-opendata) indirilmiş; lisans kodu, md5 ve altyazılar sources/topografik_kaynaklar.json içinde kayıtlıdır.</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